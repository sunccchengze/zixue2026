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0"/>
  </p:handoutMasterIdLst>
  <p:sldIdLst>
    <p:sldId id="258" r:id="rId2"/>
    <p:sldId id="270" r:id="rId3"/>
    <p:sldId id="272" r:id="rId4"/>
    <p:sldId id="275" r:id="rId5"/>
    <p:sldId id="294" r:id="rId6"/>
    <p:sldId id="295" r:id="rId7"/>
    <p:sldId id="276" r:id="rId8"/>
    <p:sldId id="277" r:id="rId9"/>
    <p:sldId id="278" r:id="rId10"/>
    <p:sldId id="284" r:id="rId11"/>
    <p:sldId id="279" r:id="rId12"/>
    <p:sldId id="281" r:id="rId13"/>
    <p:sldId id="310" r:id="rId14"/>
    <p:sldId id="304" r:id="rId15"/>
    <p:sldId id="311" r:id="rId16"/>
    <p:sldId id="312" r:id="rId17"/>
    <p:sldId id="285" r:id="rId18"/>
    <p:sldId id="286" r:id="rId19"/>
    <p:sldId id="287" r:id="rId20"/>
    <p:sldId id="290" r:id="rId21"/>
    <p:sldId id="288" r:id="rId22"/>
    <p:sldId id="289" r:id="rId23"/>
    <p:sldId id="291" r:id="rId24"/>
    <p:sldId id="297" r:id="rId25"/>
    <p:sldId id="307" r:id="rId26"/>
    <p:sldId id="313" r:id="rId27"/>
    <p:sldId id="314" r:id="rId28"/>
    <p:sldId id="306" r:id="rId29"/>
  </p:sldIdLst>
  <p:sldSz cx="9144000" cy="6858000" type="screen4x3"/>
  <p:notesSz cx="6742113" cy="98726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doRE5pmwD0j5Srje7jZWtg==" hashData="szfvsfW+BCJZ+I9IbZ+8dMcAdjNCPTYD+zylS5ijiX0lxsMaSYYI6Aw42BvmkOO4rqVw/2e3uVawhndwi6HNP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660066"/>
    <a:srgbClr val="0033CC"/>
    <a:srgbClr val="FFFF00"/>
    <a:srgbClr val="006600"/>
    <a:srgbClr val="CC0000"/>
    <a:srgbClr val="FF0000"/>
    <a:srgbClr val="0000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6182" autoAdjust="0"/>
  </p:normalViewPr>
  <p:slideViewPr>
    <p:cSldViewPr>
      <p:cViewPr varScale="1">
        <p:scale>
          <a:sx n="106" d="100"/>
          <a:sy n="106" d="100"/>
        </p:scale>
        <p:origin x="153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5326208-8A57-4598-BA1B-C5463260848D}" type="datetimeFigureOut">
              <a:rPr lang="zh-CN" altLang="en-US"/>
              <a:pPr>
                <a:defRPr/>
              </a:pPr>
              <a:t>2026/9/21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50CD61F-8825-4238-B8B3-4C0269EBC2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93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935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110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4512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5331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8529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5475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7016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045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6481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1670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5534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hyperlink" Target="../&#31532;&#19977;&#31456;/chap3.ppt" TargetMode="Externa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hyperlink" Target="../&#31532;&#22235;&#31456;/chap4.ppt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5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hyperlink" Target="../&#31532;&#20116;&#31456;/chap5.ppt" TargetMode="External"/><Relationship Id="rId5" Type="http://schemas.openxmlformats.org/officeDocument/2006/relationships/slideLayout" Target="../slideLayouts/slideLayout5.xml"/><Relationship Id="rId15" Type="http://schemas.openxmlformats.org/officeDocument/2006/relationships/hyperlink" Target="../&#31532;&#20108;&#31456;/chap2.ppt" TargetMode="Externa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2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Relationship Id="rId22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背景(静力学)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228600" y="6248400"/>
            <a:ext cx="381000" cy="381000"/>
          </a:xfrm>
          <a:prstGeom prst="actionButtonBackPrevious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3" name="AutoShape 9">
            <a:hlinkClick r:id="" action="ppaction://hlinkshowjump?jump=nextslide" highlightClick="1"/>
          </p:cNvPr>
          <p:cNvSpPr>
            <a:spLocks noChangeAspect="1" noChangeArrowheads="1"/>
          </p:cNvSpPr>
          <p:nvPr/>
        </p:nvSpPr>
        <p:spPr bwMode="auto">
          <a:xfrm>
            <a:off x="762000" y="6248400"/>
            <a:ext cx="381000" cy="381000"/>
          </a:xfrm>
          <a:prstGeom prst="actionButtonForwardNex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graphicFrame>
        <p:nvGraphicFramePr>
          <p:cNvPr id="1029" name="Object 10">
            <a:hlinkClick r:id="rId15" action="ppaction://hlinkpres?slideindex=1&amp;slidetitle="/>
          </p:cNvPr>
          <p:cNvGraphicFramePr>
            <a:graphicFrameLocks noChangeAspect="1"/>
          </p:cNvGraphicFramePr>
          <p:nvPr/>
        </p:nvGraphicFramePr>
        <p:xfrm>
          <a:off x="0" y="0"/>
          <a:ext cx="503238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6" imgW="557643" imgH="1926014" progId="Photoshop.Image.6">
                  <p:embed/>
                </p:oleObj>
              </mc:Choice>
              <mc:Fallback>
                <p:oleObj name="Image" r:id="rId16" imgW="557643" imgH="1926014" progId="Photoshop.Image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503238" cy="173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11">
            <a:hlinkClick r:id="rId18" action="ppaction://hlinkpres?slideindex=1&amp;slidetitle="/>
          </p:cNvPr>
          <p:cNvGraphicFramePr>
            <a:graphicFrameLocks noChangeAspect="1"/>
          </p:cNvGraphicFramePr>
          <p:nvPr/>
        </p:nvGraphicFramePr>
        <p:xfrm>
          <a:off x="0" y="1676400"/>
          <a:ext cx="5080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9" imgW="563738" imgH="1920244" progId="Photoshop.Image.6">
                  <p:embed/>
                </p:oleObj>
              </mc:Choice>
              <mc:Fallback>
                <p:oleObj name="Image" r:id="rId19" imgW="563738" imgH="1920244" progId="Photoshop.Image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76400"/>
                        <a:ext cx="508000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12">
            <a:hlinkClick r:id="rId21" action="ppaction://hlinkpres?slideindex=1&amp;slidetitle="/>
          </p:cNvPr>
          <p:cNvGraphicFramePr>
            <a:graphicFrameLocks noChangeAspect="1"/>
          </p:cNvGraphicFramePr>
          <p:nvPr/>
        </p:nvGraphicFramePr>
        <p:xfrm>
          <a:off x="36513" y="3352800"/>
          <a:ext cx="4683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2" imgW="518029" imgH="1209956" progId="Photoshop.Image.6">
                  <p:embed/>
                </p:oleObj>
              </mc:Choice>
              <mc:Fallback>
                <p:oleObj name="Image" r:id="rId22" imgW="518029" imgH="1209956" progId="Photoshop.Image.6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" y="3352800"/>
                        <a:ext cx="4683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hlinkClick r:id="rId24" action="ppaction://hlinkpres?slideindex=1&amp;slidetitle="/>
          </p:cNvPr>
          <p:cNvGraphicFramePr>
            <a:graphicFrameLocks noChangeAspect="1"/>
          </p:cNvGraphicFramePr>
          <p:nvPr/>
        </p:nvGraphicFramePr>
        <p:xfrm>
          <a:off x="90488" y="4419600"/>
          <a:ext cx="41751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5" imgW="462944" imgH="1618217" progId="Photoshop.Image.6">
                  <p:embed/>
                </p:oleObj>
              </mc:Choice>
              <mc:Fallback>
                <p:oleObj name="Image" r:id="rId25" imgW="462944" imgH="1618217" progId="Photoshop.Image.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8" y="4419600"/>
                        <a:ext cx="41751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F:\2015&#29702;&#21147;&#35838;&#20214;\&#38745;&#21147;&#23398;\J1&#33014;&#24102;&#32422;&#26463;.avi" TargetMode="Externa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21.png"/><Relationship Id="rId4" Type="http://schemas.openxmlformats.org/officeDocument/2006/relationships/video" Target="../media/media2.mp4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2.png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6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2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microsoft.com/office/2007/relationships/media" Target="../media/media9.mp4"/><Relationship Id="rId7" Type="http://schemas.openxmlformats.org/officeDocument/2006/relationships/image" Target="../media/image38.png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37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9.mp4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11.mp4"/><Relationship Id="rId7" Type="http://schemas.openxmlformats.org/officeDocument/2006/relationships/image" Target="../media/image41.png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image" Target="../media/image40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11.mp4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12" Type="http://schemas.openxmlformats.org/officeDocument/2006/relationships/image" Target="../media/image52.pn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58.emf"/><Relationship Id="rId5" Type="http://schemas.openxmlformats.org/officeDocument/2006/relationships/image" Target="../media/image54.emf"/><Relationship Id="rId10" Type="http://schemas.openxmlformats.org/officeDocument/2006/relationships/image" Target="../media/image57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6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971600" y="376777"/>
            <a:ext cx="64770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第三章   物体的受力分析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67544" y="836712"/>
            <a:ext cx="6768752" cy="998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sz="3200" b="1" dirty="0">
                <a:solidFill>
                  <a:schemeClr val="tx2"/>
                </a:solidFill>
                <a:ea typeface="华文中宋" panose="02010600040101010101" pitchFamily="2" charset="-122"/>
              </a:rPr>
              <a:t>1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常见约束和约束反力</a:t>
            </a:r>
            <a:r>
              <a:rPr lang="zh-CN" altLang="en-US" b="1" dirty="0">
                <a:ea typeface="华文中宋" panose="02010600040101010101" pitchFamily="2" charset="-122"/>
              </a:rPr>
              <a:t>（书</a:t>
            </a:r>
            <a:r>
              <a:rPr lang="en-US" altLang="zh-CN" b="1" dirty="0">
                <a:latin typeface="宋体" panose="02010600030101010101" pitchFamily="2" charset="-122"/>
              </a:rPr>
              <a:t>§</a:t>
            </a:r>
            <a:r>
              <a:rPr lang="en-US" altLang="zh-CN" b="1" dirty="0"/>
              <a:t>1.3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41368" y="2082408"/>
            <a:ext cx="807625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在空间的位移不受任何限制的物体称为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自由体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*位移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转角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受到其他物体强制限制的物体称为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非自由体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699603"/>
              </p:ext>
            </p:extLst>
          </p:nvPr>
        </p:nvGraphicFramePr>
        <p:xfrm>
          <a:off x="1187624" y="3451983"/>
          <a:ext cx="2709863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1771429" imgH="1561905" progId="Paint.Picture">
                  <p:embed/>
                </p:oleObj>
              </mc:Choice>
              <mc:Fallback>
                <p:oleObj name="BMP 图像" r:id="rId2" imgW="1771429" imgH="15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451983"/>
                        <a:ext cx="2709863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42606"/>
              </p:ext>
            </p:extLst>
          </p:nvPr>
        </p:nvGraphicFramePr>
        <p:xfrm>
          <a:off x="4788024" y="3059899"/>
          <a:ext cx="2493963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4" imgW="1905266" imgH="2647619" progId="Paint.Picture">
                  <p:embed/>
                </p:oleObj>
              </mc:Choice>
              <mc:Fallback>
                <p:oleObj name="BMP 图像" r:id="rId4" imgW="1905266" imgH="264761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059899"/>
                        <a:ext cx="2493963" cy="346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69912" y="1572932"/>
            <a:ext cx="35681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自由体和非自由体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 uiExpand="1" build="p" autoUpdateAnimBg="0"/>
      <p:bldP spid="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971600" y="1502173"/>
            <a:ext cx="1111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约束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</a:t>
            </a:r>
            <a:endParaRPr lang="zh-CN" altLang="zh-CN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959820" y="1514454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限制非自由体的某些位移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转角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的其他物体。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971600" y="2367903"/>
            <a:ext cx="3121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约束力或约束反力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1982363" y="2859118"/>
            <a:ext cx="57310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约束作用于非自由体上的力称为约束力。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1259632" y="3717032"/>
            <a:ext cx="6629400" cy="166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4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大小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未知，可利用平衡条件由其他主动力求出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algn="just" eaLnBrk="1" hangingPunct="1">
              <a:lnSpc>
                <a:spcPct val="144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总是与所限制的位移方向相反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algn="just" eaLnBrk="1" hangingPunct="1">
              <a:lnSpc>
                <a:spcPct val="144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作用点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根据具体约束而定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87550" y="677649"/>
            <a:ext cx="3600400" cy="73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约束和约束反力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6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16387" grpId="0" build="p" autoUpdateAnimBg="0"/>
      <p:bldP spid="16391" grpId="0" build="p" autoUpdateAnimBg="0"/>
      <p:bldP spid="16392" grpId="0" build="p" autoUpdateAnimBg="0"/>
      <p:bldP spid="1639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846163" y="366529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846163" y="902629"/>
            <a:ext cx="1768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柔索约束</a:t>
            </a:r>
          </a:p>
        </p:txBody>
      </p:sp>
      <p:graphicFrame>
        <p:nvGraphicFramePr>
          <p:cNvPr id="1847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493976"/>
              </p:ext>
            </p:extLst>
          </p:nvPr>
        </p:nvGraphicFramePr>
        <p:xfrm>
          <a:off x="4597130" y="285396"/>
          <a:ext cx="37338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2467319" imgH="1267002" progId="Paint.Picture">
                  <p:embed/>
                </p:oleObj>
              </mc:Choice>
              <mc:Fallback>
                <p:oleObj name="BMP 图像" r:id="rId3" imgW="2467319" imgH="1267002" progId="Paint.Picture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130" y="285396"/>
                        <a:ext cx="37338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85" name="Picture 5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7" y="1444764"/>
            <a:ext cx="3673475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88" name="Picture 5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178" y="4445000"/>
            <a:ext cx="3954462" cy="241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90" name="J1胶带约束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3" y="3798112"/>
            <a:ext cx="3959225" cy="297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C:\Documents and Settings\Administrator\桌面\e65377f3e916abee15e7f5a612b93c10.jpe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130" y="2176470"/>
            <a:ext cx="3863302" cy="2396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75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490"/>
                </p:tgtEl>
              </p:cMediaNode>
            </p:video>
          </p:childTnLst>
        </p:cTn>
      </p:par>
    </p:tnLst>
    <p:bldLst>
      <p:bldP spid="18435" grpId="0" build="p" autoUpdateAnimBg="0"/>
      <p:bldP spid="1847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658671" y="1714500"/>
            <a:ext cx="2376487" cy="2592388"/>
            <a:chOff x="696" y="859"/>
            <a:chExt cx="1728" cy="2015"/>
          </a:xfrm>
        </p:grpSpPr>
        <p:grpSp>
          <p:nvGrpSpPr>
            <p:cNvPr id="23601" name="Group 3"/>
            <p:cNvGrpSpPr>
              <a:grpSpLocks/>
            </p:cNvGrpSpPr>
            <p:nvPr/>
          </p:nvGrpSpPr>
          <p:grpSpPr bwMode="auto">
            <a:xfrm>
              <a:off x="696" y="859"/>
              <a:ext cx="1590" cy="2015"/>
              <a:chOff x="390" y="625"/>
              <a:chExt cx="1590" cy="2015"/>
            </a:xfrm>
          </p:grpSpPr>
          <p:grpSp>
            <p:nvGrpSpPr>
              <p:cNvPr id="23607" name="Group 4"/>
              <p:cNvGrpSpPr>
                <a:grpSpLocks/>
              </p:cNvGrpSpPr>
              <p:nvPr/>
            </p:nvGrpSpPr>
            <p:grpSpPr bwMode="auto">
              <a:xfrm>
                <a:off x="390" y="625"/>
                <a:ext cx="1548" cy="1463"/>
                <a:chOff x="534" y="311"/>
                <a:chExt cx="2136" cy="2045"/>
              </a:xfrm>
            </p:grpSpPr>
            <p:grpSp>
              <p:nvGrpSpPr>
                <p:cNvPr id="23610" name="Group 5"/>
                <p:cNvGrpSpPr>
                  <a:grpSpLocks/>
                </p:cNvGrpSpPr>
                <p:nvPr/>
              </p:nvGrpSpPr>
              <p:grpSpPr bwMode="auto">
                <a:xfrm>
                  <a:off x="534" y="1964"/>
                  <a:ext cx="2136" cy="392"/>
                  <a:chOff x="480" y="1520"/>
                  <a:chExt cx="2136" cy="392"/>
                </a:xfrm>
              </p:grpSpPr>
              <p:sp>
                <p:nvSpPr>
                  <p:cNvPr id="23634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480" y="1520"/>
                    <a:ext cx="144" cy="392"/>
                  </a:xfrm>
                  <a:prstGeom prst="rect">
                    <a:avLst/>
                  </a:prstGeom>
                  <a:solidFill>
                    <a:srgbClr val="CC99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23635" name="Group 7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2528" y="1736"/>
                    <a:ext cx="88" cy="120"/>
                    <a:chOff x="598" y="2160"/>
                    <a:chExt cx="144" cy="144"/>
                  </a:xfrm>
                </p:grpSpPr>
                <p:sp>
                  <p:nvSpPr>
                    <p:cNvPr id="23651" name="AutoShap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8" y="2184"/>
                      <a:ext cx="144" cy="120"/>
                    </a:xfrm>
                    <a:prstGeom prst="triangle">
                      <a:avLst>
                        <a:gd name="adj" fmla="val 50000"/>
                      </a:avLst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52" name="Oval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160"/>
                      <a:ext cx="96" cy="88"/>
                    </a:xfrm>
                    <a:prstGeom prst="ellipse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grpSp>
                <p:nvGrpSpPr>
                  <p:cNvPr id="23636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2031" y="1545"/>
                    <a:ext cx="144" cy="144"/>
                    <a:chOff x="598" y="2160"/>
                    <a:chExt cx="144" cy="144"/>
                  </a:xfrm>
                </p:grpSpPr>
                <p:sp>
                  <p:nvSpPr>
                    <p:cNvPr id="23649" name="AutoShap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8" y="2184"/>
                      <a:ext cx="144" cy="120"/>
                    </a:xfrm>
                    <a:prstGeom prst="triangle">
                      <a:avLst>
                        <a:gd name="adj" fmla="val 50000"/>
                      </a:avLst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50" name="Oval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160"/>
                      <a:ext cx="96" cy="88"/>
                    </a:xfrm>
                    <a:prstGeom prst="ellipse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grpSp>
                <p:nvGrpSpPr>
                  <p:cNvPr id="23637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1302" y="1544"/>
                    <a:ext cx="144" cy="144"/>
                    <a:chOff x="598" y="2160"/>
                    <a:chExt cx="144" cy="144"/>
                  </a:xfrm>
                </p:grpSpPr>
                <p:sp>
                  <p:nvSpPr>
                    <p:cNvPr id="23647" name="AutoShap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8" y="2184"/>
                      <a:ext cx="144" cy="120"/>
                    </a:xfrm>
                    <a:prstGeom prst="triangle">
                      <a:avLst>
                        <a:gd name="adj" fmla="val 50000"/>
                      </a:avLst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48" name="Oval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160"/>
                      <a:ext cx="96" cy="88"/>
                    </a:xfrm>
                    <a:prstGeom prst="ellipse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23638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752" y="1688"/>
                    <a:ext cx="1864" cy="56"/>
                  </a:xfrm>
                  <a:prstGeom prst="rect">
                    <a:avLst/>
                  </a:prstGeom>
                  <a:solidFill>
                    <a:srgbClr val="80808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23639" name="Group 17"/>
                  <p:cNvGrpSpPr>
                    <a:grpSpLocks/>
                  </p:cNvGrpSpPr>
                  <p:nvPr/>
                </p:nvGrpSpPr>
                <p:grpSpPr bwMode="auto">
                  <a:xfrm rot="5280000">
                    <a:off x="494" y="1596"/>
                    <a:ext cx="328" cy="239"/>
                    <a:chOff x="624" y="3424"/>
                    <a:chExt cx="328" cy="239"/>
                  </a:xfrm>
                </p:grpSpPr>
                <p:sp>
                  <p:nvSpPr>
                    <p:cNvPr id="23640" name="AutoShap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2" y="3448"/>
                      <a:ext cx="144" cy="120"/>
                    </a:xfrm>
                    <a:prstGeom prst="triangle">
                      <a:avLst>
                        <a:gd name="adj" fmla="val 50000"/>
                      </a:avLst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41" name="Oval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44" y="3424"/>
                      <a:ext cx="96" cy="88"/>
                    </a:xfrm>
                    <a:prstGeom prst="ellipse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3642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4" y="3568"/>
                      <a:ext cx="328" cy="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43" name="Line 2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24" y="3576"/>
                      <a:ext cx="78" cy="7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44" name="Line 2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07" y="3575"/>
                      <a:ext cx="78" cy="7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45" name="Line 2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96" y="3574"/>
                      <a:ext cx="78" cy="7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46" name="Line 2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67" y="3585"/>
                      <a:ext cx="78" cy="7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23611" name="Group 25"/>
                <p:cNvGrpSpPr>
                  <a:grpSpLocks/>
                </p:cNvGrpSpPr>
                <p:nvPr/>
              </p:nvGrpSpPr>
              <p:grpSpPr bwMode="auto">
                <a:xfrm>
                  <a:off x="1432" y="456"/>
                  <a:ext cx="728" cy="1576"/>
                  <a:chOff x="1384" y="0"/>
                  <a:chExt cx="728" cy="1576"/>
                </a:xfrm>
              </p:grpSpPr>
              <p:sp>
                <p:nvSpPr>
                  <p:cNvPr id="23630" name="AutoShape 2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1368" y="105"/>
                    <a:ext cx="324" cy="114"/>
                  </a:xfrm>
                  <a:prstGeom prst="flowChartDelay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31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392" y="160"/>
                    <a:ext cx="272" cy="256"/>
                  </a:xfrm>
                  <a:prstGeom prst="ellipse">
                    <a:avLst/>
                  </a:prstGeom>
                  <a:solidFill>
                    <a:srgbClr val="993300"/>
                  </a:solidFill>
                  <a:ln w="50800">
                    <a:solidFill>
                      <a:srgbClr val="808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32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384" y="272"/>
                    <a:ext cx="0" cy="1296"/>
                  </a:xfrm>
                  <a:prstGeom prst="line">
                    <a:avLst/>
                  </a:prstGeom>
                  <a:noFill/>
                  <a:ln w="38100">
                    <a:solidFill>
                      <a:srgbClr val="808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33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1664" y="256"/>
                    <a:ext cx="448" cy="1320"/>
                  </a:xfrm>
                  <a:prstGeom prst="line">
                    <a:avLst/>
                  </a:prstGeom>
                  <a:noFill/>
                  <a:ln w="38100">
                    <a:solidFill>
                      <a:srgbClr val="808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612" name="Group 30"/>
                <p:cNvGrpSpPr>
                  <a:grpSpLocks/>
                </p:cNvGrpSpPr>
                <p:nvPr/>
              </p:nvGrpSpPr>
              <p:grpSpPr bwMode="auto">
                <a:xfrm rot="10800000">
                  <a:off x="1000" y="311"/>
                  <a:ext cx="1247" cy="139"/>
                  <a:chOff x="2296" y="1373"/>
                  <a:chExt cx="1247" cy="139"/>
                </a:xfrm>
              </p:grpSpPr>
              <p:sp>
                <p:nvSpPr>
                  <p:cNvPr id="2361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334" y="1374"/>
                    <a:ext cx="1209" cy="126"/>
                  </a:xfrm>
                  <a:prstGeom prst="rect">
                    <a:avLst/>
                  </a:prstGeom>
                  <a:solidFill>
                    <a:srgbClr val="FFCC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3614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364" y="1374"/>
                    <a:ext cx="1179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99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5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96" y="1374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6" name="Line 3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72" y="1378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7" name="Line 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17" y="1374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8" name="Line 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47" y="1373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9" name="Line 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30" y="1373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0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93" y="1374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1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69" y="1378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2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14" y="1374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3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44" y="1373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4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26" y="1373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5" name="Line 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92" y="1375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6" name="Line 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68" y="1379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7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13" y="1375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8" name="Line 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43" y="1374"/>
                    <a:ext cx="121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9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26" y="1374"/>
                    <a:ext cx="120" cy="13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3608" name="Line 48"/>
              <p:cNvSpPr>
                <a:spLocks noChangeShapeType="1"/>
              </p:cNvSpPr>
              <p:nvPr/>
            </p:nvSpPr>
            <p:spPr bwMode="auto">
              <a:xfrm>
                <a:off x="1902" y="2034"/>
                <a:ext cx="0" cy="498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9" name="Rectangle 49"/>
              <p:cNvSpPr>
                <a:spLocks noChangeArrowheads="1"/>
              </p:cNvSpPr>
              <p:nvPr/>
            </p:nvSpPr>
            <p:spPr bwMode="auto">
              <a:xfrm>
                <a:off x="1824" y="2484"/>
                <a:ext cx="156" cy="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3602" name="Text Box 50"/>
            <p:cNvSpPr txBox="1">
              <a:spLocks noChangeArrowheads="1"/>
            </p:cNvSpPr>
            <p:nvPr/>
          </p:nvSpPr>
          <p:spPr bwMode="auto">
            <a:xfrm>
              <a:off x="2232" y="1992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B</a:t>
              </a:r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1141" y="964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E</a:t>
              </a:r>
            </a:p>
          </p:txBody>
        </p:sp>
        <p:sp>
          <p:nvSpPr>
            <p:cNvPr id="23604" name="Text Box 52"/>
            <p:cNvSpPr txBox="1">
              <a:spLocks noChangeArrowheads="1"/>
            </p:cNvSpPr>
            <p:nvPr/>
          </p:nvSpPr>
          <p:spPr bwMode="auto">
            <a:xfrm>
              <a:off x="1902" y="1868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D</a:t>
              </a:r>
            </a:p>
          </p:txBody>
        </p:sp>
        <p:sp>
          <p:nvSpPr>
            <p:cNvPr id="23605" name="Text Box 53"/>
            <p:cNvSpPr txBox="1">
              <a:spLocks noChangeArrowheads="1"/>
            </p:cNvSpPr>
            <p:nvPr/>
          </p:nvSpPr>
          <p:spPr bwMode="auto">
            <a:xfrm>
              <a:off x="1078" y="1891"/>
              <a:ext cx="191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C</a:t>
              </a:r>
            </a:p>
          </p:txBody>
        </p:sp>
        <p:sp>
          <p:nvSpPr>
            <p:cNvPr id="23606" name="Text Box 54"/>
            <p:cNvSpPr txBox="1">
              <a:spLocks noChangeArrowheads="1"/>
            </p:cNvSpPr>
            <p:nvPr/>
          </p:nvSpPr>
          <p:spPr bwMode="auto">
            <a:xfrm>
              <a:off x="784" y="1883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A</a:t>
              </a:r>
            </a:p>
          </p:txBody>
        </p:sp>
      </p:grpSp>
      <p:grpSp>
        <p:nvGrpSpPr>
          <p:cNvPr id="12" name="Group 92"/>
          <p:cNvGrpSpPr>
            <a:grpSpLocks/>
          </p:cNvGrpSpPr>
          <p:nvPr/>
        </p:nvGrpSpPr>
        <p:grpSpPr bwMode="auto">
          <a:xfrm>
            <a:off x="5393493" y="1774944"/>
            <a:ext cx="2305050" cy="2234346"/>
            <a:chOff x="3450" y="781"/>
            <a:chExt cx="1590" cy="1553"/>
          </a:xfrm>
        </p:grpSpPr>
        <p:grpSp>
          <p:nvGrpSpPr>
            <p:cNvPr id="23566" name="Group 55"/>
            <p:cNvGrpSpPr>
              <a:grpSpLocks/>
            </p:cNvGrpSpPr>
            <p:nvPr/>
          </p:nvGrpSpPr>
          <p:grpSpPr bwMode="auto">
            <a:xfrm>
              <a:off x="3450" y="948"/>
              <a:ext cx="1590" cy="1386"/>
              <a:chOff x="2920" y="1501"/>
              <a:chExt cx="1590" cy="1386"/>
            </a:xfrm>
          </p:grpSpPr>
          <p:sp>
            <p:nvSpPr>
              <p:cNvPr id="23573" name="Line 56"/>
              <p:cNvSpPr>
                <a:spLocks noChangeShapeType="1"/>
              </p:cNvSpPr>
              <p:nvPr/>
            </p:nvSpPr>
            <p:spPr bwMode="auto">
              <a:xfrm>
                <a:off x="3884" y="1501"/>
                <a:ext cx="214" cy="605"/>
              </a:xfrm>
              <a:prstGeom prst="line">
                <a:avLst/>
              </a:prstGeom>
              <a:noFill/>
              <a:ln w="38100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3574" name="Group 57"/>
              <p:cNvGrpSpPr>
                <a:grpSpLocks/>
              </p:cNvGrpSpPr>
              <p:nvPr/>
            </p:nvGrpSpPr>
            <p:grpSpPr bwMode="auto">
              <a:xfrm>
                <a:off x="2920" y="1548"/>
                <a:ext cx="1590" cy="1339"/>
                <a:chOff x="2920" y="1548"/>
                <a:chExt cx="1590" cy="1339"/>
              </a:xfrm>
            </p:grpSpPr>
            <p:sp>
              <p:nvSpPr>
                <p:cNvPr id="23577" name="Line 58"/>
                <p:cNvSpPr>
                  <a:spLocks noChangeShapeType="1"/>
                </p:cNvSpPr>
                <p:nvPr/>
              </p:nvSpPr>
              <p:spPr bwMode="auto">
                <a:xfrm>
                  <a:off x="3560" y="1548"/>
                  <a:ext cx="11" cy="542"/>
                </a:xfrm>
                <a:prstGeom prst="line">
                  <a:avLst/>
                </a:prstGeom>
                <a:noFill/>
                <a:ln w="38100">
                  <a:solidFill>
                    <a:srgbClr val="8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578" name="Group 59"/>
                <p:cNvGrpSpPr>
                  <a:grpSpLocks/>
                </p:cNvGrpSpPr>
                <p:nvPr/>
              </p:nvGrpSpPr>
              <p:grpSpPr bwMode="auto">
                <a:xfrm>
                  <a:off x="2920" y="2055"/>
                  <a:ext cx="1590" cy="832"/>
                  <a:chOff x="2920" y="2055"/>
                  <a:chExt cx="1590" cy="832"/>
                </a:xfrm>
              </p:grpSpPr>
              <p:grpSp>
                <p:nvGrpSpPr>
                  <p:cNvPr id="23579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2920" y="2055"/>
                    <a:ext cx="1548" cy="280"/>
                    <a:chOff x="480" y="1520"/>
                    <a:chExt cx="2136" cy="392"/>
                  </a:xfrm>
                </p:grpSpPr>
                <p:sp>
                  <p:nvSpPr>
                    <p:cNvPr id="23582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0" y="1520"/>
                      <a:ext cx="144" cy="392"/>
                    </a:xfrm>
                    <a:prstGeom prst="rect">
                      <a:avLst/>
                    </a:prstGeom>
                    <a:solidFill>
                      <a:srgbClr val="CC99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grpSp>
                  <p:nvGrpSpPr>
                    <p:cNvPr id="23583" name="Group 62"/>
                    <p:cNvGrpSpPr>
                      <a:grpSpLocks/>
                    </p:cNvGrpSpPr>
                    <p:nvPr/>
                  </p:nvGrpSpPr>
                  <p:grpSpPr bwMode="auto">
                    <a:xfrm flipH="1" flipV="1">
                      <a:off x="2528" y="1736"/>
                      <a:ext cx="88" cy="120"/>
                      <a:chOff x="598" y="2160"/>
                      <a:chExt cx="144" cy="144"/>
                    </a:xfrm>
                  </p:grpSpPr>
                  <p:sp>
                    <p:nvSpPr>
                      <p:cNvPr id="23599" name="AutoShape 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8" y="2184"/>
                        <a:ext cx="144" cy="12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23600" name="Oval 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160"/>
                        <a:ext cx="96" cy="88"/>
                      </a:xfrm>
                      <a:prstGeom prst="ellipse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grpSp>
                  <p:nvGrpSpPr>
                    <p:cNvPr id="23584" name="Group 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31" y="1545"/>
                      <a:ext cx="144" cy="144"/>
                      <a:chOff x="598" y="2160"/>
                      <a:chExt cx="144" cy="144"/>
                    </a:xfrm>
                  </p:grpSpPr>
                  <p:sp>
                    <p:nvSpPr>
                      <p:cNvPr id="23597" name="AutoShape 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8" y="2184"/>
                        <a:ext cx="144" cy="12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23598" name="Oval 6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160"/>
                        <a:ext cx="96" cy="88"/>
                      </a:xfrm>
                      <a:prstGeom prst="ellipse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grpSp>
                  <p:nvGrpSpPr>
                    <p:cNvPr id="23585" name="Group 6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02" y="1544"/>
                      <a:ext cx="144" cy="144"/>
                      <a:chOff x="598" y="2160"/>
                      <a:chExt cx="144" cy="144"/>
                    </a:xfrm>
                  </p:grpSpPr>
                  <p:sp>
                    <p:nvSpPr>
                      <p:cNvPr id="23595" name="AutoShape 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8" y="2184"/>
                        <a:ext cx="144" cy="12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23596" name="Oval 7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0" y="2160"/>
                        <a:ext cx="96" cy="88"/>
                      </a:xfrm>
                      <a:prstGeom prst="ellipse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</p:grpSp>
                <p:sp>
                  <p:nvSpPr>
                    <p:cNvPr id="23586" name="Rectangle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2" y="1688"/>
                      <a:ext cx="1864" cy="5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grpSp>
                  <p:nvGrpSpPr>
                    <p:cNvPr id="23587" name="Group 72"/>
                    <p:cNvGrpSpPr>
                      <a:grpSpLocks/>
                    </p:cNvGrpSpPr>
                    <p:nvPr/>
                  </p:nvGrpSpPr>
                  <p:grpSpPr bwMode="auto">
                    <a:xfrm rot="5280000">
                      <a:off x="494" y="1596"/>
                      <a:ext cx="328" cy="239"/>
                      <a:chOff x="624" y="3424"/>
                      <a:chExt cx="328" cy="239"/>
                    </a:xfrm>
                  </p:grpSpPr>
                  <p:sp>
                    <p:nvSpPr>
                      <p:cNvPr id="23588" name="AutoShape 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12" y="3448"/>
                        <a:ext cx="144" cy="12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23589" name="Oval 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44" y="3424"/>
                        <a:ext cx="96" cy="88"/>
                      </a:xfrm>
                      <a:prstGeom prst="ellipse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/>
                        <a:endParaRPr lang="zh-CN" altLang="en-US"/>
                      </a:p>
                    </p:txBody>
                  </p:sp>
                  <p:sp>
                    <p:nvSpPr>
                      <p:cNvPr id="23590" name="Line 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24" y="3568"/>
                        <a:ext cx="328" cy="8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3591" name="Line 7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3576"/>
                        <a:ext cx="78" cy="7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3592" name="Line 77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707" y="3575"/>
                        <a:ext cx="78" cy="7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3593" name="Line 7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796" y="3574"/>
                        <a:ext cx="78" cy="7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3594" name="Line 79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67" y="3585"/>
                        <a:ext cx="78" cy="7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23580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4432" y="2281"/>
                    <a:ext cx="0" cy="498"/>
                  </a:xfrm>
                  <a:prstGeom prst="line">
                    <a:avLst/>
                  </a:prstGeom>
                  <a:noFill/>
                  <a:ln w="38100">
                    <a:solidFill>
                      <a:srgbClr val="808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1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2731"/>
                    <a:ext cx="156" cy="15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sp>
            <p:nvSpPr>
              <p:cNvPr id="23575" name="Text Box 82"/>
              <p:cNvSpPr txBox="1">
                <a:spLocks noChangeArrowheads="1"/>
              </p:cNvSpPr>
              <p:nvPr/>
            </p:nvSpPr>
            <p:spPr bwMode="auto">
              <a:xfrm>
                <a:off x="3362" y="1929"/>
                <a:ext cx="321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/>
                  <a:t>C</a:t>
                </a:r>
                <a:endParaRPr lang="en-US" altLang="zh-CN" sz="1400" b="1" i="1" baseline="-25000"/>
              </a:p>
            </p:txBody>
          </p:sp>
          <p:sp>
            <p:nvSpPr>
              <p:cNvPr id="23576" name="Text Box 83"/>
              <p:cNvSpPr txBox="1">
                <a:spLocks noChangeArrowheads="1"/>
              </p:cNvSpPr>
              <p:nvPr/>
            </p:nvSpPr>
            <p:spPr bwMode="auto">
              <a:xfrm>
                <a:off x="4070" y="1884"/>
                <a:ext cx="321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/>
                  <a:t>D</a:t>
                </a:r>
                <a:endParaRPr lang="en-US" altLang="zh-CN" sz="1400" b="1" i="1" baseline="-25000"/>
              </a:p>
            </p:txBody>
          </p:sp>
        </p:grpSp>
        <p:grpSp>
          <p:nvGrpSpPr>
            <p:cNvPr id="23567" name="Group 84"/>
            <p:cNvGrpSpPr>
              <a:grpSpLocks/>
            </p:cNvGrpSpPr>
            <p:nvPr/>
          </p:nvGrpSpPr>
          <p:grpSpPr bwMode="auto">
            <a:xfrm>
              <a:off x="3777" y="836"/>
              <a:ext cx="344" cy="522"/>
              <a:chOff x="3239" y="1371"/>
              <a:chExt cx="344" cy="522"/>
            </a:xfrm>
          </p:grpSpPr>
          <p:sp>
            <p:nvSpPr>
              <p:cNvPr id="23571" name="AutoShape 85"/>
              <p:cNvSpPr>
                <a:spLocks noChangeArrowheads="1"/>
              </p:cNvSpPr>
              <p:nvPr/>
            </p:nvSpPr>
            <p:spPr bwMode="auto">
              <a:xfrm rot="16200000">
                <a:off x="3294" y="1604"/>
                <a:ext cx="522" cy="56"/>
              </a:xfrm>
              <a:prstGeom prst="rightArrow">
                <a:avLst>
                  <a:gd name="adj1" fmla="val 50000"/>
                  <a:gd name="adj2" fmla="val 233036"/>
                </a:avLst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2" name="Text Box 86"/>
              <p:cNvSpPr txBox="1">
                <a:spLocks noChangeArrowheads="1"/>
              </p:cNvSpPr>
              <p:nvPr/>
            </p:nvSpPr>
            <p:spPr bwMode="auto">
              <a:xfrm>
                <a:off x="3239" y="1380"/>
                <a:ext cx="321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 dirty="0"/>
                  <a:t>F</a:t>
                </a:r>
                <a:r>
                  <a:rPr lang="en-US" altLang="zh-CN" sz="1400" b="1" i="1" baseline="-25000" dirty="0"/>
                  <a:t>C</a:t>
                </a:r>
              </a:p>
            </p:txBody>
          </p:sp>
        </p:grpSp>
        <p:grpSp>
          <p:nvGrpSpPr>
            <p:cNvPr id="23568" name="Group 87"/>
            <p:cNvGrpSpPr>
              <a:grpSpLocks/>
            </p:cNvGrpSpPr>
            <p:nvPr/>
          </p:nvGrpSpPr>
          <p:grpSpPr bwMode="auto">
            <a:xfrm>
              <a:off x="4451" y="781"/>
              <a:ext cx="321" cy="618"/>
              <a:chOff x="3921" y="1334"/>
              <a:chExt cx="321" cy="618"/>
            </a:xfrm>
          </p:grpSpPr>
          <p:sp>
            <p:nvSpPr>
              <p:cNvPr id="23569" name="AutoShape 88"/>
              <p:cNvSpPr>
                <a:spLocks noChangeArrowheads="1"/>
              </p:cNvSpPr>
              <p:nvPr/>
            </p:nvSpPr>
            <p:spPr bwMode="auto">
              <a:xfrm rot="15060000">
                <a:off x="3695" y="1663"/>
                <a:ext cx="522" cy="56"/>
              </a:xfrm>
              <a:prstGeom prst="rightArrow">
                <a:avLst>
                  <a:gd name="adj1" fmla="val 50000"/>
                  <a:gd name="adj2" fmla="val 233036"/>
                </a:avLst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70" name="Text Box 89"/>
              <p:cNvSpPr txBox="1">
                <a:spLocks noChangeArrowheads="1"/>
              </p:cNvSpPr>
              <p:nvPr/>
            </p:nvSpPr>
            <p:spPr bwMode="auto">
              <a:xfrm>
                <a:off x="3921" y="1334"/>
                <a:ext cx="321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i="1"/>
                  <a:t>F</a:t>
                </a:r>
                <a:r>
                  <a:rPr lang="en-US" altLang="zh-CN" sz="1400" b="1" i="1" baseline="-25000"/>
                  <a:t>D</a:t>
                </a:r>
              </a:p>
            </p:txBody>
          </p:sp>
        </p:grpSp>
      </p:grpSp>
      <p:sp>
        <p:nvSpPr>
          <p:cNvPr id="21597" name="Text Box 93"/>
          <p:cNvSpPr txBox="1">
            <a:spLocks noChangeArrowheads="1"/>
          </p:cNvSpPr>
          <p:nvPr/>
        </p:nvSpPr>
        <p:spPr bwMode="auto">
          <a:xfrm>
            <a:off x="190409" y="801144"/>
            <a:ext cx="85177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81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algn="just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约束特性：只承受拉力，阻碍物体沿柔索伸长方向的位移；</a:t>
            </a:r>
          </a:p>
        </p:txBody>
      </p:sp>
      <p:sp>
        <p:nvSpPr>
          <p:cNvPr id="21598" name="Rectangle 94"/>
          <p:cNvSpPr>
            <a:spLocks noChangeArrowheads="1"/>
          </p:cNvSpPr>
          <p:nvPr/>
        </p:nvSpPr>
        <p:spPr bwMode="auto">
          <a:xfrm>
            <a:off x="557302" y="1208368"/>
            <a:ext cx="7224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约束反力：方向沿柔索背离物体，作用点过接触点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1600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756380"/>
              </p:ext>
            </p:extLst>
          </p:nvPr>
        </p:nvGraphicFramePr>
        <p:xfrm>
          <a:off x="1818373" y="4325671"/>
          <a:ext cx="3168650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1714739" imgH="1162212" progId="Paint.Picture">
                  <p:embed/>
                </p:oleObj>
              </mc:Choice>
              <mc:Fallback>
                <p:oleObj name="BMP 图像" r:id="rId2" imgW="1714739" imgH="1162212" progId="Paint.Picture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373" y="4325671"/>
                        <a:ext cx="3168650" cy="214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01"/>
          <p:cNvGrpSpPr>
            <a:grpSpLocks/>
          </p:cNvGrpSpPr>
          <p:nvPr/>
        </p:nvGrpSpPr>
        <p:grpSpPr bwMode="auto">
          <a:xfrm>
            <a:off x="5035158" y="4345602"/>
            <a:ext cx="3155950" cy="2114550"/>
            <a:chOff x="3379" y="2939"/>
            <a:chExt cx="1988" cy="1332"/>
          </a:xfrm>
        </p:grpSpPr>
        <p:graphicFrame>
          <p:nvGraphicFramePr>
            <p:cNvPr id="23561" name="Object 95"/>
            <p:cNvGraphicFramePr>
              <a:graphicFrameLocks noChangeAspect="1"/>
            </p:cNvGraphicFramePr>
            <p:nvPr/>
          </p:nvGraphicFramePr>
          <p:xfrm>
            <a:off x="3379" y="2939"/>
            <a:ext cx="1988" cy="1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4" imgW="1704762" imgH="1142857" progId="Paint.Picture">
                    <p:embed/>
                  </p:oleObj>
                </mc:Choice>
                <mc:Fallback>
                  <p:oleObj name="BMP 图像" r:id="rId4" imgW="1704762" imgH="1142857" progId="Paint.Picture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939"/>
                          <a:ext cx="1988" cy="1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2" name="Text Box 97"/>
            <p:cNvSpPr txBox="1">
              <a:spLocks noChangeArrowheads="1"/>
            </p:cNvSpPr>
            <p:nvPr/>
          </p:nvSpPr>
          <p:spPr bwMode="auto">
            <a:xfrm>
              <a:off x="4318" y="2958"/>
              <a:ext cx="31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F</a:t>
              </a:r>
              <a:r>
                <a:rPr lang="en-US" altLang="zh-CN" sz="2000" baseline="-25000"/>
                <a:t>1</a:t>
              </a:r>
            </a:p>
          </p:txBody>
        </p:sp>
        <p:sp>
          <p:nvSpPr>
            <p:cNvPr id="23563" name="Text Box 98"/>
            <p:cNvSpPr txBox="1">
              <a:spLocks noChangeArrowheads="1"/>
            </p:cNvSpPr>
            <p:nvPr/>
          </p:nvSpPr>
          <p:spPr bwMode="auto">
            <a:xfrm>
              <a:off x="4689" y="2963"/>
              <a:ext cx="363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ym typeface="Symbol" panose="05050102010706020507" pitchFamily="18" charset="2"/>
                </a:rPr>
                <a:t>F</a:t>
              </a:r>
              <a:r>
                <a:rPr lang="en-US" altLang="zh-CN" sz="2000" baseline="-25000"/>
                <a:t>1</a:t>
              </a:r>
              <a:endParaRPr lang="en-US" altLang="zh-CN" sz="2000" baseline="-25000">
                <a:sym typeface="Symbol" panose="05050102010706020507" pitchFamily="18" charset="2"/>
              </a:endParaRPr>
            </a:p>
          </p:txBody>
        </p:sp>
        <p:sp>
          <p:nvSpPr>
            <p:cNvPr id="23564" name="Text Box 99"/>
            <p:cNvSpPr txBox="1">
              <a:spLocks noChangeArrowheads="1"/>
            </p:cNvSpPr>
            <p:nvPr/>
          </p:nvSpPr>
          <p:spPr bwMode="auto">
            <a:xfrm>
              <a:off x="4510" y="3486"/>
              <a:ext cx="320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F</a:t>
              </a:r>
              <a:r>
                <a:rPr lang="en-US" altLang="zh-CN" sz="2000" b="1" i="1">
                  <a:sym typeface="Symbol" panose="05050102010706020507" pitchFamily="18" charset="2"/>
                </a:rPr>
                <a:t></a:t>
              </a:r>
              <a:r>
                <a:rPr lang="en-US" altLang="zh-CN" sz="2000" baseline="-25000"/>
                <a:t>2</a:t>
              </a:r>
            </a:p>
          </p:txBody>
        </p:sp>
        <p:sp>
          <p:nvSpPr>
            <p:cNvPr id="23565" name="Text Box 100"/>
            <p:cNvSpPr txBox="1">
              <a:spLocks noChangeArrowheads="1"/>
            </p:cNvSpPr>
            <p:nvPr/>
          </p:nvSpPr>
          <p:spPr bwMode="auto">
            <a:xfrm>
              <a:off x="4219" y="3545"/>
              <a:ext cx="317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F</a:t>
              </a:r>
              <a:r>
                <a:rPr lang="en-US" altLang="zh-CN" sz="2000" baseline="-25000"/>
                <a:t>2</a:t>
              </a:r>
            </a:p>
          </p:txBody>
        </p:sp>
      </p:grpSp>
      <p:sp>
        <p:nvSpPr>
          <p:cNvPr id="102" name="云形标注 101"/>
          <p:cNvSpPr>
            <a:spLocks noChangeArrowheads="1"/>
          </p:cNvSpPr>
          <p:nvPr/>
        </p:nvSpPr>
        <p:spPr bwMode="auto">
          <a:xfrm>
            <a:off x="89178" y="2789248"/>
            <a:ext cx="2357437" cy="1594454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22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弹性绳索的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力是约束力？</a:t>
            </a:r>
          </a:p>
        </p:txBody>
      </p:sp>
      <p:sp>
        <p:nvSpPr>
          <p:cNvPr id="103" name="Text Box 3"/>
          <p:cNvSpPr txBox="1">
            <a:spLocks noChangeArrowheads="1"/>
          </p:cNvSpPr>
          <p:nvPr/>
        </p:nvSpPr>
        <p:spPr bwMode="auto">
          <a:xfrm>
            <a:off x="647394" y="218889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97" grpId="0" build="p" autoUpdateAnimBg="0"/>
      <p:bldP spid="21598" grpId="0" build="p" autoUpdateAnimBg="0"/>
      <p:bldP spid="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3948720" y="403869"/>
            <a:ext cx="2661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光滑接触面约束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777813" y="2721357"/>
            <a:ext cx="7812087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81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lnSpc>
                <a:spcPct val="12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约束特性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只能阻碍物体沿着接触点（面）公法线方向的位移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而不阻碍物体沿接触点（面）切线方向的位移。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73942" y="1156843"/>
            <a:ext cx="1979612" cy="1236663"/>
            <a:chOff x="602" y="2047"/>
            <a:chExt cx="1247" cy="779"/>
          </a:xfrm>
        </p:grpSpPr>
        <p:grpSp>
          <p:nvGrpSpPr>
            <p:cNvPr id="24620" name="Group 6"/>
            <p:cNvGrpSpPr>
              <a:grpSpLocks/>
            </p:cNvGrpSpPr>
            <p:nvPr/>
          </p:nvGrpSpPr>
          <p:grpSpPr bwMode="auto">
            <a:xfrm>
              <a:off x="602" y="2047"/>
              <a:ext cx="1247" cy="779"/>
              <a:chOff x="867" y="832"/>
              <a:chExt cx="1871" cy="1062"/>
            </a:xfrm>
          </p:grpSpPr>
          <p:sp>
            <p:nvSpPr>
              <p:cNvPr id="24622" name="Rectangle 7"/>
              <p:cNvSpPr>
                <a:spLocks noChangeArrowheads="1"/>
              </p:cNvSpPr>
              <p:nvPr/>
            </p:nvSpPr>
            <p:spPr bwMode="auto">
              <a:xfrm>
                <a:off x="924" y="1706"/>
                <a:ext cx="1814" cy="171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23" name="Oval 8"/>
              <p:cNvSpPr>
                <a:spLocks noChangeArrowheads="1"/>
              </p:cNvSpPr>
              <p:nvPr/>
            </p:nvSpPr>
            <p:spPr bwMode="auto">
              <a:xfrm>
                <a:off x="1434" y="832"/>
                <a:ext cx="907" cy="86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24" name="Line 9"/>
              <p:cNvSpPr>
                <a:spLocks noChangeShapeType="1"/>
              </p:cNvSpPr>
              <p:nvPr/>
            </p:nvSpPr>
            <p:spPr bwMode="auto">
              <a:xfrm>
                <a:off x="969" y="1706"/>
                <a:ext cx="1769" cy="0"/>
              </a:xfrm>
              <a:prstGeom prst="line">
                <a:avLst/>
              </a:prstGeom>
              <a:noFill/>
              <a:ln w="3810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5" name="Line 10"/>
              <p:cNvSpPr>
                <a:spLocks noChangeShapeType="1"/>
              </p:cNvSpPr>
              <p:nvPr/>
            </p:nvSpPr>
            <p:spPr bwMode="auto">
              <a:xfrm flipH="1">
                <a:off x="867" y="1706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6" name="Line 11"/>
              <p:cNvSpPr>
                <a:spLocks noChangeShapeType="1"/>
              </p:cNvSpPr>
              <p:nvPr/>
            </p:nvSpPr>
            <p:spPr bwMode="auto">
              <a:xfrm flipH="1">
                <a:off x="981" y="1712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7" name="Line 12"/>
              <p:cNvSpPr>
                <a:spLocks noChangeShapeType="1"/>
              </p:cNvSpPr>
              <p:nvPr/>
            </p:nvSpPr>
            <p:spPr bwMode="auto">
              <a:xfrm flipH="1">
                <a:off x="1349" y="1706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8" name="Line 13"/>
              <p:cNvSpPr>
                <a:spLocks noChangeShapeType="1"/>
              </p:cNvSpPr>
              <p:nvPr/>
            </p:nvSpPr>
            <p:spPr bwMode="auto">
              <a:xfrm flipH="1">
                <a:off x="1094" y="1705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29" name="Line 14"/>
              <p:cNvSpPr>
                <a:spLocks noChangeShapeType="1"/>
              </p:cNvSpPr>
              <p:nvPr/>
            </p:nvSpPr>
            <p:spPr bwMode="auto">
              <a:xfrm flipH="1">
                <a:off x="1218" y="1705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0" name="Line 15"/>
              <p:cNvSpPr>
                <a:spLocks noChangeShapeType="1"/>
              </p:cNvSpPr>
              <p:nvPr/>
            </p:nvSpPr>
            <p:spPr bwMode="auto">
              <a:xfrm flipH="1">
                <a:off x="1462" y="1706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1" name="Line 16"/>
              <p:cNvSpPr>
                <a:spLocks noChangeShapeType="1"/>
              </p:cNvSpPr>
              <p:nvPr/>
            </p:nvSpPr>
            <p:spPr bwMode="auto">
              <a:xfrm flipH="1">
                <a:off x="1576" y="1712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2" name="Line 17"/>
              <p:cNvSpPr>
                <a:spLocks noChangeShapeType="1"/>
              </p:cNvSpPr>
              <p:nvPr/>
            </p:nvSpPr>
            <p:spPr bwMode="auto">
              <a:xfrm flipH="1">
                <a:off x="1944" y="1706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3" name="Line 18"/>
              <p:cNvSpPr>
                <a:spLocks noChangeShapeType="1"/>
              </p:cNvSpPr>
              <p:nvPr/>
            </p:nvSpPr>
            <p:spPr bwMode="auto">
              <a:xfrm flipH="1">
                <a:off x="1689" y="1705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4" name="Line 19"/>
              <p:cNvSpPr>
                <a:spLocks noChangeShapeType="1"/>
              </p:cNvSpPr>
              <p:nvPr/>
            </p:nvSpPr>
            <p:spPr bwMode="auto">
              <a:xfrm flipH="1">
                <a:off x="1813" y="1705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5" name="Line 20"/>
              <p:cNvSpPr>
                <a:spLocks noChangeShapeType="1"/>
              </p:cNvSpPr>
              <p:nvPr/>
            </p:nvSpPr>
            <p:spPr bwMode="auto">
              <a:xfrm flipH="1">
                <a:off x="2061" y="1707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6" name="Line 21"/>
              <p:cNvSpPr>
                <a:spLocks noChangeShapeType="1"/>
              </p:cNvSpPr>
              <p:nvPr/>
            </p:nvSpPr>
            <p:spPr bwMode="auto">
              <a:xfrm flipH="1">
                <a:off x="2175" y="1713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7" name="Line 22"/>
              <p:cNvSpPr>
                <a:spLocks noChangeShapeType="1"/>
              </p:cNvSpPr>
              <p:nvPr/>
            </p:nvSpPr>
            <p:spPr bwMode="auto">
              <a:xfrm flipH="1">
                <a:off x="2543" y="1707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8" name="Line 23"/>
              <p:cNvSpPr>
                <a:spLocks noChangeShapeType="1"/>
              </p:cNvSpPr>
              <p:nvPr/>
            </p:nvSpPr>
            <p:spPr bwMode="auto">
              <a:xfrm flipH="1">
                <a:off x="2288" y="1706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9" name="Line 24"/>
              <p:cNvSpPr>
                <a:spLocks noChangeShapeType="1"/>
              </p:cNvSpPr>
              <p:nvPr/>
            </p:nvSpPr>
            <p:spPr bwMode="auto">
              <a:xfrm flipH="1">
                <a:off x="2412" y="1706"/>
                <a:ext cx="181" cy="1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1" name="Text Box 25"/>
            <p:cNvSpPr txBox="1">
              <a:spLocks noChangeArrowheads="1"/>
            </p:cNvSpPr>
            <p:nvPr/>
          </p:nvSpPr>
          <p:spPr bwMode="auto">
            <a:xfrm>
              <a:off x="1112" y="2416"/>
              <a:ext cx="1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3453122" y="1182931"/>
            <a:ext cx="1349375" cy="1279525"/>
            <a:chOff x="2094" y="2052"/>
            <a:chExt cx="850" cy="806"/>
          </a:xfrm>
        </p:grpSpPr>
        <p:grpSp>
          <p:nvGrpSpPr>
            <p:cNvPr id="24608" name="Group 27"/>
            <p:cNvGrpSpPr>
              <a:grpSpLocks/>
            </p:cNvGrpSpPr>
            <p:nvPr/>
          </p:nvGrpSpPr>
          <p:grpSpPr bwMode="auto">
            <a:xfrm>
              <a:off x="2094" y="2052"/>
              <a:ext cx="850" cy="806"/>
              <a:chOff x="2342" y="512"/>
              <a:chExt cx="971" cy="911"/>
            </a:xfrm>
          </p:grpSpPr>
          <p:sp>
            <p:nvSpPr>
              <p:cNvPr id="24610" name="AutoShape 28"/>
              <p:cNvSpPr>
                <a:spLocks noChangeArrowheads="1"/>
              </p:cNvSpPr>
              <p:nvPr/>
            </p:nvSpPr>
            <p:spPr bwMode="auto">
              <a:xfrm rot="-5400000">
                <a:off x="2687" y="842"/>
                <a:ext cx="284" cy="877"/>
              </a:xfrm>
              <a:prstGeom prst="moon">
                <a:avLst>
                  <a:gd name="adj" fmla="val 50000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11" name="Oval 29"/>
              <p:cNvSpPr>
                <a:spLocks noChangeArrowheads="1"/>
              </p:cNvSpPr>
              <p:nvPr/>
            </p:nvSpPr>
            <p:spPr bwMode="auto">
              <a:xfrm>
                <a:off x="2492" y="512"/>
                <a:ext cx="736" cy="73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12" name="Arc 30"/>
              <p:cNvSpPr>
                <a:spLocks/>
              </p:cNvSpPr>
              <p:nvPr/>
            </p:nvSpPr>
            <p:spPr bwMode="auto">
              <a:xfrm rot="5945191">
                <a:off x="2624" y="584"/>
                <a:ext cx="408" cy="971"/>
              </a:xfrm>
              <a:custGeom>
                <a:avLst/>
                <a:gdLst>
                  <a:gd name="T0" fmla="*/ 0 w 21600"/>
                  <a:gd name="T1" fmla="*/ 0 h 32263"/>
                  <a:gd name="T2" fmla="*/ 0 w 21600"/>
                  <a:gd name="T3" fmla="*/ 0 h 32263"/>
                  <a:gd name="T4" fmla="*/ 0 w 21600"/>
                  <a:gd name="T5" fmla="*/ 0 h 3226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2263"/>
                  <a:gd name="T11" fmla="*/ 21600 w 21600"/>
                  <a:gd name="T12" fmla="*/ 32263 h 322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2263" fill="none" extrusionOk="0">
                    <a:moveTo>
                      <a:pt x="8072" y="-1"/>
                    </a:moveTo>
                    <a:cubicBezTo>
                      <a:pt x="16246" y="3293"/>
                      <a:pt x="21600" y="11222"/>
                      <a:pt x="21600" y="20035"/>
                    </a:cubicBezTo>
                    <a:cubicBezTo>
                      <a:pt x="21600" y="24400"/>
                      <a:pt x="20277" y="28663"/>
                      <a:pt x="17805" y="32262"/>
                    </a:cubicBezTo>
                  </a:path>
                  <a:path w="21600" h="32263" stroke="0" extrusionOk="0">
                    <a:moveTo>
                      <a:pt x="8072" y="-1"/>
                    </a:moveTo>
                    <a:cubicBezTo>
                      <a:pt x="16246" y="3293"/>
                      <a:pt x="21600" y="11222"/>
                      <a:pt x="21600" y="20035"/>
                    </a:cubicBezTo>
                    <a:cubicBezTo>
                      <a:pt x="21600" y="24400"/>
                      <a:pt x="20277" y="28663"/>
                      <a:pt x="17805" y="32262"/>
                    </a:cubicBezTo>
                    <a:lnTo>
                      <a:pt x="0" y="20035"/>
                    </a:lnTo>
                    <a:lnTo>
                      <a:pt x="8072" y="-1"/>
                    </a:lnTo>
                    <a:close/>
                  </a:path>
                </a:pathLst>
              </a:cu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3" name="Line 31"/>
              <p:cNvSpPr>
                <a:spLocks noChangeShapeType="1"/>
              </p:cNvSpPr>
              <p:nvPr/>
            </p:nvSpPr>
            <p:spPr bwMode="auto">
              <a:xfrm flipH="1">
                <a:off x="2511" y="1223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4" name="Line 32"/>
              <p:cNvSpPr>
                <a:spLocks noChangeShapeType="1"/>
              </p:cNvSpPr>
              <p:nvPr/>
            </p:nvSpPr>
            <p:spPr bwMode="auto">
              <a:xfrm flipH="1">
                <a:off x="2597" y="1253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5" name="Line 33"/>
              <p:cNvSpPr>
                <a:spLocks noChangeShapeType="1"/>
              </p:cNvSpPr>
              <p:nvPr/>
            </p:nvSpPr>
            <p:spPr bwMode="auto">
              <a:xfrm flipH="1">
                <a:off x="2688" y="1269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6" name="Line 34"/>
              <p:cNvSpPr>
                <a:spLocks noChangeShapeType="1"/>
              </p:cNvSpPr>
              <p:nvPr/>
            </p:nvSpPr>
            <p:spPr bwMode="auto">
              <a:xfrm flipH="1">
                <a:off x="2779" y="1281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7" name="Line 35"/>
              <p:cNvSpPr>
                <a:spLocks noChangeShapeType="1"/>
              </p:cNvSpPr>
              <p:nvPr/>
            </p:nvSpPr>
            <p:spPr bwMode="auto">
              <a:xfrm flipH="1">
                <a:off x="2987" y="1262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8" name="Line 36"/>
              <p:cNvSpPr>
                <a:spLocks noChangeShapeType="1"/>
              </p:cNvSpPr>
              <p:nvPr/>
            </p:nvSpPr>
            <p:spPr bwMode="auto">
              <a:xfrm flipH="1">
                <a:off x="3078" y="1241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9" name="Line 37"/>
              <p:cNvSpPr>
                <a:spLocks noChangeShapeType="1"/>
              </p:cNvSpPr>
              <p:nvPr/>
            </p:nvSpPr>
            <p:spPr bwMode="auto">
              <a:xfrm flipH="1">
                <a:off x="2880" y="1275"/>
                <a:ext cx="86" cy="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9" name="Text Box 38"/>
            <p:cNvSpPr txBox="1">
              <a:spLocks noChangeArrowheads="1"/>
            </p:cNvSpPr>
            <p:nvPr/>
          </p:nvSpPr>
          <p:spPr bwMode="auto">
            <a:xfrm>
              <a:off x="2375" y="2433"/>
              <a:ext cx="1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</p:grpSp>
      <p:sp>
        <p:nvSpPr>
          <p:cNvPr id="42028" name="Text Box 44"/>
          <p:cNvSpPr txBox="1">
            <a:spLocks noChangeArrowheads="1"/>
          </p:cNvSpPr>
          <p:nvPr/>
        </p:nvSpPr>
        <p:spPr bwMode="auto">
          <a:xfrm>
            <a:off x="777813" y="3656227"/>
            <a:ext cx="76784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过接触点、沿公法线方向、指向被约束物体。</a:t>
            </a:r>
          </a:p>
        </p:txBody>
      </p:sp>
      <p:grpSp>
        <p:nvGrpSpPr>
          <p:cNvPr id="7" name="Group 148"/>
          <p:cNvGrpSpPr>
            <a:grpSpLocks/>
          </p:cNvGrpSpPr>
          <p:nvPr/>
        </p:nvGrpSpPr>
        <p:grpSpPr bwMode="auto">
          <a:xfrm>
            <a:off x="2452055" y="4333031"/>
            <a:ext cx="1111250" cy="1879600"/>
            <a:chOff x="1565" y="2976"/>
            <a:chExt cx="700" cy="1184"/>
          </a:xfrm>
        </p:grpSpPr>
        <p:sp>
          <p:nvSpPr>
            <p:cNvPr id="24600" name="Oval 99"/>
            <p:cNvSpPr>
              <a:spLocks noChangeArrowheads="1"/>
            </p:cNvSpPr>
            <p:nvPr/>
          </p:nvSpPr>
          <p:spPr bwMode="auto">
            <a:xfrm>
              <a:off x="1565" y="2976"/>
              <a:ext cx="604" cy="6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01" name="Text Box 116"/>
            <p:cNvSpPr txBox="1">
              <a:spLocks noChangeArrowheads="1"/>
            </p:cNvSpPr>
            <p:nvPr/>
          </p:nvSpPr>
          <p:spPr bwMode="auto">
            <a:xfrm>
              <a:off x="1746" y="3249"/>
              <a:ext cx="1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  <p:grpSp>
          <p:nvGrpSpPr>
            <p:cNvPr id="24602" name="Group 117"/>
            <p:cNvGrpSpPr>
              <a:grpSpLocks/>
            </p:cNvGrpSpPr>
            <p:nvPr/>
          </p:nvGrpSpPr>
          <p:grpSpPr bwMode="auto">
            <a:xfrm>
              <a:off x="1839" y="3609"/>
              <a:ext cx="426" cy="551"/>
              <a:chOff x="1292" y="1735"/>
              <a:chExt cx="426" cy="551"/>
            </a:xfrm>
          </p:grpSpPr>
          <p:sp>
            <p:nvSpPr>
              <p:cNvPr id="24603" name="AutoShape 118"/>
              <p:cNvSpPr>
                <a:spLocks noChangeArrowheads="1"/>
              </p:cNvSpPr>
              <p:nvPr/>
            </p:nvSpPr>
            <p:spPr bwMode="auto">
              <a:xfrm>
                <a:off x="1292" y="1735"/>
                <a:ext cx="51" cy="413"/>
              </a:xfrm>
              <a:prstGeom prst="upArrow">
                <a:avLst>
                  <a:gd name="adj1" fmla="val 50000"/>
                  <a:gd name="adj2" fmla="val 202451"/>
                </a:avLst>
              </a:prstGeom>
              <a:solidFill>
                <a:srgbClr val="8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4" name="Text Box 119"/>
              <p:cNvSpPr txBox="1">
                <a:spLocks noChangeArrowheads="1"/>
              </p:cNvSpPr>
              <p:nvPr/>
            </p:nvSpPr>
            <p:spPr bwMode="auto">
              <a:xfrm>
                <a:off x="1310" y="1998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 dirty="0"/>
                  <a:t>F</a:t>
                </a:r>
                <a:r>
                  <a:rPr lang="en-US" altLang="zh-CN" i="1" baseline="-25000" dirty="0"/>
                  <a:t>A</a:t>
                </a:r>
              </a:p>
            </p:txBody>
          </p:sp>
        </p:grpSp>
      </p:grpSp>
      <p:grpSp>
        <p:nvGrpSpPr>
          <p:cNvPr id="9" name="Group 151"/>
          <p:cNvGrpSpPr>
            <a:grpSpLocks/>
          </p:cNvGrpSpPr>
          <p:nvPr/>
        </p:nvGrpSpPr>
        <p:grpSpPr bwMode="auto">
          <a:xfrm>
            <a:off x="4277680" y="4320331"/>
            <a:ext cx="1154112" cy="1895475"/>
            <a:chOff x="2760" y="2923"/>
            <a:chExt cx="727" cy="1194"/>
          </a:xfrm>
        </p:grpSpPr>
        <p:sp>
          <p:nvSpPr>
            <p:cNvPr id="24595" name="Oval 123"/>
            <p:cNvSpPr>
              <a:spLocks noChangeArrowheads="1"/>
            </p:cNvSpPr>
            <p:nvPr/>
          </p:nvSpPr>
          <p:spPr bwMode="auto">
            <a:xfrm>
              <a:off x="2760" y="2923"/>
              <a:ext cx="644" cy="65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6" name="Text Box 132"/>
            <p:cNvSpPr txBox="1">
              <a:spLocks noChangeArrowheads="1"/>
            </p:cNvSpPr>
            <p:nvPr/>
          </p:nvSpPr>
          <p:spPr bwMode="auto">
            <a:xfrm>
              <a:off x="2971" y="3249"/>
              <a:ext cx="1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A</a:t>
              </a:r>
            </a:p>
          </p:txBody>
        </p:sp>
        <p:grpSp>
          <p:nvGrpSpPr>
            <p:cNvPr id="24597" name="Group 133"/>
            <p:cNvGrpSpPr>
              <a:grpSpLocks/>
            </p:cNvGrpSpPr>
            <p:nvPr/>
          </p:nvGrpSpPr>
          <p:grpSpPr bwMode="auto">
            <a:xfrm>
              <a:off x="3061" y="3566"/>
              <a:ext cx="426" cy="551"/>
              <a:chOff x="1292" y="1735"/>
              <a:chExt cx="426" cy="551"/>
            </a:xfrm>
          </p:grpSpPr>
          <p:sp>
            <p:nvSpPr>
              <p:cNvPr id="24598" name="AutoShape 134"/>
              <p:cNvSpPr>
                <a:spLocks noChangeArrowheads="1"/>
              </p:cNvSpPr>
              <p:nvPr/>
            </p:nvSpPr>
            <p:spPr bwMode="auto">
              <a:xfrm>
                <a:off x="1292" y="1735"/>
                <a:ext cx="51" cy="413"/>
              </a:xfrm>
              <a:prstGeom prst="upArrow">
                <a:avLst>
                  <a:gd name="adj1" fmla="val 50000"/>
                  <a:gd name="adj2" fmla="val 202451"/>
                </a:avLst>
              </a:prstGeom>
              <a:solidFill>
                <a:srgbClr val="8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599" name="Text Box 135"/>
              <p:cNvSpPr txBox="1">
                <a:spLocks noChangeArrowheads="1"/>
              </p:cNvSpPr>
              <p:nvPr/>
            </p:nvSpPr>
            <p:spPr bwMode="auto">
              <a:xfrm>
                <a:off x="1310" y="1998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 dirty="0"/>
                  <a:t>F</a:t>
                </a:r>
                <a:r>
                  <a:rPr lang="en-US" altLang="zh-CN" i="1" baseline="-25000" dirty="0"/>
                  <a:t>A</a:t>
                </a:r>
              </a:p>
            </p:txBody>
          </p:sp>
        </p:grpSp>
      </p:grp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1385517" y="4425485"/>
            <a:ext cx="553998" cy="1071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点接触</a:t>
            </a:r>
          </a:p>
        </p:txBody>
      </p:sp>
      <p:sp>
        <p:nvSpPr>
          <p:cNvPr id="65" name="Text Box 3"/>
          <p:cNvSpPr txBox="1">
            <a:spLocks noChangeArrowheads="1"/>
          </p:cNvSpPr>
          <p:nvPr/>
        </p:nvSpPr>
        <p:spPr bwMode="auto">
          <a:xfrm>
            <a:off x="701399" y="245921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pic>
        <p:nvPicPr>
          <p:cNvPr id="67" name="Picture 9" descr="st8-1"/>
          <p:cNvPicPr>
            <a:picLocks noChangeAspect="1" noChangeArrowheads="1"/>
          </p:cNvPicPr>
          <p:nvPr/>
        </p:nvPicPr>
        <p:blipFill>
          <a:blip r:embed="rId2" cstate="print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1" t="4866" r="6667" b="2686"/>
          <a:stretch>
            <a:fillRect/>
          </a:stretch>
        </p:blipFill>
        <p:spPr bwMode="auto">
          <a:xfrm>
            <a:off x="5347405" y="831027"/>
            <a:ext cx="3050018" cy="190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8" name="Group 10"/>
          <p:cNvGrpSpPr>
            <a:grpSpLocks/>
          </p:cNvGrpSpPr>
          <p:nvPr/>
        </p:nvGrpSpPr>
        <p:grpSpPr bwMode="auto">
          <a:xfrm>
            <a:off x="5882701" y="4186312"/>
            <a:ext cx="2356955" cy="2267022"/>
            <a:chOff x="1584" y="1831"/>
            <a:chExt cx="1488" cy="1491"/>
          </a:xfrm>
        </p:grpSpPr>
        <p:grpSp>
          <p:nvGrpSpPr>
            <p:cNvPr id="69" name="Group 11"/>
            <p:cNvGrpSpPr>
              <a:grpSpLocks/>
            </p:cNvGrpSpPr>
            <p:nvPr/>
          </p:nvGrpSpPr>
          <p:grpSpPr bwMode="auto">
            <a:xfrm>
              <a:off x="1584" y="1832"/>
              <a:ext cx="1488" cy="1490"/>
              <a:chOff x="1776" y="1678"/>
              <a:chExt cx="1488" cy="1490"/>
            </a:xfrm>
          </p:grpSpPr>
          <p:pic>
            <p:nvPicPr>
              <p:cNvPr id="71" name="Picture 12" descr="st8-2"/>
              <p:cNvPicPr>
                <a:picLocks noChangeAspect="1" noChangeArrowheads="1"/>
              </p:cNvPicPr>
              <p:nvPr/>
            </p:nvPicPr>
            <p:blipFill>
              <a:blip r:embed="rId3" cstate="print">
                <a:lum bright="-6000" contrast="1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2622"/>
              <a:stretch>
                <a:fillRect/>
              </a:stretch>
            </p:blipFill>
            <p:spPr bwMode="auto">
              <a:xfrm>
                <a:off x="1776" y="1678"/>
                <a:ext cx="1392" cy="1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" name="Rectangle 13"/>
              <p:cNvSpPr>
                <a:spLocks noChangeArrowheads="1"/>
              </p:cNvSpPr>
              <p:nvPr/>
            </p:nvSpPr>
            <p:spPr bwMode="auto">
              <a:xfrm>
                <a:off x="3168" y="3024"/>
                <a:ext cx="96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70" name="Text Box 14"/>
            <p:cNvSpPr txBox="1">
              <a:spLocks noChangeArrowheads="1"/>
            </p:cNvSpPr>
            <p:nvPr/>
          </p:nvSpPr>
          <p:spPr bwMode="auto">
            <a:xfrm>
              <a:off x="2707" y="1831"/>
              <a:ext cx="291" cy="264"/>
            </a:xfrm>
            <a:prstGeom prst="rect">
              <a:avLst/>
            </a:prstGeom>
            <a:noFill/>
            <a:ln w="12700">
              <a:solidFill>
                <a:srgbClr val="FFFF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2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 autoUpdateAnimBg="0"/>
      <p:bldP spid="41988" grpId="0" build="p" autoUpdateAnimBg="0"/>
      <p:bldP spid="42028" grpId="0" build="p" autoUpdateAnimBg="0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4716016" y="4717868"/>
            <a:ext cx="3443175" cy="1511165"/>
            <a:chOff x="2256" y="2880"/>
            <a:chExt cx="2496" cy="1104"/>
          </a:xfrm>
        </p:grpSpPr>
        <p:grpSp>
          <p:nvGrpSpPr>
            <p:cNvPr id="25641" name="Group 104"/>
            <p:cNvGrpSpPr>
              <a:grpSpLocks/>
            </p:cNvGrpSpPr>
            <p:nvPr/>
          </p:nvGrpSpPr>
          <p:grpSpPr bwMode="auto">
            <a:xfrm>
              <a:off x="2256" y="2880"/>
              <a:ext cx="1104" cy="1104"/>
              <a:chOff x="2256" y="2880"/>
              <a:chExt cx="1104" cy="1104"/>
            </a:xfrm>
          </p:grpSpPr>
          <p:sp>
            <p:nvSpPr>
              <p:cNvPr id="25645" name="Oval 100"/>
              <p:cNvSpPr>
                <a:spLocks noChangeArrowheads="1"/>
              </p:cNvSpPr>
              <p:nvPr/>
            </p:nvSpPr>
            <p:spPr bwMode="auto">
              <a:xfrm>
                <a:off x="2256" y="2880"/>
                <a:ext cx="1104" cy="1104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5646" name="Oval 101"/>
              <p:cNvSpPr>
                <a:spLocks noChangeArrowheads="1"/>
              </p:cNvSpPr>
              <p:nvPr/>
            </p:nvSpPr>
            <p:spPr bwMode="auto">
              <a:xfrm>
                <a:off x="2448" y="3072"/>
                <a:ext cx="864" cy="86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642" name="Group 105"/>
            <p:cNvGrpSpPr>
              <a:grpSpLocks/>
            </p:cNvGrpSpPr>
            <p:nvPr/>
          </p:nvGrpSpPr>
          <p:grpSpPr bwMode="auto">
            <a:xfrm>
              <a:off x="3648" y="2880"/>
              <a:ext cx="1104" cy="1104"/>
              <a:chOff x="3648" y="2880"/>
              <a:chExt cx="1104" cy="1104"/>
            </a:xfrm>
          </p:grpSpPr>
          <p:sp>
            <p:nvSpPr>
              <p:cNvPr id="25643" name="Oval 102"/>
              <p:cNvSpPr>
                <a:spLocks noChangeArrowheads="1"/>
              </p:cNvSpPr>
              <p:nvPr/>
            </p:nvSpPr>
            <p:spPr bwMode="auto">
              <a:xfrm>
                <a:off x="3648" y="2880"/>
                <a:ext cx="1104" cy="1104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5644" name="Oval 103"/>
              <p:cNvSpPr>
                <a:spLocks noChangeArrowheads="1"/>
              </p:cNvSpPr>
              <p:nvPr/>
            </p:nvSpPr>
            <p:spPr bwMode="auto">
              <a:xfrm>
                <a:off x="3683" y="3067"/>
                <a:ext cx="864" cy="86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aphicFrame>
        <p:nvGraphicFramePr>
          <p:cNvPr id="43115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638749"/>
              </p:ext>
            </p:extLst>
          </p:nvPr>
        </p:nvGraphicFramePr>
        <p:xfrm>
          <a:off x="2496060" y="2664173"/>
          <a:ext cx="3684942" cy="1560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2825262" imgH="1197765" progId="Photoshop.Image.8">
                  <p:embed/>
                </p:oleObj>
              </mc:Choice>
              <mc:Fallback>
                <p:oleObj name="Image" r:id="rId2" imgW="2825262" imgH="1197765" progId="Photoshop.Image.8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060" y="2664173"/>
                        <a:ext cx="3684942" cy="1560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6" name="Object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464074"/>
              </p:ext>
            </p:extLst>
          </p:nvPr>
        </p:nvGraphicFramePr>
        <p:xfrm>
          <a:off x="2764529" y="4624846"/>
          <a:ext cx="1417040" cy="183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304326" imgH="1685547" progId="Photoshop.Image.8">
                  <p:embed/>
                </p:oleObj>
              </mc:Choice>
              <mc:Fallback>
                <p:oleObj name="Image" r:id="rId4" imgW="1304326" imgH="1685547" progId="Photoshop.Image.8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529" y="4624846"/>
                        <a:ext cx="1417040" cy="1831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540721" y="3246890"/>
            <a:ext cx="1222927" cy="1015319"/>
            <a:chOff x="7196750" y="2025963"/>
            <a:chExt cx="1222927" cy="1015319"/>
          </a:xfrm>
        </p:grpSpPr>
        <p:sp>
          <p:nvSpPr>
            <p:cNvPr id="25635" name="Rectangle 109"/>
            <p:cNvSpPr>
              <a:spLocks noChangeArrowheads="1"/>
            </p:cNvSpPr>
            <p:nvPr/>
          </p:nvSpPr>
          <p:spPr bwMode="auto">
            <a:xfrm>
              <a:off x="7524328" y="2047146"/>
              <a:ext cx="576263" cy="287338"/>
            </a:xfrm>
            <a:prstGeom prst="rect">
              <a:avLst/>
            </a:prstGeom>
            <a:noFill/>
            <a:ln w="349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37" name="Text Box 114"/>
            <p:cNvSpPr txBox="1">
              <a:spLocks noChangeArrowheads="1"/>
            </p:cNvSpPr>
            <p:nvPr/>
          </p:nvSpPr>
          <p:spPr bwMode="auto">
            <a:xfrm>
              <a:off x="7196750" y="2025963"/>
              <a:ext cx="3143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 dirty="0"/>
                <a:t>A</a:t>
              </a:r>
            </a:p>
          </p:txBody>
        </p:sp>
        <p:sp>
          <p:nvSpPr>
            <p:cNvPr id="25639" name="AutoShape 116"/>
            <p:cNvSpPr>
              <a:spLocks noChangeArrowheads="1"/>
            </p:cNvSpPr>
            <p:nvPr/>
          </p:nvSpPr>
          <p:spPr bwMode="auto">
            <a:xfrm>
              <a:off x="7771977" y="2348478"/>
              <a:ext cx="80963" cy="655638"/>
            </a:xfrm>
            <a:prstGeom prst="upArrow">
              <a:avLst>
                <a:gd name="adj1" fmla="val 50000"/>
                <a:gd name="adj2" fmla="val 202451"/>
              </a:avLst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40" name="Text Box 117"/>
            <p:cNvSpPr txBox="1">
              <a:spLocks noChangeArrowheads="1"/>
            </p:cNvSpPr>
            <p:nvPr/>
          </p:nvSpPr>
          <p:spPr bwMode="auto">
            <a:xfrm>
              <a:off x="7771977" y="2584082"/>
              <a:ext cx="647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/>
                <a:t>F</a:t>
              </a:r>
              <a:r>
                <a:rPr lang="en-US" altLang="zh-CN" i="1" baseline="-25000" dirty="0"/>
                <a:t>A</a:t>
              </a:r>
            </a:p>
          </p:txBody>
        </p:sp>
      </p:grpSp>
      <p:grpSp>
        <p:nvGrpSpPr>
          <p:cNvPr id="7" name="组合 67"/>
          <p:cNvGrpSpPr>
            <a:grpSpLocks/>
          </p:cNvGrpSpPr>
          <p:nvPr/>
        </p:nvGrpSpPr>
        <p:grpSpPr bwMode="auto">
          <a:xfrm>
            <a:off x="2764529" y="1381648"/>
            <a:ext cx="1951038" cy="869950"/>
            <a:chOff x="3171815" y="773099"/>
            <a:chExt cx="1951037" cy="869951"/>
          </a:xfrm>
        </p:grpSpPr>
        <p:sp>
          <p:nvSpPr>
            <p:cNvPr id="25614" name="Rectangle 14"/>
            <p:cNvSpPr>
              <a:spLocks noChangeArrowheads="1"/>
            </p:cNvSpPr>
            <p:nvPr/>
          </p:nvSpPr>
          <p:spPr bwMode="auto">
            <a:xfrm>
              <a:off x="3714744" y="773099"/>
              <a:ext cx="857256" cy="64294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5615" name="Group 5"/>
            <p:cNvGrpSpPr>
              <a:grpSpLocks/>
            </p:cNvGrpSpPr>
            <p:nvPr/>
          </p:nvGrpSpPr>
          <p:grpSpPr bwMode="auto">
            <a:xfrm>
              <a:off x="3171815" y="915975"/>
              <a:ext cx="1951037" cy="727075"/>
              <a:chOff x="620" y="2362"/>
              <a:chExt cx="1229" cy="458"/>
            </a:xfrm>
          </p:grpSpPr>
          <p:grpSp>
            <p:nvGrpSpPr>
              <p:cNvPr id="25616" name="Group 6"/>
              <p:cNvGrpSpPr>
                <a:grpSpLocks/>
              </p:cNvGrpSpPr>
              <p:nvPr/>
            </p:nvGrpSpPr>
            <p:grpSpPr bwMode="auto">
              <a:xfrm>
                <a:off x="620" y="2682"/>
                <a:ext cx="1229" cy="138"/>
                <a:chOff x="894" y="1705"/>
                <a:chExt cx="1844" cy="189"/>
              </a:xfrm>
            </p:grpSpPr>
            <p:sp>
              <p:nvSpPr>
                <p:cNvPr id="25618" name="Rectangle 7"/>
                <p:cNvSpPr>
                  <a:spLocks noChangeArrowheads="1"/>
                </p:cNvSpPr>
                <p:nvPr/>
              </p:nvSpPr>
              <p:spPr bwMode="auto">
                <a:xfrm>
                  <a:off x="924" y="1706"/>
                  <a:ext cx="1814" cy="171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5619" name="Line 9"/>
                <p:cNvSpPr>
                  <a:spLocks noChangeShapeType="1"/>
                </p:cNvSpPr>
                <p:nvPr/>
              </p:nvSpPr>
              <p:spPr bwMode="auto">
                <a:xfrm>
                  <a:off x="969" y="1706"/>
                  <a:ext cx="1769" cy="0"/>
                </a:xfrm>
                <a:prstGeom prst="line">
                  <a:avLst/>
                </a:prstGeom>
                <a:noFill/>
                <a:ln w="3810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0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894" y="1706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1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008" y="1712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2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376" y="1706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130" y="1705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4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263" y="1705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498" y="1706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621" y="1712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7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998" y="1706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8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752" y="1705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9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876" y="1705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30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2097" y="1707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31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2211" y="1713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32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2543" y="1707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3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2333" y="1706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34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2439" y="1706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5617" name="Text Box 25"/>
              <p:cNvSpPr txBox="1">
                <a:spLocks noChangeArrowheads="1"/>
              </p:cNvSpPr>
              <p:nvPr/>
            </p:nvSpPr>
            <p:spPr bwMode="auto">
              <a:xfrm>
                <a:off x="1142" y="2362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/>
                  <a:t>A</a:t>
                </a:r>
              </a:p>
            </p:txBody>
          </p:sp>
        </p:grpSp>
      </p:grp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1572029" y="1139128"/>
            <a:ext cx="553998" cy="135731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单面接触</a:t>
            </a:r>
          </a:p>
        </p:txBody>
      </p:sp>
      <p:grpSp>
        <p:nvGrpSpPr>
          <p:cNvPr id="10" name="组合 66"/>
          <p:cNvGrpSpPr>
            <a:grpSpLocks/>
          </p:cNvGrpSpPr>
          <p:nvPr/>
        </p:nvGrpSpPr>
        <p:grpSpPr bwMode="auto">
          <a:xfrm>
            <a:off x="5593454" y="1394348"/>
            <a:ext cx="857250" cy="1189037"/>
            <a:chOff x="6000760" y="785794"/>
            <a:chExt cx="857256" cy="1188873"/>
          </a:xfrm>
        </p:grpSpPr>
        <p:sp>
          <p:nvSpPr>
            <p:cNvPr id="25611" name="AutoShape 19"/>
            <p:cNvSpPr>
              <a:spLocks noChangeArrowheads="1"/>
            </p:cNvSpPr>
            <p:nvPr/>
          </p:nvSpPr>
          <p:spPr bwMode="auto">
            <a:xfrm rot="-10786984">
              <a:off x="6501859" y="1428918"/>
              <a:ext cx="96914" cy="545749"/>
            </a:xfrm>
            <a:prstGeom prst="downArrow">
              <a:avLst>
                <a:gd name="adj1" fmla="val 50000"/>
                <a:gd name="adj2" fmla="val 16667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6072199" y="1500070"/>
              <a:ext cx="514354" cy="40005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2113DD"/>
                  </a:solidFill>
                </a:rPr>
                <a:t>F</a:t>
              </a:r>
              <a:r>
                <a:rPr lang="en-US" altLang="zh-CN" sz="2000" i="1" baseline="-25000" dirty="0">
                  <a:solidFill>
                    <a:srgbClr val="2113DD"/>
                  </a:solidFill>
                </a:rPr>
                <a:t>N</a:t>
              </a:r>
              <a:endParaRPr lang="en-US" altLang="zh-CN" sz="2000" i="1" dirty="0">
                <a:solidFill>
                  <a:srgbClr val="2113DD"/>
                </a:solidFill>
              </a:endParaRPr>
            </a:p>
          </p:txBody>
        </p:sp>
        <p:sp>
          <p:nvSpPr>
            <p:cNvPr id="25613" name="Rectangle 14"/>
            <p:cNvSpPr>
              <a:spLocks noChangeArrowheads="1"/>
            </p:cNvSpPr>
            <p:nvPr/>
          </p:nvSpPr>
          <p:spPr bwMode="auto">
            <a:xfrm>
              <a:off x="6000760" y="785794"/>
              <a:ext cx="857256" cy="64294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1553151" y="2904897"/>
            <a:ext cx="553998" cy="135731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双面接触</a:t>
            </a: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1563029" y="4835639"/>
            <a:ext cx="553998" cy="135731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其它情况</a:t>
            </a: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657725" y="490134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4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5" grpId="0" animBg="1"/>
      <p:bldP spid="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94145" y="592773"/>
            <a:ext cx="374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光滑圆柱铰链约束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251520" y="1095636"/>
            <a:ext cx="426772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58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algn="just" eaLnBrk="1" hangingPunct="1"/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约束结构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：两个或两个以上构件上钻同样大小的圆孔，并用圆柱销钉穿入圆孔，将两个物体连接起来。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3688" y="5805264"/>
            <a:ext cx="1979613" cy="804862"/>
            <a:chOff x="1853" y="3521"/>
            <a:chExt cx="1247" cy="507"/>
          </a:xfrm>
        </p:grpSpPr>
        <p:sp>
          <p:nvSpPr>
            <p:cNvPr id="26631" name="Oval 15"/>
            <p:cNvSpPr>
              <a:spLocks noChangeArrowheads="1"/>
            </p:cNvSpPr>
            <p:nvPr/>
          </p:nvSpPr>
          <p:spPr bwMode="auto">
            <a:xfrm>
              <a:off x="2336" y="3521"/>
              <a:ext cx="136" cy="136"/>
            </a:xfrm>
            <a:prstGeom prst="ellipse">
              <a:avLst/>
            </a:prstGeom>
            <a:solidFill>
              <a:schemeClr val="accent1"/>
            </a:solidFill>
            <a:ln w="222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32" name="Line 16"/>
            <p:cNvSpPr>
              <a:spLocks noChangeShapeType="1"/>
            </p:cNvSpPr>
            <p:nvPr/>
          </p:nvSpPr>
          <p:spPr bwMode="auto">
            <a:xfrm flipH="1">
              <a:off x="1853" y="3620"/>
              <a:ext cx="499" cy="4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" name="Line 17"/>
            <p:cNvSpPr>
              <a:spLocks noChangeShapeType="1"/>
            </p:cNvSpPr>
            <p:nvPr/>
          </p:nvSpPr>
          <p:spPr bwMode="auto">
            <a:xfrm>
              <a:off x="2465" y="3613"/>
              <a:ext cx="635" cy="36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611584" y="528672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pic>
        <p:nvPicPr>
          <p:cNvPr id="3" name="圆柱铰结构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57562" y="2780928"/>
            <a:ext cx="3761678" cy="2821258"/>
          </a:xfrm>
          <a:prstGeom prst="rect">
            <a:avLst/>
          </a:prstGeom>
        </p:spPr>
      </p:pic>
      <p:pic>
        <p:nvPicPr>
          <p:cNvPr id="4" name="圆柱铰链约束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804486" y="1114074"/>
            <a:ext cx="3672317" cy="2754238"/>
          </a:xfrm>
          <a:prstGeom prst="rect">
            <a:avLst/>
          </a:prstGeom>
        </p:spPr>
      </p:pic>
      <p:pic>
        <p:nvPicPr>
          <p:cNvPr id="5" name="蝶铰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821254" y="3932413"/>
            <a:ext cx="3689797" cy="27673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3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4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40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253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541227" y="1039216"/>
            <a:ext cx="4240538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algn="just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约束特性：物体只能绕销钉轴线相对转动，与销钉轴线相垂直的平面内的径向位移被限制。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19494" y="3462414"/>
            <a:ext cx="77083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约束反力：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在垂直于销钉轴线的平面内通过圆心，方位和指向不能确定的一个力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941195"/>
              </p:ext>
            </p:extLst>
          </p:nvPr>
        </p:nvGraphicFramePr>
        <p:xfrm>
          <a:off x="5568259" y="4653136"/>
          <a:ext cx="190500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133666" imgH="1097282" progId="Photoshop.Image.8">
                  <p:embed/>
                </p:oleObj>
              </mc:Choice>
              <mc:Fallback>
                <p:oleObj name="Image" r:id="rId4" imgW="1133666" imgH="1097282" progId="Photoshop.Imag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259" y="4653136"/>
                        <a:ext cx="190500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527619"/>
              </p:ext>
            </p:extLst>
          </p:nvPr>
        </p:nvGraphicFramePr>
        <p:xfrm>
          <a:off x="2942530" y="4425848"/>
          <a:ext cx="167957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999746" imgH="1087954" progId="Photoshop.Image.8">
                  <p:embed/>
                </p:oleObj>
              </mc:Choice>
              <mc:Fallback>
                <p:oleObj name="Image" r:id="rId6" imgW="999746" imgH="1087954" progId="Photoshop.Imag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530" y="4425848"/>
                        <a:ext cx="1679575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6206449" y="5111237"/>
            <a:ext cx="1655763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6600" b="1" dirty="0">
                <a:solidFill>
                  <a:srgbClr val="660066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580361" y="2455351"/>
            <a:ext cx="42405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在分析铰链约束力时，通常把销钉固连在其中一个构件上。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31870" y="4786522"/>
            <a:ext cx="1247594" cy="1203123"/>
            <a:chOff x="300070" y="4674149"/>
            <a:chExt cx="1643063" cy="1571625"/>
          </a:xfrm>
        </p:grpSpPr>
        <p:sp>
          <p:nvSpPr>
            <p:cNvPr id="10" name="Oval 100"/>
            <p:cNvSpPr>
              <a:spLocks noChangeArrowheads="1"/>
            </p:cNvSpPr>
            <p:nvPr/>
          </p:nvSpPr>
          <p:spPr bwMode="auto">
            <a:xfrm>
              <a:off x="300070" y="4674149"/>
              <a:ext cx="1643063" cy="15716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8682" name="Oval 101"/>
            <p:cNvSpPr>
              <a:spLocks noChangeArrowheads="1"/>
            </p:cNvSpPr>
            <p:nvPr/>
          </p:nvSpPr>
          <p:spPr bwMode="auto">
            <a:xfrm>
              <a:off x="371508" y="4959899"/>
              <a:ext cx="1285875" cy="123031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608467" y="485180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pic>
        <p:nvPicPr>
          <p:cNvPr id="3" name="铰链受力分析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60032" y="729119"/>
            <a:ext cx="3467810" cy="260085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04583" y="3877912"/>
            <a:ext cx="30323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通常将其表示为大小未知的两个正交分力。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5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23555" grpId="0" build="p" autoUpdateAnimBg="0"/>
      <p:bldP spid="23556" grpId="0" build="p" autoUpdateAnimBg="0"/>
      <p:bldP spid="23560" grpId="1"/>
      <p:bldP spid="23561" grpId="0" build="p" autoUpdateAnimBg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1351059" y="5070516"/>
            <a:ext cx="647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讨论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如果将铰链约束拆成三部分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如何分析？</a:t>
            </a:r>
          </a:p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 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一个销钉连有三个或以上构件？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46398" y="982200"/>
            <a:ext cx="784887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</a:rPr>
              <a:t> 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铰接点不一定总位于构件的一端，如夹子、钳子等。其中</a:t>
            </a:r>
            <a:r>
              <a:rPr lang="zh-CN" altLang="en-US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圆圈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圆点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表示铰链连接。 </a:t>
            </a: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322385"/>
              </p:ext>
            </p:extLst>
          </p:nvPr>
        </p:nvGraphicFramePr>
        <p:xfrm>
          <a:off x="1187872" y="2276748"/>
          <a:ext cx="16002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2270572" imgH="749492" progId="Photoshop.Image.8">
                  <p:embed/>
                </p:oleObj>
              </mc:Choice>
              <mc:Fallback>
                <p:oleObj name="Image" r:id="rId2" imgW="2270572" imgH="749492" progId="Photoshop.Imag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872" y="2276748"/>
                        <a:ext cx="16002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382780"/>
              </p:ext>
            </p:extLst>
          </p:nvPr>
        </p:nvGraphicFramePr>
        <p:xfrm>
          <a:off x="4454153" y="1988607"/>
          <a:ext cx="16764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2215713" imgH="1682215" progId="Photoshop.Image.8">
                  <p:embed/>
                </p:oleObj>
              </mc:Choice>
              <mc:Fallback>
                <p:oleObj name="Image" r:id="rId4" imgW="2215713" imgH="1682215" progId="Photoshop.Image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153" y="1988607"/>
                        <a:ext cx="16764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626520"/>
              </p:ext>
            </p:extLst>
          </p:nvPr>
        </p:nvGraphicFramePr>
        <p:xfrm>
          <a:off x="2911897" y="2040995"/>
          <a:ext cx="1371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1868428" imgH="1590790" progId="Photoshop.Image.8">
                  <p:embed/>
                </p:oleObj>
              </mc:Choice>
              <mc:Fallback>
                <p:oleObj name="Image" r:id="rId6" imgW="1868428" imgH="1590790" progId="Photoshop.Image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897" y="2040995"/>
                        <a:ext cx="13716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924744"/>
              </p:ext>
            </p:extLst>
          </p:nvPr>
        </p:nvGraphicFramePr>
        <p:xfrm>
          <a:off x="6301209" y="2011738"/>
          <a:ext cx="167640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2343520" imgH="1737363" progId="Photoshop.Image.8">
                  <p:embed/>
                </p:oleObj>
              </mc:Choice>
              <mc:Fallback>
                <p:oleObj name="Image" r:id="rId8" imgW="2343520" imgH="1737363" progId="Photoshop.Image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209" y="2011738"/>
                        <a:ext cx="167640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332334" y="3399155"/>
            <a:ext cx="1714500" cy="1387475"/>
            <a:chOff x="4500" y="3156"/>
            <a:chExt cx="2700" cy="2184"/>
          </a:xfrm>
        </p:grpSpPr>
        <p:sp>
          <p:nvSpPr>
            <p:cNvPr id="29706" name="Rectangle 19"/>
            <p:cNvSpPr>
              <a:spLocks noChangeArrowheads="1"/>
            </p:cNvSpPr>
            <p:nvPr/>
          </p:nvSpPr>
          <p:spPr bwMode="auto">
            <a:xfrm>
              <a:off x="4500" y="4213"/>
              <a:ext cx="2700" cy="99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07" name="Rectangle 20"/>
            <p:cNvSpPr>
              <a:spLocks noChangeArrowheads="1"/>
            </p:cNvSpPr>
            <p:nvPr/>
          </p:nvSpPr>
          <p:spPr bwMode="auto">
            <a:xfrm rot="-5400000">
              <a:off x="4742" y="4196"/>
              <a:ext cx="2184" cy="104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08" name="Oval 21"/>
            <p:cNvSpPr>
              <a:spLocks noChangeAspect="1" noChangeArrowheads="1"/>
            </p:cNvSpPr>
            <p:nvPr/>
          </p:nvSpPr>
          <p:spPr bwMode="auto">
            <a:xfrm>
              <a:off x="5782" y="4199"/>
              <a:ext cx="115" cy="110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3466013" y="3822050"/>
            <a:ext cx="3744912" cy="479425"/>
          </a:xfrm>
          <a:prstGeom prst="rect">
            <a:avLst/>
          </a:prstGeom>
          <a:noFill/>
          <a:ln w="222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注意区分全铰和半铰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657725" y="490134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 autoUpdateAnimBg="0"/>
      <p:bldP spid="24583" grpId="0" build="p" autoUpdateAnimBg="0"/>
      <p:bldP spid="245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775237" y="2415138"/>
            <a:ext cx="24497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滚动铰支座约束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5005089" y="2325645"/>
            <a:ext cx="30991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经过铰链中心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沿支撑面法线方向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847465" y="1230082"/>
            <a:ext cx="2350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固定铰支座约束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469925" y="1425106"/>
            <a:ext cx="1544636" cy="511337"/>
            <a:chOff x="432" y="2436"/>
            <a:chExt cx="853" cy="235"/>
          </a:xfrm>
        </p:grpSpPr>
        <p:sp>
          <p:nvSpPr>
            <p:cNvPr id="30798" name="Rectangle 15"/>
            <p:cNvSpPr>
              <a:spLocks noChangeArrowheads="1"/>
            </p:cNvSpPr>
            <p:nvPr/>
          </p:nvSpPr>
          <p:spPr bwMode="auto">
            <a:xfrm rot="-1001753">
              <a:off x="709" y="2436"/>
              <a:ext cx="576" cy="47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99" name="AutoShape 16"/>
            <p:cNvSpPr>
              <a:spLocks noChangeArrowheads="1"/>
            </p:cNvSpPr>
            <p:nvPr/>
          </p:nvSpPr>
          <p:spPr bwMode="auto">
            <a:xfrm>
              <a:off x="623" y="2527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5875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800" name="Oval 17"/>
            <p:cNvSpPr>
              <a:spLocks noChangeArrowheads="1"/>
            </p:cNvSpPr>
            <p:nvPr/>
          </p:nvSpPr>
          <p:spPr bwMode="auto">
            <a:xfrm>
              <a:off x="696" y="2503"/>
              <a:ext cx="59" cy="48"/>
            </a:xfrm>
            <a:prstGeom prst="ellipse">
              <a:avLst/>
            </a:prstGeom>
            <a:solidFill>
              <a:schemeClr val="bg1"/>
            </a:solidFill>
            <a:ln w="15875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0801" name="Group 18"/>
            <p:cNvGrpSpPr>
              <a:grpSpLocks/>
            </p:cNvGrpSpPr>
            <p:nvPr/>
          </p:nvGrpSpPr>
          <p:grpSpPr bwMode="auto">
            <a:xfrm>
              <a:off x="432" y="2623"/>
              <a:ext cx="542" cy="48"/>
              <a:chOff x="3264" y="1920"/>
              <a:chExt cx="542" cy="48"/>
            </a:xfrm>
          </p:grpSpPr>
          <p:sp>
            <p:nvSpPr>
              <p:cNvPr id="30802" name="Line 19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0803" name="Group 20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30804" name="Group 21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30806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07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08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09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10" name="Line 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11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12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13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14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15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805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" name="组合 7"/>
          <p:cNvGrpSpPr/>
          <p:nvPr/>
        </p:nvGrpSpPr>
        <p:grpSpPr>
          <a:xfrm>
            <a:off x="3561831" y="926883"/>
            <a:ext cx="1328512" cy="1055747"/>
            <a:chOff x="3073247" y="1483501"/>
            <a:chExt cx="1328512" cy="1055747"/>
          </a:xfrm>
        </p:grpSpPr>
        <p:sp>
          <p:nvSpPr>
            <p:cNvPr id="30774" name="Text Box 54"/>
            <p:cNvSpPr txBox="1">
              <a:spLocks noChangeArrowheads="1"/>
            </p:cNvSpPr>
            <p:nvPr/>
          </p:nvSpPr>
          <p:spPr bwMode="auto">
            <a:xfrm>
              <a:off x="3073247" y="1483501"/>
              <a:ext cx="431528" cy="400110"/>
            </a:xfrm>
            <a:prstGeom prst="rect">
              <a:avLst/>
            </a:prstGeom>
            <a:noFill/>
            <a:ln w="19050" cap="sq">
              <a:noFill/>
              <a:miter lim="800000"/>
              <a:headEnd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  <a:ea typeface="黑体" pitchFamily="2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0000"/>
                  </a:solidFill>
                  <a:ea typeface="黑体" pitchFamily="2" charset="-122"/>
                </a:rPr>
                <a:t>y</a:t>
              </a:r>
              <a:endParaRPr lang="en-US" altLang="zh-CN" sz="2000" b="1" i="1" baseline="-25000" dirty="0">
                <a:solidFill>
                  <a:srgbClr val="FF0000"/>
                </a:solidFill>
                <a:ea typeface="黑体" pitchFamily="2" charset="-122"/>
              </a:endParaRPr>
            </a:p>
          </p:txBody>
        </p:sp>
        <p:sp>
          <p:nvSpPr>
            <p:cNvPr id="30775" name="Text Box 55"/>
            <p:cNvSpPr txBox="1">
              <a:spLocks noChangeArrowheads="1"/>
            </p:cNvSpPr>
            <p:nvPr/>
          </p:nvSpPr>
          <p:spPr bwMode="auto">
            <a:xfrm>
              <a:off x="3960613" y="2139138"/>
              <a:ext cx="441146" cy="400110"/>
            </a:xfrm>
            <a:prstGeom prst="rect">
              <a:avLst/>
            </a:prstGeom>
            <a:noFill/>
            <a:ln w="19050" cap="sq">
              <a:noFill/>
              <a:miter lim="800000"/>
              <a:headEnd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  <a:ea typeface="黑体" pitchFamily="2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0000"/>
                  </a:solidFill>
                  <a:ea typeface="黑体" pitchFamily="2" charset="-122"/>
                </a:rPr>
                <a:t>x</a:t>
              </a:r>
              <a:endParaRPr lang="en-US" altLang="zh-CN" sz="2000" b="1" i="1" dirty="0">
                <a:solidFill>
                  <a:srgbClr val="FF0000"/>
                </a:solidFill>
                <a:ea typeface="黑体" pitchFamily="2" charset="-122"/>
              </a:endParaRPr>
            </a:p>
          </p:txBody>
        </p:sp>
        <p:sp>
          <p:nvSpPr>
            <p:cNvPr id="30776" name="Line 56"/>
            <p:cNvSpPr>
              <a:spLocks noChangeShapeType="1"/>
            </p:cNvSpPr>
            <p:nvPr/>
          </p:nvSpPr>
          <p:spPr bwMode="auto">
            <a:xfrm flipH="1" flipV="1">
              <a:off x="3504117" y="1650218"/>
              <a:ext cx="0" cy="4826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7" name="Line 57"/>
            <p:cNvSpPr>
              <a:spLocks noChangeShapeType="1"/>
            </p:cNvSpPr>
            <p:nvPr/>
          </p:nvSpPr>
          <p:spPr bwMode="auto">
            <a:xfrm flipV="1">
              <a:off x="3580317" y="2209018"/>
              <a:ext cx="495300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40" name="AutoShape 103"/>
          <p:cNvSpPr>
            <a:spLocks noChangeArrowheads="1"/>
          </p:cNvSpPr>
          <p:nvPr/>
        </p:nvSpPr>
        <p:spPr bwMode="auto">
          <a:xfrm>
            <a:off x="6504302" y="769750"/>
            <a:ext cx="1368425" cy="647700"/>
          </a:xfrm>
          <a:prstGeom prst="horizontalScroll">
            <a:avLst>
              <a:gd name="adj" fmla="val 12500"/>
            </a:avLst>
          </a:prstGeom>
          <a:solidFill>
            <a:srgbClr val="FF99CC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工程应用</a:t>
            </a:r>
          </a:p>
        </p:txBody>
      </p:sp>
      <p:sp>
        <p:nvSpPr>
          <p:cNvPr id="97" name="Text Box 3"/>
          <p:cNvSpPr txBox="1">
            <a:spLocks noChangeArrowheads="1"/>
          </p:cNvSpPr>
          <p:nvPr/>
        </p:nvSpPr>
        <p:spPr bwMode="auto">
          <a:xfrm>
            <a:off x="524203" y="492290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38481" y="2863434"/>
            <a:ext cx="4707894" cy="1796268"/>
            <a:chOff x="377447" y="2985410"/>
            <a:chExt cx="4707894" cy="1796268"/>
          </a:xfrm>
        </p:grpSpPr>
        <p:pic>
          <p:nvPicPr>
            <p:cNvPr id="98" name="Picture 11" descr="em12-42"/>
            <p:cNvPicPr>
              <a:picLocks noChangeAspect="1" noChangeArrowheads="1"/>
            </p:cNvPicPr>
            <p:nvPr/>
          </p:nvPicPr>
          <p:blipFill>
            <a:blip r:embed="rId4">
              <a:lum bright="-6000"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447" y="3029078"/>
              <a:ext cx="1654175" cy="175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12" descr="em12-44"/>
            <p:cNvPicPr>
              <a:picLocks noChangeAspect="1" noChangeArrowheads="1"/>
            </p:cNvPicPr>
            <p:nvPr/>
          </p:nvPicPr>
          <p:blipFill>
            <a:blip r:embed="rId5">
              <a:lum bright="-6000"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8107" y="3049630"/>
              <a:ext cx="1475247" cy="1699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" name="Picture 10" descr="em12-41"/>
            <p:cNvPicPr>
              <a:picLocks noChangeAspect="1" noChangeArrowheads="1"/>
            </p:cNvPicPr>
            <p:nvPr/>
          </p:nvPicPr>
          <p:blipFill>
            <a:blip r:embed="rId6">
              <a:lum bright="-6000"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2161" y="2985410"/>
              <a:ext cx="1663180" cy="1768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简支桥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085341" y="3388784"/>
            <a:ext cx="3679433" cy="275957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294140" y="4768571"/>
            <a:ext cx="1327150" cy="1179512"/>
            <a:chOff x="524203" y="4778100"/>
            <a:chExt cx="1327150" cy="1179512"/>
          </a:xfrm>
        </p:grpSpPr>
        <p:grpSp>
          <p:nvGrpSpPr>
            <p:cNvPr id="82" name="Group 58"/>
            <p:cNvGrpSpPr>
              <a:grpSpLocks/>
            </p:cNvGrpSpPr>
            <p:nvPr/>
          </p:nvGrpSpPr>
          <p:grpSpPr bwMode="auto">
            <a:xfrm>
              <a:off x="524203" y="5484537"/>
              <a:ext cx="1327150" cy="473075"/>
              <a:chOff x="3047" y="3438"/>
              <a:chExt cx="836" cy="298"/>
            </a:xfrm>
          </p:grpSpPr>
          <p:sp>
            <p:nvSpPr>
              <p:cNvPr id="126" name="Rectangle 59"/>
              <p:cNvSpPr>
                <a:spLocks noChangeArrowheads="1"/>
              </p:cNvSpPr>
              <p:nvPr/>
            </p:nvSpPr>
            <p:spPr bwMode="auto">
              <a:xfrm rot="-1001753">
                <a:off x="3307" y="3438"/>
                <a:ext cx="576" cy="47"/>
              </a:xfrm>
              <a:prstGeom prst="rect">
                <a:avLst/>
              </a:prstGeom>
              <a:solidFill>
                <a:srgbClr val="B2B2B2"/>
              </a:solidFill>
              <a:ln w="12700" cap="sq">
                <a:solidFill>
                  <a:schemeClr val="tx1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" name="Oval 60"/>
              <p:cNvSpPr>
                <a:spLocks noChangeArrowheads="1"/>
              </p:cNvSpPr>
              <p:nvPr/>
            </p:nvSpPr>
            <p:spPr bwMode="auto">
              <a:xfrm>
                <a:off x="3227" y="3640"/>
                <a:ext cx="48" cy="48"/>
              </a:xfrm>
              <a:prstGeom prst="ellipse">
                <a:avLst/>
              </a:prstGeom>
              <a:noFill/>
              <a:ln w="15875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" name="Oval 61"/>
              <p:cNvSpPr>
                <a:spLocks noChangeArrowheads="1"/>
              </p:cNvSpPr>
              <p:nvPr/>
            </p:nvSpPr>
            <p:spPr bwMode="auto">
              <a:xfrm>
                <a:off x="3371" y="3640"/>
                <a:ext cx="48" cy="48"/>
              </a:xfrm>
              <a:prstGeom prst="ellipse">
                <a:avLst/>
              </a:prstGeom>
              <a:noFill/>
              <a:ln w="15875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" name="AutoShape 62"/>
              <p:cNvSpPr>
                <a:spLocks noChangeArrowheads="1"/>
              </p:cNvSpPr>
              <p:nvPr/>
            </p:nvSpPr>
            <p:spPr bwMode="auto">
              <a:xfrm>
                <a:off x="3222" y="3546"/>
                <a:ext cx="193" cy="95"/>
              </a:xfrm>
              <a:prstGeom prst="triangle">
                <a:avLst>
                  <a:gd name="adj" fmla="val 50000"/>
                </a:avLst>
              </a:prstGeom>
              <a:noFill/>
              <a:ln w="15875" cap="sq">
                <a:solidFill>
                  <a:schemeClr val="tx1"/>
                </a:solidFill>
                <a:miter lim="800000"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" name="Oval 63"/>
              <p:cNvSpPr>
                <a:spLocks noChangeArrowheads="1"/>
              </p:cNvSpPr>
              <p:nvPr/>
            </p:nvSpPr>
            <p:spPr bwMode="auto">
              <a:xfrm>
                <a:off x="3300" y="3521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5875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1" name="Group 64"/>
              <p:cNvGrpSpPr>
                <a:grpSpLocks/>
              </p:cNvGrpSpPr>
              <p:nvPr/>
            </p:nvGrpSpPr>
            <p:grpSpPr bwMode="auto">
              <a:xfrm>
                <a:off x="3047" y="3688"/>
                <a:ext cx="542" cy="48"/>
                <a:chOff x="3264" y="1920"/>
                <a:chExt cx="542" cy="48"/>
              </a:xfrm>
            </p:grpSpPr>
            <p:sp>
              <p:nvSpPr>
                <p:cNvPr id="132" name="Line 65"/>
                <p:cNvSpPr>
                  <a:spLocks noChangeShapeType="1"/>
                </p:cNvSpPr>
                <p:nvPr/>
              </p:nvSpPr>
              <p:spPr bwMode="auto">
                <a:xfrm>
                  <a:off x="3298" y="1920"/>
                  <a:ext cx="508" cy="0"/>
                </a:xfrm>
                <a:prstGeom prst="line">
                  <a:avLst/>
                </a:prstGeom>
                <a:noFill/>
                <a:ln w="15875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33" name="Group 66"/>
                <p:cNvGrpSpPr>
                  <a:grpSpLocks/>
                </p:cNvGrpSpPr>
                <p:nvPr/>
              </p:nvGrpSpPr>
              <p:grpSpPr bwMode="auto">
                <a:xfrm>
                  <a:off x="3264" y="1920"/>
                  <a:ext cx="528" cy="48"/>
                  <a:chOff x="3264" y="1920"/>
                  <a:chExt cx="528" cy="48"/>
                </a:xfrm>
              </p:grpSpPr>
              <p:grpSp>
                <p:nvGrpSpPr>
                  <p:cNvPr id="134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3312" y="1920"/>
                    <a:ext cx="480" cy="48"/>
                    <a:chOff x="3312" y="1920"/>
                    <a:chExt cx="480" cy="48"/>
                  </a:xfrm>
                </p:grpSpPr>
                <p:sp>
                  <p:nvSpPr>
                    <p:cNvPr id="136" name="Line 6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1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7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6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8" name="Line 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0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9" name="Line 7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5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0" name="Line 7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0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1" name="Line 7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4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2" name="Line 7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9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3" name="Line 7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74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4" name="Line 7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0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5" name="Line 7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5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35" name="Line 7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6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84" name="Text Box 97"/>
            <p:cNvSpPr txBox="1">
              <a:spLocks noChangeArrowheads="1"/>
            </p:cNvSpPr>
            <p:nvPr/>
          </p:nvSpPr>
          <p:spPr bwMode="auto">
            <a:xfrm>
              <a:off x="995691" y="4778100"/>
              <a:ext cx="35401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86" name="Line 99"/>
            <p:cNvSpPr>
              <a:spLocks noChangeShapeType="1"/>
            </p:cNvSpPr>
            <p:nvPr/>
          </p:nvSpPr>
          <p:spPr bwMode="auto">
            <a:xfrm flipV="1">
              <a:off x="956003" y="5043212"/>
              <a:ext cx="1588" cy="5715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48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30722" grpId="0"/>
      <p:bldP spid="30730" grpId="0"/>
      <p:bldP spid="307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8"/>
          <p:cNvSpPr txBox="1">
            <a:spLocks noChangeArrowheads="1"/>
          </p:cNvSpPr>
          <p:nvPr/>
        </p:nvSpPr>
        <p:spPr bwMode="auto">
          <a:xfrm>
            <a:off x="2172368" y="558568"/>
            <a:ext cx="46643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轴承约束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714374" y="2557060"/>
            <a:ext cx="63600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沿轴半径方向两个方位已知、大小未知的力。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354861" y="5200328"/>
            <a:ext cx="1143000" cy="742950"/>
            <a:chOff x="4032" y="1725"/>
            <a:chExt cx="720" cy="468"/>
          </a:xfrm>
        </p:grpSpPr>
        <p:sp>
          <p:nvSpPr>
            <p:cNvPr id="31756" name="Freeform 12"/>
            <p:cNvSpPr>
              <a:spLocks/>
            </p:cNvSpPr>
            <p:nvPr/>
          </p:nvSpPr>
          <p:spPr bwMode="auto">
            <a:xfrm>
              <a:off x="4575" y="1911"/>
              <a:ext cx="24" cy="73"/>
            </a:xfrm>
            <a:custGeom>
              <a:avLst/>
              <a:gdLst>
                <a:gd name="T0" fmla="*/ 15 w 24"/>
                <a:gd name="T1" fmla="*/ 0 h 73"/>
                <a:gd name="T2" fmla="*/ 24 w 24"/>
                <a:gd name="T3" fmla="*/ 73 h 73"/>
                <a:gd name="T4" fmla="*/ 0 60000 65536"/>
                <a:gd name="T5" fmla="*/ 0 60000 65536"/>
                <a:gd name="T6" fmla="*/ 0 w 24"/>
                <a:gd name="T7" fmla="*/ 0 h 73"/>
                <a:gd name="T8" fmla="*/ 24 w 24"/>
                <a:gd name="T9" fmla="*/ 73 h 7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" h="73">
                  <a:moveTo>
                    <a:pt x="15" y="0"/>
                  </a:moveTo>
                  <a:cubicBezTo>
                    <a:pt x="7" y="31"/>
                    <a:pt x="0" y="49"/>
                    <a:pt x="24" y="73"/>
                  </a:cubicBezTo>
                </a:path>
              </a:pathLst>
            </a:custGeom>
            <a:noFill/>
            <a:ln w="9525">
              <a:solidFill>
                <a:srgbClr val="C8120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57" name="Group 13"/>
            <p:cNvGrpSpPr>
              <a:grpSpLocks/>
            </p:cNvGrpSpPr>
            <p:nvPr/>
          </p:nvGrpSpPr>
          <p:grpSpPr bwMode="auto">
            <a:xfrm>
              <a:off x="4032" y="1725"/>
              <a:ext cx="720" cy="468"/>
              <a:chOff x="3609" y="1965"/>
              <a:chExt cx="720" cy="468"/>
            </a:xfrm>
          </p:grpSpPr>
          <p:grpSp>
            <p:nvGrpSpPr>
              <p:cNvPr id="31758" name="Group 14"/>
              <p:cNvGrpSpPr>
                <a:grpSpLocks/>
              </p:cNvGrpSpPr>
              <p:nvPr/>
            </p:nvGrpSpPr>
            <p:grpSpPr bwMode="auto">
              <a:xfrm>
                <a:off x="3696" y="1965"/>
                <a:ext cx="147" cy="156"/>
                <a:chOff x="2293" y="2715"/>
                <a:chExt cx="203" cy="215"/>
              </a:xfrm>
            </p:grpSpPr>
            <p:sp>
              <p:nvSpPr>
                <p:cNvPr id="31768" name="Freeform 15"/>
                <p:cNvSpPr>
                  <a:spLocks/>
                </p:cNvSpPr>
                <p:nvPr/>
              </p:nvSpPr>
              <p:spPr bwMode="auto">
                <a:xfrm>
                  <a:off x="2304" y="2736"/>
                  <a:ext cx="192" cy="192"/>
                </a:xfrm>
                <a:custGeom>
                  <a:avLst/>
                  <a:gdLst>
                    <a:gd name="T0" fmla="*/ 0 w 192"/>
                    <a:gd name="T1" fmla="*/ 0 h 192"/>
                    <a:gd name="T2" fmla="*/ 0 w 192"/>
                    <a:gd name="T3" fmla="*/ 192 h 192"/>
                    <a:gd name="T4" fmla="*/ 192 w 192"/>
                    <a:gd name="T5" fmla="*/ 192 h 192"/>
                    <a:gd name="T6" fmla="*/ 192 w 192"/>
                    <a:gd name="T7" fmla="*/ 0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2"/>
                    <a:gd name="T13" fmla="*/ 0 h 192"/>
                    <a:gd name="T14" fmla="*/ 192 w 192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2" h="192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22225">
                  <a:solidFill>
                    <a:srgbClr val="CC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9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341" y="2757"/>
                  <a:ext cx="155" cy="160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0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304" y="2736"/>
                  <a:ext cx="161" cy="160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1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383" y="2817"/>
                  <a:ext cx="113" cy="113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2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293" y="2718"/>
                  <a:ext cx="131" cy="131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3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2335" y="2715"/>
                  <a:ext cx="41" cy="41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759" name="Group 21"/>
              <p:cNvGrpSpPr>
                <a:grpSpLocks/>
              </p:cNvGrpSpPr>
              <p:nvPr/>
            </p:nvGrpSpPr>
            <p:grpSpPr bwMode="auto">
              <a:xfrm flipV="1">
                <a:off x="3693" y="2277"/>
                <a:ext cx="147" cy="156"/>
                <a:chOff x="2293" y="2715"/>
                <a:chExt cx="203" cy="215"/>
              </a:xfrm>
            </p:grpSpPr>
            <p:sp>
              <p:nvSpPr>
                <p:cNvPr id="31762" name="Freeform 22"/>
                <p:cNvSpPr>
                  <a:spLocks/>
                </p:cNvSpPr>
                <p:nvPr/>
              </p:nvSpPr>
              <p:spPr bwMode="auto">
                <a:xfrm>
                  <a:off x="2304" y="2736"/>
                  <a:ext cx="192" cy="192"/>
                </a:xfrm>
                <a:custGeom>
                  <a:avLst/>
                  <a:gdLst>
                    <a:gd name="T0" fmla="*/ 0 w 192"/>
                    <a:gd name="T1" fmla="*/ 0 h 192"/>
                    <a:gd name="T2" fmla="*/ 0 w 192"/>
                    <a:gd name="T3" fmla="*/ 192 h 192"/>
                    <a:gd name="T4" fmla="*/ 192 w 192"/>
                    <a:gd name="T5" fmla="*/ 192 h 192"/>
                    <a:gd name="T6" fmla="*/ 192 w 192"/>
                    <a:gd name="T7" fmla="*/ 0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2"/>
                    <a:gd name="T13" fmla="*/ 0 h 192"/>
                    <a:gd name="T14" fmla="*/ 192 w 192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2" h="192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92" y="192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22225">
                  <a:solidFill>
                    <a:srgbClr val="CC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2341" y="2757"/>
                  <a:ext cx="155" cy="160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4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2304" y="2736"/>
                  <a:ext cx="161" cy="160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5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383" y="2817"/>
                  <a:ext cx="113" cy="113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6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293" y="2718"/>
                  <a:ext cx="131" cy="131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7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2335" y="2715"/>
                  <a:ext cx="41" cy="41"/>
                </a:xfrm>
                <a:prstGeom prst="line">
                  <a:avLst/>
                </a:prstGeom>
                <a:noFill/>
                <a:ln w="12700">
                  <a:solidFill>
                    <a:srgbClr val="C81204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60" name="Freeform 28"/>
              <p:cNvSpPr>
                <a:spLocks/>
              </p:cNvSpPr>
              <p:nvPr/>
            </p:nvSpPr>
            <p:spPr bwMode="auto">
              <a:xfrm>
                <a:off x="3705" y="2151"/>
                <a:ext cx="480" cy="96"/>
              </a:xfrm>
              <a:custGeom>
                <a:avLst/>
                <a:gdLst>
                  <a:gd name="T0" fmla="*/ 480 w 480"/>
                  <a:gd name="T1" fmla="*/ 0 h 96"/>
                  <a:gd name="T2" fmla="*/ 0 w 480"/>
                  <a:gd name="T3" fmla="*/ 0 h 96"/>
                  <a:gd name="T4" fmla="*/ 0 w 480"/>
                  <a:gd name="T5" fmla="*/ 96 h 96"/>
                  <a:gd name="T6" fmla="*/ 480 w 480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96"/>
                  <a:gd name="T14" fmla="*/ 480 w 480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96">
                    <a:moveTo>
                      <a:pt x="480" y="0"/>
                    </a:moveTo>
                    <a:lnTo>
                      <a:pt x="0" y="0"/>
                    </a:lnTo>
                    <a:lnTo>
                      <a:pt x="0" y="96"/>
                    </a:lnTo>
                    <a:lnTo>
                      <a:pt x="480" y="96"/>
                    </a:lnTo>
                  </a:path>
                </a:pathLst>
              </a:custGeom>
              <a:noFill/>
              <a:ln w="22225">
                <a:solidFill>
                  <a:srgbClr val="C8120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1" name="Line 29"/>
              <p:cNvSpPr>
                <a:spLocks noChangeShapeType="1"/>
              </p:cNvSpPr>
              <p:nvPr/>
            </p:nvSpPr>
            <p:spPr bwMode="auto">
              <a:xfrm>
                <a:off x="3609" y="2196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C81204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5948461" y="4733603"/>
            <a:ext cx="766763" cy="1216025"/>
            <a:chOff x="3360" y="1680"/>
            <a:chExt cx="483" cy="766"/>
          </a:xfrm>
        </p:grpSpPr>
        <p:sp>
          <p:nvSpPr>
            <p:cNvPr id="31752" name="AutoShape 31"/>
            <p:cNvSpPr>
              <a:spLocks noChangeArrowheads="1"/>
            </p:cNvSpPr>
            <p:nvPr/>
          </p:nvSpPr>
          <p:spPr bwMode="auto">
            <a:xfrm>
              <a:off x="3762" y="1800"/>
              <a:ext cx="36" cy="384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2113DD"/>
            </a:solidFill>
            <a:ln w="9525">
              <a:solidFill>
                <a:srgbClr val="2113DD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3" name="AutoShape 32"/>
            <p:cNvSpPr>
              <a:spLocks noChangeArrowheads="1"/>
            </p:cNvSpPr>
            <p:nvPr/>
          </p:nvSpPr>
          <p:spPr bwMode="auto">
            <a:xfrm rot="-8100000">
              <a:off x="3633" y="2133"/>
              <a:ext cx="36" cy="384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2113DD"/>
            </a:solidFill>
            <a:ln w="9525">
              <a:solidFill>
                <a:srgbClr val="2113DD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4" name="Text Box 33"/>
            <p:cNvSpPr txBox="1">
              <a:spLocks noChangeArrowheads="1"/>
            </p:cNvSpPr>
            <p:nvPr/>
          </p:nvSpPr>
          <p:spPr bwMode="auto">
            <a:xfrm>
              <a:off x="3360" y="2187"/>
              <a:ext cx="16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2113DD"/>
                  </a:solidFill>
                </a:rPr>
                <a:t>F</a:t>
              </a:r>
              <a:r>
                <a:rPr lang="en-US" altLang="zh-CN" i="1" baseline="-25000">
                  <a:solidFill>
                    <a:srgbClr val="2113DD"/>
                  </a:solidFill>
                </a:rPr>
                <a:t>x</a:t>
              </a:r>
              <a:endParaRPr lang="en-US" altLang="zh-CN" i="1">
                <a:solidFill>
                  <a:srgbClr val="2113DD"/>
                </a:solidFill>
              </a:endParaRPr>
            </a:p>
          </p:txBody>
        </p:sp>
        <p:sp>
          <p:nvSpPr>
            <p:cNvPr id="31755" name="Text Box 34"/>
            <p:cNvSpPr txBox="1">
              <a:spLocks noChangeArrowheads="1"/>
            </p:cNvSpPr>
            <p:nvPr/>
          </p:nvSpPr>
          <p:spPr bwMode="auto">
            <a:xfrm>
              <a:off x="3564" y="1680"/>
              <a:ext cx="16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2113DD"/>
                  </a:solidFill>
                </a:rPr>
                <a:t>F</a:t>
              </a:r>
              <a:r>
                <a:rPr lang="en-US" altLang="zh-CN" i="1" baseline="-25000">
                  <a:solidFill>
                    <a:srgbClr val="2113DD"/>
                  </a:solidFill>
                </a:rPr>
                <a:t>y</a:t>
              </a:r>
              <a:endParaRPr lang="en-US" altLang="zh-CN" i="1">
                <a:solidFill>
                  <a:srgbClr val="2113DD"/>
                </a:solidFill>
              </a:endParaRPr>
            </a:p>
          </p:txBody>
        </p:sp>
      </p:grp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714374" y="486714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714374" y="1628800"/>
            <a:ext cx="6088268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algn="just"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约束特性：轴只能绕其轴线转动，与轴线垂直的平面内的径向位移被限制。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33" name="组合 32"/>
          <p:cNvGrpSpPr/>
          <p:nvPr/>
        </p:nvGrpSpPr>
        <p:grpSpPr>
          <a:xfrm rot="19153206">
            <a:off x="7052239" y="1912552"/>
            <a:ext cx="1247594" cy="1203123"/>
            <a:chOff x="300070" y="4674149"/>
            <a:chExt cx="1643063" cy="1571625"/>
          </a:xfrm>
        </p:grpSpPr>
        <p:sp>
          <p:nvSpPr>
            <p:cNvPr id="34" name="Oval 100"/>
            <p:cNvSpPr>
              <a:spLocks noChangeArrowheads="1"/>
            </p:cNvSpPr>
            <p:nvPr/>
          </p:nvSpPr>
          <p:spPr bwMode="auto">
            <a:xfrm>
              <a:off x="300070" y="4674149"/>
              <a:ext cx="1643063" cy="15716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5" name="Oval 101"/>
            <p:cNvSpPr>
              <a:spLocks noChangeArrowheads="1"/>
            </p:cNvSpPr>
            <p:nvPr/>
          </p:nvSpPr>
          <p:spPr bwMode="auto">
            <a:xfrm>
              <a:off x="371508" y="4959899"/>
              <a:ext cx="1285875" cy="123031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3" name="向心轴承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5942" y="3502259"/>
            <a:ext cx="4104117" cy="3078088"/>
          </a:xfrm>
          <a:prstGeom prst="rect">
            <a:avLst/>
          </a:prstGeom>
        </p:spPr>
      </p:pic>
      <p:pic>
        <p:nvPicPr>
          <p:cNvPr id="55" name="Picture 8" descr="1m22-2"/>
          <p:cNvPicPr>
            <a:picLocks noChangeAspect="1" noChangeArrowheads="1"/>
          </p:cNvPicPr>
          <p:nvPr/>
        </p:nvPicPr>
        <p:blipFill>
          <a:blip r:embed="rId5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828" y="3507971"/>
            <a:ext cx="1143000" cy="10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714374" y="1124136"/>
            <a:ext cx="2969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颈轴承（向心）轴承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4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25609" grpId="0"/>
      <p:bldP spid="32" grpId="0" build="p" autoUpdateAnimBg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5"/>
          <p:cNvSpPr>
            <a:spLocks noChangeArrowheads="1"/>
          </p:cNvSpPr>
          <p:nvPr/>
        </p:nvSpPr>
        <p:spPr bwMode="auto">
          <a:xfrm>
            <a:off x="5599873" y="646886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止推轴承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683568" y="4365104"/>
            <a:ext cx="430491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止推轴承除了限制转子的径向位移，还限制转子的轴向位移。止推轴承的约束反力为两个径向力和一个轴向力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424455" y="1552013"/>
            <a:ext cx="1397000" cy="638175"/>
            <a:chOff x="4064" y="3294"/>
            <a:chExt cx="880" cy="402"/>
          </a:xfrm>
        </p:grpSpPr>
        <p:grpSp>
          <p:nvGrpSpPr>
            <p:cNvPr id="32782" name="Group 22"/>
            <p:cNvGrpSpPr>
              <a:grpSpLocks/>
            </p:cNvGrpSpPr>
            <p:nvPr/>
          </p:nvGrpSpPr>
          <p:grpSpPr bwMode="auto">
            <a:xfrm flipH="1">
              <a:off x="4064" y="3453"/>
              <a:ext cx="880" cy="96"/>
              <a:chOff x="2736" y="3402"/>
              <a:chExt cx="720" cy="96"/>
            </a:xfrm>
          </p:grpSpPr>
          <p:sp>
            <p:nvSpPr>
              <p:cNvPr id="32794" name="Freeform 23"/>
              <p:cNvSpPr>
                <a:spLocks/>
              </p:cNvSpPr>
              <p:nvPr/>
            </p:nvSpPr>
            <p:spPr bwMode="auto">
              <a:xfrm>
                <a:off x="3279" y="3402"/>
                <a:ext cx="24" cy="73"/>
              </a:xfrm>
              <a:custGeom>
                <a:avLst/>
                <a:gdLst>
                  <a:gd name="T0" fmla="*/ 15 w 24"/>
                  <a:gd name="T1" fmla="*/ 0 h 73"/>
                  <a:gd name="T2" fmla="*/ 24 w 24"/>
                  <a:gd name="T3" fmla="*/ 73 h 73"/>
                  <a:gd name="T4" fmla="*/ 0 60000 65536"/>
                  <a:gd name="T5" fmla="*/ 0 60000 65536"/>
                  <a:gd name="T6" fmla="*/ 0 w 24"/>
                  <a:gd name="T7" fmla="*/ 0 h 73"/>
                  <a:gd name="T8" fmla="*/ 24 w 24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" h="73">
                    <a:moveTo>
                      <a:pt x="15" y="0"/>
                    </a:moveTo>
                    <a:cubicBezTo>
                      <a:pt x="7" y="31"/>
                      <a:pt x="0" y="49"/>
                      <a:pt x="24" y="73"/>
                    </a:cubicBezTo>
                  </a:path>
                </a:pathLst>
              </a:custGeom>
              <a:noFill/>
              <a:ln w="95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Freeform 24"/>
              <p:cNvSpPr>
                <a:spLocks/>
              </p:cNvSpPr>
              <p:nvPr/>
            </p:nvSpPr>
            <p:spPr bwMode="auto">
              <a:xfrm>
                <a:off x="2832" y="3402"/>
                <a:ext cx="480" cy="96"/>
              </a:xfrm>
              <a:custGeom>
                <a:avLst/>
                <a:gdLst>
                  <a:gd name="T0" fmla="*/ 480 w 480"/>
                  <a:gd name="T1" fmla="*/ 0 h 96"/>
                  <a:gd name="T2" fmla="*/ 0 w 480"/>
                  <a:gd name="T3" fmla="*/ 0 h 96"/>
                  <a:gd name="T4" fmla="*/ 0 w 480"/>
                  <a:gd name="T5" fmla="*/ 96 h 96"/>
                  <a:gd name="T6" fmla="*/ 480 w 480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96"/>
                  <a:gd name="T14" fmla="*/ 480 w 480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96">
                    <a:moveTo>
                      <a:pt x="480" y="0"/>
                    </a:moveTo>
                    <a:lnTo>
                      <a:pt x="0" y="0"/>
                    </a:lnTo>
                    <a:lnTo>
                      <a:pt x="0" y="96"/>
                    </a:lnTo>
                    <a:lnTo>
                      <a:pt x="480" y="96"/>
                    </a:lnTo>
                  </a:path>
                </a:pathLst>
              </a:cu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Line 25"/>
              <p:cNvSpPr>
                <a:spLocks noChangeShapeType="1"/>
              </p:cNvSpPr>
              <p:nvPr/>
            </p:nvSpPr>
            <p:spPr bwMode="auto">
              <a:xfrm>
                <a:off x="2736" y="3441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A02C98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83" name="Group 26"/>
            <p:cNvGrpSpPr>
              <a:grpSpLocks/>
            </p:cNvGrpSpPr>
            <p:nvPr/>
          </p:nvGrpSpPr>
          <p:grpSpPr bwMode="auto">
            <a:xfrm>
              <a:off x="4713" y="3294"/>
              <a:ext cx="219" cy="402"/>
              <a:chOff x="4704" y="3261"/>
              <a:chExt cx="295" cy="483"/>
            </a:xfrm>
          </p:grpSpPr>
          <p:sp>
            <p:nvSpPr>
              <p:cNvPr id="32784" name="Freeform 27"/>
              <p:cNvSpPr>
                <a:spLocks/>
              </p:cNvSpPr>
              <p:nvPr/>
            </p:nvSpPr>
            <p:spPr bwMode="auto">
              <a:xfrm>
                <a:off x="4704" y="3264"/>
                <a:ext cx="192" cy="480"/>
              </a:xfrm>
              <a:custGeom>
                <a:avLst/>
                <a:gdLst>
                  <a:gd name="T0" fmla="*/ 0 w 192"/>
                  <a:gd name="T1" fmla="*/ 0 h 480"/>
                  <a:gd name="T2" fmla="*/ 0 w 192"/>
                  <a:gd name="T3" fmla="*/ 144 h 480"/>
                  <a:gd name="T4" fmla="*/ 192 w 192"/>
                  <a:gd name="T5" fmla="*/ 144 h 480"/>
                  <a:gd name="T6" fmla="*/ 192 w 192"/>
                  <a:gd name="T7" fmla="*/ 336 h 480"/>
                  <a:gd name="T8" fmla="*/ 0 w 192"/>
                  <a:gd name="T9" fmla="*/ 336 h 480"/>
                  <a:gd name="T10" fmla="*/ 0 w 192"/>
                  <a:gd name="T11" fmla="*/ 480 h 4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480"/>
                  <a:gd name="T20" fmla="*/ 192 w 192"/>
                  <a:gd name="T21" fmla="*/ 480 h 4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480">
                    <a:moveTo>
                      <a:pt x="0" y="0"/>
                    </a:moveTo>
                    <a:lnTo>
                      <a:pt x="0" y="144"/>
                    </a:lnTo>
                    <a:lnTo>
                      <a:pt x="192" y="144"/>
                    </a:lnTo>
                    <a:lnTo>
                      <a:pt x="192" y="336"/>
                    </a:lnTo>
                    <a:lnTo>
                      <a:pt x="0" y="336"/>
                    </a:lnTo>
                    <a:lnTo>
                      <a:pt x="0" y="480"/>
                    </a:lnTo>
                  </a:path>
                </a:pathLst>
              </a:custGeom>
              <a:noFill/>
              <a:ln w="254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5" name="Line 28"/>
              <p:cNvSpPr>
                <a:spLocks noChangeShapeType="1"/>
              </p:cNvSpPr>
              <p:nvPr/>
            </p:nvSpPr>
            <p:spPr bwMode="auto">
              <a:xfrm flipV="1">
                <a:off x="4707" y="3261"/>
                <a:ext cx="119" cy="117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6" name="Line 29"/>
              <p:cNvSpPr>
                <a:spLocks noChangeShapeType="1"/>
              </p:cNvSpPr>
              <p:nvPr/>
            </p:nvSpPr>
            <p:spPr bwMode="auto">
              <a:xfrm flipV="1">
                <a:off x="4767" y="3277"/>
                <a:ext cx="124" cy="116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7" name="Line 30"/>
              <p:cNvSpPr>
                <a:spLocks noChangeShapeType="1"/>
              </p:cNvSpPr>
              <p:nvPr/>
            </p:nvSpPr>
            <p:spPr bwMode="auto">
              <a:xfrm flipV="1">
                <a:off x="4822" y="3317"/>
                <a:ext cx="95" cy="95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8" name="Line 31"/>
              <p:cNvSpPr>
                <a:spLocks noChangeShapeType="1"/>
              </p:cNvSpPr>
              <p:nvPr/>
            </p:nvSpPr>
            <p:spPr bwMode="auto">
              <a:xfrm flipV="1">
                <a:off x="4882" y="3332"/>
                <a:ext cx="95" cy="95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9" name="Line 32"/>
              <p:cNvSpPr>
                <a:spLocks noChangeShapeType="1"/>
              </p:cNvSpPr>
              <p:nvPr/>
            </p:nvSpPr>
            <p:spPr bwMode="auto">
              <a:xfrm flipV="1">
                <a:off x="4888" y="3392"/>
                <a:ext cx="95" cy="95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0" name="Line 33"/>
              <p:cNvSpPr>
                <a:spLocks noChangeShapeType="1"/>
              </p:cNvSpPr>
              <p:nvPr/>
            </p:nvSpPr>
            <p:spPr bwMode="auto">
              <a:xfrm flipV="1">
                <a:off x="4903" y="3443"/>
                <a:ext cx="95" cy="95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Line 34"/>
              <p:cNvSpPr>
                <a:spLocks noChangeShapeType="1"/>
              </p:cNvSpPr>
              <p:nvPr/>
            </p:nvSpPr>
            <p:spPr bwMode="auto">
              <a:xfrm flipV="1">
                <a:off x="4813" y="3506"/>
                <a:ext cx="186" cy="186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2" name="Line 35"/>
              <p:cNvSpPr>
                <a:spLocks noChangeShapeType="1"/>
              </p:cNvSpPr>
              <p:nvPr/>
            </p:nvSpPr>
            <p:spPr bwMode="auto">
              <a:xfrm flipV="1">
                <a:off x="4720" y="3611"/>
                <a:ext cx="95" cy="95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Line 36"/>
              <p:cNvSpPr>
                <a:spLocks noChangeShapeType="1"/>
              </p:cNvSpPr>
              <p:nvPr/>
            </p:nvSpPr>
            <p:spPr bwMode="auto">
              <a:xfrm flipV="1">
                <a:off x="4870" y="3608"/>
                <a:ext cx="95" cy="95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6902293" y="1063063"/>
            <a:ext cx="1281112" cy="1216025"/>
            <a:chOff x="4413" y="2978"/>
            <a:chExt cx="807" cy="766"/>
          </a:xfrm>
        </p:grpSpPr>
        <p:sp>
          <p:nvSpPr>
            <p:cNvPr id="32775" name="Text Box 38"/>
            <p:cNvSpPr txBox="1">
              <a:spLocks noChangeArrowheads="1"/>
            </p:cNvSpPr>
            <p:nvPr/>
          </p:nvSpPr>
          <p:spPr bwMode="auto">
            <a:xfrm>
              <a:off x="4617" y="2978"/>
              <a:ext cx="16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2113DD"/>
                  </a:solidFill>
                </a:rPr>
                <a:t>F</a:t>
              </a:r>
              <a:r>
                <a:rPr lang="en-US" altLang="zh-CN" i="1" baseline="-25000">
                  <a:solidFill>
                    <a:srgbClr val="2113DD"/>
                  </a:solidFill>
                </a:rPr>
                <a:t>y</a:t>
              </a:r>
              <a:endParaRPr lang="en-US" altLang="zh-CN" i="1">
                <a:solidFill>
                  <a:srgbClr val="2113DD"/>
                </a:solidFill>
              </a:endParaRPr>
            </a:p>
          </p:txBody>
        </p:sp>
        <p:grpSp>
          <p:nvGrpSpPr>
            <p:cNvPr id="32776" name="Group 39"/>
            <p:cNvGrpSpPr>
              <a:grpSpLocks/>
            </p:cNvGrpSpPr>
            <p:nvPr/>
          </p:nvGrpSpPr>
          <p:grpSpPr bwMode="auto">
            <a:xfrm>
              <a:off x="4413" y="3098"/>
              <a:ext cx="807" cy="646"/>
              <a:chOff x="4413" y="3098"/>
              <a:chExt cx="807" cy="646"/>
            </a:xfrm>
          </p:grpSpPr>
          <p:sp>
            <p:nvSpPr>
              <p:cNvPr id="32777" name="AutoShape 40"/>
              <p:cNvSpPr>
                <a:spLocks noChangeArrowheads="1"/>
              </p:cNvSpPr>
              <p:nvPr/>
            </p:nvSpPr>
            <p:spPr bwMode="auto">
              <a:xfrm>
                <a:off x="4815" y="3098"/>
                <a:ext cx="36" cy="384"/>
              </a:xfrm>
              <a:prstGeom prst="upArrow">
                <a:avLst>
                  <a:gd name="adj1" fmla="val 50000"/>
                  <a:gd name="adj2" fmla="val 266667"/>
                </a:avLst>
              </a:prstGeom>
              <a:solidFill>
                <a:srgbClr val="2113DD"/>
              </a:solidFill>
              <a:ln w="9525">
                <a:solidFill>
                  <a:srgbClr val="2113D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78" name="AutoShape 41"/>
              <p:cNvSpPr>
                <a:spLocks noChangeArrowheads="1"/>
              </p:cNvSpPr>
              <p:nvPr/>
            </p:nvSpPr>
            <p:spPr bwMode="auto">
              <a:xfrm rot="-8100000">
                <a:off x="4686" y="3431"/>
                <a:ext cx="36" cy="384"/>
              </a:xfrm>
              <a:prstGeom prst="upArrow">
                <a:avLst>
                  <a:gd name="adj1" fmla="val 50000"/>
                  <a:gd name="adj2" fmla="val 266667"/>
                </a:avLst>
              </a:prstGeom>
              <a:solidFill>
                <a:srgbClr val="2113DD"/>
              </a:solidFill>
              <a:ln w="9525">
                <a:solidFill>
                  <a:srgbClr val="2113D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79" name="Text Box 42"/>
              <p:cNvSpPr txBox="1">
                <a:spLocks noChangeArrowheads="1"/>
              </p:cNvSpPr>
              <p:nvPr/>
            </p:nvSpPr>
            <p:spPr bwMode="auto">
              <a:xfrm>
                <a:off x="4413" y="3485"/>
                <a:ext cx="164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i="1">
                    <a:solidFill>
                      <a:srgbClr val="2113DD"/>
                    </a:solidFill>
                  </a:rPr>
                  <a:t>F</a:t>
                </a:r>
                <a:r>
                  <a:rPr lang="en-US" altLang="zh-CN" i="1" baseline="-25000">
                    <a:solidFill>
                      <a:srgbClr val="2113DD"/>
                    </a:solidFill>
                  </a:rPr>
                  <a:t>x</a:t>
                </a:r>
                <a:endParaRPr lang="en-US" altLang="zh-CN" i="1">
                  <a:solidFill>
                    <a:srgbClr val="2113DD"/>
                  </a:solidFill>
                </a:endParaRPr>
              </a:p>
            </p:txBody>
          </p:sp>
          <p:sp>
            <p:nvSpPr>
              <p:cNvPr id="32780" name="AutoShape 43"/>
              <p:cNvSpPr>
                <a:spLocks noChangeArrowheads="1"/>
              </p:cNvSpPr>
              <p:nvPr/>
            </p:nvSpPr>
            <p:spPr bwMode="auto">
              <a:xfrm rot="5400000">
                <a:off x="5010" y="3302"/>
                <a:ext cx="36" cy="384"/>
              </a:xfrm>
              <a:prstGeom prst="upArrow">
                <a:avLst>
                  <a:gd name="adj1" fmla="val 50000"/>
                  <a:gd name="adj2" fmla="val 266667"/>
                </a:avLst>
              </a:prstGeom>
              <a:solidFill>
                <a:srgbClr val="2113DD"/>
              </a:solidFill>
              <a:ln w="9525">
                <a:solidFill>
                  <a:srgbClr val="2113D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81" name="Text Box 44"/>
              <p:cNvSpPr txBox="1">
                <a:spLocks noChangeArrowheads="1"/>
              </p:cNvSpPr>
              <p:nvPr/>
            </p:nvSpPr>
            <p:spPr bwMode="auto">
              <a:xfrm>
                <a:off x="5043" y="3216"/>
                <a:ext cx="15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i="1">
                    <a:solidFill>
                      <a:srgbClr val="2113DD"/>
                    </a:solidFill>
                  </a:rPr>
                  <a:t>F</a:t>
                </a:r>
                <a:r>
                  <a:rPr lang="en-US" altLang="zh-CN" i="1" baseline="-25000">
                    <a:solidFill>
                      <a:srgbClr val="2113DD"/>
                    </a:solidFill>
                  </a:rPr>
                  <a:t>z</a:t>
                </a:r>
                <a:endParaRPr lang="en-US" altLang="zh-CN" i="1">
                  <a:solidFill>
                    <a:srgbClr val="2113DD"/>
                  </a:solidFill>
                </a:endParaRPr>
              </a:p>
            </p:txBody>
          </p:sp>
        </p:grpSp>
      </p:grp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693783" y="585331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pic>
        <p:nvPicPr>
          <p:cNvPr id="7" name="圆锥滚子轴承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2749" y="1340768"/>
            <a:ext cx="3821803" cy="2866352"/>
          </a:xfrm>
          <a:prstGeom prst="rect">
            <a:avLst/>
          </a:prstGeom>
        </p:spPr>
      </p:pic>
      <p:grpSp>
        <p:nvGrpSpPr>
          <p:cNvPr id="34" name="Group 177"/>
          <p:cNvGrpSpPr>
            <a:grpSpLocks/>
          </p:cNvGrpSpPr>
          <p:nvPr/>
        </p:nvGrpSpPr>
        <p:grpSpPr bwMode="auto">
          <a:xfrm>
            <a:off x="4788592" y="1503988"/>
            <a:ext cx="1397000" cy="738187"/>
            <a:chOff x="3081" y="3276"/>
            <a:chExt cx="880" cy="465"/>
          </a:xfrm>
        </p:grpSpPr>
        <p:grpSp>
          <p:nvGrpSpPr>
            <p:cNvPr id="35" name="Group 178"/>
            <p:cNvGrpSpPr>
              <a:grpSpLocks/>
            </p:cNvGrpSpPr>
            <p:nvPr/>
          </p:nvGrpSpPr>
          <p:grpSpPr bwMode="auto">
            <a:xfrm>
              <a:off x="3543" y="3276"/>
              <a:ext cx="156" cy="156"/>
              <a:chOff x="2293" y="2715"/>
              <a:chExt cx="203" cy="215"/>
            </a:xfrm>
          </p:grpSpPr>
          <p:sp>
            <p:nvSpPr>
              <p:cNvPr id="55" name="Freeform 179"/>
              <p:cNvSpPr>
                <a:spLocks/>
              </p:cNvSpPr>
              <p:nvPr/>
            </p:nvSpPr>
            <p:spPr bwMode="auto">
              <a:xfrm>
                <a:off x="2304" y="2736"/>
                <a:ext cx="192" cy="192"/>
              </a:xfrm>
              <a:custGeom>
                <a:avLst/>
                <a:gdLst>
                  <a:gd name="T0" fmla="*/ 0 w 192"/>
                  <a:gd name="T1" fmla="*/ 0 h 192"/>
                  <a:gd name="T2" fmla="*/ 0 w 192"/>
                  <a:gd name="T3" fmla="*/ 192 h 192"/>
                  <a:gd name="T4" fmla="*/ 192 w 192"/>
                  <a:gd name="T5" fmla="*/ 192 h 192"/>
                  <a:gd name="T6" fmla="*/ 192 w 192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192"/>
                  <a:gd name="T14" fmla="*/ 192 w 192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2" h="192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0"/>
                    </a:lnTo>
                  </a:path>
                </a:pathLst>
              </a:cu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180"/>
              <p:cNvSpPr>
                <a:spLocks noChangeShapeType="1"/>
              </p:cNvSpPr>
              <p:nvPr/>
            </p:nvSpPr>
            <p:spPr bwMode="auto">
              <a:xfrm flipH="1">
                <a:off x="2341" y="2757"/>
                <a:ext cx="155" cy="160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181"/>
              <p:cNvSpPr>
                <a:spLocks noChangeShapeType="1"/>
              </p:cNvSpPr>
              <p:nvPr/>
            </p:nvSpPr>
            <p:spPr bwMode="auto">
              <a:xfrm flipH="1">
                <a:off x="2304" y="2736"/>
                <a:ext cx="161" cy="160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182"/>
              <p:cNvSpPr>
                <a:spLocks noChangeShapeType="1"/>
              </p:cNvSpPr>
              <p:nvPr/>
            </p:nvSpPr>
            <p:spPr bwMode="auto">
              <a:xfrm flipH="1">
                <a:off x="2383" y="2817"/>
                <a:ext cx="113" cy="113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183"/>
              <p:cNvSpPr>
                <a:spLocks noChangeShapeType="1"/>
              </p:cNvSpPr>
              <p:nvPr/>
            </p:nvSpPr>
            <p:spPr bwMode="auto">
              <a:xfrm flipH="1">
                <a:off x="2293" y="2718"/>
                <a:ext cx="131" cy="131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184"/>
              <p:cNvSpPr>
                <a:spLocks noChangeShapeType="1"/>
              </p:cNvSpPr>
              <p:nvPr/>
            </p:nvSpPr>
            <p:spPr bwMode="auto">
              <a:xfrm flipH="1">
                <a:off x="2335" y="2715"/>
                <a:ext cx="41" cy="41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" name="Group 185"/>
            <p:cNvGrpSpPr>
              <a:grpSpLocks/>
            </p:cNvGrpSpPr>
            <p:nvPr/>
          </p:nvGrpSpPr>
          <p:grpSpPr bwMode="auto">
            <a:xfrm flipV="1">
              <a:off x="3549" y="3585"/>
              <a:ext cx="156" cy="156"/>
              <a:chOff x="2293" y="2715"/>
              <a:chExt cx="203" cy="215"/>
            </a:xfrm>
          </p:grpSpPr>
          <p:sp>
            <p:nvSpPr>
              <p:cNvPr id="49" name="Freeform 186"/>
              <p:cNvSpPr>
                <a:spLocks/>
              </p:cNvSpPr>
              <p:nvPr/>
            </p:nvSpPr>
            <p:spPr bwMode="auto">
              <a:xfrm>
                <a:off x="2304" y="2736"/>
                <a:ext cx="192" cy="192"/>
              </a:xfrm>
              <a:custGeom>
                <a:avLst/>
                <a:gdLst>
                  <a:gd name="T0" fmla="*/ 0 w 192"/>
                  <a:gd name="T1" fmla="*/ 0 h 192"/>
                  <a:gd name="T2" fmla="*/ 0 w 192"/>
                  <a:gd name="T3" fmla="*/ 192 h 192"/>
                  <a:gd name="T4" fmla="*/ 192 w 192"/>
                  <a:gd name="T5" fmla="*/ 192 h 192"/>
                  <a:gd name="T6" fmla="*/ 192 w 192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192"/>
                  <a:gd name="T14" fmla="*/ 192 w 192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2" h="192">
                    <a:moveTo>
                      <a:pt x="0" y="0"/>
                    </a:moveTo>
                    <a:lnTo>
                      <a:pt x="0" y="192"/>
                    </a:lnTo>
                    <a:lnTo>
                      <a:pt x="192" y="192"/>
                    </a:lnTo>
                    <a:lnTo>
                      <a:pt x="192" y="0"/>
                    </a:lnTo>
                  </a:path>
                </a:pathLst>
              </a:cu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187"/>
              <p:cNvSpPr>
                <a:spLocks noChangeShapeType="1"/>
              </p:cNvSpPr>
              <p:nvPr/>
            </p:nvSpPr>
            <p:spPr bwMode="auto">
              <a:xfrm flipH="1">
                <a:off x="2341" y="2757"/>
                <a:ext cx="155" cy="160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188"/>
              <p:cNvSpPr>
                <a:spLocks noChangeShapeType="1"/>
              </p:cNvSpPr>
              <p:nvPr/>
            </p:nvSpPr>
            <p:spPr bwMode="auto">
              <a:xfrm flipH="1">
                <a:off x="2304" y="2736"/>
                <a:ext cx="161" cy="160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189"/>
              <p:cNvSpPr>
                <a:spLocks noChangeShapeType="1"/>
              </p:cNvSpPr>
              <p:nvPr/>
            </p:nvSpPr>
            <p:spPr bwMode="auto">
              <a:xfrm flipH="1">
                <a:off x="2383" y="2817"/>
                <a:ext cx="113" cy="113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190"/>
              <p:cNvSpPr>
                <a:spLocks noChangeShapeType="1"/>
              </p:cNvSpPr>
              <p:nvPr/>
            </p:nvSpPr>
            <p:spPr bwMode="auto">
              <a:xfrm flipH="1">
                <a:off x="2293" y="2718"/>
                <a:ext cx="131" cy="131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191"/>
              <p:cNvSpPr>
                <a:spLocks noChangeShapeType="1"/>
              </p:cNvSpPr>
              <p:nvPr/>
            </p:nvSpPr>
            <p:spPr bwMode="auto">
              <a:xfrm flipH="1">
                <a:off x="2335" y="2715"/>
                <a:ext cx="41" cy="41"/>
              </a:xfrm>
              <a:prstGeom prst="line">
                <a:avLst/>
              </a:prstGeom>
              <a:noFill/>
              <a:ln w="12700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" name="Group 192"/>
            <p:cNvGrpSpPr>
              <a:grpSpLocks/>
            </p:cNvGrpSpPr>
            <p:nvPr/>
          </p:nvGrpSpPr>
          <p:grpSpPr bwMode="auto">
            <a:xfrm flipH="1">
              <a:off x="3081" y="3456"/>
              <a:ext cx="880" cy="96"/>
              <a:chOff x="2736" y="3402"/>
              <a:chExt cx="720" cy="96"/>
            </a:xfrm>
          </p:grpSpPr>
          <p:sp>
            <p:nvSpPr>
              <p:cNvPr id="46" name="Freeform 193"/>
              <p:cNvSpPr>
                <a:spLocks/>
              </p:cNvSpPr>
              <p:nvPr/>
            </p:nvSpPr>
            <p:spPr bwMode="auto">
              <a:xfrm>
                <a:off x="3279" y="3402"/>
                <a:ext cx="24" cy="73"/>
              </a:xfrm>
              <a:custGeom>
                <a:avLst/>
                <a:gdLst>
                  <a:gd name="T0" fmla="*/ 15 w 24"/>
                  <a:gd name="T1" fmla="*/ 0 h 73"/>
                  <a:gd name="T2" fmla="*/ 24 w 24"/>
                  <a:gd name="T3" fmla="*/ 73 h 73"/>
                  <a:gd name="T4" fmla="*/ 0 60000 65536"/>
                  <a:gd name="T5" fmla="*/ 0 60000 65536"/>
                  <a:gd name="T6" fmla="*/ 0 w 24"/>
                  <a:gd name="T7" fmla="*/ 0 h 73"/>
                  <a:gd name="T8" fmla="*/ 24 w 24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" h="73">
                    <a:moveTo>
                      <a:pt x="15" y="0"/>
                    </a:moveTo>
                    <a:cubicBezTo>
                      <a:pt x="7" y="31"/>
                      <a:pt x="0" y="49"/>
                      <a:pt x="24" y="73"/>
                    </a:cubicBezTo>
                  </a:path>
                </a:pathLst>
              </a:custGeom>
              <a:noFill/>
              <a:ln w="95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94"/>
              <p:cNvSpPr>
                <a:spLocks/>
              </p:cNvSpPr>
              <p:nvPr/>
            </p:nvSpPr>
            <p:spPr bwMode="auto">
              <a:xfrm>
                <a:off x="2832" y="3402"/>
                <a:ext cx="480" cy="96"/>
              </a:xfrm>
              <a:custGeom>
                <a:avLst/>
                <a:gdLst>
                  <a:gd name="T0" fmla="*/ 480 w 480"/>
                  <a:gd name="T1" fmla="*/ 0 h 96"/>
                  <a:gd name="T2" fmla="*/ 0 w 480"/>
                  <a:gd name="T3" fmla="*/ 0 h 96"/>
                  <a:gd name="T4" fmla="*/ 0 w 480"/>
                  <a:gd name="T5" fmla="*/ 96 h 96"/>
                  <a:gd name="T6" fmla="*/ 480 w 480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96"/>
                  <a:gd name="T14" fmla="*/ 480 w 480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96">
                    <a:moveTo>
                      <a:pt x="480" y="0"/>
                    </a:moveTo>
                    <a:lnTo>
                      <a:pt x="0" y="0"/>
                    </a:lnTo>
                    <a:lnTo>
                      <a:pt x="0" y="96"/>
                    </a:lnTo>
                    <a:lnTo>
                      <a:pt x="480" y="96"/>
                    </a:lnTo>
                  </a:path>
                </a:pathLst>
              </a:cu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195"/>
              <p:cNvSpPr>
                <a:spLocks noChangeShapeType="1"/>
              </p:cNvSpPr>
              <p:nvPr/>
            </p:nvSpPr>
            <p:spPr bwMode="auto">
              <a:xfrm>
                <a:off x="2736" y="3441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A02C98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Group 196"/>
            <p:cNvGrpSpPr>
              <a:grpSpLocks/>
            </p:cNvGrpSpPr>
            <p:nvPr/>
          </p:nvGrpSpPr>
          <p:grpSpPr bwMode="auto">
            <a:xfrm>
              <a:off x="3341" y="3360"/>
              <a:ext cx="220" cy="280"/>
              <a:chOff x="3341" y="3360"/>
              <a:chExt cx="220" cy="280"/>
            </a:xfrm>
          </p:grpSpPr>
          <p:sp>
            <p:nvSpPr>
              <p:cNvPr id="43" name="Oval 197"/>
              <p:cNvSpPr>
                <a:spLocks noChangeArrowheads="1"/>
              </p:cNvSpPr>
              <p:nvPr/>
            </p:nvSpPr>
            <p:spPr bwMode="auto">
              <a:xfrm flipH="1">
                <a:off x="3456" y="3360"/>
                <a:ext cx="79" cy="79"/>
              </a:xfrm>
              <a:prstGeom prst="ellipse">
                <a:avLst/>
              </a:pr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4" name="Line 198"/>
              <p:cNvSpPr>
                <a:spLocks noChangeShapeType="1"/>
              </p:cNvSpPr>
              <p:nvPr/>
            </p:nvSpPr>
            <p:spPr bwMode="auto">
              <a:xfrm rot="2700000">
                <a:off x="3341" y="3398"/>
                <a:ext cx="220" cy="220"/>
              </a:xfrm>
              <a:prstGeom prst="line">
                <a:avLst/>
              </a:pr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Oval 199"/>
              <p:cNvSpPr>
                <a:spLocks noChangeArrowheads="1"/>
              </p:cNvSpPr>
              <p:nvPr/>
            </p:nvSpPr>
            <p:spPr bwMode="auto">
              <a:xfrm>
                <a:off x="3465" y="3561"/>
                <a:ext cx="79" cy="79"/>
              </a:xfrm>
              <a:prstGeom prst="ellipse">
                <a:avLst/>
              </a:pr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39" name="Group 200"/>
            <p:cNvGrpSpPr>
              <a:grpSpLocks/>
            </p:cNvGrpSpPr>
            <p:nvPr/>
          </p:nvGrpSpPr>
          <p:grpSpPr bwMode="auto">
            <a:xfrm flipH="1">
              <a:off x="3680" y="3357"/>
              <a:ext cx="220" cy="280"/>
              <a:chOff x="3341" y="3360"/>
              <a:chExt cx="220" cy="280"/>
            </a:xfrm>
          </p:grpSpPr>
          <p:sp>
            <p:nvSpPr>
              <p:cNvPr id="40" name="Oval 201"/>
              <p:cNvSpPr>
                <a:spLocks noChangeArrowheads="1"/>
              </p:cNvSpPr>
              <p:nvPr/>
            </p:nvSpPr>
            <p:spPr bwMode="auto">
              <a:xfrm flipH="1">
                <a:off x="3456" y="3360"/>
                <a:ext cx="79" cy="79"/>
              </a:xfrm>
              <a:prstGeom prst="ellipse">
                <a:avLst/>
              </a:pr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1" name="Line 202"/>
              <p:cNvSpPr>
                <a:spLocks noChangeShapeType="1"/>
              </p:cNvSpPr>
              <p:nvPr/>
            </p:nvSpPr>
            <p:spPr bwMode="auto">
              <a:xfrm rot="2700000">
                <a:off x="3341" y="3398"/>
                <a:ext cx="220" cy="220"/>
              </a:xfrm>
              <a:prstGeom prst="line">
                <a:avLst/>
              </a:pr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Oval 203"/>
              <p:cNvSpPr>
                <a:spLocks noChangeArrowheads="1"/>
              </p:cNvSpPr>
              <p:nvPr/>
            </p:nvSpPr>
            <p:spPr bwMode="auto">
              <a:xfrm>
                <a:off x="3465" y="3561"/>
                <a:ext cx="79" cy="79"/>
              </a:xfrm>
              <a:prstGeom prst="ellipse">
                <a:avLst/>
              </a:prstGeom>
              <a:noFill/>
              <a:ln w="22225">
                <a:solidFill>
                  <a:srgbClr val="A02C9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5196260" y="2515776"/>
            <a:ext cx="3143250" cy="3771900"/>
            <a:chOff x="5196260" y="2515776"/>
            <a:chExt cx="3143250" cy="3771900"/>
          </a:xfrm>
        </p:grpSpPr>
        <p:pic>
          <p:nvPicPr>
            <p:cNvPr id="63" name="Picture 78" descr="3-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37" r="7205"/>
            <a:stretch>
              <a:fillRect/>
            </a:stretch>
          </p:blipFill>
          <p:spPr bwMode="auto">
            <a:xfrm>
              <a:off x="5196260" y="2515776"/>
              <a:ext cx="3143250" cy="377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4" name="Group 79"/>
            <p:cNvGrpSpPr>
              <a:grpSpLocks/>
            </p:cNvGrpSpPr>
            <p:nvPr/>
          </p:nvGrpSpPr>
          <p:grpSpPr bwMode="auto">
            <a:xfrm>
              <a:off x="5847135" y="3990563"/>
              <a:ext cx="1620838" cy="431800"/>
              <a:chOff x="1035" y="1770"/>
              <a:chExt cx="1021" cy="272"/>
            </a:xfrm>
          </p:grpSpPr>
          <p:grpSp>
            <p:nvGrpSpPr>
              <p:cNvPr id="65" name="Group 80"/>
              <p:cNvGrpSpPr>
                <a:grpSpLocks/>
              </p:cNvGrpSpPr>
              <p:nvPr/>
            </p:nvGrpSpPr>
            <p:grpSpPr bwMode="auto">
              <a:xfrm>
                <a:off x="1572" y="1770"/>
                <a:ext cx="484" cy="233"/>
                <a:chOff x="1833" y="2361"/>
                <a:chExt cx="484" cy="233"/>
              </a:xfrm>
            </p:grpSpPr>
            <p:sp>
              <p:nvSpPr>
                <p:cNvPr id="69" name="Line 81"/>
                <p:cNvSpPr>
                  <a:spLocks noChangeShapeType="1"/>
                </p:cNvSpPr>
                <p:nvPr/>
              </p:nvSpPr>
              <p:spPr bwMode="auto">
                <a:xfrm>
                  <a:off x="1833" y="2364"/>
                  <a:ext cx="384" cy="0"/>
                </a:xfrm>
                <a:prstGeom prst="line">
                  <a:avLst/>
                </a:prstGeom>
                <a:noFill/>
                <a:ln w="28575" cap="sq">
                  <a:solidFill>
                    <a:srgbClr val="FF6600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2016" y="2361"/>
                  <a:ext cx="301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8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r>
                    <a:rPr kumimoji="0" lang="en-US" altLang="zh-CN" sz="1800" b="1" i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Ay</a:t>
                  </a:r>
                </a:p>
              </p:txBody>
            </p:sp>
          </p:grpSp>
          <p:grpSp>
            <p:nvGrpSpPr>
              <p:cNvPr id="66" name="Group 83"/>
              <p:cNvGrpSpPr>
                <a:grpSpLocks/>
              </p:cNvGrpSpPr>
              <p:nvPr/>
            </p:nvGrpSpPr>
            <p:grpSpPr bwMode="auto">
              <a:xfrm>
                <a:off x="1035" y="1779"/>
                <a:ext cx="528" cy="263"/>
                <a:chOff x="1296" y="2370"/>
                <a:chExt cx="528" cy="263"/>
              </a:xfrm>
            </p:grpSpPr>
            <p:sp>
              <p:nvSpPr>
                <p:cNvPr id="67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536" y="2370"/>
                  <a:ext cx="288" cy="144"/>
                </a:xfrm>
                <a:prstGeom prst="line">
                  <a:avLst/>
                </a:prstGeom>
                <a:noFill/>
                <a:ln w="28575" cap="sq">
                  <a:solidFill>
                    <a:srgbClr val="FF6600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296" y="2400"/>
                  <a:ext cx="31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8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r>
                    <a:rPr kumimoji="0" lang="en-US" altLang="zh-CN" sz="1800" b="1" i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Ax</a:t>
                  </a:r>
                </a:p>
              </p:txBody>
            </p:sp>
          </p:grpSp>
        </p:grpSp>
        <p:grpSp>
          <p:nvGrpSpPr>
            <p:cNvPr id="71" name="Group 86"/>
            <p:cNvGrpSpPr>
              <a:grpSpLocks/>
            </p:cNvGrpSpPr>
            <p:nvPr/>
          </p:nvGrpSpPr>
          <p:grpSpPr bwMode="auto">
            <a:xfrm>
              <a:off x="5839198" y="4658901"/>
              <a:ext cx="1695450" cy="1333500"/>
              <a:chOff x="1008" y="2066"/>
              <a:chExt cx="1068" cy="840"/>
            </a:xfrm>
          </p:grpSpPr>
          <p:grpSp>
            <p:nvGrpSpPr>
              <p:cNvPr id="72" name="Group 87"/>
              <p:cNvGrpSpPr>
                <a:grpSpLocks/>
              </p:cNvGrpSpPr>
              <p:nvPr/>
            </p:nvGrpSpPr>
            <p:grpSpPr bwMode="auto">
              <a:xfrm>
                <a:off x="1008" y="2592"/>
                <a:ext cx="555" cy="233"/>
                <a:chOff x="1269" y="3183"/>
                <a:chExt cx="555" cy="233"/>
              </a:xfrm>
            </p:grpSpPr>
            <p:sp>
              <p:nvSpPr>
                <p:cNvPr id="79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1536" y="3264"/>
                  <a:ext cx="288" cy="144"/>
                </a:xfrm>
                <a:prstGeom prst="line">
                  <a:avLst/>
                </a:prstGeom>
                <a:noFill/>
                <a:ln w="28575" cap="sq">
                  <a:solidFill>
                    <a:srgbClr val="FF6600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1269" y="3183"/>
                  <a:ext cx="32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8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r>
                    <a:rPr kumimoji="0" lang="en-US" altLang="zh-CN" sz="1800" b="1" i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Cx</a:t>
                  </a:r>
                </a:p>
              </p:txBody>
            </p:sp>
          </p:grpSp>
          <p:grpSp>
            <p:nvGrpSpPr>
              <p:cNvPr id="73" name="Group 90"/>
              <p:cNvGrpSpPr>
                <a:grpSpLocks/>
              </p:cNvGrpSpPr>
              <p:nvPr/>
            </p:nvGrpSpPr>
            <p:grpSpPr bwMode="auto">
              <a:xfrm>
                <a:off x="1278" y="2066"/>
                <a:ext cx="315" cy="607"/>
                <a:chOff x="1539" y="2657"/>
                <a:chExt cx="315" cy="607"/>
              </a:xfrm>
            </p:grpSpPr>
            <p:sp>
              <p:nvSpPr>
                <p:cNvPr id="77" name="Line 91"/>
                <p:cNvSpPr>
                  <a:spLocks noChangeShapeType="1"/>
                </p:cNvSpPr>
                <p:nvPr/>
              </p:nvSpPr>
              <p:spPr bwMode="auto">
                <a:xfrm rot="-5400000">
                  <a:off x="1650" y="3072"/>
                  <a:ext cx="384" cy="0"/>
                </a:xfrm>
                <a:prstGeom prst="line">
                  <a:avLst/>
                </a:prstGeom>
                <a:noFill/>
                <a:ln w="28575" cap="sq">
                  <a:solidFill>
                    <a:srgbClr val="FF6600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539" y="2657"/>
                  <a:ext cx="315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8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r>
                    <a:rPr kumimoji="0" lang="en-US" altLang="zh-CN" sz="1800" b="1" i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Cz</a:t>
                  </a:r>
                </a:p>
              </p:txBody>
            </p:sp>
          </p:grpSp>
          <p:grpSp>
            <p:nvGrpSpPr>
              <p:cNvPr id="74" name="Group 93"/>
              <p:cNvGrpSpPr>
                <a:grpSpLocks/>
              </p:cNvGrpSpPr>
              <p:nvPr/>
            </p:nvGrpSpPr>
            <p:grpSpPr bwMode="auto">
              <a:xfrm>
                <a:off x="1563" y="2673"/>
                <a:ext cx="513" cy="233"/>
                <a:chOff x="1824" y="3264"/>
                <a:chExt cx="513" cy="233"/>
              </a:xfrm>
            </p:grpSpPr>
            <p:sp>
              <p:nvSpPr>
                <p:cNvPr id="75" name="Line 94"/>
                <p:cNvSpPr>
                  <a:spLocks noChangeShapeType="1"/>
                </p:cNvSpPr>
                <p:nvPr/>
              </p:nvSpPr>
              <p:spPr bwMode="auto">
                <a:xfrm>
                  <a:off x="1824" y="3264"/>
                  <a:ext cx="384" cy="0"/>
                </a:xfrm>
                <a:prstGeom prst="line">
                  <a:avLst/>
                </a:prstGeom>
                <a:noFill/>
                <a:ln w="28575" cap="sq">
                  <a:solidFill>
                    <a:srgbClr val="FF6600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2016" y="3264"/>
                  <a:ext cx="321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8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r>
                    <a:rPr kumimoji="0" lang="en-US" altLang="zh-CN" sz="1800" b="1" i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Cy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40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2766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685141" y="1030012"/>
            <a:ext cx="2970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光滑球形铰链约束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57725" y="490134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pic>
        <p:nvPicPr>
          <p:cNvPr id="3" name="变速杆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141" y="1556792"/>
            <a:ext cx="3552395" cy="2664296"/>
          </a:xfrm>
          <a:prstGeom prst="rect">
            <a:avLst/>
          </a:prstGeom>
        </p:spPr>
      </p:pic>
      <p:pic>
        <p:nvPicPr>
          <p:cNvPr id="4" name="球铰链约束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72000" y="620688"/>
            <a:ext cx="3473664" cy="26052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27984" y="3463958"/>
            <a:ext cx="3889675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约束结构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由一物体的球部嵌入另一物体的球窝构成。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34869" y="4581128"/>
            <a:ext cx="518457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约束特性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允许物体绕球心转动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不能沿径向移动。 </a:t>
            </a:r>
          </a:p>
          <a:p>
            <a:pPr eaLnBrk="1" hangingPunct="1">
              <a:spcBef>
                <a:spcPts val="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通过球心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方向不能预先确定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通常用三个正交分力来表示。</a:t>
            </a: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355788"/>
              </p:ext>
            </p:extLst>
          </p:nvPr>
        </p:nvGraphicFramePr>
        <p:xfrm>
          <a:off x="5562870" y="4279366"/>
          <a:ext cx="2505618" cy="2173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1865222" imgH="1618217" progId="Photoshop.Image.8">
                  <p:embed/>
                </p:oleObj>
              </mc:Choice>
              <mc:Fallback>
                <p:oleObj name="Image" r:id="rId8" imgW="1865222" imgH="1618217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870" y="4279366"/>
                        <a:ext cx="2505618" cy="2173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3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44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5" grpId="0"/>
      <p:bldP spid="10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ChangeArrowheads="1"/>
          </p:cNvSpPr>
          <p:nvPr/>
        </p:nvSpPr>
        <p:spPr bwMode="auto">
          <a:xfrm>
            <a:off x="3374101" y="744122"/>
            <a:ext cx="29722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链杆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二力杆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约束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644296" y="1264525"/>
            <a:ext cx="7351607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仅有两处以铰链（性质同铰链）和其他物体相连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marL="0" indent="0" eaLnBrk="1" hangingPunct="1">
              <a:spcBef>
                <a:spcPts val="6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不计自重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marL="0" indent="0" eaLnBrk="1" hangingPunct="1">
              <a:spcBef>
                <a:spcPts val="6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不再受其它任何力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力偶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作用的直杆或曲杆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912885" y="2676889"/>
            <a:ext cx="56502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沿杆端连线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等值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反向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共线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33510" y="3380803"/>
            <a:ext cx="2330450" cy="1873250"/>
            <a:chOff x="1357" y="595"/>
            <a:chExt cx="1468" cy="1180"/>
          </a:xfrm>
        </p:grpSpPr>
        <p:sp>
          <p:nvSpPr>
            <p:cNvPr id="35905" name="Rectangle 10"/>
            <p:cNvSpPr>
              <a:spLocks noChangeArrowheads="1"/>
            </p:cNvSpPr>
            <p:nvPr/>
          </p:nvSpPr>
          <p:spPr bwMode="auto">
            <a:xfrm>
              <a:off x="1367" y="595"/>
              <a:ext cx="84" cy="117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6" name="Rectangle 11"/>
            <p:cNvSpPr>
              <a:spLocks noChangeArrowheads="1"/>
            </p:cNvSpPr>
            <p:nvPr/>
          </p:nvSpPr>
          <p:spPr bwMode="auto">
            <a:xfrm>
              <a:off x="1481" y="936"/>
              <a:ext cx="1159" cy="70"/>
            </a:xfrm>
            <a:prstGeom prst="rect">
              <a:avLst/>
            </a:prstGeom>
            <a:solidFill>
              <a:srgbClr val="C0C0C0"/>
            </a:solidFill>
            <a:ln w="158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7" name="Oval 12"/>
            <p:cNvSpPr>
              <a:spLocks noChangeArrowheads="1"/>
            </p:cNvSpPr>
            <p:nvPr/>
          </p:nvSpPr>
          <p:spPr bwMode="auto">
            <a:xfrm>
              <a:off x="1449" y="939"/>
              <a:ext cx="72" cy="7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8" name="Rectangle 13"/>
            <p:cNvSpPr>
              <a:spLocks noChangeArrowheads="1"/>
            </p:cNvSpPr>
            <p:nvPr/>
          </p:nvSpPr>
          <p:spPr bwMode="auto">
            <a:xfrm>
              <a:off x="2305" y="805"/>
              <a:ext cx="336" cy="1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9" name="Line 14"/>
            <p:cNvSpPr>
              <a:spLocks noChangeShapeType="1"/>
            </p:cNvSpPr>
            <p:nvPr/>
          </p:nvSpPr>
          <p:spPr bwMode="auto">
            <a:xfrm>
              <a:off x="1449" y="607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0" name="Line 15"/>
            <p:cNvSpPr>
              <a:spLocks noChangeShapeType="1"/>
            </p:cNvSpPr>
            <p:nvPr/>
          </p:nvSpPr>
          <p:spPr bwMode="auto">
            <a:xfrm flipH="1">
              <a:off x="1361" y="671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1" name="Line 16"/>
            <p:cNvSpPr>
              <a:spLocks noChangeShapeType="1"/>
            </p:cNvSpPr>
            <p:nvPr/>
          </p:nvSpPr>
          <p:spPr bwMode="auto">
            <a:xfrm flipH="1">
              <a:off x="1367" y="779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2" name="Line 17"/>
            <p:cNvSpPr>
              <a:spLocks noChangeShapeType="1"/>
            </p:cNvSpPr>
            <p:nvPr/>
          </p:nvSpPr>
          <p:spPr bwMode="auto">
            <a:xfrm flipH="1">
              <a:off x="1361" y="893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3" name="Line 18"/>
            <p:cNvSpPr>
              <a:spLocks noChangeShapeType="1"/>
            </p:cNvSpPr>
            <p:nvPr/>
          </p:nvSpPr>
          <p:spPr bwMode="auto">
            <a:xfrm flipH="1">
              <a:off x="1367" y="995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4" name="Line 19"/>
            <p:cNvSpPr>
              <a:spLocks noChangeShapeType="1"/>
            </p:cNvSpPr>
            <p:nvPr/>
          </p:nvSpPr>
          <p:spPr bwMode="auto">
            <a:xfrm flipH="1">
              <a:off x="1367" y="1103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5" name="Line 20"/>
            <p:cNvSpPr>
              <a:spLocks noChangeShapeType="1"/>
            </p:cNvSpPr>
            <p:nvPr/>
          </p:nvSpPr>
          <p:spPr bwMode="auto">
            <a:xfrm flipH="1">
              <a:off x="1361" y="1211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6" name="Line 21"/>
            <p:cNvSpPr>
              <a:spLocks noChangeShapeType="1"/>
            </p:cNvSpPr>
            <p:nvPr/>
          </p:nvSpPr>
          <p:spPr bwMode="auto">
            <a:xfrm flipH="1">
              <a:off x="1361" y="1301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7" name="Line 22"/>
            <p:cNvSpPr>
              <a:spLocks noChangeShapeType="1"/>
            </p:cNvSpPr>
            <p:nvPr/>
          </p:nvSpPr>
          <p:spPr bwMode="auto">
            <a:xfrm flipH="1">
              <a:off x="1363" y="1646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8" name="Line 23"/>
            <p:cNvSpPr>
              <a:spLocks noChangeShapeType="1"/>
            </p:cNvSpPr>
            <p:nvPr/>
          </p:nvSpPr>
          <p:spPr bwMode="auto">
            <a:xfrm flipH="1">
              <a:off x="1357" y="1568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9" name="Line 24"/>
            <p:cNvSpPr>
              <a:spLocks noChangeShapeType="1"/>
            </p:cNvSpPr>
            <p:nvPr/>
          </p:nvSpPr>
          <p:spPr bwMode="auto">
            <a:xfrm flipH="1">
              <a:off x="1357" y="1484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0" name="Line 25"/>
            <p:cNvSpPr>
              <a:spLocks noChangeShapeType="1"/>
            </p:cNvSpPr>
            <p:nvPr/>
          </p:nvSpPr>
          <p:spPr bwMode="auto">
            <a:xfrm flipH="1">
              <a:off x="1361" y="1391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5921" name="Group 26"/>
            <p:cNvGrpSpPr>
              <a:grpSpLocks/>
            </p:cNvGrpSpPr>
            <p:nvPr/>
          </p:nvGrpSpPr>
          <p:grpSpPr bwMode="auto">
            <a:xfrm>
              <a:off x="1419" y="983"/>
              <a:ext cx="776" cy="450"/>
              <a:chOff x="1419" y="983"/>
              <a:chExt cx="776" cy="450"/>
            </a:xfrm>
          </p:grpSpPr>
          <p:sp>
            <p:nvSpPr>
              <p:cNvPr id="35926" name="Rectangle 27"/>
              <p:cNvSpPr>
                <a:spLocks noChangeArrowheads="1"/>
              </p:cNvSpPr>
              <p:nvPr/>
            </p:nvSpPr>
            <p:spPr bwMode="auto">
              <a:xfrm rot="-1800000">
                <a:off x="1419" y="1186"/>
                <a:ext cx="776" cy="45"/>
              </a:xfrm>
              <a:prstGeom prst="rect">
                <a:avLst/>
              </a:prstGeom>
              <a:solidFill>
                <a:srgbClr val="FF9900"/>
              </a:solidFill>
              <a:ln w="158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927" name="Oval 28"/>
              <p:cNvSpPr>
                <a:spLocks noChangeArrowheads="1"/>
              </p:cNvSpPr>
              <p:nvPr/>
            </p:nvSpPr>
            <p:spPr bwMode="auto">
              <a:xfrm rot="-1800000">
                <a:off x="2122" y="983"/>
                <a:ext cx="61" cy="57"/>
              </a:xfrm>
              <a:prstGeom prst="ellipse">
                <a:avLst/>
              </a:prstGeom>
              <a:solidFill>
                <a:schemeClr val="bg1"/>
              </a:solidFill>
              <a:ln w="158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928" name="Oval 29"/>
              <p:cNvSpPr>
                <a:spLocks noChangeArrowheads="1"/>
              </p:cNvSpPr>
              <p:nvPr/>
            </p:nvSpPr>
            <p:spPr bwMode="auto">
              <a:xfrm rot="-1800000">
                <a:off x="1445" y="1376"/>
                <a:ext cx="61" cy="57"/>
              </a:xfrm>
              <a:prstGeom prst="ellipse">
                <a:avLst/>
              </a:prstGeom>
              <a:solidFill>
                <a:schemeClr val="bg1"/>
              </a:solidFill>
              <a:ln w="158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5922" name="Text Box 30"/>
            <p:cNvSpPr txBox="1">
              <a:spLocks noChangeArrowheads="1"/>
            </p:cNvSpPr>
            <p:nvPr/>
          </p:nvSpPr>
          <p:spPr bwMode="auto">
            <a:xfrm>
              <a:off x="2623" y="851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35923" name="Text Box 31"/>
            <p:cNvSpPr txBox="1">
              <a:spLocks noChangeArrowheads="1"/>
            </p:cNvSpPr>
            <p:nvPr/>
          </p:nvSpPr>
          <p:spPr bwMode="auto">
            <a:xfrm>
              <a:off x="1436" y="759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A</a:t>
              </a:r>
            </a:p>
          </p:txBody>
        </p:sp>
        <p:sp>
          <p:nvSpPr>
            <p:cNvPr id="35924" name="Text Box 32"/>
            <p:cNvSpPr txBox="1">
              <a:spLocks noChangeArrowheads="1"/>
            </p:cNvSpPr>
            <p:nvPr/>
          </p:nvSpPr>
          <p:spPr bwMode="auto">
            <a:xfrm>
              <a:off x="2116" y="974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C</a:t>
              </a:r>
            </a:p>
          </p:txBody>
        </p:sp>
        <p:sp>
          <p:nvSpPr>
            <p:cNvPr id="35925" name="Text Box 33"/>
            <p:cNvSpPr txBox="1">
              <a:spLocks noChangeArrowheads="1"/>
            </p:cNvSpPr>
            <p:nvPr/>
          </p:nvSpPr>
          <p:spPr bwMode="auto">
            <a:xfrm>
              <a:off x="1427" y="1400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D</a:t>
              </a:r>
            </a:p>
          </p:txBody>
        </p:sp>
      </p:grpSp>
      <p:sp>
        <p:nvSpPr>
          <p:cNvPr id="53282" name="Line 34"/>
          <p:cNvSpPr>
            <a:spLocks noChangeShapeType="1"/>
          </p:cNvSpPr>
          <p:nvPr/>
        </p:nvSpPr>
        <p:spPr bwMode="auto">
          <a:xfrm flipV="1">
            <a:off x="977972" y="4099941"/>
            <a:ext cx="2786063" cy="16684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1081160" y="5452491"/>
            <a:ext cx="715962" cy="336550"/>
            <a:chOff x="886" y="2030"/>
            <a:chExt cx="451" cy="212"/>
          </a:xfrm>
        </p:grpSpPr>
        <p:sp>
          <p:nvSpPr>
            <p:cNvPr id="35903" name="AutoShape 36"/>
            <p:cNvSpPr>
              <a:spLocks noChangeArrowheads="1"/>
            </p:cNvSpPr>
            <p:nvPr/>
          </p:nvSpPr>
          <p:spPr bwMode="auto">
            <a:xfrm rot="3600000">
              <a:off x="1074" y="1842"/>
              <a:ext cx="46" cy="421"/>
            </a:xfrm>
            <a:prstGeom prst="upArrow">
              <a:avLst>
                <a:gd name="adj1" fmla="val 50000"/>
                <a:gd name="adj2" fmla="val 22880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4" name="Text Box 37"/>
            <p:cNvSpPr txBox="1">
              <a:spLocks noChangeArrowheads="1"/>
            </p:cNvSpPr>
            <p:nvPr/>
          </p:nvSpPr>
          <p:spPr bwMode="auto">
            <a:xfrm>
              <a:off x="1016" y="2030"/>
              <a:ext cx="3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i="1" dirty="0"/>
                <a:t>F</a:t>
              </a:r>
              <a:r>
                <a:rPr lang="en-US" altLang="zh-CN" sz="1400" b="1" i="1" baseline="-25000" dirty="0"/>
                <a:t>D</a:t>
              </a: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2832172" y="4296791"/>
            <a:ext cx="860425" cy="336550"/>
            <a:chOff x="1996" y="1303"/>
            <a:chExt cx="542" cy="212"/>
          </a:xfrm>
        </p:grpSpPr>
        <p:sp>
          <p:nvSpPr>
            <p:cNvPr id="35901" name="AutoShape 39"/>
            <p:cNvSpPr>
              <a:spLocks noChangeArrowheads="1"/>
            </p:cNvSpPr>
            <p:nvPr/>
          </p:nvSpPr>
          <p:spPr bwMode="auto">
            <a:xfrm rot="-7200000">
              <a:off x="2184" y="1187"/>
              <a:ext cx="46" cy="421"/>
            </a:xfrm>
            <a:prstGeom prst="upArrow">
              <a:avLst>
                <a:gd name="adj1" fmla="val 50000"/>
                <a:gd name="adj2" fmla="val 22880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902" name="Text Box 40"/>
            <p:cNvSpPr txBox="1">
              <a:spLocks noChangeArrowheads="1"/>
            </p:cNvSpPr>
            <p:nvPr/>
          </p:nvSpPr>
          <p:spPr bwMode="auto">
            <a:xfrm>
              <a:off x="2217" y="1303"/>
              <a:ext cx="3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i="1" dirty="0"/>
                <a:t>F</a:t>
              </a:r>
              <a:r>
                <a:rPr lang="en-US" altLang="zh-CN" sz="1400" b="1" i="1" baseline="-25000" dirty="0"/>
                <a:t>C</a:t>
              </a:r>
            </a:p>
          </p:txBody>
        </p:sp>
      </p:grp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1657422" y="4611116"/>
            <a:ext cx="1427163" cy="969962"/>
            <a:chOff x="1395" y="1691"/>
            <a:chExt cx="899" cy="611"/>
          </a:xfrm>
        </p:grpSpPr>
        <p:grpSp>
          <p:nvGrpSpPr>
            <p:cNvPr id="35895" name="Group 42"/>
            <p:cNvGrpSpPr>
              <a:grpSpLocks/>
            </p:cNvGrpSpPr>
            <p:nvPr/>
          </p:nvGrpSpPr>
          <p:grpSpPr bwMode="auto">
            <a:xfrm>
              <a:off x="1395" y="1691"/>
              <a:ext cx="776" cy="450"/>
              <a:chOff x="1419" y="983"/>
              <a:chExt cx="776" cy="450"/>
            </a:xfrm>
          </p:grpSpPr>
          <p:sp>
            <p:nvSpPr>
              <p:cNvPr id="35898" name="Rectangle 43"/>
              <p:cNvSpPr>
                <a:spLocks noChangeArrowheads="1"/>
              </p:cNvSpPr>
              <p:nvPr/>
            </p:nvSpPr>
            <p:spPr bwMode="auto">
              <a:xfrm rot="-1800000">
                <a:off x="1419" y="1186"/>
                <a:ext cx="776" cy="45"/>
              </a:xfrm>
              <a:prstGeom prst="rect">
                <a:avLst/>
              </a:prstGeom>
              <a:solidFill>
                <a:srgbClr val="FF9900"/>
              </a:solidFill>
              <a:ln w="158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899" name="Oval 44"/>
              <p:cNvSpPr>
                <a:spLocks noChangeArrowheads="1"/>
              </p:cNvSpPr>
              <p:nvPr/>
            </p:nvSpPr>
            <p:spPr bwMode="auto">
              <a:xfrm rot="-1800000">
                <a:off x="2122" y="983"/>
                <a:ext cx="61" cy="57"/>
              </a:xfrm>
              <a:prstGeom prst="ellipse">
                <a:avLst/>
              </a:prstGeom>
              <a:solidFill>
                <a:schemeClr val="bg1"/>
              </a:solidFill>
              <a:ln w="158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900" name="Oval 45"/>
              <p:cNvSpPr>
                <a:spLocks noChangeArrowheads="1"/>
              </p:cNvSpPr>
              <p:nvPr/>
            </p:nvSpPr>
            <p:spPr bwMode="auto">
              <a:xfrm rot="-1800000">
                <a:off x="1445" y="1376"/>
                <a:ext cx="61" cy="57"/>
              </a:xfrm>
              <a:prstGeom prst="ellipse">
                <a:avLst/>
              </a:prstGeom>
              <a:solidFill>
                <a:schemeClr val="bg1"/>
              </a:solidFill>
              <a:ln w="158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5896" name="Text Box 46"/>
            <p:cNvSpPr txBox="1">
              <a:spLocks noChangeArrowheads="1"/>
            </p:cNvSpPr>
            <p:nvPr/>
          </p:nvSpPr>
          <p:spPr bwMode="auto">
            <a:xfrm>
              <a:off x="2092" y="1692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C</a:t>
              </a:r>
            </a:p>
          </p:txBody>
        </p:sp>
        <p:sp>
          <p:nvSpPr>
            <p:cNvPr id="35897" name="Text Box 47"/>
            <p:cNvSpPr txBox="1">
              <a:spLocks noChangeArrowheads="1"/>
            </p:cNvSpPr>
            <p:nvPr/>
          </p:nvSpPr>
          <p:spPr bwMode="auto">
            <a:xfrm>
              <a:off x="1412" y="2090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D</a:t>
              </a:r>
            </a:p>
          </p:txBody>
        </p:sp>
      </p:grpSp>
      <p:grpSp>
        <p:nvGrpSpPr>
          <p:cNvPr id="8" name="Group 48"/>
          <p:cNvGrpSpPr>
            <a:grpSpLocks/>
          </p:cNvGrpSpPr>
          <p:nvPr/>
        </p:nvGrpSpPr>
        <p:grpSpPr bwMode="auto">
          <a:xfrm>
            <a:off x="4118212" y="3338525"/>
            <a:ext cx="2311400" cy="1873250"/>
            <a:chOff x="3119" y="607"/>
            <a:chExt cx="1456" cy="1180"/>
          </a:xfrm>
        </p:grpSpPr>
        <p:sp>
          <p:nvSpPr>
            <p:cNvPr id="35868" name="Rectangle 49"/>
            <p:cNvSpPr>
              <a:spLocks noChangeArrowheads="1"/>
            </p:cNvSpPr>
            <p:nvPr/>
          </p:nvSpPr>
          <p:spPr bwMode="auto">
            <a:xfrm>
              <a:off x="3125" y="607"/>
              <a:ext cx="84" cy="117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69" name="Rectangle 50"/>
            <p:cNvSpPr>
              <a:spLocks noChangeArrowheads="1"/>
            </p:cNvSpPr>
            <p:nvPr/>
          </p:nvSpPr>
          <p:spPr bwMode="auto">
            <a:xfrm>
              <a:off x="3239" y="948"/>
              <a:ext cx="1159" cy="70"/>
            </a:xfrm>
            <a:prstGeom prst="rect">
              <a:avLst/>
            </a:prstGeom>
            <a:solidFill>
              <a:srgbClr val="C0C0C0"/>
            </a:solidFill>
            <a:ln w="158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0" name="Oval 51"/>
            <p:cNvSpPr>
              <a:spLocks noChangeArrowheads="1"/>
            </p:cNvSpPr>
            <p:nvPr/>
          </p:nvSpPr>
          <p:spPr bwMode="auto">
            <a:xfrm>
              <a:off x="3207" y="951"/>
              <a:ext cx="72" cy="7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1" name="Rectangle 52"/>
            <p:cNvSpPr>
              <a:spLocks noChangeArrowheads="1"/>
            </p:cNvSpPr>
            <p:nvPr/>
          </p:nvSpPr>
          <p:spPr bwMode="auto">
            <a:xfrm>
              <a:off x="4064" y="827"/>
              <a:ext cx="336" cy="1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72" name="Line 53"/>
            <p:cNvSpPr>
              <a:spLocks noChangeShapeType="1"/>
            </p:cNvSpPr>
            <p:nvPr/>
          </p:nvSpPr>
          <p:spPr bwMode="auto">
            <a:xfrm>
              <a:off x="3207" y="619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3" name="Line 54"/>
            <p:cNvSpPr>
              <a:spLocks noChangeShapeType="1"/>
            </p:cNvSpPr>
            <p:nvPr/>
          </p:nvSpPr>
          <p:spPr bwMode="auto">
            <a:xfrm flipH="1">
              <a:off x="3119" y="683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4" name="Line 55"/>
            <p:cNvSpPr>
              <a:spLocks noChangeShapeType="1"/>
            </p:cNvSpPr>
            <p:nvPr/>
          </p:nvSpPr>
          <p:spPr bwMode="auto">
            <a:xfrm flipH="1">
              <a:off x="3125" y="791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5" name="Line 56"/>
            <p:cNvSpPr>
              <a:spLocks noChangeShapeType="1"/>
            </p:cNvSpPr>
            <p:nvPr/>
          </p:nvSpPr>
          <p:spPr bwMode="auto">
            <a:xfrm flipH="1">
              <a:off x="3119" y="905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6" name="Line 57"/>
            <p:cNvSpPr>
              <a:spLocks noChangeShapeType="1"/>
            </p:cNvSpPr>
            <p:nvPr/>
          </p:nvSpPr>
          <p:spPr bwMode="auto">
            <a:xfrm flipH="1">
              <a:off x="3125" y="1007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7" name="Line 58"/>
            <p:cNvSpPr>
              <a:spLocks noChangeShapeType="1"/>
            </p:cNvSpPr>
            <p:nvPr/>
          </p:nvSpPr>
          <p:spPr bwMode="auto">
            <a:xfrm flipH="1">
              <a:off x="3125" y="1115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8" name="Line 59"/>
            <p:cNvSpPr>
              <a:spLocks noChangeShapeType="1"/>
            </p:cNvSpPr>
            <p:nvPr/>
          </p:nvSpPr>
          <p:spPr bwMode="auto">
            <a:xfrm flipH="1">
              <a:off x="3119" y="1223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9" name="Line 60"/>
            <p:cNvSpPr>
              <a:spLocks noChangeShapeType="1"/>
            </p:cNvSpPr>
            <p:nvPr/>
          </p:nvSpPr>
          <p:spPr bwMode="auto">
            <a:xfrm flipH="1">
              <a:off x="3119" y="1313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0" name="Line 61"/>
            <p:cNvSpPr>
              <a:spLocks noChangeShapeType="1"/>
            </p:cNvSpPr>
            <p:nvPr/>
          </p:nvSpPr>
          <p:spPr bwMode="auto">
            <a:xfrm flipH="1">
              <a:off x="3131" y="1649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1" name="Line 62"/>
            <p:cNvSpPr>
              <a:spLocks noChangeShapeType="1"/>
            </p:cNvSpPr>
            <p:nvPr/>
          </p:nvSpPr>
          <p:spPr bwMode="auto">
            <a:xfrm flipH="1">
              <a:off x="3125" y="1571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2" name="Line 63"/>
            <p:cNvSpPr>
              <a:spLocks noChangeShapeType="1"/>
            </p:cNvSpPr>
            <p:nvPr/>
          </p:nvSpPr>
          <p:spPr bwMode="auto">
            <a:xfrm flipH="1">
              <a:off x="3125" y="1487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3" name="Line 64"/>
            <p:cNvSpPr>
              <a:spLocks noChangeShapeType="1"/>
            </p:cNvSpPr>
            <p:nvPr/>
          </p:nvSpPr>
          <p:spPr bwMode="auto">
            <a:xfrm flipH="1">
              <a:off x="3119" y="1403"/>
              <a:ext cx="8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5884" name="Group 65"/>
            <p:cNvGrpSpPr>
              <a:grpSpLocks/>
            </p:cNvGrpSpPr>
            <p:nvPr/>
          </p:nvGrpSpPr>
          <p:grpSpPr bwMode="auto">
            <a:xfrm>
              <a:off x="3195" y="999"/>
              <a:ext cx="457" cy="488"/>
              <a:chOff x="3195" y="999"/>
              <a:chExt cx="457" cy="488"/>
            </a:xfrm>
          </p:grpSpPr>
          <p:grpSp>
            <p:nvGrpSpPr>
              <p:cNvPr id="35889" name="Group 66"/>
              <p:cNvGrpSpPr>
                <a:grpSpLocks/>
              </p:cNvGrpSpPr>
              <p:nvPr/>
            </p:nvGrpSpPr>
            <p:grpSpPr bwMode="auto">
              <a:xfrm>
                <a:off x="3233" y="1041"/>
                <a:ext cx="419" cy="441"/>
                <a:chOff x="2600" y="2626"/>
                <a:chExt cx="511" cy="529"/>
              </a:xfrm>
            </p:grpSpPr>
            <p:sp>
              <p:nvSpPr>
                <p:cNvPr id="35892" name="Rectangle 67"/>
                <p:cNvSpPr>
                  <a:spLocks noChangeArrowheads="1"/>
                </p:cNvSpPr>
                <p:nvPr/>
              </p:nvSpPr>
              <p:spPr bwMode="auto">
                <a:xfrm>
                  <a:off x="2600" y="3109"/>
                  <a:ext cx="510" cy="45"/>
                </a:xfrm>
                <a:prstGeom prst="rect">
                  <a:avLst/>
                </a:prstGeom>
                <a:solidFill>
                  <a:srgbClr val="FF9900"/>
                </a:solidFill>
                <a:ln w="158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893" name="Rectangle 68"/>
                <p:cNvSpPr>
                  <a:spLocks noChangeArrowheads="1"/>
                </p:cNvSpPr>
                <p:nvPr/>
              </p:nvSpPr>
              <p:spPr bwMode="auto">
                <a:xfrm rot="5400000">
                  <a:off x="2821" y="2865"/>
                  <a:ext cx="529" cy="51"/>
                </a:xfrm>
                <a:prstGeom prst="rect">
                  <a:avLst/>
                </a:prstGeom>
                <a:solidFill>
                  <a:srgbClr val="FF9900"/>
                </a:solidFill>
                <a:ln w="158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894" name="Rectangle 69"/>
                <p:cNvSpPr>
                  <a:spLocks noChangeArrowheads="1"/>
                </p:cNvSpPr>
                <p:nvPr/>
              </p:nvSpPr>
              <p:spPr bwMode="auto">
                <a:xfrm>
                  <a:off x="3000" y="3116"/>
                  <a:ext cx="104" cy="3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5890" name="Oval 70"/>
              <p:cNvSpPr>
                <a:spLocks noChangeArrowheads="1"/>
              </p:cNvSpPr>
              <p:nvPr/>
            </p:nvSpPr>
            <p:spPr bwMode="auto">
              <a:xfrm>
                <a:off x="3195" y="1427"/>
                <a:ext cx="60" cy="6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891" name="Oval 71"/>
              <p:cNvSpPr>
                <a:spLocks noChangeArrowheads="1"/>
              </p:cNvSpPr>
              <p:nvPr/>
            </p:nvSpPr>
            <p:spPr bwMode="auto">
              <a:xfrm>
                <a:off x="3595" y="999"/>
                <a:ext cx="56" cy="6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/>
              </a:p>
            </p:txBody>
          </p:sp>
        </p:grpSp>
        <p:sp>
          <p:nvSpPr>
            <p:cNvPr id="35885" name="Text Box 72"/>
            <p:cNvSpPr txBox="1">
              <a:spLocks noChangeArrowheads="1"/>
            </p:cNvSpPr>
            <p:nvPr/>
          </p:nvSpPr>
          <p:spPr bwMode="auto">
            <a:xfrm>
              <a:off x="3186" y="772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A</a:t>
              </a:r>
            </a:p>
          </p:txBody>
        </p:sp>
        <p:sp>
          <p:nvSpPr>
            <p:cNvPr id="35886" name="Text Box 73"/>
            <p:cNvSpPr txBox="1">
              <a:spLocks noChangeArrowheads="1"/>
            </p:cNvSpPr>
            <p:nvPr/>
          </p:nvSpPr>
          <p:spPr bwMode="auto">
            <a:xfrm>
              <a:off x="4373" y="819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B</a:t>
              </a:r>
            </a:p>
          </p:txBody>
        </p:sp>
        <p:sp>
          <p:nvSpPr>
            <p:cNvPr id="35887" name="Text Box 74"/>
            <p:cNvSpPr txBox="1">
              <a:spLocks noChangeArrowheads="1"/>
            </p:cNvSpPr>
            <p:nvPr/>
          </p:nvSpPr>
          <p:spPr bwMode="auto">
            <a:xfrm>
              <a:off x="3629" y="978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C</a:t>
              </a:r>
            </a:p>
          </p:txBody>
        </p:sp>
        <p:sp>
          <p:nvSpPr>
            <p:cNvPr id="35888" name="Text Box 75"/>
            <p:cNvSpPr txBox="1">
              <a:spLocks noChangeArrowheads="1"/>
            </p:cNvSpPr>
            <p:nvPr/>
          </p:nvSpPr>
          <p:spPr bwMode="auto">
            <a:xfrm>
              <a:off x="3183" y="1454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D</a:t>
              </a:r>
            </a:p>
          </p:txBody>
        </p:sp>
      </p:grpSp>
      <p:grpSp>
        <p:nvGrpSpPr>
          <p:cNvPr id="11" name="Group 76"/>
          <p:cNvGrpSpPr>
            <a:grpSpLocks/>
          </p:cNvGrpSpPr>
          <p:nvPr/>
        </p:nvGrpSpPr>
        <p:grpSpPr bwMode="auto">
          <a:xfrm>
            <a:off x="5486637" y="4110050"/>
            <a:ext cx="993775" cy="990600"/>
            <a:chOff x="3863" y="1733"/>
            <a:chExt cx="626" cy="624"/>
          </a:xfrm>
        </p:grpSpPr>
        <p:grpSp>
          <p:nvGrpSpPr>
            <p:cNvPr id="35859" name="Group 77"/>
            <p:cNvGrpSpPr>
              <a:grpSpLocks/>
            </p:cNvGrpSpPr>
            <p:nvPr/>
          </p:nvGrpSpPr>
          <p:grpSpPr bwMode="auto">
            <a:xfrm>
              <a:off x="4032" y="1854"/>
              <a:ext cx="457" cy="488"/>
              <a:chOff x="3195" y="999"/>
              <a:chExt cx="457" cy="488"/>
            </a:xfrm>
          </p:grpSpPr>
          <p:grpSp>
            <p:nvGrpSpPr>
              <p:cNvPr id="35862" name="Group 78"/>
              <p:cNvGrpSpPr>
                <a:grpSpLocks/>
              </p:cNvGrpSpPr>
              <p:nvPr/>
            </p:nvGrpSpPr>
            <p:grpSpPr bwMode="auto">
              <a:xfrm>
                <a:off x="3233" y="1041"/>
                <a:ext cx="419" cy="441"/>
                <a:chOff x="2600" y="2626"/>
                <a:chExt cx="511" cy="529"/>
              </a:xfrm>
            </p:grpSpPr>
            <p:sp>
              <p:nvSpPr>
                <p:cNvPr id="35865" name="Rectangle 79"/>
                <p:cNvSpPr>
                  <a:spLocks noChangeArrowheads="1"/>
                </p:cNvSpPr>
                <p:nvPr/>
              </p:nvSpPr>
              <p:spPr bwMode="auto">
                <a:xfrm>
                  <a:off x="2600" y="3109"/>
                  <a:ext cx="510" cy="45"/>
                </a:xfrm>
                <a:prstGeom prst="rect">
                  <a:avLst/>
                </a:prstGeom>
                <a:solidFill>
                  <a:srgbClr val="FF9900"/>
                </a:solidFill>
                <a:ln w="158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866" name="Rectangle 80"/>
                <p:cNvSpPr>
                  <a:spLocks noChangeArrowheads="1"/>
                </p:cNvSpPr>
                <p:nvPr/>
              </p:nvSpPr>
              <p:spPr bwMode="auto">
                <a:xfrm rot="5400000">
                  <a:off x="2821" y="2865"/>
                  <a:ext cx="529" cy="51"/>
                </a:xfrm>
                <a:prstGeom prst="rect">
                  <a:avLst/>
                </a:prstGeom>
                <a:solidFill>
                  <a:srgbClr val="FF9900"/>
                </a:solidFill>
                <a:ln w="1587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867" name="Rectangle 81"/>
                <p:cNvSpPr>
                  <a:spLocks noChangeArrowheads="1"/>
                </p:cNvSpPr>
                <p:nvPr/>
              </p:nvSpPr>
              <p:spPr bwMode="auto">
                <a:xfrm>
                  <a:off x="3000" y="3116"/>
                  <a:ext cx="104" cy="3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5863" name="Oval 82"/>
              <p:cNvSpPr>
                <a:spLocks noChangeArrowheads="1"/>
              </p:cNvSpPr>
              <p:nvPr/>
            </p:nvSpPr>
            <p:spPr bwMode="auto">
              <a:xfrm>
                <a:off x="3195" y="1427"/>
                <a:ext cx="60" cy="6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864" name="Oval 83"/>
              <p:cNvSpPr>
                <a:spLocks noChangeArrowheads="1"/>
              </p:cNvSpPr>
              <p:nvPr/>
            </p:nvSpPr>
            <p:spPr bwMode="auto">
              <a:xfrm>
                <a:off x="3595" y="999"/>
                <a:ext cx="56" cy="6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5860" name="Text Box 84"/>
            <p:cNvSpPr txBox="1">
              <a:spLocks noChangeArrowheads="1"/>
            </p:cNvSpPr>
            <p:nvPr/>
          </p:nvSpPr>
          <p:spPr bwMode="auto">
            <a:xfrm>
              <a:off x="4283" y="1733"/>
              <a:ext cx="2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C</a:t>
              </a:r>
            </a:p>
          </p:txBody>
        </p:sp>
        <p:sp>
          <p:nvSpPr>
            <p:cNvPr id="35861" name="Text Box 85"/>
            <p:cNvSpPr txBox="1">
              <a:spLocks noChangeArrowheads="1"/>
            </p:cNvSpPr>
            <p:nvPr/>
          </p:nvSpPr>
          <p:spPr bwMode="auto">
            <a:xfrm>
              <a:off x="3863" y="2145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i="1"/>
                <a:t>D</a:t>
              </a:r>
            </a:p>
          </p:txBody>
        </p:sp>
      </p:grpSp>
      <p:grpSp>
        <p:nvGrpSpPr>
          <p:cNvPr id="14" name="Group 86"/>
          <p:cNvGrpSpPr>
            <a:grpSpLocks/>
          </p:cNvGrpSpPr>
          <p:nvPr/>
        </p:nvGrpSpPr>
        <p:grpSpPr bwMode="auto">
          <a:xfrm>
            <a:off x="4977049" y="5094300"/>
            <a:ext cx="914400" cy="336550"/>
            <a:chOff x="3131" y="2145"/>
            <a:chExt cx="576" cy="212"/>
          </a:xfrm>
        </p:grpSpPr>
        <p:sp>
          <p:nvSpPr>
            <p:cNvPr id="35857" name="AutoShape 87"/>
            <p:cNvSpPr>
              <a:spLocks noChangeArrowheads="1"/>
            </p:cNvSpPr>
            <p:nvPr/>
          </p:nvSpPr>
          <p:spPr bwMode="auto">
            <a:xfrm rot="2700000">
              <a:off x="3474" y="2029"/>
              <a:ext cx="46" cy="421"/>
            </a:xfrm>
            <a:prstGeom prst="upArrow">
              <a:avLst>
                <a:gd name="adj1" fmla="val 50000"/>
                <a:gd name="adj2" fmla="val 22880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8" name="Text Box 88"/>
            <p:cNvSpPr txBox="1">
              <a:spLocks noChangeArrowheads="1"/>
            </p:cNvSpPr>
            <p:nvPr/>
          </p:nvSpPr>
          <p:spPr bwMode="auto">
            <a:xfrm>
              <a:off x="3131" y="2145"/>
              <a:ext cx="3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i="1" dirty="0"/>
                <a:t>F</a:t>
              </a:r>
              <a:r>
                <a:rPr lang="en-US" altLang="zh-CN" sz="1400" b="1" i="1" baseline="-25000" dirty="0"/>
                <a:t>D</a:t>
              </a:r>
            </a:p>
          </p:txBody>
        </p:sp>
      </p:grpSp>
      <p:grpSp>
        <p:nvGrpSpPr>
          <p:cNvPr id="15" name="Group 89"/>
          <p:cNvGrpSpPr>
            <a:grpSpLocks/>
          </p:cNvGrpSpPr>
          <p:nvPr/>
        </p:nvGrpSpPr>
        <p:grpSpPr bwMode="auto">
          <a:xfrm>
            <a:off x="6372462" y="3922725"/>
            <a:ext cx="842962" cy="336550"/>
            <a:chOff x="4691" y="1674"/>
            <a:chExt cx="531" cy="212"/>
          </a:xfrm>
        </p:grpSpPr>
        <p:sp>
          <p:nvSpPr>
            <p:cNvPr id="35855" name="AutoShape 90"/>
            <p:cNvSpPr>
              <a:spLocks noChangeArrowheads="1"/>
            </p:cNvSpPr>
            <p:nvPr/>
          </p:nvSpPr>
          <p:spPr bwMode="auto">
            <a:xfrm rot="-8100000">
              <a:off x="4879" y="1564"/>
              <a:ext cx="52" cy="427"/>
            </a:xfrm>
            <a:prstGeom prst="upArrow">
              <a:avLst>
                <a:gd name="adj1" fmla="val 50000"/>
                <a:gd name="adj2" fmla="val 20528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6" name="Text Box 91"/>
            <p:cNvSpPr txBox="1">
              <a:spLocks noChangeArrowheads="1"/>
            </p:cNvSpPr>
            <p:nvPr/>
          </p:nvSpPr>
          <p:spPr bwMode="auto">
            <a:xfrm>
              <a:off x="4901" y="1674"/>
              <a:ext cx="3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 i="1" dirty="0"/>
                <a:t>F</a:t>
              </a:r>
              <a:r>
                <a:rPr lang="en-US" altLang="zh-CN" sz="1400" b="1" i="1" baseline="-25000" dirty="0"/>
                <a:t>C</a:t>
              </a:r>
            </a:p>
          </p:txBody>
        </p:sp>
      </p:grpSp>
      <p:sp>
        <p:nvSpPr>
          <p:cNvPr id="53340" name="Line 92"/>
          <p:cNvSpPr>
            <a:spLocks noChangeShapeType="1"/>
          </p:cNvSpPr>
          <p:nvPr/>
        </p:nvSpPr>
        <p:spPr bwMode="auto">
          <a:xfrm flipV="1">
            <a:off x="5181837" y="3695712"/>
            <a:ext cx="1930400" cy="19319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0" name="Text Box 3"/>
          <p:cNvSpPr txBox="1">
            <a:spLocks noChangeArrowheads="1"/>
          </p:cNvSpPr>
          <p:nvPr/>
        </p:nvSpPr>
        <p:spPr bwMode="auto">
          <a:xfrm>
            <a:off x="657725" y="490134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7299038" y="3103894"/>
            <a:ext cx="1327150" cy="1179512"/>
            <a:chOff x="524203" y="4778100"/>
            <a:chExt cx="1327150" cy="1179512"/>
          </a:xfrm>
        </p:grpSpPr>
        <p:grpSp>
          <p:nvGrpSpPr>
            <p:cNvPr id="92" name="Group 58"/>
            <p:cNvGrpSpPr>
              <a:grpSpLocks/>
            </p:cNvGrpSpPr>
            <p:nvPr/>
          </p:nvGrpSpPr>
          <p:grpSpPr bwMode="auto">
            <a:xfrm>
              <a:off x="524203" y="5484537"/>
              <a:ext cx="1327150" cy="473075"/>
              <a:chOff x="3047" y="3438"/>
              <a:chExt cx="836" cy="298"/>
            </a:xfrm>
          </p:grpSpPr>
          <p:sp>
            <p:nvSpPr>
              <p:cNvPr id="95" name="Rectangle 59"/>
              <p:cNvSpPr>
                <a:spLocks noChangeArrowheads="1"/>
              </p:cNvSpPr>
              <p:nvPr/>
            </p:nvSpPr>
            <p:spPr bwMode="auto">
              <a:xfrm rot="-1001753">
                <a:off x="3307" y="3438"/>
                <a:ext cx="576" cy="47"/>
              </a:xfrm>
              <a:prstGeom prst="rect">
                <a:avLst/>
              </a:prstGeom>
              <a:solidFill>
                <a:srgbClr val="B2B2B2"/>
              </a:solidFill>
              <a:ln w="12700" cap="sq">
                <a:solidFill>
                  <a:schemeClr val="tx1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" name="Oval 60"/>
              <p:cNvSpPr>
                <a:spLocks noChangeArrowheads="1"/>
              </p:cNvSpPr>
              <p:nvPr/>
            </p:nvSpPr>
            <p:spPr bwMode="auto">
              <a:xfrm>
                <a:off x="3227" y="3640"/>
                <a:ext cx="48" cy="48"/>
              </a:xfrm>
              <a:prstGeom prst="ellipse">
                <a:avLst/>
              </a:prstGeom>
              <a:noFill/>
              <a:ln w="15875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61"/>
              <p:cNvSpPr>
                <a:spLocks noChangeArrowheads="1"/>
              </p:cNvSpPr>
              <p:nvPr/>
            </p:nvSpPr>
            <p:spPr bwMode="auto">
              <a:xfrm>
                <a:off x="3371" y="3640"/>
                <a:ext cx="48" cy="48"/>
              </a:xfrm>
              <a:prstGeom prst="ellipse">
                <a:avLst/>
              </a:prstGeom>
              <a:noFill/>
              <a:ln w="15875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AutoShape 62"/>
              <p:cNvSpPr>
                <a:spLocks noChangeArrowheads="1"/>
              </p:cNvSpPr>
              <p:nvPr/>
            </p:nvSpPr>
            <p:spPr bwMode="auto">
              <a:xfrm>
                <a:off x="3222" y="3546"/>
                <a:ext cx="193" cy="95"/>
              </a:xfrm>
              <a:prstGeom prst="triangle">
                <a:avLst>
                  <a:gd name="adj" fmla="val 50000"/>
                </a:avLst>
              </a:prstGeom>
              <a:noFill/>
              <a:ln w="15875" cap="sq">
                <a:solidFill>
                  <a:schemeClr val="tx1"/>
                </a:solidFill>
                <a:miter lim="800000"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9" name="Oval 63"/>
              <p:cNvSpPr>
                <a:spLocks noChangeArrowheads="1"/>
              </p:cNvSpPr>
              <p:nvPr/>
            </p:nvSpPr>
            <p:spPr bwMode="auto">
              <a:xfrm>
                <a:off x="3300" y="3521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5875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00" name="Group 64"/>
              <p:cNvGrpSpPr>
                <a:grpSpLocks/>
              </p:cNvGrpSpPr>
              <p:nvPr/>
            </p:nvGrpSpPr>
            <p:grpSpPr bwMode="auto">
              <a:xfrm>
                <a:off x="3047" y="3688"/>
                <a:ext cx="542" cy="48"/>
                <a:chOff x="3264" y="1920"/>
                <a:chExt cx="542" cy="48"/>
              </a:xfrm>
            </p:grpSpPr>
            <p:sp>
              <p:nvSpPr>
                <p:cNvPr id="101" name="Line 65"/>
                <p:cNvSpPr>
                  <a:spLocks noChangeShapeType="1"/>
                </p:cNvSpPr>
                <p:nvPr/>
              </p:nvSpPr>
              <p:spPr bwMode="auto">
                <a:xfrm>
                  <a:off x="3298" y="1920"/>
                  <a:ext cx="508" cy="0"/>
                </a:xfrm>
                <a:prstGeom prst="line">
                  <a:avLst/>
                </a:prstGeom>
                <a:noFill/>
                <a:ln w="15875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2" name="Group 66"/>
                <p:cNvGrpSpPr>
                  <a:grpSpLocks/>
                </p:cNvGrpSpPr>
                <p:nvPr/>
              </p:nvGrpSpPr>
              <p:grpSpPr bwMode="auto">
                <a:xfrm>
                  <a:off x="3264" y="1920"/>
                  <a:ext cx="528" cy="48"/>
                  <a:chOff x="3264" y="1920"/>
                  <a:chExt cx="528" cy="48"/>
                </a:xfrm>
              </p:grpSpPr>
              <p:grpSp>
                <p:nvGrpSpPr>
                  <p:cNvPr id="103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3312" y="1920"/>
                    <a:ext cx="480" cy="48"/>
                    <a:chOff x="3312" y="1920"/>
                    <a:chExt cx="480" cy="48"/>
                  </a:xfrm>
                </p:grpSpPr>
                <p:sp>
                  <p:nvSpPr>
                    <p:cNvPr id="105" name="Line 6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1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6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7" name="Line 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0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8" name="Line 7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5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9" name="Line 7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0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0" name="Line 7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4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1" name="Line 7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9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2" name="Line 7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74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" name="Line 7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0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4" name="Line 7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5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4" name="Line 7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6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93" name="Text Box 97"/>
            <p:cNvSpPr txBox="1">
              <a:spLocks noChangeArrowheads="1"/>
            </p:cNvSpPr>
            <p:nvPr/>
          </p:nvSpPr>
          <p:spPr bwMode="auto">
            <a:xfrm>
              <a:off x="995691" y="4778100"/>
              <a:ext cx="35401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</a:p>
          </p:txBody>
        </p:sp>
        <p:sp>
          <p:nvSpPr>
            <p:cNvPr id="94" name="Line 99"/>
            <p:cNvSpPr>
              <a:spLocks noChangeShapeType="1"/>
            </p:cNvSpPr>
            <p:nvPr/>
          </p:nvSpPr>
          <p:spPr bwMode="auto">
            <a:xfrm flipV="1">
              <a:off x="956003" y="5043212"/>
              <a:ext cx="1588" cy="5715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7575613" y="4583428"/>
            <a:ext cx="1213246" cy="1243994"/>
            <a:chOff x="4045152" y="4980757"/>
            <a:chExt cx="1213246" cy="1243994"/>
          </a:xfrm>
        </p:grpSpPr>
        <p:grpSp>
          <p:nvGrpSpPr>
            <p:cNvPr id="116" name="Group 25"/>
            <p:cNvGrpSpPr>
              <a:grpSpLocks/>
            </p:cNvGrpSpPr>
            <p:nvPr/>
          </p:nvGrpSpPr>
          <p:grpSpPr bwMode="auto">
            <a:xfrm>
              <a:off x="4045152" y="5795382"/>
              <a:ext cx="522288" cy="429369"/>
              <a:chOff x="5760" y="1968"/>
              <a:chExt cx="618" cy="572"/>
            </a:xfrm>
          </p:grpSpPr>
          <p:sp>
            <p:nvSpPr>
              <p:cNvPr id="120" name="Oval 26"/>
              <p:cNvSpPr>
                <a:spLocks noChangeAspect="1" noChangeArrowheads="1"/>
              </p:cNvSpPr>
              <p:nvPr/>
            </p:nvSpPr>
            <p:spPr bwMode="auto">
              <a:xfrm>
                <a:off x="5985" y="1968"/>
                <a:ext cx="136" cy="135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Line 27"/>
              <p:cNvSpPr>
                <a:spLocks noChangeShapeType="1"/>
              </p:cNvSpPr>
              <p:nvPr/>
            </p:nvSpPr>
            <p:spPr bwMode="auto">
              <a:xfrm>
                <a:off x="5814" y="2444"/>
                <a:ext cx="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28"/>
              <p:cNvSpPr>
                <a:spLocks noChangeAspect="1" noChangeShapeType="1"/>
              </p:cNvSpPr>
              <p:nvPr/>
            </p:nvSpPr>
            <p:spPr bwMode="auto">
              <a:xfrm flipH="1">
                <a:off x="5790" y="2427"/>
                <a:ext cx="62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29"/>
              <p:cNvSpPr>
                <a:spLocks noChangeAspect="1" noChangeShapeType="1"/>
              </p:cNvSpPr>
              <p:nvPr/>
            </p:nvSpPr>
            <p:spPr bwMode="auto">
              <a:xfrm flipH="1">
                <a:off x="5880" y="2427"/>
                <a:ext cx="62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30"/>
              <p:cNvSpPr>
                <a:spLocks noChangeAspect="1" noChangeShapeType="1"/>
              </p:cNvSpPr>
              <p:nvPr/>
            </p:nvSpPr>
            <p:spPr bwMode="auto">
              <a:xfrm flipH="1">
                <a:off x="5970" y="2427"/>
                <a:ext cx="62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31"/>
              <p:cNvSpPr>
                <a:spLocks noChangeAspect="1" noChangeShapeType="1"/>
              </p:cNvSpPr>
              <p:nvPr/>
            </p:nvSpPr>
            <p:spPr bwMode="auto">
              <a:xfrm flipH="1">
                <a:off x="6060" y="2427"/>
                <a:ext cx="62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32"/>
              <p:cNvSpPr>
                <a:spLocks noChangeAspect="1" noChangeShapeType="1"/>
              </p:cNvSpPr>
              <p:nvPr/>
            </p:nvSpPr>
            <p:spPr bwMode="auto">
              <a:xfrm flipH="1">
                <a:off x="6150" y="2427"/>
                <a:ext cx="62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33"/>
              <p:cNvSpPr>
                <a:spLocks noChangeAspect="1" noChangeShapeType="1"/>
              </p:cNvSpPr>
              <p:nvPr/>
            </p:nvSpPr>
            <p:spPr bwMode="auto">
              <a:xfrm flipH="1">
                <a:off x="6240" y="2427"/>
                <a:ext cx="62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34"/>
              <p:cNvSpPr>
                <a:spLocks noChangeShapeType="1"/>
              </p:cNvSpPr>
              <p:nvPr/>
            </p:nvSpPr>
            <p:spPr bwMode="auto">
              <a:xfrm>
                <a:off x="5760" y="2412"/>
                <a:ext cx="618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Oval 35"/>
              <p:cNvSpPr>
                <a:spLocks noChangeAspect="1" noChangeArrowheads="1"/>
              </p:cNvSpPr>
              <p:nvPr/>
            </p:nvSpPr>
            <p:spPr bwMode="auto">
              <a:xfrm>
                <a:off x="5985" y="2286"/>
                <a:ext cx="136" cy="135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0" name="Line 36"/>
              <p:cNvSpPr>
                <a:spLocks noChangeShapeType="1"/>
              </p:cNvSpPr>
              <p:nvPr/>
            </p:nvSpPr>
            <p:spPr bwMode="auto">
              <a:xfrm>
                <a:off x="6045" y="2112"/>
                <a:ext cx="1" cy="17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7" name="Rectangle 96"/>
            <p:cNvSpPr>
              <a:spLocks noChangeArrowheads="1"/>
            </p:cNvSpPr>
            <p:nvPr/>
          </p:nvSpPr>
          <p:spPr bwMode="auto">
            <a:xfrm>
              <a:off x="4106398" y="5701083"/>
              <a:ext cx="1152000" cy="8641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8" name="Line 100"/>
            <p:cNvSpPr>
              <a:spLocks noChangeShapeType="1"/>
            </p:cNvSpPr>
            <p:nvPr/>
          </p:nvSpPr>
          <p:spPr bwMode="auto">
            <a:xfrm flipV="1">
              <a:off x="4293174" y="5096157"/>
              <a:ext cx="0" cy="691344"/>
            </a:xfrm>
            <a:prstGeom prst="line">
              <a:avLst/>
            </a:prstGeom>
            <a:noFill/>
            <a:ln w="28575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Text Box 98"/>
            <p:cNvSpPr txBox="1">
              <a:spLocks noChangeArrowheads="1"/>
            </p:cNvSpPr>
            <p:nvPr/>
          </p:nvSpPr>
          <p:spPr bwMode="auto">
            <a:xfrm>
              <a:off x="4309393" y="4980757"/>
              <a:ext cx="354012" cy="396875"/>
            </a:xfrm>
            <a:prstGeom prst="rect">
              <a:avLst/>
            </a:prstGeom>
            <a:noFill/>
            <a:ln w="9525" cap="sq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75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/>
      <p:bldP spid="53256" grpId="0"/>
      <p:bldP spid="53282" grpId="0" animBg="1"/>
      <p:bldP spid="533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292080" y="1484784"/>
            <a:ext cx="2513012" cy="1603375"/>
            <a:chOff x="3763" y="965"/>
            <a:chExt cx="1583" cy="1010"/>
          </a:xfrm>
        </p:grpSpPr>
        <p:sp>
          <p:nvSpPr>
            <p:cNvPr id="30726" name="Firewall"/>
            <p:cNvSpPr>
              <a:spLocks noEditPoints="1" noChangeArrowheads="1"/>
            </p:cNvSpPr>
            <p:nvPr/>
          </p:nvSpPr>
          <p:spPr bwMode="auto">
            <a:xfrm>
              <a:off x="3763" y="965"/>
              <a:ext cx="909" cy="10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760 w 21600"/>
                <a:gd name="T25" fmla="*/ 22455 h 21600"/>
                <a:gd name="T26" fmla="*/ 21077 w 21600"/>
                <a:gd name="T27" fmla="*/ 3227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540" y="4628"/>
                  </a:moveTo>
                  <a:lnTo>
                    <a:pt x="0" y="4628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4628"/>
                  </a:lnTo>
                  <a:lnTo>
                    <a:pt x="21060" y="4628"/>
                  </a:lnTo>
                  <a:lnTo>
                    <a:pt x="21060" y="21600"/>
                  </a:lnTo>
                  <a:lnTo>
                    <a:pt x="540" y="21600"/>
                  </a:lnTo>
                  <a:lnTo>
                    <a:pt x="540" y="4628"/>
                  </a:lnTo>
                  <a:close/>
                </a:path>
                <a:path w="21600" h="21600" extrusionOk="0">
                  <a:moveTo>
                    <a:pt x="540" y="4628"/>
                  </a:moveTo>
                  <a:lnTo>
                    <a:pt x="540" y="6171"/>
                  </a:lnTo>
                  <a:lnTo>
                    <a:pt x="2700" y="6171"/>
                  </a:lnTo>
                  <a:lnTo>
                    <a:pt x="2700" y="4628"/>
                  </a:lnTo>
                  <a:lnTo>
                    <a:pt x="540" y="4628"/>
                  </a:lnTo>
                  <a:close/>
                </a:path>
                <a:path w="21600" h="21600" extrusionOk="0">
                  <a:moveTo>
                    <a:pt x="2700" y="4628"/>
                  </a:moveTo>
                  <a:lnTo>
                    <a:pt x="2700" y="6171"/>
                  </a:lnTo>
                  <a:lnTo>
                    <a:pt x="4860" y="6171"/>
                  </a:lnTo>
                  <a:lnTo>
                    <a:pt x="4860" y="4628"/>
                  </a:lnTo>
                  <a:lnTo>
                    <a:pt x="2700" y="4628"/>
                  </a:lnTo>
                  <a:close/>
                </a:path>
                <a:path w="21600" h="21600" extrusionOk="0">
                  <a:moveTo>
                    <a:pt x="4860" y="4628"/>
                  </a:moveTo>
                  <a:lnTo>
                    <a:pt x="4860" y="6171"/>
                  </a:lnTo>
                  <a:lnTo>
                    <a:pt x="7020" y="6171"/>
                  </a:lnTo>
                  <a:lnTo>
                    <a:pt x="7020" y="4628"/>
                  </a:lnTo>
                  <a:lnTo>
                    <a:pt x="4860" y="4628"/>
                  </a:lnTo>
                  <a:close/>
                </a:path>
                <a:path w="21600" h="21600" extrusionOk="0">
                  <a:moveTo>
                    <a:pt x="7020" y="4628"/>
                  </a:moveTo>
                  <a:lnTo>
                    <a:pt x="7020" y="6171"/>
                  </a:lnTo>
                  <a:lnTo>
                    <a:pt x="9180" y="6171"/>
                  </a:lnTo>
                  <a:lnTo>
                    <a:pt x="9180" y="4628"/>
                  </a:lnTo>
                  <a:lnTo>
                    <a:pt x="7020" y="4628"/>
                  </a:lnTo>
                  <a:close/>
                </a:path>
                <a:path w="21600" h="21600" extrusionOk="0">
                  <a:moveTo>
                    <a:pt x="9180" y="4628"/>
                  </a:moveTo>
                  <a:lnTo>
                    <a:pt x="9180" y="6171"/>
                  </a:lnTo>
                  <a:lnTo>
                    <a:pt x="11340" y="6171"/>
                  </a:lnTo>
                  <a:lnTo>
                    <a:pt x="11340" y="4628"/>
                  </a:lnTo>
                  <a:lnTo>
                    <a:pt x="9180" y="4628"/>
                  </a:lnTo>
                  <a:close/>
                </a:path>
                <a:path w="21600" h="21600" extrusionOk="0">
                  <a:moveTo>
                    <a:pt x="11340" y="4628"/>
                  </a:moveTo>
                  <a:lnTo>
                    <a:pt x="11340" y="6171"/>
                  </a:lnTo>
                  <a:lnTo>
                    <a:pt x="13500" y="6171"/>
                  </a:lnTo>
                  <a:lnTo>
                    <a:pt x="13500" y="4628"/>
                  </a:lnTo>
                  <a:lnTo>
                    <a:pt x="11340" y="4628"/>
                  </a:lnTo>
                  <a:close/>
                </a:path>
                <a:path w="21600" h="21600" extrusionOk="0">
                  <a:moveTo>
                    <a:pt x="13500" y="4628"/>
                  </a:moveTo>
                  <a:lnTo>
                    <a:pt x="13500" y="6171"/>
                  </a:lnTo>
                  <a:lnTo>
                    <a:pt x="15660" y="6171"/>
                  </a:lnTo>
                  <a:lnTo>
                    <a:pt x="15660" y="4628"/>
                  </a:lnTo>
                  <a:lnTo>
                    <a:pt x="13500" y="4628"/>
                  </a:lnTo>
                  <a:close/>
                </a:path>
                <a:path w="21600" h="21600" extrusionOk="0">
                  <a:moveTo>
                    <a:pt x="15660" y="4628"/>
                  </a:moveTo>
                  <a:lnTo>
                    <a:pt x="15660" y="6171"/>
                  </a:lnTo>
                  <a:lnTo>
                    <a:pt x="17820" y="6171"/>
                  </a:lnTo>
                  <a:lnTo>
                    <a:pt x="17820" y="4628"/>
                  </a:lnTo>
                  <a:lnTo>
                    <a:pt x="15660" y="4628"/>
                  </a:lnTo>
                  <a:close/>
                </a:path>
                <a:path w="21600" h="21600" extrusionOk="0">
                  <a:moveTo>
                    <a:pt x="17820" y="4628"/>
                  </a:moveTo>
                  <a:lnTo>
                    <a:pt x="17820" y="6171"/>
                  </a:lnTo>
                  <a:lnTo>
                    <a:pt x="19980" y="6171"/>
                  </a:lnTo>
                  <a:lnTo>
                    <a:pt x="19980" y="4628"/>
                  </a:lnTo>
                  <a:lnTo>
                    <a:pt x="17820" y="4628"/>
                  </a:lnTo>
                  <a:close/>
                </a:path>
                <a:path w="21600" h="21600" extrusionOk="0">
                  <a:moveTo>
                    <a:pt x="1620" y="6171"/>
                  </a:moveTo>
                  <a:lnTo>
                    <a:pt x="1620" y="7714"/>
                  </a:lnTo>
                  <a:lnTo>
                    <a:pt x="3779" y="7714"/>
                  </a:lnTo>
                  <a:lnTo>
                    <a:pt x="3779" y="6171"/>
                  </a:lnTo>
                  <a:lnTo>
                    <a:pt x="1620" y="6171"/>
                  </a:lnTo>
                  <a:close/>
                </a:path>
                <a:path w="21600" h="21600" extrusionOk="0">
                  <a:moveTo>
                    <a:pt x="3779" y="6171"/>
                  </a:moveTo>
                  <a:lnTo>
                    <a:pt x="3779" y="7714"/>
                  </a:lnTo>
                  <a:lnTo>
                    <a:pt x="5940" y="7714"/>
                  </a:lnTo>
                  <a:lnTo>
                    <a:pt x="5940" y="6171"/>
                  </a:lnTo>
                  <a:lnTo>
                    <a:pt x="3779" y="6171"/>
                  </a:lnTo>
                  <a:close/>
                </a:path>
                <a:path w="21600" h="21600" extrusionOk="0">
                  <a:moveTo>
                    <a:pt x="5940" y="6171"/>
                  </a:moveTo>
                  <a:lnTo>
                    <a:pt x="5940" y="7714"/>
                  </a:lnTo>
                  <a:lnTo>
                    <a:pt x="8100" y="7714"/>
                  </a:lnTo>
                  <a:lnTo>
                    <a:pt x="8100" y="6171"/>
                  </a:lnTo>
                  <a:lnTo>
                    <a:pt x="5940" y="6171"/>
                  </a:lnTo>
                  <a:close/>
                </a:path>
                <a:path w="21600" h="21600" extrusionOk="0">
                  <a:moveTo>
                    <a:pt x="8100" y="6171"/>
                  </a:moveTo>
                  <a:lnTo>
                    <a:pt x="8100" y="7714"/>
                  </a:lnTo>
                  <a:lnTo>
                    <a:pt x="10260" y="7714"/>
                  </a:lnTo>
                  <a:lnTo>
                    <a:pt x="10260" y="6171"/>
                  </a:lnTo>
                  <a:lnTo>
                    <a:pt x="8100" y="6171"/>
                  </a:lnTo>
                  <a:close/>
                </a:path>
                <a:path w="21600" h="21600" extrusionOk="0">
                  <a:moveTo>
                    <a:pt x="10260" y="6171"/>
                  </a:moveTo>
                  <a:lnTo>
                    <a:pt x="10260" y="7714"/>
                  </a:lnTo>
                  <a:lnTo>
                    <a:pt x="12419" y="7714"/>
                  </a:lnTo>
                  <a:lnTo>
                    <a:pt x="12419" y="6171"/>
                  </a:lnTo>
                  <a:lnTo>
                    <a:pt x="10260" y="6171"/>
                  </a:lnTo>
                  <a:close/>
                </a:path>
                <a:path w="21600" h="21600" extrusionOk="0">
                  <a:moveTo>
                    <a:pt x="12419" y="6171"/>
                  </a:moveTo>
                  <a:lnTo>
                    <a:pt x="12419" y="7714"/>
                  </a:lnTo>
                  <a:lnTo>
                    <a:pt x="14580" y="7714"/>
                  </a:lnTo>
                  <a:lnTo>
                    <a:pt x="14580" y="6171"/>
                  </a:lnTo>
                  <a:lnTo>
                    <a:pt x="12419" y="6171"/>
                  </a:lnTo>
                  <a:close/>
                </a:path>
                <a:path w="21600" h="21600" extrusionOk="0">
                  <a:moveTo>
                    <a:pt x="14580" y="6171"/>
                  </a:moveTo>
                  <a:lnTo>
                    <a:pt x="14580" y="7714"/>
                  </a:lnTo>
                  <a:lnTo>
                    <a:pt x="16740" y="7714"/>
                  </a:lnTo>
                  <a:lnTo>
                    <a:pt x="16740" y="6171"/>
                  </a:lnTo>
                  <a:lnTo>
                    <a:pt x="14580" y="6171"/>
                  </a:lnTo>
                  <a:close/>
                </a:path>
                <a:path w="21600" h="21600" extrusionOk="0">
                  <a:moveTo>
                    <a:pt x="16740" y="6171"/>
                  </a:moveTo>
                  <a:lnTo>
                    <a:pt x="16740" y="7714"/>
                  </a:lnTo>
                  <a:lnTo>
                    <a:pt x="18900" y="7714"/>
                  </a:lnTo>
                  <a:lnTo>
                    <a:pt x="18900" y="6171"/>
                  </a:lnTo>
                  <a:lnTo>
                    <a:pt x="16740" y="6171"/>
                  </a:lnTo>
                  <a:close/>
                </a:path>
                <a:path w="21600" h="21600" extrusionOk="0">
                  <a:moveTo>
                    <a:pt x="18900" y="6171"/>
                  </a:moveTo>
                  <a:lnTo>
                    <a:pt x="18900" y="7714"/>
                  </a:lnTo>
                  <a:lnTo>
                    <a:pt x="21060" y="7714"/>
                  </a:lnTo>
                  <a:lnTo>
                    <a:pt x="21060" y="6171"/>
                  </a:lnTo>
                  <a:lnTo>
                    <a:pt x="18900" y="6171"/>
                  </a:lnTo>
                  <a:close/>
                </a:path>
                <a:path w="21600" h="21600" extrusionOk="0">
                  <a:moveTo>
                    <a:pt x="540" y="7714"/>
                  </a:moveTo>
                  <a:lnTo>
                    <a:pt x="540" y="9257"/>
                  </a:lnTo>
                  <a:lnTo>
                    <a:pt x="2700" y="9257"/>
                  </a:lnTo>
                  <a:lnTo>
                    <a:pt x="2700" y="7714"/>
                  </a:lnTo>
                  <a:lnTo>
                    <a:pt x="540" y="7714"/>
                  </a:lnTo>
                  <a:close/>
                </a:path>
                <a:path w="21600" h="21600" extrusionOk="0">
                  <a:moveTo>
                    <a:pt x="2700" y="7714"/>
                  </a:moveTo>
                  <a:lnTo>
                    <a:pt x="2700" y="9257"/>
                  </a:lnTo>
                  <a:lnTo>
                    <a:pt x="4860" y="9257"/>
                  </a:lnTo>
                  <a:lnTo>
                    <a:pt x="4860" y="7714"/>
                  </a:lnTo>
                  <a:lnTo>
                    <a:pt x="2700" y="7714"/>
                  </a:lnTo>
                  <a:close/>
                </a:path>
                <a:path w="21600" h="21600" extrusionOk="0">
                  <a:moveTo>
                    <a:pt x="4860" y="7714"/>
                  </a:moveTo>
                  <a:lnTo>
                    <a:pt x="4860" y="9257"/>
                  </a:lnTo>
                  <a:lnTo>
                    <a:pt x="7020" y="9257"/>
                  </a:lnTo>
                  <a:lnTo>
                    <a:pt x="7020" y="7714"/>
                  </a:lnTo>
                  <a:lnTo>
                    <a:pt x="4860" y="7714"/>
                  </a:lnTo>
                  <a:close/>
                </a:path>
                <a:path w="21600" h="21600" extrusionOk="0">
                  <a:moveTo>
                    <a:pt x="7020" y="7714"/>
                  </a:moveTo>
                  <a:lnTo>
                    <a:pt x="7020" y="9257"/>
                  </a:lnTo>
                  <a:lnTo>
                    <a:pt x="9180" y="9257"/>
                  </a:lnTo>
                  <a:lnTo>
                    <a:pt x="9180" y="7714"/>
                  </a:lnTo>
                  <a:lnTo>
                    <a:pt x="7020" y="7714"/>
                  </a:lnTo>
                  <a:close/>
                </a:path>
                <a:path w="21600" h="21600" extrusionOk="0">
                  <a:moveTo>
                    <a:pt x="9180" y="7714"/>
                  </a:moveTo>
                  <a:lnTo>
                    <a:pt x="9180" y="9257"/>
                  </a:lnTo>
                  <a:lnTo>
                    <a:pt x="11340" y="9257"/>
                  </a:lnTo>
                  <a:lnTo>
                    <a:pt x="11340" y="7714"/>
                  </a:lnTo>
                  <a:lnTo>
                    <a:pt x="9180" y="7714"/>
                  </a:lnTo>
                  <a:close/>
                </a:path>
                <a:path w="21600" h="21600" extrusionOk="0">
                  <a:moveTo>
                    <a:pt x="11340" y="7714"/>
                  </a:moveTo>
                  <a:lnTo>
                    <a:pt x="11340" y="9257"/>
                  </a:lnTo>
                  <a:lnTo>
                    <a:pt x="13500" y="9257"/>
                  </a:lnTo>
                  <a:lnTo>
                    <a:pt x="13500" y="7714"/>
                  </a:lnTo>
                  <a:lnTo>
                    <a:pt x="11340" y="7714"/>
                  </a:lnTo>
                  <a:close/>
                </a:path>
                <a:path w="21600" h="21600" extrusionOk="0">
                  <a:moveTo>
                    <a:pt x="13500" y="7714"/>
                  </a:moveTo>
                  <a:lnTo>
                    <a:pt x="13500" y="9257"/>
                  </a:lnTo>
                  <a:lnTo>
                    <a:pt x="15660" y="9257"/>
                  </a:lnTo>
                  <a:lnTo>
                    <a:pt x="15660" y="7714"/>
                  </a:lnTo>
                  <a:lnTo>
                    <a:pt x="13500" y="7714"/>
                  </a:lnTo>
                  <a:close/>
                </a:path>
                <a:path w="21600" h="21600" extrusionOk="0">
                  <a:moveTo>
                    <a:pt x="15660" y="7714"/>
                  </a:moveTo>
                  <a:lnTo>
                    <a:pt x="15660" y="9257"/>
                  </a:lnTo>
                  <a:lnTo>
                    <a:pt x="17820" y="9257"/>
                  </a:lnTo>
                  <a:lnTo>
                    <a:pt x="17820" y="7714"/>
                  </a:lnTo>
                  <a:lnTo>
                    <a:pt x="15660" y="7714"/>
                  </a:lnTo>
                  <a:close/>
                </a:path>
                <a:path w="21600" h="21600" extrusionOk="0">
                  <a:moveTo>
                    <a:pt x="17820" y="7714"/>
                  </a:moveTo>
                  <a:lnTo>
                    <a:pt x="17820" y="9257"/>
                  </a:lnTo>
                  <a:lnTo>
                    <a:pt x="19980" y="9257"/>
                  </a:lnTo>
                  <a:lnTo>
                    <a:pt x="19980" y="7714"/>
                  </a:lnTo>
                  <a:lnTo>
                    <a:pt x="17820" y="7714"/>
                  </a:lnTo>
                  <a:close/>
                </a:path>
                <a:path w="21600" h="21600" extrusionOk="0">
                  <a:moveTo>
                    <a:pt x="1620" y="9257"/>
                  </a:moveTo>
                  <a:lnTo>
                    <a:pt x="1620" y="10800"/>
                  </a:lnTo>
                  <a:lnTo>
                    <a:pt x="3779" y="10800"/>
                  </a:lnTo>
                  <a:lnTo>
                    <a:pt x="3779" y="9257"/>
                  </a:lnTo>
                  <a:lnTo>
                    <a:pt x="1620" y="9257"/>
                  </a:lnTo>
                  <a:close/>
                </a:path>
                <a:path w="21600" h="21600" extrusionOk="0">
                  <a:moveTo>
                    <a:pt x="3779" y="9257"/>
                  </a:moveTo>
                  <a:lnTo>
                    <a:pt x="3779" y="10800"/>
                  </a:lnTo>
                  <a:lnTo>
                    <a:pt x="5940" y="10800"/>
                  </a:lnTo>
                  <a:lnTo>
                    <a:pt x="5940" y="9257"/>
                  </a:lnTo>
                  <a:lnTo>
                    <a:pt x="3779" y="9257"/>
                  </a:lnTo>
                  <a:close/>
                </a:path>
                <a:path w="21600" h="21600" extrusionOk="0">
                  <a:moveTo>
                    <a:pt x="5940" y="9257"/>
                  </a:moveTo>
                  <a:lnTo>
                    <a:pt x="5940" y="10800"/>
                  </a:lnTo>
                  <a:lnTo>
                    <a:pt x="8100" y="10800"/>
                  </a:lnTo>
                  <a:lnTo>
                    <a:pt x="8100" y="9257"/>
                  </a:lnTo>
                  <a:lnTo>
                    <a:pt x="5940" y="9257"/>
                  </a:lnTo>
                  <a:close/>
                </a:path>
                <a:path w="21600" h="21600" extrusionOk="0">
                  <a:moveTo>
                    <a:pt x="8100" y="9257"/>
                  </a:moveTo>
                  <a:lnTo>
                    <a:pt x="8100" y="10800"/>
                  </a:lnTo>
                  <a:lnTo>
                    <a:pt x="10260" y="10800"/>
                  </a:lnTo>
                  <a:lnTo>
                    <a:pt x="10260" y="9257"/>
                  </a:lnTo>
                  <a:lnTo>
                    <a:pt x="8100" y="9257"/>
                  </a:lnTo>
                  <a:close/>
                </a:path>
                <a:path w="21600" h="21600" extrusionOk="0">
                  <a:moveTo>
                    <a:pt x="10260" y="9257"/>
                  </a:moveTo>
                  <a:lnTo>
                    <a:pt x="10260" y="10800"/>
                  </a:lnTo>
                  <a:lnTo>
                    <a:pt x="12419" y="10800"/>
                  </a:lnTo>
                  <a:lnTo>
                    <a:pt x="12419" y="9257"/>
                  </a:lnTo>
                  <a:lnTo>
                    <a:pt x="10260" y="9257"/>
                  </a:lnTo>
                  <a:close/>
                </a:path>
                <a:path w="21600" h="21600" extrusionOk="0">
                  <a:moveTo>
                    <a:pt x="12419" y="9257"/>
                  </a:moveTo>
                  <a:lnTo>
                    <a:pt x="12419" y="10800"/>
                  </a:lnTo>
                  <a:lnTo>
                    <a:pt x="14580" y="10800"/>
                  </a:lnTo>
                  <a:lnTo>
                    <a:pt x="14580" y="9257"/>
                  </a:lnTo>
                  <a:lnTo>
                    <a:pt x="12419" y="9257"/>
                  </a:lnTo>
                  <a:close/>
                </a:path>
                <a:path w="21600" h="21600" extrusionOk="0">
                  <a:moveTo>
                    <a:pt x="14580" y="9257"/>
                  </a:moveTo>
                  <a:lnTo>
                    <a:pt x="14580" y="10800"/>
                  </a:lnTo>
                  <a:lnTo>
                    <a:pt x="16740" y="10800"/>
                  </a:lnTo>
                  <a:lnTo>
                    <a:pt x="16740" y="9257"/>
                  </a:lnTo>
                  <a:lnTo>
                    <a:pt x="14580" y="9257"/>
                  </a:lnTo>
                  <a:close/>
                </a:path>
                <a:path w="21600" h="21600" extrusionOk="0">
                  <a:moveTo>
                    <a:pt x="16740" y="9257"/>
                  </a:moveTo>
                  <a:lnTo>
                    <a:pt x="16740" y="10800"/>
                  </a:lnTo>
                  <a:lnTo>
                    <a:pt x="18900" y="10800"/>
                  </a:lnTo>
                  <a:lnTo>
                    <a:pt x="18900" y="9257"/>
                  </a:lnTo>
                  <a:lnTo>
                    <a:pt x="16740" y="9257"/>
                  </a:lnTo>
                  <a:close/>
                </a:path>
                <a:path w="21600" h="21600" extrusionOk="0">
                  <a:moveTo>
                    <a:pt x="18900" y="9257"/>
                  </a:moveTo>
                  <a:lnTo>
                    <a:pt x="18900" y="10800"/>
                  </a:lnTo>
                  <a:lnTo>
                    <a:pt x="21060" y="10800"/>
                  </a:lnTo>
                  <a:lnTo>
                    <a:pt x="21060" y="9257"/>
                  </a:lnTo>
                  <a:lnTo>
                    <a:pt x="18900" y="9257"/>
                  </a:lnTo>
                  <a:close/>
                </a:path>
                <a:path w="21600" h="21600" extrusionOk="0">
                  <a:moveTo>
                    <a:pt x="540" y="10800"/>
                  </a:moveTo>
                  <a:lnTo>
                    <a:pt x="540" y="12342"/>
                  </a:lnTo>
                  <a:lnTo>
                    <a:pt x="2700" y="12342"/>
                  </a:lnTo>
                  <a:lnTo>
                    <a:pt x="2700" y="10800"/>
                  </a:lnTo>
                  <a:lnTo>
                    <a:pt x="540" y="10800"/>
                  </a:lnTo>
                  <a:close/>
                </a:path>
                <a:path w="21600" h="21600" extrusionOk="0">
                  <a:moveTo>
                    <a:pt x="2700" y="10800"/>
                  </a:moveTo>
                  <a:lnTo>
                    <a:pt x="2700" y="12342"/>
                  </a:lnTo>
                  <a:lnTo>
                    <a:pt x="4860" y="12342"/>
                  </a:lnTo>
                  <a:lnTo>
                    <a:pt x="4860" y="10800"/>
                  </a:lnTo>
                  <a:lnTo>
                    <a:pt x="2700" y="10800"/>
                  </a:lnTo>
                  <a:close/>
                </a:path>
                <a:path w="21600" h="21600" extrusionOk="0">
                  <a:moveTo>
                    <a:pt x="4860" y="10800"/>
                  </a:moveTo>
                  <a:lnTo>
                    <a:pt x="4860" y="12342"/>
                  </a:lnTo>
                  <a:lnTo>
                    <a:pt x="7020" y="12342"/>
                  </a:lnTo>
                  <a:lnTo>
                    <a:pt x="7020" y="10800"/>
                  </a:lnTo>
                  <a:lnTo>
                    <a:pt x="4860" y="10800"/>
                  </a:lnTo>
                  <a:close/>
                </a:path>
                <a:path w="21600" h="21600" extrusionOk="0">
                  <a:moveTo>
                    <a:pt x="7020" y="10800"/>
                  </a:moveTo>
                  <a:lnTo>
                    <a:pt x="7020" y="12342"/>
                  </a:lnTo>
                  <a:lnTo>
                    <a:pt x="9180" y="12342"/>
                  </a:lnTo>
                  <a:lnTo>
                    <a:pt x="9180" y="10800"/>
                  </a:lnTo>
                  <a:lnTo>
                    <a:pt x="7020" y="10800"/>
                  </a:lnTo>
                  <a:close/>
                </a:path>
                <a:path w="21600" h="21600" extrusionOk="0">
                  <a:moveTo>
                    <a:pt x="9180" y="10800"/>
                  </a:moveTo>
                  <a:lnTo>
                    <a:pt x="9180" y="12342"/>
                  </a:lnTo>
                  <a:lnTo>
                    <a:pt x="11340" y="12342"/>
                  </a:lnTo>
                  <a:lnTo>
                    <a:pt x="11340" y="10800"/>
                  </a:lnTo>
                  <a:lnTo>
                    <a:pt x="9180" y="10800"/>
                  </a:lnTo>
                  <a:close/>
                </a:path>
                <a:path w="21600" h="21600" extrusionOk="0">
                  <a:moveTo>
                    <a:pt x="11340" y="10800"/>
                  </a:moveTo>
                  <a:lnTo>
                    <a:pt x="11340" y="12342"/>
                  </a:lnTo>
                  <a:lnTo>
                    <a:pt x="13500" y="12342"/>
                  </a:lnTo>
                  <a:lnTo>
                    <a:pt x="13500" y="10800"/>
                  </a:lnTo>
                  <a:lnTo>
                    <a:pt x="11340" y="10800"/>
                  </a:lnTo>
                  <a:close/>
                </a:path>
                <a:path w="21600" h="21600" extrusionOk="0">
                  <a:moveTo>
                    <a:pt x="13500" y="10800"/>
                  </a:moveTo>
                  <a:lnTo>
                    <a:pt x="13500" y="12342"/>
                  </a:lnTo>
                  <a:lnTo>
                    <a:pt x="15660" y="12342"/>
                  </a:lnTo>
                  <a:lnTo>
                    <a:pt x="15660" y="10800"/>
                  </a:lnTo>
                  <a:lnTo>
                    <a:pt x="13500" y="10800"/>
                  </a:lnTo>
                  <a:close/>
                </a:path>
                <a:path w="21600" h="21600" extrusionOk="0">
                  <a:moveTo>
                    <a:pt x="15660" y="10800"/>
                  </a:moveTo>
                  <a:lnTo>
                    <a:pt x="15660" y="12342"/>
                  </a:lnTo>
                  <a:lnTo>
                    <a:pt x="17820" y="12342"/>
                  </a:lnTo>
                  <a:lnTo>
                    <a:pt x="17820" y="10800"/>
                  </a:lnTo>
                  <a:lnTo>
                    <a:pt x="15660" y="10800"/>
                  </a:lnTo>
                  <a:close/>
                </a:path>
                <a:path w="21600" h="21600" extrusionOk="0">
                  <a:moveTo>
                    <a:pt x="17820" y="10800"/>
                  </a:moveTo>
                  <a:lnTo>
                    <a:pt x="17820" y="12342"/>
                  </a:lnTo>
                  <a:lnTo>
                    <a:pt x="19980" y="12342"/>
                  </a:lnTo>
                  <a:lnTo>
                    <a:pt x="19980" y="10800"/>
                  </a:lnTo>
                  <a:lnTo>
                    <a:pt x="17820" y="10800"/>
                  </a:lnTo>
                  <a:close/>
                </a:path>
                <a:path w="21600" h="21600" extrusionOk="0">
                  <a:moveTo>
                    <a:pt x="1620" y="12342"/>
                  </a:moveTo>
                  <a:lnTo>
                    <a:pt x="1620" y="13885"/>
                  </a:lnTo>
                  <a:lnTo>
                    <a:pt x="3779" y="13885"/>
                  </a:lnTo>
                  <a:lnTo>
                    <a:pt x="3779" y="12342"/>
                  </a:lnTo>
                  <a:lnTo>
                    <a:pt x="1620" y="12342"/>
                  </a:lnTo>
                  <a:close/>
                </a:path>
                <a:path w="21600" h="21600" extrusionOk="0">
                  <a:moveTo>
                    <a:pt x="3779" y="12342"/>
                  </a:moveTo>
                  <a:lnTo>
                    <a:pt x="3779" y="13885"/>
                  </a:lnTo>
                  <a:lnTo>
                    <a:pt x="5940" y="13885"/>
                  </a:lnTo>
                  <a:lnTo>
                    <a:pt x="5940" y="12342"/>
                  </a:lnTo>
                  <a:lnTo>
                    <a:pt x="3779" y="12342"/>
                  </a:lnTo>
                  <a:close/>
                </a:path>
                <a:path w="21600" h="21600" extrusionOk="0">
                  <a:moveTo>
                    <a:pt x="5940" y="12342"/>
                  </a:moveTo>
                  <a:lnTo>
                    <a:pt x="5940" y="13885"/>
                  </a:lnTo>
                  <a:lnTo>
                    <a:pt x="8100" y="13885"/>
                  </a:lnTo>
                  <a:lnTo>
                    <a:pt x="8100" y="12342"/>
                  </a:lnTo>
                  <a:lnTo>
                    <a:pt x="5940" y="12342"/>
                  </a:lnTo>
                  <a:close/>
                </a:path>
                <a:path w="21600" h="21600" extrusionOk="0">
                  <a:moveTo>
                    <a:pt x="8100" y="12342"/>
                  </a:moveTo>
                  <a:lnTo>
                    <a:pt x="8100" y="13885"/>
                  </a:lnTo>
                  <a:lnTo>
                    <a:pt x="10260" y="13885"/>
                  </a:lnTo>
                  <a:lnTo>
                    <a:pt x="10260" y="12342"/>
                  </a:lnTo>
                  <a:lnTo>
                    <a:pt x="8100" y="12342"/>
                  </a:lnTo>
                  <a:close/>
                </a:path>
                <a:path w="21600" h="21600" extrusionOk="0">
                  <a:moveTo>
                    <a:pt x="10260" y="12342"/>
                  </a:moveTo>
                  <a:lnTo>
                    <a:pt x="10260" y="13885"/>
                  </a:lnTo>
                  <a:lnTo>
                    <a:pt x="12419" y="13885"/>
                  </a:lnTo>
                  <a:lnTo>
                    <a:pt x="12419" y="12342"/>
                  </a:lnTo>
                  <a:lnTo>
                    <a:pt x="10260" y="12342"/>
                  </a:lnTo>
                  <a:close/>
                </a:path>
                <a:path w="21600" h="21600" extrusionOk="0">
                  <a:moveTo>
                    <a:pt x="12419" y="12342"/>
                  </a:moveTo>
                  <a:lnTo>
                    <a:pt x="12419" y="13885"/>
                  </a:lnTo>
                  <a:lnTo>
                    <a:pt x="14580" y="13885"/>
                  </a:lnTo>
                  <a:lnTo>
                    <a:pt x="14580" y="12342"/>
                  </a:lnTo>
                  <a:lnTo>
                    <a:pt x="12419" y="12342"/>
                  </a:lnTo>
                  <a:close/>
                </a:path>
                <a:path w="21600" h="21600" extrusionOk="0">
                  <a:moveTo>
                    <a:pt x="14580" y="12342"/>
                  </a:moveTo>
                  <a:lnTo>
                    <a:pt x="14580" y="13885"/>
                  </a:lnTo>
                  <a:lnTo>
                    <a:pt x="16740" y="13885"/>
                  </a:lnTo>
                  <a:lnTo>
                    <a:pt x="16740" y="12342"/>
                  </a:lnTo>
                  <a:lnTo>
                    <a:pt x="14580" y="12342"/>
                  </a:lnTo>
                  <a:close/>
                </a:path>
                <a:path w="21600" h="21600" extrusionOk="0">
                  <a:moveTo>
                    <a:pt x="16740" y="12342"/>
                  </a:moveTo>
                  <a:lnTo>
                    <a:pt x="16740" y="13885"/>
                  </a:lnTo>
                  <a:lnTo>
                    <a:pt x="18900" y="13885"/>
                  </a:lnTo>
                  <a:lnTo>
                    <a:pt x="18900" y="12342"/>
                  </a:lnTo>
                  <a:lnTo>
                    <a:pt x="16740" y="12342"/>
                  </a:lnTo>
                  <a:close/>
                </a:path>
                <a:path w="21600" h="21600" extrusionOk="0">
                  <a:moveTo>
                    <a:pt x="18900" y="12342"/>
                  </a:moveTo>
                  <a:lnTo>
                    <a:pt x="18900" y="13885"/>
                  </a:lnTo>
                  <a:lnTo>
                    <a:pt x="21060" y="13885"/>
                  </a:lnTo>
                  <a:lnTo>
                    <a:pt x="21060" y="12342"/>
                  </a:lnTo>
                  <a:lnTo>
                    <a:pt x="18900" y="12342"/>
                  </a:lnTo>
                  <a:close/>
                </a:path>
                <a:path w="21600" h="21600" extrusionOk="0">
                  <a:moveTo>
                    <a:pt x="540" y="13885"/>
                  </a:moveTo>
                  <a:lnTo>
                    <a:pt x="540" y="15428"/>
                  </a:lnTo>
                  <a:lnTo>
                    <a:pt x="2700" y="15428"/>
                  </a:lnTo>
                  <a:lnTo>
                    <a:pt x="2700" y="13885"/>
                  </a:lnTo>
                  <a:lnTo>
                    <a:pt x="540" y="13885"/>
                  </a:lnTo>
                  <a:close/>
                </a:path>
                <a:path w="21600" h="21600" extrusionOk="0">
                  <a:moveTo>
                    <a:pt x="2700" y="13885"/>
                  </a:moveTo>
                  <a:lnTo>
                    <a:pt x="2700" y="15428"/>
                  </a:lnTo>
                  <a:lnTo>
                    <a:pt x="4860" y="15428"/>
                  </a:lnTo>
                  <a:lnTo>
                    <a:pt x="4860" y="13885"/>
                  </a:lnTo>
                  <a:lnTo>
                    <a:pt x="2700" y="13885"/>
                  </a:lnTo>
                  <a:close/>
                </a:path>
                <a:path w="21600" h="21600" extrusionOk="0">
                  <a:moveTo>
                    <a:pt x="4860" y="13885"/>
                  </a:moveTo>
                  <a:lnTo>
                    <a:pt x="4860" y="15428"/>
                  </a:lnTo>
                  <a:lnTo>
                    <a:pt x="7020" y="15428"/>
                  </a:lnTo>
                  <a:lnTo>
                    <a:pt x="7020" y="13885"/>
                  </a:lnTo>
                  <a:lnTo>
                    <a:pt x="4860" y="13885"/>
                  </a:lnTo>
                  <a:close/>
                </a:path>
                <a:path w="21600" h="21600" extrusionOk="0">
                  <a:moveTo>
                    <a:pt x="7020" y="13885"/>
                  </a:moveTo>
                  <a:lnTo>
                    <a:pt x="7020" y="15428"/>
                  </a:lnTo>
                  <a:lnTo>
                    <a:pt x="9180" y="15428"/>
                  </a:lnTo>
                  <a:lnTo>
                    <a:pt x="9180" y="13885"/>
                  </a:lnTo>
                  <a:lnTo>
                    <a:pt x="7020" y="13885"/>
                  </a:lnTo>
                  <a:close/>
                </a:path>
                <a:path w="21600" h="21600" extrusionOk="0">
                  <a:moveTo>
                    <a:pt x="9180" y="13885"/>
                  </a:moveTo>
                  <a:lnTo>
                    <a:pt x="9180" y="15428"/>
                  </a:lnTo>
                  <a:lnTo>
                    <a:pt x="11340" y="15428"/>
                  </a:lnTo>
                  <a:lnTo>
                    <a:pt x="11340" y="13885"/>
                  </a:lnTo>
                  <a:lnTo>
                    <a:pt x="9180" y="13885"/>
                  </a:lnTo>
                  <a:close/>
                </a:path>
                <a:path w="21600" h="21600" extrusionOk="0">
                  <a:moveTo>
                    <a:pt x="11340" y="13885"/>
                  </a:moveTo>
                  <a:lnTo>
                    <a:pt x="11340" y="15428"/>
                  </a:lnTo>
                  <a:lnTo>
                    <a:pt x="13500" y="15428"/>
                  </a:lnTo>
                  <a:lnTo>
                    <a:pt x="13500" y="13885"/>
                  </a:lnTo>
                  <a:lnTo>
                    <a:pt x="11340" y="13885"/>
                  </a:lnTo>
                  <a:close/>
                </a:path>
                <a:path w="21600" h="21600" extrusionOk="0">
                  <a:moveTo>
                    <a:pt x="13500" y="13885"/>
                  </a:moveTo>
                  <a:lnTo>
                    <a:pt x="13500" y="15428"/>
                  </a:lnTo>
                  <a:lnTo>
                    <a:pt x="15660" y="15428"/>
                  </a:lnTo>
                  <a:lnTo>
                    <a:pt x="15660" y="13885"/>
                  </a:lnTo>
                  <a:lnTo>
                    <a:pt x="13500" y="13885"/>
                  </a:lnTo>
                  <a:close/>
                </a:path>
                <a:path w="21600" h="21600" extrusionOk="0">
                  <a:moveTo>
                    <a:pt x="15660" y="13885"/>
                  </a:moveTo>
                  <a:lnTo>
                    <a:pt x="15660" y="15428"/>
                  </a:lnTo>
                  <a:lnTo>
                    <a:pt x="17820" y="15428"/>
                  </a:lnTo>
                  <a:lnTo>
                    <a:pt x="17820" y="13885"/>
                  </a:lnTo>
                  <a:lnTo>
                    <a:pt x="15660" y="13885"/>
                  </a:lnTo>
                  <a:close/>
                </a:path>
                <a:path w="21600" h="21600" extrusionOk="0">
                  <a:moveTo>
                    <a:pt x="17820" y="13885"/>
                  </a:moveTo>
                  <a:lnTo>
                    <a:pt x="17820" y="15428"/>
                  </a:lnTo>
                  <a:lnTo>
                    <a:pt x="19980" y="15428"/>
                  </a:lnTo>
                  <a:lnTo>
                    <a:pt x="19980" y="13885"/>
                  </a:lnTo>
                  <a:lnTo>
                    <a:pt x="17820" y="13885"/>
                  </a:lnTo>
                  <a:close/>
                </a:path>
                <a:path w="21600" h="21600" extrusionOk="0">
                  <a:moveTo>
                    <a:pt x="1620" y="15428"/>
                  </a:moveTo>
                  <a:lnTo>
                    <a:pt x="1620" y="16971"/>
                  </a:lnTo>
                  <a:lnTo>
                    <a:pt x="3779" y="16971"/>
                  </a:lnTo>
                  <a:lnTo>
                    <a:pt x="3779" y="15428"/>
                  </a:lnTo>
                  <a:lnTo>
                    <a:pt x="1620" y="15428"/>
                  </a:lnTo>
                  <a:close/>
                </a:path>
                <a:path w="21600" h="21600" extrusionOk="0">
                  <a:moveTo>
                    <a:pt x="3779" y="15428"/>
                  </a:moveTo>
                  <a:lnTo>
                    <a:pt x="3779" y="16971"/>
                  </a:lnTo>
                  <a:lnTo>
                    <a:pt x="5940" y="16971"/>
                  </a:lnTo>
                  <a:lnTo>
                    <a:pt x="5940" y="15428"/>
                  </a:lnTo>
                  <a:lnTo>
                    <a:pt x="3779" y="15428"/>
                  </a:lnTo>
                  <a:close/>
                </a:path>
                <a:path w="21600" h="21600" extrusionOk="0">
                  <a:moveTo>
                    <a:pt x="5940" y="15428"/>
                  </a:moveTo>
                  <a:lnTo>
                    <a:pt x="5940" y="16971"/>
                  </a:lnTo>
                  <a:lnTo>
                    <a:pt x="8100" y="16971"/>
                  </a:lnTo>
                  <a:lnTo>
                    <a:pt x="8100" y="15428"/>
                  </a:lnTo>
                  <a:lnTo>
                    <a:pt x="5940" y="15428"/>
                  </a:lnTo>
                  <a:close/>
                </a:path>
                <a:path w="21600" h="21600" extrusionOk="0">
                  <a:moveTo>
                    <a:pt x="8100" y="15428"/>
                  </a:moveTo>
                  <a:lnTo>
                    <a:pt x="8100" y="16971"/>
                  </a:lnTo>
                  <a:lnTo>
                    <a:pt x="10260" y="16971"/>
                  </a:lnTo>
                  <a:lnTo>
                    <a:pt x="10260" y="15428"/>
                  </a:lnTo>
                  <a:lnTo>
                    <a:pt x="8100" y="15428"/>
                  </a:lnTo>
                  <a:close/>
                </a:path>
                <a:path w="21600" h="21600" extrusionOk="0">
                  <a:moveTo>
                    <a:pt x="10260" y="15428"/>
                  </a:moveTo>
                  <a:lnTo>
                    <a:pt x="10260" y="16971"/>
                  </a:lnTo>
                  <a:lnTo>
                    <a:pt x="12419" y="16971"/>
                  </a:lnTo>
                  <a:lnTo>
                    <a:pt x="12419" y="15428"/>
                  </a:lnTo>
                  <a:lnTo>
                    <a:pt x="10260" y="15428"/>
                  </a:lnTo>
                  <a:close/>
                </a:path>
                <a:path w="21600" h="21600" extrusionOk="0">
                  <a:moveTo>
                    <a:pt x="12419" y="15428"/>
                  </a:moveTo>
                  <a:lnTo>
                    <a:pt x="12419" y="16971"/>
                  </a:lnTo>
                  <a:lnTo>
                    <a:pt x="14580" y="16971"/>
                  </a:lnTo>
                  <a:lnTo>
                    <a:pt x="14580" y="15428"/>
                  </a:lnTo>
                  <a:lnTo>
                    <a:pt x="12419" y="15428"/>
                  </a:lnTo>
                  <a:close/>
                </a:path>
                <a:path w="21600" h="21600" extrusionOk="0">
                  <a:moveTo>
                    <a:pt x="14580" y="15428"/>
                  </a:moveTo>
                  <a:lnTo>
                    <a:pt x="14580" y="16971"/>
                  </a:lnTo>
                  <a:lnTo>
                    <a:pt x="16740" y="16971"/>
                  </a:lnTo>
                  <a:lnTo>
                    <a:pt x="16740" y="15428"/>
                  </a:lnTo>
                  <a:lnTo>
                    <a:pt x="14580" y="15428"/>
                  </a:lnTo>
                  <a:close/>
                </a:path>
                <a:path w="21600" h="21600" extrusionOk="0">
                  <a:moveTo>
                    <a:pt x="16740" y="15428"/>
                  </a:moveTo>
                  <a:lnTo>
                    <a:pt x="16740" y="16971"/>
                  </a:lnTo>
                  <a:lnTo>
                    <a:pt x="18900" y="16971"/>
                  </a:lnTo>
                  <a:lnTo>
                    <a:pt x="18900" y="15428"/>
                  </a:lnTo>
                  <a:lnTo>
                    <a:pt x="16740" y="15428"/>
                  </a:lnTo>
                  <a:close/>
                </a:path>
                <a:path w="21600" h="21600" extrusionOk="0">
                  <a:moveTo>
                    <a:pt x="18900" y="15428"/>
                  </a:moveTo>
                  <a:lnTo>
                    <a:pt x="18900" y="16971"/>
                  </a:lnTo>
                  <a:lnTo>
                    <a:pt x="21060" y="16971"/>
                  </a:lnTo>
                  <a:lnTo>
                    <a:pt x="21060" y="15428"/>
                  </a:lnTo>
                  <a:lnTo>
                    <a:pt x="18900" y="15428"/>
                  </a:lnTo>
                  <a:close/>
                </a:path>
                <a:path w="21600" h="21600" extrusionOk="0">
                  <a:moveTo>
                    <a:pt x="540" y="16971"/>
                  </a:moveTo>
                  <a:lnTo>
                    <a:pt x="540" y="18514"/>
                  </a:lnTo>
                  <a:lnTo>
                    <a:pt x="2700" y="18514"/>
                  </a:lnTo>
                  <a:lnTo>
                    <a:pt x="2700" y="16971"/>
                  </a:lnTo>
                  <a:lnTo>
                    <a:pt x="540" y="16971"/>
                  </a:lnTo>
                  <a:close/>
                </a:path>
                <a:path w="21600" h="21600" extrusionOk="0">
                  <a:moveTo>
                    <a:pt x="2700" y="16971"/>
                  </a:moveTo>
                  <a:lnTo>
                    <a:pt x="2700" y="18514"/>
                  </a:lnTo>
                  <a:lnTo>
                    <a:pt x="4860" y="18514"/>
                  </a:lnTo>
                  <a:lnTo>
                    <a:pt x="4860" y="16971"/>
                  </a:lnTo>
                  <a:lnTo>
                    <a:pt x="2700" y="16971"/>
                  </a:lnTo>
                  <a:close/>
                </a:path>
                <a:path w="21600" h="21600" extrusionOk="0">
                  <a:moveTo>
                    <a:pt x="4860" y="16971"/>
                  </a:moveTo>
                  <a:lnTo>
                    <a:pt x="4860" y="18514"/>
                  </a:lnTo>
                  <a:lnTo>
                    <a:pt x="7020" y="18514"/>
                  </a:lnTo>
                  <a:lnTo>
                    <a:pt x="7020" y="16971"/>
                  </a:lnTo>
                  <a:lnTo>
                    <a:pt x="4860" y="16971"/>
                  </a:lnTo>
                  <a:close/>
                </a:path>
                <a:path w="21600" h="21600" extrusionOk="0">
                  <a:moveTo>
                    <a:pt x="7020" y="16971"/>
                  </a:moveTo>
                  <a:lnTo>
                    <a:pt x="7020" y="18514"/>
                  </a:lnTo>
                  <a:lnTo>
                    <a:pt x="9180" y="18514"/>
                  </a:lnTo>
                  <a:lnTo>
                    <a:pt x="9180" y="16971"/>
                  </a:lnTo>
                  <a:lnTo>
                    <a:pt x="7020" y="16971"/>
                  </a:lnTo>
                  <a:close/>
                </a:path>
                <a:path w="21600" h="21600" extrusionOk="0">
                  <a:moveTo>
                    <a:pt x="9180" y="16971"/>
                  </a:moveTo>
                  <a:lnTo>
                    <a:pt x="9180" y="18514"/>
                  </a:lnTo>
                  <a:lnTo>
                    <a:pt x="11340" y="18514"/>
                  </a:lnTo>
                  <a:lnTo>
                    <a:pt x="11340" y="16971"/>
                  </a:lnTo>
                  <a:lnTo>
                    <a:pt x="9180" y="16971"/>
                  </a:lnTo>
                  <a:close/>
                </a:path>
                <a:path w="21600" h="21600" extrusionOk="0">
                  <a:moveTo>
                    <a:pt x="11340" y="16971"/>
                  </a:moveTo>
                  <a:lnTo>
                    <a:pt x="11340" y="18514"/>
                  </a:lnTo>
                  <a:lnTo>
                    <a:pt x="13500" y="18514"/>
                  </a:lnTo>
                  <a:lnTo>
                    <a:pt x="13500" y="16971"/>
                  </a:lnTo>
                  <a:lnTo>
                    <a:pt x="11340" y="16971"/>
                  </a:lnTo>
                  <a:close/>
                </a:path>
                <a:path w="21600" h="21600" extrusionOk="0">
                  <a:moveTo>
                    <a:pt x="13500" y="16971"/>
                  </a:moveTo>
                  <a:lnTo>
                    <a:pt x="13500" y="18514"/>
                  </a:lnTo>
                  <a:lnTo>
                    <a:pt x="15660" y="18514"/>
                  </a:lnTo>
                  <a:lnTo>
                    <a:pt x="15660" y="16971"/>
                  </a:lnTo>
                  <a:lnTo>
                    <a:pt x="13500" y="16971"/>
                  </a:lnTo>
                  <a:close/>
                </a:path>
                <a:path w="21600" h="21600" extrusionOk="0">
                  <a:moveTo>
                    <a:pt x="15660" y="16971"/>
                  </a:moveTo>
                  <a:lnTo>
                    <a:pt x="15660" y="18514"/>
                  </a:lnTo>
                  <a:lnTo>
                    <a:pt x="17820" y="18514"/>
                  </a:lnTo>
                  <a:lnTo>
                    <a:pt x="17820" y="16971"/>
                  </a:lnTo>
                  <a:lnTo>
                    <a:pt x="15660" y="16971"/>
                  </a:lnTo>
                  <a:close/>
                </a:path>
                <a:path w="21600" h="21600" extrusionOk="0">
                  <a:moveTo>
                    <a:pt x="17820" y="16971"/>
                  </a:moveTo>
                  <a:lnTo>
                    <a:pt x="17820" y="18514"/>
                  </a:lnTo>
                  <a:lnTo>
                    <a:pt x="19980" y="18514"/>
                  </a:lnTo>
                  <a:lnTo>
                    <a:pt x="19980" y="16971"/>
                  </a:lnTo>
                  <a:lnTo>
                    <a:pt x="17820" y="16971"/>
                  </a:lnTo>
                  <a:close/>
                </a:path>
                <a:path w="21600" h="21600" extrusionOk="0">
                  <a:moveTo>
                    <a:pt x="1620" y="18514"/>
                  </a:moveTo>
                  <a:lnTo>
                    <a:pt x="1620" y="20057"/>
                  </a:lnTo>
                  <a:lnTo>
                    <a:pt x="3779" y="20057"/>
                  </a:lnTo>
                  <a:lnTo>
                    <a:pt x="3779" y="18514"/>
                  </a:lnTo>
                  <a:lnTo>
                    <a:pt x="1620" y="18514"/>
                  </a:lnTo>
                  <a:close/>
                </a:path>
                <a:path w="21600" h="21600" extrusionOk="0">
                  <a:moveTo>
                    <a:pt x="3779" y="18514"/>
                  </a:moveTo>
                  <a:lnTo>
                    <a:pt x="3779" y="20057"/>
                  </a:lnTo>
                  <a:lnTo>
                    <a:pt x="5940" y="20057"/>
                  </a:lnTo>
                  <a:lnTo>
                    <a:pt x="5940" y="18514"/>
                  </a:lnTo>
                  <a:lnTo>
                    <a:pt x="3779" y="18514"/>
                  </a:lnTo>
                  <a:close/>
                </a:path>
                <a:path w="21600" h="21600" extrusionOk="0">
                  <a:moveTo>
                    <a:pt x="5940" y="18514"/>
                  </a:moveTo>
                  <a:lnTo>
                    <a:pt x="5940" y="20057"/>
                  </a:lnTo>
                  <a:lnTo>
                    <a:pt x="8100" y="20057"/>
                  </a:lnTo>
                  <a:lnTo>
                    <a:pt x="8100" y="18514"/>
                  </a:lnTo>
                  <a:lnTo>
                    <a:pt x="5940" y="18514"/>
                  </a:lnTo>
                  <a:close/>
                </a:path>
                <a:path w="21600" h="21600" extrusionOk="0">
                  <a:moveTo>
                    <a:pt x="8100" y="18514"/>
                  </a:moveTo>
                  <a:lnTo>
                    <a:pt x="8100" y="20057"/>
                  </a:lnTo>
                  <a:lnTo>
                    <a:pt x="10260" y="20057"/>
                  </a:lnTo>
                  <a:lnTo>
                    <a:pt x="10260" y="18514"/>
                  </a:lnTo>
                  <a:lnTo>
                    <a:pt x="8100" y="18514"/>
                  </a:lnTo>
                  <a:close/>
                </a:path>
                <a:path w="21600" h="21600" extrusionOk="0">
                  <a:moveTo>
                    <a:pt x="10260" y="18514"/>
                  </a:moveTo>
                  <a:lnTo>
                    <a:pt x="10260" y="20057"/>
                  </a:lnTo>
                  <a:lnTo>
                    <a:pt x="12419" y="20057"/>
                  </a:lnTo>
                  <a:lnTo>
                    <a:pt x="12419" y="18514"/>
                  </a:lnTo>
                  <a:lnTo>
                    <a:pt x="10260" y="18514"/>
                  </a:lnTo>
                  <a:close/>
                </a:path>
                <a:path w="21600" h="21600" extrusionOk="0">
                  <a:moveTo>
                    <a:pt x="12419" y="18514"/>
                  </a:moveTo>
                  <a:lnTo>
                    <a:pt x="12419" y="20057"/>
                  </a:lnTo>
                  <a:lnTo>
                    <a:pt x="14580" y="20057"/>
                  </a:lnTo>
                  <a:lnTo>
                    <a:pt x="14580" y="18514"/>
                  </a:lnTo>
                  <a:lnTo>
                    <a:pt x="12419" y="18514"/>
                  </a:lnTo>
                  <a:close/>
                </a:path>
                <a:path w="21600" h="21600" extrusionOk="0">
                  <a:moveTo>
                    <a:pt x="14580" y="18514"/>
                  </a:moveTo>
                  <a:lnTo>
                    <a:pt x="14580" y="20057"/>
                  </a:lnTo>
                  <a:lnTo>
                    <a:pt x="16740" y="20057"/>
                  </a:lnTo>
                  <a:lnTo>
                    <a:pt x="16740" y="18514"/>
                  </a:lnTo>
                  <a:lnTo>
                    <a:pt x="14580" y="18514"/>
                  </a:lnTo>
                  <a:close/>
                </a:path>
                <a:path w="21600" h="21600" extrusionOk="0">
                  <a:moveTo>
                    <a:pt x="16740" y="18514"/>
                  </a:moveTo>
                  <a:lnTo>
                    <a:pt x="16740" y="20057"/>
                  </a:lnTo>
                  <a:lnTo>
                    <a:pt x="18900" y="20057"/>
                  </a:lnTo>
                  <a:lnTo>
                    <a:pt x="18900" y="18514"/>
                  </a:lnTo>
                  <a:lnTo>
                    <a:pt x="16740" y="18514"/>
                  </a:lnTo>
                  <a:close/>
                </a:path>
                <a:path w="21600" h="21600" extrusionOk="0">
                  <a:moveTo>
                    <a:pt x="18900" y="18514"/>
                  </a:moveTo>
                  <a:lnTo>
                    <a:pt x="18900" y="20057"/>
                  </a:lnTo>
                  <a:lnTo>
                    <a:pt x="21060" y="20057"/>
                  </a:lnTo>
                  <a:lnTo>
                    <a:pt x="21060" y="18514"/>
                  </a:lnTo>
                  <a:lnTo>
                    <a:pt x="18900" y="18514"/>
                  </a:lnTo>
                  <a:close/>
                </a:path>
                <a:path w="21600" h="21600" extrusionOk="0">
                  <a:moveTo>
                    <a:pt x="540" y="20057"/>
                  </a:moveTo>
                  <a:lnTo>
                    <a:pt x="540" y="21600"/>
                  </a:lnTo>
                  <a:lnTo>
                    <a:pt x="2700" y="21600"/>
                  </a:lnTo>
                  <a:lnTo>
                    <a:pt x="2700" y="20057"/>
                  </a:lnTo>
                  <a:lnTo>
                    <a:pt x="540" y="20057"/>
                  </a:lnTo>
                  <a:close/>
                </a:path>
                <a:path w="21600" h="21600" extrusionOk="0">
                  <a:moveTo>
                    <a:pt x="2700" y="20057"/>
                  </a:moveTo>
                  <a:lnTo>
                    <a:pt x="2700" y="21600"/>
                  </a:lnTo>
                  <a:lnTo>
                    <a:pt x="4860" y="21600"/>
                  </a:lnTo>
                  <a:lnTo>
                    <a:pt x="4860" y="20057"/>
                  </a:lnTo>
                  <a:lnTo>
                    <a:pt x="2700" y="20057"/>
                  </a:lnTo>
                  <a:close/>
                </a:path>
                <a:path w="21600" h="21600" extrusionOk="0">
                  <a:moveTo>
                    <a:pt x="4860" y="20057"/>
                  </a:moveTo>
                  <a:lnTo>
                    <a:pt x="4860" y="21600"/>
                  </a:lnTo>
                  <a:lnTo>
                    <a:pt x="7020" y="21600"/>
                  </a:lnTo>
                  <a:lnTo>
                    <a:pt x="7020" y="20057"/>
                  </a:lnTo>
                  <a:lnTo>
                    <a:pt x="4860" y="20057"/>
                  </a:lnTo>
                  <a:close/>
                </a:path>
                <a:path w="21600" h="21600" extrusionOk="0">
                  <a:moveTo>
                    <a:pt x="7020" y="20057"/>
                  </a:moveTo>
                  <a:lnTo>
                    <a:pt x="7020" y="21600"/>
                  </a:lnTo>
                  <a:lnTo>
                    <a:pt x="9180" y="21600"/>
                  </a:lnTo>
                  <a:lnTo>
                    <a:pt x="9180" y="20057"/>
                  </a:lnTo>
                  <a:lnTo>
                    <a:pt x="7020" y="20057"/>
                  </a:lnTo>
                  <a:close/>
                </a:path>
                <a:path w="21600" h="21600" extrusionOk="0">
                  <a:moveTo>
                    <a:pt x="9180" y="20057"/>
                  </a:moveTo>
                  <a:lnTo>
                    <a:pt x="9180" y="21600"/>
                  </a:lnTo>
                  <a:lnTo>
                    <a:pt x="11340" y="21600"/>
                  </a:lnTo>
                  <a:lnTo>
                    <a:pt x="11340" y="20057"/>
                  </a:lnTo>
                  <a:lnTo>
                    <a:pt x="9180" y="20057"/>
                  </a:lnTo>
                  <a:close/>
                </a:path>
                <a:path w="21600" h="21600" extrusionOk="0">
                  <a:moveTo>
                    <a:pt x="11340" y="20057"/>
                  </a:moveTo>
                  <a:lnTo>
                    <a:pt x="11340" y="21600"/>
                  </a:lnTo>
                  <a:lnTo>
                    <a:pt x="13500" y="21600"/>
                  </a:lnTo>
                  <a:lnTo>
                    <a:pt x="13500" y="20057"/>
                  </a:lnTo>
                  <a:lnTo>
                    <a:pt x="11340" y="20057"/>
                  </a:lnTo>
                  <a:close/>
                </a:path>
                <a:path w="21600" h="21600" extrusionOk="0">
                  <a:moveTo>
                    <a:pt x="13500" y="20057"/>
                  </a:moveTo>
                  <a:lnTo>
                    <a:pt x="13500" y="21600"/>
                  </a:lnTo>
                  <a:lnTo>
                    <a:pt x="15660" y="21600"/>
                  </a:lnTo>
                  <a:lnTo>
                    <a:pt x="15660" y="20057"/>
                  </a:lnTo>
                  <a:lnTo>
                    <a:pt x="13500" y="20057"/>
                  </a:lnTo>
                  <a:close/>
                </a:path>
                <a:path w="21600" h="21600" extrusionOk="0">
                  <a:moveTo>
                    <a:pt x="15660" y="20057"/>
                  </a:moveTo>
                  <a:lnTo>
                    <a:pt x="15660" y="21600"/>
                  </a:lnTo>
                  <a:lnTo>
                    <a:pt x="17820" y="21600"/>
                  </a:lnTo>
                  <a:lnTo>
                    <a:pt x="17820" y="20057"/>
                  </a:lnTo>
                  <a:lnTo>
                    <a:pt x="15660" y="20057"/>
                  </a:lnTo>
                  <a:close/>
                </a:path>
                <a:path w="21600" h="21600" extrusionOk="0">
                  <a:moveTo>
                    <a:pt x="17820" y="20057"/>
                  </a:moveTo>
                  <a:lnTo>
                    <a:pt x="17820" y="21600"/>
                  </a:lnTo>
                  <a:lnTo>
                    <a:pt x="19980" y="21600"/>
                  </a:lnTo>
                  <a:lnTo>
                    <a:pt x="19980" y="20057"/>
                  </a:lnTo>
                  <a:lnTo>
                    <a:pt x="17820" y="20057"/>
                  </a:lnTo>
                  <a:close/>
                </a:path>
                <a:path w="21600" h="21600" extrusionOk="0">
                  <a:moveTo>
                    <a:pt x="19980" y="4628"/>
                  </a:moveTo>
                  <a:lnTo>
                    <a:pt x="21060" y="4628"/>
                  </a:lnTo>
                  <a:lnTo>
                    <a:pt x="21060" y="6171"/>
                  </a:lnTo>
                  <a:lnTo>
                    <a:pt x="19980" y="6171"/>
                  </a:lnTo>
                  <a:lnTo>
                    <a:pt x="19980" y="4628"/>
                  </a:lnTo>
                  <a:close/>
                </a:path>
              </a:pathLst>
            </a:custGeom>
            <a:solidFill>
              <a:srgbClr val="9966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7" name="Rectangle 8"/>
            <p:cNvSpPr>
              <a:spLocks noChangeArrowheads="1"/>
            </p:cNvSpPr>
            <p:nvPr/>
          </p:nvSpPr>
          <p:spPr bwMode="auto">
            <a:xfrm>
              <a:off x="4541" y="1458"/>
              <a:ext cx="746" cy="5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28" name="Rectangle 9"/>
            <p:cNvSpPr>
              <a:spLocks noChangeArrowheads="1"/>
            </p:cNvSpPr>
            <p:nvPr/>
          </p:nvSpPr>
          <p:spPr bwMode="auto">
            <a:xfrm>
              <a:off x="5029" y="1334"/>
              <a:ext cx="136" cy="1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29" name="Text Box 10"/>
            <p:cNvSpPr txBox="1">
              <a:spLocks noChangeArrowheads="1"/>
            </p:cNvSpPr>
            <p:nvPr/>
          </p:nvSpPr>
          <p:spPr bwMode="auto">
            <a:xfrm>
              <a:off x="4642" y="1248"/>
              <a:ext cx="1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/>
                <a:t>A</a:t>
              </a:r>
            </a:p>
          </p:txBody>
        </p:sp>
        <p:sp>
          <p:nvSpPr>
            <p:cNvPr id="30730" name="Text Box 11"/>
            <p:cNvSpPr txBox="1">
              <a:spLocks noChangeArrowheads="1"/>
            </p:cNvSpPr>
            <p:nvPr/>
          </p:nvSpPr>
          <p:spPr bwMode="auto">
            <a:xfrm>
              <a:off x="5187" y="1248"/>
              <a:ext cx="1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/>
                <a:t>B</a:t>
              </a:r>
            </a:p>
          </p:txBody>
        </p:sp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013745" y="582179"/>
            <a:ext cx="2042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固定端约束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57725" y="490134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  <p:pic>
        <p:nvPicPr>
          <p:cNvPr id="3" name="卡盘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0477" y="1268760"/>
            <a:ext cx="3878825" cy="2909118"/>
          </a:xfrm>
          <a:prstGeom prst="rect">
            <a:avLst/>
          </a:prstGeom>
        </p:spPr>
      </p:pic>
      <p:pic>
        <p:nvPicPr>
          <p:cNvPr id="4" name="机翼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68064" y="3421534"/>
            <a:ext cx="3918181" cy="293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7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750788" y="1148153"/>
            <a:ext cx="7565627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ts val="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约束特点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不仅限制物体在固定端处沿任何方向的移动，而且限制物体在固定端处绕任一轴的转动。</a:t>
            </a:r>
          </a:p>
          <a:p>
            <a:pPr marL="0" lvl="2" eaLnBrk="1" hangingPunct="1">
              <a:spcBef>
                <a:spcPts val="6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一般在空间力系的情况下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有三个正交约束反力与三个约束力偶；一般在平面力系的情况下，有两个正交约束反力与一个约束力偶。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35323" y="3778821"/>
            <a:ext cx="1943100" cy="1462088"/>
            <a:chOff x="3384" y="1680"/>
            <a:chExt cx="1224" cy="921"/>
          </a:xfrm>
        </p:grpSpPr>
        <p:grpSp>
          <p:nvGrpSpPr>
            <p:cNvPr id="31838" name="Group 6"/>
            <p:cNvGrpSpPr>
              <a:grpSpLocks/>
            </p:cNvGrpSpPr>
            <p:nvPr/>
          </p:nvGrpSpPr>
          <p:grpSpPr bwMode="auto">
            <a:xfrm>
              <a:off x="3384" y="1680"/>
              <a:ext cx="1224" cy="921"/>
              <a:chOff x="888" y="2070"/>
              <a:chExt cx="1224" cy="921"/>
            </a:xfrm>
          </p:grpSpPr>
          <p:sp>
            <p:nvSpPr>
              <p:cNvPr id="31841" name="Rectangle 7"/>
              <p:cNvSpPr>
                <a:spLocks noChangeArrowheads="1"/>
              </p:cNvSpPr>
              <p:nvPr/>
            </p:nvSpPr>
            <p:spPr bwMode="auto">
              <a:xfrm>
                <a:off x="1008" y="2496"/>
                <a:ext cx="1104" cy="96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42" name="Freeform 8"/>
              <p:cNvSpPr>
                <a:spLocks/>
              </p:cNvSpPr>
              <p:nvPr/>
            </p:nvSpPr>
            <p:spPr bwMode="auto">
              <a:xfrm>
                <a:off x="999" y="2079"/>
                <a:ext cx="336" cy="880"/>
              </a:xfrm>
              <a:custGeom>
                <a:avLst/>
                <a:gdLst>
                  <a:gd name="T0" fmla="*/ 336 w 336"/>
                  <a:gd name="T1" fmla="*/ 0 h 720"/>
                  <a:gd name="T2" fmla="*/ 336 w 336"/>
                  <a:gd name="T3" fmla="*/ 1121 h 720"/>
                  <a:gd name="T4" fmla="*/ 0 w 336"/>
                  <a:gd name="T5" fmla="*/ 1121 h 720"/>
                  <a:gd name="T6" fmla="*/ 0 w 336"/>
                  <a:gd name="T7" fmla="*/ 1439 h 720"/>
                  <a:gd name="T8" fmla="*/ 336 w 336"/>
                  <a:gd name="T9" fmla="*/ 1439 h 720"/>
                  <a:gd name="T10" fmla="*/ 336 w 336"/>
                  <a:gd name="T11" fmla="*/ 2400 h 7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6"/>
                  <a:gd name="T19" fmla="*/ 0 h 720"/>
                  <a:gd name="T20" fmla="*/ 336 w 336"/>
                  <a:gd name="T21" fmla="*/ 720 h 7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6" h="720">
                    <a:moveTo>
                      <a:pt x="336" y="0"/>
                    </a:moveTo>
                    <a:lnTo>
                      <a:pt x="336" y="336"/>
                    </a:lnTo>
                    <a:lnTo>
                      <a:pt x="0" y="336"/>
                    </a:lnTo>
                    <a:lnTo>
                      <a:pt x="0" y="432"/>
                    </a:lnTo>
                    <a:lnTo>
                      <a:pt x="336" y="432"/>
                    </a:lnTo>
                    <a:lnTo>
                      <a:pt x="336" y="720"/>
                    </a:lnTo>
                  </a:path>
                </a:pathLst>
              </a:custGeom>
              <a:noFill/>
              <a:ln w="254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3" name="Line 9"/>
              <p:cNvSpPr>
                <a:spLocks noChangeShapeType="1"/>
              </p:cNvSpPr>
              <p:nvPr/>
            </p:nvSpPr>
            <p:spPr bwMode="auto">
              <a:xfrm flipV="1">
                <a:off x="1218" y="2367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4" name="Line 10"/>
              <p:cNvSpPr>
                <a:spLocks noChangeShapeType="1"/>
              </p:cNvSpPr>
              <p:nvPr/>
            </p:nvSpPr>
            <p:spPr bwMode="auto">
              <a:xfrm flipV="1">
                <a:off x="1143" y="2274"/>
                <a:ext cx="204" cy="20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5" name="Line 11"/>
              <p:cNvSpPr>
                <a:spLocks noChangeShapeType="1"/>
              </p:cNvSpPr>
              <p:nvPr/>
            </p:nvSpPr>
            <p:spPr bwMode="auto">
              <a:xfrm flipV="1">
                <a:off x="1215" y="2220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6" name="Line 12"/>
              <p:cNvSpPr>
                <a:spLocks noChangeShapeType="1"/>
              </p:cNvSpPr>
              <p:nvPr/>
            </p:nvSpPr>
            <p:spPr bwMode="auto">
              <a:xfrm flipV="1">
                <a:off x="1212" y="2145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7" name="Line 13"/>
              <p:cNvSpPr>
                <a:spLocks noChangeShapeType="1"/>
              </p:cNvSpPr>
              <p:nvPr/>
            </p:nvSpPr>
            <p:spPr bwMode="auto">
              <a:xfrm flipV="1">
                <a:off x="1218" y="2070"/>
                <a:ext cx="113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8" name="Line 14"/>
              <p:cNvSpPr>
                <a:spLocks noChangeShapeType="1"/>
              </p:cNvSpPr>
              <p:nvPr/>
            </p:nvSpPr>
            <p:spPr bwMode="auto">
              <a:xfrm flipV="1">
                <a:off x="1215" y="2877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9" name="Line 15"/>
              <p:cNvSpPr>
                <a:spLocks noChangeShapeType="1"/>
              </p:cNvSpPr>
              <p:nvPr/>
            </p:nvSpPr>
            <p:spPr bwMode="auto">
              <a:xfrm flipV="1">
                <a:off x="1212" y="2802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0" name="Line 16"/>
              <p:cNvSpPr>
                <a:spLocks noChangeShapeType="1"/>
              </p:cNvSpPr>
              <p:nvPr/>
            </p:nvSpPr>
            <p:spPr bwMode="auto">
              <a:xfrm flipV="1">
                <a:off x="1212" y="2730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1" name="Line 17"/>
              <p:cNvSpPr>
                <a:spLocks noChangeShapeType="1"/>
              </p:cNvSpPr>
              <p:nvPr/>
            </p:nvSpPr>
            <p:spPr bwMode="auto">
              <a:xfrm flipV="1">
                <a:off x="1209" y="2655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2" name="Line 18"/>
              <p:cNvSpPr>
                <a:spLocks noChangeShapeType="1"/>
              </p:cNvSpPr>
              <p:nvPr/>
            </p:nvSpPr>
            <p:spPr bwMode="auto">
              <a:xfrm flipV="1">
                <a:off x="1188" y="2589"/>
                <a:ext cx="113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3" name="Line 19"/>
              <p:cNvSpPr>
                <a:spLocks noChangeShapeType="1"/>
              </p:cNvSpPr>
              <p:nvPr/>
            </p:nvSpPr>
            <p:spPr bwMode="auto">
              <a:xfrm flipV="1">
                <a:off x="1053" y="2373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4" name="Line 20"/>
              <p:cNvSpPr>
                <a:spLocks noChangeShapeType="1"/>
              </p:cNvSpPr>
              <p:nvPr/>
            </p:nvSpPr>
            <p:spPr bwMode="auto">
              <a:xfrm flipV="1">
                <a:off x="888" y="2370"/>
                <a:ext cx="204" cy="20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5" name="Line 21"/>
              <p:cNvSpPr>
                <a:spLocks noChangeShapeType="1"/>
              </p:cNvSpPr>
              <p:nvPr/>
            </p:nvSpPr>
            <p:spPr bwMode="auto">
              <a:xfrm flipV="1">
                <a:off x="897" y="2541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6" name="Line 22"/>
              <p:cNvSpPr>
                <a:spLocks noChangeShapeType="1"/>
              </p:cNvSpPr>
              <p:nvPr/>
            </p:nvSpPr>
            <p:spPr bwMode="auto">
              <a:xfrm flipV="1">
                <a:off x="942" y="2595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7" name="Line 23"/>
              <p:cNvSpPr>
                <a:spLocks noChangeShapeType="1"/>
              </p:cNvSpPr>
              <p:nvPr/>
            </p:nvSpPr>
            <p:spPr bwMode="auto">
              <a:xfrm flipV="1">
                <a:off x="1023" y="2595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8" name="Line 24"/>
              <p:cNvSpPr>
                <a:spLocks noChangeShapeType="1"/>
              </p:cNvSpPr>
              <p:nvPr/>
            </p:nvSpPr>
            <p:spPr bwMode="auto">
              <a:xfrm flipV="1">
                <a:off x="1095" y="2604"/>
                <a:ext cx="110" cy="11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839" name="Oval 25"/>
            <p:cNvSpPr>
              <a:spLocks noChangeArrowheads="1"/>
            </p:cNvSpPr>
            <p:nvPr/>
          </p:nvSpPr>
          <p:spPr bwMode="auto">
            <a:xfrm>
              <a:off x="3812" y="2135"/>
              <a:ext cx="34" cy="3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840" name="Text Box 26"/>
            <p:cNvSpPr txBox="1">
              <a:spLocks noChangeArrowheads="1"/>
            </p:cNvSpPr>
            <p:nvPr/>
          </p:nvSpPr>
          <p:spPr bwMode="auto">
            <a:xfrm>
              <a:off x="3899" y="2217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 dirty="0"/>
                <a:t>A</a:t>
              </a: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836885" y="3885184"/>
            <a:ext cx="762000" cy="1357312"/>
            <a:chOff x="3264" y="1737"/>
            <a:chExt cx="480" cy="855"/>
          </a:xfrm>
        </p:grpSpPr>
        <p:sp>
          <p:nvSpPr>
            <p:cNvPr id="31827" name="Line 28"/>
            <p:cNvSpPr>
              <a:spLocks noChangeShapeType="1"/>
            </p:cNvSpPr>
            <p:nvPr/>
          </p:nvSpPr>
          <p:spPr bwMode="auto">
            <a:xfrm>
              <a:off x="3547" y="1874"/>
              <a:ext cx="41" cy="19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8" name="Line 29"/>
            <p:cNvSpPr>
              <a:spLocks noChangeShapeType="1"/>
            </p:cNvSpPr>
            <p:nvPr/>
          </p:nvSpPr>
          <p:spPr bwMode="auto">
            <a:xfrm>
              <a:off x="3454" y="1931"/>
              <a:ext cx="48" cy="14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9" name="Line 30"/>
            <p:cNvSpPr>
              <a:spLocks noChangeShapeType="1"/>
            </p:cNvSpPr>
            <p:nvPr/>
          </p:nvSpPr>
          <p:spPr bwMode="auto">
            <a:xfrm>
              <a:off x="3369" y="2007"/>
              <a:ext cx="96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0" name="Line 31"/>
            <p:cNvSpPr>
              <a:spLocks noChangeShapeType="1"/>
            </p:cNvSpPr>
            <p:nvPr/>
          </p:nvSpPr>
          <p:spPr bwMode="auto">
            <a:xfrm>
              <a:off x="3264" y="2160"/>
              <a:ext cx="2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1" name="Line 32"/>
            <p:cNvSpPr>
              <a:spLocks noChangeShapeType="1"/>
            </p:cNvSpPr>
            <p:nvPr/>
          </p:nvSpPr>
          <p:spPr bwMode="auto">
            <a:xfrm>
              <a:off x="3638" y="1774"/>
              <a:ext cx="37" cy="31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2" name="Line 33"/>
            <p:cNvSpPr>
              <a:spLocks noChangeShapeType="1"/>
            </p:cNvSpPr>
            <p:nvPr/>
          </p:nvSpPr>
          <p:spPr bwMode="auto">
            <a:xfrm>
              <a:off x="3744" y="1737"/>
              <a:ext cx="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3" name="Line 34"/>
            <p:cNvSpPr>
              <a:spLocks noChangeShapeType="1"/>
            </p:cNvSpPr>
            <p:nvPr/>
          </p:nvSpPr>
          <p:spPr bwMode="auto">
            <a:xfrm flipV="1">
              <a:off x="3360" y="2208"/>
              <a:ext cx="144" cy="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4" name="Line 35"/>
            <p:cNvSpPr>
              <a:spLocks noChangeShapeType="1"/>
            </p:cNvSpPr>
            <p:nvPr/>
          </p:nvSpPr>
          <p:spPr bwMode="auto">
            <a:xfrm flipV="1">
              <a:off x="3483" y="2226"/>
              <a:ext cx="48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5" name="Line 36"/>
            <p:cNvSpPr>
              <a:spLocks noChangeShapeType="1"/>
            </p:cNvSpPr>
            <p:nvPr/>
          </p:nvSpPr>
          <p:spPr bwMode="auto">
            <a:xfrm flipV="1">
              <a:off x="3565" y="2208"/>
              <a:ext cx="32" cy="23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6" name="Line 37"/>
            <p:cNvSpPr>
              <a:spLocks noChangeShapeType="1"/>
            </p:cNvSpPr>
            <p:nvPr/>
          </p:nvSpPr>
          <p:spPr bwMode="auto">
            <a:xfrm flipV="1">
              <a:off x="3648" y="2217"/>
              <a:ext cx="27" cy="24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7" name="Line 38"/>
            <p:cNvSpPr>
              <a:spLocks noChangeShapeType="1"/>
            </p:cNvSpPr>
            <p:nvPr/>
          </p:nvSpPr>
          <p:spPr bwMode="auto">
            <a:xfrm flipV="1">
              <a:off x="3744" y="2208"/>
              <a:ext cx="0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1636986" y="3527996"/>
            <a:ext cx="973138" cy="1066800"/>
            <a:chOff x="1486" y="2025"/>
            <a:chExt cx="613" cy="672"/>
          </a:xfrm>
        </p:grpSpPr>
        <p:grpSp>
          <p:nvGrpSpPr>
            <p:cNvPr id="31821" name="Group 40"/>
            <p:cNvGrpSpPr>
              <a:grpSpLocks/>
            </p:cNvGrpSpPr>
            <p:nvPr/>
          </p:nvGrpSpPr>
          <p:grpSpPr bwMode="auto">
            <a:xfrm>
              <a:off x="1698" y="2025"/>
              <a:ext cx="401" cy="672"/>
              <a:chOff x="1698" y="2025"/>
              <a:chExt cx="401" cy="672"/>
            </a:xfrm>
          </p:grpSpPr>
          <p:sp>
            <p:nvSpPr>
              <p:cNvPr id="31825" name="AutoShape 41"/>
              <p:cNvSpPr>
                <a:spLocks noChangeArrowheads="1"/>
              </p:cNvSpPr>
              <p:nvPr/>
            </p:nvSpPr>
            <p:spPr bwMode="auto">
              <a:xfrm rot="1800000">
                <a:off x="1698" y="2025"/>
                <a:ext cx="36" cy="672"/>
              </a:xfrm>
              <a:prstGeom prst="upArrow">
                <a:avLst>
                  <a:gd name="adj1" fmla="val 50000"/>
                  <a:gd name="adj2" fmla="val 466667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26" name="Text Box 42"/>
              <p:cNvSpPr txBox="1">
                <a:spLocks noChangeArrowheads="1"/>
              </p:cNvSpPr>
              <p:nvPr/>
            </p:nvSpPr>
            <p:spPr bwMode="auto">
              <a:xfrm>
                <a:off x="1910" y="2055"/>
                <a:ext cx="189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0" tIns="0" r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800" b="1" i="1" dirty="0">
                    <a:solidFill>
                      <a:srgbClr val="CC3300"/>
                    </a:solidFill>
                  </a:rPr>
                  <a:t>M</a:t>
                </a:r>
                <a:r>
                  <a:rPr lang="en-US" altLang="zh-CN" sz="1800" i="1" baseline="-25000" dirty="0">
                    <a:solidFill>
                      <a:srgbClr val="CC3300"/>
                    </a:solidFill>
                  </a:rPr>
                  <a:t>A</a:t>
                </a:r>
                <a:endParaRPr lang="en-US" altLang="zh-CN" sz="1800" i="1" dirty="0">
                  <a:solidFill>
                    <a:srgbClr val="CC3300"/>
                  </a:solidFill>
                </a:endParaRPr>
              </a:p>
            </p:txBody>
          </p:sp>
        </p:grpSp>
        <p:grpSp>
          <p:nvGrpSpPr>
            <p:cNvPr id="31822" name="Group 43"/>
            <p:cNvGrpSpPr>
              <a:grpSpLocks/>
            </p:cNvGrpSpPr>
            <p:nvPr/>
          </p:nvGrpSpPr>
          <p:grpSpPr bwMode="auto">
            <a:xfrm>
              <a:off x="1486" y="2355"/>
              <a:ext cx="528" cy="204"/>
              <a:chOff x="1486" y="2355"/>
              <a:chExt cx="528" cy="204"/>
            </a:xfrm>
          </p:grpSpPr>
          <p:sp>
            <p:nvSpPr>
              <p:cNvPr id="31823" name="AutoShape 44"/>
              <p:cNvSpPr>
                <a:spLocks noChangeArrowheads="1"/>
              </p:cNvSpPr>
              <p:nvPr/>
            </p:nvSpPr>
            <p:spPr bwMode="auto">
              <a:xfrm rot="2700000">
                <a:off x="1690" y="2269"/>
                <a:ext cx="36" cy="444"/>
              </a:xfrm>
              <a:prstGeom prst="upArrow">
                <a:avLst>
                  <a:gd name="adj1" fmla="val 50000"/>
                  <a:gd name="adj2" fmla="val 308333"/>
                </a:avLst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miter lim="800000"/>
                <a:headEnd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24" name="Text Box 45"/>
              <p:cNvSpPr txBox="1">
                <a:spLocks noChangeArrowheads="1"/>
              </p:cNvSpPr>
              <p:nvPr/>
            </p:nvSpPr>
            <p:spPr bwMode="auto">
              <a:xfrm>
                <a:off x="1857" y="2355"/>
                <a:ext cx="157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0" tIns="0" r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800" b="1" i="1" dirty="0">
                    <a:solidFill>
                      <a:srgbClr val="2113DD"/>
                    </a:solidFill>
                  </a:rPr>
                  <a:t>F</a:t>
                </a:r>
                <a:r>
                  <a:rPr lang="en-US" altLang="zh-CN" sz="1800" i="1" baseline="-25000" dirty="0">
                    <a:solidFill>
                      <a:srgbClr val="2113DD"/>
                    </a:solidFill>
                  </a:rPr>
                  <a:t>A</a:t>
                </a:r>
                <a:endParaRPr lang="en-US" altLang="zh-CN" sz="1800" i="1" dirty="0">
                  <a:solidFill>
                    <a:srgbClr val="2113DD"/>
                  </a:solidFill>
                </a:endParaRPr>
              </a:p>
            </p:txBody>
          </p:sp>
        </p:grpSp>
      </p:grp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3207023" y="3761360"/>
            <a:ext cx="1943100" cy="2093913"/>
            <a:chOff x="2699" y="2886"/>
            <a:chExt cx="1224" cy="1319"/>
          </a:xfrm>
        </p:grpSpPr>
        <p:grpSp>
          <p:nvGrpSpPr>
            <p:cNvPr id="31798" name="Group 47"/>
            <p:cNvGrpSpPr>
              <a:grpSpLocks/>
            </p:cNvGrpSpPr>
            <p:nvPr/>
          </p:nvGrpSpPr>
          <p:grpSpPr bwMode="auto">
            <a:xfrm>
              <a:off x="2699" y="2886"/>
              <a:ext cx="1224" cy="921"/>
              <a:chOff x="3384" y="1680"/>
              <a:chExt cx="1224" cy="921"/>
            </a:xfrm>
          </p:grpSpPr>
          <p:grpSp>
            <p:nvGrpSpPr>
              <p:cNvPr id="31800" name="Group 48"/>
              <p:cNvGrpSpPr>
                <a:grpSpLocks/>
              </p:cNvGrpSpPr>
              <p:nvPr/>
            </p:nvGrpSpPr>
            <p:grpSpPr bwMode="auto">
              <a:xfrm>
                <a:off x="3384" y="1680"/>
                <a:ext cx="1224" cy="921"/>
                <a:chOff x="888" y="2070"/>
                <a:chExt cx="1224" cy="921"/>
              </a:xfrm>
            </p:grpSpPr>
            <p:sp>
              <p:nvSpPr>
                <p:cNvPr id="31803" name="Rectangle 49"/>
                <p:cNvSpPr>
                  <a:spLocks noChangeArrowheads="1"/>
                </p:cNvSpPr>
                <p:nvPr/>
              </p:nvSpPr>
              <p:spPr bwMode="auto">
                <a:xfrm>
                  <a:off x="1008" y="2496"/>
                  <a:ext cx="1104" cy="96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1804" name="Freeform 50"/>
                <p:cNvSpPr>
                  <a:spLocks/>
                </p:cNvSpPr>
                <p:nvPr/>
              </p:nvSpPr>
              <p:spPr bwMode="auto">
                <a:xfrm>
                  <a:off x="999" y="2079"/>
                  <a:ext cx="336" cy="880"/>
                </a:xfrm>
                <a:custGeom>
                  <a:avLst/>
                  <a:gdLst>
                    <a:gd name="T0" fmla="*/ 336 w 336"/>
                    <a:gd name="T1" fmla="*/ 0 h 720"/>
                    <a:gd name="T2" fmla="*/ 336 w 336"/>
                    <a:gd name="T3" fmla="*/ 1121 h 720"/>
                    <a:gd name="T4" fmla="*/ 0 w 336"/>
                    <a:gd name="T5" fmla="*/ 1121 h 720"/>
                    <a:gd name="T6" fmla="*/ 0 w 336"/>
                    <a:gd name="T7" fmla="*/ 1439 h 720"/>
                    <a:gd name="T8" fmla="*/ 336 w 336"/>
                    <a:gd name="T9" fmla="*/ 1439 h 720"/>
                    <a:gd name="T10" fmla="*/ 336 w 336"/>
                    <a:gd name="T11" fmla="*/ 2400 h 7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6"/>
                    <a:gd name="T19" fmla="*/ 0 h 720"/>
                    <a:gd name="T20" fmla="*/ 336 w 336"/>
                    <a:gd name="T21" fmla="*/ 720 h 7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6" h="720">
                      <a:moveTo>
                        <a:pt x="336" y="0"/>
                      </a:moveTo>
                      <a:lnTo>
                        <a:pt x="336" y="336"/>
                      </a:lnTo>
                      <a:lnTo>
                        <a:pt x="0" y="336"/>
                      </a:lnTo>
                      <a:lnTo>
                        <a:pt x="0" y="432"/>
                      </a:lnTo>
                      <a:lnTo>
                        <a:pt x="336" y="432"/>
                      </a:lnTo>
                      <a:lnTo>
                        <a:pt x="336" y="720"/>
                      </a:lnTo>
                    </a:path>
                  </a:pathLst>
                </a:custGeom>
                <a:noFill/>
                <a:ln w="25400">
                  <a:solidFill>
                    <a:srgbClr val="33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05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1218" y="2367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06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1143" y="2274"/>
                  <a:ext cx="204" cy="20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07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1215" y="2220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08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1212" y="214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09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1218" y="2070"/>
                  <a:ext cx="113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0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1215" y="2877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1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1212" y="2802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2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1212" y="2730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1209" y="265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4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1188" y="2589"/>
                  <a:ext cx="113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5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1053" y="2373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6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888" y="2370"/>
                  <a:ext cx="204" cy="20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7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897" y="2541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8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942" y="259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1023" y="259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20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1095" y="2604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801" name="Oval 67"/>
              <p:cNvSpPr>
                <a:spLocks noChangeArrowheads="1"/>
              </p:cNvSpPr>
              <p:nvPr/>
            </p:nvSpPr>
            <p:spPr bwMode="auto">
              <a:xfrm>
                <a:off x="3812" y="2135"/>
                <a:ext cx="34" cy="3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02" name="Text Box 68"/>
              <p:cNvSpPr txBox="1">
                <a:spLocks noChangeArrowheads="1"/>
              </p:cNvSpPr>
              <p:nvPr/>
            </p:nvSpPr>
            <p:spPr bwMode="auto">
              <a:xfrm>
                <a:off x="3889" y="2212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 i="1"/>
                  <a:t>A</a:t>
                </a:r>
              </a:p>
            </p:txBody>
          </p:sp>
        </p:grpSp>
        <p:sp>
          <p:nvSpPr>
            <p:cNvPr id="31799" name="Text Box 69"/>
            <p:cNvSpPr txBox="1">
              <a:spLocks noChangeArrowheads="1"/>
            </p:cNvSpPr>
            <p:nvPr/>
          </p:nvSpPr>
          <p:spPr bwMode="auto">
            <a:xfrm>
              <a:off x="2755" y="3914"/>
              <a:ext cx="10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</a:t>
              </a:r>
              <a:r>
                <a:rPr lang="zh-CN" altLang="en-US" b="1" dirty="0">
                  <a:solidFill>
                    <a:srgbClr val="2113D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插入端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5535092" y="3761360"/>
            <a:ext cx="1943100" cy="2057401"/>
            <a:chOff x="4150" y="2915"/>
            <a:chExt cx="1224" cy="1296"/>
          </a:xfrm>
        </p:grpSpPr>
        <p:grpSp>
          <p:nvGrpSpPr>
            <p:cNvPr id="31775" name="Group 71"/>
            <p:cNvGrpSpPr>
              <a:grpSpLocks/>
            </p:cNvGrpSpPr>
            <p:nvPr/>
          </p:nvGrpSpPr>
          <p:grpSpPr bwMode="auto">
            <a:xfrm>
              <a:off x="4150" y="2915"/>
              <a:ext cx="1224" cy="921"/>
              <a:chOff x="3384" y="1680"/>
              <a:chExt cx="1224" cy="921"/>
            </a:xfrm>
          </p:grpSpPr>
          <p:grpSp>
            <p:nvGrpSpPr>
              <p:cNvPr id="31777" name="Group 72"/>
              <p:cNvGrpSpPr>
                <a:grpSpLocks/>
              </p:cNvGrpSpPr>
              <p:nvPr/>
            </p:nvGrpSpPr>
            <p:grpSpPr bwMode="auto">
              <a:xfrm>
                <a:off x="3384" y="1680"/>
                <a:ext cx="1224" cy="921"/>
                <a:chOff x="888" y="2070"/>
                <a:chExt cx="1224" cy="921"/>
              </a:xfrm>
            </p:grpSpPr>
            <p:sp>
              <p:nvSpPr>
                <p:cNvPr id="31780" name="Rectangle 73"/>
                <p:cNvSpPr>
                  <a:spLocks noChangeArrowheads="1"/>
                </p:cNvSpPr>
                <p:nvPr/>
              </p:nvSpPr>
              <p:spPr bwMode="auto">
                <a:xfrm>
                  <a:off x="1008" y="2496"/>
                  <a:ext cx="1104" cy="96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1781" name="Freeform 74"/>
                <p:cNvSpPr>
                  <a:spLocks/>
                </p:cNvSpPr>
                <p:nvPr/>
              </p:nvSpPr>
              <p:spPr bwMode="auto">
                <a:xfrm>
                  <a:off x="999" y="2079"/>
                  <a:ext cx="336" cy="880"/>
                </a:xfrm>
                <a:custGeom>
                  <a:avLst/>
                  <a:gdLst>
                    <a:gd name="T0" fmla="*/ 336 w 336"/>
                    <a:gd name="T1" fmla="*/ 0 h 720"/>
                    <a:gd name="T2" fmla="*/ 336 w 336"/>
                    <a:gd name="T3" fmla="*/ 1121 h 720"/>
                    <a:gd name="T4" fmla="*/ 0 w 336"/>
                    <a:gd name="T5" fmla="*/ 1121 h 720"/>
                    <a:gd name="T6" fmla="*/ 0 w 336"/>
                    <a:gd name="T7" fmla="*/ 1439 h 720"/>
                    <a:gd name="T8" fmla="*/ 336 w 336"/>
                    <a:gd name="T9" fmla="*/ 1439 h 720"/>
                    <a:gd name="T10" fmla="*/ 336 w 336"/>
                    <a:gd name="T11" fmla="*/ 2400 h 7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6"/>
                    <a:gd name="T19" fmla="*/ 0 h 720"/>
                    <a:gd name="T20" fmla="*/ 336 w 336"/>
                    <a:gd name="T21" fmla="*/ 720 h 7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6" h="720">
                      <a:moveTo>
                        <a:pt x="336" y="0"/>
                      </a:moveTo>
                      <a:lnTo>
                        <a:pt x="336" y="336"/>
                      </a:lnTo>
                      <a:lnTo>
                        <a:pt x="0" y="336"/>
                      </a:lnTo>
                      <a:lnTo>
                        <a:pt x="0" y="432"/>
                      </a:lnTo>
                      <a:lnTo>
                        <a:pt x="336" y="432"/>
                      </a:lnTo>
                      <a:lnTo>
                        <a:pt x="336" y="720"/>
                      </a:lnTo>
                    </a:path>
                  </a:pathLst>
                </a:custGeom>
                <a:noFill/>
                <a:ln w="25400">
                  <a:solidFill>
                    <a:srgbClr val="33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2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1218" y="2367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3" name="Line 76"/>
                <p:cNvSpPr>
                  <a:spLocks noChangeShapeType="1"/>
                </p:cNvSpPr>
                <p:nvPr/>
              </p:nvSpPr>
              <p:spPr bwMode="auto">
                <a:xfrm flipV="1">
                  <a:off x="1143" y="2274"/>
                  <a:ext cx="204" cy="20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4" name="Line 77"/>
                <p:cNvSpPr>
                  <a:spLocks noChangeShapeType="1"/>
                </p:cNvSpPr>
                <p:nvPr/>
              </p:nvSpPr>
              <p:spPr bwMode="auto">
                <a:xfrm flipV="1">
                  <a:off x="1215" y="2220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5" name="Line 78"/>
                <p:cNvSpPr>
                  <a:spLocks noChangeShapeType="1"/>
                </p:cNvSpPr>
                <p:nvPr/>
              </p:nvSpPr>
              <p:spPr bwMode="auto">
                <a:xfrm flipV="1">
                  <a:off x="1212" y="214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6" name="Line 79"/>
                <p:cNvSpPr>
                  <a:spLocks noChangeShapeType="1"/>
                </p:cNvSpPr>
                <p:nvPr/>
              </p:nvSpPr>
              <p:spPr bwMode="auto">
                <a:xfrm flipV="1">
                  <a:off x="1218" y="2070"/>
                  <a:ext cx="113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7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1215" y="2877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8" name="Line 81"/>
                <p:cNvSpPr>
                  <a:spLocks noChangeShapeType="1"/>
                </p:cNvSpPr>
                <p:nvPr/>
              </p:nvSpPr>
              <p:spPr bwMode="auto">
                <a:xfrm flipV="1">
                  <a:off x="1212" y="2802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9" name="Line 82"/>
                <p:cNvSpPr>
                  <a:spLocks noChangeShapeType="1"/>
                </p:cNvSpPr>
                <p:nvPr/>
              </p:nvSpPr>
              <p:spPr bwMode="auto">
                <a:xfrm flipV="1">
                  <a:off x="1212" y="2730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0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1209" y="265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1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1188" y="2589"/>
                  <a:ext cx="113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2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1053" y="2373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3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888" y="2370"/>
                  <a:ext cx="204" cy="20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4" name="Line 87"/>
                <p:cNvSpPr>
                  <a:spLocks noChangeShapeType="1"/>
                </p:cNvSpPr>
                <p:nvPr/>
              </p:nvSpPr>
              <p:spPr bwMode="auto">
                <a:xfrm flipV="1">
                  <a:off x="897" y="2541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5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942" y="259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6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1023" y="2595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7" name="Line 90"/>
                <p:cNvSpPr>
                  <a:spLocks noChangeShapeType="1"/>
                </p:cNvSpPr>
                <p:nvPr/>
              </p:nvSpPr>
              <p:spPr bwMode="auto">
                <a:xfrm flipV="1">
                  <a:off x="1095" y="2604"/>
                  <a:ext cx="110" cy="114"/>
                </a:xfrm>
                <a:prstGeom prst="line">
                  <a:avLst/>
                </a:prstGeom>
                <a:noFill/>
                <a:ln w="12700">
                  <a:solidFill>
                    <a:srgbClr val="8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78" name="Oval 91"/>
              <p:cNvSpPr>
                <a:spLocks noChangeArrowheads="1"/>
              </p:cNvSpPr>
              <p:nvPr/>
            </p:nvSpPr>
            <p:spPr bwMode="auto">
              <a:xfrm>
                <a:off x="3812" y="2135"/>
                <a:ext cx="34" cy="3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79" name="Text Box 92"/>
              <p:cNvSpPr txBox="1">
                <a:spLocks noChangeArrowheads="1"/>
              </p:cNvSpPr>
              <p:nvPr/>
            </p:nvSpPr>
            <p:spPr bwMode="auto">
              <a:xfrm>
                <a:off x="3840" y="2208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 i="1"/>
                  <a:t>A</a:t>
                </a:r>
              </a:p>
            </p:txBody>
          </p:sp>
        </p:grpSp>
        <p:sp>
          <p:nvSpPr>
            <p:cNvPr id="31776" name="Text Box 93"/>
            <p:cNvSpPr txBox="1">
              <a:spLocks noChangeArrowheads="1"/>
            </p:cNvSpPr>
            <p:nvPr/>
          </p:nvSpPr>
          <p:spPr bwMode="auto">
            <a:xfrm>
              <a:off x="4150" y="3920"/>
              <a:ext cx="10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平面</a:t>
              </a:r>
              <a:r>
                <a:rPr lang="zh-CN" altLang="en-US" b="1" dirty="0">
                  <a:solidFill>
                    <a:srgbClr val="2113D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插入端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Group 94"/>
          <p:cNvGrpSpPr>
            <a:grpSpLocks/>
          </p:cNvGrpSpPr>
          <p:nvPr/>
        </p:nvGrpSpPr>
        <p:grpSpPr bwMode="auto">
          <a:xfrm>
            <a:off x="3186386" y="3400996"/>
            <a:ext cx="1876425" cy="2006600"/>
            <a:chOff x="3016" y="2069"/>
            <a:chExt cx="1182" cy="1264"/>
          </a:xfrm>
        </p:grpSpPr>
        <p:sp>
          <p:nvSpPr>
            <p:cNvPr id="31769" name="AutoShape 95"/>
            <p:cNvSpPr>
              <a:spLocks noChangeArrowheads="1"/>
            </p:cNvSpPr>
            <p:nvPr/>
          </p:nvSpPr>
          <p:spPr bwMode="auto">
            <a:xfrm>
              <a:off x="3451" y="2069"/>
              <a:ext cx="36" cy="655"/>
            </a:xfrm>
            <a:prstGeom prst="upArrow">
              <a:avLst>
                <a:gd name="adj1" fmla="val 50000"/>
                <a:gd name="adj2" fmla="val 454861"/>
              </a:avLst>
            </a:prstGeom>
            <a:solidFill>
              <a:srgbClr val="C81204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70" name="Text Box 96"/>
            <p:cNvSpPr txBox="1">
              <a:spLocks noChangeArrowheads="1"/>
            </p:cNvSpPr>
            <p:nvPr/>
          </p:nvSpPr>
          <p:spPr bwMode="auto">
            <a:xfrm>
              <a:off x="3938" y="2791"/>
              <a:ext cx="24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 i="1" dirty="0">
                  <a:solidFill>
                    <a:srgbClr val="C81204"/>
                  </a:solidFill>
                </a:rPr>
                <a:t>M</a:t>
              </a:r>
              <a:r>
                <a:rPr lang="en-US" altLang="zh-CN" sz="1800" i="1" baseline="-25000" dirty="0">
                  <a:solidFill>
                    <a:srgbClr val="C81204"/>
                  </a:solidFill>
                </a:rPr>
                <a:t>y</a:t>
              </a:r>
              <a:endParaRPr lang="en-US" altLang="zh-CN" sz="1800" i="1" dirty="0">
                <a:solidFill>
                  <a:srgbClr val="C81204"/>
                </a:solidFill>
              </a:endParaRPr>
            </a:p>
          </p:txBody>
        </p:sp>
        <p:sp>
          <p:nvSpPr>
            <p:cNvPr id="31771" name="AutoShape 97"/>
            <p:cNvSpPr>
              <a:spLocks noChangeArrowheads="1"/>
            </p:cNvSpPr>
            <p:nvPr/>
          </p:nvSpPr>
          <p:spPr bwMode="auto">
            <a:xfrm rot="-8100000">
              <a:off x="3190" y="2816"/>
              <a:ext cx="36" cy="384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72" name="AutoShape 98"/>
            <p:cNvSpPr>
              <a:spLocks noChangeArrowheads="1"/>
            </p:cNvSpPr>
            <p:nvPr/>
          </p:nvSpPr>
          <p:spPr bwMode="auto">
            <a:xfrm rot="5400000">
              <a:off x="3819" y="2385"/>
              <a:ext cx="36" cy="723"/>
            </a:xfrm>
            <a:prstGeom prst="upArrow">
              <a:avLst>
                <a:gd name="adj1" fmla="val 50000"/>
                <a:gd name="adj2" fmla="val 50208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73" name="Text Box 99"/>
            <p:cNvSpPr txBox="1">
              <a:spLocks noChangeArrowheads="1"/>
            </p:cNvSpPr>
            <p:nvPr/>
          </p:nvSpPr>
          <p:spPr bwMode="auto">
            <a:xfrm>
              <a:off x="3199" y="2095"/>
              <a:ext cx="24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 i="1" dirty="0" err="1">
                  <a:solidFill>
                    <a:srgbClr val="C81204"/>
                  </a:solidFill>
                </a:rPr>
                <a:t>M</a:t>
              </a:r>
              <a:r>
                <a:rPr lang="en-US" altLang="zh-CN" sz="1800" i="1" baseline="-25000" dirty="0" err="1">
                  <a:solidFill>
                    <a:srgbClr val="C81204"/>
                  </a:solidFill>
                </a:rPr>
                <a:t>z</a:t>
              </a:r>
              <a:endParaRPr lang="en-US" altLang="zh-CN" sz="1800" i="1" dirty="0">
                <a:solidFill>
                  <a:srgbClr val="C81204"/>
                </a:solidFill>
              </a:endParaRPr>
            </a:p>
          </p:txBody>
        </p:sp>
        <p:sp>
          <p:nvSpPr>
            <p:cNvPr id="31774" name="Text Box 100"/>
            <p:cNvSpPr txBox="1">
              <a:spLocks noChangeArrowheads="1"/>
            </p:cNvSpPr>
            <p:nvPr/>
          </p:nvSpPr>
          <p:spPr bwMode="auto">
            <a:xfrm>
              <a:off x="3076" y="3131"/>
              <a:ext cx="24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 i="1" dirty="0" err="1">
                  <a:solidFill>
                    <a:srgbClr val="C81204"/>
                  </a:solidFill>
                </a:rPr>
                <a:t>M</a:t>
              </a:r>
              <a:r>
                <a:rPr lang="en-US" altLang="zh-CN" sz="1800" i="1" baseline="-25000" dirty="0" err="1">
                  <a:solidFill>
                    <a:srgbClr val="C81204"/>
                  </a:solidFill>
                </a:rPr>
                <a:t>x</a:t>
              </a:r>
              <a:endParaRPr lang="en-US" altLang="zh-CN" sz="1800" i="1" dirty="0">
                <a:solidFill>
                  <a:srgbClr val="C81204"/>
                </a:solidFill>
              </a:endParaRPr>
            </a:p>
          </p:txBody>
        </p:sp>
      </p:grpSp>
      <p:grpSp>
        <p:nvGrpSpPr>
          <p:cNvPr id="15" name="Group 101"/>
          <p:cNvGrpSpPr>
            <a:grpSpLocks/>
          </p:cNvGrpSpPr>
          <p:nvPr/>
        </p:nvGrpSpPr>
        <p:grpSpPr bwMode="auto">
          <a:xfrm>
            <a:off x="3211786" y="3588323"/>
            <a:ext cx="1416050" cy="1357313"/>
            <a:chOff x="4384" y="2941"/>
            <a:chExt cx="892" cy="855"/>
          </a:xfrm>
        </p:grpSpPr>
        <p:sp>
          <p:nvSpPr>
            <p:cNvPr id="31762" name="Text Box 102"/>
            <p:cNvSpPr txBox="1">
              <a:spLocks noChangeArrowheads="1"/>
            </p:cNvSpPr>
            <p:nvPr/>
          </p:nvSpPr>
          <p:spPr bwMode="auto">
            <a:xfrm>
              <a:off x="5112" y="3199"/>
              <a:ext cx="16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2113DD"/>
                  </a:solidFill>
                </a:rPr>
                <a:t>F</a:t>
              </a:r>
              <a:r>
                <a:rPr lang="en-US" altLang="zh-CN" i="1" baseline="-25000">
                  <a:solidFill>
                    <a:srgbClr val="2113DD"/>
                  </a:solidFill>
                </a:rPr>
                <a:t>y</a:t>
              </a:r>
              <a:endParaRPr lang="en-US" altLang="zh-CN" i="1">
                <a:solidFill>
                  <a:srgbClr val="2113DD"/>
                </a:solidFill>
              </a:endParaRPr>
            </a:p>
          </p:txBody>
        </p:sp>
        <p:grpSp>
          <p:nvGrpSpPr>
            <p:cNvPr id="31763" name="Group 103"/>
            <p:cNvGrpSpPr>
              <a:grpSpLocks/>
            </p:cNvGrpSpPr>
            <p:nvPr/>
          </p:nvGrpSpPr>
          <p:grpSpPr bwMode="auto">
            <a:xfrm>
              <a:off x="4384" y="2941"/>
              <a:ext cx="836" cy="855"/>
              <a:chOff x="4384" y="2941"/>
              <a:chExt cx="836" cy="855"/>
            </a:xfrm>
          </p:grpSpPr>
          <p:sp>
            <p:nvSpPr>
              <p:cNvPr id="31764" name="AutoShape 104"/>
              <p:cNvSpPr>
                <a:spLocks noChangeArrowheads="1"/>
              </p:cNvSpPr>
              <p:nvPr/>
            </p:nvSpPr>
            <p:spPr bwMode="auto">
              <a:xfrm>
                <a:off x="4815" y="3098"/>
                <a:ext cx="36" cy="384"/>
              </a:xfrm>
              <a:prstGeom prst="upArrow">
                <a:avLst>
                  <a:gd name="adj1" fmla="val 50000"/>
                  <a:gd name="adj2" fmla="val 266667"/>
                </a:avLst>
              </a:prstGeom>
              <a:solidFill>
                <a:srgbClr val="2113DD"/>
              </a:solidFill>
              <a:ln w="9525">
                <a:solidFill>
                  <a:srgbClr val="2113D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65" name="AutoShape 105"/>
              <p:cNvSpPr>
                <a:spLocks noChangeArrowheads="1"/>
              </p:cNvSpPr>
              <p:nvPr/>
            </p:nvSpPr>
            <p:spPr bwMode="auto">
              <a:xfrm rot="-8100000">
                <a:off x="4686" y="3431"/>
                <a:ext cx="36" cy="384"/>
              </a:xfrm>
              <a:prstGeom prst="upArrow">
                <a:avLst>
                  <a:gd name="adj1" fmla="val 50000"/>
                  <a:gd name="adj2" fmla="val 266667"/>
                </a:avLst>
              </a:prstGeom>
              <a:solidFill>
                <a:srgbClr val="2113DD"/>
              </a:solidFill>
              <a:ln w="9525">
                <a:solidFill>
                  <a:srgbClr val="2113D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66" name="Text Box 106"/>
              <p:cNvSpPr txBox="1">
                <a:spLocks noChangeArrowheads="1"/>
              </p:cNvSpPr>
              <p:nvPr/>
            </p:nvSpPr>
            <p:spPr bwMode="auto">
              <a:xfrm>
                <a:off x="4384" y="3537"/>
                <a:ext cx="164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i="1">
                    <a:solidFill>
                      <a:srgbClr val="2113DD"/>
                    </a:solidFill>
                  </a:rPr>
                  <a:t>F</a:t>
                </a:r>
                <a:r>
                  <a:rPr lang="en-US" altLang="zh-CN" i="1" baseline="-25000">
                    <a:solidFill>
                      <a:srgbClr val="2113DD"/>
                    </a:solidFill>
                  </a:rPr>
                  <a:t>x</a:t>
                </a:r>
                <a:endParaRPr lang="en-US" altLang="zh-CN" i="1">
                  <a:solidFill>
                    <a:srgbClr val="2113DD"/>
                  </a:solidFill>
                </a:endParaRPr>
              </a:p>
            </p:txBody>
          </p:sp>
          <p:sp>
            <p:nvSpPr>
              <p:cNvPr id="31767" name="AutoShape 107"/>
              <p:cNvSpPr>
                <a:spLocks noChangeArrowheads="1"/>
              </p:cNvSpPr>
              <p:nvPr/>
            </p:nvSpPr>
            <p:spPr bwMode="auto">
              <a:xfrm rot="5400000">
                <a:off x="5010" y="3302"/>
                <a:ext cx="36" cy="384"/>
              </a:xfrm>
              <a:prstGeom prst="upArrow">
                <a:avLst>
                  <a:gd name="adj1" fmla="val 50000"/>
                  <a:gd name="adj2" fmla="val 266667"/>
                </a:avLst>
              </a:prstGeom>
              <a:solidFill>
                <a:srgbClr val="2113DD"/>
              </a:solidFill>
              <a:ln w="9525">
                <a:solidFill>
                  <a:srgbClr val="2113D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68" name="Text Box 108"/>
              <p:cNvSpPr txBox="1">
                <a:spLocks noChangeArrowheads="1"/>
              </p:cNvSpPr>
              <p:nvPr/>
            </p:nvSpPr>
            <p:spPr bwMode="auto">
              <a:xfrm>
                <a:off x="4898" y="2941"/>
                <a:ext cx="15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i="1" dirty="0" err="1">
                    <a:solidFill>
                      <a:srgbClr val="2113DD"/>
                    </a:solidFill>
                  </a:rPr>
                  <a:t>F</a:t>
                </a:r>
                <a:r>
                  <a:rPr lang="en-US" altLang="zh-CN" i="1" baseline="-25000" dirty="0" err="1">
                    <a:solidFill>
                      <a:srgbClr val="2113DD"/>
                    </a:solidFill>
                  </a:rPr>
                  <a:t>z</a:t>
                </a:r>
                <a:endParaRPr lang="en-US" altLang="zh-CN" i="1" dirty="0">
                  <a:solidFill>
                    <a:srgbClr val="2113DD"/>
                  </a:solidFill>
                </a:endParaRPr>
              </a:p>
            </p:txBody>
          </p:sp>
        </p:grpSp>
      </p:grpSp>
      <p:grpSp>
        <p:nvGrpSpPr>
          <p:cNvPr id="17" name="Group 109"/>
          <p:cNvGrpSpPr>
            <a:grpSpLocks/>
          </p:cNvGrpSpPr>
          <p:nvPr/>
        </p:nvGrpSpPr>
        <p:grpSpPr bwMode="auto">
          <a:xfrm>
            <a:off x="6217720" y="3701037"/>
            <a:ext cx="714375" cy="855663"/>
            <a:chOff x="4203" y="2779"/>
            <a:chExt cx="450" cy="539"/>
          </a:xfrm>
        </p:grpSpPr>
        <p:sp>
          <p:nvSpPr>
            <p:cNvPr id="31758" name="Text Box 110"/>
            <p:cNvSpPr txBox="1">
              <a:spLocks noChangeArrowheads="1"/>
            </p:cNvSpPr>
            <p:nvPr/>
          </p:nvSpPr>
          <p:spPr bwMode="auto">
            <a:xfrm>
              <a:off x="4489" y="3015"/>
              <a:ext cx="16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2113DD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2113DD"/>
                  </a:solidFill>
                </a:rPr>
                <a:t>y</a:t>
              </a:r>
              <a:endParaRPr lang="en-US" altLang="zh-CN" i="1" dirty="0">
                <a:solidFill>
                  <a:srgbClr val="2113DD"/>
                </a:solidFill>
              </a:endParaRPr>
            </a:p>
          </p:txBody>
        </p:sp>
        <p:sp>
          <p:nvSpPr>
            <p:cNvPr id="31759" name="AutoShape 111"/>
            <p:cNvSpPr>
              <a:spLocks noChangeArrowheads="1"/>
            </p:cNvSpPr>
            <p:nvPr/>
          </p:nvSpPr>
          <p:spPr bwMode="auto">
            <a:xfrm>
              <a:off x="4203" y="2904"/>
              <a:ext cx="36" cy="384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2113DD"/>
            </a:solidFill>
            <a:ln w="9525">
              <a:solidFill>
                <a:srgbClr val="2113DD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0" name="AutoShape 112"/>
            <p:cNvSpPr>
              <a:spLocks noChangeArrowheads="1"/>
            </p:cNvSpPr>
            <p:nvPr/>
          </p:nvSpPr>
          <p:spPr bwMode="auto">
            <a:xfrm rot="5400000">
              <a:off x="4398" y="3108"/>
              <a:ext cx="36" cy="384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2113DD"/>
            </a:solidFill>
            <a:ln w="9525">
              <a:solidFill>
                <a:srgbClr val="2113DD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1" name="Text Box 113"/>
            <p:cNvSpPr txBox="1">
              <a:spLocks noChangeArrowheads="1"/>
            </p:cNvSpPr>
            <p:nvPr/>
          </p:nvSpPr>
          <p:spPr bwMode="auto">
            <a:xfrm>
              <a:off x="4270" y="2779"/>
              <a:ext cx="15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2113DD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2113DD"/>
                  </a:solidFill>
                </a:rPr>
                <a:t>z</a:t>
              </a:r>
              <a:endParaRPr lang="en-US" altLang="zh-CN" i="1" dirty="0">
                <a:solidFill>
                  <a:srgbClr val="2113DD"/>
                </a:solidFill>
              </a:endParaRPr>
            </a:p>
          </p:txBody>
        </p:sp>
      </p:grpSp>
      <p:grpSp>
        <p:nvGrpSpPr>
          <p:cNvPr id="18" name="Group 114"/>
          <p:cNvGrpSpPr>
            <a:grpSpLocks/>
          </p:cNvGrpSpPr>
          <p:nvPr/>
        </p:nvGrpSpPr>
        <p:grpSpPr bwMode="auto">
          <a:xfrm>
            <a:off x="5550975" y="4067742"/>
            <a:ext cx="893763" cy="565149"/>
            <a:chOff x="3815" y="3062"/>
            <a:chExt cx="563" cy="356"/>
          </a:xfrm>
        </p:grpSpPr>
        <p:sp>
          <p:nvSpPr>
            <p:cNvPr id="31756" name="AutoShape 115"/>
            <p:cNvSpPr>
              <a:spLocks noChangeArrowheads="1"/>
            </p:cNvSpPr>
            <p:nvPr/>
          </p:nvSpPr>
          <p:spPr bwMode="auto">
            <a:xfrm flipH="1">
              <a:off x="4121" y="3176"/>
              <a:ext cx="257" cy="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224" y="7350"/>
                  </a:moveTo>
                  <a:cubicBezTo>
                    <a:pt x="16882" y="4461"/>
                    <a:pt x="13985" y="2613"/>
                    <a:pt x="10800" y="2613"/>
                  </a:cubicBezTo>
                  <a:cubicBezTo>
                    <a:pt x="6278" y="2613"/>
                    <a:pt x="2613" y="6278"/>
                    <a:pt x="2613" y="10800"/>
                  </a:cubicBezTo>
                  <a:cubicBezTo>
                    <a:pt x="2612" y="13234"/>
                    <a:pt x="3696" y="15542"/>
                    <a:pt x="5568" y="17097"/>
                  </a:cubicBezTo>
                  <a:lnTo>
                    <a:pt x="3899" y="19107"/>
                  </a:lnTo>
                  <a:cubicBezTo>
                    <a:pt x="1429" y="17056"/>
                    <a:pt x="0" y="14011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5002" y="-1"/>
                    <a:pt x="18823" y="2437"/>
                    <a:pt x="20594" y="6249"/>
                  </a:cubicBezTo>
                  <a:lnTo>
                    <a:pt x="23042" y="5111"/>
                  </a:lnTo>
                  <a:lnTo>
                    <a:pt x="21097" y="10432"/>
                  </a:lnTo>
                  <a:lnTo>
                    <a:pt x="15776" y="8487"/>
                  </a:lnTo>
                  <a:lnTo>
                    <a:pt x="18224" y="735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FF0000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7" name="Text Box 116"/>
            <p:cNvSpPr txBox="1">
              <a:spLocks noChangeArrowheads="1"/>
            </p:cNvSpPr>
            <p:nvPr/>
          </p:nvSpPr>
          <p:spPr bwMode="auto">
            <a:xfrm>
              <a:off x="3815" y="3062"/>
              <a:ext cx="206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0" tIns="0" rIns="0" bIns="10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 dirty="0">
                  <a:solidFill>
                    <a:srgbClr val="C81204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zh-CN" sz="2000" b="1" i="1" baseline="-25000" dirty="0">
                  <a:solidFill>
                    <a:srgbClr val="C81204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2000" b="1" i="1" dirty="0">
                <a:solidFill>
                  <a:srgbClr val="C81204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Text Box 3"/>
          <p:cNvSpPr txBox="1">
            <a:spLocks noChangeArrowheads="1"/>
          </p:cNvSpPr>
          <p:nvPr/>
        </p:nvSpPr>
        <p:spPr bwMode="auto">
          <a:xfrm>
            <a:off x="740047" y="545188"/>
            <a:ext cx="2808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常见约束</a:t>
            </a:r>
          </a:p>
        </p:txBody>
      </p:sp>
    </p:spTree>
    <p:extLst>
      <p:ext uri="{BB962C8B-B14F-4D97-AF65-F5344CB8AC3E}">
        <p14:creationId xmlns:p14="http://schemas.microsoft.com/office/powerpoint/2010/main" val="133692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187624" y="1464468"/>
            <a:ext cx="676835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受力分析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针对具体的研究对象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确定出它所受到的全部力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主动力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。即真实地反映研究对象的受力信息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方位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作用位置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111424" y="3348329"/>
            <a:ext cx="69342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受力图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以图的方式表示物体上所受的全部力。</a:t>
            </a:r>
          </a:p>
          <a:p>
            <a:pPr algn="just" eaLnBrk="1" hangingPunct="1">
              <a:lnSpc>
                <a:spcPct val="125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 受力图是分析、解决力学问题的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基础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　　</a:t>
            </a: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1044004" y="5012159"/>
            <a:ext cx="3097212" cy="863600"/>
          </a:xfrm>
          <a:prstGeom prst="ellipse">
            <a:avLst/>
          </a:prstGeom>
          <a:solidFill>
            <a:srgbClr val="FFFF99"/>
          </a:solidFill>
          <a:ln w="222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ea typeface="幼圆" panose="02010509060101010101" pitchFamily="49" charset="-122"/>
              </a:rPr>
              <a:t>研究对象</a:t>
            </a:r>
            <a:r>
              <a:rPr lang="en-US" altLang="zh-CN" b="1" dirty="0">
                <a:ea typeface="幼圆" panose="02010509060101010101" pitchFamily="49" charset="-122"/>
              </a:rPr>
              <a:t>(</a:t>
            </a:r>
            <a:r>
              <a:rPr lang="zh-CN" altLang="en-US" b="1" dirty="0">
                <a:ea typeface="幼圆" panose="02010509060101010101" pitchFamily="49" charset="-122"/>
              </a:rPr>
              <a:t>受力体</a:t>
            </a:r>
            <a:r>
              <a:rPr lang="en-US" altLang="zh-CN" b="1" dirty="0">
                <a:ea typeface="幼圆" panose="02010509060101010101" pitchFamily="49" charset="-122"/>
              </a:rPr>
              <a:t>)</a:t>
            </a: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5652516" y="5080421"/>
            <a:ext cx="2303463" cy="792163"/>
          </a:xfrm>
          <a:prstGeom prst="ellipse">
            <a:avLst/>
          </a:prstGeom>
          <a:solidFill>
            <a:srgbClr val="FFFF99"/>
          </a:solidFill>
          <a:ln w="222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ea typeface="幼圆" panose="02010509060101010101" pitchFamily="49" charset="-122"/>
              </a:rPr>
              <a:t>施力体</a:t>
            </a: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4212654" y="5443959"/>
            <a:ext cx="1223962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3" name="Oval 9"/>
          <p:cNvSpPr>
            <a:spLocks noChangeArrowheads="1"/>
          </p:cNvSpPr>
          <p:nvPr/>
        </p:nvSpPr>
        <p:spPr bwMode="auto">
          <a:xfrm>
            <a:off x="5580112" y="5079667"/>
            <a:ext cx="2592387" cy="792162"/>
          </a:xfrm>
          <a:prstGeom prst="ellipse">
            <a:avLst/>
          </a:prstGeom>
          <a:solidFill>
            <a:srgbClr val="CC99FF"/>
          </a:solidFill>
          <a:ln w="222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ea typeface="幼圆" panose="02010509060101010101" pitchFamily="49" charset="-122"/>
              </a:rPr>
              <a:t>约束反力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83568" y="548680"/>
            <a:ext cx="7200800" cy="101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sz="3200" b="1" dirty="0">
                <a:solidFill>
                  <a:schemeClr val="tx2"/>
                </a:solidFill>
                <a:ea typeface="华文中宋" panose="02010600040101010101" pitchFamily="2" charset="-122"/>
              </a:rPr>
              <a:t>2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物体的受力分析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受力图</a:t>
            </a:r>
            <a:r>
              <a:rPr lang="zh-CN" altLang="en-US" b="1" dirty="0">
                <a:ea typeface="华文中宋" panose="02010600040101010101" pitchFamily="2" charset="-122"/>
              </a:rPr>
              <a:t>（书</a:t>
            </a:r>
            <a:r>
              <a:rPr lang="en-US" altLang="zh-CN" b="1" dirty="0">
                <a:latin typeface="宋体" panose="02010600030101010101" pitchFamily="2" charset="-122"/>
              </a:rPr>
              <a:t>§</a:t>
            </a:r>
            <a:r>
              <a:rPr lang="en-US" altLang="zh-CN" b="1" dirty="0"/>
              <a:t>1-3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70" decel="100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770" decel="100000"/>
                                        <p:tgtEl>
                                          <p:spTgt spid="317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5" dur="77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7" dur="77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70" decel="100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770" decel="100000"/>
                                        <p:tgtEl>
                                          <p:spTgt spid="3175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6" dur="77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8" dur="77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65" dur="10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 build="p" autoUpdateAnimBg="0"/>
      <p:bldP spid="31749" grpId="0" uiExpand="1" build="p" autoUpdateAnimBg="0"/>
      <p:bldP spid="31750" grpId="0" animBg="1"/>
      <p:bldP spid="31751" grpId="0" animBg="1"/>
      <p:bldP spid="31751" grpId="1" animBg="1"/>
      <p:bldP spid="31752" grpId="0" animBg="1"/>
      <p:bldP spid="317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1187624" y="1814348"/>
            <a:ext cx="6719219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观察物体系统，识别二力构件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选定合适研究对象，画出所选研究对象的隔离体图（ 取分离体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解除约束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画出研究对象上受的所有主动力、主动力偶；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根据约束类型画出所有的约束反力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力的作用位置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方向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名称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187624" y="1357148"/>
            <a:ext cx="2743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画受力图的步骤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827584" y="677649"/>
            <a:ext cx="5976664" cy="73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32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sz="3200" b="1" dirty="0">
                <a:solidFill>
                  <a:schemeClr val="tx2"/>
                </a:solidFill>
                <a:ea typeface="华文中宋" panose="02010600040101010101" pitchFamily="2" charset="-122"/>
              </a:rPr>
              <a:t>2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物体的受力分析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受力图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971600" y="4649623"/>
            <a:ext cx="79295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buClr>
                <a:srgbClr val="800000"/>
              </a:buClr>
              <a:buFont typeface="Wingdings" panose="05000000000000000000" pitchFamily="2" charset="2"/>
              <a:buChar char="u"/>
            </a:pP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系统外物体作用于系统内物体上的力，称为</a:t>
            </a:r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外力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kumimoji="0"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buClr>
                <a:srgbClr val="800000"/>
              </a:buClr>
            </a:pP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系统内物体间的相互作用力</a:t>
            </a:r>
            <a:r>
              <a:rPr kumimoji="0"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称为</a:t>
            </a:r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内力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algn="just" eaLnBrk="1" hangingPunct="1">
              <a:buClr>
                <a:srgbClr val="800000"/>
              </a:buClr>
              <a:buFont typeface="Wingdings" panose="05000000000000000000" pitchFamily="2" charset="2"/>
              <a:buChar char="u"/>
            </a:pP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系统的内力总是成对出现，不影响系统的平衡</a:t>
            </a:r>
          </a:p>
          <a:p>
            <a:pPr algn="just" eaLnBrk="1" hangingPunct="1"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状态，</a:t>
            </a:r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受力图中不应出现内力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uiExpand="1" build="p" autoUpdateAnimBg="0"/>
      <p:bldP spid="32773" grpId="0" build="p" autoUpdateAnimBg="0"/>
      <p:bldP spid="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1094730" y="1003237"/>
            <a:ext cx="2198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受力分析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296983" y="486003"/>
            <a:ext cx="2711450" cy="2745693"/>
            <a:chOff x="437" y="2044"/>
            <a:chExt cx="2061" cy="2108"/>
          </a:xfrm>
        </p:grpSpPr>
        <p:sp>
          <p:nvSpPr>
            <p:cNvPr id="38973" name="AutoShape 4"/>
            <p:cNvSpPr>
              <a:spLocks noChangeArrowheads="1"/>
            </p:cNvSpPr>
            <p:nvPr/>
          </p:nvSpPr>
          <p:spPr bwMode="auto">
            <a:xfrm>
              <a:off x="1664" y="3880"/>
              <a:ext cx="224" cy="272"/>
            </a:xfrm>
            <a:prstGeom prst="can">
              <a:avLst>
                <a:gd name="adj" fmla="val 30357"/>
              </a:avLst>
            </a:prstGeom>
            <a:solidFill>
              <a:srgbClr val="6666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8974" name="Group 5"/>
            <p:cNvGrpSpPr>
              <a:grpSpLocks/>
            </p:cNvGrpSpPr>
            <p:nvPr/>
          </p:nvGrpSpPr>
          <p:grpSpPr bwMode="auto">
            <a:xfrm rot="5400000">
              <a:off x="600" y="3304"/>
              <a:ext cx="144" cy="192"/>
              <a:chOff x="1136" y="2280"/>
              <a:chExt cx="144" cy="192"/>
            </a:xfrm>
          </p:grpSpPr>
          <p:sp>
            <p:nvSpPr>
              <p:cNvPr id="39005" name="AutoShape 6"/>
              <p:cNvSpPr>
                <a:spLocks noChangeArrowheads="1"/>
              </p:cNvSpPr>
              <p:nvPr/>
            </p:nvSpPr>
            <p:spPr bwMode="auto">
              <a:xfrm>
                <a:off x="1136" y="2304"/>
                <a:ext cx="144" cy="168"/>
              </a:xfrm>
              <a:prstGeom prst="triangle">
                <a:avLst>
                  <a:gd name="adj" fmla="val 50000"/>
                </a:avLst>
              </a:prstGeom>
              <a:solidFill>
                <a:schemeClr val="folHlink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9006" name="Oval 7"/>
              <p:cNvSpPr>
                <a:spLocks noChangeArrowheads="1"/>
              </p:cNvSpPr>
              <p:nvPr/>
            </p:nvSpPr>
            <p:spPr bwMode="auto">
              <a:xfrm>
                <a:off x="1176" y="2280"/>
                <a:ext cx="72" cy="80"/>
              </a:xfrm>
              <a:prstGeom prst="ellipse">
                <a:avLst/>
              </a:prstGeom>
              <a:solidFill>
                <a:schemeClr val="folHlink"/>
              </a:solidFill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8975" name="Rectangle 8"/>
            <p:cNvSpPr>
              <a:spLocks noChangeArrowheads="1"/>
            </p:cNvSpPr>
            <p:nvPr/>
          </p:nvSpPr>
          <p:spPr bwMode="auto">
            <a:xfrm>
              <a:off x="440" y="2160"/>
              <a:ext cx="144" cy="1512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76" name="AutoShape 9"/>
            <p:cNvSpPr>
              <a:spLocks noChangeArrowheads="1"/>
            </p:cNvSpPr>
            <p:nvPr/>
          </p:nvSpPr>
          <p:spPr bwMode="auto">
            <a:xfrm>
              <a:off x="768" y="3376"/>
              <a:ext cx="1528" cy="56"/>
            </a:xfrm>
            <a:prstGeom prst="roundRect">
              <a:avLst>
                <a:gd name="adj" fmla="val 16667"/>
              </a:avLst>
            </a:prstGeom>
            <a:solidFill>
              <a:srgbClr val="6666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77" name="Line 10"/>
            <p:cNvSpPr>
              <a:spLocks noChangeShapeType="1"/>
            </p:cNvSpPr>
            <p:nvPr/>
          </p:nvSpPr>
          <p:spPr bwMode="auto">
            <a:xfrm>
              <a:off x="592" y="2160"/>
              <a:ext cx="0" cy="1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8" name="Line 11"/>
            <p:cNvSpPr>
              <a:spLocks noChangeShapeType="1"/>
            </p:cNvSpPr>
            <p:nvPr/>
          </p:nvSpPr>
          <p:spPr bwMode="auto">
            <a:xfrm flipH="1">
              <a:off x="452" y="2168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9" name="Line 12"/>
            <p:cNvSpPr>
              <a:spLocks noChangeShapeType="1"/>
            </p:cNvSpPr>
            <p:nvPr/>
          </p:nvSpPr>
          <p:spPr bwMode="auto">
            <a:xfrm flipH="1">
              <a:off x="449" y="2577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0" name="Line 13"/>
            <p:cNvSpPr>
              <a:spLocks noChangeShapeType="1"/>
            </p:cNvSpPr>
            <p:nvPr/>
          </p:nvSpPr>
          <p:spPr bwMode="auto">
            <a:xfrm flipH="1">
              <a:off x="446" y="2274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1" name="Line 14"/>
            <p:cNvSpPr>
              <a:spLocks noChangeShapeType="1"/>
            </p:cNvSpPr>
            <p:nvPr/>
          </p:nvSpPr>
          <p:spPr bwMode="auto">
            <a:xfrm flipH="1">
              <a:off x="447" y="2371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2" name="Line 15"/>
            <p:cNvSpPr>
              <a:spLocks noChangeShapeType="1"/>
            </p:cNvSpPr>
            <p:nvPr/>
          </p:nvSpPr>
          <p:spPr bwMode="auto">
            <a:xfrm flipH="1">
              <a:off x="444" y="2480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3" name="Line 16"/>
            <p:cNvSpPr>
              <a:spLocks noChangeShapeType="1"/>
            </p:cNvSpPr>
            <p:nvPr/>
          </p:nvSpPr>
          <p:spPr bwMode="auto">
            <a:xfrm flipH="1">
              <a:off x="445" y="2673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4" name="Line 17"/>
            <p:cNvSpPr>
              <a:spLocks noChangeShapeType="1"/>
            </p:cNvSpPr>
            <p:nvPr/>
          </p:nvSpPr>
          <p:spPr bwMode="auto">
            <a:xfrm flipH="1">
              <a:off x="442" y="3082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5" name="Line 18"/>
            <p:cNvSpPr>
              <a:spLocks noChangeShapeType="1"/>
            </p:cNvSpPr>
            <p:nvPr/>
          </p:nvSpPr>
          <p:spPr bwMode="auto">
            <a:xfrm flipH="1">
              <a:off x="439" y="2779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6" name="Line 19"/>
            <p:cNvSpPr>
              <a:spLocks noChangeShapeType="1"/>
            </p:cNvSpPr>
            <p:nvPr/>
          </p:nvSpPr>
          <p:spPr bwMode="auto">
            <a:xfrm flipH="1">
              <a:off x="440" y="2876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7" name="Line 20"/>
            <p:cNvSpPr>
              <a:spLocks noChangeShapeType="1"/>
            </p:cNvSpPr>
            <p:nvPr/>
          </p:nvSpPr>
          <p:spPr bwMode="auto">
            <a:xfrm flipH="1">
              <a:off x="437" y="2985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8" name="Line 21"/>
            <p:cNvSpPr>
              <a:spLocks noChangeShapeType="1"/>
            </p:cNvSpPr>
            <p:nvPr/>
          </p:nvSpPr>
          <p:spPr bwMode="auto">
            <a:xfrm flipH="1">
              <a:off x="445" y="3177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9" name="Line 22"/>
            <p:cNvSpPr>
              <a:spLocks noChangeShapeType="1"/>
            </p:cNvSpPr>
            <p:nvPr/>
          </p:nvSpPr>
          <p:spPr bwMode="auto">
            <a:xfrm flipH="1">
              <a:off x="442" y="3586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90" name="Line 23"/>
            <p:cNvSpPr>
              <a:spLocks noChangeShapeType="1"/>
            </p:cNvSpPr>
            <p:nvPr/>
          </p:nvSpPr>
          <p:spPr bwMode="auto">
            <a:xfrm flipH="1">
              <a:off x="439" y="3283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91" name="Line 24"/>
            <p:cNvSpPr>
              <a:spLocks noChangeShapeType="1"/>
            </p:cNvSpPr>
            <p:nvPr/>
          </p:nvSpPr>
          <p:spPr bwMode="auto">
            <a:xfrm flipH="1">
              <a:off x="440" y="3380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92" name="Line 25"/>
            <p:cNvSpPr>
              <a:spLocks noChangeShapeType="1"/>
            </p:cNvSpPr>
            <p:nvPr/>
          </p:nvSpPr>
          <p:spPr bwMode="auto">
            <a:xfrm flipH="1">
              <a:off x="437" y="3489"/>
              <a:ext cx="136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93" name="Line 26"/>
            <p:cNvSpPr>
              <a:spLocks noChangeShapeType="1"/>
            </p:cNvSpPr>
            <p:nvPr/>
          </p:nvSpPr>
          <p:spPr bwMode="auto">
            <a:xfrm>
              <a:off x="600" y="2280"/>
              <a:ext cx="1672" cy="1032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994" name="Group 27"/>
            <p:cNvGrpSpPr>
              <a:grpSpLocks/>
            </p:cNvGrpSpPr>
            <p:nvPr/>
          </p:nvGrpSpPr>
          <p:grpSpPr bwMode="auto">
            <a:xfrm>
              <a:off x="2193" y="3273"/>
              <a:ext cx="104" cy="112"/>
              <a:chOff x="1136" y="2280"/>
              <a:chExt cx="144" cy="192"/>
            </a:xfrm>
          </p:grpSpPr>
          <p:sp>
            <p:nvSpPr>
              <p:cNvPr id="39003" name="AutoShape 28"/>
              <p:cNvSpPr>
                <a:spLocks noChangeArrowheads="1"/>
              </p:cNvSpPr>
              <p:nvPr/>
            </p:nvSpPr>
            <p:spPr bwMode="auto">
              <a:xfrm>
                <a:off x="1136" y="2304"/>
                <a:ext cx="144" cy="168"/>
              </a:xfrm>
              <a:prstGeom prst="triangle">
                <a:avLst>
                  <a:gd name="adj" fmla="val 50000"/>
                </a:avLst>
              </a:prstGeom>
              <a:solidFill>
                <a:schemeClr val="folHlink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9004" name="Oval 29"/>
              <p:cNvSpPr>
                <a:spLocks noChangeArrowheads="1"/>
              </p:cNvSpPr>
              <p:nvPr/>
            </p:nvSpPr>
            <p:spPr bwMode="auto">
              <a:xfrm>
                <a:off x="1176" y="2280"/>
                <a:ext cx="72" cy="80"/>
              </a:xfrm>
              <a:prstGeom prst="ellipse">
                <a:avLst/>
              </a:prstGeom>
              <a:solidFill>
                <a:schemeClr val="folHlink"/>
              </a:solidFill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8995" name="Group 30"/>
            <p:cNvGrpSpPr>
              <a:grpSpLocks/>
            </p:cNvGrpSpPr>
            <p:nvPr/>
          </p:nvGrpSpPr>
          <p:grpSpPr bwMode="auto">
            <a:xfrm rot="10800000">
              <a:off x="1730" y="3434"/>
              <a:ext cx="104" cy="112"/>
              <a:chOff x="1136" y="2280"/>
              <a:chExt cx="144" cy="192"/>
            </a:xfrm>
          </p:grpSpPr>
          <p:sp>
            <p:nvSpPr>
              <p:cNvPr id="39001" name="AutoShape 31"/>
              <p:cNvSpPr>
                <a:spLocks noChangeArrowheads="1"/>
              </p:cNvSpPr>
              <p:nvPr/>
            </p:nvSpPr>
            <p:spPr bwMode="auto">
              <a:xfrm>
                <a:off x="1136" y="2304"/>
                <a:ext cx="144" cy="168"/>
              </a:xfrm>
              <a:prstGeom prst="triangle">
                <a:avLst>
                  <a:gd name="adj" fmla="val 50000"/>
                </a:avLst>
              </a:prstGeom>
              <a:solidFill>
                <a:schemeClr val="folHlink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9002" name="Oval 32"/>
              <p:cNvSpPr>
                <a:spLocks noChangeArrowheads="1"/>
              </p:cNvSpPr>
              <p:nvPr/>
            </p:nvSpPr>
            <p:spPr bwMode="auto">
              <a:xfrm>
                <a:off x="1176" y="2280"/>
                <a:ext cx="72" cy="80"/>
              </a:xfrm>
              <a:prstGeom prst="ellipse">
                <a:avLst/>
              </a:prstGeom>
              <a:solidFill>
                <a:schemeClr val="folHlink"/>
              </a:solidFill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8996" name="Line 33"/>
            <p:cNvSpPr>
              <a:spLocks noChangeShapeType="1"/>
            </p:cNvSpPr>
            <p:nvPr/>
          </p:nvSpPr>
          <p:spPr bwMode="auto">
            <a:xfrm>
              <a:off x="1776" y="3528"/>
              <a:ext cx="8" cy="392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97" name="Text Box 34"/>
            <p:cNvSpPr txBox="1">
              <a:spLocks noChangeArrowheads="1"/>
            </p:cNvSpPr>
            <p:nvPr/>
          </p:nvSpPr>
          <p:spPr bwMode="auto">
            <a:xfrm>
              <a:off x="616" y="3408"/>
              <a:ext cx="22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A</a:t>
              </a:r>
            </a:p>
          </p:txBody>
        </p:sp>
        <p:sp>
          <p:nvSpPr>
            <p:cNvPr id="38998" name="Text Box 35"/>
            <p:cNvSpPr txBox="1">
              <a:spLocks noChangeArrowheads="1"/>
            </p:cNvSpPr>
            <p:nvPr/>
          </p:nvSpPr>
          <p:spPr bwMode="auto">
            <a:xfrm>
              <a:off x="1623" y="3149"/>
              <a:ext cx="22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 dirty="0"/>
                <a:t>D</a:t>
              </a:r>
            </a:p>
          </p:txBody>
        </p:sp>
        <p:sp>
          <p:nvSpPr>
            <p:cNvPr id="38999" name="Text Box 36"/>
            <p:cNvSpPr txBox="1">
              <a:spLocks noChangeArrowheads="1"/>
            </p:cNvSpPr>
            <p:nvPr/>
          </p:nvSpPr>
          <p:spPr bwMode="auto">
            <a:xfrm>
              <a:off x="2274" y="3354"/>
              <a:ext cx="22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39000" name="Text Box 37"/>
            <p:cNvSpPr txBox="1">
              <a:spLocks noChangeArrowheads="1"/>
            </p:cNvSpPr>
            <p:nvPr/>
          </p:nvSpPr>
          <p:spPr bwMode="auto">
            <a:xfrm>
              <a:off x="595" y="2044"/>
              <a:ext cx="22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1072615" y="4381042"/>
            <a:ext cx="884238" cy="385763"/>
            <a:chOff x="2920" y="2496"/>
            <a:chExt cx="557" cy="243"/>
          </a:xfrm>
        </p:grpSpPr>
        <p:sp>
          <p:nvSpPr>
            <p:cNvPr id="38971" name="AutoShape 39"/>
            <p:cNvSpPr>
              <a:spLocks noChangeArrowheads="1"/>
            </p:cNvSpPr>
            <p:nvPr/>
          </p:nvSpPr>
          <p:spPr bwMode="auto">
            <a:xfrm>
              <a:off x="2957" y="2496"/>
              <a:ext cx="520" cy="48"/>
            </a:xfrm>
            <a:prstGeom prst="rightArrow">
              <a:avLst>
                <a:gd name="adj1" fmla="val 50000"/>
                <a:gd name="adj2" fmla="val 270833"/>
              </a:avLst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72" name="Text Box 40"/>
            <p:cNvSpPr txBox="1">
              <a:spLocks noChangeArrowheads="1"/>
            </p:cNvSpPr>
            <p:nvPr/>
          </p:nvSpPr>
          <p:spPr bwMode="auto">
            <a:xfrm>
              <a:off x="2920" y="2508"/>
              <a:ext cx="3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Ax</a:t>
              </a: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1461553" y="3474580"/>
            <a:ext cx="625475" cy="901700"/>
            <a:chOff x="3165" y="1925"/>
            <a:chExt cx="394" cy="568"/>
          </a:xfrm>
        </p:grpSpPr>
        <p:sp>
          <p:nvSpPr>
            <p:cNvPr id="38969" name="AutoShape 42"/>
            <p:cNvSpPr>
              <a:spLocks noChangeArrowheads="1"/>
            </p:cNvSpPr>
            <p:nvPr/>
          </p:nvSpPr>
          <p:spPr bwMode="auto">
            <a:xfrm rot="-5400000">
              <a:off x="3262" y="2209"/>
              <a:ext cx="520" cy="48"/>
            </a:xfrm>
            <a:prstGeom prst="rightArrow">
              <a:avLst>
                <a:gd name="adj1" fmla="val 50000"/>
                <a:gd name="adj2" fmla="val 270833"/>
              </a:avLst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70" name="Text Box 43"/>
            <p:cNvSpPr txBox="1">
              <a:spLocks noChangeArrowheads="1"/>
            </p:cNvSpPr>
            <p:nvPr/>
          </p:nvSpPr>
          <p:spPr bwMode="auto">
            <a:xfrm>
              <a:off x="3165" y="1925"/>
              <a:ext cx="3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Ay</a:t>
              </a:r>
            </a:p>
          </p:txBody>
        </p: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533115" y="3030080"/>
            <a:ext cx="825500" cy="504825"/>
            <a:chOff x="3840" y="1645"/>
            <a:chExt cx="520" cy="318"/>
          </a:xfrm>
        </p:grpSpPr>
        <p:sp>
          <p:nvSpPr>
            <p:cNvPr id="38967" name="AutoShape 45"/>
            <p:cNvSpPr>
              <a:spLocks noChangeArrowheads="1"/>
            </p:cNvSpPr>
            <p:nvPr/>
          </p:nvSpPr>
          <p:spPr bwMode="auto">
            <a:xfrm rot="-8818568">
              <a:off x="3840" y="1915"/>
              <a:ext cx="520" cy="48"/>
            </a:xfrm>
            <a:prstGeom prst="rightArrow">
              <a:avLst>
                <a:gd name="adj1" fmla="val 50000"/>
                <a:gd name="adj2" fmla="val 270833"/>
              </a:avLst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68" name="Text Box 46"/>
            <p:cNvSpPr txBox="1">
              <a:spLocks noChangeArrowheads="1"/>
            </p:cNvSpPr>
            <p:nvPr/>
          </p:nvSpPr>
          <p:spPr bwMode="auto">
            <a:xfrm>
              <a:off x="3910" y="1645"/>
              <a:ext cx="3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B</a:t>
              </a:r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3368140" y="5447842"/>
            <a:ext cx="625475" cy="647700"/>
            <a:chOff x="4366" y="3168"/>
            <a:chExt cx="394" cy="408"/>
          </a:xfrm>
        </p:grpSpPr>
        <p:sp>
          <p:nvSpPr>
            <p:cNvPr id="38965" name="AutoShape 48"/>
            <p:cNvSpPr>
              <a:spLocks noChangeArrowheads="1"/>
            </p:cNvSpPr>
            <p:nvPr/>
          </p:nvSpPr>
          <p:spPr bwMode="auto">
            <a:xfrm rot="5400000">
              <a:off x="4223" y="3348"/>
              <a:ext cx="408" cy="48"/>
            </a:xfrm>
            <a:prstGeom prst="rightArrow">
              <a:avLst>
                <a:gd name="adj1" fmla="val 50000"/>
                <a:gd name="adj2" fmla="val 270833"/>
              </a:avLst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66" name="Text Box 49"/>
            <p:cNvSpPr txBox="1">
              <a:spLocks noChangeArrowheads="1"/>
            </p:cNvSpPr>
            <p:nvPr/>
          </p:nvSpPr>
          <p:spPr bwMode="auto">
            <a:xfrm>
              <a:off x="4366" y="3304"/>
              <a:ext cx="3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 dirty="0"/>
                <a:t>G</a:t>
              </a:r>
              <a:endParaRPr lang="en-US" altLang="zh-CN" sz="1400" i="1" baseline="-25000" dirty="0"/>
            </a:p>
          </p:txBody>
        </p:sp>
      </p:grpSp>
      <p:sp>
        <p:nvSpPr>
          <p:cNvPr id="33842" name="Line 50"/>
          <p:cNvSpPr>
            <a:spLocks noChangeShapeType="1"/>
          </p:cNvSpPr>
          <p:nvPr/>
        </p:nvSpPr>
        <p:spPr bwMode="auto">
          <a:xfrm flipH="1" flipV="1">
            <a:off x="3472915" y="3428542"/>
            <a:ext cx="12700" cy="2730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43" name="Line 51"/>
          <p:cNvSpPr>
            <a:spLocks noChangeShapeType="1"/>
          </p:cNvSpPr>
          <p:nvPr/>
        </p:nvSpPr>
        <p:spPr bwMode="auto">
          <a:xfrm flipV="1">
            <a:off x="2025115" y="3682542"/>
            <a:ext cx="1803400" cy="698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1779053" y="3688892"/>
            <a:ext cx="2709862" cy="1773238"/>
            <a:chOff x="3365" y="2060"/>
            <a:chExt cx="1707" cy="1117"/>
          </a:xfrm>
        </p:grpSpPr>
        <p:grpSp>
          <p:nvGrpSpPr>
            <p:cNvPr id="38949" name="Group 53"/>
            <p:cNvGrpSpPr>
              <a:grpSpLocks/>
            </p:cNvGrpSpPr>
            <p:nvPr/>
          </p:nvGrpSpPr>
          <p:grpSpPr bwMode="auto">
            <a:xfrm>
              <a:off x="3365" y="2060"/>
              <a:ext cx="1707" cy="1117"/>
              <a:chOff x="3365" y="2060"/>
              <a:chExt cx="1707" cy="1117"/>
            </a:xfrm>
          </p:grpSpPr>
          <p:grpSp>
            <p:nvGrpSpPr>
              <p:cNvPr id="38951" name="Group 54"/>
              <p:cNvGrpSpPr>
                <a:grpSpLocks/>
              </p:cNvGrpSpPr>
              <p:nvPr/>
            </p:nvGrpSpPr>
            <p:grpSpPr bwMode="auto">
              <a:xfrm rot="10800000">
                <a:off x="4379" y="2546"/>
                <a:ext cx="93" cy="99"/>
                <a:chOff x="1136" y="2280"/>
                <a:chExt cx="144" cy="192"/>
              </a:xfrm>
            </p:grpSpPr>
            <p:sp>
              <p:nvSpPr>
                <p:cNvPr id="38963" name="AutoShape 55"/>
                <p:cNvSpPr>
                  <a:spLocks noChangeArrowheads="1"/>
                </p:cNvSpPr>
                <p:nvPr/>
              </p:nvSpPr>
              <p:spPr bwMode="auto">
                <a:xfrm>
                  <a:off x="1136" y="2304"/>
                  <a:ext cx="144" cy="168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folHlink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964" name="Oval 56"/>
                <p:cNvSpPr>
                  <a:spLocks noChangeArrowheads="1"/>
                </p:cNvSpPr>
                <p:nvPr/>
              </p:nvSpPr>
              <p:spPr bwMode="auto">
                <a:xfrm>
                  <a:off x="1176" y="2280"/>
                  <a:ext cx="72" cy="80"/>
                </a:xfrm>
                <a:prstGeom prst="ellipse">
                  <a:avLst/>
                </a:prstGeom>
                <a:solidFill>
                  <a:schemeClr val="folHlink"/>
                </a:solidFill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8952" name="Text Box 57"/>
              <p:cNvSpPr txBox="1">
                <a:spLocks noChangeArrowheads="1"/>
              </p:cNvSpPr>
              <p:nvPr/>
            </p:nvSpPr>
            <p:spPr bwMode="auto">
              <a:xfrm>
                <a:off x="4257" y="2301"/>
                <a:ext cx="20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i="1"/>
                  <a:t>D</a:t>
                </a:r>
              </a:p>
            </p:txBody>
          </p:sp>
          <p:sp>
            <p:nvSpPr>
              <p:cNvPr id="38953" name="Text Box 58"/>
              <p:cNvSpPr txBox="1">
                <a:spLocks noChangeArrowheads="1"/>
              </p:cNvSpPr>
              <p:nvPr/>
            </p:nvSpPr>
            <p:spPr bwMode="auto">
              <a:xfrm>
                <a:off x="4870" y="2476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i="1"/>
                  <a:t>B</a:t>
                </a:r>
              </a:p>
            </p:txBody>
          </p:sp>
          <p:sp>
            <p:nvSpPr>
              <p:cNvPr id="38954" name="Text Box 59"/>
              <p:cNvSpPr txBox="1">
                <a:spLocks noChangeArrowheads="1"/>
              </p:cNvSpPr>
              <p:nvPr/>
            </p:nvSpPr>
            <p:spPr bwMode="auto">
              <a:xfrm>
                <a:off x="3365" y="2531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i="1"/>
                  <a:t>A</a:t>
                </a:r>
              </a:p>
            </p:txBody>
          </p:sp>
          <p:grpSp>
            <p:nvGrpSpPr>
              <p:cNvPr id="38955" name="Group 60"/>
              <p:cNvGrpSpPr>
                <a:grpSpLocks/>
              </p:cNvGrpSpPr>
              <p:nvPr/>
            </p:nvGrpSpPr>
            <p:grpSpPr bwMode="auto">
              <a:xfrm>
                <a:off x="3510" y="2060"/>
                <a:ext cx="1381" cy="1117"/>
                <a:chOff x="3510" y="2060"/>
                <a:chExt cx="1381" cy="1117"/>
              </a:xfrm>
            </p:grpSpPr>
            <p:sp>
              <p:nvSpPr>
                <p:cNvPr id="38956" name="AutoShape 61"/>
                <p:cNvSpPr>
                  <a:spLocks noChangeArrowheads="1"/>
                </p:cNvSpPr>
                <p:nvPr/>
              </p:nvSpPr>
              <p:spPr bwMode="auto">
                <a:xfrm>
                  <a:off x="4319" y="2938"/>
                  <a:ext cx="202" cy="239"/>
                </a:xfrm>
                <a:prstGeom prst="can">
                  <a:avLst>
                    <a:gd name="adj" fmla="val 29579"/>
                  </a:avLst>
                </a:prstGeom>
                <a:solidFill>
                  <a:srgbClr val="6666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957" name="AutoShape 62"/>
                <p:cNvSpPr>
                  <a:spLocks noChangeArrowheads="1"/>
                </p:cNvSpPr>
                <p:nvPr/>
              </p:nvSpPr>
              <p:spPr bwMode="auto">
                <a:xfrm>
                  <a:off x="3510" y="2495"/>
                  <a:ext cx="1380" cy="4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6666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8958" name="Group 63"/>
                <p:cNvGrpSpPr>
                  <a:grpSpLocks/>
                </p:cNvGrpSpPr>
                <p:nvPr/>
              </p:nvGrpSpPr>
              <p:grpSpPr bwMode="auto">
                <a:xfrm>
                  <a:off x="4797" y="2405"/>
                  <a:ext cx="94" cy="98"/>
                  <a:chOff x="1136" y="2280"/>
                  <a:chExt cx="144" cy="192"/>
                </a:xfrm>
              </p:grpSpPr>
              <p:sp>
                <p:nvSpPr>
                  <p:cNvPr id="38961" name="AutoShape 64"/>
                  <p:cNvSpPr>
                    <a:spLocks noChangeArrowheads="1"/>
                  </p:cNvSpPr>
                  <p:nvPr/>
                </p:nvSpPr>
                <p:spPr bwMode="auto">
                  <a:xfrm>
                    <a:off x="1136" y="2304"/>
                    <a:ext cx="144" cy="168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folHlink"/>
                  </a:solidFill>
                  <a:ln w="19050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8962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1176" y="2280"/>
                    <a:ext cx="72" cy="80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8959" name="Line 66"/>
                <p:cNvSpPr>
                  <a:spLocks noChangeShapeType="1"/>
                </p:cNvSpPr>
                <p:nvPr/>
              </p:nvSpPr>
              <p:spPr bwMode="auto">
                <a:xfrm>
                  <a:off x="4420" y="2629"/>
                  <a:ext cx="7" cy="344"/>
                </a:xfrm>
                <a:prstGeom prst="line">
                  <a:avLst/>
                </a:prstGeom>
                <a:noFill/>
                <a:ln w="38100">
                  <a:solidFill>
                    <a:srgbClr val="8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60" name="Line 67"/>
                <p:cNvSpPr>
                  <a:spLocks noChangeShapeType="1"/>
                </p:cNvSpPr>
                <p:nvPr/>
              </p:nvSpPr>
              <p:spPr bwMode="auto">
                <a:xfrm>
                  <a:off x="4286" y="2060"/>
                  <a:ext cx="558" cy="355"/>
                </a:xfrm>
                <a:prstGeom prst="line">
                  <a:avLst/>
                </a:prstGeom>
                <a:noFill/>
                <a:ln w="38100">
                  <a:solidFill>
                    <a:srgbClr val="8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8950" name="Oval 68"/>
            <p:cNvSpPr>
              <a:spLocks noChangeArrowheads="1"/>
            </p:cNvSpPr>
            <p:nvPr/>
          </p:nvSpPr>
          <p:spPr bwMode="auto">
            <a:xfrm>
              <a:off x="3496" y="2491"/>
              <a:ext cx="64" cy="73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861" name="AutoShape 69"/>
          <p:cNvSpPr>
            <a:spLocks noChangeArrowheads="1"/>
          </p:cNvSpPr>
          <p:nvPr/>
        </p:nvSpPr>
        <p:spPr bwMode="auto">
          <a:xfrm rot="5400000">
            <a:off x="6544577" y="5722353"/>
            <a:ext cx="648000" cy="76200"/>
          </a:xfrm>
          <a:prstGeom prst="rightArrow">
            <a:avLst>
              <a:gd name="adj1" fmla="val 50000"/>
              <a:gd name="adj2" fmla="val 270833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63" name="Line 71"/>
          <p:cNvSpPr>
            <a:spLocks noChangeShapeType="1"/>
          </p:cNvSpPr>
          <p:nvPr/>
        </p:nvSpPr>
        <p:spPr bwMode="auto">
          <a:xfrm flipV="1">
            <a:off x="5422365" y="3694966"/>
            <a:ext cx="1803400" cy="698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64" name="Text Box 72"/>
          <p:cNvSpPr txBox="1">
            <a:spLocks noChangeArrowheads="1"/>
          </p:cNvSpPr>
          <p:nvPr/>
        </p:nvSpPr>
        <p:spPr bwMode="auto">
          <a:xfrm>
            <a:off x="6378040" y="3237766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i="1" baseline="-25000"/>
              <a:t>B</a:t>
            </a:r>
          </a:p>
        </p:txBody>
      </p:sp>
      <p:sp>
        <p:nvSpPr>
          <p:cNvPr id="33865" name="Text Box 73"/>
          <p:cNvSpPr txBox="1">
            <a:spLocks noChangeArrowheads="1"/>
          </p:cNvSpPr>
          <p:nvPr/>
        </p:nvSpPr>
        <p:spPr bwMode="auto">
          <a:xfrm>
            <a:off x="6746340" y="5665053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 dirty="0"/>
              <a:t>G</a:t>
            </a:r>
            <a:endParaRPr lang="en-US" altLang="zh-CN" sz="1400" i="1" baseline="-25000" dirty="0"/>
          </a:p>
        </p:txBody>
      </p:sp>
      <p:grpSp>
        <p:nvGrpSpPr>
          <p:cNvPr id="15" name="Group 74"/>
          <p:cNvGrpSpPr>
            <a:grpSpLocks/>
          </p:cNvGrpSpPr>
          <p:nvPr/>
        </p:nvGrpSpPr>
        <p:grpSpPr bwMode="auto">
          <a:xfrm>
            <a:off x="4549240" y="4522053"/>
            <a:ext cx="900112" cy="481013"/>
            <a:chOff x="1970" y="2969"/>
            <a:chExt cx="567" cy="303"/>
          </a:xfrm>
        </p:grpSpPr>
        <p:sp>
          <p:nvSpPr>
            <p:cNvPr id="38947" name="AutoShape 75"/>
            <p:cNvSpPr>
              <a:spLocks noChangeArrowheads="1"/>
            </p:cNvSpPr>
            <p:nvPr/>
          </p:nvSpPr>
          <p:spPr bwMode="auto">
            <a:xfrm rot="-1150740">
              <a:off x="2017" y="2969"/>
              <a:ext cx="520" cy="48"/>
            </a:xfrm>
            <a:prstGeom prst="rightArrow">
              <a:avLst>
                <a:gd name="adj1" fmla="val 50000"/>
                <a:gd name="adj2" fmla="val 270833"/>
              </a:avLst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48" name="Text Box 76"/>
            <p:cNvSpPr txBox="1">
              <a:spLocks noChangeArrowheads="1"/>
            </p:cNvSpPr>
            <p:nvPr/>
          </p:nvSpPr>
          <p:spPr bwMode="auto">
            <a:xfrm>
              <a:off x="1970" y="3041"/>
              <a:ext cx="3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</a:t>
              </a:r>
            </a:p>
          </p:txBody>
        </p:sp>
      </p:grpSp>
      <p:grpSp>
        <p:nvGrpSpPr>
          <p:cNvPr id="16" name="Group 77"/>
          <p:cNvGrpSpPr>
            <a:grpSpLocks/>
          </p:cNvGrpSpPr>
          <p:nvPr/>
        </p:nvGrpSpPr>
        <p:grpSpPr bwMode="auto">
          <a:xfrm>
            <a:off x="5182652" y="3440966"/>
            <a:ext cx="2709863" cy="2730500"/>
            <a:chOff x="2991" y="2159"/>
            <a:chExt cx="1707" cy="1720"/>
          </a:xfrm>
        </p:grpSpPr>
        <p:sp>
          <p:nvSpPr>
            <p:cNvPr id="38930" name="Text Box 78"/>
            <p:cNvSpPr txBox="1">
              <a:spLocks noChangeArrowheads="1"/>
            </p:cNvSpPr>
            <p:nvPr/>
          </p:nvSpPr>
          <p:spPr bwMode="auto">
            <a:xfrm>
              <a:off x="3859" y="2552"/>
              <a:ext cx="2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D</a:t>
              </a:r>
            </a:p>
          </p:txBody>
        </p:sp>
        <p:sp>
          <p:nvSpPr>
            <p:cNvPr id="38931" name="Text Box 79"/>
            <p:cNvSpPr txBox="1">
              <a:spLocks noChangeArrowheads="1"/>
            </p:cNvSpPr>
            <p:nvPr/>
          </p:nvSpPr>
          <p:spPr bwMode="auto">
            <a:xfrm>
              <a:off x="4496" y="2724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38932" name="Text Box 80"/>
            <p:cNvSpPr txBox="1">
              <a:spLocks noChangeArrowheads="1"/>
            </p:cNvSpPr>
            <p:nvPr/>
          </p:nvSpPr>
          <p:spPr bwMode="auto">
            <a:xfrm>
              <a:off x="2991" y="2779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A</a:t>
              </a:r>
            </a:p>
          </p:txBody>
        </p:sp>
        <p:grpSp>
          <p:nvGrpSpPr>
            <p:cNvPr id="38933" name="Group 81"/>
            <p:cNvGrpSpPr>
              <a:grpSpLocks/>
            </p:cNvGrpSpPr>
            <p:nvPr/>
          </p:nvGrpSpPr>
          <p:grpSpPr bwMode="auto">
            <a:xfrm>
              <a:off x="3136" y="2159"/>
              <a:ext cx="1381" cy="1720"/>
              <a:chOff x="3136" y="2159"/>
              <a:chExt cx="1381" cy="1720"/>
            </a:xfrm>
          </p:grpSpPr>
          <p:grpSp>
            <p:nvGrpSpPr>
              <p:cNvPr id="38935" name="Group 82"/>
              <p:cNvGrpSpPr>
                <a:grpSpLocks/>
              </p:cNvGrpSpPr>
              <p:nvPr/>
            </p:nvGrpSpPr>
            <p:grpSpPr bwMode="auto">
              <a:xfrm>
                <a:off x="4423" y="2653"/>
                <a:ext cx="94" cy="98"/>
                <a:chOff x="1136" y="2280"/>
                <a:chExt cx="144" cy="192"/>
              </a:xfrm>
            </p:grpSpPr>
            <p:sp>
              <p:nvSpPr>
                <p:cNvPr id="38945" name="AutoShape 83"/>
                <p:cNvSpPr>
                  <a:spLocks noChangeArrowheads="1"/>
                </p:cNvSpPr>
                <p:nvPr/>
              </p:nvSpPr>
              <p:spPr bwMode="auto">
                <a:xfrm>
                  <a:off x="1136" y="2304"/>
                  <a:ext cx="144" cy="168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folHlink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946" name="Oval 84"/>
                <p:cNvSpPr>
                  <a:spLocks noChangeArrowheads="1"/>
                </p:cNvSpPr>
                <p:nvPr/>
              </p:nvSpPr>
              <p:spPr bwMode="auto">
                <a:xfrm>
                  <a:off x="1176" y="2280"/>
                  <a:ext cx="72" cy="80"/>
                </a:xfrm>
                <a:prstGeom prst="ellipse">
                  <a:avLst/>
                </a:prstGeom>
                <a:solidFill>
                  <a:schemeClr val="folHlink"/>
                </a:solidFill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6" name="Group 85"/>
              <p:cNvGrpSpPr>
                <a:grpSpLocks/>
              </p:cNvGrpSpPr>
              <p:nvPr/>
            </p:nvGrpSpPr>
            <p:grpSpPr bwMode="auto">
              <a:xfrm rot="10800000">
                <a:off x="4005" y="2794"/>
                <a:ext cx="93" cy="99"/>
                <a:chOff x="1136" y="2280"/>
                <a:chExt cx="144" cy="192"/>
              </a:xfrm>
            </p:grpSpPr>
            <p:sp>
              <p:nvSpPr>
                <p:cNvPr id="38943" name="AutoShape 86"/>
                <p:cNvSpPr>
                  <a:spLocks noChangeArrowheads="1"/>
                </p:cNvSpPr>
                <p:nvPr/>
              </p:nvSpPr>
              <p:spPr bwMode="auto">
                <a:xfrm>
                  <a:off x="1136" y="2304"/>
                  <a:ext cx="144" cy="168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folHlink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944" name="Oval 87"/>
                <p:cNvSpPr>
                  <a:spLocks noChangeArrowheads="1"/>
                </p:cNvSpPr>
                <p:nvPr/>
              </p:nvSpPr>
              <p:spPr bwMode="auto">
                <a:xfrm>
                  <a:off x="1176" y="2280"/>
                  <a:ext cx="72" cy="80"/>
                </a:xfrm>
                <a:prstGeom prst="ellipse">
                  <a:avLst/>
                </a:prstGeom>
                <a:solidFill>
                  <a:schemeClr val="folHlink"/>
                </a:solidFill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38937" name="Group 88"/>
              <p:cNvGrpSpPr>
                <a:grpSpLocks/>
              </p:cNvGrpSpPr>
              <p:nvPr/>
            </p:nvGrpSpPr>
            <p:grpSpPr bwMode="auto">
              <a:xfrm>
                <a:off x="3136" y="2159"/>
                <a:ext cx="1380" cy="1720"/>
                <a:chOff x="3136" y="2159"/>
                <a:chExt cx="1380" cy="1720"/>
              </a:xfrm>
            </p:grpSpPr>
            <p:sp>
              <p:nvSpPr>
                <p:cNvPr id="38938" name="AutoShape 89"/>
                <p:cNvSpPr>
                  <a:spLocks noChangeArrowheads="1"/>
                </p:cNvSpPr>
                <p:nvPr/>
              </p:nvSpPr>
              <p:spPr bwMode="auto">
                <a:xfrm>
                  <a:off x="3945" y="3186"/>
                  <a:ext cx="202" cy="239"/>
                </a:xfrm>
                <a:prstGeom prst="can">
                  <a:avLst>
                    <a:gd name="adj" fmla="val 29579"/>
                  </a:avLst>
                </a:prstGeom>
                <a:solidFill>
                  <a:srgbClr val="6666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939" name="AutoShape 90"/>
                <p:cNvSpPr>
                  <a:spLocks noChangeArrowheads="1"/>
                </p:cNvSpPr>
                <p:nvPr/>
              </p:nvSpPr>
              <p:spPr bwMode="auto">
                <a:xfrm>
                  <a:off x="3136" y="2743"/>
                  <a:ext cx="1380" cy="4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6666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940" name="Line 91"/>
                <p:cNvSpPr>
                  <a:spLocks noChangeShapeType="1"/>
                </p:cNvSpPr>
                <p:nvPr/>
              </p:nvSpPr>
              <p:spPr bwMode="auto">
                <a:xfrm>
                  <a:off x="4046" y="2877"/>
                  <a:ext cx="7" cy="344"/>
                </a:xfrm>
                <a:prstGeom prst="line">
                  <a:avLst/>
                </a:prstGeom>
                <a:noFill/>
                <a:ln w="38100">
                  <a:solidFill>
                    <a:srgbClr val="8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41" name="Line 92"/>
                <p:cNvSpPr>
                  <a:spLocks noChangeShapeType="1"/>
                </p:cNvSpPr>
                <p:nvPr/>
              </p:nvSpPr>
              <p:spPr bwMode="auto">
                <a:xfrm>
                  <a:off x="3912" y="2308"/>
                  <a:ext cx="558" cy="355"/>
                </a:xfrm>
                <a:prstGeom prst="line">
                  <a:avLst/>
                </a:prstGeom>
                <a:noFill/>
                <a:ln w="38100">
                  <a:solidFill>
                    <a:srgbClr val="8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42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4054" y="2159"/>
                  <a:ext cx="8" cy="17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8934" name="Oval 94"/>
            <p:cNvSpPr>
              <a:spLocks noChangeArrowheads="1"/>
            </p:cNvSpPr>
            <p:nvPr/>
          </p:nvSpPr>
          <p:spPr bwMode="auto">
            <a:xfrm>
              <a:off x="3127" y="2732"/>
              <a:ext cx="64" cy="73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862" name="AutoShape 70"/>
          <p:cNvSpPr>
            <a:spLocks noChangeArrowheads="1"/>
          </p:cNvSpPr>
          <p:nvPr/>
        </p:nvSpPr>
        <p:spPr bwMode="auto">
          <a:xfrm rot="-8818568">
            <a:off x="6343115" y="3714016"/>
            <a:ext cx="825500" cy="76200"/>
          </a:xfrm>
          <a:prstGeom prst="rightArrow">
            <a:avLst>
              <a:gd name="adj1" fmla="val 50000"/>
              <a:gd name="adj2" fmla="val 270833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3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33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3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33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42" grpId="0" animBg="1"/>
      <p:bldP spid="33843" grpId="0" animBg="1"/>
      <p:bldP spid="33861" grpId="0" animBg="1"/>
      <p:bldP spid="33863" grpId="0" animBg="1"/>
      <p:bldP spid="33864" grpId="0" build="p" autoUpdateAnimBg="0"/>
      <p:bldP spid="33865" grpId="0" build="p" autoUpdateAnimBg="0"/>
      <p:bldP spid="338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199233" y="1109260"/>
            <a:ext cx="32800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三铰拱受力分析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796637" y="3779003"/>
            <a:ext cx="1865313" cy="1447800"/>
            <a:chOff x="3938" y="1922"/>
            <a:chExt cx="1175" cy="912"/>
          </a:xfrm>
        </p:grpSpPr>
        <p:pic>
          <p:nvPicPr>
            <p:cNvPr id="3999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2014"/>
              <a:ext cx="72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92" name="Oval 5"/>
            <p:cNvSpPr>
              <a:spLocks noChangeArrowheads="1"/>
            </p:cNvSpPr>
            <p:nvPr/>
          </p:nvSpPr>
          <p:spPr bwMode="auto">
            <a:xfrm>
              <a:off x="4821" y="2675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3" name="Oval 6"/>
            <p:cNvSpPr>
              <a:spLocks noChangeArrowheads="1"/>
            </p:cNvSpPr>
            <p:nvPr/>
          </p:nvSpPr>
          <p:spPr bwMode="auto">
            <a:xfrm>
              <a:off x="4178" y="2024"/>
              <a:ext cx="92" cy="86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4" name="Text Box 7"/>
            <p:cNvSpPr txBox="1">
              <a:spLocks noChangeArrowheads="1"/>
            </p:cNvSpPr>
            <p:nvPr/>
          </p:nvSpPr>
          <p:spPr bwMode="auto">
            <a:xfrm>
              <a:off x="4857" y="2603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39995" name="Text Box 8"/>
            <p:cNvSpPr txBox="1">
              <a:spLocks noChangeArrowheads="1"/>
            </p:cNvSpPr>
            <p:nvPr/>
          </p:nvSpPr>
          <p:spPr bwMode="auto">
            <a:xfrm>
              <a:off x="3938" y="1922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444999" y="753736"/>
            <a:ext cx="2779713" cy="2122487"/>
            <a:chOff x="139" y="1527"/>
            <a:chExt cx="1751" cy="1337"/>
          </a:xfrm>
        </p:grpSpPr>
        <p:grpSp>
          <p:nvGrpSpPr>
            <p:cNvPr id="39962" name="Group 10"/>
            <p:cNvGrpSpPr>
              <a:grpSpLocks/>
            </p:cNvGrpSpPr>
            <p:nvPr/>
          </p:nvGrpSpPr>
          <p:grpSpPr bwMode="auto">
            <a:xfrm>
              <a:off x="139" y="1527"/>
              <a:ext cx="1751" cy="1337"/>
              <a:chOff x="139" y="1527"/>
              <a:chExt cx="1751" cy="1337"/>
            </a:xfrm>
          </p:grpSpPr>
          <p:grpSp>
            <p:nvGrpSpPr>
              <p:cNvPr id="39964" name="Group 11"/>
              <p:cNvGrpSpPr>
                <a:grpSpLocks/>
              </p:cNvGrpSpPr>
              <p:nvPr/>
            </p:nvGrpSpPr>
            <p:grpSpPr bwMode="auto">
              <a:xfrm>
                <a:off x="139" y="1527"/>
                <a:ext cx="1751" cy="1337"/>
                <a:chOff x="451" y="859"/>
                <a:chExt cx="1751" cy="1337"/>
              </a:xfrm>
            </p:grpSpPr>
            <p:pic>
              <p:nvPicPr>
                <p:cNvPr id="39966" name="Picture 1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6" y="1192"/>
                  <a:ext cx="1464" cy="7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967" name="AutoShape 13"/>
                <p:cNvSpPr>
                  <a:spLocks noChangeArrowheads="1"/>
                </p:cNvSpPr>
                <p:nvPr/>
              </p:nvSpPr>
              <p:spPr bwMode="auto">
                <a:xfrm>
                  <a:off x="964" y="859"/>
                  <a:ext cx="40" cy="392"/>
                </a:xfrm>
                <a:prstGeom prst="downArrow">
                  <a:avLst>
                    <a:gd name="adj1" fmla="val 50000"/>
                    <a:gd name="adj2" fmla="val 245000"/>
                  </a:avLst>
                </a:prstGeom>
                <a:solidFill>
                  <a:srgbClr val="FF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9968" name="Group 14"/>
                <p:cNvGrpSpPr>
                  <a:grpSpLocks/>
                </p:cNvGrpSpPr>
                <p:nvPr/>
              </p:nvGrpSpPr>
              <p:grpSpPr bwMode="auto">
                <a:xfrm>
                  <a:off x="1748" y="1910"/>
                  <a:ext cx="450" cy="285"/>
                  <a:chOff x="1296" y="1131"/>
                  <a:chExt cx="450" cy="285"/>
                </a:xfrm>
              </p:grpSpPr>
              <p:sp>
                <p:nvSpPr>
                  <p:cNvPr id="39982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1326"/>
                    <a:ext cx="438" cy="9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9983" name="AutoShape 16"/>
                  <p:cNvSpPr>
                    <a:spLocks noChangeArrowheads="1"/>
                  </p:cNvSpPr>
                  <p:nvPr/>
                </p:nvSpPr>
                <p:spPr bwMode="auto">
                  <a:xfrm>
                    <a:off x="1426" y="1160"/>
                    <a:ext cx="200" cy="168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25400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9984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1483" y="1131"/>
                    <a:ext cx="92" cy="91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2857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9985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314" y="1328"/>
                    <a:ext cx="43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6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17" y="1323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7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94" y="1328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8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71" y="1327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9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54" y="1326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90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35" y="1329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969" name="Group 24"/>
                <p:cNvGrpSpPr>
                  <a:grpSpLocks/>
                </p:cNvGrpSpPr>
                <p:nvPr/>
              </p:nvGrpSpPr>
              <p:grpSpPr bwMode="auto">
                <a:xfrm>
                  <a:off x="451" y="1911"/>
                  <a:ext cx="450" cy="285"/>
                  <a:chOff x="1296" y="1131"/>
                  <a:chExt cx="450" cy="285"/>
                </a:xfrm>
              </p:grpSpPr>
              <p:sp>
                <p:nvSpPr>
                  <p:cNvPr id="3997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1326"/>
                    <a:ext cx="438" cy="9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9974" name="AutoShape 26"/>
                  <p:cNvSpPr>
                    <a:spLocks noChangeArrowheads="1"/>
                  </p:cNvSpPr>
                  <p:nvPr/>
                </p:nvSpPr>
                <p:spPr bwMode="auto">
                  <a:xfrm>
                    <a:off x="1426" y="1160"/>
                    <a:ext cx="200" cy="168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25400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9975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483" y="1131"/>
                    <a:ext cx="92" cy="91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2857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39976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314" y="1328"/>
                    <a:ext cx="43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7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17" y="1323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8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94" y="1328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9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71" y="1327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0" name="Lin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54" y="1326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1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35" y="1329"/>
                    <a:ext cx="80" cy="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97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704" y="1843"/>
                  <a:ext cx="21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i="1"/>
                    <a:t>A</a:t>
                  </a:r>
                </a:p>
              </p:txBody>
            </p:sp>
            <p:sp>
              <p:nvSpPr>
                <p:cNvPr id="3997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986" y="1847"/>
                  <a:ext cx="21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i="1"/>
                    <a:t>B</a:t>
                  </a:r>
                </a:p>
              </p:txBody>
            </p:sp>
            <p:sp>
              <p:nvSpPr>
                <p:cNvPr id="3997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970" y="867"/>
                  <a:ext cx="21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b="1" i="1"/>
                    <a:t>F</a:t>
                  </a:r>
                </a:p>
              </p:txBody>
            </p:sp>
          </p:grpSp>
          <p:sp>
            <p:nvSpPr>
              <p:cNvPr id="39965" name="Oval 37"/>
              <p:cNvSpPr>
                <a:spLocks noChangeArrowheads="1"/>
              </p:cNvSpPr>
              <p:nvPr/>
            </p:nvSpPr>
            <p:spPr bwMode="auto">
              <a:xfrm>
                <a:off x="990" y="1889"/>
                <a:ext cx="92" cy="86"/>
              </a:xfrm>
              <a:prstGeom prst="ellipse">
                <a:avLst/>
              </a:prstGeom>
              <a:solidFill>
                <a:srgbClr val="FF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9963" name="Text Box 38"/>
            <p:cNvSpPr txBox="1">
              <a:spLocks noChangeArrowheads="1"/>
            </p:cNvSpPr>
            <p:nvPr/>
          </p:nvSpPr>
          <p:spPr bwMode="auto">
            <a:xfrm>
              <a:off x="913" y="1956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</p:grpSp>
      <p:grpSp>
        <p:nvGrpSpPr>
          <p:cNvPr id="8" name="Group 39"/>
          <p:cNvGrpSpPr>
            <a:grpSpLocks/>
          </p:cNvGrpSpPr>
          <p:nvPr/>
        </p:nvGrpSpPr>
        <p:grpSpPr bwMode="auto">
          <a:xfrm>
            <a:off x="2139287" y="3123365"/>
            <a:ext cx="1260475" cy="2133600"/>
            <a:chOff x="2894" y="1509"/>
            <a:chExt cx="794" cy="1344"/>
          </a:xfrm>
        </p:grpSpPr>
        <p:grpSp>
          <p:nvGrpSpPr>
            <p:cNvPr id="39954" name="Group 40"/>
            <p:cNvGrpSpPr>
              <a:grpSpLocks/>
            </p:cNvGrpSpPr>
            <p:nvPr/>
          </p:nvGrpSpPr>
          <p:grpSpPr bwMode="auto">
            <a:xfrm>
              <a:off x="2894" y="1800"/>
              <a:ext cx="794" cy="1053"/>
              <a:chOff x="335" y="2664"/>
              <a:chExt cx="794" cy="1053"/>
            </a:xfrm>
          </p:grpSpPr>
          <p:pic>
            <p:nvPicPr>
              <p:cNvPr id="39957" name="Picture 4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" y="2852"/>
                <a:ext cx="720" cy="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958" name="Oval 42"/>
              <p:cNvSpPr>
                <a:spLocks noChangeArrowheads="1"/>
              </p:cNvSpPr>
              <p:nvPr/>
            </p:nvSpPr>
            <p:spPr bwMode="auto">
              <a:xfrm>
                <a:off x="1012" y="2865"/>
                <a:ext cx="92" cy="86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9959" name="Oval 43"/>
              <p:cNvSpPr>
                <a:spLocks noChangeArrowheads="1"/>
              </p:cNvSpPr>
              <p:nvPr/>
            </p:nvSpPr>
            <p:spPr bwMode="auto">
              <a:xfrm>
                <a:off x="361" y="3530"/>
                <a:ext cx="92" cy="86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9960" name="Text Box 44"/>
              <p:cNvSpPr txBox="1">
                <a:spLocks noChangeArrowheads="1"/>
              </p:cNvSpPr>
              <p:nvPr/>
            </p:nvSpPr>
            <p:spPr bwMode="auto">
              <a:xfrm>
                <a:off x="397" y="3486"/>
                <a:ext cx="2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i="1"/>
                  <a:t>A</a:t>
                </a:r>
              </a:p>
            </p:txBody>
          </p:sp>
          <p:sp>
            <p:nvSpPr>
              <p:cNvPr id="39961" name="Text Box 45"/>
              <p:cNvSpPr txBox="1">
                <a:spLocks noChangeArrowheads="1"/>
              </p:cNvSpPr>
              <p:nvPr/>
            </p:nvSpPr>
            <p:spPr bwMode="auto">
              <a:xfrm>
                <a:off x="873" y="2664"/>
                <a:ext cx="2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i="1"/>
                  <a:t>C</a:t>
                </a:r>
              </a:p>
            </p:txBody>
          </p:sp>
        </p:grpSp>
        <p:sp>
          <p:nvSpPr>
            <p:cNvPr id="39955" name="AutoShape 46"/>
            <p:cNvSpPr>
              <a:spLocks noChangeArrowheads="1"/>
            </p:cNvSpPr>
            <p:nvPr/>
          </p:nvSpPr>
          <p:spPr bwMode="auto">
            <a:xfrm>
              <a:off x="3269" y="1556"/>
              <a:ext cx="47" cy="448"/>
            </a:xfrm>
            <a:prstGeom prst="downArrow">
              <a:avLst>
                <a:gd name="adj1" fmla="val 50000"/>
                <a:gd name="adj2" fmla="val 238298"/>
              </a:avLst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56" name="Text Box 47"/>
            <p:cNvSpPr txBox="1">
              <a:spLocks noChangeArrowheads="1"/>
            </p:cNvSpPr>
            <p:nvPr/>
          </p:nvSpPr>
          <p:spPr bwMode="auto">
            <a:xfrm>
              <a:off x="3269" y="1509"/>
              <a:ext cx="2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 dirty="0"/>
                <a:t>F</a:t>
              </a:r>
              <a:endParaRPr lang="en-US" altLang="zh-CN" sz="1400" b="1" i="1" baseline="-25000" dirty="0"/>
            </a:p>
          </p:txBody>
        </p:sp>
      </p:grp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3880775" y="3671053"/>
            <a:ext cx="1930400" cy="1946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13" name="AutoShape 49"/>
          <p:cNvSpPr>
            <a:spLocks noChangeArrowheads="1"/>
          </p:cNvSpPr>
          <p:nvPr/>
        </p:nvSpPr>
        <p:spPr bwMode="auto">
          <a:xfrm rot="8100000">
            <a:off x="5488912" y="4988678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14" name="AutoShape 50"/>
          <p:cNvSpPr>
            <a:spLocks noChangeArrowheads="1"/>
          </p:cNvSpPr>
          <p:nvPr/>
        </p:nvSpPr>
        <p:spPr bwMode="auto">
          <a:xfrm rot="-2700000">
            <a:off x="4487200" y="3985378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15" name="AutoShape 51"/>
          <p:cNvSpPr>
            <a:spLocks noChangeArrowheads="1"/>
          </p:cNvSpPr>
          <p:nvPr/>
        </p:nvSpPr>
        <p:spPr bwMode="auto">
          <a:xfrm rot="8100000">
            <a:off x="3522000" y="3896478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16" name="Text Box 52"/>
          <p:cNvSpPr txBox="1">
            <a:spLocks noChangeArrowheads="1"/>
          </p:cNvSpPr>
          <p:nvPr/>
        </p:nvSpPr>
        <p:spPr bwMode="auto">
          <a:xfrm>
            <a:off x="1650337" y="5309353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 dirty="0"/>
              <a:t>F</a:t>
            </a:r>
            <a:r>
              <a:rPr lang="en-US" altLang="zh-CN" sz="1400" b="1" i="1" baseline="-25000" dirty="0"/>
              <a:t>A</a:t>
            </a:r>
          </a:p>
        </p:txBody>
      </p:sp>
      <p:sp>
        <p:nvSpPr>
          <p:cNvPr id="36917" name="Text Box 53"/>
          <p:cNvSpPr txBox="1">
            <a:spLocks noChangeArrowheads="1"/>
          </p:cNvSpPr>
          <p:nvPr/>
        </p:nvSpPr>
        <p:spPr bwMode="auto">
          <a:xfrm>
            <a:off x="5353975" y="5412540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 dirty="0"/>
              <a:t>F</a:t>
            </a:r>
            <a:r>
              <a:rPr lang="en-US" altLang="zh-CN" sz="1400" b="1" i="1" baseline="-25000" dirty="0"/>
              <a:t>B</a:t>
            </a:r>
          </a:p>
        </p:txBody>
      </p:sp>
      <p:sp>
        <p:nvSpPr>
          <p:cNvPr id="36918" name="Text Box 54"/>
          <p:cNvSpPr txBox="1">
            <a:spLocks noChangeArrowheads="1"/>
          </p:cNvSpPr>
          <p:nvPr/>
        </p:nvSpPr>
        <p:spPr bwMode="auto">
          <a:xfrm>
            <a:off x="3218787" y="4290178"/>
            <a:ext cx="652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 dirty="0"/>
              <a:t>F</a:t>
            </a:r>
            <a:r>
              <a:rPr lang="en-US" altLang="zh-CN" sz="1800" b="1" i="1" dirty="0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 dirty="0"/>
              <a:t>C</a:t>
            </a:r>
          </a:p>
        </p:txBody>
      </p:sp>
      <p:sp>
        <p:nvSpPr>
          <p:cNvPr id="36919" name="Text Box 55"/>
          <p:cNvSpPr txBox="1">
            <a:spLocks noChangeArrowheads="1"/>
          </p:cNvSpPr>
          <p:nvPr/>
        </p:nvSpPr>
        <p:spPr bwMode="auto">
          <a:xfrm>
            <a:off x="4252250" y="4302878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 dirty="0"/>
              <a:t>F</a:t>
            </a:r>
            <a:r>
              <a:rPr lang="en-US" altLang="zh-CN" sz="1400" b="1" i="1" baseline="-25000" dirty="0"/>
              <a:t>C</a:t>
            </a:r>
          </a:p>
        </p:txBody>
      </p:sp>
      <p:sp>
        <p:nvSpPr>
          <p:cNvPr id="36920" name="Line 56"/>
          <p:cNvSpPr>
            <a:spLocks noChangeShapeType="1"/>
          </p:cNvSpPr>
          <p:nvPr/>
        </p:nvSpPr>
        <p:spPr bwMode="auto">
          <a:xfrm flipH="1" flipV="1">
            <a:off x="2561562" y="3267828"/>
            <a:ext cx="1714500" cy="1695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1" name="Line 57"/>
          <p:cNvSpPr>
            <a:spLocks noChangeShapeType="1"/>
          </p:cNvSpPr>
          <p:nvPr/>
        </p:nvSpPr>
        <p:spPr bwMode="auto">
          <a:xfrm>
            <a:off x="1520162" y="579512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2" name="Line 58"/>
          <p:cNvSpPr>
            <a:spLocks noChangeShapeType="1"/>
          </p:cNvSpPr>
          <p:nvPr/>
        </p:nvSpPr>
        <p:spPr bwMode="auto">
          <a:xfrm flipH="1">
            <a:off x="1901162" y="2785228"/>
            <a:ext cx="1092200" cy="3276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3" name="AutoShape 59"/>
          <p:cNvSpPr>
            <a:spLocks noChangeArrowheads="1"/>
          </p:cNvSpPr>
          <p:nvPr/>
        </p:nvSpPr>
        <p:spPr bwMode="auto">
          <a:xfrm rot="-9600000">
            <a:off x="2067850" y="5091865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12" grpId="0" animBg="1"/>
      <p:bldP spid="36913" grpId="0" animBg="1"/>
      <p:bldP spid="36914" grpId="0" animBg="1"/>
      <p:bldP spid="36915" grpId="0" animBg="1"/>
      <p:bldP spid="36916" grpId="0" autoUpdateAnimBg="0"/>
      <p:bldP spid="36917" grpId="0" autoUpdateAnimBg="0"/>
      <p:bldP spid="36918" grpId="0" autoUpdateAnimBg="0"/>
      <p:bldP spid="36919" grpId="0" autoUpdateAnimBg="0"/>
      <p:bldP spid="36920" grpId="0" animBg="1"/>
      <p:bldP spid="36922" grpId="0" animBg="1"/>
      <p:bldP spid="369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894750" y="1083773"/>
            <a:ext cx="2970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三铰拱受力分析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440315" y="1230311"/>
            <a:ext cx="1566862" cy="1544638"/>
            <a:chOff x="4588" y="1111"/>
            <a:chExt cx="987" cy="973"/>
          </a:xfrm>
        </p:grpSpPr>
        <p:pic>
          <p:nvPicPr>
            <p:cNvPr id="4103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" y="1315"/>
              <a:ext cx="72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39" name="Oval 5"/>
            <p:cNvSpPr>
              <a:spLocks noChangeArrowheads="1"/>
            </p:cNvSpPr>
            <p:nvPr/>
          </p:nvSpPr>
          <p:spPr bwMode="auto">
            <a:xfrm>
              <a:off x="5272" y="1976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40" name="Oval 6"/>
            <p:cNvSpPr>
              <a:spLocks noChangeArrowheads="1"/>
            </p:cNvSpPr>
            <p:nvPr/>
          </p:nvSpPr>
          <p:spPr bwMode="auto">
            <a:xfrm>
              <a:off x="4644" y="1321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41" name="Text Box 7"/>
            <p:cNvSpPr txBox="1">
              <a:spLocks noChangeArrowheads="1"/>
            </p:cNvSpPr>
            <p:nvPr/>
          </p:nvSpPr>
          <p:spPr bwMode="auto">
            <a:xfrm>
              <a:off x="5319" y="1853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B</a:t>
              </a:r>
            </a:p>
          </p:txBody>
        </p:sp>
        <p:sp>
          <p:nvSpPr>
            <p:cNvPr id="41042" name="Text Box 8"/>
            <p:cNvSpPr txBox="1">
              <a:spLocks noChangeArrowheads="1"/>
            </p:cNvSpPr>
            <p:nvPr/>
          </p:nvSpPr>
          <p:spPr bwMode="auto">
            <a:xfrm>
              <a:off x="4588" y="1111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C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94750" y="2190254"/>
            <a:ext cx="2779713" cy="2176463"/>
            <a:chOff x="899" y="1572"/>
            <a:chExt cx="1751" cy="1371"/>
          </a:xfrm>
        </p:grpSpPr>
        <p:pic>
          <p:nvPicPr>
            <p:cNvPr id="41011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4" y="1939"/>
              <a:ext cx="1464" cy="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12" name="Oval 11"/>
            <p:cNvSpPr>
              <a:spLocks noChangeArrowheads="1"/>
            </p:cNvSpPr>
            <p:nvPr/>
          </p:nvSpPr>
          <p:spPr bwMode="auto">
            <a:xfrm>
              <a:off x="1758" y="1964"/>
              <a:ext cx="92" cy="86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13" name="AutoShape 12"/>
            <p:cNvSpPr>
              <a:spLocks noChangeArrowheads="1"/>
            </p:cNvSpPr>
            <p:nvPr/>
          </p:nvSpPr>
          <p:spPr bwMode="auto">
            <a:xfrm>
              <a:off x="1784" y="1576"/>
              <a:ext cx="40" cy="392"/>
            </a:xfrm>
            <a:prstGeom prst="downArrow">
              <a:avLst>
                <a:gd name="adj1" fmla="val 50000"/>
                <a:gd name="adj2" fmla="val 245000"/>
              </a:avLst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1014" name="Group 13"/>
            <p:cNvGrpSpPr>
              <a:grpSpLocks/>
            </p:cNvGrpSpPr>
            <p:nvPr/>
          </p:nvGrpSpPr>
          <p:grpSpPr bwMode="auto">
            <a:xfrm>
              <a:off x="2196" y="2657"/>
              <a:ext cx="450" cy="285"/>
              <a:chOff x="1296" y="1131"/>
              <a:chExt cx="450" cy="285"/>
            </a:xfrm>
          </p:grpSpPr>
          <p:sp>
            <p:nvSpPr>
              <p:cNvPr id="41029" name="Rectangle 14"/>
              <p:cNvSpPr>
                <a:spLocks noChangeArrowheads="1"/>
              </p:cNvSpPr>
              <p:nvPr/>
            </p:nvSpPr>
            <p:spPr bwMode="auto">
              <a:xfrm>
                <a:off x="1296" y="1326"/>
                <a:ext cx="438" cy="9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30" name="AutoShape 15"/>
              <p:cNvSpPr>
                <a:spLocks noChangeArrowheads="1"/>
              </p:cNvSpPr>
              <p:nvPr/>
            </p:nvSpPr>
            <p:spPr bwMode="auto">
              <a:xfrm>
                <a:off x="1426" y="1160"/>
                <a:ext cx="200" cy="16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31" name="Oval 16"/>
              <p:cNvSpPr>
                <a:spLocks noChangeArrowheads="1"/>
              </p:cNvSpPr>
              <p:nvPr/>
            </p:nvSpPr>
            <p:spPr bwMode="auto">
              <a:xfrm>
                <a:off x="1483" y="1131"/>
                <a:ext cx="92" cy="91"/>
              </a:xfrm>
              <a:prstGeom prst="ellipse">
                <a:avLst/>
              </a:prstGeom>
              <a:solidFill>
                <a:schemeClr val="folHlink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32" name="Line 17"/>
              <p:cNvSpPr>
                <a:spLocks noChangeShapeType="1"/>
              </p:cNvSpPr>
              <p:nvPr/>
            </p:nvSpPr>
            <p:spPr bwMode="auto">
              <a:xfrm>
                <a:off x="1314" y="132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3" name="Line 18"/>
              <p:cNvSpPr>
                <a:spLocks noChangeShapeType="1"/>
              </p:cNvSpPr>
              <p:nvPr/>
            </p:nvSpPr>
            <p:spPr bwMode="auto">
              <a:xfrm flipH="1">
                <a:off x="1317" y="1323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4" name="Line 19"/>
              <p:cNvSpPr>
                <a:spLocks noChangeShapeType="1"/>
              </p:cNvSpPr>
              <p:nvPr/>
            </p:nvSpPr>
            <p:spPr bwMode="auto">
              <a:xfrm flipH="1">
                <a:off x="1394" y="1328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5" name="Line 20"/>
              <p:cNvSpPr>
                <a:spLocks noChangeShapeType="1"/>
              </p:cNvSpPr>
              <p:nvPr/>
            </p:nvSpPr>
            <p:spPr bwMode="auto">
              <a:xfrm flipH="1">
                <a:off x="1471" y="1327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6" name="Line 21"/>
              <p:cNvSpPr>
                <a:spLocks noChangeShapeType="1"/>
              </p:cNvSpPr>
              <p:nvPr/>
            </p:nvSpPr>
            <p:spPr bwMode="auto">
              <a:xfrm flipH="1">
                <a:off x="1554" y="1326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7" name="Line 22"/>
              <p:cNvSpPr>
                <a:spLocks noChangeShapeType="1"/>
              </p:cNvSpPr>
              <p:nvPr/>
            </p:nvSpPr>
            <p:spPr bwMode="auto">
              <a:xfrm flipH="1">
                <a:off x="1635" y="1329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015" name="Group 23"/>
            <p:cNvGrpSpPr>
              <a:grpSpLocks/>
            </p:cNvGrpSpPr>
            <p:nvPr/>
          </p:nvGrpSpPr>
          <p:grpSpPr bwMode="auto">
            <a:xfrm>
              <a:off x="899" y="2658"/>
              <a:ext cx="450" cy="285"/>
              <a:chOff x="1296" y="1131"/>
              <a:chExt cx="450" cy="285"/>
            </a:xfrm>
          </p:grpSpPr>
          <p:sp>
            <p:nvSpPr>
              <p:cNvPr id="41020" name="Rectangle 24"/>
              <p:cNvSpPr>
                <a:spLocks noChangeArrowheads="1"/>
              </p:cNvSpPr>
              <p:nvPr/>
            </p:nvSpPr>
            <p:spPr bwMode="auto">
              <a:xfrm>
                <a:off x="1296" y="1326"/>
                <a:ext cx="438" cy="9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21" name="AutoShape 25"/>
              <p:cNvSpPr>
                <a:spLocks noChangeArrowheads="1"/>
              </p:cNvSpPr>
              <p:nvPr/>
            </p:nvSpPr>
            <p:spPr bwMode="auto">
              <a:xfrm>
                <a:off x="1426" y="1160"/>
                <a:ext cx="200" cy="16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22" name="Oval 26"/>
              <p:cNvSpPr>
                <a:spLocks noChangeArrowheads="1"/>
              </p:cNvSpPr>
              <p:nvPr/>
            </p:nvSpPr>
            <p:spPr bwMode="auto">
              <a:xfrm>
                <a:off x="1483" y="1131"/>
                <a:ext cx="92" cy="91"/>
              </a:xfrm>
              <a:prstGeom prst="ellipse">
                <a:avLst/>
              </a:prstGeom>
              <a:solidFill>
                <a:schemeClr val="folHlink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23" name="Line 27"/>
              <p:cNvSpPr>
                <a:spLocks noChangeShapeType="1"/>
              </p:cNvSpPr>
              <p:nvPr/>
            </p:nvSpPr>
            <p:spPr bwMode="auto">
              <a:xfrm>
                <a:off x="1314" y="132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4" name="Line 28"/>
              <p:cNvSpPr>
                <a:spLocks noChangeShapeType="1"/>
              </p:cNvSpPr>
              <p:nvPr/>
            </p:nvSpPr>
            <p:spPr bwMode="auto">
              <a:xfrm flipH="1">
                <a:off x="1317" y="1323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5" name="Line 29"/>
              <p:cNvSpPr>
                <a:spLocks noChangeShapeType="1"/>
              </p:cNvSpPr>
              <p:nvPr/>
            </p:nvSpPr>
            <p:spPr bwMode="auto">
              <a:xfrm flipH="1">
                <a:off x="1394" y="1328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6" name="Line 30"/>
              <p:cNvSpPr>
                <a:spLocks noChangeShapeType="1"/>
              </p:cNvSpPr>
              <p:nvPr/>
            </p:nvSpPr>
            <p:spPr bwMode="auto">
              <a:xfrm flipH="1">
                <a:off x="1471" y="1327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7" name="Line 31"/>
              <p:cNvSpPr>
                <a:spLocks noChangeShapeType="1"/>
              </p:cNvSpPr>
              <p:nvPr/>
            </p:nvSpPr>
            <p:spPr bwMode="auto">
              <a:xfrm flipH="1">
                <a:off x="1554" y="1326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8" name="Line 32"/>
              <p:cNvSpPr>
                <a:spLocks noChangeShapeType="1"/>
              </p:cNvSpPr>
              <p:nvPr/>
            </p:nvSpPr>
            <p:spPr bwMode="auto">
              <a:xfrm flipH="1">
                <a:off x="1635" y="1329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016" name="Text Box 33"/>
            <p:cNvSpPr txBox="1">
              <a:spLocks noChangeArrowheads="1"/>
            </p:cNvSpPr>
            <p:nvPr/>
          </p:nvSpPr>
          <p:spPr bwMode="auto">
            <a:xfrm>
              <a:off x="1152" y="2590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A</a:t>
              </a:r>
            </a:p>
          </p:txBody>
        </p:sp>
        <p:sp>
          <p:nvSpPr>
            <p:cNvPr id="41017" name="Text Box 34"/>
            <p:cNvSpPr txBox="1">
              <a:spLocks noChangeArrowheads="1"/>
            </p:cNvSpPr>
            <p:nvPr/>
          </p:nvSpPr>
          <p:spPr bwMode="auto">
            <a:xfrm>
              <a:off x="1673" y="2007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C</a:t>
              </a:r>
            </a:p>
          </p:txBody>
        </p:sp>
        <p:sp>
          <p:nvSpPr>
            <p:cNvPr id="41018" name="Text Box 35"/>
            <p:cNvSpPr txBox="1">
              <a:spLocks noChangeArrowheads="1"/>
            </p:cNvSpPr>
            <p:nvPr/>
          </p:nvSpPr>
          <p:spPr bwMode="auto">
            <a:xfrm>
              <a:off x="2434" y="2594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B</a:t>
              </a:r>
            </a:p>
          </p:txBody>
        </p:sp>
        <p:sp>
          <p:nvSpPr>
            <p:cNvPr id="41019" name="Text Box 36"/>
            <p:cNvSpPr txBox="1">
              <a:spLocks noChangeArrowheads="1"/>
            </p:cNvSpPr>
            <p:nvPr/>
          </p:nvSpPr>
          <p:spPr bwMode="auto">
            <a:xfrm>
              <a:off x="1814" y="1572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</a:p>
          </p:txBody>
        </p:sp>
      </p:grpSp>
      <p:sp>
        <p:nvSpPr>
          <p:cNvPr id="34853" name="Line 37"/>
          <p:cNvSpPr>
            <a:spLocks noChangeShapeType="1"/>
          </p:cNvSpPr>
          <p:nvPr/>
        </p:nvSpPr>
        <p:spPr bwMode="auto">
          <a:xfrm>
            <a:off x="6195840" y="1265236"/>
            <a:ext cx="1930400" cy="1946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4" name="AutoShape 38"/>
          <p:cNvSpPr>
            <a:spLocks noChangeArrowheads="1"/>
          </p:cNvSpPr>
          <p:nvPr/>
        </p:nvSpPr>
        <p:spPr bwMode="auto">
          <a:xfrm rot="-2700000">
            <a:off x="6791152" y="1550986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55" name="AutoShape 39"/>
          <p:cNvSpPr>
            <a:spLocks noChangeArrowheads="1"/>
          </p:cNvSpPr>
          <p:nvPr/>
        </p:nvSpPr>
        <p:spPr bwMode="auto">
          <a:xfrm rot="8100000">
            <a:off x="7848427" y="2625724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56" name="AutoShape 40"/>
          <p:cNvSpPr>
            <a:spLocks noChangeArrowheads="1"/>
          </p:cNvSpPr>
          <p:nvPr/>
        </p:nvSpPr>
        <p:spPr bwMode="auto">
          <a:xfrm rot="8100000">
            <a:off x="5914852" y="1614486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57" name="AutoShape 41"/>
          <p:cNvSpPr>
            <a:spLocks noChangeArrowheads="1"/>
          </p:cNvSpPr>
          <p:nvPr/>
        </p:nvSpPr>
        <p:spPr bwMode="auto">
          <a:xfrm rot="-8100000">
            <a:off x="4331320" y="2655093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59" name="Text Box 43"/>
          <p:cNvSpPr txBox="1">
            <a:spLocks noChangeArrowheads="1"/>
          </p:cNvSpPr>
          <p:nvPr/>
        </p:nvSpPr>
        <p:spPr bwMode="auto">
          <a:xfrm>
            <a:off x="3857452" y="2820986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</a:t>
            </a:r>
          </a:p>
        </p:txBody>
      </p:sp>
      <p:sp>
        <p:nvSpPr>
          <p:cNvPr id="34860" name="Text Box 44"/>
          <p:cNvSpPr txBox="1">
            <a:spLocks noChangeArrowheads="1"/>
          </p:cNvSpPr>
          <p:nvPr/>
        </p:nvSpPr>
        <p:spPr bwMode="auto">
          <a:xfrm>
            <a:off x="7727777" y="3054349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</a:t>
            </a:r>
          </a:p>
        </p:txBody>
      </p: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4527377" y="846136"/>
            <a:ext cx="1544638" cy="2087563"/>
            <a:chOff x="3154" y="809"/>
            <a:chExt cx="973" cy="1315"/>
          </a:xfrm>
        </p:grpSpPr>
        <p:grpSp>
          <p:nvGrpSpPr>
            <p:cNvPr id="41002" name="Group 46"/>
            <p:cNvGrpSpPr>
              <a:grpSpLocks/>
            </p:cNvGrpSpPr>
            <p:nvPr/>
          </p:nvGrpSpPr>
          <p:grpSpPr bwMode="auto">
            <a:xfrm>
              <a:off x="3154" y="1083"/>
              <a:ext cx="763" cy="1041"/>
              <a:chOff x="3154" y="1083"/>
              <a:chExt cx="763" cy="1041"/>
            </a:xfrm>
          </p:grpSpPr>
          <p:grpSp>
            <p:nvGrpSpPr>
              <p:cNvPr id="41005" name="Group 47"/>
              <p:cNvGrpSpPr>
                <a:grpSpLocks/>
              </p:cNvGrpSpPr>
              <p:nvPr/>
            </p:nvGrpSpPr>
            <p:grpSpPr bwMode="auto">
              <a:xfrm>
                <a:off x="3154" y="1083"/>
                <a:ext cx="720" cy="1041"/>
                <a:chOff x="3154" y="1083"/>
                <a:chExt cx="720" cy="1041"/>
              </a:xfrm>
            </p:grpSpPr>
            <p:pic>
              <p:nvPicPr>
                <p:cNvPr id="41008" name="Picture 48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54" y="1261"/>
                  <a:ext cx="720" cy="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009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236" y="1893"/>
                  <a:ext cx="25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b="1" i="1"/>
                    <a:t>A</a:t>
                  </a:r>
                </a:p>
              </p:txBody>
            </p:sp>
            <p:sp>
              <p:nvSpPr>
                <p:cNvPr id="4101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612" y="1083"/>
                  <a:ext cx="25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b="1" i="1"/>
                    <a:t>C</a:t>
                  </a:r>
                </a:p>
              </p:txBody>
            </p:sp>
          </p:grpSp>
          <p:sp>
            <p:nvSpPr>
              <p:cNvPr id="41006" name="Oval 51"/>
              <p:cNvSpPr>
                <a:spLocks noChangeArrowheads="1"/>
              </p:cNvSpPr>
              <p:nvPr/>
            </p:nvSpPr>
            <p:spPr bwMode="auto">
              <a:xfrm>
                <a:off x="3825" y="1288"/>
                <a:ext cx="92" cy="86"/>
              </a:xfrm>
              <a:prstGeom prst="ellipse">
                <a:avLst/>
              </a:prstGeom>
              <a:solidFill>
                <a:srgbClr val="FF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07" name="Oval 52"/>
              <p:cNvSpPr>
                <a:spLocks noChangeArrowheads="1"/>
              </p:cNvSpPr>
              <p:nvPr/>
            </p:nvSpPr>
            <p:spPr bwMode="auto">
              <a:xfrm>
                <a:off x="3180" y="1949"/>
                <a:ext cx="92" cy="86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1003" name="AutoShape 53"/>
            <p:cNvSpPr>
              <a:spLocks noChangeArrowheads="1"/>
            </p:cNvSpPr>
            <p:nvPr/>
          </p:nvSpPr>
          <p:spPr bwMode="auto">
            <a:xfrm>
              <a:off x="3852" y="872"/>
              <a:ext cx="47" cy="448"/>
            </a:xfrm>
            <a:prstGeom prst="downArrow">
              <a:avLst>
                <a:gd name="adj1" fmla="val 50000"/>
                <a:gd name="adj2" fmla="val 238298"/>
              </a:avLst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04" name="Text Box 54"/>
            <p:cNvSpPr txBox="1">
              <a:spLocks noChangeArrowheads="1"/>
            </p:cNvSpPr>
            <p:nvPr/>
          </p:nvSpPr>
          <p:spPr bwMode="auto">
            <a:xfrm>
              <a:off x="3863" y="809"/>
              <a:ext cx="2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endParaRPr lang="en-US" altLang="zh-CN" sz="1400" b="1" i="1" baseline="-25000"/>
            </a:p>
          </p:txBody>
        </p:sp>
      </p:grpSp>
      <p:sp>
        <p:nvSpPr>
          <p:cNvPr id="34871" name="Text Box 55"/>
          <p:cNvSpPr txBox="1">
            <a:spLocks noChangeArrowheads="1"/>
          </p:cNvSpPr>
          <p:nvPr/>
        </p:nvSpPr>
        <p:spPr bwMode="auto">
          <a:xfrm>
            <a:off x="6387927" y="1876424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BC</a:t>
            </a:r>
          </a:p>
        </p:txBody>
      </p:sp>
      <p:sp>
        <p:nvSpPr>
          <p:cNvPr id="34872" name="Text Box 56"/>
          <p:cNvSpPr txBox="1">
            <a:spLocks noChangeArrowheads="1"/>
          </p:cNvSpPr>
          <p:nvPr/>
        </p:nvSpPr>
        <p:spPr bwMode="auto">
          <a:xfrm>
            <a:off x="5625927" y="1981199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800" b="1" i="1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/>
              <a:t>BC</a:t>
            </a:r>
          </a:p>
        </p:txBody>
      </p:sp>
      <p:sp>
        <p:nvSpPr>
          <p:cNvPr id="34873" name="Line 57"/>
          <p:cNvSpPr>
            <a:spLocks noChangeShapeType="1"/>
          </p:cNvSpPr>
          <p:nvPr/>
        </p:nvSpPr>
        <p:spPr bwMode="auto">
          <a:xfrm flipV="1">
            <a:off x="4335290" y="1292224"/>
            <a:ext cx="1722437" cy="1755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5124277" y="1085849"/>
            <a:ext cx="1654175" cy="16859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6513340" y="3709986"/>
            <a:ext cx="1484312" cy="2027238"/>
            <a:chOff x="1635" y="2421"/>
            <a:chExt cx="935" cy="1277"/>
          </a:xfrm>
        </p:grpSpPr>
        <p:pic>
          <p:nvPicPr>
            <p:cNvPr id="40996" name="Picture 6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1" y="2878"/>
              <a:ext cx="72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97" name="Oval 62"/>
            <p:cNvSpPr>
              <a:spLocks noChangeArrowheads="1"/>
            </p:cNvSpPr>
            <p:nvPr/>
          </p:nvSpPr>
          <p:spPr bwMode="auto">
            <a:xfrm>
              <a:off x="2278" y="3539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98" name="Oval 63"/>
            <p:cNvSpPr>
              <a:spLocks noChangeArrowheads="1"/>
            </p:cNvSpPr>
            <p:nvPr/>
          </p:nvSpPr>
          <p:spPr bwMode="auto">
            <a:xfrm>
              <a:off x="1635" y="2888"/>
              <a:ext cx="92" cy="86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99" name="AutoShape 64"/>
            <p:cNvSpPr>
              <a:spLocks noChangeArrowheads="1"/>
            </p:cNvSpPr>
            <p:nvPr/>
          </p:nvSpPr>
          <p:spPr bwMode="auto">
            <a:xfrm>
              <a:off x="1654" y="2468"/>
              <a:ext cx="47" cy="448"/>
            </a:xfrm>
            <a:prstGeom prst="downArrow">
              <a:avLst>
                <a:gd name="adj1" fmla="val 50000"/>
                <a:gd name="adj2" fmla="val 238298"/>
              </a:avLst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00" name="Text Box 65"/>
            <p:cNvSpPr txBox="1">
              <a:spLocks noChangeArrowheads="1"/>
            </p:cNvSpPr>
            <p:nvPr/>
          </p:nvSpPr>
          <p:spPr bwMode="auto">
            <a:xfrm>
              <a:off x="2314" y="3467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B</a:t>
              </a:r>
            </a:p>
          </p:txBody>
        </p:sp>
        <p:sp>
          <p:nvSpPr>
            <p:cNvPr id="41001" name="Text Box 66"/>
            <p:cNvSpPr txBox="1">
              <a:spLocks noChangeArrowheads="1"/>
            </p:cNvSpPr>
            <p:nvPr/>
          </p:nvSpPr>
          <p:spPr bwMode="auto">
            <a:xfrm>
              <a:off x="1654" y="2421"/>
              <a:ext cx="2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endParaRPr lang="en-US" altLang="zh-CN" sz="1400" b="1" i="1" baseline="-25000"/>
            </a:p>
          </p:txBody>
        </p:sp>
      </p:grpSp>
      <p:grpSp>
        <p:nvGrpSpPr>
          <p:cNvPr id="10" name="Group 67"/>
          <p:cNvGrpSpPr>
            <a:grpSpLocks/>
          </p:cNvGrpSpPr>
          <p:nvPr/>
        </p:nvGrpSpPr>
        <p:grpSpPr bwMode="auto">
          <a:xfrm>
            <a:off x="4449590" y="4095749"/>
            <a:ext cx="1260475" cy="1671637"/>
            <a:chOff x="335" y="2664"/>
            <a:chExt cx="794" cy="1053"/>
          </a:xfrm>
        </p:grpSpPr>
        <p:pic>
          <p:nvPicPr>
            <p:cNvPr id="40991" name="Picture 6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" y="2852"/>
              <a:ext cx="720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92" name="Oval 69"/>
            <p:cNvSpPr>
              <a:spLocks noChangeArrowheads="1"/>
            </p:cNvSpPr>
            <p:nvPr/>
          </p:nvSpPr>
          <p:spPr bwMode="auto">
            <a:xfrm>
              <a:off x="1012" y="2865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93" name="Oval 70"/>
            <p:cNvSpPr>
              <a:spLocks noChangeArrowheads="1"/>
            </p:cNvSpPr>
            <p:nvPr/>
          </p:nvSpPr>
          <p:spPr bwMode="auto">
            <a:xfrm>
              <a:off x="361" y="3530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94" name="Text Box 71"/>
            <p:cNvSpPr txBox="1">
              <a:spLocks noChangeArrowheads="1"/>
            </p:cNvSpPr>
            <p:nvPr/>
          </p:nvSpPr>
          <p:spPr bwMode="auto">
            <a:xfrm>
              <a:off x="397" y="3486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A</a:t>
              </a:r>
            </a:p>
          </p:txBody>
        </p:sp>
        <p:sp>
          <p:nvSpPr>
            <p:cNvPr id="40995" name="Text Box 72"/>
            <p:cNvSpPr txBox="1">
              <a:spLocks noChangeArrowheads="1"/>
            </p:cNvSpPr>
            <p:nvPr/>
          </p:nvSpPr>
          <p:spPr bwMode="auto">
            <a:xfrm>
              <a:off x="873" y="2664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C</a:t>
              </a:r>
            </a:p>
          </p:txBody>
        </p:sp>
      </p:grpSp>
      <p:sp>
        <p:nvSpPr>
          <p:cNvPr id="34889" name="Line 73"/>
          <p:cNvSpPr>
            <a:spLocks noChangeShapeType="1"/>
          </p:cNvSpPr>
          <p:nvPr/>
        </p:nvSpPr>
        <p:spPr bwMode="auto">
          <a:xfrm>
            <a:off x="6216477" y="4181474"/>
            <a:ext cx="1930400" cy="1946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 flipV="1">
            <a:off x="4227340" y="4248149"/>
            <a:ext cx="1625600" cy="16398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91" name="AutoShape 75"/>
          <p:cNvSpPr>
            <a:spLocks noChangeArrowheads="1"/>
          </p:cNvSpPr>
          <p:nvPr/>
        </p:nvSpPr>
        <p:spPr bwMode="auto">
          <a:xfrm rot="8100000">
            <a:off x="7824615" y="5499099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92" name="AutoShape 76"/>
          <p:cNvSpPr>
            <a:spLocks noChangeArrowheads="1"/>
          </p:cNvSpPr>
          <p:nvPr/>
        </p:nvSpPr>
        <p:spPr bwMode="auto">
          <a:xfrm rot="2700000">
            <a:off x="5845795" y="3861593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93" name="AutoShape 77"/>
          <p:cNvSpPr>
            <a:spLocks noChangeArrowheads="1"/>
          </p:cNvSpPr>
          <p:nvPr/>
        </p:nvSpPr>
        <p:spPr bwMode="auto">
          <a:xfrm rot="-8100000">
            <a:off x="6302996" y="4421980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94" name="Text Box 78"/>
          <p:cNvSpPr txBox="1">
            <a:spLocks noChangeArrowheads="1"/>
          </p:cNvSpPr>
          <p:nvPr/>
        </p:nvSpPr>
        <p:spPr bwMode="auto">
          <a:xfrm>
            <a:off x="6175202" y="4281486"/>
            <a:ext cx="40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C</a:t>
            </a:r>
          </a:p>
        </p:txBody>
      </p:sp>
      <p:sp>
        <p:nvSpPr>
          <p:cNvPr id="34895" name="Text Box 79"/>
          <p:cNvSpPr txBox="1">
            <a:spLocks noChangeArrowheads="1"/>
          </p:cNvSpPr>
          <p:nvPr/>
        </p:nvSpPr>
        <p:spPr bwMode="auto">
          <a:xfrm>
            <a:off x="4055890" y="5934074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</a:t>
            </a:r>
          </a:p>
        </p:txBody>
      </p:sp>
      <p:sp>
        <p:nvSpPr>
          <p:cNvPr id="34896" name="Text Box 80"/>
          <p:cNvSpPr txBox="1">
            <a:spLocks noChangeArrowheads="1"/>
          </p:cNvSpPr>
          <p:nvPr/>
        </p:nvSpPr>
        <p:spPr bwMode="auto">
          <a:xfrm>
            <a:off x="7689677" y="5922961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</a:t>
            </a:r>
          </a:p>
        </p:txBody>
      </p:sp>
      <p:sp>
        <p:nvSpPr>
          <p:cNvPr id="34897" name="Text Box 81"/>
          <p:cNvSpPr txBox="1">
            <a:spLocks noChangeArrowheads="1"/>
          </p:cNvSpPr>
          <p:nvPr/>
        </p:nvSpPr>
        <p:spPr bwMode="auto">
          <a:xfrm>
            <a:off x="6100590" y="4879974"/>
            <a:ext cx="652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800" b="1" i="1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/>
              <a:t>AC</a:t>
            </a:r>
          </a:p>
        </p:txBody>
      </p:sp>
      <p:sp>
        <p:nvSpPr>
          <p:cNvPr id="34898" name="Text Box 82"/>
          <p:cNvSpPr txBox="1">
            <a:spLocks noChangeArrowheads="1"/>
          </p:cNvSpPr>
          <p:nvPr/>
        </p:nvSpPr>
        <p:spPr bwMode="auto">
          <a:xfrm>
            <a:off x="5481465" y="3730624"/>
            <a:ext cx="5857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AC</a:t>
            </a:r>
          </a:p>
        </p:txBody>
      </p:sp>
      <p:sp>
        <p:nvSpPr>
          <p:cNvPr id="34899" name="Line 83"/>
          <p:cNvSpPr>
            <a:spLocks noChangeShapeType="1"/>
          </p:cNvSpPr>
          <p:nvPr/>
        </p:nvSpPr>
        <p:spPr bwMode="auto">
          <a:xfrm flipV="1">
            <a:off x="5397327" y="4075111"/>
            <a:ext cx="1655763" cy="16557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00" name="AutoShape 84"/>
          <p:cNvSpPr>
            <a:spLocks noChangeArrowheads="1"/>
          </p:cNvSpPr>
          <p:nvPr/>
        </p:nvSpPr>
        <p:spPr bwMode="auto">
          <a:xfrm rot="-8100000">
            <a:off x="4242420" y="5449093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3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3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3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3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53" grpId="0" animBg="1"/>
      <p:bldP spid="34854" grpId="0" animBg="1"/>
      <p:bldP spid="34855" grpId="0" animBg="1"/>
      <p:bldP spid="34856" grpId="0" animBg="1"/>
      <p:bldP spid="34857" grpId="0" animBg="1"/>
      <p:bldP spid="34859" grpId="0" autoUpdateAnimBg="0"/>
      <p:bldP spid="34860" grpId="0" autoUpdateAnimBg="0"/>
      <p:bldP spid="34871" grpId="0" autoUpdateAnimBg="0"/>
      <p:bldP spid="34872" grpId="0" autoUpdateAnimBg="0"/>
      <p:bldP spid="34873" grpId="0" animBg="1"/>
      <p:bldP spid="34874" grpId="0" animBg="1"/>
      <p:bldP spid="34889" grpId="0" animBg="1"/>
      <p:bldP spid="34890" grpId="0" animBg="1"/>
      <p:bldP spid="34891" grpId="0" animBg="1"/>
      <p:bldP spid="34892" grpId="0" animBg="1"/>
      <p:bldP spid="34893" grpId="0" animBg="1"/>
      <p:bldP spid="34894" grpId="0" autoUpdateAnimBg="0"/>
      <p:bldP spid="34895" grpId="0" autoUpdateAnimBg="0"/>
      <p:bldP spid="34896" grpId="0" autoUpdateAnimBg="0"/>
      <p:bldP spid="34897" grpId="0" autoUpdateAnimBg="0"/>
      <p:bldP spid="34898" grpId="0" autoUpdateAnimBg="0"/>
      <p:bldP spid="34899" grpId="0" animBg="1"/>
      <p:bldP spid="3490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3280281" y="603146"/>
            <a:ext cx="2970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三铰拱受力分析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691519" y="4163205"/>
            <a:ext cx="1865312" cy="1225550"/>
            <a:chOff x="4447" y="3053"/>
            <a:chExt cx="1175" cy="772"/>
          </a:xfrm>
        </p:grpSpPr>
        <p:pic>
          <p:nvPicPr>
            <p:cNvPr id="4206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0" y="3053"/>
              <a:ext cx="72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65" name="Oval 5"/>
            <p:cNvSpPr>
              <a:spLocks noChangeArrowheads="1"/>
            </p:cNvSpPr>
            <p:nvPr/>
          </p:nvSpPr>
          <p:spPr bwMode="auto">
            <a:xfrm>
              <a:off x="5297" y="3714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66" name="Oval 6"/>
            <p:cNvSpPr>
              <a:spLocks noChangeArrowheads="1"/>
            </p:cNvSpPr>
            <p:nvPr/>
          </p:nvSpPr>
          <p:spPr bwMode="auto">
            <a:xfrm>
              <a:off x="4669" y="3059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67" name="Text Box 7"/>
            <p:cNvSpPr txBox="1">
              <a:spLocks noChangeArrowheads="1"/>
            </p:cNvSpPr>
            <p:nvPr/>
          </p:nvSpPr>
          <p:spPr bwMode="auto">
            <a:xfrm>
              <a:off x="5366" y="3594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42068" name="Text Box 8"/>
            <p:cNvSpPr txBox="1">
              <a:spLocks noChangeArrowheads="1"/>
            </p:cNvSpPr>
            <p:nvPr/>
          </p:nvSpPr>
          <p:spPr bwMode="auto">
            <a:xfrm>
              <a:off x="4447" y="3058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072019" y="3925080"/>
            <a:ext cx="1246187" cy="1633538"/>
            <a:chOff x="3058" y="2858"/>
            <a:chExt cx="785" cy="1029"/>
          </a:xfrm>
        </p:grpSpPr>
        <p:pic>
          <p:nvPicPr>
            <p:cNvPr id="42059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8" y="3048"/>
              <a:ext cx="720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60" name="Oval 11"/>
            <p:cNvSpPr>
              <a:spLocks noChangeArrowheads="1"/>
            </p:cNvSpPr>
            <p:nvPr/>
          </p:nvSpPr>
          <p:spPr bwMode="auto">
            <a:xfrm>
              <a:off x="3075" y="3699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61" name="Oval 12"/>
            <p:cNvSpPr>
              <a:spLocks noChangeArrowheads="1"/>
            </p:cNvSpPr>
            <p:nvPr/>
          </p:nvSpPr>
          <p:spPr bwMode="auto">
            <a:xfrm>
              <a:off x="3692" y="3056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62" name="Text Box 13"/>
            <p:cNvSpPr txBox="1">
              <a:spLocks noChangeArrowheads="1"/>
            </p:cNvSpPr>
            <p:nvPr/>
          </p:nvSpPr>
          <p:spPr bwMode="auto">
            <a:xfrm>
              <a:off x="3107" y="3656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A</a:t>
              </a:r>
            </a:p>
          </p:txBody>
        </p:sp>
        <p:sp>
          <p:nvSpPr>
            <p:cNvPr id="42063" name="Text Box 14"/>
            <p:cNvSpPr txBox="1">
              <a:spLocks noChangeArrowheads="1"/>
            </p:cNvSpPr>
            <p:nvPr/>
          </p:nvSpPr>
          <p:spPr bwMode="auto">
            <a:xfrm>
              <a:off x="3587" y="2858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</p:grpSp>
      <p:grpSp>
        <p:nvGrpSpPr>
          <p:cNvPr id="41989" name="Group 15"/>
          <p:cNvGrpSpPr>
            <a:grpSpLocks/>
          </p:cNvGrpSpPr>
          <p:nvPr/>
        </p:nvGrpSpPr>
        <p:grpSpPr bwMode="auto">
          <a:xfrm>
            <a:off x="7259638" y="829455"/>
            <a:ext cx="1484312" cy="2027237"/>
            <a:chOff x="1635" y="2421"/>
            <a:chExt cx="935" cy="1277"/>
          </a:xfrm>
        </p:grpSpPr>
        <p:pic>
          <p:nvPicPr>
            <p:cNvPr id="42053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1" y="2878"/>
              <a:ext cx="72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54" name="Oval 17"/>
            <p:cNvSpPr>
              <a:spLocks noChangeArrowheads="1"/>
            </p:cNvSpPr>
            <p:nvPr/>
          </p:nvSpPr>
          <p:spPr bwMode="auto">
            <a:xfrm>
              <a:off x="2278" y="3539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55" name="Oval 18"/>
            <p:cNvSpPr>
              <a:spLocks noChangeArrowheads="1"/>
            </p:cNvSpPr>
            <p:nvPr/>
          </p:nvSpPr>
          <p:spPr bwMode="auto">
            <a:xfrm>
              <a:off x="1635" y="2888"/>
              <a:ext cx="92" cy="86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56" name="AutoShape 19"/>
            <p:cNvSpPr>
              <a:spLocks noChangeArrowheads="1"/>
            </p:cNvSpPr>
            <p:nvPr/>
          </p:nvSpPr>
          <p:spPr bwMode="auto">
            <a:xfrm>
              <a:off x="1654" y="2468"/>
              <a:ext cx="47" cy="448"/>
            </a:xfrm>
            <a:prstGeom prst="downArrow">
              <a:avLst>
                <a:gd name="adj1" fmla="val 50000"/>
                <a:gd name="adj2" fmla="val 238298"/>
              </a:avLst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57" name="Text Box 20"/>
            <p:cNvSpPr txBox="1">
              <a:spLocks noChangeArrowheads="1"/>
            </p:cNvSpPr>
            <p:nvPr/>
          </p:nvSpPr>
          <p:spPr bwMode="auto">
            <a:xfrm>
              <a:off x="2314" y="3467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42058" name="Text Box 21"/>
            <p:cNvSpPr txBox="1">
              <a:spLocks noChangeArrowheads="1"/>
            </p:cNvSpPr>
            <p:nvPr/>
          </p:nvSpPr>
          <p:spPr bwMode="auto">
            <a:xfrm>
              <a:off x="1654" y="2421"/>
              <a:ext cx="2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endParaRPr lang="en-US" altLang="zh-CN" sz="1400" b="1" i="1" baseline="-25000"/>
            </a:p>
          </p:txBody>
        </p:sp>
      </p:grpSp>
      <p:grpSp>
        <p:nvGrpSpPr>
          <p:cNvPr id="41990" name="Group 22"/>
          <p:cNvGrpSpPr>
            <a:grpSpLocks/>
          </p:cNvGrpSpPr>
          <p:nvPr/>
        </p:nvGrpSpPr>
        <p:grpSpPr bwMode="auto">
          <a:xfrm>
            <a:off x="5340350" y="1215217"/>
            <a:ext cx="1260475" cy="1671638"/>
            <a:chOff x="335" y="2664"/>
            <a:chExt cx="794" cy="1053"/>
          </a:xfrm>
        </p:grpSpPr>
        <p:pic>
          <p:nvPicPr>
            <p:cNvPr id="42048" name="Picture 2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" y="2852"/>
              <a:ext cx="720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49" name="Oval 24"/>
            <p:cNvSpPr>
              <a:spLocks noChangeArrowheads="1"/>
            </p:cNvSpPr>
            <p:nvPr/>
          </p:nvSpPr>
          <p:spPr bwMode="auto">
            <a:xfrm>
              <a:off x="1012" y="2865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50" name="Oval 25"/>
            <p:cNvSpPr>
              <a:spLocks noChangeArrowheads="1"/>
            </p:cNvSpPr>
            <p:nvPr/>
          </p:nvSpPr>
          <p:spPr bwMode="auto">
            <a:xfrm>
              <a:off x="361" y="3530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51" name="Text Box 26"/>
            <p:cNvSpPr txBox="1">
              <a:spLocks noChangeArrowheads="1"/>
            </p:cNvSpPr>
            <p:nvPr/>
          </p:nvSpPr>
          <p:spPr bwMode="auto">
            <a:xfrm>
              <a:off x="397" y="3486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A</a:t>
              </a:r>
            </a:p>
          </p:txBody>
        </p:sp>
        <p:sp>
          <p:nvSpPr>
            <p:cNvPr id="42052" name="Text Box 27"/>
            <p:cNvSpPr txBox="1">
              <a:spLocks noChangeArrowheads="1"/>
            </p:cNvSpPr>
            <p:nvPr/>
          </p:nvSpPr>
          <p:spPr bwMode="auto">
            <a:xfrm>
              <a:off x="873" y="2664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</p:grpSp>
      <p:sp>
        <p:nvSpPr>
          <p:cNvPr id="35868" name="Oval 28"/>
          <p:cNvSpPr>
            <a:spLocks noChangeArrowheads="1"/>
          </p:cNvSpPr>
          <p:nvPr/>
        </p:nvSpPr>
        <p:spPr bwMode="auto">
          <a:xfrm>
            <a:off x="4542169" y="4877580"/>
            <a:ext cx="146050" cy="136525"/>
          </a:xfrm>
          <a:prstGeom prst="ellipse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9" name="AutoShape 29"/>
          <p:cNvSpPr>
            <a:spLocks noChangeArrowheads="1"/>
          </p:cNvSpPr>
          <p:nvPr/>
        </p:nvSpPr>
        <p:spPr bwMode="auto">
          <a:xfrm>
            <a:off x="4581856" y="4194955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3" name="Line 30"/>
          <p:cNvSpPr>
            <a:spLocks noChangeShapeType="1"/>
          </p:cNvSpPr>
          <p:nvPr/>
        </p:nvSpPr>
        <p:spPr bwMode="auto">
          <a:xfrm>
            <a:off x="6962775" y="1300942"/>
            <a:ext cx="1930400" cy="1946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>
            <a:off x="5712156" y="3863168"/>
            <a:ext cx="1930400" cy="1946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5" name="Line 32"/>
          <p:cNvSpPr>
            <a:spLocks noChangeShapeType="1"/>
          </p:cNvSpPr>
          <p:nvPr/>
        </p:nvSpPr>
        <p:spPr bwMode="auto">
          <a:xfrm flipV="1">
            <a:off x="5118100" y="1367617"/>
            <a:ext cx="1625600" cy="16398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3" name="Line 33"/>
          <p:cNvSpPr>
            <a:spLocks noChangeShapeType="1"/>
          </p:cNvSpPr>
          <p:nvPr/>
        </p:nvSpPr>
        <p:spPr bwMode="auto">
          <a:xfrm flipV="1">
            <a:off x="1810081" y="3972705"/>
            <a:ext cx="1722438" cy="1755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7" name="AutoShape 34"/>
          <p:cNvSpPr>
            <a:spLocks noChangeArrowheads="1"/>
          </p:cNvSpPr>
          <p:nvPr/>
        </p:nvSpPr>
        <p:spPr bwMode="auto">
          <a:xfrm rot="8100000">
            <a:off x="8570913" y="2618567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5" name="AutoShape 35"/>
          <p:cNvSpPr>
            <a:spLocks noChangeArrowheads="1"/>
          </p:cNvSpPr>
          <p:nvPr/>
        </p:nvSpPr>
        <p:spPr bwMode="auto">
          <a:xfrm rot="2700000">
            <a:off x="2855450" y="4262424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6" name="AutoShape 36"/>
          <p:cNvSpPr>
            <a:spLocks noChangeArrowheads="1"/>
          </p:cNvSpPr>
          <p:nvPr/>
        </p:nvSpPr>
        <p:spPr bwMode="auto">
          <a:xfrm rot="-2700000">
            <a:off x="6361444" y="4202893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7" name="AutoShape 37"/>
          <p:cNvSpPr>
            <a:spLocks noChangeArrowheads="1"/>
          </p:cNvSpPr>
          <p:nvPr/>
        </p:nvSpPr>
        <p:spPr bwMode="auto">
          <a:xfrm rot="-8100000">
            <a:off x="1882312" y="5254612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01" name="AutoShape 38"/>
          <p:cNvSpPr>
            <a:spLocks noChangeArrowheads="1"/>
          </p:cNvSpPr>
          <p:nvPr/>
        </p:nvSpPr>
        <p:spPr bwMode="auto">
          <a:xfrm rot="2700000">
            <a:off x="6736557" y="981061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02" name="AutoShape 39"/>
          <p:cNvSpPr>
            <a:spLocks noChangeArrowheads="1"/>
          </p:cNvSpPr>
          <p:nvPr/>
        </p:nvSpPr>
        <p:spPr bwMode="auto">
          <a:xfrm rot="-8100000">
            <a:off x="7049293" y="1541449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80" name="AutoShape 40"/>
          <p:cNvSpPr>
            <a:spLocks noChangeArrowheads="1"/>
          </p:cNvSpPr>
          <p:nvPr/>
        </p:nvSpPr>
        <p:spPr bwMode="auto">
          <a:xfrm rot="8100000">
            <a:off x="7374269" y="5204605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81" name="AutoShape 41"/>
          <p:cNvSpPr>
            <a:spLocks noChangeArrowheads="1"/>
          </p:cNvSpPr>
          <p:nvPr/>
        </p:nvSpPr>
        <p:spPr bwMode="auto">
          <a:xfrm rot="8100000">
            <a:off x="4869194" y="4880755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82" name="AutoShape 42"/>
          <p:cNvSpPr>
            <a:spLocks noChangeArrowheads="1"/>
          </p:cNvSpPr>
          <p:nvPr/>
        </p:nvSpPr>
        <p:spPr bwMode="auto">
          <a:xfrm rot="-8100000">
            <a:off x="4250862" y="4879962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06" name="Text Box 44"/>
          <p:cNvSpPr txBox="1">
            <a:spLocks noChangeArrowheads="1"/>
          </p:cNvSpPr>
          <p:nvPr/>
        </p:nvSpPr>
        <p:spPr bwMode="auto">
          <a:xfrm>
            <a:off x="6921500" y="1400955"/>
            <a:ext cx="40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i="1"/>
              <a:t>C</a:t>
            </a:r>
          </a:p>
        </p:txBody>
      </p:sp>
      <p:sp>
        <p:nvSpPr>
          <p:cNvPr id="35885" name="Text Box 45"/>
          <p:cNvSpPr txBox="1">
            <a:spLocks noChangeArrowheads="1"/>
          </p:cNvSpPr>
          <p:nvPr/>
        </p:nvSpPr>
        <p:spPr bwMode="auto">
          <a:xfrm>
            <a:off x="4215144" y="4674380"/>
            <a:ext cx="40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C</a:t>
            </a:r>
          </a:p>
        </p:txBody>
      </p:sp>
      <p:sp>
        <p:nvSpPr>
          <p:cNvPr id="35886" name="Text Box 46"/>
          <p:cNvSpPr txBox="1">
            <a:spLocks noChangeArrowheads="1"/>
          </p:cNvSpPr>
          <p:nvPr/>
        </p:nvSpPr>
        <p:spPr bwMode="auto">
          <a:xfrm>
            <a:off x="1738644" y="5657043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</a:t>
            </a:r>
          </a:p>
        </p:txBody>
      </p:sp>
      <p:sp>
        <p:nvSpPr>
          <p:cNvPr id="42009" name="Text Box 47"/>
          <p:cNvSpPr txBox="1">
            <a:spLocks noChangeArrowheads="1"/>
          </p:cNvSpPr>
          <p:nvPr/>
        </p:nvSpPr>
        <p:spPr bwMode="auto">
          <a:xfrm>
            <a:off x="4946650" y="3053542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</a:t>
            </a:r>
          </a:p>
        </p:txBody>
      </p:sp>
      <p:sp>
        <p:nvSpPr>
          <p:cNvPr id="35888" name="Text Box 48"/>
          <p:cNvSpPr txBox="1">
            <a:spLocks noChangeArrowheads="1"/>
          </p:cNvSpPr>
          <p:nvPr/>
        </p:nvSpPr>
        <p:spPr bwMode="auto">
          <a:xfrm>
            <a:off x="7252031" y="5674505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</a:t>
            </a:r>
          </a:p>
        </p:txBody>
      </p:sp>
      <p:sp>
        <p:nvSpPr>
          <p:cNvPr id="42011" name="Text Box 49"/>
          <p:cNvSpPr txBox="1">
            <a:spLocks noChangeArrowheads="1"/>
          </p:cNvSpPr>
          <p:nvPr/>
        </p:nvSpPr>
        <p:spPr bwMode="auto">
          <a:xfrm>
            <a:off x="8435975" y="3042430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</a:t>
            </a:r>
          </a:p>
        </p:txBody>
      </p:sp>
      <p:sp>
        <p:nvSpPr>
          <p:cNvPr id="35890" name="Text Box 50"/>
          <p:cNvSpPr txBox="1">
            <a:spLocks noChangeArrowheads="1"/>
          </p:cNvSpPr>
          <p:nvPr/>
        </p:nvSpPr>
        <p:spPr bwMode="auto">
          <a:xfrm>
            <a:off x="5050169" y="5060143"/>
            <a:ext cx="579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800" b="1" i="1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/>
              <a:t>BC</a:t>
            </a:r>
          </a:p>
        </p:txBody>
      </p:sp>
      <p:sp>
        <p:nvSpPr>
          <p:cNvPr id="35891" name="Text Box 51"/>
          <p:cNvSpPr txBox="1">
            <a:spLocks noChangeArrowheads="1"/>
          </p:cNvSpPr>
          <p:nvPr/>
        </p:nvSpPr>
        <p:spPr bwMode="auto">
          <a:xfrm>
            <a:off x="3603956" y="5066493"/>
            <a:ext cx="6080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800" b="1" i="1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/>
              <a:t>AC</a:t>
            </a:r>
          </a:p>
        </p:txBody>
      </p:sp>
      <p:sp>
        <p:nvSpPr>
          <p:cNvPr id="35892" name="Text Box 52"/>
          <p:cNvSpPr txBox="1">
            <a:spLocks noChangeArrowheads="1"/>
          </p:cNvSpPr>
          <p:nvPr/>
        </p:nvSpPr>
        <p:spPr bwMode="auto">
          <a:xfrm>
            <a:off x="4562806" y="4150505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endParaRPr lang="en-US" altLang="zh-CN" sz="1400" b="1" i="1" baseline="-25000"/>
          </a:p>
        </p:txBody>
      </p:sp>
      <p:sp>
        <p:nvSpPr>
          <p:cNvPr id="42015" name="Text Box 53"/>
          <p:cNvSpPr txBox="1">
            <a:spLocks noChangeArrowheads="1"/>
          </p:cNvSpPr>
          <p:nvPr/>
        </p:nvSpPr>
        <p:spPr bwMode="auto">
          <a:xfrm>
            <a:off x="6846888" y="1999442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800" b="1" i="1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/>
              <a:t>AC</a:t>
            </a:r>
          </a:p>
        </p:txBody>
      </p:sp>
      <p:sp>
        <p:nvSpPr>
          <p:cNvPr id="35894" name="Text Box 54"/>
          <p:cNvSpPr txBox="1">
            <a:spLocks noChangeArrowheads="1"/>
          </p:cNvSpPr>
          <p:nvPr/>
        </p:nvSpPr>
        <p:spPr bwMode="auto">
          <a:xfrm>
            <a:off x="5997906" y="4507693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BC</a:t>
            </a:r>
          </a:p>
        </p:txBody>
      </p:sp>
      <p:sp>
        <p:nvSpPr>
          <p:cNvPr id="35895" name="Text Box 55"/>
          <p:cNvSpPr txBox="1">
            <a:spLocks noChangeArrowheads="1"/>
          </p:cNvSpPr>
          <p:nvPr/>
        </p:nvSpPr>
        <p:spPr bwMode="auto">
          <a:xfrm>
            <a:off x="2826081" y="4575955"/>
            <a:ext cx="665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AC</a:t>
            </a:r>
          </a:p>
        </p:txBody>
      </p:sp>
      <p:sp>
        <p:nvSpPr>
          <p:cNvPr id="42018" name="Text Box 56"/>
          <p:cNvSpPr txBox="1">
            <a:spLocks noChangeArrowheads="1"/>
          </p:cNvSpPr>
          <p:nvPr/>
        </p:nvSpPr>
        <p:spPr bwMode="auto">
          <a:xfrm>
            <a:off x="6443663" y="850092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AC</a:t>
            </a:r>
          </a:p>
        </p:txBody>
      </p:sp>
      <p:sp>
        <p:nvSpPr>
          <p:cNvPr id="42019" name="Line 57"/>
          <p:cNvSpPr>
            <a:spLocks noChangeShapeType="1"/>
          </p:cNvSpPr>
          <p:nvPr/>
        </p:nvSpPr>
        <p:spPr bwMode="auto">
          <a:xfrm flipV="1">
            <a:off x="6143625" y="1194580"/>
            <a:ext cx="1655763" cy="16557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0" name="AutoShape 59"/>
          <p:cNvSpPr>
            <a:spLocks noChangeArrowheads="1"/>
          </p:cNvSpPr>
          <p:nvPr/>
        </p:nvSpPr>
        <p:spPr bwMode="auto">
          <a:xfrm rot="-8100000">
            <a:off x="5133182" y="2568561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2021" name="Group 60"/>
          <p:cNvGrpSpPr>
            <a:grpSpLocks/>
          </p:cNvGrpSpPr>
          <p:nvPr/>
        </p:nvGrpSpPr>
        <p:grpSpPr bwMode="auto">
          <a:xfrm>
            <a:off x="2942144" y="1208090"/>
            <a:ext cx="1566862" cy="1544637"/>
            <a:chOff x="4588" y="1111"/>
            <a:chExt cx="987" cy="973"/>
          </a:xfrm>
        </p:grpSpPr>
        <p:pic>
          <p:nvPicPr>
            <p:cNvPr id="42043" name="Picture 6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" y="1315"/>
              <a:ext cx="72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44" name="Oval 62"/>
            <p:cNvSpPr>
              <a:spLocks noChangeArrowheads="1"/>
            </p:cNvSpPr>
            <p:nvPr/>
          </p:nvSpPr>
          <p:spPr bwMode="auto">
            <a:xfrm>
              <a:off x="5272" y="1976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45" name="Oval 63"/>
            <p:cNvSpPr>
              <a:spLocks noChangeArrowheads="1"/>
            </p:cNvSpPr>
            <p:nvPr/>
          </p:nvSpPr>
          <p:spPr bwMode="auto">
            <a:xfrm>
              <a:off x="4644" y="1321"/>
              <a:ext cx="92" cy="86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46" name="Text Box 64"/>
            <p:cNvSpPr txBox="1">
              <a:spLocks noChangeArrowheads="1"/>
            </p:cNvSpPr>
            <p:nvPr/>
          </p:nvSpPr>
          <p:spPr bwMode="auto">
            <a:xfrm>
              <a:off x="5319" y="1853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B</a:t>
              </a:r>
            </a:p>
          </p:txBody>
        </p:sp>
        <p:sp>
          <p:nvSpPr>
            <p:cNvPr id="42047" name="Text Box 65"/>
            <p:cNvSpPr txBox="1">
              <a:spLocks noChangeArrowheads="1"/>
            </p:cNvSpPr>
            <p:nvPr/>
          </p:nvSpPr>
          <p:spPr bwMode="auto">
            <a:xfrm>
              <a:off x="4588" y="1111"/>
              <a:ext cx="2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C</a:t>
              </a:r>
            </a:p>
          </p:txBody>
        </p:sp>
      </p:grpSp>
      <p:sp>
        <p:nvSpPr>
          <p:cNvPr id="42022" name="Line 66"/>
          <p:cNvSpPr>
            <a:spLocks noChangeShapeType="1"/>
          </p:cNvSpPr>
          <p:nvPr/>
        </p:nvSpPr>
        <p:spPr bwMode="auto">
          <a:xfrm>
            <a:off x="2697669" y="1243015"/>
            <a:ext cx="1930400" cy="1946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3" name="AutoShape 67"/>
          <p:cNvSpPr>
            <a:spLocks noChangeArrowheads="1"/>
          </p:cNvSpPr>
          <p:nvPr/>
        </p:nvSpPr>
        <p:spPr bwMode="auto">
          <a:xfrm rot="-2700000">
            <a:off x="3292981" y="1528765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24" name="AutoShape 68"/>
          <p:cNvSpPr>
            <a:spLocks noChangeArrowheads="1"/>
          </p:cNvSpPr>
          <p:nvPr/>
        </p:nvSpPr>
        <p:spPr bwMode="auto">
          <a:xfrm rot="8100000">
            <a:off x="4350256" y="2603502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25" name="AutoShape 69"/>
          <p:cNvSpPr>
            <a:spLocks noChangeArrowheads="1"/>
          </p:cNvSpPr>
          <p:nvPr/>
        </p:nvSpPr>
        <p:spPr bwMode="auto">
          <a:xfrm rot="8100000">
            <a:off x="2416681" y="1592265"/>
            <a:ext cx="74613" cy="711200"/>
          </a:xfrm>
          <a:prstGeom prst="downArrow">
            <a:avLst>
              <a:gd name="adj1" fmla="val 50000"/>
              <a:gd name="adj2" fmla="val 238296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26" name="AutoShape 70"/>
          <p:cNvSpPr>
            <a:spLocks noChangeArrowheads="1"/>
          </p:cNvSpPr>
          <p:nvPr/>
        </p:nvSpPr>
        <p:spPr bwMode="auto">
          <a:xfrm rot="-8100000">
            <a:off x="833150" y="2632871"/>
            <a:ext cx="74612" cy="711200"/>
          </a:xfrm>
          <a:prstGeom prst="downArrow">
            <a:avLst>
              <a:gd name="adj1" fmla="val 50000"/>
              <a:gd name="adj2" fmla="val 238299"/>
            </a:avLst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27" name="Text Box 71"/>
          <p:cNvSpPr txBox="1">
            <a:spLocks noChangeArrowheads="1"/>
          </p:cNvSpPr>
          <p:nvPr/>
        </p:nvSpPr>
        <p:spPr bwMode="auto">
          <a:xfrm>
            <a:off x="359281" y="2798765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A</a:t>
            </a:r>
          </a:p>
        </p:txBody>
      </p:sp>
      <p:sp>
        <p:nvSpPr>
          <p:cNvPr id="42028" name="Text Box 72"/>
          <p:cNvSpPr txBox="1">
            <a:spLocks noChangeArrowheads="1"/>
          </p:cNvSpPr>
          <p:nvPr/>
        </p:nvSpPr>
        <p:spPr bwMode="auto">
          <a:xfrm>
            <a:off x="4229606" y="3032127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</a:t>
            </a:r>
          </a:p>
        </p:txBody>
      </p:sp>
      <p:grpSp>
        <p:nvGrpSpPr>
          <p:cNvPr id="42029" name="Group 73"/>
          <p:cNvGrpSpPr>
            <a:grpSpLocks/>
          </p:cNvGrpSpPr>
          <p:nvPr/>
        </p:nvGrpSpPr>
        <p:grpSpPr bwMode="auto">
          <a:xfrm>
            <a:off x="1029206" y="823915"/>
            <a:ext cx="1544638" cy="2087562"/>
            <a:chOff x="3154" y="809"/>
            <a:chExt cx="973" cy="1315"/>
          </a:xfrm>
        </p:grpSpPr>
        <p:grpSp>
          <p:nvGrpSpPr>
            <p:cNvPr id="42034" name="Group 74"/>
            <p:cNvGrpSpPr>
              <a:grpSpLocks/>
            </p:cNvGrpSpPr>
            <p:nvPr/>
          </p:nvGrpSpPr>
          <p:grpSpPr bwMode="auto">
            <a:xfrm>
              <a:off x="3154" y="1083"/>
              <a:ext cx="763" cy="1041"/>
              <a:chOff x="3154" y="1083"/>
              <a:chExt cx="763" cy="1041"/>
            </a:xfrm>
          </p:grpSpPr>
          <p:grpSp>
            <p:nvGrpSpPr>
              <p:cNvPr id="42037" name="Group 75"/>
              <p:cNvGrpSpPr>
                <a:grpSpLocks/>
              </p:cNvGrpSpPr>
              <p:nvPr/>
            </p:nvGrpSpPr>
            <p:grpSpPr bwMode="auto">
              <a:xfrm>
                <a:off x="3154" y="1083"/>
                <a:ext cx="720" cy="1041"/>
                <a:chOff x="3154" y="1083"/>
                <a:chExt cx="720" cy="1041"/>
              </a:xfrm>
            </p:grpSpPr>
            <p:pic>
              <p:nvPicPr>
                <p:cNvPr id="42040" name="Picture 76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54" y="1261"/>
                  <a:ext cx="720" cy="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2041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3236" y="1893"/>
                  <a:ext cx="25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b="1" i="1"/>
                    <a:t>A</a:t>
                  </a:r>
                </a:p>
              </p:txBody>
            </p:sp>
            <p:sp>
              <p:nvSpPr>
                <p:cNvPr id="42042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3612" y="1083"/>
                  <a:ext cx="25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 b="1" i="1"/>
                    <a:t>C</a:t>
                  </a:r>
                </a:p>
              </p:txBody>
            </p:sp>
          </p:grpSp>
          <p:sp>
            <p:nvSpPr>
              <p:cNvPr id="42038" name="Oval 79"/>
              <p:cNvSpPr>
                <a:spLocks noChangeArrowheads="1"/>
              </p:cNvSpPr>
              <p:nvPr/>
            </p:nvSpPr>
            <p:spPr bwMode="auto">
              <a:xfrm>
                <a:off x="3825" y="1288"/>
                <a:ext cx="92" cy="86"/>
              </a:xfrm>
              <a:prstGeom prst="ellipse">
                <a:avLst/>
              </a:prstGeom>
              <a:solidFill>
                <a:srgbClr val="FF0000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39" name="Oval 80"/>
              <p:cNvSpPr>
                <a:spLocks noChangeArrowheads="1"/>
              </p:cNvSpPr>
              <p:nvPr/>
            </p:nvSpPr>
            <p:spPr bwMode="auto">
              <a:xfrm>
                <a:off x="3180" y="1949"/>
                <a:ext cx="92" cy="86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2035" name="AutoShape 81"/>
            <p:cNvSpPr>
              <a:spLocks noChangeArrowheads="1"/>
            </p:cNvSpPr>
            <p:nvPr/>
          </p:nvSpPr>
          <p:spPr bwMode="auto">
            <a:xfrm>
              <a:off x="3852" y="872"/>
              <a:ext cx="47" cy="448"/>
            </a:xfrm>
            <a:prstGeom prst="downArrow">
              <a:avLst>
                <a:gd name="adj1" fmla="val 50000"/>
                <a:gd name="adj2" fmla="val 238298"/>
              </a:avLst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36" name="Text Box 82"/>
            <p:cNvSpPr txBox="1">
              <a:spLocks noChangeArrowheads="1"/>
            </p:cNvSpPr>
            <p:nvPr/>
          </p:nvSpPr>
          <p:spPr bwMode="auto">
            <a:xfrm>
              <a:off x="3863" y="809"/>
              <a:ext cx="2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endParaRPr lang="en-US" altLang="zh-CN" sz="1400" b="1" i="1" baseline="-25000"/>
            </a:p>
          </p:txBody>
        </p:sp>
      </p:grpSp>
      <p:sp>
        <p:nvSpPr>
          <p:cNvPr id="42030" name="Text Box 83"/>
          <p:cNvSpPr txBox="1">
            <a:spLocks noChangeArrowheads="1"/>
          </p:cNvSpPr>
          <p:nvPr/>
        </p:nvSpPr>
        <p:spPr bwMode="auto">
          <a:xfrm>
            <a:off x="2889756" y="1854202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400" b="1" i="1" baseline="-25000"/>
              <a:t>BC</a:t>
            </a:r>
          </a:p>
        </p:txBody>
      </p:sp>
      <p:sp>
        <p:nvSpPr>
          <p:cNvPr id="42031" name="Text Box 84"/>
          <p:cNvSpPr txBox="1">
            <a:spLocks noChangeArrowheads="1"/>
          </p:cNvSpPr>
          <p:nvPr/>
        </p:nvSpPr>
        <p:spPr bwMode="auto">
          <a:xfrm>
            <a:off x="2129344" y="2030415"/>
            <a:ext cx="574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i="1"/>
              <a:t>F</a:t>
            </a:r>
            <a:r>
              <a:rPr lang="en-US" altLang="zh-CN" sz="1800" b="1" i="1">
                <a:sym typeface="Symbol" panose="05050102010706020507" pitchFamily="18" charset="2"/>
              </a:rPr>
              <a:t></a:t>
            </a:r>
            <a:r>
              <a:rPr lang="en-US" altLang="zh-CN" sz="1400" b="1" i="1" baseline="-25000"/>
              <a:t>BC</a:t>
            </a:r>
          </a:p>
        </p:txBody>
      </p:sp>
      <p:sp>
        <p:nvSpPr>
          <p:cNvPr id="42032" name="Line 85"/>
          <p:cNvSpPr>
            <a:spLocks noChangeShapeType="1"/>
          </p:cNvSpPr>
          <p:nvPr/>
        </p:nvSpPr>
        <p:spPr bwMode="auto">
          <a:xfrm flipV="1">
            <a:off x="837119" y="1270002"/>
            <a:ext cx="1722437" cy="1755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3" name="Line 86"/>
          <p:cNvSpPr>
            <a:spLocks noChangeShapeType="1"/>
          </p:cNvSpPr>
          <p:nvPr/>
        </p:nvSpPr>
        <p:spPr bwMode="auto">
          <a:xfrm>
            <a:off x="1626106" y="1063627"/>
            <a:ext cx="1654175" cy="16859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8" grpId="0" animBg="1"/>
      <p:bldP spid="35869" grpId="0" animBg="1"/>
      <p:bldP spid="35871" grpId="0" animBg="1"/>
      <p:bldP spid="35873" grpId="0" animBg="1"/>
      <p:bldP spid="35875" grpId="0" animBg="1"/>
      <p:bldP spid="35876" grpId="0" animBg="1"/>
      <p:bldP spid="35877" grpId="0" animBg="1"/>
      <p:bldP spid="35880" grpId="0" animBg="1"/>
      <p:bldP spid="35881" grpId="0" animBg="1"/>
      <p:bldP spid="35882" grpId="0" animBg="1"/>
      <p:bldP spid="35885" grpId="0" autoUpdateAnimBg="0"/>
      <p:bldP spid="35886" grpId="0" autoUpdateAnimBg="0"/>
      <p:bldP spid="35888" grpId="0" autoUpdateAnimBg="0"/>
      <p:bldP spid="35890" grpId="0" autoUpdateAnimBg="0"/>
      <p:bldP spid="35891" grpId="0" autoUpdateAnimBg="0"/>
      <p:bldP spid="35892" grpId="0" autoUpdateAnimBg="0"/>
      <p:bldP spid="35894" grpId="0" autoUpdateAnimBg="0"/>
      <p:bldP spid="3589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754156" y="474992"/>
            <a:ext cx="2970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三铰拱受力分析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82351" y="1069217"/>
            <a:ext cx="3021822" cy="2267385"/>
            <a:chOff x="546" y="1003"/>
            <a:chExt cx="2097" cy="1613"/>
          </a:xfrm>
        </p:grpSpPr>
        <p:graphicFrame>
          <p:nvGraphicFramePr>
            <p:cNvPr id="43074" name="Object 3"/>
            <p:cNvGraphicFramePr>
              <a:graphicFrameLocks noChangeAspect="1"/>
            </p:cNvGraphicFramePr>
            <p:nvPr/>
          </p:nvGraphicFramePr>
          <p:xfrm>
            <a:off x="630" y="1356"/>
            <a:ext cx="1140" cy="1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2" imgW="1809524" imgH="1867161" progId="Paint.Picture">
                    <p:embed/>
                  </p:oleObj>
                </mc:Choice>
                <mc:Fallback>
                  <p:oleObj name="BMP 图像" r:id="rId2" imgW="1809524" imgH="1867161" progId="Paint.Picture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1356"/>
                          <a:ext cx="1140" cy="1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75" name="Object 4"/>
            <p:cNvGraphicFramePr>
              <a:graphicFrameLocks noChangeAspect="1"/>
            </p:cNvGraphicFramePr>
            <p:nvPr/>
          </p:nvGraphicFramePr>
          <p:xfrm>
            <a:off x="1749" y="1274"/>
            <a:ext cx="894" cy="9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4" imgW="1419048" imgH="1533739" progId="Paint.Picture">
                    <p:embed/>
                  </p:oleObj>
                </mc:Choice>
                <mc:Fallback>
                  <p:oleObj name="BMP 图像" r:id="rId4" imgW="1419048" imgH="1533739" progId="Paint.Pictur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9" y="1274"/>
                          <a:ext cx="894" cy="9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076" name="Group 6"/>
            <p:cNvGrpSpPr>
              <a:grpSpLocks/>
            </p:cNvGrpSpPr>
            <p:nvPr/>
          </p:nvGrpSpPr>
          <p:grpSpPr bwMode="auto">
            <a:xfrm>
              <a:off x="568" y="2387"/>
              <a:ext cx="386" cy="229"/>
              <a:chOff x="1296" y="1131"/>
              <a:chExt cx="450" cy="285"/>
            </a:xfrm>
          </p:grpSpPr>
          <p:sp>
            <p:nvSpPr>
              <p:cNvPr id="43095" name="Rectangle 7"/>
              <p:cNvSpPr>
                <a:spLocks noChangeArrowheads="1"/>
              </p:cNvSpPr>
              <p:nvPr/>
            </p:nvSpPr>
            <p:spPr bwMode="auto">
              <a:xfrm>
                <a:off x="1296" y="1326"/>
                <a:ext cx="438" cy="9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96" name="AutoShape 8"/>
              <p:cNvSpPr>
                <a:spLocks noChangeArrowheads="1"/>
              </p:cNvSpPr>
              <p:nvPr/>
            </p:nvSpPr>
            <p:spPr bwMode="auto">
              <a:xfrm>
                <a:off x="1426" y="1160"/>
                <a:ext cx="200" cy="16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97" name="Oval 9"/>
              <p:cNvSpPr>
                <a:spLocks noChangeArrowheads="1"/>
              </p:cNvSpPr>
              <p:nvPr/>
            </p:nvSpPr>
            <p:spPr bwMode="auto">
              <a:xfrm>
                <a:off x="1483" y="1131"/>
                <a:ext cx="92" cy="91"/>
              </a:xfrm>
              <a:prstGeom prst="ellipse">
                <a:avLst/>
              </a:prstGeom>
              <a:solidFill>
                <a:schemeClr val="folHlink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98" name="Line 10"/>
              <p:cNvSpPr>
                <a:spLocks noChangeShapeType="1"/>
              </p:cNvSpPr>
              <p:nvPr/>
            </p:nvSpPr>
            <p:spPr bwMode="auto">
              <a:xfrm>
                <a:off x="1314" y="132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9" name="Line 11"/>
              <p:cNvSpPr>
                <a:spLocks noChangeShapeType="1"/>
              </p:cNvSpPr>
              <p:nvPr/>
            </p:nvSpPr>
            <p:spPr bwMode="auto">
              <a:xfrm flipH="1">
                <a:off x="1317" y="1323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00" name="Line 12"/>
              <p:cNvSpPr>
                <a:spLocks noChangeShapeType="1"/>
              </p:cNvSpPr>
              <p:nvPr/>
            </p:nvSpPr>
            <p:spPr bwMode="auto">
              <a:xfrm flipH="1">
                <a:off x="1394" y="1328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01" name="Line 13"/>
              <p:cNvSpPr>
                <a:spLocks noChangeShapeType="1"/>
              </p:cNvSpPr>
              <p:nvPr/>
            </p:nvSpPr>
            <p:spPr bwMode="auto">
              <a:xfrm flipH="1">
                <a:off x="1471" y="1327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02" name="Line 14"/>
              <p:cNvSpPr>
                <a:spLocks noChangeShapeType="1"/>
              </p:cNvSpPr>
              <p:nvPr/>
            </p:nvSpPr>
            <p:spPr bwMode="auto">
              <a:xfrm flipH="1">
                <a:off x="1554" y="1326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03" name="Line 15"/>
              <p:cNvSpPr>
                <a:spLocks noChangeShapeType="1"/>
              </p:cNvSpPr>
              <p:nvPr/>
            </p:nvSpPr>
            <p:spPr bwMode="auto">
              <a:xfrm flipH="1">
                <a:off x="1635" y="1329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77" name="Group 16"/>
            <p:cNvGrpSpPr>
              <a:grpSpLocks/>
            </p:cNvGrpSpPr>
            <p:nvPr/>
          </p:nvGrpSpPr>
          <p:grpSpPr bwMode="auto">
            <a:xfrm>
              <a:off x="2221" y="2132"/>
              <a:ext cx="346" cy="229"/>
              <a:chOff x="1296" y="1131"/>
              <a:chExt cx="450" cy="285"/>
            </a:xfrm>
          </p:grpSpPr>
          <p:sp>
            <p:nvSpPr>
              <p:cNvPr id="43086" name="Rectangle 17"/>
              <p:cNvSpPr>
                <a:spLocks noChangeArrowheads="1"/>
              </p:cNvSpPr>
              <p:nvPr/>
            </p:nvSpPr>
            <p:spPr bwMode="auto">
              <a:xfrm>
                <a:off x="1296" y="1326"/>
                <a:ext cx="438" cy="9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87" name="AutoShape 18"/>
              <p:cNvSpPr>
                <a:spLocks noChangeArrowheads="1"/>
              </p:cNvSpPr>
              <p:nvPr/>
            </p:nvSpPr>
            <p:spPr bwMode="auto">
              <a:xfrm>
                <a:off x="1426" y="1160"/>
                <a:ext cx="200" cy="16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88" name="Oval 19"/>
              <p:cNvSpPr>
                <a:spLocks noChangeArrowheads="1"/>
              </p:cNvSpPr>
              <p:nvPr/>
            </p:nvSpPr>
            <p:spPr bwMode="auto">
              <a:xfrm>
                <a:off x="1483" y="1131"/>
                <a:ext cx="92" cy="91"/>
              </a:xfrm>
              <a:prstGeom prst="ellipse">
                <a:avLst/>
              </a:prstGeom>
              <a:solidFill>
                <a:schemeClr val="folHlink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89" name="Line 20"/>
              <p:cNvSpPr>
                <a:spLocks noChangeShapeType="1"/>
              </p:cNvSpPr>
              <p:nvPr/>
            </p:nvSpPr>
            <p:spPr bwMode="auto">
              <a:xfrm>
                <a:off x="1314" y="132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0" name="Line 21"/>
              <p:cNvSpPr>
                <a:spLocks noChangeShapeType="1"/>
              </p:cNvSpPr>
              <p:nvPr/>
            </p:nvSpPr>
            <p:spPr bwMode="auto">
              <a:xfrm flipH="1">
                <a:off x="1317" y="1323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1" name="Line 22"/>
              <p:cNvSpPr>
                <a:spLocks noChangeShapeType="1"/>
              </p:cNvSpPr>
              <p:nvPr/>
            </p:nvSpPr>
            <p:spPr bwMode="auto">
              <a:xfrm flipH="1">
                <a:off x="1394" y="1328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2" name="Line 23"/>
              <p:cNvSpPr>
                <a:spLocks noChangeShapeType="1"/>
              </p:cNvSpPr>
              <p:nvPr/>
            </p:nvSpPr>
            <p:spPr bwMode="auto">
              <a:xfrm flipH="1">
                <a:off x="1471" y="1327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3" name="Line 24"/>
              <p:cNvSpPr>
                <a:spLocks noChangeShapeType="1"/>
              </p:cNvSpPr>
              <p:nvPr/>
            </p:nvSpPr>
            <p:spPr bwMode="auto">
              <a:xfrm flipH="1">
                <a:off x="1554" y="1326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4" name="Line 25"/>
              <p:cNvSpPr>
                <a:spLocks noChangeShapeType="1"/>
              </p:cNvSpPr>
              <p:nvPr/>
            </p:nvSpPr>
            <p:spPr bwMode="auto">
              <a:xfrm flipH="1">
                <a:off x="1635" y="1329"/>
                <a:ext cx="80" cy="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78" name="AutoShape 26"/>
            <p:cNvSpPr>
              <a:spLocks noChangeArrowheads="1"/>
            </p:cNvSpPr>
            <p:nvPr/>
          </p:nvSpPr>
          <p:spPr bwMode="auto">
            <a:xfrm>
              <a:off x="1236" y="1068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79" name="AutoShape 27"/>
            <p:cNvSpPr>
              <a:spLocks noChangeArrowheads="1"/>
            </p:cNvSpPr>
            <p:nvPr/>
          </p:nvSpPr>
          <p:spPr bwMode="auto">
            <a:xfrm>
              <a:off x="2093" y="1069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80" name="Oval 28"/>
            <p:cNvSpPr>
              <a:spLocks noChangeArrowheads="1"/>
            </p:cNvSpPr>
            <p:nvPr/>
          </p:nvSpPr>
          <p:spPr bwMode="auto">
            <a:xfrm>
              <a:off x="1684" y="1430"/>
              <a:ext cx="84" cy="75"/>
            </a:xfrm>
            <a:prstGeom prst="ellipse">
              <a:avLst/>
            </a:prstGeom>
            <a:solidFill>
              <a:schemeClr val="folHlink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81" name="Text Box 29"/>
            <p:cNvSpPr txBox="1">
              <a:spLocks noChangeArrowheads="1"/>
            </p:cNvSpPr>
            <p:nvPr/>
          </p:nvSpPr>
          <p:spPr bwMode="auto">
            <a:xfrm>
              <a:off x="546" y="2266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A</a:t>
              </a:r>
            </a:p>
          </p:txBody>
        </p:sp>
        <p:sp>
          <p:nvSpPr>
            <p:cNvPr id="43082" name="Text Box 30"/>
            <p:cNvSpPr txBox="1">
              <a:spLocks noChangeArrowheads="1"/>
            </p:cNvSpPr>
            <p:nvPr/>
          </p:nvSpPr>
          <p:spPr bwMode="auto">
            <a:xfrm>
              <a:off x="2402" y="2013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43083" name="Text Box 31"/>
            <p:cNvSpPr txBox="1">
              <a:spLocks noChangeArrowheads="1"/>
            </p:cNvSpPr>
            <p:nvPr/>
          </p:nvSpPr>
          <p:spPr bwMode="auto">
            <a:xfrm>
              <a:off x="1595" y="1475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C</a:t>
              </a:r>
            </a:p>
          </p:txBody>
        </p:sp>
        <p:sp>
          <p:nvSpPr>
            <p:cNvPr id="43084" name="Text Box 32"/>
            <p:cNvSpPr txBox="1">
              <a:spLocks noChangeArrowheads="1"/>
            </p:cNvSpPr>
            <p:nvPr/>
          </p:nvSpPr>
          <p:spPr bwMode="auto">
            <a:xfrm>
              <a:off x="2067" y="1003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baseline="-25000"/>
                <a:t>2</a:t>
              </a:r>
            </a:p>
          </p:txBody>
        </p:sp>
        <p:sp>
          <p:nvSpPr>
            <p:cNvPr id="43085" name="Text Box 33"/>
            <p:cNvSpPr txBox="1">
              <a:spLocks noChangeArrowheads="1"/>
            </p:cNvSpPr>
            <p:nvPr/>
          </p:nvSpPr>
          <p:spPr bwMode="auto">
            <a:xfrm>
              <a:off x="1204" y="1004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baseline="-25000"/>
                <a:t>1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4584809" y="785813"/>
            <a:ext cx="3328987" cy="2427287"/>
            <a:chOff x="290" y="2707"/>
            <a:chExt cx="2097" cy="1529"/>
          </a:xfrm>
        </p:grpSpPr>
        <p:graphicFrame>
          <p:nvGraphicFramePr>
            <p:cNvPr id="43062" name="Object 1"/>
            <p:cNvGraphicFramePr>
              <a:graphicFrameLocks noChangeAspect="1"/>
            </p:cNvGraphicFramePr>
            <p:nvPr/>
          </p:nvGraphicFramePr>
          <p:xfrm>
            <a:off x="374" y="3060"/>
            <a:ext cx="1140" cy="1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2" imgW="1809524" imgH="1867161" progId="Paint.Picture">
                    <p:embed/>
                  </p:oleObj>
                </mc:Choice>
                <mc:Fallback>
                  <p:oleObj name="BMP 图像" r:id="rId2" imgW="1809524" imgH="1867161" progId="Paint.Picture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" y="3060"/>
                          <a:ext cx="1140" cy="1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3" name="Object 2"/>
            <p:cNvGraphicFramePr>
              <a:graphicFrameLocks noChangeAspect="1"/>
            </p:cNvGraphicFramePr>
            <p:nvPr/>
          </p:nvGraphicFramePr>
          <p:xfrm>
            <a:off x="1493" y="2978"/>
            <a:ext cx="894" cy="9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像" r:id="rId4" imgW="1419048" imgH="1533739" progId="Paint.Picture">
                    <p:embed/>
                  </p:oleObj>
                </mc:Choice>
                <mc:Fallback>
                  <p:oleObj name="BMP 图像" r:id="rId4" imgW="1419048" imgH="1533739" progId="Paint.Picture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3" y="2978"/>
                          <a:ext cx="894" cy="9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4" name="AutoShape 37"/>
            <p:cNvSpPr>
              <a:spLocks noChangeArrowheads="1"/>
            </p:cNvSpPr>
            <p:nvPr/>
          </p:nvSpPr>
          <p:spPr bwMode="auto">
            <a:xfrm>
              <a:off x="980" y="2772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65" name="AutoShape 38"/>
            <p:cNvSpPr>
              <a:spLocks noChangeArrowheads="1"/>
            </p:cNvSpPr>
            <p:nvPr/>
          </p:nvSpPr>
          <p:spPr bwMode="auto">
            <a:xfrm>
              <a:off x="1837" y="2773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66" name="Oval 39"/>
            <p:cNvSpPr>
              <a:spLocks noChangeArrowheads="1"/>
            </p:cNvSpPr>
            <p:nvPr/>
          </p:nvSpPr>
          <p:spPr bwMode="auto">
            <a:xfrm>
              <a:off x="1428" y="3134"/>
              <a:ext cx="84" cy="75"/>
            </a:xfrm>
            <a:prstGeom prst="ellipse">
              <a:avLst/>
            </a:prstGeom>
            <a:solidFill>
              <a:schemeClr val="folHlink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67" name="Text Box 40"/>
            <p:cNvSpPr txBox="1">
              <a:spLocks noChangeArrowheads="1"/>
            </p:cNvSpPr>
            <p:nvPr/>
          </p:nvSpPr>
          <p:spPr bwMode="auto">
            <a:xfrm>
              <a:off x="290" y="3970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A</a:t>
              </a:r>
            </a:p>
          </p:txBody>
        </p:sp>
        <p:sp>
          <p:nvSpPr>
            <p:cNvPr id="43068" name="Text Box 41"/>
            <p:cNvSpPr txBox="1">
              <a:spLocks noChangeArrowheads="1"/>
            </p:cNvSpPr>
            <p:nvPr/>
          </p:nvSpPr>
          <p:spPr bwMode="auto">
            <a:xfrm>
              <a:off x="2146" y="3717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B</a:t>
              </a:r>
            </a:p>
          </p:txBody>
        </p:sp>
        <p:sp>
          <p:nvSpPr>
            <p:cNvPr id="43069" name="Text Box 42"/>
            <p:cNvSpPr txBox="1">
              <a:spLocks noChangeArrowheads="1"/>
            </p:cNvSpPr>
            <p:nvPr/>
          </p:nvSpPr>
          <p:spPr bwMode="auto">
            <a:xfrm>
              <a:off x="1339" y="3179"/>
              <a:ext cx="1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i="1"/>
                <a:t>C</a:t>
              </a:r>
            </a:p>
          </p:txBody>
        </p:sp>
        <p:sp>
          <p:nvSpPr>
            <p:cNvPr id="43070" name="Text Box 43"/>
            <p:cNvSpPr txBox="1">
              <a:spLocks noChangeArrowheads="1"/>
            </p:cNvSpPr>
            <p:nvPr/>
          </p:nvSpPr>
          <p:spPr bwMode="auto">
            <a:xfrm>
              <a:off x="1811" y="2707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baseline="-25000"/>
                <a:t>2</a:t>
              </a:r>
            </a:p>
          </p:txBody>
        </p:sp>
        <p:sp>
          <p:nvSpPr>
            <p:cNvPr id="43071" name="Text Box 44"/>
            <p:cNvSpPr txBox="1">
              <a:spLocks noChangeArrowheads="1"/>
            </p:cNvSpPr>
            <p:nvPr/>
          </p:nvSpPr>
          <p:spPr bwMode="auto">
            <a:xfrm>
              <a:off x="948" y="2708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baseline="-25000"/>
                <a:t>1</a:t>
              </a:r>
            </a:p>
          </p:txBody>
        </p:sp>
        <p:sp>
          <p:nvSpPr>
            <p:cNvPr id="43072" name="Oval 45"/>
            <p:cNvSpPr>
              <a:spLocks noChangeArrowheads="1"/>
            </p:cNvSpPr>
            <p:nvPr/>
          </p:nvSpPr>
          <p:spPr bwMode="auto">
            <a:xfrm>
              <a:off x="468" y="4070"/>
              <a:ext cx="84" cy="83"/>
            </a:xfrm>
            <a:prstGeom prst="ellipse">
              <a:avLst/>
            </a:prstGeom>
            <a:solidFill>
              <a:schemeClr val="folHlink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73" name="Oval 46"/>
            <p:cNvSpPr>
              <a:spLocks noChangeArrowheads="1"/>
            </p:cNvSpPr>
            <p:nvPr/>
          </p:nvSpPr>
          <p:spPr bwMode="auto">
            <a:xfrm>
              <a:off x="2101" y="3799"/>
              <a:ext cx="84" cy="83"/>
            </a:xfrm>
            <a:prstGeom prst="ellipse">
              <a:avLst/>
            </a:prstGeom>
            <a:solidFill>
              <a:schemeClr val="folHlink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937234" y="2667000"/>
            <a:ext cx="760412" cy="1066800"/>
            <a:chOff x="564" y="3381"/>
            <a:chExt cx="479" cy="672"/>
          </a:xfrm>
        </p:grpSpPr>
        <p:sp>
          <p:nvSpPr>
            <p:cNvPr id="43058" name="AutoShape 48"/>
            <p:cNvSpPr>
              <a:spLocks noChangeArrowheads="1"/>
            </p:cNvSpPr>
            <p:nvPr/>
          </p:nvSpPr>
          <p:spPr bwMode="auto">
            <a:xfrm rot="-5400000">
              <a:off x="781" y="3441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59" name="AutoShape 49"/>
            <p:cNvSpPr>
              <a:spLocks noChangeArrowheads="1"/>
            </p:cNvSpPr>
            <p:nvPr/>
          </p:nvSpPr>
          <p:spPr bwMode="auto">
            <a:xfrm rot="10800000">
              <a:off x="571" y="3639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60" name="Text Box 50"/>
            <p:cNvSpPr txBox="1">
              <a:spLocks noChangeArrowheads="1"/>
            </p:cNvSpPr>
            <p:nvPr/>
          </p:nvSpPr>
          <p:spPr bwMode="auto">
            <a:xfrm>
              <a:off x="564" y="3822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Ay</a:t>
              </a:r>
            </a:p>
          </p:txBody>
        </p:sp>
        <p:sp>
          <p:nvSpPr>
            <p:cNvPr id="43061" name="Text Box 51"/>
            <p:cNvSpPr txBox="1">
              <a:spLocks noChangeArrowheads="1"/>
            </p:cNvSpPr>
            <p:nvPr/>
          </p:nvSpPr>
          <p:spPr bwMode="auto">
            <a:xfrm>
              <a:off x="739" y="3381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Ax</a:t>
              </a:r>
            </a:p>
          </p:txBody>
        </p:sp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6697771" y="2236788"/>
            <a:ext cx="877888" cy="1054100"/>
            <a:chOff x="1673" y="3110"/>
            <a:chExt cx="553" cy="664"/>
          </a:xfrm>
        </p:grpSpPr>
        <p:sp>
          <p:nvSpPr>
            <p:cNvPr id="43054" name="AutoShape 53"/>
            <p:cNvSpPr>
              <a:spLocks noChangeArrowheads="1"/>
            </p:cNvSpPr>
            <p:nvPr/>
          </p:nvSpPr>
          <p:spPr bwMode="auto">
            <a:xfrm rot="-5400000">
              <a:off x="1955" y="3162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55" name="AutoShape 54"/>
            <p:cNvSpPr>
              <a:spLocks noChangeArrowheads="1"/>
            </p:cNvSpPr>
            <p:nvPr/>
          </p:nvSpPr>
          <p:spPr bwMode="auto">
            <a:xfrm rot="10800000">
              <a:off x="2177" y="3392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56" name="Text Box 55"/>
            <p:cNvSpPr txBox="1">
              <a:spLocks noChangeArrowheads="1"/>
            </p:cNvSpPr>
            <p:nvPr/>
          </p:nvSpPr>
          <p:spPr bwMode="auto">
            <a:xfrm>
              <a:off x="1906" y="3543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By</a:t>
              </a:r>
            </a:p>
          </p:txBody>
        </p:sp>
        <p:sp>
          <p:nvSpPr>
            <p:cNvPr id="43057" name="Text Box 56"/>
            <p:cNvSpPr txBox="1">
              <a:spLocks noChangeArrowheads="1"/>
            </p:cNvSpPr>
            <p:nvPr/>
          </p:nvSpPr>
          <p:spPr bwMode="auto">
            <a:xfrm>
              <a:off x="1673" y="3110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Bx</a:t>
              </a:r>
            </a:p>
          </p:txBody>
        </p:sp>
      </p:grpSp>
      <p:grpSp>
        <p:nvGrpSpPr>
          <p:cNvPr id="8" name="Group 57"/>
          <p:cNvGrpSpPr>
            <a:grpSpLocks/>
          </p:cNvGrpSpPr>
          <p:nvPr/>
        </p:nvGrpSpPr>
        <p:grpSpPr bwMode="auto">
          <a:xfrm>
            <a:off x="1958478" y="3583027"/>
            <a:ext cx="1970088" cy="2281237"/>
            <a:chOff x="2721" y="2524"/>
            <a:chExt cx="1241" cy="1437"/>
          </a:xfrm>
        </p:grpSpPr>
        <p:sp>
          <p:nvSpPr>
            <p:cNvPr id="43045" name="Text Box 58"/>
            <p:cNvSpPr txBox="1">
              <a:spLocks noChangeArrowheads="1"/>
            </p:cNvSpPr>
            <p:nvPr/>
          </p:nvSpPr>
          <p:spPr bwMode="auto">
            <a:xfrm>
              <a:off x="3420" y="2524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baseline="-25000"/>
                <a:t>1</a:t>
              </a:r>
            </a:p>
          </p:txBody>
        </p:sp>
        <p:grpSp>
          <p:nvGrpSpPr>
            <p:cNvPr id="43046" name="Group 59"/>
            <p:cNvGrpSpPr>
              <a:grpSpLocks/>
            </p:cNvGrpSpPr>
            <p:nvPr/>
          </p:nvGrpSpPr>
          <p:grpSpPr bwMode="auto">
            <a:xfrm>
              <a:off x="2721" y="2714"/>
              <a:ext cx="1241" cy="1247"/>
              <a:chOff x="2721" y="2714"/>
              <a:chExt cx="1241" cy="1247"/>
            </a:xfrm>
          </p:grpSpPr>
          <p:grpSp>
            <p:nvGrpSpPr>
              <p:cNvPr id="43048" name="Group 60"/>
              <p:cNvGrpSpPr>
                <a:grpSpLocks/>
              </p:cNvGrpSpPr>
              <p:nvPr/>
            </p:nvGrpSpPr>
            <p:grpSpPr bwMode="auto">
              <a:xfrm>
                <a:off x="2834" y="2861"/>
                <a:ext cx="1031" cy="1049"/>
                <a:chOff x="2834" y="2861"/>
                <a:chExt cx="1031" cy="1049"/>
              </a:xfrm>
            </p:grpSpPr>
            <p:pic>
              <p:nvPicPr>
                <p:cNvPr id="43051" name="Picture 61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4" y="2861"/>
                  <a:ext cx="1017" cy="10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052" name="Oval 62"/>
                <p:cNvSpPr>
                  <a:spLocks noChangeArrowheads="1"/>
                </p:cNvSpPr>
                <p:nvPr/>
              </p:nvSpPr>
              <p:spPr bwMode="auto">
                <a:xfrm>
                  <a:off x="2903" y="3824"/>
                  <a:ext cx="84" cy="83"/>
                </a:xfrm>
                <a:prstGeom prst="ellipse">
                  <a:avLst/>
                </a:prstGeom>
                <a:solidFill>
                  <a:schemeClr val="folHlink"/>
                </a:solidFill>
                <a:ln w="2857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3053" name="Oval 63"/>
                <p:cNvSpPr>
                  <a:spLocks noChangeArrowheads="1"/>
                </p:cNvSpPr>
                <p:nvPr/>
              </p:nvSpPr>
              <p:spPr bwMode="auto">
                <a:xfrm>
                  <a:off x="3781" y="2912"/>
                  <a:ext cx="84" cy="83"/>
                </a:xfrm>
                <a:prstGeom prst="ellipse">
                  <a:avLst/>
                </a:prstGeom>
                <a:solidFill>
                  <a:schemeClr val="folHlink"/>
                </a:solidFill>
                <a:ln w="2857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3049" name="Text Box 64"/>
              <p:cNvSpPr txBox="1">
                <a:spLocks noChangeArrowheads="1"/>
              </p:cNvSpPr>
              <p:nvPr/>
            </p:nvSpPr>
            <p:spPr bwMode="auto">
              <a:xfrm>
                <a:off x="2721" y="3730"/>
                <a:ext cx="1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1" dirty="0"/>
                  <a:t>A</a:t>
                </a:r>
              </a:p>
            </p:txBody>
          </p:sp>
          <p:sp>
            <p:nvSpPr>
              <p:cNvPr id="43050" name="Text Box 65"/>
              <p:cNvSpPr txBox="1">
                <a:spLocks noChangeArrowheads="1"/>
              </p:cNvSpPr>
              <p:nvPr/>
            </p:nvSpPr>
            <p:spPr bwMode="auto">
              <a:xfrm>
                <a:off x="3778" y="2714"/>
                <a:ext cx="1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1"/>
                  <a:t>C</a:t>
                </a:r>
              </a:p>
            </p:txBody>
          </p:sp>
        </p:grpSp>
        <p:sp>
          <p:nvSpPr>
            <p:cNvPr id="43047" name="AutoShape 66"/>
            <p:cNvSpPr>
              <a:spLocks noChangeArrowheads="1"/>
            </p:cNvSpPr>
            <p:nvPr/>
          </p:nvSpPr>
          <p:spPr bwMode="auto">
            <a:xfrm>
              <a:off x="3452" y="2580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1" name="Group 67"/>
          <p:cNvGrpSpPr>
            <a:grpSpLocks/>
          </p:cNvGrpSpPr>
          <p:nvPr/>
        </p:nvGrpSpPr>
        <p:grpSpPr bwMode="auto">
          <a:xfrm>
            <a:off x="5366713" y="3624264"/>
            <a:ext cx="1549400" cy="1976437"/>
            <a:chOff x="4531" y="2547"/>
            <a:chExt cx="976" cy="1245"/>
          </a:xfrm>
        </p:grpSpPr>
        <p:sp>
          <p:nvSpPr>
            <p:cNvPr id="43037" name="Text Box 68"/>
            <p:cNvSpPr txBox="1">
              <a:spLocks noChangeArrowheads="1"/>
            </p:cNvSpPr>
            <p:nvPr/>
          </p:nvSpPr>
          <p:spPr bwMode="auto">
            <a:xfrm>
              <a:off x="4971" y="2547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baseline="-25000"/>
                <a:t>2</a:t>
              </a:r>
            </a:p>
          </p:txBody>
        </p:sp>
        <p:grpSp>
          <p:nvGrpSpPr>
            <p:cNvPr id="43038" name="Group 69"/>
            <p:cNvGrpSpPr>
              <a:grpSpLocks/>
            </p:cNvGrpSpPr>
            <p:nvPr/>
          </p:nvGrpSpPr>
          <p:grpSpPr bwMode="auto">
            <a:xfrm>
              <a:off x="4531" y="2747"/>
              <a:ext cx="976" cy="1045"/>
              <a:chOff x="4787" y="2739"/>
              <a:chExt cx="976" cy="1045"/>
            </a:xfrm>
          </p:grpSpPr>
          <p:graphicFrame>
            <p:nvGraphicFramePr>
              <p:cNvPr id="43040" name="Object 0"/>
              <p:cNvGraphicFramePr>
                <a:graphicFrameLocks noChangeAspect="1"/>
              </p:cNvGraphicFramePr>
              <p:nvPr/>
            </p:nvGraphicFramePr>
            <p:xfrm>
              <a:off x="4869" y="2797"/>
              <a:ext cx="894" cy="9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像" r:id="rId4" imgW="1419048" imgH="1533739" progId="Paint.Picture">
                      <p:embed/>
                    </p:oleObj>
                  </mc:Choice>
                  <mc:Fallback>
                    <p:oleObj name="BMP 图像" r:id="rId4" imgW="1419048" imgH="1533739" progId="Paint.Picture">
                      <p:embed/>
                      <p:pic>
                        <p:nvPicPr>
                          <p:cNvPr id="0" name="Object 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9" y="2797"/>
                            <a:ext cx="894" cy="9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6699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1" name="Oval 71"/>
              <p:cNvSpPr>
                <a:spLocks noChangeArrowheads="1"/>
              </p:cNvSpPr>
              <p:nvPr/>
            </p:nvSpPr>
            <p:spPr bwMode="auto">
              <a:xfrm>
                <a:off x="5483" y="3645"/>
                <a:ext cx="84" cy="83"/>
              </a:xfrm>
              <a:prstGeom prst="ellipse">
                <a:avLst/>
              </a:prstGeom>
              <a:solidFill>
                <a:schemeClr val="folHlink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42" name="Text Box 72"/>
              <p:cNvSpPr txBox="1">
                <a:spLocks noChangeArrowheads="1"/>
              </p:cNvSpPr>
              <p:nvPr/>
            </p:nvSpPr>
            <p:spPr bwMode="auto">
              <a:xfrm>
                <a:off x="5537" y="3553"/>
                <a:ext cx="1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1"/>
                  <a:t>B</a:t>
                </a:r>
              </a:p>
            </p:txBody>
          </p:sp>
          <p:sp>
            <p:nvSpPr>
              <p:cNvPr id="43043" name="Oval 73"/>
              <p:cNvSpPr>
                <a:spLocks noChangeArrowheads="1"/>
              </p:cNvSpPr>
              <p:nvPr/>
            </p:nvSpPr>
            <p:spPr bwMode="auto">
              <a:xfrm>
                <a:off x="4854" y="2944"/>
                <a:ext cx="84" cy="83"/>
              </a:xfrm>
              <a:prstGeom prst="ellipse">
                <a:avLst/>
              </a:prstGeom>
              <a:solidFill>
                <a:schemeClr val="folHlink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44" name="Text Box 74"/>
              <p:cNvSpPr txBox="1">
                <a:spLocks noChangeArrowheads="1"/>
              </p:cNvSpPr>
              <p:nvPr/>
            </p:nvSpPr>
            <p:spPr bwMode="auto">
              <a:xfrm>
                <a:off x="4787" y="2739"/>
                <a:ext cx="1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1"/>
                  <a:t>C</a:t>
                </a:r>
              </a:p>
            </p:txBody>
          </p:sp>
        </p:grpSp>
        <p:sp>
          <p:nvSpPr>
            <p:cNvPr id="43039" name="AutoShape 75"/>
            <p:cNvSpPr>
              <a:spLocks noChangeArrowheads="1"/>
            </p:cNvSpPr>
            <p:nvPr/>
          </p:nvSpPr>
          <p:spPr bwMode="auto">
            <a:xfrm>
              <a:off x="4981" y="2589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" name="Group 76"/>
          <p:cNvGrpSpPr>
            <a:grpSpLocks/>
          </p:cNvGrpSpPr>
          <p:nvPr/>
        </p:nvGrpSpPr>
        <p:grpSpPr bwMode="auto">
          <a:xfrm>
            <a:off x="2274242" y="5380039"/>
            <a:ext cx="760412" cy="1066800"/>
            <a:chOff x="564" y="3381"/>
            <a:chExt cx="479" cy="672"/>
          </a:xfrm>
        </p:grpSpPr>
        <p:sp>
          <p:nvSpPr>
            <p:cNvPr id="43033" name="AutoShape 77"/>
            <p:cNvSpPr>
              <a:spLocks noChangeArrowheads="1"/>
            </p:cNvSpPr>
            <p:nvPr/>
          </p:nvSpPr>
          <p:spPr bwMode="auto">
            <a:xfrm rot="-5400000">
              <a:off x="781" y="3441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34" name="AutoShape 78"/>
            <p:cNvSpPr>
              <a:spLocks noChangeArrowheads="1"/>
            </p:cNvSpPr>
            <p:nvPr/>
          </p:nvSpPr>
          <p:spPr bwMode="auto">
            <a:xfrm rot="10800000">
              <a:off x="571" y="3639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35" name="Text Box 79"/>
            <p:cNvSpPr txBox="1">
              <a:spLocks noChangeArrowheads="1"/>
            </p:cNvSpPr>
            <p:nvPr/>
          </p:nvSpPr>
          <p:spPr bwMode="auto">
            <a:xfrm>
              <a:off x="564" y="3822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Ay</a:t>
              </a:r>
            </a:p>
          </p:txBody>
        </p:sp>
        <p:sp>
          <p:nvSpPr>
            <p:cNvPr id="43036" name="Text Box 80"/>
            <p:cNvSpPr txBox="1">
              <a:spLocks noChangeArrowheads="1"/>
            </p:cNvSpPr>
            <p:nvPr/>
          </p:nvSpPr>
          <p:spPr bwMode="auto">
            <a:xfrm>
              <a:off x="739" y="3381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Ax</a:t>
              </a:r>
            </a:p>
          </p:txBody>
        </p:sp>
      </p:grpSp>
      <p:grpSp>
        <p:nvGrpSpPr>
          <p:cNvPr id="14" name="Group 81"/>
          <p:cNvGrpSpPr>
            <a:grpSpLocks/>
          </p:cNvGrpSpPr>
          <p:nvPr/>
        </p:nvGrpSpPr>
        <p:grpSpPr bwMode="auto">
          <a:xfrm>
            <a:off x="5701676" y="5135564"/>
            <a:ext cx="877887" cy="1054100"/>
            <a:chOff x="1673" y="3110"/>
            <a:chExt cx="553" cy="664"/>
          </a:xfrm>
        </p:grpSpPr>
        <p:sp>
          <p:nvSpPr>
            <p:cNvPr id="43029" name="AutoShape 82"/>
            <p:cNvSpPr>
              <a:spLocks noChangeArrowheads="1"/>
            </p:cNvSpPr>
            <p:nvPr/>
          </p:nvSpPr>
          <p:spPr bwMode="auto">
            <a:xfrm rot="-5400000">
              <a:off x="1955" y="3162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30" name="AutoShape 83"/>
            <p:cNvSpPr>
              <a:spLocks noChangeArrowheads="1"/>
            </p:cNvSpPr>
            <p:nvPr/>
          </p:nvSpPr>
          <p:spPr bwMode="auto">
            <a:xfrm rot="10800000">
              <a:off x="2177" y="3369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31" name="Text Box 84"/>
            <p:cNvSpPr txBox="1">
              <a:spLocks noChangeArrowheads="1"/>
            </p:cNvSpPr>
            <p:nvPr/>
          </p:nvSpPr>
          <p:spPr bwMode="auto">
            <a:xfrm>
              <a:off x="1906" y="3543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By</a:t>
              </a:r>
            </a:p>
          </p:txBody>
        </p:sp>
        <p:sp>
          <p:nvSpPr>
            <p:cNvPr id="43032" name="Text Box 85"/>
            <p:cNvSpPr txBox="1">
              <a:spLocks noChangeArrowheads="1"/>
            </p:cNvSpPr>
            <p:nvPr/>
          </p:nvSpPr>
          <p:spPr bwMode="auto">
            <a:xfrm>
              <a:off x="1673" y="3110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Bx</a:t>
              </a:r>
            </a:p>
          </p:txBody>
        </p:sp>
      </p:grpSp>
      <p:grpSp>
        <p:nvGrpSpPr>
          <p:cNvPr id="15" name="Group 86"/>
          <p:cNvGrpSpPr>
            <a:grpSpLocks/>
          </p:cNvGrpSpPr>
          <p:nvPr/>
        </p:nvGrpSpPr>
        <p:grpSpPr bwMode="auto">
          <a:xfrm>
            <a:off x="4876176" y="3894139"/>
            <a:ext cx="762000" cy="1071562"/>
            <a:chOff x="4474" y="2361"/>
            <a:chExt cx="480" cy="675"/>
          </a:xfrm>
        </p:grpSpPr>
        <p:sp>
          <p:nvSpPr>
            <p:cNvPr id="43025" name="AutoShape 87"/>
            <p:cNvSpPr>
              <a:spLocks noChangeArrowheads="1"/>
            </p:cNvSpPr>
            <p:nvPr/>
          </p:nvSpPr>
          <p:spPr bwMode="auto">
            <a:xfrm rot="5400000">
              <a:off x="4638" y="2470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26" name="Text Box 88"/>
            <p:cNvSpPr txBox="1">
              <a:spLocks noChangeArrowheads="1"/>
            </p:cNvSpPr>
            <p:nvPr/>
          </p:nvSpPr>
          <p:spPr bwMode="auto">
            <a:xfrm>
              <a:off x="4514" y="2696"/>
              <a:ext cx="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800" b="1" i="1">
                  <a:sym typeface="Symbol" panose="05050102010706020507" pitchFamily="18" charset="2"/>
                </a:rPr>
                <a:t></a:t>
              </a:r>
              <a:r>
                <a:rPr lang="en-US" altLang="zh-CN" sz="1400" i="1" baseline="-25000"/>
                <a:t>Cy</a:t>
              </a:r>
            </a:p>
          </p:txBody>
        </p:sp>
        <p:sp>
          <p:nvSpPr>
            <p:cNvPr id="43027" name="AutoShape 89"/>
            <p:cNvSpPr>
              <a:spLocks noChangeArrowheads="1"/>
            </p:cNvSpPr>
            <p:nvPr/>
          </p:nvSpPr>
          <p:spPr bwMode="auto">
            <a:xfrm>
              <a:off x="4880" y="2680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28" name="Text Box 90"/>
            <p:cNvSpPr txBox="1">
              <a:spLocks noChangeArrowheads="1"/>
            </p:cNvSpPr>
            <p:nvPr/>
          </p:nvSpPr>
          <p:spPr bwMode="auto">
            <a:xfrm>
              <a:off x="4483" y="2361"/>
              <a:ext cx="3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800" b="1" i="1">
                  <a:sym typeface="Symbol" panose="05050102010706020507" pitchFamily="18" charset="2"/>
                </a:rPr>
                <a:t></a:t>
              </a:r>
              <a:r>
                <a:rPr lang="en-US" altLang="zh-CN" sz="1400" i="1" baseline="-25000"/>
                <a:t>Cx</a:t>
              </a:r>
            </a:p>
          </p:txBody>
        </p:sp>
      </p:grpSp>
      <p:grpSp>
        <p:nvGrpSpPr>
          <p:cNvPr id="16" name="Group 91"/>
          <p:cNvGrpSpPr>
            <a:grpSpLocks/>
          </p:cNvGrpSpPr>
          <p:nvPr/>
        </p:nvGrpSpPr>
        <p:grpSpPr bwMode="auto">
          <a:xfrm>
            <a:off x="3691107" y="3893485"/>
            <a:ext cx="760413" cy="1066800"/>
            <a:chOff x="3947" y="2423"/>
            <a:chExt cx="479" cy="672"/>
          </a:xfrm>
        </p:grpSpPr>
        <p:sp>
          <p:nvSpPr>
            <p:cNvPr id="43021" name="Text Box 92"/>
            <p:cNvSpPr txBox="1">
              <a:spLocks noChangeArrowheads="1"/>
            </p:cNvSpPr>
            <p:nvPr/>
          </p:nvSpPr>
          <p:spPr bwMode="auto">
            <a:xfrm>
              <a:off x="3947" y="2864"/>
              <a:ext cx="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Cy</a:t>
              </a:r>
            </a:p>
          </p:txBody>
        </p:sp>
        <p:sp>
          <p:nvSpPr>
            <p:cNvPr id="43022" name="Text Box 93"/>
            <p:cNvSpPr txBox="1">
              <a:spLocks noChangeArrowheads="1"/>
            </p:cNvSpPr>
            <p:nvPr/>
          </p:nvSpPr>
          <p:spPr bwMode="auto">
            <a:xfrm>
              <a:off x="4122" y="2423"/>
              <a:ext cx="3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1"/>
                <a:t>F</a:t>
              </a:r>
              <a:r>
                <a:rPr lang="en-US" altLang="zh-CN" sz="1400" i="1" baseline="-25000"/>
                <a:t>Cx</a:t>
              </a:r>
            </a:p>
          </p:txBody>
        </p:sp>
        <p:sp>
          <p:nvSpPr>
            <p:cNvPr id="43023" name="AutoShape 94"/>
            <p:cNvSpPr>
              <a:spLocks noChangeArrowheads="1"/>
            </p:cNvSpPr>
            <p:nvPr/>
          </p:nvSpPr>
          <p:spPr bwMode="auto">
            <a:xfrm rot="-5400000">
              <a:off x="4164" y="2483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24" name="AutoShape 95"/>
            <p:cNvSpPr>
              <a:spLocks noChangeArrowheads="1"/>
            </p:cNvSpPr>
            <p:nvPr/>
          </p:nvSpPr>
          <p:spPr bwMode="auto">
            <a:xfrm rot="10800000">
              <a:off x="3954" y="2681"/>
              <a:ext cx="27" cy="356"/>
            </a:xfrm>
            <a:prstGeom prst="downArrow">
              <a:avLst>
                <a:gd name="adj1" fmla="val 50000"/>
                <a:gd name="adj2" fmla="val 32963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501650" y="371475"/>
            <a:ext cx="4984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分析图示机构中各构件的受力</a:t>
            </a:r>
          </a:p>
        </p:txBody>
      </p:sp>
      <p:pic>
        <p:nvPicPr>
          <p:cNvPr id="45154" name="Picture 98" descr="tu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420" y="701441"/>
            <a:ext cx="2896783" cy="2438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155" name="Picture 99" descr="tu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810" y="1378470"/>
            <a:ext cx="785813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156" name="Picture 100" descr="tu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835" y="4927056"/>
            <a:ext cx="33718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157" name="Picture 101" descr="tu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928" y="3592763"/>
            <a:ext cx="2962275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42"/>
          <p:cNvGrpSpPr>
            <a:grpSpLocks/>
          </p:cNvGrpSpPr>
          <p:nvPr/>
        </p:nvGrpSpPr>
        <p:grpSpPr bwMode="auto">
          <a:xfrm>
            <a:off x="2267186" y="3321572"/>
            <a:ext cx="1252538" cy="915988"/>
            <a:chOff x="2162" y="2142"/>
            <a:chExt cx="789" cy="577"/>
          </a:xfrm>
        </p:grpSpPr>
        <p:grpSp>
          <p:nvGrpSpPr>
            <p:cNvPr id="44076" name="Group 118"/>
            <p:cNvGrpSpPr>
              <a:grpSpLocks noChangeAspect="1"/>
            </p:cNvGrpSpPr>
            <p:nvPr/>
          </p:nvGrpSpPr>
          <p:grpSpPr bwMode="auto">
            <a:xfrm>
              <a:off x="2178" y="2286"/>
              <a:ext cx="317" cy="321"/>
              <a:chOff x="2178" y="1920"/>
              <a:chExt cx="531" cy="537"/>
            </a:xfrm>
          </p:grpSpPr>
          <p:sp>
            <p:nvSpPr>
              <p:cNvPr id="44079" name="Line 119"/>
              <p:cNvSpPr>
                <a:spLocks noChangeAspect="1" noChangeShapeType="1"/>
              </p:cNvSpPr>
              <p:nvPr/>
            </p:nvSpPr>
            <p:spPr bwMode="auto">
              <a:xfrm>
                <a:off x="2181" y="2457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0" name="Line 120"/>
              <p:cNvSpPr>
                <a:spLocks noChangeAspect="1" noChangeShapeType="1"/>
              </p:cNvSpPr>
              <p:nvPr/>
            </p:nvSpPr>
            <p:spPr bwMode="auto">
              <a:xfrm rot="-5400000">
                <a:off x="1914" y="2184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77" name="Text Box 136"/>
            <p:cNvSpPr txBox="1">
              <a:spLocks noChangeArrowheads="1"/>
            </p:cNvSpPr>
            <p:nvPr/>
          </p:nvSpPr>
          <p:spPr bwMode="auto">
            <a:xfrm>
              <a:off x="2423" y="2431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Ox</a:t>
              </a:r>
              <a:endParaRPr lang="en-US" altLang="zh-CN" i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44078" name="Text Box 137"/>
            <p:cNvSpPr txBox="1">
              <a:spLocks noChangeArrowheads="1"/>
            </p:cNvSpPr>
            <p:nvPr/>
          </p:nvSpPr>
          <p:spPr bwMode="auto">
            <a:xfrm>
              <a:off x="2162" y="214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Oy</a:t>
              </a:r>
              <a:endParaRPr lang="en-US" altLang="zh-CN" i="1" baseline="-25000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4" name="Group 143"/>
          <p:cNvGrpSpPr>
            <a:grpSpLocks/>
          </p:cNvGrpSpPr>
          <p:nvPr/>
        </p:nvGrpSpPr>
        <p:grpSpPr bwMode="auto">
          <a:xfrm>
            <a:off x="2187811" y="2029346"/>
            <a:ext cx="1328738" cy="971551"/>
            <a:chOff x="2112" y="1328"/>
            <a:chExt cx="837" cy="612"/>
          </a:xfrm>
        </p:grpSpPr>
        <p:grpSp>
          <p:nvGrpSpPr>
            <p:cNvPr id="44071" name="Group 115"/>
            <p:cNvGrpSpPr>
              <a:grpSpLocks noChangeAspect="1"/>
            </p:cNvGrpSpPr>
            <p:nvPr/>
          </p:nvGrpSpPr>
          <p:grpSpPr bwMode="auto">
            <a:xfrm>
              <a:off x="2178" y="1497"/>
              <a:ext cx="317" cy="321"/>
              <a:chOff x="2178" y="1920"/>
              <a:chExt cx="531" cy="537"/>
            </a:xfrm>
          </p:grpSpPr>
          <p:sp>
            <p:nvSpPr>
              <p:cNvPr id="44074" name="Line 116"/>
              <p:cNvSpPr>
                <a:spLocks noChangeAspect="1" noChangeShapeType="1"/>
              </p:cNvSpPr>
              <p:nvPr/>
            </p:nvSpPr>
            <p:spPr bwMode="auto">
              <a:xfrm>
                <a:off x="2181" y="2457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5" name="Line 117"/>
              <p:cNvSpPr>
                <a:spLocks noChangeAspect="1" noChangeShapeType="1"/>
              </p:cNvSpPr>
              <p:nvPr/>
            </p:nvSpPr>
            <p:spPr bwMode="auto">
              <a:xfrm rot="-5400000">
                <a:off x="1914" y="2184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72" name="Text Box 138"/>
            <p:cNvSpPr txBox="1">
              <a:spLocks noChangeArrowheads="1"/>
            </p:cNvSpPr>
            <p:nvPr/>
          </p:nvSpPr>
          <p:spPr bwMode="auto">
            <a:xfrm>
              <a:off x="2421" y="165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Cx</a:t>
              </a:r>
              <a:endParaRPr lang="en-US" altLang="zh-CN" i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44073" name="Text Box 140"/>
            <p:cNvSpPr txBox="1">
              <a:spLocks noChangeArrowheads="1"/>
            </p:cNvSpPr>
            <p:nvPr/>
          </p:nvSpPr>
          <p:spPr bwMode="auto">
            <a:xfrm>
              <a:off x="2112" y="132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>
                  <a:solidFill>
                    <a:srgbClr val="0033CC"/>
                  </a:solidFill>
                </a:rPr>
                <a:t>Cy</a:t>
              </a:r>
            </a:p>
          </p:txBody>
        </p:sp>
      </p:grpSp>
      <p:grpSp>
        <p:nvGrpSpPr>
          <p:cNvPr id="6" name="Group 144"/>
          <p:cNvGrpSpPr>
            <a:grpSpLocks/>
          </p:cNvGrpSpPr>
          <p:nvPr/>
        </p:nvGrpSpPr>
        <p:grpSpPr bwMode="auto">
          <a:xfrm>
            <a:off x="2173525" y="932383"/>
            <a:ext cx="1289051" cy="846138"/>
            <a:chOff x="2103" y="637"/>
            <a:chExt cx="812" cy="533"/>
          </a:xfrm>
        </p:grpSpPr>
        <p:grpSp>
          <p:nvGrpSpPr>
            <p:cNvPr id="44066" name="Group 112"/>
            <p:cNvGrpSpPr>
              <a:grpSpLocks noChangeAspect="1"/>
            </p:cNvGrpSpPr>
            <p:nvPr/>
          </p:nvGrpSpPr>
          <p:grpSpPr bwMode="auto">
            <a:xfrm>
              <a:off x="2160" y="720"/>
              <a:ext cx="317" cy="321"/>
              <a:chOff x="2178" y="1920"/>
              <a:chExt cx="531" cy="537"/>
            </a:xfrm>
          </p:grpSpPr>
          <p:sp>
            <p:nvSpPr>
              <p:cNvPr id="44069" name="Line 113"/>
              <p:cNvSpPr>
                <a:spLocks noChangeAspect="1" noChangeShapeType="1"/>
              </p:cNvSpPr>
              <p:nvPr/>
            </p:nvSpPr>
            <p:spPr bwMode="auto">
              <a:xfrm>
                <a:off x="2181" y="2457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0" name="Line 114"/>
              <p:cNvSpPr>
                <a:spLocks noChangeAspect="1" noChangeShapeType="1"/>
              </p:cNvSpPr>
              <p:nvPr/>
            </p:nvSpPr>
            <p:spPr bwMode="auto">
              <a:xfrm rot="-5400000">
                <a:off x="1914" y="2184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67" name="Text Box 139"/>
            <p:cNvSpPr txBox="1">
              <a:spLocks noChangeArrowheads="1"/>
            </p:cNvSpPr>
            <p:nvPr/>
          </p:nvSpPr>
          <p:spPr bwMode="auto">
            <a:xfrm>
              <a:off x="2387" y="88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Ax</a:t>
              </a:r>
              <a:endParaRPr lang="en-US" altLang="zh-CN" i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44068" name="Text Box 141"/>
            <p:cNvSpPr txBox="1">
              <a:spLocks noChangeArrowheads="1"/>
            </p:cNvSpPr>
            <p:nvPr/>
          </p:nvSpPr>
          <p:spPr bwMode="auto">
            <a:xfrm>
              <a:off x="2103" y="637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Ay</a:t>
              </a:r>
              <a:endParaRPr lang="en-US" altLang="zh-CN" i="1" baseline="-25000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8" name="Group 152"/>
          <p:cNvGrpSpPr>
            <a:grpSpLocks/>
          </p:cNvGrpSpPr>
          <p:nvPr/>
        </p:nvGrpSpPr>
        <p:grpSpPr bwMode="auto">
          <a:xfrm>
            <a:off x="4007085" y="4377781"/>
            <a:ext cx="838200" cy="809625"/>
            <a:chOff x="3072" y="2784"/>
            <a:chExt cx="528" cy="510"/>
          </a:xfrm>
        </p:grpSpPr>
        <p:sp>
          <p:nvSpPr>
            <p:cNvPr id="44064" name="Line 135"/>
            <p:cNvSpPr>
              <a:spLocks noChangeShapeType="1"/>
            </p:cNvSpPr>
            <p:nvPr/>
          </p:nvSpPr>
          <p:spPr bwMode="auto">
            <a:xfrm>
              <a:off x="3216" y="2814"/>
              <a:ext cx="0" cy="480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Text Box 145"/>
            <p:cNvSpPr txBox="1">
              <a:spLocks noChangeArrowheads="1"/>
            </p:cNvSpPr>
            <p:nvPr/>
          </p:nvSpPr>
          <p:spPr bwMode="auto">
            <a:xfrm>
              <a:off x="3072" y="278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/>
                <a:t>F</a:t>
              </a:r>
              <a:endParaRPr lang="en-US" altLang="zh-CN" i="1" baseline="-25000"/>
            </a:p>
          </p:txBody>
        </p:sp>
      </p:grpSp>
      <p:grpSp>
        <p:nvGrpSpPr>
          <p:cNvPr id="9" name="Group 153"/>
          <p:cNvGrpSpPr>
            <a:grpSpLocks/>
          </p:cNvGrpSpPr>
          <p:nvPr/>
        </p:nvGrpSpPr>
        <p:grpSpPr bwMode="auto">
          <a:xfrm>
            <a:off x="2635485" y="4453981"/>
            <a:ext cx="838200" cy="871538"/>
            <a:chOff x="2208" y="2832"/>
            <a:chExt cx="528" cy="549"/>
          </a:xfrm>
        </p:grpSpPr>
        <p:sp>
          <p:nvSpPr>
            <p:cNvPr id="44062" name="Line 132"/>
            <p:cNvSpPr>
              <a:spLocks noChangeShapeType="1"/>
            </p:cNvSpPr>
            <p:nvPr/>
          </p:nvSpPr>
          <p:spPr bwMode="auto">
            <a:xfrm flipV="1">
              <a:off x="2313" y="3093"/>
              <a:ext cx="288" cy="28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3" name="Text Box 146"/>
            <p:cNvSpPr txBox="1">
              <a:spLocks noChangeArrowheads="1"/>
            </p:cNvSpPr>
            <p:nvPr/>
          </p:nvSpPr>
          <p:spPr bwMode="auto">
            <a:xfrm>
              <a:off x="2208" y="283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>
                  <a:solidFill>
                    <a:srgbClr val="0033CC"/>
                  </a:solidFill>
                </a:rPr>
                <a:t>E</a:t>
              </a:r>
            </a:p>
          </p:txBody>
        </p:sp>
      </p:grpSp>
      <p:grpSp>
        <p:nvGrpSpPr>
          <p:cNvPr id="10" name="Group 151"/>
          <p:cNvGrpSpPr>
            <a:grpSpLocks/>
          </p:cNvGrpSpPr>
          <p:nvPr/>
        </p:nvGrpSpPr>
        <p:grpSpPr bwMode="auto">
          <a:xfrm>
            <a:off x="892410" y="4796883"/>
            <a:ext cx="947738" cy="1109663"/>
            <a:chOff x="1110" y="3048"/>
            <a:chExt cx="597" cy="699"/>
          </a:xfrm>
        </p:grpSpPr>
        <p:grpSp>
          <p:nvGrpSpPr>
            <p:cNvPr id="44057" name="Group 127"/>
            <p:cNvGrpSpPr>
              <a:grpSpLocks noChangeAspect="1"/>
            </p:cNvGrpSpPr>
            <p:nvPr/>
          </p:nvGrpSpPr>
          <p:grpSpPr bwMode="auto">
            <a:xfrm rot="10800000">
              <a:off x="1305" y="3405"/>
              <a:ext cx="317" cy="321"/>
              <a:chOff x="2178" y="1920"/>
              <a:chExt cx="531" cy="537"/>
            </a:xfrm>
          </p:grpSpPr>
          <p:sp>
            <p:nvSpPr>
              <p:cNvPr id="44060" name="Line 128"/>
              <p:cNvSpPr>
                <a:spLocks noChangeAspect="1" noChangeShapeType="1"/>
              </p:cNvSpPr>
              <p:nvPr/>
            </p:nvSpPr>
            <p:spPr bwMode="auto">
              <a:xfrm>
                <a:off x="2181" y="2457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1" name="Line 129"/>
              <p:cNvSpPr>
                <a:spLocks noChangeAspect="1" noChangeShapeType="1"/>
              </p:cNvSpPr>
              <p:nvPr/>
            </p:nvSpPr>
            <p:spPr bwMode="auto">
              <a:xfrm rot="-5400000">
                <a:off x="1914" y="2184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58" name="Text Box 147"/>
            <p:cNvSpPr txBox="1">
              <a:spLocks noChangeArrowheads="1"/>
            </p:cNvSpPr>
            <p:nvPr/>
          </p:nvSpPr>
          <p:spPr bwMode="auto">
            <a:xfrm>
              <a:off x="1110" y="3048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b="1" i="1" dirty="0" err="1">
                  <a:solidFill>
                    <a:srgbClr val="0033CC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Cx</a:t>
              </a:r>
              <a:endParaRPr lang="en-US" altLang="zh-CN" i="1" baseline="30000" dirty="0">
                <a:solidFill>
                  <a:srgbClr val="0033CC"/>
                </a:solidFill>
              </a:endParaRPr>
            </a:p>
          </p:txBody>
        </p:sp>
        <p:sp>
          <p:nvSpPr>
            <p:cNvPr id="44059" name="Text Box 148"/>
            <p:cNvSpPr txBox="1">
              <a:spLocks noChangeArrowheads="1"/>
            </p:cNvSpPr>
            <p:nvPr/>
          </p:nvSpPr>
          <p:spPr bwMode="auto">
            <a:xfrm>
              <a:off x="1179" y="3456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b="1" i="1" dirty="0" err="1">
                  <a:solidFill>
                    <a:srgbClr val="0033CC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Cy</a:t>
              </a:r>
              <a:endParaRPr lang="en-US" altLang="zh-CN" i="1" baseline="30000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12" name="Group 154"/>
          <p:cNvGrpSpPr>
            <a:grpSpLocks/>
          </p:cNvGrpSpPr>
          <p:nvPr/>
        </p:nvGrpSpPr>
        <p:grpSpPr bwMode="auto">
          <a:xfrm>
            <a:off x="5012703" y="3275265"/>
            <a:ext cx="849313" cy="1087438"/>
            <a:chOff x="3509" y="2240"/>
            <a:chExt cx="535" cy="685"/>
          </a:xfrm>
        </p:grpSpPr>
        <p:grpSp>
          <p:nvGrpSpPr>
            <p:cNvPr id="44052" name="Group 124"/>
            <p:cNvGrpSpPr>
              <a:grpSpLocks noChangeAspect="1"/>
            </p:cNvGrpSpPr>
            <p:nvPr/>
          </p:nvGrpSpPr>
          <p:grpSpPr bwMode="auto">
            <a:xfrm rot="10800000">
              <a:off x="3648" y="2592"/>
              <a:ext cx="317" cy="321"/>
              <a:chOff x="2178" y="1920"/>
              <a:chExt cx="531" cy="537"/>
            </a:xfrm>
          </p:grpSpPr>
          <p:sp>
            <p:nvSpPr>
              <p:cNvPr id="44055" name="Line 125"/>
              <p:cNvSpPr>
                <a:spLocks noChangeAspect="1" noChangeShapeType="1"/>
              </p:cNvSpPr>
              <p:nvPr/>
            </p:nvSpPr>
            <p:spPr bwMode="auto">
              <a:xfrm>
                <a:off x="2181" y="2457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6" name="Line 126"/>
              <p:cNvSpPr>
                <a:spLocks noChangeAspect="1" noChangeShapeType="1"/>
              </p:cNvSpPr>
              <p:nvPr/>
            </p:nvSpPr>
            <p:spPr bwMode="auto">
              <a:xfrm rot="-5400000">
                <a:off x="1914" y="2184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53" name="Text Box 149"/>
            <p:cNvSpPr txBox="1">
              <a:spLocks noChangeArrowheads="1"/>
            </p:cNvSpPr>
            <p:nvPr/>
          </p:nvSpPr>
          <p:spPr bwMode="auto">
            <a:xfrm>
              <a:off x="3509" y="2240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b="1" i="1" dirty="0" err="1">
                  <a:solidFill>
                    <a:srgbClr val="0033CC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Ax</a:t>
              </a:r>
              <a:endParaRPr lang="en-US" altLang="zh-CN" i="1" baseline="30000" dirty="0">
                <a:solidFill>
                  <a:srgbClr val="0033CC"/>
                </a:solidFill>
              </a:endParaRPr>
            </a:p>
          </p:txBody>
        </p:sp>
        <p:sp>
          <p:nvSpPr>
            <p:cNvPr id="44054" name="Text Box 150"/>
            <p:cNvSpPr txBox="1">
              <a:spLocks noChangeArrowheads="1"/>
            </p:cNvSpPr>
            <p:nvPr/>
          </p:nvSpPr>
          <p:spPr bwMode="auto">
            <a:xfrm>
              <a:off x="3516" y="2634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 err="1">
                  <a:solidFill>
                    <a:srgbClr val="0033CC"/>
                  </a:solidFill>
                </a:rPr>
                <a:t>F</a:t>
              </a:r>
              <a:r>
                <a:rPr lang="en-US" altLang="zh-CN" b="1" i="1" dirty="0" err="1">
                  <a:solidFill>
                    <a:srgbClr val="0033CC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solidFill>
                    <a:srgbClr val="0033CC"/>
                  </a:solidFill>
                </a:rPr>
                <a:t>Ay</a:t>
              </a:r>
              <a:endParaRPr lang="en-US" altLang="zh-CN" i="1" baseline="30000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14" name="Group 158"/>
          <p:cNvGrpSpPr>
            <a:grpSpLocks/>
          </p:cNvGrpSpPr>
          <p:nvPr/>
        </p:nvGrpSpPr>
        <p:grpSpPr bwMode="auto">
          <a:xfrm>
            <a:off x="6565278" y="4089650"/>
            <a:ext cx="838200" cy="808038"/>
            <a:chOff x="4500" y="2761"/>
            <a:chExt cx="528" cy="509"/>
          </a:xfrm>
        </p:grpSpPr>
        <p:sp>
          <p:nvSpPr>
            <p:cNvPr id="44050" name="Line 133"/>
            <p:cNvSpPr>
              <a:spLocks noChangeShapeType="1"/>
            </p:cNvSpPr>
            <p:nvPr/>
          </p:nvSpPr>
          <p:spPr bwMode="auto">
            <a:xfrm rot="10800000" flipV="1">
              <a:off x="4656" y="2982"/>
              <a:ext cx="288" cy="28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Text Box 155"/>
            <p:cNvSpPr txBox="1">
              <a:spLocks noChangeArrowheads="1"/>
            </p:cNvSpPr>
            <p:nvPr/>
          </p:nvSpPr>
          <p:spPr bwMode="auto">
            <a:xfrm>
              <a:off x="4500" y="2761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33CC"/>
                  </a:solidFill>
                </a:rPr>
                <a:t>F</a:t>
              </a:r>
              <a:r>
                <a:rPr lang="en-US" altLang="zh-CN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>
                  <a:solidFill>
                    <a:srgbClr val="0033CC"/>
                  </a:solidFill>
                </a:rPr>
                <a:t>E</a:t>
              </a:r>
              <a:endParaRPr lang="en-US" altLang="zh-CN" i="1" baseline="30000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15" name="Group 157"/>
          <p:cNvGrpSpPr>
            <a:grpSpLocks/>
          </p:cNvGrpSpPr>
          <p:nvPr/>
        </p:nvGrpSpPr>
        <p:grpSpPr bwMode="auto">
          <a:xfrm>
            <a:off x="7270128" y="5994963"/>
            <a:ext cx="552450" cy="463550"/>
            <a:chOff x="4932" y="3980"/>
            <a:chExt cx="348" cy="292"/>
          </a:xfrm>
        </p:grpSpPr>
        <p:sp>
          <p:nvSpPr>
            <p:cNvPr id="44048" name="Line 134"/>
            <p:cNvSpPr>
              <a:spLocks noChangeShapeType="1"/>
            </p:cNvSpPr>
            <p:nvPr/>
          </p:nvSpPr>
          <p:spPr bwMode="auto">
            <a:xfrm flipV="1">
              <a:off x="5280" y="3984"/>
              <a:ext cx="0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Text Box 156"/>
            <p:cNvSpPr txBox="1">
              <a:spLocks noChangeArrowheads="1"/>
            </p:cNvSpPr>
            <p:nvPr/>
          </p:nvSpPr>
          <p:spPr bwMode="auto">
            <a:xfrm>
              <a:off x="4932" y="3980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33CC"/>
                  </a:solidFill>
                </a:rPr>
                <a:t>F</a:t>
              </a:r>
              <a:r>
                <a:rPr lang="en-US" altLang="zh-CN" i="1" baseline="-25000" dirty="0">
                  <a:solidFill>
                    <a:srgbClr val="0033CC"/>
                  </a:solidFill>
                </a:rPr>
                <a:t>B</a:t>
              </a:r>
              <a:endParaRPr lang="en-US" altLang="zh-CN" i="1" baseline="30000" dirty="0">
                <a:solidFill>
                  <a:srgbClr val="0033CC"/>
                </a:solidFill>
              </a:endParaRPr>
            </a:p>
          </p:txBody>
        </p:sp>
      </p:grpSp>
      <p:sp>
        <p:nvSpPr>
          <p:cNvPr id="49" name="Text Box 144">
            <a:extLst>
              <a:ext uri="{FF2B5EF4-FFF2-40B4-BE49-F238E27FC236}">
                <a16:creationId xmlns:a16="http://schemas.microsoft.com/office/drawing/2014/main" id="{9C41CFE7-8DB2-797C-B77E-9E68C7B7A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890" y="5964853"/>
            <a:ext cx="345279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6"/>
              </a:buBlip>
            </a:pPr>
            <a:r>
              <a:rPr lang="en-US" altLang="zh-CN" dirty="0"/>
              <a:t>  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若先画</a:t>
            </a:r>
            <a:r>
              <a:rPr lang="en-US" altLang="zh-CN" i="1" dirty="0">
                <a:solidFill>
                  <a:srgbClr val="0000FF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i="1" dirty="0">
                <a:solidFill>
                  <a:srgbClr val="0000FF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杆？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82"/>
          <p:cNvGrpSpPr>
            <a:grpSpLocks/>
          </p:cNvGrpSpPr>
          <p:nvPr/>
        </p:nvGrpSpPr>
        <p:grpSpPr bwMode="auto">
          <a:xfrm>
            <a:off x="739773" y="1152388"/>
            <a:ext cx="2349500" cy="3533522"/>
            <a:chOff x="240" y="897"/>
            <a:chExt cx="1568" cy="2449"/>
          </a:xfrm>
        </p:grpSpPr>
        <p:sp>
          <p:nvSpPr>
            <p:cNvPr id="45084" name="Line 83"/>
            <p:cNvSpPr>
              <a:spLocks noChangeShapeType="1"/>
            </p:cNvSpPr>
            <p:nvPr/>
          </p:nvSpPr>
          <p:spPr bwMode="auto">
            <a:xfrm>
              <a:off x="1550" y="1486"/>
              <a:ext cx="0" cy="768"/>
            </a:xfrm>
            <a:prstGeom prst="line">
              <a:avLst/>
            </a:prstGeom>
            <a:noFill/>
            <a:ln w="28575" cap="sq">
              <a:solidFill>
                <a:srgbClr val="FF99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5" name="Arc 84"/>
            <p:cNvSpPr>
              <a:spLocks/>
            </p:cNvSpPr>
            <p:nvPr/>
          </p:nvSpPr>
          <p:spPr bwMode="auto">
            <a:xfrm rot="5987788">
              <a:off x="862" y="1185"/>
              <a:ext cx="101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6" name="Rectangle 85"/>
            <p:cNvSpPr>
              <a:spLocks noChangeArrowheads="1"/>
            </p:cNvSpPr>
            <p:nvPr/>
          </p:nvSpPr>
          <p:spPr bwMode="auto">
            <a:xfrm rot="1926953">
              <a:off x="811" y="1275"/>
              <a:ext cx="656" cy="47"/>
            </a:xfrm>
            <a:prstGeom prst="rect">
              <a:avLst/>
            </a:prstGeom>
            <a:solidFill>
              <a:srgbClr val="996600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87" name="Rectangle 86"/>
            <p:cNvSpPr>
              <a:spLocks noChangeArrowheads="1"/>
            </p:cNvSpPr>
            <p:nvPr/>
          </p:nvSpPr>
          <p:spPr bwMode="auto">
            <a:xfrm rot="1393887">
              <a:off x="1124" y="1486"/>
              <a:ext cx="45" cy="1488"/>
            </a:xfrm>
            <a:prstGeom prst="rect">
              <a:avLst/>
            </a:prstGeom>
            <a:solidFill>
              <a:srgbClr val="996600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88" name="Line 87"/>
            <p:cNvSpPr>
              <a:spLocks noChangeShapeType="1"/>
            </p:cNvSpPr>
            <p:nvPr/>
          </p:nvSpPr>
          <p:spPr bwMode="auto">
            <a:xfrm>
              <a:off x="855" y="100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89" name="Line 88"/>
            <p:cNvSpPr>
              <a:spLocks noChangeShapeType="1"/>
            </p:cNvSpPr>
            <p:nvPr/>
          </p:nvSpPr>
          <p:spPr bwMode="auto">
            <a:xfrm>
              <a:off x="558" y="1396"/>
              <a:ext cx="907" cy="0"/>
            </a:xfrm>
            <a:prstGeom prst="line">
              <a:avLst/>
            </a:prstGeom>
            <a:noFill/>
            <a:ln w="28575" cap="sq">
              <a:solidFill>
                <a:srgbClr val="FF99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90" name="Oval 89"/>
            <p:cNvSpPr>
              <a:spLocks noChangeArrowheads="1"/>
            </p:cNvSpPr>
            <p:nvPr/>
          </p:nvSpPr>
          <p:spPr bwMode="auto">
            <a:xfrm>
              <a:off x="452" y="1390"/>
              <a:ext cx="192" cy="189"/>
            </a:xfrm>
            <a:prstGeom prst="ellipse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91" name="Rectangle 90"/>
            <p:cNvSpPr>
              <a:spLocks noChangeArrowheads="1"/>
            </p:cNvSpPr>
            <p:nvPr/>
          </p:nvSpPr>
          <p:spPr bwMode="auto">
            <a:xfrm>
              <a:off x="1460" y="2254"/>
              <a:ext cx="192" cy="24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>
              <a:prstShdw prst="shdw17" dist="17961" dir="2700000">
                <a:srgbClr val="5A5A5A"/>
              </a:prstShdw>
            </a:effectLst>
            <a:extLs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92" name="Text Box 91"/>
            <p:cNvSpPr txBox="1">
              <a:spLocks noChangeArrowheads="1"/>
            </p:cNvSpPr>
            <p:nvPr/>
          </p:nvSpPr>
          <p:spPr bwMode="auto">
            <a:xfrm>
              <a:off x="869" y="897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/>
                <a:t>A</a:t>
              </a:r>
            </a:p>
          </p:txBody>
        </p:sp>
        <p:sp>
          <p:nvSpPr>
            <p:cNvPr id="45093" name="Text Box 92"/>
            <p:cNvSpPr txBox="1">
              <a:spLocks noChangeArrowheads="1"/>
            </p:cNvSpPr>
            <p:nvPr/>
          </p:nvSpPr>
          <p:spPr bwMode="auto">
            <a:xfrm>
              <a:off x="1524" y="1251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/>
                <a:t>B</a:t>
              </a:r>
            </a:p>
          </p:txBody>
        </p:sp>
        <p:sp>
          <p:nvSpPr>
            <p:cNvPr id="56413" name="Text Box 93"/>
            <p:cNvSpPr txBox="1">
              <a:spLocks noChangeArrowheads="1"/>
            </p:cNvSpPr>
            <p:nvPr/>
          </p:nvSpPr>
          <p:spPr bwMode="auto">
            <a:xfrm>
              <a:off x="240" y="1316"/>
              <a:ext cx="232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i="1" dirty="0"/>
                <a:t>D</a:t>
              </a:r>
            </a:p>
          </p:txBody>
        </p:sp>
        <p:graphicFrame>
          <p:nvGraphicFramePr>
            <p:cNvPr id="45095" name="Object 94"/>
            <p:cNvGraphicFramePr>
              <a:graphicFrameLocks noChangeAspect="1"/>
            </p:cNvGraphicFramePr>
            <p:nvPr/>
          </p:nvGraphicFramePr>
          <p:xfrm>
            <a:off x="871" y="2309"/>
            <a:ext cx="166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09550" imgH="180975" progId="Equation.3">
                    <p:embed/>
                  </p:oleObj>
                </mc:Choice>
                <mc:Fallback>
                  <p:oleObj name="公式" r:id="rId2" imgW="209550" imgH="180975" progId="Equation.3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1" y="2309"/>
                          <a:ext cx="166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999999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96" name="Text Box 95"/>
            <p:cNvSpPr txBox="1">
              <a:spLocks noChangeArrowheads="1"/>
            </p:cNvSpPr>
            <p:nvPr/>
          </p:nvSpPr>
          <p:spPr bwMode="auto">
            <a:xfrm>
              <a:off x="854" y="285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/>
                <a:t>C</a:t>
              </a:r>
            </a:p>
          </p:txBody>
        </p:sp>
        <p:grpSp>
          <p:nvGrpSpPr>
            <p:cNvPr id="45097" name="Group 96"/>
            <p:cNvGrpSpPr>
              <a:grpSpLocks/>
            </p:cNvGrpSpPr>
            <p:nvPr/>
          </p:nvGrpSpPr>
          <p:grpSpPr bwMode="auto">
            <a:xfrm>
              <a:off x="1556" y="2369"/>
              <a:ext cx="252" cy="449"/>
              <a:chOff x="1520" y="2685"/>
              <a:chExt cx="123" cy="384"/>
            </a:xfrm>
          </p:grpSpPr>
          <p:sp>
            <p:nvSpPr>
              <p:cNvPr id="56417" name="Text Box 97"/>
              <p:cNvSpPr txBox="1">
                <a:spLocks noChangeArrowheads="1"/>
              </p:cNvSpPr>
              <p:nvPr/>
            </p:nvSpPr>
            <p:spPr bwMode="auto">
              <a:xfrm>
                <a:off x="1535" y="2866"/>
                <a:ext cx="108" cy="198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sz="1800" b="1" i="1" dirty="0">
                    <a:solidFill>
                      <a:srgbClr val="FF0000"/>
                    </a:solidFill>
                  </a:rPr>
                  <a:t>G</a:t>
                </a:r>
              </a:p>
            </p:txBody>
          </p:sp>
          <p:sp>
            <p:nvSpPr>
              <p:cNvPr id="45160" name="Line 98"/>
              <p:cNvSpPr>
                <a:spLocks noChangeShapeType="1"/>
              </p:cNvSpPr>
              <p:nvPr/>
            </p:nvSpPr>
            <p:spPr bwMode="auto">
              <a:xfrm>
                <a:off x="1520" y="2685"/>
                <a:ext cx="0" cy="384"/>
              </a:xfrm>
              <a:prstGeom prst="line">
                <a:avLst/>
              </a:prstGeom>
              <a:noFill/>
              <a:ln w="38100" cap="sq">
                <a:solidFill>
                  <a:srgbClr val="FF0000"/>
                </a:solidFill>
                <a:miter lim="800000"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5098" name="Line 99"/>
            <p:cNvSpPr>
              <a:spLocks noChangeShapeType="1"/>
            </p:cNvSpPr>
            <p:nvPr/>
          </p:nvSpPr>
          <p:spPr bwMode="auto">
            <a:xfrm rot="-5340499" flipH="1" flipV="1">
              <a:off x="708" y="1285"/>
              <a:ext cx="42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99" name="Line 100"/>
            <p:cNvSpPr>
              <a:spLocks noChangeShapeType="1"/>
            </p:cNvSpPr>
            <p:nvPr/>
          </p:nvSpPr>
          <p:spPr bwMode="auto">
            <a:xfrm rot="-5340499" flipH="1" flipV="1">
              <a:off x="709" y="1239"/>
              <a:ext cx="42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0" name="Line 101"/>
            <p:cNvSpPr>
              <a:spLocks noChangeShapeType="1"/>
            </p:cNvSpPr>
            <p:nvPr/>
          </p:nvSpPr>
          <p:spPr bwMode="auto">
            <a:xfrm rot="-5340499" flipH="1" flipV="1">
              <a:off x="708" y="1193"/>
              <a:ext cx="43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1" name="Line 102"/>
            <p:cNvSpPr>
              <a:spLocks noChangeShapeType="1"/>
            </p:cNvSpPr>
            <p:nvPr/>
          </p:nvSpPr>
          <p:spPr bwMode="auto">
            <a:xfrm rot="-5340499" flipH="1" flipV="1">
              <a:off x="710" y="1148"/>
              <a:ext cx="42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2" name="Line 103"/>
            <p:cNvSpPr>
              <a:spLocks noChangeShapeType="1"/>
            </p:cNvSpPr>
            <p:nvPr/>
          </p:nvSpPr>
          <p:spPr bwMode="auto">
            <a:xfrm rot="-5340499" flipH="1" flipV="1">
              <a:off x="710" y="1102"/>
              <a:ext cx="43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3" name="Line 104"/>
            <p:cNvSpPr>
              <a:spLocks noChangeShapeType="1"/>
            </p:cNvSpPr>
            <p:nvPr/>
          </p:nvSpPr>
          <p:spPr bwMode="auto">
            <a:xfrm rot="-5340499" flipH="1" flipV="1">
              <a:off x="712" y="1057"/>
              <a:ext cx="42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4" name="Line 105"/>
            <p:cNvSpPr>
              <a:spLocks noChangeShapeType="1"/>
            </p:cNvSpPr>
            <p:nvPr/>
          </p:nvSpPr>
          <p:spPr bwMode="auto">
            <a:xfrm rot="-5340499" flipH="1" flipV="1">
              <a:off x="712" y="1011"/>
              <a:ext cx="42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5" name="Line 106"/>
            <p:cNvSpPr>
              <a:spLocks noChangeShapeType="1"/>
            </p:cNvSpPr>
            <p:nvPr/>
          </p:nvSpPr>
          <p:spPr bwMode="auto">
            <a:xfrm rot="-5340499" flipH="1" flipV="1">
              <a:off x="712" y="965"/>
              <a:ext cx="43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6" name="Line 107"/>
            <p:cNvSpPr>
              <a:spLocks noChangeShapeType="1"/>
            </p:cNvSpPr>
            <p:nvPr/>
          </p:nvSpPr>
          <p:spPr bwMode="auto">
            <a:xfrm rot="16259501" flipH="1">
              <a:off x="604" y="1127"/>
              <a:ext cx="319" cy="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7" name="Oval 108"/>
            <p:cNvSpPr>
              <a:spLocks noChangeArrowheads="1"/>
            </p:cNvSpPr>
            <p:nvPr/>
          </p:nvSpPr>
          <p:spPr bwMode="auto">
            <a:xfrm rot="16259501" flipV="1">
              <a:off x="843" y="1103"/>
              <a:ext cx="47" cy="49"/>
            </a:xfrm>
            <a:prstGeom prst="ellipse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108" name="Line 109"/>
            <p:cNvSpPr>
              <a:spLocks noChangeShapeType="1"/>
            </p:cNvSpPr>
            <p:nvPr/>
          </p:nvSpPr>
          <p:spPr bwMode="auto">
            <a:xfrm rot="-5340499" flipH="1" flipV="1">
              <a:off x="753" y="1160"/>
              <a:ext cx="104" cy="8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09" name="Line 110"/>
            <p:cNvSpPr>
              <a:spLocks noChangeShapeType="1"/>
            </p:cNvSpPr>
            <p:nvPr/>
          </p:nvSpPr>
          <p:spPr bwMode="auto">
            <a:xfrm rot="16259501" flipV="1">
              <a:off x="764" y="1019"/>
              <a:ext cx="89" cy="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10" name="Oval 111"/>
            <p:cNvSpPr>
              <a:spLocks noChangeArrowheads="1"/>
            </p:cNvSpPr>
            <p:nvPr/>
          </p:nvSpPr>
          <p:spPr bwMode="auto">
            <a:xfrm>
              <a:off x="516" y="1455"/>
              <a:ext cx="56" cy="60"/>
            </a:xfrm>
            <a:prstGeom prst="ellipse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111" name="Line 112"/>
            <p:cNvSpPr>
              <a:spLocks noChangeShapeType="1"/>
            </p:cNvSpPr>
            <p:nvPr/>
          </p:nvSpPr>
          <p:spPr bwMode="auto">
            <a:xfrm flipH="1">
              <a:off x="393" y="1507"/>
              <a:ext cx="123" cy="10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112" name="Line 113"/>
            <p:cNvSpPr>
              <a:spLocks noChangeShapeType="1"/>
            </p:cNvSpPr>
            <p:nvPr/>
          </p:nvSpPr>
          <p:spPr bwMode="auto">
            <a:xfrm>
              <a:off x="572" y="1507"/>
              <a:ext cx="104" cy="9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5113" name="Group 114"/>
            <p:cNvGrpSpPr>
              <a:grpSpLocks/>
            </p:cNvGrpSpPr>
            <p:nvPr/>
          </p:nvGrpSpPr>
          <p:grpSpPr bwMode="auto">
            <a:xfrm>
              <a:off x="745" y="2802"/>
              <a:ext cx="129" cy="241"/>
              <a:chOff x="656" y="3123"/>
              <a:chExt cx="177" cy="241"/>
            </a:xfrm>
          </p:grpSpPr>
          <p:sp>
            <p:nvSpPr>
              <p:cNvPr id="45156" name="Oval 115"/>
              <p:cNvSpPr>
                <a:spLocks noChangeArrowheads="1"/>
              </p:cNvSpPr>
              <p:nvPr/>
            </p:nvSpPr>
            <p:spPr bwMode="auto">
              <a:xfrm rot="16156879" flipV="1">
                <a:off x="775" y="3201"/>
                <a:ext cx="47" cy="68"/>
              </a:xfrm>
              <a:prstGeom prst="ellipse">
                <a:avLst/>
              </a:prstGeom>
              <a:solidFill>
                <a:schemeClr val="accent1"/>
              </a:solidFill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157" name="Line 116"/>
              <p:cNvSpPr>
                <a:spLocks noChangeShapeType="1"/>
              </p:cNvSpPr>
              <p:nvPr/>
            </p:nvSpPr>
            <p:spPr bwMode="auto">
              <a:xfrm rot="-5443121" flipH="1" flipV="1">
                <a:off x="664" y="3252"/>
                <a:ext cx="104" cy="11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8" name="Line 117"/>
              <p:cNvSpPr>
                <a:spLocks noChangeShapeType="1"/>
              </p:cNvSpPr>
              <p:nvPr/>
            </p:nvSpPr>
            <p:spPr bwMode="auto">
              <a:xfrm rot="16156879" flipV="1">
                <a:off x="673" y="3112"/>
                <a:ext cx="89" cy="11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5114" name="Group 118"/>
            <p:cNvGrpSpPr>
              <a:grpSpLocks/>
            </p:cNvGrpSpPr>
            <p:nvPr/>
          </p:nvGrpSpPr>
          <p:grpSpPr bwMode="auto">
            <a:xfrm>
              <a:off x="297" y="1612"/>
              <a:ext cx="453" cy="1734"/>
              <a:chOff x="261" y="1928"/>
              <a:chExt cx="453" cy="1734"/>
            </a:xfrm>
          </p:grpSpPr>
          <p:sp>
            <p:nvSpPr>
              <p:cNvPr id="45119" name="Line 119"/>
              <p:cNvSpPr>
                <a:spLocks noChangeShapeType="1"/>
              </p:cNvSpPr>
              <p:nvPr/>
            </p:nvSpPr>
            <p:spPr bwMode="auto">
              <a:xfrm flipH="1">
                <a:off x="261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0" name="Line 120"/>
              <p:cNvSpPr>
                <a:spLocks noChangeShapeType="1"/>
              </p:cNvSpPr>
              <p:nvPr/>
            </p:nvSpPr>
            <p:spPr bwMode="auto">
              <a:xfrm flipH="1">
                <a:off x="315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1" name="Line 121"/>
              <p:cNvSpPr>
                <a:spLocks noChangeShapeType="1"/>
              </p:cNvSpPr>
              <p:nvPr/>
            </p:nvSpPr>
            <p:spPr bwMode="auto">
              <a:xfrm flipH="1">
                <a:off x="369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2" name="Line 122"/>
              <p:cNvSpPr>
                <a:spLocks noChangeShapeType="1"/>
              </p:cNvSpPr>
              <p:nvPr/>
            </p:nvSpPr>
            <p:spPr bwMode="auto">
              <a:xfrm flipH="1">
                <a:off x="423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3" name="Line 123"/>
              <p:cNvSpPr>
                <a:spLocks noChangeShapeType="1"/>
              </p:cNvSpPr>
              <p:nvPr/>
            </p:nvSpPr>
            <p:spPr bwMode="auto">
              <a:xfrm flipH="1">
                <a:off x="477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4" name="Line 124"/>
              <p:cNvSpPr>
                <a:spLocks noChangeShapeType="1"/>
              </p:cNvSpPr>
              <p:nvPr/>
            </p:nvSpPr>
            <p:spPr bwMode="auto">
              <a:xfrm flipH="1">
                <a:off x="531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5" name="Line 125"/>
              <p:cNvSpPr>
                <a:spLocks noChangeShapeType="1"/>
              </p:cNvSpPr>
              <p:nvPr/>
            </p:nvSpPr>
            <p:spPr bwMode="auto">
              <a:xfrm flipH="1">
                <a:off x="585" y="1931"/>
                <a:ext cx="50" cy="6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6" name="Line 126"/>
              <p:cNvSpPr>
                <a:spLocks noChangeShapeType="1"/>
              </p:cNvSpPr>
              <p:nvPr/>
            </p:nvSpPr>
            <p:spPr bwMode="auto">
              <a:xfrm flipV="1">
                <a:off x="312" y="1928"/>
                <a:ext cx="3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7" name="Line 127"/>
              <p:cNvSpPr>
                <a:spLocks noChangeShapeType="1"/>
              </p:cNvSpPr>
              <p:nvPr/>
            </p:nvSpPr>
            <p:spPr bwMode="auto">
              <a:xfrm rot="16247767" flipH="1">
                <a:off x="290" y="2347"/>
                <a:ext cx="837" cy="1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8" name="Line 128"/>
              <p:cNvSpPr>
                <a:spLocks noChangeShapeType="1"/>
              </p:cNvSpPr>
              <p:nvPr/>
            </p:nvSpPr>
            <p:spPr bwMode="auto">
              <a:xfrm rot="-5352233" flipH="1" flipV="1">
                <a:off x="629" y="2695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29" name="Line 129"/>
              <p:cNvSpPr>
                <a:spLocks noChangeShapeType="1"/>
              </p:cNvSpPr>
              <p:nvPr/>
            </p:nvSpPr>
            <p:spPr bwMode="auto">
              <a:xfrm rot="-5352233" flipH="1" flipV="1">
                <a:off x="629" y="2636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0" name="Line 130"/>
              <p:cNvSpPr>
                <a:spLocks noChangeShapeType="1"/>
              </p:cNvSpPr>
              <p:nvPr/>
            </p:nvSpPr>
            <p:spPr bwMode="auto">
              <a:xfrm rot="-5352233" flipH="1" flipV="1">
                <a:off x="630" y="2577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1" name="Line 131"/>
              <p:cNvSpPr>
                <a:spLocks noChangeShapeType="1"/>
              </p:cNvSpPr>
              <p:nvPr/>
            </p:nvSpPr>
            <p:spPr bwMode="auto">
              <a:xfrm rot="-5352233" flipH="1" flipV="1">
                <a:off x="631" y="2510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2" name="Line 132"/>
              <p:cNvSpPr>
                <a:spLocks noChangeShapeType="1"/>
              </p:cNvSpPr>
              <p:nvPr/>
            </p:nvSpPr>
            <p:spPr bwMode="auto">
              <a:xfrm rot="-5352233" flipH="1" flipV="1">
                <a:off x="628" y="2452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3" name="Line 133"/>
              <p:cNvSpPr>
                <a:spLocks noChangeShapeType="1"/>
              </p:cNvSpPr>
              <p:nvPr/>
            </p:nvSpPr>
            <p:spPr bwMode="auto">
              <a:xfrm rot="-5352233" flipH="1" flipV="1">
                <a:off x="628" y="2390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4" name="Line 134"/>
              <p:cNvSpPr>
                <a:spLocks noChangeShapeType="1"/>
              </p:cNvSpPr>
              <p:nvPr/>
            </p:nvSpPr>
            <p:spPr bwMode="auto">
              <a:xfrm rot="-5352233" flipH="1" flipV="1">
                <a:off x="632" y="2323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5" name="Line 135"/>
              <p:cNvSpPr>
                <a:spLocks noChangeShapeType="1"/>
              </p:cNvSpPr>
              <p:nvPr/>
            </p:nvSpPr>
            <p:spPr bwMode="auto">
              <a:xfrm rot="-5352233" flipH="1" flipV="1">
                <a:off x="636" y="2251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6" name="Line 136"/>
              <p:cNvSpPr>
                <a:spLocks noChangeShapeType="1"/>
              </p:cNvSpPr>
              <p:nvPr/>
            </p:nvSpPr>
            <p:spPr bwMode="auto">
              <a:xfrm rot="-5352233" flipH="1" flipV="1">
                <a:off x="636" y="2180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7" name="Line 137"/>
              <p:cNvSpPr>
                <a:spLocks noChangeShapeType="1"/>
              </p:cNvSpPr>
              <p:nvPr/>
            </p:nvSpPr>
            <p:spPr bwMode="auto">
              <a:xfrm rot="-5352233" flipH="1" flipV="1">
                <a:off x="634" y="2114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8" name="Line 138"/>
              <p:cNvSpPr>
                <a:spLocks noChangeShapeType="1"/>
              </p:cNvSpPr>
              <p:nvPr/>
            </p:nvSpPr>
            <p:spPr bwMode="auto">
              <a:xfrm rot="-5352233" flipH="1" flipV="1">
                <a:off x="641" y="2047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39" name="Line 139"/>
              <p:cNvSpPr>
                <a:spLocks noChangeShapeType="1"/>
              </p:cNvSpPr>
              <p:nvPr/>
            </p:nvSpPr>
            <p:spPr bwMode="auto">
              <a:xfrm rot="-5352233" flipH="1" flipV="1">
                <a:off x="635" y="1988"/>
                <a:ext cx="56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0" name="Line 140"/>
              <p:cNvSpPr>
                <a:spLocks noChangeShapeType="1"/>
              </p:cNvSpPr>
              <p:nvPr/>
            </p:nvSpPr>
            <p:spPr bwMode="auto">
              <a:xfrm rot="-5352233" flipH="1" flipV="1">
                <a:off x="633" y="1929"/>
                <a:ext cx="68" cy="8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1" name="Line 141"/>
              <p:cNvSpPr>
                <a:spLocks noChangeShapeType="1"/>
              </p:cNvSpPr>
              <p:nvPr/>
            </p:nvSpPr>
            <p:spPr bwMode="auto">
              <a:xfrm rot="-5352233" flipH="1" flipV="1">
                <a:off x="630" y="2760"/>
                <a:ext cx="55" cy="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2" name="Line 142"/>
              <p:cNvSpPr>
                <a:spLocks noChangeShapeType="1"/>
              </p:cNvSpPr>
              <p:nvPr/>
            </p:nvSpPr>
            <p:spPr bwMode="auto">
              <a:xfrm rot="16247767" flipH="1">
                <a:off x="280" y="3188"/>
                <a:ext cx="854" cy="1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3" name="Line 143"/>
              <p:cNvSpPr>
                <a:spLocks noChangeShapeType="1"/>
              </p:cNvSpPr>
              <p:nvPr/>
            </p:nvSpPr>
            <p:spPr bwMode="auto">
              <a:xfrm rot="-5352233" flipH="1" flipV="1">
                <a:off x="627" y="3528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4" name="Line 144"/>
              <p:cNvSpPr>
                <a:spLocks noChangeShapeType="1"/>
              </p:cNvSpPr>
              <p:nvPr/>
            </p:nvSpPr>
            <p:spPr bwMode="auto">
              <a:xfrm rot="-5352233" flipH="1" flipV="1">
                <a:off x="627" y="3469"/>
                <a:ext cx="55" cy="8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5" name="Line 145"/>
              <p:cNvSpPr>
                <a:spLocks noChangeShapeType="1"/>
              </p:cNvSpPr>
              <p:nvPr/>
            </p:nvSpPr>
            <p:spPr bwMode="auto">
              <a:xfrm rot="-5352233" flipH="1" flipV="1">
                <a:off x="628" y="3410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6" name="Line 146"/>
              <p:cNvSpPr>
                <a:spLocks noChangeShapeType="1"/>
              </p:cNvSpPr>
              <p:nvPr/>
            </p:nvSpPr>
            <p:spPr bwMode="auto">
              <a:xfrm rot="-5352233" flipH="1" flipV="1">
                <a:off x="629" y="3343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7" name="Line 147"/>
              <p:cNvSpPr>
                <a:spLocks noChangeShapeType="1"/>
              </p:cNvSpPr>
              <p:nvPr/>
            </p:nvSpPr>
            <p:spPr bwMode="auto">
              <a:xfrm rot="-5352233" flipH="1" flipV="1">
                <a:off x="626" y="3285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8" name="Line 148"/>
              <p:cNvSpPr>
                <a:spLocks noChangeShapeType="1"/>
              </p:cNvSpPr>
              <p:nvPr/>
            </p:nvSpPr>
            <p:spPr bwMode="auto">
              <a:xfrm rot="-5352233" flipH="1" flipV="1">
                <a:off x="626" y="3223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49" name="Line 149"/>
              <p:cNvSpPr>
                <a:spLocks noChangeShapeType="1"/>
              </p:cNvSpPr>
              <p:nvPr/>
            </p:nvSpPr>
            <p:spPr bwMode="auto">
              <a:xfrm rot="-5352233" flipH="1" flipV="1">
                <a:off x="631" y="3156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0" name="Line 150"/>
              <p:cNvSpPr>
                <a:spLocks noChangeShapeType="1"/>
              </p:cNvSpPr>
              <p:nvPr/>
            </p:nvSpPr>
            <p:spPr bwMode="auto">
              <a:xfrm rot="-5352233" flipH="1" flipV="1">
                <a:off x="634" y="3084"/>
                <a:ext cx="55" cy="8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1" name="Line 151"/>
              <p:cNvSpPr>
                <a:spLocks noChangeShapeType="1"/>
              </p:cNvSpPr>
              <p:nvPr/>
            </p:nvSpPr>
            <p:spPr bwMode="auto">
              <a:xfrm rot="-5352233" flipH="1" flipV="1">
                <a:off x="635" y="3013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2" name="Line 152"/>
              <p:cNvSpPr>
                <a:spLocks noChangeShapeType="1"/>
              </p:cNvSpPr>
              <p:nvPr/>
            </p:nvSpPr>
            <p:spPr bwMode="auto">
              <a:xfrm rot="-5352233" flipH="1" flipV="1">
                <a:off x="632" y="2947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3" name="Line 153"/>
              <p:cNvSpPr>
                <a:spLocks noChangeShapeType="1"/>
              </p:cNvSpPr>
              <p:nvPr/>
            </p:nvSpPr>
            <p:spPr bwMode="auto">
              <a:xfrm rot="-5352233" flipH="1" flipV="1">
                <a:off x="639" y="2880"/>
                <a:ext cx="55" cy="8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4" name="Line 154"/>
              <p:cNvSpPr>
                <a:spLocks noChangeShapeType="1"/>
              </p:cNvSpPr>
              <p:nvPr/>
            </p:nvSpPr>
            <p:spPr bwMode="auto">
              <a:xfrm rot="-5352233" flipH="1" flipV="1">
                <a:off x="633" y="2821"/>
                <a:ext cx="56" cy="8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155" name="Line 155"/>
              <p:cNvSpPr>
                <a:spLocks noChangeShapeType="1"/>
              </p:cNvSpPr>
              <p:nvPr/>
            </p:nvSpPr>
            <p:spPr bwMode="auto">
              <a:xfrm rot="-5352233" flipH="1" flipV="1">
                <a:off x="628" y="3593"/>
                <a:ext cx="55" cy="8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5115" name="Arc 156"/>
            <p:cNvSpPr>
              <a:spLocks/>
            </p:cNvSpPr>
            <p:nvPr/>
          </p:nvSpPr>
          <p:spPr bwMode="auto">
            <a:xfrm rot="-1364261">
              <a:off x="881" y="2472"/>
              <a:ext cx="101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6" name="Oval 157"/>
            <p:cNvSpPr>
              <a:spLocks noChangeArrowheads="1"/>
            </p:cNvSpPr>
            <p:nvPr/>
          </p:nvSpPr>
          <p:spPr bwMode="auto">
            <a:xfrm>
              <a:off x="1352" y="1397"/>
              <a:ext cx="192" cy="197"/>
            </a:xfrm>
            <a:prstGeom prst="ellipse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117" name="Oval 158"/>
            <p:cNvSpPr>
              <a:spLocks noChangeArrowheads="1"/>
            </p:cNvSpPr>
            <p:nvPr/>
          </p:nvSpPr>
          <p:spPr bwMode="auto">
            <a:xfrm>
              <a:off x="1420" y="1471"/>
              <a:ext cx="50" cy="54"/>
            </a:xfrm>
            <a:prstGeom prst="ellipse">
              <a:avLst/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5118" name="Object 159"/>
            <p:cNvGraphicFramePr>
              <a:graphicFrameLocks noChangeAspect="1"/>
            </p:cNvGraphicFramePr>
            <p:nvPr/>
          </p:nvGraphicFramePr>
          <p:xfrm>
            <a:off x="864" y="1248"/>
            <a:ext cx="175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19075" imgH="180975" progId="Equation.3">
                    <p:embed/>
                  </p:oleObj>
                </mc:Choice>
                <mc:Fallback>
                  <p:oleObj name="公式" r:id="rId4" imgW="219075" imgH="180975" progId="Equation.3">
                    <p:embed/>
                    <p:pic>
                      <p:nvPicPr>
                        <p:cNvPr id="0" name="Object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248"/>
                          <a:ext cx="175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999999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59" name="Text Box 160"/>
          <p:cNvSpPr txBox="1">
            <a:spLocks noChangeArrowheads="1"/>
          </p:cNvSpPr>
          <p:nvPr/>
        </p:nvSpPr>
        <p:spPr bwMode="auto">
          <a:xfrm>
            <a:off x="831056" y="580375"/>
            <a:ext cx="697706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试画出杆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以及滑轮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的受力图。</a:t>
            </a:r>
          </a:p>
        </p:txBody>
      </p:sp>
      <p:sp>
        <p:nvSpPr>
          <p:cNvPr id="56481" name="Text Box 161"/>
          <p:cNvSpPr txBox="1">
            <a:spLocks noChangeArrowheads="1"/>
          </p:cNvSpPr>
          <p:nvPr/>
        </p:nvSpPr>
        <p:spPr bwMode="auto">
          <a:xfrm>
            <a:off x="3305099" y="1133016"/>
            <a:ext cx="24529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杆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的受力图</a:t>
            </a:r>
          </a:p>
        </p:txBody>
      </p:sp>
      <p:grpSp>
        <p:nvGrpSpPr>
          <p:cNvPr id="6" name="Group 162"/>
          <p:cNvGrpSpPr>
            <a:grpSpLocks/>
          </p:cNvGrpSpPr>
          <p:nvPr/>
        </p:nvGrpSpPr>
        <p:grpSpPr bwMode="auto">
          <a:xfrm>
            <a:off x="3904874" y="1819028"/>
            <a:ext cx="1497012" cy="1003300"/>
            <a:chOff x="3899" y="1046"/>
            <a:chExt cx="943" cy="632"/>
          </a:xfrm>
        </p:grpSpPr>
        <p:sp>
          <p:nvSpPr>
            <p:cNvPr id="45079" name="Rectangle 163"/>
            <p:cNvSpPr>
              <a:spLocks noChangeArrowheads="1"/>
            </p:cNvSpPr>
            <p:nvPr/>
          </p:nvSpPr>
          <p:spPr bwMode="auto">
            <a:xfrm rot="1667800">
              <a:off x="3899" y="1451"/>
              <a:ext cx="768" cy="48"/>
            </a:xfrm>
            <a:prstGeom prst="rect">
              <a:avLst/>
            </a:prstGeom>
            <a:solidFill>
              <a:srgbClr val="996600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endParaRPr lang="zh-CN" altLang="zh-CN" sz="2000" i="1"/>
            </a:p>
          </p:txBody>
        </p:sp>
        <p:sp>
          <p:nvSpPr>
            <p:cNvPr id="45080" name="Oval 164"/>
            <p:cNvSpPr>
              <a:spLocks noChangeArrowheads="1"/>
            </p:cNvSpPr>
            <p:nvPr/>
          </p:nvSpPr>
          <p:spPr bwMode="auto">
            <a:xfrm>
              <a:off x="4601" y="1630"/>
              <a:ext cx="48" cy="48"/>
            </a:xfrm>
            <a:prstGeom prst="ellipse">
              <a:avLst/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81" name="Oval 165"/>
            <p:cNvSpPr>
              <a:spLocks noChangeArrowheads="1"/>
            </p:cNvSpPr>
            <p:nvPr/>
          </p:nvSpPr>
          <p:spPr bwMode="auto">
            <a:xfrm>
              <a:off x="3915" y="1267"/>
              <a:ext cx="48" cy="48"/>
            </a:xfrm>
            <a:prstGeom prst="ellipse">
              <a:avLst/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82" name="Text Box 166"/>
            <p:cNvSpPr txBox="1">
              <a:spLocks noChangeArrowheads="1"/>
            </p:cNvSpPr>
            <p:nvPr/>
          </p:nvSpPr>
          <p:spPr bwMode="auto">
            <a:xfrm>
              <a:off x="3971" y="104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i="1"/>
                <a:t>A</a:t>
              </a:r>
            </a:p>
          </p:txBody>
        </p:sp>
        <p:sp>
          <p:nvSpPr>
            <p:cNvPr id="45083" name="Text Box 167"/>
            <p:cNvSpPr txBox="1">
              <a:spLocks noChangeArrowheads="1"/>
            </p:cNvSpPr>
            <p:nvPr/>
          </p:nvSpPr>
          <p:spPr bwMode="auto">
            <a:xfrm>
              <a:off x="4638" y="138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i="1"/>
                <a:t>B</a:t>
              </a:r>
            </a:p>
          </p:txBody>
        </p:sp>
      </p:grpSp>
      <p:grpSp>
        <p:nvGrpSpPr>
          <p:cNvPr id="8" name="Group 173"/>
          <p:cNvGrpSpPr>
            <a:grpSpLocks/>
          </p:cNvGrpSpPr>
          <p:nvPr/>
        </p:nvGrpSpPr>
        <p:grpSpPr bwMode="auto">
          <a:xfrm>
            <a:off x="7191030" y="2030192"/>
            <a:ext cx="1225550" cy="2143125"/>
            <a:chOff x="3246" y="2221"/>
            <a:chExt cx="772" cy="1350"/>
          </a:xfrm>
        </p:grpSpPr>
        <p:sp>
          <p:nvSpPr>
            <p:cNvPr id="45070" name="Rectangle 174"/>
            <p:cNvSpPr>
              <a:spLocks noChangeArrowheads="1"/>
            </p:cNvSpPr>
            <p:nvPr/>
          </p:nvSpPr>
          <p:spPr bwMode="auto">
            <a:xfrm rot="1495509">
              <a:off x="3493" y="2270"/>
              <a:ext cx="52" cy="1212"/>
            </a:xfrm>
            <a:prstGeom prst="rect">
              <a:avLst/>
            </a:prstGeom>
            <a:solidFill>
              <a:srgbClr val="996600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71" name="Text Box 175"/>
            <p:cNvSpPr txBox="1">
              <a:spLocks noChangeArrowheads="1"/>
            </p:cNvSpPr>
            <p:nvPr/>
          </p:nvSpPr>
          <p:spPr bwMode="auto">
            <a:xfrm>
              <a:off x="3814" y="222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i="1"/>
                <a:t>B</a:t>
              </a:r>
            </a:p>
          </p:txBody>
        </p:sp>
        <p:sp>
          <p:nvSpPr>
            <p:cNvPr id="45072" name="Text Box 176"/>
            <p:cNvSpPr txBox="1">
              <a:spLocks noChangeArrowheads="1"/>
            </p:cNvSpPr>
            <p:nvPr/>
          </p:nvSpPr>
          <p:spPr bwMode="auto">
            <a:xfrm>
              <a:off x="3290" y="3340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i="1" dirty="0"/>
                <a:t>C</a:t>
              </a:r>
            </a:p>
          </p:txBody>
        </p:sp>
        <p:sp>
          <p:nvSpPr>
            <p:cNvPr id="45073" name="Oval 177"/>
            <p:cNvSpPr>
              <a:spLocks noChangeArrowheads="1"/>
            </p:cNvSpPr>
            <p:nvPr/>
          </p:nvSpPr>
          <p:spPr bwMode="auto">
            <a:xfrm>
              <a:off x="3750" y="2302"/>
              <a:ext cx="48" cy="48"/>
            </a:xfrm>
            <a:prstGeom prst="ellipse">
              <a:avLst/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74" name="Oval 178"/>
            <p:cNvSpPr>
              <a:spLocks noChangeArrowheads="1"/>
            </p:cNvSpPr>
            <p:nvPr/>
          </p:nvSpPr>
          <p:spPr bwMode="auto">
            <a:xfrm>
              <a:off x="3246" y="3394"/>
              <a:ext cx="48" cy="48"/>
            </a:xfrm>
            <a:prstGeom prst="ellipse">
              <a:avLst/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6504" name="Text Box 184"/>
          <p:cNvSpPr txBox="1">
            <a:spLocks noChangeArrowheads="1"/>
          </p:cNvSpPr>
          <p:nvPr/>
        </p:nvSpPr>
        <p:spPr bwMode="auto">
          <a:xfrm>
            <a:off x="6065118" y="1128864"/>
            <a:ext cx="24352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杆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的受力图</a:t>
            </a:r>
          </a:p>
        </p:txBody>
      </p:sp>
      <p:sp>
        <p:nvSpPr>
          <p:cNvPr id="105" name="Rectangle 4"/>
          <p:cNvSpPr>
            <a:spLocks noChangeArrowheads="1"/>
          </p:cNvSpPr>
          <p:nvPr/>
        </p:nvSpPr>
        <p:spPr bwMode="auto">
          <a:xfrm>
            <a:off x="2838641" y="3480031"/>
            <a:ext cx="355467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/>
              <a:t>       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滑轮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的受力图</a:t>
            </a:r>
          </a:p>
        </p:txBody>
      </p:sp>
      <p:grpSp>
        <p:nvGrpSpPr>
          <p:cNvPr id="106" name="Group 5"/>
          <p:cNvGrpSpPr>
            <a:grpSpLocks/>
          </p:cNvGrpSpPr>
          <p:nvPr/>
        </p:nvGrpSpPr>
        <p:grpSpPr bwMode="auto">
          <a:xfrm>
            <a:off x="2820287" y="4461970"/>
            <a:ext cx="771525" cy="955675"/>
            <a:chOff x="2373" y="2250"/>
            <a:chExt cx="486" cy="602"/>
          </a:xfrm>
        </p:grpSpPr>
        <p:sp>
          <p:nvSpPr>
            <p:cNvPr id="107" name="Oval 6"/>
            <p:cNvSpPr>
              <a:spLocks noChangeArrowheads="1"/>
            </p:cNvSpPr>
            <p:nvPr/>
          </p:nvSpPr>
          <p:spPr bwMode="auto">
            <a:xfrm>
              <a:off x="2373" y="2467"/>
              <a:ext cx="384" cy="38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8" name="Text Box 7"/>
            <p:cNvSpPr txBox="1">
              <a:spLocks noChangeArrowheads="1"/>
            </p:cNvSpPr>
            <p:nvPr/>
          </p:nvSpPr>
          <p:spPr bwMode="auto">
            <a:xfrm>
              <a:off x="2636" y="225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chemeClr val="tx2"/>
                  </a:solidFill>
                </a:rPr>
                <a:t>B</a:t>
              </a:r>
            </a:p>
          </p:txBody>
        </p:sp>
        <p:sp>
          <p:nvSpPr>
            <p:cNvPr id="109" name="Oval 8"/>
            <p:cNvSpPr>
              <a:spLocks noChangeArrowheads="1"/>
            </p:cNvSpPr>
            <p:nvPr/>
          </p:nvSpPr>
          <p:spPr bwMode="auto">
            <a:xfrm>
              <a:off x="2528" y="2617"/>
              <a:ext cx="73" cy="75"/>
            </a:xfrm>
            <a:prstGeom prst="ellipse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round/>
              <a:headEnd type="none" w="sm" len="sm"/>
              <a:tailEnd type="none" w="sm" len="lg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10" name="Group 9"/>
          <p:cNvGrpSpPr>
            <a:grpSpLocks/>
          </p:cNvGrpSpPr>
          <p:nvPr/>
        </p:nvGrpSpPr>
        <p:grpSpPr bwMode="auto">
          <a:xfrm>
            <a:off x="2253550" y="4017471"/>
            <a:ext cx="1801813" cy="1903413"/>
            <a:chOff x="2011" y="1983"/>
            <a:chExt cx="1135" cy="1199"/>
          </a:xfrm>
        </p:grpSpPr>
        <p:sp>
          <p:nvSpPr>
            <p:cNvPr id="111" name="Line 10"/>
            <p:cNvSpPr>
              <a:spLocks noChangeShapeType="1"/>
            </p:cNvSpPr>
            <p:nvPr/>
          </p:nvSpPr>
          <p:spPr bwMode="auto">
            <a:xfrm>
              <a:off x="2761" y="2689"/>
              <a:ext cx="0" cy="493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" name="Line 11"/>
            <p:cNvSpPr>
              <a:spLocks noChangeShapeType="1"/>
            </p:cNvSpPr>
            <p:nvPr/>
          </p:nvSpPr>
          <p:spPr bwMode="auto">
            <a:xfrm flipH="1">
              <a:off x="2011" y="2466"/>
              <a:ext cx="538" cy="1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" name="Line 12"/>
            <p:cNvSpPr>
              <a:spLocks noChangeShapeType="1"/>
            </p:cNvSpPr>
            <p:nvPr/>
          </p:nvSpPr>
          <p:spPr bwMode="auto">
            <a:xfrm flipV="1">
              <a:off x="2555" y="2114"/>
              <a:ext cx="1" cy="506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4" name="Line 13"/>
            <p:cNvSpPr>
              <a:spLocks noChangeShapeType="1"/>
            </p:cNvSpPr>
            <p:nvPr/>
          </p:nvSpPr>
          <p:spPr bwMode="auto">
            <a:xfrm>
              <a:off x="2604" y="2659"/>
              <a:ext cx="445" cy="8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" name="Text Box 14"/>
            <p:cNvSpPr txBox="1">
              <a:spLocks noChangeArrowheads="1"/>
            </p:cNvSpPr>
            <p:nvPr/>
          </p:nvSpPr>
          <p:spPr bwMode="auto">
            <a:xfrm>
              <a:off x="2809" y="2673"/>
              <a:ext cx="337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Bx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16" name="Text Box 15"/>
            <p:cNvSpPr txBox="1">
              <a:spLocks noChangeArrowheads="1"/>
            </p:cNvSpPr>
            <p:nvPr/>
          </p:nvSpPr>
          <p:spPr bwMode="auto">
            <a:xfrm>
              <a:off x="2022" y="2187"/>
              <a:ext cx="278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2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117" name="Text Box 16"/>
            <p:cNvSpPr txBox="1">
              <a:spLocks noChangeArrowheads="1"/>
            </p:cNvSpPr>
            <p:nvPr/>
          </p:nvSpPr>
          <p:spPr bwMode="auto">
            <a:xfrm>
              <a:off x="2477" y="2924"/>
              <a:ext cx="278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1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118" name="Text Box 17"/>
            <p:cNvSpPr txBox="1">
              <a:spLocks noChangeArrowheads="1"/>
            </p:cNvSpPr>
            <p:nvPr/>
          </p:nvSpPr>
          <p:spPr bwMode="auto">
            <a:xfrm>
              <a:off x="2542" y="1983"/>
              <a:ext cx="442" cy="250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By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9" name="Group 97"/>
          <p:cNvGrpSpPr>
            <a:grpSpLocks/>
          </p:cNvGrpSpPr>
          <p:nvPr/>
        </p:nvGrpSpPr>
        <p:grpSpPr bwMode="auto">
          <a:xfrm>
            <a:off x="4971628" y="4385292"/>
            <a:ext cx="915987" cy="828675"/>
            <a:chOff x="4562" y="2247"/>
            <a:chExt cx="577" cy="522"/>
          </a:xfrm>
        </p:grpSpPr>
        <p:sp>
          <p:nvSpPr>
            <p:cNvPr id="120" name="Oval 98"/>
            <p:cNvSpPr>
              <a:spLocks noChangeArrowheads="1"/>
            </p:cNvSpPr>
            <p:nvPr/>
          </p:nvSpPr>
          <p:spPr bwMode="auto">
            <a:xfrm>
              <a:off x="4562" y="2342"/>
              <a:ext cx="406" cy="427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1" name="Text Box 99"/>
            <p:cNvSpPr txBox="1">
              <a:spLocks noChangeArrowheads="1"/>
            </p:cNvSpPr>
            <p:nvPr/>
          </p:nvSpPr>
          <p:spPr bwMode="auto">
            <a:xfrm>
              <a:off x="4916" y="2247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/>
                <a:t>B</a:t>
              </a:r>
            </a:p>
          </p:txBody>
        </p:sp>
        <p:sp>
          <p:nvSpPr>
            <p:cNvPr id="122" name="Oval 100"/>
            <p:cNvSpPr>
              <a:spLocks noChangeArrowheads="1"/>
            </p:cNvSpPr>
            <p:nvPr/>
          </p:nvSpPr>
          <p:spPr bwMode="auto">
            <a:xfrm>
              <a:off x="4736" y="2537"/>
              <a:ext cx="61" cy="6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lg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23" name="Group 101"/>
          <p:cNvGrpSpPr>
            <a:grpSpLocks/>
          </p:cNvGrpSpPr>
          <p:nvPr/>
        </p:nvGrpSpPr>
        <p:grpSpPr bwMode="auto">
          <a:xfrm>
            <a:off x="4112794" y="4078904"/>
            <a:ext cx="1916113" cy="1871663"/>
            <a:chOff x="4024" y="2050"/>
            <a:chExt cx="1207" cy="1179"/>
          </a:xfrm>
        </p:grpSpPr>
        <p:sp>
          <p:nvSpPr>
            <p:cNvPr id="124" name="Text Box 102"/>
            <p:cNvSpPr txBox="1">
              <a:spLocks noChangeArrowheads="1"/>
            </p:cNvSpPr>
            <p:nvPr/>
          </p:nvSpPr>
          <p:spPr bwMode="auto">
            <a:xfrm>
              <a:off x="4293" y="2977"/>
              <a:ext cx="362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BC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25" name="Line 103"/>
            <p:cNvSpPr>
              <a:spLocks noChangeShapeType="1"/>
            </p:cNvSpPr>
            <p:nvPr/>
          </p:nvSpPr>
          <p:spPr bwMode="auto">
            <a:xfrm>
              <a:off x="4972" y="2574"/>
              <a:ext cx="1" cy="442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6" name="Line 104"/>
            <p:cNvSpPr>
              <a:spLocks noChangeShapeType="1"/>
            </p:cNvSpPr>
            <p:nvPr/>
          </p:nvSpPr>
          <p:spPr bwMode="auto">
            <a:xfrm flipH="1">
              <a:off x="4394" y="2336"/>
              <a:ext cx="364" cy="1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7" name="Line 105"/>
            <p:cNvSpPr>
              <a:spLocks noChangeShapeType="1"/>
            </p:cNvSpPr>
            <p:nvPr/>
          </p:nvSpPr>
          <p:spPr bwMode="auto">
            <a:xfrm flipV="1">
              <a:off x="4538" y="2583"/>
              <a:ext cx="216" cy="46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8" name="Line 106"/>
            <p:cNvSpPr>
              <a:spLocks noChangeShapeType="1"/>
            </p:cNvSpPr>
            <p:nvPr/>
          </p:nvSpPr>
          <p:spPr bwMode="auto">
            <a:xfrm flipH="1" flipV="1">
              <a:off x="4260" y="2355"/>
              <a:ext cx="474" cy="203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9" name="Object 107"/>
            <p:cNvGraphicFramePr>
              <a:graphicFrameLocks noChangeAspect="1"/>
            </p:cNvGraphicFramePr>
            <p:nvPr/>
          </p:nvGraphicFramePr>
          <p:xfrm>
            <a:off x="4288" y="2426"/>
            <a:ext cx="17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09550" imgH="180975" progId="Equation.3">
                    <p:embed/>
                  </p:oleObj>
                </mc:Choice>
                <mc:Fallback>
                  <p:oleObj name="公式" r:id="rId6" imgW="209550" imgH="1809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8" y="2426"/>
                          <a:ext cx="17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999999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0" name="Object 108"/>
            <p:cNvGraphicFramePr>
              <a:graphicFrameLocks noChangeAspect="1"/>
            </p:cNvGraphicFramePr>
            <p:nvPr/>
          </p:nvGraphicFramePr>
          <p:xfrm>
            <a:off x="4334" y="2678"/>
            <a:ext cx="17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09550" imgH="180975" progId="Equation.3">
                    <p:embed/>
                  </p:oleObj>
                </mc:Choice>
                <mc:Fallback>
                  <p:oleObj name="公式" r:id="rId8" imgW="209550" imgH="1809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2678"/>
                          <a:ext cx="17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999999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1" name="Text Box 109"/>
            <p:cNvSpPr txBox="1">
              <a:spLocks noChangeArrowheads="1"/>
            </p:cNvSpPr>
            <p:nvPr/>
          </p:nvSpPr>
          <p:spPr bwMode="auto">
            <a:xfrm>
              <a:off x="4024" y="2063"/>
              <a:ext cx="356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BA</a:t>
              </a:r>
            </a:p>
          </p:txBody>
        </p:sp>
        <p:sp>
          <p:nvSpPr>
            <p:cNvPr id="132" name="Text Box 110"/>
            <p:cNvSpPr txBox="1">
              <a:spLocks noChangeArrowheads="1"/>
            </p:cNvSpPr>
            <p:nvPr/>
          </p:nvSpPr>
          <p:spPr bwMode="auto">
            <a:xfrm>
              <a:off x="4318" y="2050"/>
              <a:ext cx="278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2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133" name="Text Box 111"/>
            <p:cNvSpPr txBox="1">
              <a:spLocks noChangeArrowheads="1"/>
            </p:cNvSpPr>
            <p:nvPr/>
          </p:nvSpPr>
          <p:spPr bwMode="auto">
            <a:xfrm>
              <a:off x="4953" y="2904"/>
              <a:ext cx="278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1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134" name="Line 112"/>
            <p:cNvSpPr>
              <a:spLocks noChangeShapeType="1"/>
            </p:cNvSpPr>
            <p:nvPr/>
          </p:nvSpPr>
          <p:spPr bwMode="auto">
            <a:xfrm flipH="1">
              <a:off x="4299" y="257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Arc 113"/>
            <p:cNvSpPr>
              <a:spLocks/>
            </p:cNvSpPr>
            <p:nvPr/>
          </p:nvSpPr>
          <p:spPr bwMode="auto">
            <a:xfrm rot="-10626537">
              <a:off x="4492" y="2586"/>
              <a:ext cx="139" cy="2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Arc 114"/>
            <p:cNvSpPr>
              <a:spLocks/>
            </p:cNvSpPr>
            <p:nvPr/>
          </p:nvSpPr>
          <p:spPr bwMode="auto">
            <a:xfrm rot="-8812821">
              <a:off x="4497" y="2503"/>
              <a:ext cx="92" cy="81"/>
            </a:xfrm>
            <a:custGeom>
              <a:avLst/>
              <a:gdLst>
                <a:gd name="T0" fmla="*/ 0 w 21600"/>
                <a:gd name="T1" fmla="*/ 0 h 13583"/>
                <a:gd name="T2" fmla="*/ 0 w 21600"/>
                <a:gd name="T3" fmla="*/ 0 h 13583"/>
                <a:gd name="T4" fmla="*/ 0 w 21600"/>
                <a:gd name="T5" fmla="*/ 0 h 1358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3583"/>
                <a:gd name="T11" fmla="*/ 21600 w 21600"/>
                <a:gd name="T12" fmla="*/ 13583 h 135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3583" fill="none" extrusionOk="0">
                  <a:moveTo>
                    <a:pt x="16794" y="-1"/>
                  </a:moveTo>
                  <a:cubicBezTo>
                    <a:pt x="19903" y="3843"/>
                    <a:pt x="21600" y="8638"/>
                    <a:pt x="21600" y="13583"/>
                  </a:cubicBezTo>
                </a:path>
                <a:path w="21600" h="13583" stroke="0" extrusionOk="0">
                  <a:moveTo>
                    <a:pt x="16794" y="-1"/>
                  </a:moveTo>
                  <a:cubicBezTo>
                    <a:pt x="19903" y="3843"/>
                    <a:pt x="21600" y="8638"/>
                    <a:pt x="21600" y="13583"/>
                  </a:cubicBezTo>
                  <a:lnTo>
                    <a:pt x="0" y="13583"/>
                  </a:lnTo>
                  <a:lnTo>
                    <a:pt x="16794" y="-1"/>
                  </a:lnTo>
                  <a:close/>
                </a:path>
              </a:pathLst>
            </a:cu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" name="Group 141"/>
          <p:cNvGrpSpPr>
            <a:grpSpLocks/>
          </p:cNvGrpSpPr>
          <p:nvPr/>
        </p:nvGrpSpPr>
        <p:grpSpPr bwMode="auto">
          <a:xfrm>
            <a:off x="6625880" y="4302781"/>
            <a:ext cx="1703388" cy="1820863"/>
            <a:chOff x="3795" y="2634"/>
            <a:chExt cx="1073" cy="1147"/>
          </a:xfrm>
        </p:grpSpPr>
        <p:sp>
          <p:nvSpPr>
            <p:cNvPr id="138" name="Line 118"/>
            <p:cNvSpPr>
              <a:spLocks noChangeShapeType="1"/>
            </p:cNvSpPr>
            <p:nvPr/>
          </p:nvSpPr>
          <p:spPr bwMode="auto">
            <a:xfrm>
              <a:off x="4349" y="2719"/>
              <a:ext cx="1" cy="506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" name="Line 119"/>
            <p:cNvSpPr>
              <a:spLocks noChangeShapeType="1"/>
            </p:cNvSpPr>
            <p:nvPr/>
          </p:nvSpPr>
          <p:spPr bwMode="auto">
            <a:xfrm flipH="1">
              <a:off x="4386" y="3246"/>
              <a:ext cx="445" cy="8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miter lim="800000"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" name="Text Box 120"/>
            <p:cNvSpPr txBox="1">
              <a:spLocks noChangeArrowheads="1"/>
            </p:cNvSpPr>
            <p:nvPr/>
          </p:nvSpPr>
          <p:spPr bwMode="auto">
            <a:xfrm>
              <a:off x="4490" y="3253"/>
              <a:ext cx="378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b="1" i="1" dirty="0" err="1">
                  <a:solidFill>
                    <a:srgbClr val="FF0000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Bx</a:t>
              </a:r>
              <a:endParaRPr lang="en-US" altLang="zh-CN" sz="2000" i="1" dirty="0">
                <a:solidFill>
                  <a:srgbClr val="FF0000"/>
                </a:solidFill>
                <a:cs typeface="Times New Roman" pitchFamily="18" charset="0"/>
              </a:endParaRPr>
            </a:p>
          </p:txBody>
        </p:sp>
        <p:sp>
          <p:nvSpPr>
            <p:cNvPr id="141" name="Text Box 123"/>
            <p:cNvSpPr txBox="1">
              <a:spLocks noChangeArrowheads="1"/>
            </p:cNvSpPr>
            <p:nvPr/>
          </p:nvSpPr>
          <p:spPr bwMode="auto">
            <a:xfrm>
              <a:off x="4331" y="2634"/>
              <a:ext cx="442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b="1" i="1" dirty="0" err="1">
                  <a:solidFill>
                    <a:srgbClr val="FF0000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By</a:t>
              </a:r>
              <a:endParaRPr lang="en-US" altLang="zh-CN" sz="2000" i="1" dirty="0">
                <a:solidFill>
                  <a:srgbClr val="FF0000"/>
                </a:solidFill>
                <a:cs typeface="Times New Roman" pitchFamily="18" charset="0"/>
              </a:endParaRPr>
            </a:p>
          </p:txBody>
        </p:sp>
        <p:sp>
          <p:nvSpPr>
            <p:cNvPr id="142" name="Oval 124"/>
            <p:cNvSpPr>
              <a:spLocks noChangeArrowheads="1"/>
            </p:cNvSpPr>
            <p:nvPr/>
          </p:nvSpPr>
          <p:spPr bwMode="auto">
            <a:xfrm>
              <a:off x="4310" y="3203"/>
              <a:ext cx="91" cy="90"/>
            </a:xfrm>
            <a:prstGeom prst="ellipse">
              <a:avLst/>
            </a:prstGeom>
            <a:solidFill>
              <a:schemeClr val="accent1"/>
            </a:solidFill>
            <a:ln w="222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43" name="Group 140"/>
            <p:cNvGrpSpPr>
              <a:grpSpLocks/>
            </p:cNvGrpSpPr>
            <p:nvPr/>
          </p:nvGrpSpPr>
          <p:grpSpPr bwMode="auto">
            <a:xfrm>
              <a:off x="3795" y="2798"/>
              <a:ext cx="720" cy="983"/>
              <a:chOff x="3563" y="2862"/>
              <a:chExt cx="720" cy="983"/>
            </a:xfrm>
          </p:grpSpPr>
          <p:sp>
            <p:nvSpPr>
              <p:cNvPr id="144" name="Text Box 133"/>
              <p:cNvSpPr txBox="1">
                <a:spLocks noChangeArrowheads="1"/>
              </p:cNvSpPr>
              <p:nvPr/>
            </p:nvSpPr>
            <p:spPr bwMode="auto">
              <a:xfrm>
                <a:off x="3563" y="2862"/>
                <a:ext cx="356" cy="252"/>
              </a:xfrm>
              <a:prstGeom prst="rect">
                <a:avLst/>
              </a:prstGeom>
              <a:noFill/>
              <a:ln w="28575" cap="sq">
                <a:noFill/>
                <a:miter lim="800000"/>
                <a:headEnd type="none" w="sm" len="sm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000" b="1" i="1" dirty="0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</a:rPr>
                  <a:t>BA</a:t>
                </a:r>
                <a:endParaRPr lang="en-US" altLang="zh-CN" sz="2000" i="1" baseline="-25000" dirty="0">
                  <a:solidFill>
                    <a:srgbClr val="FF0000"/>
                  </a:solidFill>
                  <a:cs typeface="Times New Roman" pitchFamily="18" charset="0"/>
                </a:endParaRPr>
              </a:p>
            </p:txBody>
          </p:sp>
          <p:grpSp>
            <p:nvGrpSpPr>
              <p:cNvPr id="145" name="Group 139"/>
              <p:cNvGrpSpPr>
                <a:grpSpLocks/>
              </p:cNvGrpSpPr>
              <p:nvPr/>
            </p:nvGrpSpPr>
            <p:grpSpPr bwMode="auto">
              <a:xfrm>
                <a:off x="3612" y="3095"/>
                <a:ext cx="671" cy="750"/>
                <a:chOff x="3324" y="3237"/>
                <a:chExt cx="671" cy="750"/>
              </a:xfrm>
            </p:grpSpPr>
            <p:sp>
              <p:nvSpPr>
                <p:cNvPr id="146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3633" y="3735"/>
                  <a:ext cx="362" cy="252"/>
                </a:xfrm>
                <a:prstGeom prst="rect">
                  <a:avLst/>
                </a:prstGeom>
                <a:noFill/>
                <a:ln w="28575" cap="sq">
                  <a:noFill/>
                  <a:miter lim="800000"/>
                  <a:headEnd type="none" w="sm" len="sm"/>
                  <a:tailEnd type="none" w="sm" len="lg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F</a:t>
                  </a:r>
                  <a:r>
                    <a:rPr lang="en-US" altLang="zh-CN" sz="2000" i="1" baseline="-25000" dirty="0">
                      <a:solidFill>
                        <a:srgbClr val="FF0000"/>
                      </a:solidFill>
                    </a:rPr>
                    <a:t>BC</a:t>
                  </a:r>
                  <a:endParaRPr lang="en-US" altLang="zh-CN" sz="2000" i="1" dirty="0">
                    <a:solidFill>
                      <a:srgbClr val="FF0000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7" name="Line 129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3605" y="3477"/>
                  <a:ext cx="216" cy="460"/>
                </a:xfrm>
                <a:prstGeom prst="line">
                  <a:avLst/>
                </a:prstGeom>
                <a:noFill/>
                <a:ln w="28575" cap="sq">
                  <a:solidFill>
                    <a:srgbClr val="FF0000"/>
                  </a:solidFill>
                  <a:miter lim="800000"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48" name="Line 130"/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324" y="3237"/>
                  <a:ext cx="474" cy="203"/>
                </a:xfrm>
                <a:prstGeom prst="line">
                  <a:avLst/>
                </a:prstGeom>
                <a:noFill/>
                <a:ln w="28575" cap="sq">
                  <a:solidFill>
                    <a:srgbClr val="FF0000"/>
                  </a:solidFill>
                  <a:miter lim="800000"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9" name="Object 131"/>
                <p:cNvGraphicFramePr>
                  <a:graphicFrameLocks noChangeAspect="1"/>
                </p:cNvGraphicFramePr>
                <p:nvPr/>
              </p:nvGraphicFramePr>
              <p:xfrm>
                <a:off x="3346" y="3326"/>
                <a:ext cx="179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209550" imgH="180975" progId="Equation.3">
                        <p:embed/>
                      </p:oleObj>
                    </mc:Choice>
                    <mc:Fallback>
                      <p:oleObj name="公式" r:id="rId6" imgW="209550" imgH="18097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46" y="3326"/>
                              <a:ext cx="179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99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17961" dir="2700000" algn="ctr" rotWithShape="0">
                                      <a:srgbClr val="999999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0" name="Object 132"/>
                <p:cNvGraphicFramePr>
                  <a:graphicFrameLocks noChangeAspect="1"/>
                </p:cNvGraphicFramePr>
                <p:nvPr/>
              </p:nvGraphicFramePr>
              <p:xfrm>
                <a:off x="3392" y="3578"/>
                <a:ext cx="179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8" imgW="209550" imgH="180975" progId="Equation.3">
                        <p:embed/>
                      </p:oleObj>
                    </mc:Choice>
                    <mc:Fallback>
                      <p:oleObj name="公式" r:id="rId8" imgW="209550" imgH="18097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92" y="3578"/>
                              <a:ext cx="179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17961" dir="2700000" algn="ctr" rotWithShape="0">
                                      <a:srgbClr val="999999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1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3357" y="3476"/>
                  <a:ext cx="43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" name="Arc 137"/>
                <p:cNvSpPr>
                  <a:spLocks/>
                </p:cNvSpPr>
                <p:nvPr/>
              </p:nvSpPr>
              <p:spPr bwMode="auto">
                <a:xfrm rot="-10626537">
                  <a:off x="3550" y="3486"/>
                  <a:ext cx="139" cy="21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" name="Arc 138"/>
                <p:cNvSpPr>
                  <a:spLocks/>
                </p:cNvSpPr>
                <p:nvPr/>
              </p:nvSpPr>
              <p:spPr bwMode="auto">
                <a:xfrm rot="-8812821">
                  <a:off x="3555" y="3403"/>
                  <a:ext cx="92" cy="81"/>
                </a:xfrm>
                <a:custGeom>
                  <a:avLst/>
                  <a:gdLst>
                    <a:gd name="T0" fmla="*/ 0 w 21600"/>
                    <a:gd name="T1" fmla="*/ 0 h 13583"/>
                    <a:gd name="T2" fmla="*/ 0 w 21600"/>
                    <a:gd name="T3" fmla="*/ 0 h 13583"/>
                    <a:gd name="T4" fmla="*/ 0 w 21600"/>
                    <a:gd name="T5" fmla="*/ 0 h 13583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3583"/>
                    <a:gd name="T11" fmla="*/ 21600 w 21600"/>
                    <a:gd name="T12" fmla="*/ 13583 h 1358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3583" fill="none" extrusionOk="0">
                      <a:moveTo>
                        <a:pt x="16794" y="-1"/>
                      </a:moveTo>
                      <a:cubicBezTo>
                        <a:pt x="19903" y="3843"/>
                        <a:pt x="21600" y="8638"/>
                        <a:pt x="21600" y="13583"/>
                      </a:cubicBezTo>
                    </a:path>
                    <a:path w="21600" h="13583" stroke="0" extrusionOk="0">
                      <a:moveTo>
                        <a:pt x="16794" y="-1"/>
                      </a:moveTo>
                      <a:cubicBezTo>
                        <a:pt x="19903" y="3843"/>
                        <a:pt x="21600" y="8638"/>
                        <a:pt x="21600" y="13583"/>
                      </a:cubicBezTo>
                      <a:lnTo>
                        <a:pt x="0" y="13583"/>
                      </a:lnTo>
                      <a:lnTo>
                        <a:pt x="16794" y="-1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54" name="Text Box 144"/>
          <p:cNvSpPr txBox="1">
            <a:spLocks noChangeArrowheads="1"/>
          </p:cNvSpPr>
          <p:nvPr/>
        </p:nvSpPr>
        <p:spPr bwMode="auto">
          <a:xfrm>
            <a:off x="782890" y="5964853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12"/>
              </a:buBlip>
            </a:pPr>
            <a:r>
              <a:rPr lang="en-US" altLang="zh-CN" dirty="0"/>
              <a:t>  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一般不必将销钉单独作为研究对象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315262" y="1549263"/>
            <a:ext cx="2632876" cy="1636713"/>
            <a:chOff x="3315262" y="1549263"/>
            <a:chExt cx="2632876" cy="1636713"/>
          </a:xfrm>
        </p:grpSpPr>
        <p:grpSp>
          <p:nvGrpSpPr>
            <p:cNvPr id="7" name="Group 168"/>
            <p:cNvGrpSpPr>
              <a:grpSpLocks/>
            </p:cNvGrpSpPr>
            <p:nvPr/>
          </p:nvGrpSpPr>
          <p:grpSpPr bwMode="auto">
            <a:xfrm>
              <a:off x="3315262" y="1549263"/>
              <a:ext cx="2463800" cy="1636713"/>
              <a:chOff x="3381" y="1251"/>
              <a:chExt cx="1552" cy="1031"/>
            </a:xfrm>
          </p:grpSpPr>
          <p:sp>
            <p:nvSpPr>
              <p:cNvPr id="45075" name="Line 169"/>
              <p:cNvSpPr>
                <a:spLocks noChangeShapeType="1"/>
              </p:cNvSpPr>
              <p:nvPr/>
            </p:nvSpPr>
            <p:spPr bwMode="auto">
              <a:xfrm>
                <a:off x="4501" y="2042"/>
                <a:ext cx="432" cy="24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miter lim="800000"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076" name="Line 170"/>
              <p:cNvSpPr>
                <a:spLocks noChangeShapeType="1"/>
              </p:cNvSpPr>
              <p:nvPr/>
            </p:nvSpPr>
            <p:spPr bwMode="auto">
              <a:xfrm flipH="1" flipV="1">
                <a:off x="3381" y="1450"/>
                <a:ext cx="384" cy="192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miter lim="800000"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077" name="Text Box 171"/>
              <p:cNvSpPr txBox="1">
                <a:spLocks noChangeArrowheads="1"/>
              </p:cNvSpPr>
              <p:nvPr/>
            </p:nvSpPr>
            <p:spPr bwMode="auto">
              <a:xfrm>
                <a:off x="3469" y="1251"/>
                <a:ext cx="35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i="1" dirty="0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</a:rPr>
                  <a:t>AB</a:t>
                </a:r>
                <a:endParaRPr lang="en-US" altLang="zh-CN" sz="2000" i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5" name="Text Box 171"/>
            <p:cNvSpPr txBox="1">
              <a:spLocks noChangeArrowheads="1"/>
            </p:cNvSpPr>
            <p:nvPr/>
          </p:nvSpPr>
          <p:spPr bwMode="auto">
            <a:xfrm>
              <a:off x="5311425" y="2623177"/>
              <a:ext cx="6367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="1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′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BA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606716" y="1555627"/>
            <a:ext cx="1673225" cy="2917060"/>
            <a:chOff x="6606716" y="1555627"/>
            <a:chExt cx="1673225" cy="2917060"/>
          </a:xfrm>
        </p:grpSpPr>
        <p:grpSp>
          <p:nvGrpSpPr>
            <p:cNvPr id="9" name="Group 179"/>
            <p:cNvGrpSpPr>
              <a:grpSpLocks/>
            </p:cNvGrpSpPr>
            <p:nvPr/>
          </p:nvGrpSpPr>
          <p:grpSpPr bwMode="auto">
            <a:xfrm>
              <a:off x="6606716" y="1646937"/>
              <a:ext cx="1673225" cy="2825750"/>
              <a:chOff x="2730" y="2330"/>
              <a:chExt cx="1054" cy="1780"/>
            </a:xfrm>
          </p:grpSpPr>
          <p:sp>
            <p:nvSpPr>
              <p:cNvPr id="45066" name="Line 180"/>
              <p:cNvSpPr>
                <a:spLocks noChangeShapeType="1"/>
              </p:cNvSpPr>
              <p:nvPr/>
            </p:nvSpPr>
            <p:spPr bwMode="auto">
              <a:xfrm flipV="1">
                <a:off x="2970" y="3774"/>
                <a:ext cx="144" cy="336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miter lim="800000"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067" name="Line 181"/>
              <p:cNvSpPr>
                <a:spLocks noChangeShapeType="1"/>
              </p:cNvSpPr>
              <p:nvPr/>
            </p:nvSpPr>
            <p:spPr bwMode="auto">
              <a:xfrm flipH="1">
                <a:off x="3640" y="2330"/>
                <a:ext cx="144" cy="336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miter lim="800000"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502" name="Text Box 182"/>
              <p:cNvSpPr txBox="1">
                <a:spLocks noChangeArrowheads="1"/>
              </p:cNvSpPr>
              <p:nvPr/>
            </p:nvSpPr>
            <p:spPr bwMode="auto">
              <a:xfrm>
                <a:off x="2730" y="3630"/>
                <a:ext cx="362" cy="252"/>
              </a:xfrm>
              <a:prstGeom prst="rect">
                <a:avLst/>
              </a:prstGeom>
              <a:noFill/>
              <a:ln w="28575" cap="sq">
                <a:noFill/>
                <a:miter lim="800000"/>
                <a:headEnd type="none" w="sm" len="sm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000" b="1" i="1" dirty="0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</a:rPr>
                  <a:t>CB</a:t>
                </a:r>
                <a:endParaRPr lang="en-US" altLang="zh-CN" sz="2000" i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7" name="Text Box 182"/>
            <p:cNvSpPr txBox="1">
              <a:spLocks noChangeArrowheads="1"/>
            </p:cNvSpPr>
            <p:nvPr/>
          </p:nvSpPr>
          <p:spPr bwMode="auto">
            <a:xfrm>
              <a:off x="7548337" y="1555627"/>
              <a:ext cx="646331" cy="400110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="1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′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BC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6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4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81" grpId="0" autoUpdateAnimBg="0"/>
      <p:bldP spid="56504" grpId="0" autoUpdateAnimBg="0"/>
      <p:bldP spid="105" grpId="0" autoUpdateAnimBg="0"/>
      <p:bldP spid="1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603"/>
          <p:cNvGrpSpPr>
            <a:grpSpLocks/>
          </p:cNvGrpSpPr>
          <p:nvPr/>
        </p:nvGrpSpPr>
        <p:grpSpPr bwMode="auto">
          <a:xfrm>
            <a:off x="755576" y="1124744"/>
            <a:ext cx="4269105" cy="1616075"/>
            <a:chOff x="1678" y="2410"/>
            <a:chExt cx="6723" cy="2545"/>
          </a:xfrm>
        </p:grpSpPr>
        <p:sp>
          <p:nvSpPr>
            <p:cNvPr id="94" name="Rectangle 413"/>
            <p:cNvSpPr>
              <a:spLocks noChangeArrowheads="1"/>
            </p:cNvSpPr>
            <p:nvPr/>
          </p:nvSpPr>
          <p:spPr bwMode="auto">
            <a:xfrm rot="8100000" flipH="1">
              <a:off x="4978" y="3081"/>
              <a:ext cx="103" cy="131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95" name="Group 240"/>
            <p:cNvGrpSpPr>
              <a:grpSpLocks/>
            </p:cNvGrpSpPr>
            <p:nvPr/>
          </p:nvGrpSpPr>
          <p:grpSpPr bwMode="auto">
            <a:xfrm>
              <a:off x="1841" y="4792"/>
              <a:ext cx="480" cy="136"/>
              <a:chOff x="4235" y="3434"/>
              <a:chExt cx="470" cy="179"/>
            </a:xfrm>
          </p:grpSpPr>
          <p:sp>
            <p:nvSpPr>
              <p:cNvPr id="177" name="Rectangle 241" descr="宽上对角线"/>
              <p:cNvSpPr>
                <a:spLocks noChangeArrowheads="1"/>
              </p:cNvSpPr>
              <p:nvPr/>
            </p:nvSpPr>
            <p:spPr bwMode="auto">
              <a:xfrm>
                <a:off x="4235" y="3434"/>
                <a:ext cx="464" cy="179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178" name="Line 242"/>
              <p:cNvCxnSpPr>
                <a:cxnSpLocks noChangeShapeType="1"/>
              </p:cNvCxnSpPr>
              <p:nvPr/>
            </p:nvCxnSpPr>
            <p:spPr bwMode="auto">
              <a:xfrm>
                <a:off x="4235" y="3434"/>
                <a:ext cx="470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6" name="Group 243"/>
            <p:cNvGrpSpPr>
              <a:grpSpLocks/>
            </p:cNvGrpSpPr>
            <p:nvPr/>
          </p:nvGrpSpPr>
          <p:grpSpPr bwMode="auto">
            <a:xfrm>
              <a:off x="2032" y="3044"/>
              <a:ext cx="169" cy="1911"/>
              <a:chOff x="3184" y="2553"/>
              <a:chExt cx="211" cy="2325"/>
            </a:xfrm>
          </p:grpSpPr>
          <p:sp>
            <p:nvSpPr>
              <p:cNvPr id="175" name="Rectangle 244"/>
              <p:cNvSpPr>
                <a:spLocks noChangeArrowheads="1"/>
              </p:cNvSpPr>
              <p:nvPr/>
            </p:nvSpPr>
            <p:spPr bwMode="auto">
              <a:xfrm flipH="1">
                <a:off x="3184" y="2652"/>
                <a:ext cx="125" cy="222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6" name="Rectangle 245"/>
              <p:cNvSpPr>
                <a:spLocks noChangeArrowheads="1"/>
              </p:cNvSpPr>
              <p:nvPr/>
            </p:nvSpPr>
            <p:spPr bwMode="auto">
              <a:xfrm rot="2700000">
                <a:off x="3195" y="2569"/>
                <a:ext cx="216" cy="1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7" name="Group 246"/>
            <p:cNvGrpSpPr>
              <a:grpSpLocks/>
            </p:cNvGrpSpPr>
            <p:nvPr/>
          </p:nvGrpSpPr>
          <p:grpSpPr bwMode="auto">
            <a:xfrm>
              <a:off x="2035" y="3148"/>
              <a:ext cx="866" cy="102"/>
              <a:chOff x="3780" y="2465"/>
              <a:chExt cx="1080" cy="125"/>
            </a:xfrm>
          </p:grpSpPr>
          <p:cxnSp>
            <p:nvCxnSpPr>
              <p:cNvPr id="172" name="Line 247"/>
              <p:cNvCxnSpPr>
                <a:cxnSpLocks noChangeShapeType="1"/>
              </p:cNvCxnSpPr>
              <p:nvPr/>
            </p:nvCxnSpPr>
            <p:spPr bwMode="auto">
              <a:xfrm>
                <a:off x="3780" y="2465"/>
                <a:ext cx="10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3" name="Line 248"/>
              <p:cNvCxnSpPr>
                <a:cxnSpLocks noChangeShapeType="1"/>
              </p:cNvCxnSpPr>
              <p:nvPr/>
            </p:nvCxnSpPr>
            <p:spPr bwMode="auto">
              <a:xfrm>
                <a:off x="3876" y="2587"/>
                <a:ext cx="98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Line 249"/>
              <p:cNvCxnSpPr>
                <a:cxnSpLocks noChangeShapeType="1"/>
              </p:cNvCxnSpPr>
              <p:nvPr/>
            </p:nvCxnSpPr>
            <p:spPr bwMode="auto">
              <a:xfrm>
                <a:off x="4846" y="2467"/>
                <a:ext cx="1" cy="1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8" name="Group 254"/>
            <p:cNvGrpSpPr>
              <a:grpSpLocks/>
            </p:cNvGrpSpPr>
            <p:nvPr/>
          </p:nvGrpSpPr>
          <p:grpSpPr bwMode="auto">
            <a:xfrm>
              <a:off x="2042" y="2835"/>
              <a:ext cx="1685" cy="313"/>
              <a:chOff x="4742" y="5412"/>
              <a:chExt cx="4371" cy="774"/>
            </a:xfrm>
          </p:grpSpPr>
          <p:grpSp>
            <p:nvGrpSpPr>
              <p:cNvPr id="138" name="Group 255"/>
              <p:cNvGrpSpPr>
                <a:grpSpLocks/>
              </p:cNvGrpSpPr>
              <p:nvPr/>
            </p:nvGrpSpPr>
            <p:grpSpPr bwMode="auto">
              <a:xfrm>
                <a:off x="5528" y="5412"/>
                <a:ext cx="394" cy="774"/>
                <a:chOff x="4808" y="5397"/>
                <a:chExt cx="394" cy="774"/>
              </a:xfrm>
            </p:grpSpPr>
            <p:cxnSp>
              <p:nvCxnSpPr>
                <p:cNvPr id="170" name="Line 256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1" name="Line 257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39" name="Group 258"/>
              <p:cNvGrpSpPr>
                <a:grpSpLocks/>
              </p:cNvGrpSpPr>
              <p:nvPr/>
            </p:nvGrpSpPr>
            <p:grpSpPr bwMode="auto">
              <a:xfrm>
                <a:off x="5936" y="5412"/>
                <a:ext cx="394" cy="774"/>
                <a:chOff x="4808" y="5397"/>
                <a:chExt cx="394" cy="774"/>
              </a:xfrm>
            </p:grpSpPr>
            <p:cxnSp>
              <p:nvCxnSpPr>
                <p:cNvPr id="168" name="Line 259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9" name="Line 260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0" name="Group 261"/>
              <p:cNvGrpSpPr>
                <a:grpSpLocks/>
              </p:cNvGrpSpPr>
              <p:nvPr/>
            </p:nvGrpSpPr>
            <p:grpSpPr bwMode="auto">
              <a:xfrm>
                <a:off x="4742" y="5412"/>
                <a:ext cx="394" cy="774"/>
                <a:chOff x="4808" y="5397"/>
                <a:chExt cx="394" cy="774"/>
              </a:xfrm>
            </p:grpSpPr>
            <p:cxnSp>
              <p:nvCxnSpPr>
                <p:cNvPr id="166" name="Line 262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7" name="Line 263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1" name="Group 264"/>
              <p:cNvGrpSpPr>
                <a:grpSpLocks/>
              </p:cNvGrpSpPr>
              <p:nvPr/>
            </p:nvGrpSpPr>
            <p:grpSpPr bwMode="auto">
              <a:xfrm>
                <a:off x="5150" y="5412"/>
                <a:ext cx="394" cy="774"/>
                <a:chOff x="4808" y="5397"/>
                <a:chExt cx="394" cy="774"/>
              </a:xfrm>
            </p:grpSpPr>
            <p:cxnSp>
              <p:nvCxnSpPr>
                <p:cNvPr id="164" name="Line 265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5" name="Line 266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2" name="Group 267"/>
              <p:cNvGrpSpPr>
                <a:grpSpLocks/>
              </p:cNvGrpSpPr>
              <p:nvPr/>
            </p:nvGrpSpPr>
            <p:grpSpPr bwMode="auto">
              <a:xfrm>
                <a:off x="7116" y="5412"/>
                <a:ext cx="394" cy="774"/>
                <a:chOff x="4808" y="5397"/>
                <a:chExt cx="394" cy="774"/>
              </a:xfrm>
            </p:grpSpPr>
            <p:cxnSp>
              <p:nvCxnSpPr>
                <p:cNvPr id="162" name="Line 268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3" name="Line 269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3" name="Group 270"/>
              <p:cNvGrpSpPr>
                <a:grpSpLocks/>
              </p:cNvGrpSpPr>
              <p:nvPr/>
            </p:nvGrpSpPr>
            <p:grpSpPr bwMode="auto">
              <a:xfrm>
                <a:off x="7524" y="5412"/>
                <a:ext cx="394" cy="774"/>
                <a:chOff x="4808" y="5397"/>
                <a:chExt cx="394" cy="774"/>
              </a:xfrm>
            </p:grpSpPr>
            <p:cxnSp>
              <p:nvCxnSpPr>
                <p:cNvPr id="160" name="Line 271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1" name="Line 272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4" name="Group 273"/>
              <p:cNvGrpSpPr>
                <a:grpSpLocks/>
              </p:cNvGrpSpPr>
              <p:nvPr/>
            </p:nvGrpSpPr>
            <p:grpSpPr bwMode="auto">
              <a:xfrm>
                <a:off x="6330" y="5412"/>
                <a:ext cx="394" cy="774"/>
                <a:chOff x="4808" y="5397"/>
                <a:chExt cx="394" cy="774"/>
              </a:xfrm>
            </p:grpSpPr>
            <p:cxnSp>
              <p:nvCxnSpPr>
                <p:cNvPr id="158" name="Line 274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9" name="Line 275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5" name="Group 276"/>
              <p:cNvGrpSpPr>
                <a:grpSpLocks/>
              </p:cNvGrpSpPr>
              <p:nvPr/>
            </p:nvGrpSpPr>
            <p:grpSpPr bwMode="auto">
              <a:xfrm>
                <a:off x="6738" y="5412"/>
                <a:ext cx="394" cy="774"/>
                <a:chOff x="4808" y="5397"/>
                <a:chExt cx="394" cy="774"/>
              </a:xfrm>
            </p:grpSpPr>
            <p:cxnSp>
              <p:nvCxnSpPr>
                <p:cNvPr id="156" name="Line 277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7" name="Line 278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6" name="Group 279"/>
              <p:cNvGrpSpPr>
                <a:grpSpLocks/>
              </p:cNvGrpSpPr>
              <p:nvPr/>
            </p:nvGrpSpPr>
            <p:grpSpPr bwMode="auto">
              <a:xfrm>
                <a:off x="8704" y="5412"/>
                <a:ext cx="394" cy="774"/>
                <a:chOff x="4808" y="5397"/>
                <a:chExt cx="394" cy="774"/>
              </a:xfrm>
            </p:grpSpPr>
            <p:cxnSp>
              <p:nvCxnSpPr>
                <p:cNvPr id="154" name="Line 280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5" name="Line 281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47" name="Line 282"/>
              <p:cNvCxnSpPr>
                <a:cxnSpLocks noChangeShapeType="1"/>
              </p:cNvCxnSpPr>
              <p:nvPr/>
            </p:nvCxnSpPr>
            <p:spPr bwMode="auto">
              <a:xfrm>
                <a:off x="9112" y="5412"/>
                <a:ext cx="1" cy="77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48" name="Group 283"/>
              <p:cNvGrpSpPr>
                <a:grpSpLocks/>
              </p:cNvGrpSpPr>
              <p:nvPr/>
            </p:nvGrpSpPr>
            <p:grpSpPr bwMode="auto">
              <a:xfrm>
                <a:off x="7918" y="5412"/>
                <a:ext cx="394" cy="774"/>
                <a:chOff x="4808" y="5397"/>
                <a:chExt cx="394" cy="774"/>
              </a:xfrm>
            </p:grpSpPr>
            <p:cxnSp>
              <p:nvCxnSpPr>
                <p:cNvPr id="152" name="Line 284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3" name="Line 285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49" name="Group 286"/>
              <p:cNvGrpSpPr>
                <a:grpSpLocks/>
              </p:cNvGrpSpPr>
              <p:nvPr/>
            </p:nvGrpSpPr>
            <p:grpSpPr bwMode="auto">
              <a:xfrm>
                <a:off x="8326" y="5412"/>
                <a:ext cx="394" cy="774"/>
                <a:chOff x="4808" y="5397"/>
                <a:chExt cx="394" cy="774"/>
              </a:xfrm>
            </p:grpSpPr>
            <p:cxnSp>
              <p:nvCxnSpPr>
                <p:cNvPr id="150" name="Line 287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" name="Line 288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cxnSp>
          <p:nvCxnSpPr>
            <p:cNvPr id="99" name="Line 296"/>
            <p:cNvCxnSpPr>
              <a:cxnSpLocks noChangeShapeType="1"/>
            </p:cNvCxnSpPr>
            <p:nvPr/>
          </p:nvCxnSpPr>
          <p:spPr bwMode="auto">
            <a:xfrm>
              <a:off x="6745" y="2572"/>
              <a:ext cx="1" cy="6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" name="Arc 306"/>
            <p:cNvSpPr>
              <a:spLocks/>
            </p:cNvSpPr>
            <p:nvPr/>
          </p:nvSpPr>
          <p:spPr bwMode="auto">
            <a:xfrm flipV="1">
              <a:off x="4769" y="3239"/>
              <a:ext cx="181" cy="1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01" name="Text Box 307"/>
            <p:cNvSpPr txBox="1">
              <a:spLocks noChangeArrowheads="1"/>
            </p:cNvSpPr>
            <p:nvPr/>
          </p:nvSpPr>
          <p:spPr bwMode="auto">
            <a:xfrm>
              <a:off x="4912" y="3275"/>
              <a:ext cx="608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45°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312"/>
            <p:cNvSpPr txBox="1">
              <a:spLocks noChangeArrowheads="1"/>
            </p:cNvSpPr>
            <p:nvPr/>
          </p:nvSpPr>
          <p:spPr bwMode="auto">
            <a:xfrm>
              <a:off x="2814" y="2410"/>
              <a:ext cx="235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Text Box 314"/>
            <p:cNvSpPr txBox="1">
              <a:spLocks noChangeArrowheads="1"/>
            </p:cNvSpPr>
            <p:nvPr/>
          </p:nvSpPr>
          <p:spPr bwMode="auto">
            <a:xfrm>
              <a:off x="2767" y="3236"/>
              <a:ext cx="2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Text Box 315"/>
            <p:cNvSpPr txBox="1">
              <a:spLocks noChangeArrowheads="1"/>
            </p:cNvSpPr>
            <p:nvPr/>
          </p:nvSpPr>
          <p:spPr bwMode="auto">
            <a:xfrm>
              <a:off x="4394" y="2843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Text Box 316"/>
            <p:cNvSpPr txBox="1">
              <a:spLocks noChangeArrowheads="1"/>
            </p:cNvSpPr>
            <p:nvPr/>
          </p:nvSpPr>
          <p:spPr bwMode="auto">
            <a:xfrm>
              <a:off x="6608" y="3277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Text Box 318"/>
            <p:cNvSpPr txBox="1">
              <a:spLocks noChangeArrowheads="1"/>
            </p:cNvSpPr>
            <p:nvPr/>
          </p:nvSpPr>
          <p:spPr bwMode="auto">
            <a:xfrm>
              <a:off x="7741" y="2901"/>
              <a:ext cx="2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Text Box 319"/>
            <p:cNvSpPr txBox="1">
              <a:spLocks noChangeArrowheads="1"/>
            </p:cNvSpPr>
            <p:nvPr/>
          </p:nvSpPr>
          <p:spPr bwMode="auto">
            <a:xfrm>
              <a:off x="6396" y="2682"/>
              <a:ext cx="27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 251"/>
            <p:cNvSpPr>
              <a:spLocks noChangeArrowheads="1"/>
            </p:cNvSpPr>
            <p:nvPr/>
          </p:nvSpPr>
          <p:spPr bwMode="auto">
            <a:xfrm rot="5400000" flipH="1">
              <a:off x="4763" y="1250"/>
              <a:ext cx="103" cy="389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09" name="Oval 252"/>
            <p:cNvSpPr>
              <a:spLocks noChangeAspect="1" noChangeArrowheads="1"/>
            </p:cNvSpPr>
            <p:nvPr/>
          </p:nvSpPr>
          <p:spPr bwMode="auto">
            <a:xfrm>
              <a:off x="2821" y="3137"/>
              <a:ext cx="100" cy="10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10" name="Oval 253"/>
            <p:cNvSpPr>
              <a:spLocks noChangeAspect="1" noChangeArrowheads="1"/>
            </p:cNvSpPr>
            <p:nvPr/>
          </p:nvSpPr>
          <p:spPr bwMode="auto">
            <a:xfrm>
              <a:off x="4502" y="3199"/>
              <a:ext cx="100" cy="1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11" name="Group 414"/>
            <p:cNvGrpSpPr>
              <a:grpSpLocks/>
            </p:cNvGrpSpPr>
            <p:nvPr/>
          </p:nvGrpSpPr>
          <p:grpSpPr bwMode="auto">
            <a:xfrm>
              <a:off x="5274" y="4152"/>
              <a:ext cx="478" cy="375"/>
              <a:chOff x="6287" y="4463"/>
              <a:chExt cx="514" cy="392"/>
            </a:xfrm>
          </p:grpSpPr>
          <p:grpSp>
            <p:nvGrpSpPr>
              <p:cNvPr id="132" name="Group 290"/>
              <p:cNvGrpSpPr>
                <a:grpSpLocks/>
              </p:cNvGrpSpPr>
              <p:nvPr/>
            </p:nvGrpSpPr>
            <p:grpSpPr bwMode="auto">
              <a:xfrm>
                <a:off x="6287" y="4737"/>
                <a:ext cx="514" cy="118"/>
                <a:chOff x="4235" y="3434"/>
                <a:chExt cx="470" cy="179"/>
              </a:xfrm>
            </p:grpSpPr>
            <p:sp>
              <p:nvSpPr>
                <p:cNvPr id="136" name="Rectangle 291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cxnSp>
              <p:nvCxnSpPr>
                <p:cNvPr id="137" name="Line 292"/>
                <p:cNvCxnSpPr>
                  <a:cxnSpLocks noChangeShapeType="1"/>
                </p:cNvCxnSpPr>
                <p:nvPr/>
              </p:nvCxn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33" name="Line 293"/>
              <p:cNvCxnSpPr>
                <a:cxnSpLocks noChangeShapeType="1"/>
              </p:cNvCxnSpPr>
              <p:nvPr/>
            </p:nvCxnSpPr>
            <p:spPr bwMode="auto">
              <a:xfrm rot="19800000">
                <a:off x="6611" y="4509"/>
                <a:ext cx="3" cy="23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4" name="Line 294"/>
              <p:cNvCxnSpPr>
                <a:cxnSpLocks noChangeShapeType="1"/>
              </p:cNvCxnSpPr>
              <p:nvPr/>
            </p:nvCxnSpPr>
            <p:spPr bwMode="auto">
              <a:xfrm rot="1800000">
                <a:off x="6454" y="4509"/>
                <a:ext cx="8" cy="2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5" name="Oval 295"/>
              <p:cNvSpPr>
                <a:spLocks noChangeAspect="1" noChangeArrowheads="1"/>
              </p:cNvSpPr>
              <p:nvPr/>
            </p:nvSpPr>
            <p:spPr bwMode="auto">
              <a:xfrm rot="5400000">
                <a:off x="6469" y="4464"/>
                <a:ext cx="108" cy="10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" name="Rectangle 239"/>
            <p:cNvSpPr>
              <a:spLocks noChangeArrowheads="1"/>
            </p:cNvSpPr>
            <p:nvPr/>
          </p:nvSpPr>
          <p:spPr bwMode="auto">
            <a:xfrm rot="5400000" flipH="1">
              <a:off x="7183" y="2750"/>
              <a:ext cx="102" cy="89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13" name="Oval 415"/>
            <p:cNvSpPr>
              <a:spLocks noChangeAspect="1" noChangeArrowheads="1"/>
            </p:cNvSpPr>
            <p:nvPr/>
          </p:nvSpPr>
          <p:spPr bwMode="auto">
            <a:xfrm>
              <a:off x="6698" y="3136"/>
              <a:ext cx="100" cy="1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14" name="Text Box 445"/>
            <p:cNvSpPr txBox="1">
              <a:spLocks noChangeArrowheads="1"/>
            </p:cNvSpPr>
            <p:nvPr/>
          </p:nvSpPr>
          <p:spPr bwMode="auto">
            <a:xfrm>
              <a:off x="2163" y="4429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5" name="Text Box 446"/>
            <p:cNvSpPr txBox="1">
              <a:spLocks noChangeArrowheads="1"/>
            </p:cNvSpPr>
            <p:nvPr/>
          </p:nvSpPr>
          <p:spPr bwMode="auto">
            <a:xfrm>
              <a:off x="5555" y="4021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6" name="Group 442"/>
            <p:cNvGrpSpPr>
              <a:grpSpLocks/>
            </p:cNvGrpSpPr>
            <p:nvPr/>
          </p:nvGrpSpPr>
          <p:grpSpPr bwMode="auto">
            <a:xfrm>
              <a:off x="6766" y="3512"/>
              <a:ext cx="1635" cy="455"/>
              <a:chOff x="8324" y="3987"/>
              <a:chExt cx="1756" cy="476"/>
            </a:xfrm>
          </p:grpSpPr>
          <p:sp>
            <p:nvSpPr>
              <p:cNvPr id="129" name="Rectangle 427" descr="宽下对角线"/>
              <p:cNvSpPr>
                <a:spLocks noChangeArrowheads="1"/>
              </p:cNvSpPr>
              <p:nvPr/>
            </p:nvSpPr>
            <p:spPr bwMode="auto">
              <a:xfrm rot="19800000" flipH="1">
                <a:off x="8580" y="3987"/>
                <a:ext cx="1468" cy="69"/>
              </a:xfrm>
              <a:prstGeom prst="rect">
                <a:avLst/>
              </a:prstGeom>
              <a:pattFill prst="wdDnDiag">
                <a:fgClr>
                  <a:srgbClr val="000000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130" name="Line 428"/>
              <p:cNvCxnSpPr>
                <a:cxnSpLocks noChangeShapeType="1"/>
              </p:cNvCxnSpPr>
              <p:nvPr/>
            </p:nvCxnSpPr>
            <p:spPr bwMode="auto">
              <a:xfrm rot="19800000" flipH="1">
                <a:off x="8324" y="4019"/>
                <a:ext cx="1756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1" name="Line 429"/>
              <p:cNvCxnSpPr>
                <a:cxnSpLocks noChangeShapeType="1"/>
              </p:cNvCxnSpPr>
              <p:nvPr/>
            </p:nvCxnSpPr>
            <p:spPr bwMode="auto">
              <a:xfrm flipH="1">
                <a:off x="8453" y="4462"/>
                <a:ext cx="14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7" name="Line 435"/>
            <p:cNvCxnSpPr>
              <a:cxnSpLocks noChangeShapeType="1"/>
            </p:cNvCxnSpPr>
            <p:nvPr/>
          </p:nvCxnSpPr>
          <p:spPr bwMode="auto">
            <a:xfrm rot="39600000">
              <a:off x="7762" y="3114"/>
              <a:ext cx="4" cy="2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Line 436"/>
            <p:cNvCxnSpPr>
              <a:cxnSpLocks noChangeShapeType="1"/>
            </p:cNvCxnSpPr>
            <p:nvPr/>
          </p:nvCxnSpPr>
          <p:spPr bwMode="auto">
            <a:xfrm rot="21600000">
              <a:off x="7645" y="3180"/>
              <a:ext cx="7" cy="2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9" name="Oval 437"/>
            <p:cNvSpPr>
              <a:spLocks noChangeAspect="1" noChangeArrowheads="1"/>
            </p:cNvSpPr>
            <p:nvPr/>
          </p:nvSpPr>
          <p:spPr bwMode="auto">
            <a:xfrm rot="25200000">
              <a:off x="7617" y="3144"/>
              <a:ext cx="104" cy="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20" name="Oval 438"/>
            <p:cNvSpPr>
              <a:spLocks noChangeArrowheads="1"/>
            </p:cNvSpPr>
            <p:nvPr/>
          </p:nvSpPr>
          <p:spPr bwMode="auto">
            <a:xfrm rot="25200000">
              <a:off x="7656" y="3364"/>
              <a:ext cx="87" cy="8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21" name="Oval 439"/>
            <p:cNvSpPr>
              <a:spLocks noChangeArrowheads="1"/>
            </p:cNvSpPr>
            <p:nvPr/>
          </p:nvSpPr>
          <p:spPr bwMode="auto">
            <a:xfrm rot="25200000">
              <a:off x="7801" y="3279"/>
              <a:ext cx="87" cy="8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122" name="Line 440"/>
            <p:cNvCxnSpPr>
              <a:cxnSpLocks noChangeShapeType="1"/>
            </p:cNvCxnSpPr>
            <p:nvPr/>
          </p:nvCxnSpPr>
          <p:spPr bwMode="auto">
            <a:xfrm rot="19800000">
              <a:off x="7625" y="3322"/>
              <a:ext cx="22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" name="Text Box 447"/>
            <p:cNvSpPr txBox="1">
              <a:spLocks noChangeArrowheads="1"/>
            </p:cNvSpPr>
            <p:nvPr/>
          </p:nvSpPr>
          <p:spPr bwMode="auto">
            <a:xfrm>
              <a:off x="1678" y="3106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4" name="Text Box 448"/>
            <p:cNvSpPr txBox="1">
              <a:spLocks noChangeArrowheads="1"/>
            </p:cNvSpPr>
            <p:nvPr/>
          </p:nvSpPr>
          <p:spPr bwMode="auto">
            <a:xfrm>
              <a:off x="3610" y="3241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4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5" name="Arc 450"/>
            <p:cNvSpPr>
              <a:spLocks/>
            </p:cNvSpPr>
            <p:nvPr/>
          </p:nvSpPr>
          <p:spPr bwMode="auto">
            <a:xfrm rot="5350236" flipV="1">
              <a:off x="6928" y="2978"/>
              <a:ext cx="764" cy="365"/>
            </a:xfrm>
            <a:custGeom>
              <a:avLst/>
              <a:gdLst>
                <a:gd name="G0" fmla="+- 19120 0 0"/>
                <a:gd name="G1" fmla="+- 21600 0 0"/>
                <a:gd name="G2" fmla="+- 21600 0 0"/>
                <a:gd name="T0" fmla="*/ 0 w 37511"/>
                <a:gd name="T1" fmla="*/ 11551 h 21600"/>
                <a:gd name="T2" fmla="*/ 37511 w 37511"/>
                <a:gd name="T3" fmla="*/ 10271 h 21600"/>
                <a:gd name="T4" fmla="*/ 19120 w 3751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511" h="21600" fill="none" extrusionOk="0">
                  <a:moveTo>
                    <a:pt x="-1" y="11550"/>
                  </a:moveTo>
                  <a:cubicBezTo>
                    <a:pt x="3733" y="4448"/>
                    <a:pt x="11095" y="0"/>
                    <a:pt x="19120" y="0"/>
                  </a:cubicBezTo>
                  <a:cubicBezTo>
                    <a:pt x="26617" y="0"/>
                    <a:pt x="33578" y="3887"/>
                    <a:pt x="37510" y="10271"/>
                  </a:cubicBezTo>
                </a:path>
                <a:path w="37511" h="21600" stroke="0" extrusionOk="0">
                  <a:moveTo>
                    <a:pt x="-1" y="11550"/>
                  </a:moveTo>
                  <a:cubicBezTo>
                    <a:pt x="3733" y="4448"/>
                    <a:pt x="11095" y="0"/>
                    <a:pt x="19120" y="0"/>
                  </a:cubicBezTo>
                  <a:cubicBezTo>
                    <a:pt x="26617" y="0"/>
                    <a:pt x="33578" y="3887"/>
                    <a:pt x="37510" y="10271"/>
                  </a:cubicBezTo>
                  <a:lnTo>
                    <a:pt x="1912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26" name="Text Box 451"/>
            <p:cNvSpPr txBox="1">
              <a:spLocks noChangeArrowheads="1"/>
            </p:cNvSpPr>
            <p:nvPr/>
          </p:nvSpPr>
          <p:spPr bwMode="auto">
            <a:xfrm>
              <a:off x="7234" y="2720"/>
              <a:ext cx="27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7" name="Arc 430"/>
            <p:cNvSpPr>
              <a:spLocks/>
            </p:cNvSpPr>
            <p:nvPr/>
          </p:nvSpPr>
          <p:spPr bwMode="auto">
            <a:xfrm rot="18000000" flipH="1" flipV="1">
              <a:off x="7258" y="3725"/>
              <a:ext cx="146" cy="24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20 w 21600"/>
                <a:gd name="T1" fmla="*/ 25841 h 25841"/>
                <a:gd name="T2" fmla="*/ 21558 w 21600"/>
                <a:gd name="T3" fmla="*/ 0 h 25841"/>
                <a:gd name="T4" fmla="*/ 21600 w 21600"/>
                <a:gd name="T5" fmla="*/ 21600 h 25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5841" fill="none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87"/>
                    <a:pt x="9645" y="23"/>
                    <a:pt x="21558" y="0"/>
                  </a:cubicBezTo>
                </a:path>
                <a:path w="21600" h="25841" stroke="0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87"/>
                    <a:pt x="9645" y="23"/>
                    <a:pt x="21558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28" name="Text Box 452"/>
            <p:cNvSpPr txBox="1">
              <a:spLocks noChangeArrowheads="1"/>
            </p:cNvSpPr>
            <p:nvPr/>
          </p:nvSpPr>
          <p:spPr bwMode="auto">
            <a:xfrm>
              <a:off x="7377" y="3673"/>
              <a:ext cx="544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30°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0" name="Rectangle 344"/>
          <p:cNvSpPr>
            <a:spLocks noChangeArrowheads="1"/>
          </p:cNvSpPr>
          <p:nvPr/>
        </p:nvSpPr>
        <p:spPr bwMode="auto">
          <a:xfrm>
            <a:off x="408330" y="-308263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处，也就是作用在销钉上，若</a:t>
            </a:r>
            <a:r>
              <a:rPr kumimoji="0" lang="en-US" altLang="zh-CN" sz="10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作用在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杆上，则可根据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杆力偶不能和力平衡，从而判断出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处约束反力的方向，则两杆的受力图分别为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1-6(c) 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，若</a:t>
            </a:r>
            <a:r>
              <a:rPr kumimoji="0" lang="en-US" altLang="zh-CN" sz="10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作用在</a:t>
            </a: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杆上，则两杆的受力图分别为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1-6(e) 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(f)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2" name="Group 1356"/>
          <p:cNvGrpSpPr>
            <a:grpSpLocks/>
          </p:cNvGrpSpPr>
          <p:nvPr/>
        </p:nvGrpSpPr>
        <p:grpSpPr bwMode="auto">
          <a:xfrm>
            <a:off x="5459536" y="1011223"/>
            <a:ext cx="1215355" cy="1998017"/>
            <a:chOff x="1696" y="11213"/>
            <a:chExt cx="1780" cy="2961"/>
          </a:xfrm>
        </p:grpSpPr>
        <p:grpSp>
          <p:nvGrpSpPr>
            <p:cNvPr id="381" name="Group 321"/>
            <p:cNvGrpSpPr>
              <a:grpSpLocks/>
            </p:cNvGrpSpPr>
            <p:nvPr/>
          </p:nvGrpSpPr>
          <p:grpSpPr bwMode="auto">
            <a:xfrm>
              <a:off x="2070" y="11913"/>
              <a:ext cx="153" cy="1631"/>
              <a:chOff x="3184" y="2553"/>
              <a:chExt cx="211" cy="2325"/>
            </a:xfrm>
          </p:grpSpPr>
          <p:sp>
            <p:nvSpPr>
              <p:cNvPr id="418" name="Rectangle 322"/>
              <p:cNvSpPr>
                <a:spLocks noChangeArrowheads="1"/>
              </p:cNvSpPr>
              <p:nvPr/>
            </p:nvSpPr>
            <p:spPr bwMode="auto">
              <a:xfrm flipH="1">
                <a:off x="3184" y="2652"/>
                <a:ext cx="116" cy="222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19" name="Rectangle 323"/>
              <p:cNvSpPr>
                <a:spLocks noChangeArrowheads="1"/>
              </p:cNvSpPr>
              <p:nvPr/>
            </p:nvSpPr>
            <p:spPr bwMode="auto">
              <a:xfrm rot="2700000">
                <a:off x="3195" y="2569"/>
                <a:ext cx="216" cy="1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82" name="Group 324"/>
            <p:cNvGrpSpPr>
              <a:grpSpLocks/>
            </p:cNvGrpSpPr>
            <p:nvPr/>
          </p:nvGrpSpPr>
          <p:grpSpPr bwMode="auto">
            <a:xfrm>
              <a:off x="2073" y="12002"/>
              <a:ext cx="780" cy="88"/>
              <a:chOff x="3780" y="2465"/>
              <a:chExt cx="1080" cy="125"/>
            </a:xfrm>
          </p:grpSpPr>
          <p:cxnSp>
            <p:nvCxnSpPr>
              <p:cNvPr id="415" name="Line 325"/>
              <p:cNvCxnSpPr>
                <a:cxnSpLocks noChangeShapeType="1"/>
              </p:cNvCxnSpPr>
              <p:nvPr/>
            </p:nvCxnSpPr>
            <p:spPr bwMode="auto">
              <a:xfrm>
                <a:off x="3780" y="2465"/>
                <a:ext cx="1080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6" name="Line 326"/>
              <p:cNvCxnSpPr>
                <a:cxnSpLocks noChangeShapeType="1"/>
              </p:cNvCxnSpPr>
              <p:nvPr/>
            </p:nvCxnSpPr>
            <p:spPr bwMode="auto">
              <a:xfrm>
                <a:off x="3876" y="2587"/>
                <a:ext cx="98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7" name="Line 327"/>
              <p:cNvCxnSpPr>
                <a:cxnSpLocks noChangeShapeType="1"/>
              </p:cNvCxnSpPr>
              <p:nvPr/>
            </p:nvCxnSpPr>
            <p:spPr bwMode="auto">
              <a:xfrm>
                <a:off x="4846" y="2467"/>
                <a:ext cx="1" cy="1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83" name="Text Box 328"/>
            <p:cNvSpPr txBox="1">
              <a:spLocks noChangeArrowheads="1"/>
            </p:cNvSpPr>
            <p:nvPr/>
          </p:nvSpPr>
          <p:spPr bwMode="auto">
            <a:xfrm>
              <a:off x="1811" y="13398"/>
              <a:ext cx="24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4" name="Text Box 329"/>
            <p:cNvSpPr txBox="1">
              <a:spLocks noChangeArrowheads="1"/>
            </p:cNvSpPr>
            <p:nvPr/>
          </p:nvSpPr>
          <p:spPr bwMode="auto">
            <a:xfrm>
              <a:off x="2580" y="12050"/>
              <a:ext cx="24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5" name="Oval 330"/>
            <p:cNvSpPr>
              <a:spLocks noChangeArrowheads="1"/>
            </p:cNvSpPr>
            <p:nvPr/>
          </p:nvSpPr>
          <p:spPr bwMode="auto">
            <a:xfrm>
              <a:off x="2800" y="11999"/>
              <a:ext cx="90" cy="9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386" name="Line 331"/>
            <p:cNvCxnSpPr>
              <a:cxnSpLocks noChangeShapeType="1"/>
            </p:cNvCxnSpPr>
            <p:nvPr/>
          </p:nvCxnSpPr>
          <p:spPr bwMode="auto">
            <a:xfrm rot="5400000">
              <a:off x="3145" y="11770"/>
              <a:ext cx="0" cy="55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7" name="Line 332"/>
            <p:cNvCxnSpPr>
              <a:cxnSpLocks noChangeShapeType="1"/>
            </p:cNvCxnSpPr>
            <p:nvPr/>
          </p:nvCxnSpPr>
          <p:spPr bwMode="auto">
            <a:xfrm>
              <a:off x="2831" y="12073"/>
              <a:ext cx="1" cy="543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88" name="Arc 333"/>
            <p:cNvSpPr>
              <a:spLocks/>
            </p:cNvSpPr>
            <p:nvPr/>
          </p:nvSpPr>
          <p:spPr bwMode="auto">
            <a:xfrm rot="16200000" flipV="1">
              <a:off x="1886" y="13360"/>
              <a:ext cx="739" cy="272"/>
            </a:xfrm>
            <a:custGeom>
              <a:avLst/>
              <a:gdLst>
                <a:gd name="G0" fmla="+- 21244 0 0"/>
                <a:gd name="G1" fmla="+- 21600 0 0"/>
                <a:gd name="G2" fmla="+- 21600 0 0"/>
                <a:gd name="T0" fmla="*/ 0 w 42844"/>
                <a:gd name="T1" fmla="*/ 17693 h 21600"/>
                <a:gd name="T2" fmla="*/ 42844 w 42844"/>
                <a:gd name="T3" fmla="*/ 21600 h 21600"/>
                <a:gd name="T4" fmla="*/ 21244 w 4284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44" h="21600" fill="none" extrusionOk="0">
                  <a:moveTo>
                    <a:pt x="0" y="17693"/>
                  </a:moveTo>
                  <a:cubicBezTo>
                    <a:pt x="1885" y="7442"/>
                    <a:pt x="10821" y="0"/>
                    <a:pt x="21244" y="0"/>
                  </a:cubicBezTo>
                  <a:cubicBezTo>
                    <a:pt x="33173" y="0"/>
                    <a:pt x="42844" y="9670"/>
                    <a:pt x="42844" y="21600"/>
                  </a:cubicBezTo>
                </a:path>
                <a:path w="42844" h="21600" stroke="0" extrusionOk="0">
                  <a:moveTo>
                    <a:pt x="0" y="17693"/>
                  </a:moveTo>
                  <a:cubicBezTo>
                    <a:pt x="1885" y="7442"/>
                    <a:pt x="10821" y="0"/>
                    <a:pt x="21244" y="0"/>
                  </a:cubicBezTo>
                  <a:cubicBezTo>
                    <a:pt x="33173" y="0"/>
                    <a:pt x="42844" y="9670"/>
                    <a:pt x="42844" y="21600"/>
                  </a:cubicBezTo>
                  <a:lnTo>
                    <a:pt x="21244" y="2160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 type="none" w="sm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89" name="Text Box 456"/>
            <p:cNvSpPr txBox="1">
              <a:spLocks noChangeArrowheads="1"/>
            </p:cNvSpPr>
            <p:nvPr/>
          </p:nvSpPr>
          <p:spPr bwMode="auto">
            <a:xfrm>
              <a:off x="2962" y="11576"/>
              <a:ext cx="51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0" name="Text Box 457"/>
            <p:cNvSpPr txBox="1">
              <a:spLocks noChangeArrowheads="1"/>
            </p:cNvSpPr>
            <p:nvPr/>
          </p:nvSpPr>
          <p:spPr bwMode="auto">
            <a:xfrm>
              <a:off x="2881" y="12311"/>
              <a:ext cx="51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1" name="Text Box 458"/>
            <p:cNvSpPr txBox="1">
              <a:spLocks noChangeArrowheads="1"/>
            </p:cNvSpPr>
            <p:nvPr/>
          </p:nvSpPr>
          <p:spPr bwMode="auto">
            <a:xfrm>
              <a:off x="1696" y="13793"/>
              <a:ext cx="51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92" name="Line 338"/>
            <p:cNvCxnSpPr>
              <a:cxnSpLocks noChangeShapeType="1"/>
            </p:cNvCxnSpPr>
            <p:nvPr/>
          </p:nvCxnSpPr>
          <p:spPr bwMode="auto">
            <a:xfrm>
              <a:off x="2111" y="13544"/>
              <a:ext cx="1" cy="4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93" name="Line 339"/>
            <p:cNvCxnSpPr>
              <a:cxnSpLocks noChangeShapeType="1"/>
            </p:cNvCxnSpPr>
            <p:nvPr/>
          </p:nvCxnSpPr>
          <p:spPr bwMode="auto">
            <a:xfrm rot="5400000">
              <a:off x="2348" y="13270"/>
              <a:ext cx="1" cy="55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4" name="Text Box 460"/>
            <p:cNvSpPr txBox="1">
              <a:spLocks noChangeArrowheads="1"/>
            </p:cNvSpPr>
            <p:nvPr/>
          </p:nvSpPr>
          <p:spPr bwMode="auto">
            <a:xfrm>
              <a:off x="2254" y="12819"/>
              <a:ext cx="51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95" name="Group 461"/>
            <p:cNvGrpSpPr>
              <a:grpSpLocks/>
            </p:cNvGrpSpPr>
            <p:nvPr/>
          </p:nvGrpSpPr>
          <p:grpSpPr bwMode="auto">
            <a:xfrm>
              <a:off x="2081" y="11662"/>
              <a:ext cx="762" cy="340"/>
              <a:chOff x="7242" y="3795"/>
              <a:chExt cx="1464" cy="504"/>
            </a:xfrm>
          </p:grpSpPr>
          <p:grpSp>
            <p:nvGrpSpPr>
              <p:cNvPr id="399" name="Group 462"/>
              <p:cNvGrpSpPr>
                <a:grpSpLocks/>
              </p:cNvGrpSpPr>
              <p:nvPr/>
            </p:nvGrpSpPr>
            <p:grpSpPr bwMode="auto">
              <a:xfrm>
                <a:off x="7242" y="3795"/>
                <a:ext cx="289" cy="504"/>
                <a:chOff x="4808" y="5397"/>
                <a:chExt cx="394" cy="774"/>
              </a:xfrm>
            </p:grpSpPr>
            <p:cxnSp>
              <p:nvCxnSpPr>
                <p:cNvPr id="413" name="Line 463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14" name="Line 464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400" name="Group 465"/>
              <p:cNvGrpSpPr>
                <a:grpSpLocks/>
              </p:cNvGrpSpPr>
              <p:nvPr/>
            </p:nvGrpSpPr>
            <p:grpSpPr bwMode="auto">
              <a:xfrm>
                <a:off x="7541" y="3795"/>
                <a:ext cx="289" cy="504"/>
                <a:chOff x="4808" y="5397"/>
                <a:chExt cx="394" cy="774"/>
              </a:xfrm>
            </p:grpSpPr>
            <p:cxnSp>
              <p:nvCxnSpPr>
                <p:cNvPr id="411" name="Line 466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12" name="Line 467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401" name="Group 468"/>
              <p:cNvGrpSpPr>
                <a:grpSpLocks/>
              </p:cNvGrpSpPr>
              <p:nvPr/>
            </p:nvGrpSpPr>
            <p:grpSpPr bwMode="auto">
              <a:xfrm>
                <a:off x="8406" y="3795"/>
                <a:ext cx="289" cy="504"/>
                <a:chOff x="4808" y="5397"/>
                <a:chExt cx="394" cy="774"/>
              </a:xfrm>
            </p:grpSpPr>
            <p:cxnSp>
              <p:nvCxnSpPr>
                <p:cNvPr id="409" name="Line 469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10" name="Line 470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402" name="Line 471"/>
              <p:cNvCxnSpPr>
                <a:cxnSpLocks noChangeShapeType="1"/>
              </p:cNvCxnSpPr>
              <p:nvPr/>
            </p:nvCxnSpPr>
            <p:spPr bwMode="auto">
              <a:xfrm>
                <a:off x="8705" y="3795"/>
                <a:ext cx="1" cy="5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03" name="Group 472"/>
              <p:cNvGrpSpPr>
                <a:grpSpLocks/>
              </p:cNvGrpSpPr>
              <p:nvPr/>
            </p:nvGrpSpPr>
            <p:grpSpPr bwMode="auto">
              <a:xfrm>
                <a:off x="7830" y="3795"/>
                <a:ext cx="289" cy="504"/>
                <a:chOff x="4808" y="5397"/>
                <a:chExt cx="394" cy="774"/>
              </a:xfrm>
            </p:grpSpPr>
            <p:cxnSp>
              <p:nvCxnSpPr>
                <p:cNvPr id="407" name="Line 473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08" name="Line 474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404" name="Group 475"/>
              <p:cNvGrpSpPr>
                <a:grpSpLocks/>
              </p:cNvGrpSpPr>
              <p:nvPr/>
            </p:nvGrpSpPr>
            <p:grpSpPr bwMode="auto">
              <a:xfrm>
                <a:off x="8129" y="3795"/>
                <a:ext cx="289" cy="504"/>
                <a:chOff x="4808" y="5397"/>
                <a:chExt cx="394" cy="774"/>
              </a:xfrm>
            </p:grpSpPr>
            <p:cxnSp>
              <p:nvCxnSpPr>
                <p:cNvPr id="405" name="Line 476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06" name="Line 477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396" name="Text Box 478"/>
            <p:cNvSpPr txBox="1">
              <a:spLocks noChangeArrowheads="1"/>
            </p:cNvSpPr>
            <p:nvPr/>
          </p:nvSpPr>
          <p:spPr bwMode="auto">
            <a:xfrm>
              <a:off x="2392" y="11213"/>
              <a:ext cx="295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7" name="Text Box 479"/>
            <p:cNvSpPr txBox="1">
              <a:spLocks noChangeArrowheads="1"/>
            </p:cNvSpPr>
            <p:nvPr/>
          </p:nvSpPr>
          <p:spPr bwMode="auto">
            <a:xfrm>
              <a:off x="1786" y="11982"/>
              <a:ext cx="24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8" name="Text Box 1353"/>
            <p:cNvSpPr txBox="1">
              <a:spLocks noChangeArrowheads="1"/>
            </p:cNvSpPr>
            <p:nvPr/>
          </p:nvSpPr>
          <p:spPr bwMode="auto">
            <a:xfrm>
              <a:off x="2562" y="13421"/>
              <a:ext cx="51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65119" y="1627863"/>
            <a:ext cx="4386299" cy="1432744"/>
            <a:chOff x="439596" y="3211816"/>
            <a:chExt cx="4386299" cy="1432744"/>
          </a:xfrm>
        </p:grpSpPr>
        <p:sp>
          <p:nvSpPr>
            <p:cNvPr id="330" name="Text Box 459"/>
            <p:cNvSpPr txBox="1">
              <a:spLocks noChangeArrowheads="1"/>
            </p:cNvSpPr>
            <p:nvPr/>
          </p:nvSpPr>
          <p:spPr bwMode="auto">
            <a:xfrm>
              <a:off x="1066072" y="4101260"/>
              <a:ext cx="350951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31" name="Line 1350"/>
            <p:cNvCxnSpPr>
              <a:cxnSpLocks noChangeShapeType="1"/>
            </p:cNvCxnSpPr>
            <p:nvPr/>
          </p:nvCxnSpPr>
          <p:spPr bwMode="auto">
            <a:xfrm rot="5400000">
              <a:off x="904256" y="4034919"/>
              <a:ext cx="675" cy="38167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2" name="Line 1351"/>
            <p:cNvCxnSpPr>
              <a:cxnSpLocks noChangeShapeType="1"/>
            </p:cNvCxnSpPr>
            <p:nvPr/>
          </p:nvCxnSpPr>
          <p:spPr bwMode="auto">
            <a:xfrm>
              <a:off x="696860" y="4225419"/>
              <a:ext cx="683" cy="2955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33" name="Text Box 1352"/>
            <p:cNvSpPr txBox="1">
              <a:spLocks noChangeArrowheads="1"/>
            </p:cNvSpPr>
            <p:nvPr/>
          </p:nvSpPr>
          <p:spPr bwMode="auto">
            <a:xfrm>
              <a:off x="439596" y="4387470"/>
              <a:ext cx="350951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" name="Arc 1354"/>
            <p:cNvSpPr>
              <a:spLocks/>
            </p:cNvSpPr>
            <p:nvPr/>
          </p:nvSpPr>
          <p:spPr bwMode="auto">
            <a:xfrm rot="15863551" flipV="1">
              <a:off x="660726" y="4092749"/>
              <a:ext cx="498661" cy="185717"/>
            </a:xfrm>
            <a:custGeom>
              <a:avLst/>
              <a:gdLst>
                <a:gd name="G0" fmla="+- 21244 0 0"/>
                <a:gd name="G1" fmla="+- 21600 0 0"/>
                <a:gd name="G2" fmla="+- 21600 0 0"/>
                <a:gd name="T0" fmla="*/ 0 w 42844"/>
                <a:gd name="T1" fmla="*/ 17693 h 21600"/>
                <a:gd name="T2" fmla="*/ 42844 w 42844"/>
                <a:gd name="T3" fmla="*/ 21600 h 21600"/>
                <a:gd name="T4" fmla="*/ 21244 w 4284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44" h="21600" fill="none" extrusionOk="0">
                  <a:moveTo>
                    <a:pt x="0" y="17693"/>
                  </a:moveTo>
                  <a:cubicBezTo>
                    <a:pt x="1885" y="7442"/>
                    <a:pt x="10821" y="0"/>
                    <a:pt x="21244" y="0"/>
                  </a:cubicBezTo>
                  <a:cubicBezTo>
                    <a:pt x="33173" y="0"/>
                    <a:pt x="42844" y="9670"/>
                    <a:pt x="42844" y="21600"/>
                  </a:cubicBezTo>
                </a:path>
                <a:path w="42844" h="21600" stroke="0" extrusionOk="0">
                  <a:moveTo>
                    <a:pt x="0" y="17693"/>
                  </a:moveTo>
                  <a:cubicBezTo>
                    <a:pt x="1885" y="7442"/>
                    <a:pt x="10821" y="0"/>
                    <a:pt x="21244" y="0"/>
                  </a:cubicBezTo>
                  <a:cubicBezTo>
                    <a:pt x="33173" y="0"/>
                    <a:pt x="42844" y="9670"/>
                    <a:pt x="42844" y="21600"/>
                  </a:cubicBezTo>
                  <a:lnTo>
                    <a:pt x="21244" y="2160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 type="none" w="sm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35" name="Text Box 1355"/>
            <p:cNvSpPr txBox="1">
              <a:spLocks noChangeArrowheads="1"/>
            </p:cNvSpPr>
            <p:nvPr/>
          </p:nvSpPr>
          <p:spPr bwMode="auto">
            <a:xfrm>
              <a:off x="933814" y="3751605"/>
              <a:ext cx="350951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36" name="Line 1357"/>
            <p:cNvCxnSpPr>
              <a:cxnSpLocks noChangeAspect="1" noChangeShapeType="1"/>
            </p:cNvCxnSpPr>
            <p:nvPr/>
          </p:nvCxnSpPr>
          <p:spPr bwMode="auto">
            <a:xfrm rot="9000000">
              <a:off x="4374106" y="3211816"/>
              <a:ext cx="683" cy="48179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39" name="Line 702"/>
            <p:cNvCxnSpPr>
              <a:cxnSpLocks noChangeShapeType="1"/>
            </p:cNvCxnSpPr>
            <p:nvPr/>
          </p:nvCxnSpPr>
          <p:spPr bwMode="auto">
            <a:xfrm rot="18900000">
              <a:off x="3003027" y="3769889"/>
              <a:ext cx="683" cy="42915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0" name="Text Box 703"/>
            <p:cNvSpPr txBox="1">
              <a:spLocks noChangeArrowheads="1"/>
            </p:cNvSpPr>
            <p:nvPr/>
          </p:nvSpPr>
          <p:spPr bwMode="auto">
            <a:xfrm>
              <a:off x="3059652" y="3830872"/>
              <a:ext cx="452358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OC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1" name="Text Box 1360"/>
            <p:cNvSpPr txBox="1">
              <a:spLocks noChangeArrowheads="1"/>
            </p:cNvSpPr>
            <p:nvPr/>
          </p:nvSpPr>
          <p:spPr bwMode="auto">
            <a:xfrm>
              <a:off x="4477675" y="3363866"/>
              <a:ext cx="348220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" name="Group 1380"/>
          <p:cNvGrpSpPr>
            <a:grpSpLocks/>
          </p:cNvGrpSpPr>
          <p:nvPr/>
        </p:nvGrpSpPr>
        <p:grpSpPr bwMode="auto">
          <a:xfrm>
            <a:off x="1706261" y="3188354"/>
            <a:ext cx="3172213" cy="1168041"/>
            <a:chOff x="4251" y="12717"/>
            <a:chExt cx="4646" cy="1731"/>
          </a:xfrm>
        </p:grpSpPr>
        <p:sp>
          <p:nvSpPr>
            <p:cNvPr id="265" name="Arc 665"/>
            <p:cNvSpPr>
              <a:spLocks/>
            </p:cNvSpPr>
            <p:nvPr/>
          </p:nvSpPr>
          <p:spPr bwMode="auto">
            <a:xfrm flipV="1">
              <a:off x="6524" y="13567"/>
              <a:ext cx="181" cy="1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66" name="Text Box 666"/>
            <p:cNvSpPr txBox="1">
              <a:spLocks noChangeArrowheads="1"/>
            </p:cNvSpPr>
            <p:nvPr/>
          </p:nvSpPr>
          <p:spPr bwMode="auto">
            <a:xfrm>
              <a:off x="6648" y="13588"/>
              <a:ext cx="60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45°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7" name="Text Box 667"/>
            <p:cNvSpPr txBox="1">
              <a:spLocks noChangeArrowheads="1"/>
            </p:cNvSpPr>
            <p:nvPr/>
          </p:nvSpPr>
          <p:spPr bwMode="auto">
            <a:xfrm>
              <a:off x="5148" y="12717"/>
              <a:ext cx="235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8" name="Text Box 668"/>
            <p:cNvSpPr txBox="1">
              <a:spLocks noChangeArrowheads="1"/>
            </p:cNvSpPr>
            <p:nvPr/>
          </p:nvSpPr>
          <p:spPr bwMode="auto">
            <a:xfrm>
              <a:off x="4647" y="13603"/>
              <a:ext cx="2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9" name="Text Box 669"/>
            <p:cNvSpPr txBox="1">
              <a:spLocks noChangeArrowheads="1"/>
            </p:cNvSpPr>
            <p:nvPr/>
          </p:nvSpPr>
          <p:spPr bwMode="auto">
            <a:xfrm>
              <a:off x="6170" y="13641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0" name="Text Box 670"/>
            <p:cNvSpPr txBox="1">
              <a:spLocks noChangeArrowheads="1"/>
            </p:cNvSpPr>
            <p:nvPr/>
          </p:nvSpPr>
          <p:spPr bwMode="auto">
            <a:xfrm>
              <a:off x="8625" y="13437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1" name="Rectangle 672"/>
            <p:cNvSpPr>
              <a:spLocks noChangeArrowheads="1"/>
            </p:cNvSpPr>
            <p:nvPr/>
          </p:nvSpPr>
          <p:spPr bwMode="auto">
            <a:xfrm rot="5400000" flipH="1">
              <a:off x="6704" y="11738"/>
              <a:ext cx="103" cy="36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72" name="Oval 673"/>
            <p:cNvSpPr>
              <a:spLocks noChangeAspect="1" noChangeArrowheads="1"/>
            </p:cNvSpPr>
            <p:nvPr/>
          </p:nvSpPr>
          <p:spPr bwMode="auto">
            <a:xfrm>
              <a:off x="4886" y="13491"/>
              <a:ext cx="100" cy="10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73" name="Oval 674"/>
            <p:cNvSpPr>
              <a:spLocks noChangeAspect="1" noChangeArrowheads="1"/>
            </p:cNvSpPr>
            <p:nvPr/>
          </p:nvSpPr>
          <p:spPr bwMode="auto">
            <a:xfrm>
              <a:off x="8495" y="13486"/>
              <a:ext cx="100" cy="1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74" name="Oval 675"/>
            <p:cNvSpPr>
              <a:spLocks noChangeAspect="1" noChangeArrowheads="1"/>
            </p:cNvSpPr>
            <p:nvPr/>
          </p:nvSpPr>
          <p:spPr bwMode="auto">
            <a:xfrm>
              <a:off x="6342" y="13567"/>
              <a:ext cx="100" cy="1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75" name="Group 676"/>
            <p:cNvGrpSpPr>
              <a:grpSpLocks/>
            </p:cNvGrpSpPr>
            <p:nvPr/>
          </p:nvGrpSpPr>
          <p:grpSpPr bwMode="auto">
            <a:xfrm>
              <a:off x="4918" y="13159"/>
              <a:ext cx="762" cy="340"/>
              <a:chOff x="7242" y="3795"/>
              <a:chExt cx="1464" cy="504"/>
            </a:xfrm>
          </p:grpSpPr>
          <p:grpSp>
            <p:nvGrpSpPr>
              <p:cNvPr id="287" name="Group 677"/>
              <p:cNvGrpSpPr>
                <a:grpSpLocks/>
              </p:cNvGrpSpPr>
              <p:nvPr/>
            </p:nvGrpSpPr>
            <p:grpSpPr bwMode="auto">
              <a:xfrm>
                <a:off x="7242" y="3795"/>
                <a:ext cx="289" cy="504"/>
                <a:chOff x="4808" y="5397"/>
                <a:chExt cx="394" cy="774"/>
              </a:xfrm>
            </p:grpSpPr>
            <p:cxnSp>
              <p:nvCxnSpPr>
                <p:cNvPr id="301" name="Line 678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2" name="Line 679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88" name="Group 680"/>
              <p:cNvGrpSpPr>
                <a:grpSpLocks/>
              </p:cNvGrpSpPr>
              <p:nvPr/>
            </p:nvGrpSpPr>
            <p:grpSpPr bwMode="auto">
              <a:xfrm>
                <a:off x="7541" y="3795"/>
                <a:ext cx="289" cy="504"/>
                <a:chOff x="4808" y="5397"/>
                <a:chExt cx="394" cy="774"/>
              </a:xfrm>
            </p:grpSpPr>
            <p:cxnSp>
              <p:nvCxnSpPr>
                <p:cNvPr id="299" name="Line 681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0" name="Line 682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89" name="Group 683"/>
              <p:cNvGrpSpPr>
                <a:grpSpLocks/>
              </p:cNvGrpSpPr>
              <p:nvPr/>
            </p:nvGrpSpPr>
            <p:grpSpPr bwMode="auto">
              <a:xfrm>
                <a:off x="8406" y="3795"/>
                <a:ext cx="289" cy="504"/>
                <a:chOff x="4808" y="5397"/>
                <a:chExt cx="394" cy="774"/>
              </a:xfrm>
            </p:grpSpPr>
            <p:cxnSp>
              <p:nvCxnSpPr>
                <p:cNvPr id="297" name="Line 684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8" name="Line 685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90" name="Line 686"/>
              <p:cNvCxnSpPr>
                <a:cxnSpLocks noChangeShapeType="1"/>
              </p:cNvCxnSpPr>
              <p:nvPr/>
            </p:nvCxnSpPr>
            <p:spPr bwMode="auto">
              <a:xfrm>
                <a:off x="8705" y="3795"/>
                <a:ext cx="1" cy="5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91" name="Group 687"/>
              <p:cNvGrpSpPr>
                <a:grpSpLocks/>
              </p:cNvGrpSpPr>
              <p:nvPr/>
            </p:nvGrpSpPr>
            <p:grpSpPr bwMode="auto">
              <a:xfrm>
                <a:off x="7830" y="3795"/>
                <a:ext cx="289" cy="504"/>
                <a:chOff x="4808" y="5397"/>
                <a:chExt cx="394" cy="774"/>
              </a:xfrm>
            </p:grpSpPr>
            <p:cxnSp>
              <p:nvCxnSpPr>
                <p:cNvPr id="295" name="Line 688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6" name="Line 689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92" name="Group 690"/>
              <p:cNvGrpSpPr>
                <a:grpSpLocks/>
              </p:cNvGrpSpPr>
              <p:nvPr/>
            </p:nvGrpSpPr>
            <p:grpSpPr bwMode="auto">
              <a:xfrm>
                <a:off x="8129" y="3795"/>
                <a:ext cx="289" cy="504"/>
                <a:chOff x="4808" y="5397"/>
                <a:chExt cx="394" cy="774"/>
              </a:xfrm>
            </p:grpSpPr>
            <p:cxnSp>
              <p:nvCxnSpPr>
                <p:cNvPr id="293" name="Line 691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4" name="Line 692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276" name="Text Box 693"/>
            <p:cNvSpPr txBox="1">
              <a:spLocks noChangeArrowheads="1"/>
            </p:cNvSpPr>
            <p:nvPr/>
          </p:nvSpPr>
          <p:spPr bwMode="auto">
            <a:xfrm>
              <a:off x="5499" y="13594"/>
              <a:ext cx="24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1" name="Line 698"/>
            <p:cNvCxnSpPr>
              <a:cxnSpLocks noChangeShapeType="1"/>
            </p:cNvCxnSpPr>
            <p:nvPr/>
          </p:nvCxnSpPr>
          <p:spPr bwMode="auto">
            <a:xfrm rot="5400000">
              <a:off x="4619" y="13283"/>
              <a:ext cx="1" cy="53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2" name="Line 699"/>
            <p:cNvCxnSpPr>
              <a:cxnSpLocks noChangeShapeType="1"/>
            </p:cNvCxnSpPr>
            <p:nvPr/>
          </p:nvCxnSpPr>
          <p:spPr bwMode="auto">
            <a:xfrm>
              <a:off x="4916" y="13577"/>
              <a:ext cx="1" cy="52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83" name="Text Box 700"/>
            <p:cNvSpPr txBox="1">
              <a:spLocks noChangeArrowheads="1"/>
            </p:cNvSpPr>
            <p:nvPr/>
          </p:nvSpPr>
          <p:spPr bwMode="auto">
            <a:xfrm>
              <a:off x="4251" y="13079"/>
              <a:ext cx="619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4" name="Text Box 701"/>
            <p:cNvSpPr txBox="1">
              <a:spLocks noChangeArrowheads="1"/>
            </p:cNvSpPr>
            <p:nvPr/>
          </p:nvSpPr>
          <p:spPr bwMode="auto">
            <a:xfrm>
              <a:off x="4634" y="14067"/>
              <a:ext cx="62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5" name="Line 1362"/>
            <p:cNvCxnSpPr>
              <a:cxnSpLocks noChangeShapeType="1"/>
            </p:cNvCxnSpPr>
            <p:nvPr/>
          </p:nvCxnSpPr>
          <p:spPr bwMode="auto">
            <a:xfrm rot="18900000">
              <a:off x="6641" y="13554"/>
              <a:ext cx="1" cy="63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" name="Text Box 1363"/>
            <p:cNvSpPr txBox="1">
              <a:spLocks noChangeArrowheads="1"/>
            </p:cNvSpPr>
            <p:nvPr/>
          </p:nvSpPr>
          <p:spPr bwMode="auto">
            <a:xfrm>
              <a:off x="6463" y="13985"/>
              <a:ext cx="630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CO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5" name="Group 1386"/>
          <p:cNvGrpSpPr>
            <a:grpSpLocks/>
          </p:cNvGrpSpPr>
          <p:nvPr/>
        </p:nvGrpSpPr>
        <p:grpSpPr bwMode="auto">
          <a:xfrm>
            <a:off x="5785893" y="3303680"/>
            <a:ext cx="1689890" cy="1097864"/>
            <a:chOff x="1471" y="2244"/>
            <a:chExt cx="2475" cy="1627"/>
          </a:xfrm>
        </p:grpSpPr>
        <p:cxnSp>
          <p:nvCxnSpPr>
            <p:cNvPr id="247" name="Line 302"/>
            <p:cNvCxnSpPr>
              <a:cxnSpLocks noChangeShapeType="1"/>
            </p:cNvCxnSpPr>
            <p:nvPr/>
          </p:nvCxnSpPr>
          <p:spPr bwMode="auto">
            <a:xfrm>
              <a:off x="3196" y="2977"/>
              <a:ext cx="1" cy="5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8" name="Text Box 535"/>
            <p:cNvSpPr txBox="1">
              <a:spLocks noChangeArrowheads="1"/>
            </p:cNvSpPr>
            <p:nvPr/>
          </p:nvSpPr>
          <p:spPr bwMode="auto">
            <a:xfrm>
              <a:off x="3286" y="2717"/>
              <a:ext cx="2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9" name="Rectangle 547"/>
            <p:cNvSpPr>
              <a:spLocks noChangeArrowheads="1"/>
            </p:cNvSpPr>
            <p:nvPr/>
          </p:nvSpPr>
          <p:spPr bwMode="auto">
            <a:xfrm rot="5400000" flipH="1">
              <a:off x="2707" y="2528"/>
              <a:ext cx="102" cy="89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50" name="Oval 557"/>
            <p:cNvSpPr>
              <a:spLocks noChangeAspect="1" noChangeArrowheads="1"/>
            </p:cNvSpPr>
            <p:nvPr/>
          </p:nvSpPr>
          <p:spPr bwMode="auto">
            <a:xfrm rot="25200000">
              <a:off x="3141" y="2922"/>
              <a:ext cx="104" cy="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Text Box 562"/>
            <p:cNvSpPr txBox="1">
              <a:spLocks noChangeArrowheads="1"/>
            </p:cNvSpPr>
            <p:nvPr/>
          </p:nvSpPr>
          <p:spPr bwMode="auto">
            <a:xfrm>
              <a:off x="2284" y="3050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2" name="Arc 563"/>
            <p:cNvSpPr>
              <a:spLocks/>
            </p:cNvSpPr>
            <p:nvPr/>
          </p:nvSpPr>
          <p:spPr bwMode="auto">
            <a:xfrm rot="5350236" flipV="1">
              <a:off x="2452" y="2756"/>
              <a:ext cx="764" cy="365"/>
            </a:xfrm>
            <a:custGeom>
              <a:avLst/>
              <a:gdLst>
                <a:gd name="G0" fmla="+- 19120 0 0"/>
                <a:gd name="G1" fmla="+- 21600 0 0"/>
                <a:gd name="G2" fmla="+- 21600 0 0"/>
                <a:gd name="T0" fmla="*/ 0 w 37511"/>
                <a:gd name="T1" fmla="*/ 11551 h 21600"/>
                <a:gd name="T2" fmla="*/ 37511 w 37511"/>
                <a:gd name="T3" fmla="*/ 10271 h 21600"/>
                <a:gd name="T4" fmla="*/ 19120 w 3751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511" h="21600" fill="none" extrusionOk="0">
                  <a:moveTo>
                    <a:pt x="-1" y="11550"/>
                  </a:moveTo>
                  <a:cubicBezTo>
                    <a:pt x="3733" y="4448"/>
                    <a:pt x="11095" y="0"/>
                    <a:pt x="19120" y="0"/>
                  </a:cubicBezTo>
                  <a:cubicBezTo>
                    <a:pt x="26617" y="0"/>
                    <a:pt x="33578" y="3887"/>
                    <a:pt x="37510" y="10271"/>
                  </a:cubicBezTo>
                </a:path>
                <a:path w="37511" h="21600" stroke="0" extrusionOk="0">
                  <a:moveTo>
                    <a:pt x="-1" y="11550"/>
                  </a:moveTo>
                  <a:cubicBezTo>
                    <a:pt x="3733" y="4448"/>
                    <a:pt x="11095" y="0"/>
                    <a:pt x="19120" y="0"/>
                  </a:cubicBezTo>
                  <a:cubicBezTo>
                    <a:pt x="26617" y="0"/>
                    <a:pt x="33578" y="3887"/>
                    <a:pt x="37510" y="10271"/>
                  </a:cubicBezTo>
                  <a:lnTo>
                    <a:pt x="1912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53" name="Text Box 564"/>
            <p:cNvSpPr txBox="1">
              <a:spLocks noChangeArrowheads="1"/>
            </p:cNvSpPr>
            <p:nvPr/>
          </p:nvSpPr>
          <p:spPr bwMode="auto">
            <a:xfrm>
              <a:off x="2743" y="2542"/>
              <a:ext cx="27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" name="Arc 565"/>
            <p:cNvSpPr>
              <a:spLocks noChangeAspect="1"/>
            </p:cNvSpPr>
            <p:nvPr/>
          </p:nvSpPr>
          <p:spPr bwMode="auto">
            <a:xfrm rot="2160000" flipH="1" flipV="1">
              <a:off x="3243" y="3239"/>
              <a:ext cx="113" cy="189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20 w 21600"/>
                <a:gd name="T1" fmla="*/ 25841 h 25841"/>
                <a:gd name="T2" fmla="*/ 21558 w 21600"/>
                <a:gd name="T3" fmla="*/ 0 h 25841"/>
                <a:gd name="T4" fmla="*/ 21600 w 21600"/>
                <a:gd name="T5" fmla="*/ 21600 h 25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5841" fill="none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87"/>
                    <a:pt x="9645" y="23"/>
                    <a:pt x="21558" y="0"/>
                  </a:cubicBezTo>
                </a:path>
                <a:path w="21600" h="25841" stroke="0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87"/>
                    <a:pt x="9645" y="23"/>
                    <a:pt x="21558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55" name="Text Box 566"/>
            <p:cNvSpPr txBox="1">
              <a:spLocks noChangeArrowheads="1"/>
            </p:cNvSpPr>
            <p:nvPr/>
          </p:nvSpPr>
          <p:spPr bwMode="auto">
            <a:xfrm>
              <a:off x="3069" y="3443"/>
              <a:ext cx="606" cy="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30°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6" name="Line 386"/>
            <p:cNvCxnSpPr>
              <a:cxnSpLocks noChangeShapeType="1"/>
            </p:cNvCxnSpPr>
            <p:nvPr/>
          </p:nvCxnSpPr>
          <p:spPr bwMode="auto">
            <a:xfrm rot="5400000">
              <a:off x="1951" y="2705"/>
              <a:ext cx="1" cy="543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" name="Line 387"/>
            <p:cNvCxnSpPr>
              <a:cxnSpLocks noChangeShapeType="1"/>
            </p:cNvCxnSpPr>
            <p:nvPr/>
          </p:nvCxnSpPr>
          <p:spPr bwMode="auto">
            <a:xfrm>
              <a:off x="2286" y="3050"/>
              <a:ext cx="1" cy="57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58" name="Oval 539"/>
            <p:cNvSpPr>
              <a:spLocks noChangeAspect="1" noChangeArrowheads="1"/>
            </p:cNvSpPr>
            <p:nvPr/>
          </p:nvSpPr>
          <p:spPr bwMode="auto">
            <a:xfrm>
              <a:off x="2223" y="2928"/>
              <a:ext cx="100" cy="10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259" name="Line 604"/>
            <p:cNvCxnSpPr>
              <a:cxnSpLocks noChangeAspect="1" noChangeShapeType="1"/>
            </p:cNvCxnSpPr>
            <p:nvPr/>
          </p:nvCxnSpPr>
          <p:spPr bwMode="auto">
            <a:xfrm rot="9000000">
              <a:off x="3391" y="2947"/>
              <a:ext cx="1" cy="71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60" name="Text Box 606"/>
            <p:cNvSpPr txBox="1">
              <a:spLocks noChangeArrowheads="1"/>
            </p:cNvSpPr>
            <p:nvPr/>
          </p:nvSpPr>
          <p:spPr bwMode="auto">
            <a:xfrm>
              <a:off x="1658" y="3215"/>
              <a:ext cx="608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1" name="Text Box 607"/>
            <p:cNvSpPr txBox="1">
              <a:spLocks noChangeArrowheads="1"/>
            </p:cNvSpPr>
            <p:nvPr/>
          </p:nvSpPr>
          <p:spPr bwMode="auto">
            <a:xfrm>
              <a:off x="3436" y="3008"/>
              <a:ext cx="510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2" name="Line 664"/>
            <p:cNvCxnSpPr>
              <a:cxnSpLocks noChangeShapeType="1"/>
            </p:cNvCxnSpPr>
            <p:nvPr/>
          </p:nvCxnSpPr>
          <p:spPr bwMode="auto">
            <a:xfrm>
              <a:off x="2283" y="2308"/>
              <a:ext cx="1" cy="6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3" name="Text Box 671"/>
            <p:cNvSpPr txBox="1">
              <a:spLocks noChangeArrowheads="1"/>
            </p:cNvSpPr>
            <p:nvPr/>
          </p:nvSpPr>
          <p:spPr bwMode="auto">
            <a:xfrm>
              <a:off x="1918" y="2244"/>
              <a:ext cx="27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4" name="Text Box 1377"/>
            <p:cNvSpPr txBox="1">
              <a:spLocks noChangeArrowheads="1"/>
            </p:cNvSpPr>
            <p:nvPr/>
          </p:nvSpPr>
          <p:spPr bwMode="auto">
            <a:xfrm>
              <a:off x="1471" y="2515"/>
              <a:ext cx="671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6" name="Group 1383"/>
          <p:cNvGrpSpPr>
            <a:grpSpLocks/>
          </p:cNvGrpSpPr>
          <p:nvPr/>
        </p:nvGrpSpPr>
        <p:grpSpPr bwMode="auto">
          <a:xfrm>
            <a:off x="5969332" y="4595991"/>
            <a:ext cx="1395610" cy="917023"/>
            <a:chOff x="5887" y="1741"/>
            <a:chExt cx="2044" cy="1359"/>
          </a:xfrm>
        </p:grpSpPr>
        <p:cxnSp>
          <p:nvCxnSpPr>
            <p:cNvPr id="233" name="Line 1364"/>
            <p:cNvCxnSpPr>
              <a:cxnSpLocks noChangeShapeType="1"/>
            </p:cNvCxnSpPr>
            <p:nvPr/>
          </p:nvCxnSpPr>
          <p:spPr bwMode="auto">
            <a:xfrm>
              <a:off x="7132" y="2281"/>
              <a:ext cx="1" cy="5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4" name="Text Box 1365"/>
            <p:cNvSpPr txBox="1">
              <a:spLocks noChangeArrowheads="1"/>
            </p:cNvSpPr>
            <p:nvPr/>
          </p:nvSpPr>
          <p:spPr bwMode="auto">
            <a:xfrm>
              <a:off x="7222" y="2021"/>
              <a:ext cx="2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" name="Rectangle 1366"/>
            <p:cNvSpPr>
              <a:spLocks noChangeArrowheads="1"/>
            </p:cNvSpPr>
            <p:nvPr/>
          </p:nvSpPr>
          <p:spPr bwMode="auto">
            <a:xfrm rot="5400000" flipH="1">
              <a:off x="6643" y="1832"/>
              <a:ext cx="102" cy="89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36" name="Oval 1367"/>
            <p:cNvSpPr>
              <a:spLocks noChangeAspect="1" noChangeArrowheads="1"/>
            </p:cNvSpPr>
            <p:nvPr/>
          </p:nvSpPr>
          <p:spPr bwMode="auto">
            <a:xfrm rot="25200000">
              <a:off x="7077" y="2226"/>
              <a:ext cx="104" cy="9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37" name="Text Box 1368"/>
            <p:cNvSpPr txBox="1">
              <a:spLocks noChangeArrowheads="1"/>
            </p:cNvSpPr>
            <p:nvPr/>
          </p:nvSpPr>
          <p:spPr bwMode="auto">
            <a:xfrm>
              <a:off x="5887" y="2258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8" name="Arc 1369"/>
            <p:cNvSpPr>
              <a:spLocks/>
            </p:cNvSpPr>
            <p:nvPr/>
          </p:nvSpPr>
          <p:spPr bwMode="auto">
            <a:xfrm rot="4457977" flipV="1">
              <a:off x="6388" y="2060"/>
              <a:ext cx="764" cy="365"/>
            </a:xfrm>
            <a:custGeom>
              <a:avLst/>
              <a:gdLst>
                <a:gd name="G0" fmla="+- 19120 0 0"/>
                <a:gd name="G1" fmla="+- 21600 0 0"/>
                <a:gd name="G2" fmla="+- 21600 0 0"/>
                <a:gd name="T0" fmla="*/ 0 w 37511"/>
                <a:gd name="T1" fmla="*/ 11551 h 21600"/>
                <a:gd name="T2" fmla="*/ 37511 w 37511"/>
                <a:gd name="T3" fmla="*/ 10271 h 21600"/>
                <a:gd name="T4" fmla="*/ 19120 w 3751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511" h="21600" fill="none" extrusionOk="0">
                  <a:moveTo>
                    <a:pt x="-1" y="11550"/>
                  </a:moveTo>
                  <a:cubicBezTo>
                    <a:pt x="3733" y="4448"/>
                    <a:pt x="11095" y="0"/>
                    <a:pt x="19120" y="0"/>
                  </a:cubicBezTo>
                  <a:cubicBezTo>
                    <a:pt x="26617" y="0"/>
                    <a:pt x="33578" y="3887"/>
                    <a:pt x="37510" y="10271"/>
                  </a:cubicBezTo>
                </a:path>
                <a:path w="37511" h="21600" stroke="0" extrusionOk="0">
                  <a:moveTo>
                    <a:pt x="-1" y="11550"/>
                  </a:moveTo>
                  <a:cubicBezTo>
                    <a:pt x="3733" y="4448"/>
                    <a:pt x="11095" y="0"/>
                    <a:pt x="19120" y="0"/>
                  </a:cubicBezTo>
                  <a:cubicBezTo>
                    <a:pt x="26617" y="0"/>
                    <a:pt x="33578" y="3887"/>
                    <a:pt x="37510" y="10271"/>
                  </a:cubicBezTo>
                  <a:lnTo>
                    <a:pt x="1912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39" name="Text Box 1370"/>
            <p:cNvSpPr txBox="1">
              <a:spLocks noChangeArrowheads="1"/>
            </p:cNvSpPr>
            <p:nvPr/>
          </p:nvSpPr>
          <p:spPr bwMode="auto">
            <a:xfrm>
              <a:off x="6693" y="1741"/>
              <a:ext cx="27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0" name="Arc 1371"/>
            <p:cNvSpPr>
              <a:spLocks noChangeAspect="1"/>
            </p:cNvSpPr>
            <p:nvPr/>
          </p:nvSpPr>
          <p:spPr bwMode="auto">
            <a:xfrm rot="2160000" flipH="1" flipV="1">
              <a:off x="7179" y="2543"/>
              <a:ext cx="113" cy="189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20 w 21600"/>
                <a:gd name="T1" fmla="*/ 25841 h 25841"/>
                <a:gd name="T2" fmla="*/ 21558 w 21600"/>
                <a:gd name="T3" fmla="*/ 0 h 25841"/>
                <a:gd name="T4" fmla="*/ 21600 w 21600"/>
                <a:gd name="T5" fmla="*/ 21600 h 25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5841" fill="none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87"/>
                    <a:pt x="9645" y="23"/>
                    <a:pt x="21558" y="0"/>
                  </a:cubicBezTo>
                </a:path>
                <a:path w="21600" h="25841" stroke="0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87"/>
                    <a:pt x="9645" y="23"/>
                    <a:pt x="21558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1" name="Text Box 1372"/>
            <p:cNvSpPr txBox="1">
              <a:spLocks noChangeArrowheads="1"/>
            </p:cNvSpPr>
            <p:nvPr/>
          </p:nvSpPr>
          <p:spPr bwMode="auto">
            <a:xfrm>
              <a:off x="7005" y="2732"/>
              <a:ext cx="59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30°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" name="Oval 1375"/>
            <p:cNvSpPr>
              <a:spLocks noChangeAspect="1" noChangeArrowheads="1"/>
            </p:cNvSpPr>
            <p:nvPr/>
          </p:nvSpPr>
          <p:spPr bwMode="auto">
            <a:xfrm>
              <a:off x="6159" y="2232"/>
              <a:ext cx="100" cy="1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243" name="Line 1376"/>
            <p:cNvCxnSpPr>
              <a:cxnSpLocks noChangeAspect="1" noChangeShapeType="1"/>
            </p:cNvCxnSpPr>
            <p:nvPr/>
          </p:nvCxnSpPr>
          <p:spPr bwMode="auto">
            <a:xfrm rot="9000000">
              <a:off x="7328" y="2247"/>
              <a:ext cx="1" cy="71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44" name="Text Box 1379"/>
            <p:cNvSpPr txBox="1">
              <a:spLocks noChangeArrowheads="1"/>
            </p:cNvSpPr>
            <p:nvPr/>
          </p:nvSpPr>
          <p:spPr bwMode="auto">
            <a:xfrm>
              <a:off x="7421" y="2459"/>
              <a:ext cx="510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5" name="Line 1381"/>
            <p:cNvCxnSpPr>
              <a:cxnSpLocks noChangeAspect="1" noChangeShapeType="1"/>
            </p:cNvCxnSpPr>
            <p:nvPr/>
          </p:nvCxnSpPr>
          <p:spPr bwMode="auto">
            <a:xfrm rot="9000000">
              <a:off x="6414" y="2280"/>
              <a:ext cx="1" cy="71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46" name="Text Box 1382"/>
            <p:cNvSpPr txBox="1">
              <a:spLocks noChangeArrowheads="1"/>
            </p:cNvSpPr>
            <p:nvPr/>
          </p:nvSpPr>
          <p:spPr bwMode="auto">
            <a:xfrm>
              <a:off x="5964" y="2607"/>
              <a:ext cx="692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7" name="Group 1385"/>
          <p:cNvGrpSpPr>
            <a:grpSpLocks/>
          </p:cNvGrpSpPr>
          <p:nvPr/>
        </p:nvGrpSpPr>
        <p:grpSpPr bwMode="auto">
          <a:xfrm>
            <a:off x="1697839" y="4489521"/>
            <a:ext cx="3159240" cy="1063451"/>
            <a:chOff x="4372" y="10621"/>
            <a:chExt cx="4627" cy="1576"/>
          </a:xfrm>
        </p:grpSpPr>
        <p:cxnSp>
          <p:nvCxnSpPr>
            <p:cNvPr id="196" name="Line 528"/>
            <p:cNvCxnSpPr>
              <a:cxnSpLocks noChangeShapeType="1"/>
            </p:cNvCxnSpPr>
            <p:nvPr/>
          </p:nvCxnSpPr>
          <p:spPr bwMode="auto">
            <a:xfrm>
              <a:off x="8664" y="10754"/>
              <a:ext cx="1" cy="6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7" name="Arc 529"/>
            <p:cNvSpPr>
              <a:spLocks/>
            </p:cNvSpPr>
            <p:nvPr/>
          </p:nvSpPr>
          <p:spPr bwMode="auto">
            <a:xfrm flipV="1">
              <a:off x="6645" y="11471"/>
              <a:ext cx="181" cy="1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98" name="Text Box 530"/>
            <p:cNvSpPr txBox="1">
              <a:spLocks noChangeArrowheads="1"/>
            </p:cNvSpPr>
            <p:nvPr/>
          </p:nvSpPr>
          <p:spPr bwMode="auto">
            <a:xfrm>
              <a:off x="6769" y="11507"/>
              <a:ext cx="543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45°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9" name="Text Box 531"/>
            <p:cNvSpPr txBox="1">
              <a:spLocks noChangeArrowheads="1"/>
            </p:cNvSpPr>
            <p:nvPr/>
          </p:nvSpPr>
          <p:spPr bwMode="auto">
            <a:xfrm>
              <a:off x="5287" y="10621"/>
              <a:ext cx="235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0" name="Text Box 532"/>
            <p:cNvSpPr txBox="1">
              <a:spLocks noChangeArrowheads="1"/>
            </p:cNvSpPr>
            <p:nvPr/>
          </p:nvSpPr>
          <p:spPr bwMode="auto">
            <a:xfrm>
              <a:off x="4768" y="11507"/>
              <a:ext cx="2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1" name="Text Box 533"/>
            <p:cNvSpPr txBox="1">
              <a:spLocks noChangeArrowheads="1"/>
            </p:cNvSpPr>
            <p:nvPr/>
          </p:nvSpPr>
          <p:spPr bwMode="auto">
            <a:xfrm>
              <a:off x="6291" y="11545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2" name="Text Box 534"/>
            <p:cNvSpPr txBox="1">
              <a:spLocks noChangeArrowheads="1"/>
            </p:cNvSpPr>
            <p:nvPr/>
          </p:nvSpPr>
          <p:spPr bwMode="auto">
            <a:xfrm>
              <a:off x="8727" y="11267"/>
              <a:ext cx="27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05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3" name="Text Box 536"/>
            <p:cNvSpPr txBox="1">
              <a:spLocks noChangeArrowheads="1"/>
            </p:cNvSpPr>
            <p:nvPr/>
          </p:nvSpPr>
          <p:spPr bwMode="auto">
            <a:xfrm>
              <a:off x="8710" y="10902"/>
              <a:ext cx="27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endParaRPr lang="zh-CN" sz="1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4" name="Rectangle 537"/>
            <p:cNvSpPr>
              <a:spLocks noChangeArrowheads="1"/>
            </p:cNvSpPr>
            <p:nvPr/>
          </p:nvSpPr>
          <p:spPr bwMode="auto">
            <a:xfrm rot="5400000" flipH="1">
              <a:off x="6825" y="9650"/>
              <a:ext cx="103" cy="36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05" name="Oval 538"/>
            <p:cNvSpPr>
              <a:spLocks noChangeAspect="1" noChangeArrowheads="1"/>
            </p:cNvSpPr>
            <p:nvPr/>
          </p:nvSpPr>
          <p:spPr bwMode="auto">
            <a:xfrm>
              <a:off x="5007" y="11403"/>
              <a:ext cx="100" cy="10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06" name="Oval 548"/>
            <p:cNvSpPr>
              <a:spLocks noChangeAspect="1" noChangeArrowheads="1"/>
            </p:cNvSpPr>
            <p:nvPr/>
          </p:nvSpPr>
          <p:spPr bwMode="auto">
            <a:xfrm>
              <a:off x="8616" y="11396"/>
              <a:ext cx="100" cy="103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07" name="Oval 567"/>
            <p:cNvSpPr>
              <a:spLocks noChangeAspect="1" noChangeArrowheads="1"/>
            </p:cNvSpPr>
            <p:nvPr/>
          </p:nvSpPr>
          <p:spPr bwMode="auto">
            <a:xfrm>
              <a:off x="6463" y="11471"/>
              <a:ext cx="100" cy="1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08" name="Group 568"/>
            <p:cNvGrpSpPr>
              <a:grpSpLocks/>
            </p:cNvGrpSpPr>
            <p:nvPr/>
          </p:nvGrpSpPr>
          <p:grpSpPr bwMode="auto">
            <a:xfrm>
              <a:off x="5039" y="11063"/>
              <a:ext cx="762" cy="340"/>
              <a:chOff x="7242" y="3795"/>
              <a:chExt cx="1464" cy="504"/>
            </a:xfrm>
          </p:grpSpPr>
          <p:grpSp>
            <p:nvGrpSpPr>
              <p:cNvPr id="217" name="Group 569"/>
              <p:cNvGrpSpPr>
                <a:grpSpLocks/>
              </p:cNvGrpSpPr>
              <p:nvPr/>
            </p:nvGrpSpPr>
            <p:grpSpPr bwMode="auto">
              <a:xfrm>
                <a:off x="7242" y="3795"/>
                <a:ext cx="289" cy="504"/>
                <a:chOff x="4808" y="5397"/>
                <a:chExt cx="394" cy="774"/>
              </a:xfrm>
            </p:grpSpPr>
            <p:cxnSp>
              <p:nvCxnSpPr>
                <p:cNvPr id="231" name="Line 570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32" name="Line 571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18" name="Group 572"/>
              <p:cNvGrpSpPr>
                <a:grpSpLocks/>
              </p:cNvGrpSpPr>
              <p:nvPr/>
            </p:nvGrpSpPr>
            <p:grpSpPr bwMode="auto">
              <a:xfrm>
                <a:off x="7541" y="3795"/>
                <a:ext cx="289" cy="504"/>
                <a:chOff x="4808" y="5397"/>
                <a:chExt cx="394" cy="774"/>
              </a:xfrm>
            </p:grpSpPr>
            <p:cxnSp>
              <p:nvCxnSpPr>
                <p:cNvPr id="229" name="Line 573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30" name="Line 574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19" name="Group 575"/>
              <p:cNvGrpSpPr>
                <a:grpSpLocks/>
              </p:cNvGrpSpPr>
              <p:nvPr/>
            </p:nvGrpSpPr>
            <p:grpSpPr bwMode="auto">
              <a:xfrm>
                <a:off x="8406" y="3795"/>
                <a:ext cx="289" cy="504"/>
                <a:chOff x="4808" y="5397"/>
                <a:chExt cx="394" cy="774"/>
              </a:xfrm>
            </p:grpSpPr>
            <p:cxnSp>
              <p:nvCxnSpPr>
                <p:cNvPr id="227" name="Line 576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8" name="Line 577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20" name="Line 578"/>
              <p:cNvCxnSpPr>
                <a:cxnSpLocks noChangeShapeType="1"/>
              </p:cNvCxnSpPr>
              <p:nvPr/>
            </p:nvCxnSpPr>
            <p:spPr bwMode="auto">
              <a:xfrm>
                <a:off x="8705" y="3795"/>
                <a:ext cx="1" cy="5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21" name="Group 579"/>
              <p:cNvGrpSpPr>
                <a:grpSpLocks/>
              </p:cNvGrpSpPr>
              <p:nvPr/>
            </p:nvGrpSpPr>
            <p:grpSpPr bwMode="auto">
              <a:xfrm>
                <a:off x="7830" y="3795"/>
                <a:ext cx="289" cy="504"/>
                <a:chOff x="4808" y="5397"/>
                <a:chExt cx="394" cy="774"/>
              </a:xfrm>
            </p:grpSpPr>
            <p:cxnSp>
              <p:nvCxnSpPr>
                <p:cNvPr id="225" name="Line 580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6" name="Line 581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222" name="Group 582"/>
              <p:cNvGrpSpPr>
                <a:grpSpLocks/>
              </p:cNvGrpSpPr>
              <p:nvPr/>
            </p:nvGrpSpPr>
            <p:grpSpPr bwMode="auto">
              <a:xfrm>
                <a:off x="8129" y="3795"/>
                <a:ext cx="289" cy="504"/>
                <a:chOff x="4808" y="5397"/>
                <a:chExt cx="394" cy="774"/>
              </a:xfrm>
            </p:grpSpPr>
            <p:cxnSp>
              <p:nvCxnSpPr>
                <p:cNvPr id="223" name="Line 583"/>
                <p:cNvCxnSpPr>
                  <a:cxnSpLocks noChangeShapeType="1"/>
                </p:cNvCxnSpPr>
                <p:nvPr/>
              </p:nvCxnSpPr>
              <p:spPr bwMode="auto">
                <a:xfrm>
                  <a:off x="4808" y="5397"/>
                  <a:ext cx="1" cy="77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4" name="Line 584"/>
                <p:cNvCxnSpPr>
                  <a:cxnSpLocks noChangeShapeType="1"/>
                </p:cNvCxnSpPr>
                <p:nvPr/>
              </p:nvCxnSpPr>
              <p:spPr bwMode="auto">
                <a:xfrm>
                  <a:off x="4808" y="5413"/>
                  <a:ext cx="394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209" name="Text Box 585"/>
            <p:cNvSpPr txBox="1">
              <a:spLocks noChangeArrowheads="1"/>
            </p:cNvSpPr>
            <p:nvPr/>
          </p:nvSpPr>
          <p:spPr bwMode="auto">
            <a:xfrm>
              <a:off x="5645" y="11543"/>
              <a:ext cx="24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lang="zh-CN" sz="105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0" name="Line 591"/>
            <p:cNvCxnSpPr>
              <a:cxnSpLocks noChangeShapeType="1"/>
            </p:cNvCxnSpPr>
            <p:nvPr/>
          </p:nvCxnSpPr>
          <p:spPr bwMode="auto">
            <a:xfrm rot="5400000">
              <a:off x="4764" y="11178"/>
              <a:ext cx="1" cy="53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1" name="Line 592"/>
            <p:cNvCxnSpPr>
              <a:cxnSpLocks noChangeShapeType="1"/>
            </p:cNvCxnSpPr>
            <p:nvPr/>
          </p:nvCxnSpPr>
          <p:spPr bwMode="auto">
            <a:xfrm>
              <a:off x="5052" y="11481"/>
              <a:ext cx="1" cy="5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12" name="Text Box 596"/>
            <p:cNvSpPr txBox="1">
              <a:spLocks noChangeArrowheads="1"/>
            </p:cNvSpPr>
            <p:nvPr/>
          </p:nvSpPr>
          <p:spPr bwMode="auto">
            <a:xfrm>
              <a:off x="4372" y="11007"/>
              <a:ext cx="703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3" name="Text Box 597"/>
            <p:cNvSpPr txBox="1">
              <a:spLocks noChangeArrowheads="1"/>
            </p:cNvSpPr>
            <p:nvPr/>
          </p:nvSpPr>
          <p:spPr bwMode="auto">
            <a:xfrm>
              <a:off x="4445" y="11800"/>
              <a:ext cx="590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By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4" name="Line 598"/>
            <p:cNvCxnSpPr>
              <a:cxnSpLocks noChangeShapeType="1"/>
            </p:cNvCxnSpPr>
            <p:nvPr/>
          </p:nvCxnSpPr>
          <p:spPr bwMode="auto">
            <a:xfrm rot="18900000">
              <a:off x="6775" y="11461"/>
              <a:ext cx="1" cy="63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" name="Text Box 599"/>
            <p:cNvSpPr txBox="1">
              <a:spLocks noChangeArrowheads="1"/>
            </p:cNvSpPr>
            <p:nvPr/>
          </p:nvSpPr>
          <p:spPr bwMode="auto">
            <a:xfrm>
              <a:off x="6412" y="11816"/>
              <a:ext cx="597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CO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20" name="Rectangle 415"/>
          <p:cNvSpPr>
            <a:spLocks noChangeArrowheads="1"/>
          </p:cNvSpPr>
          <p:nvPr/>
        </p:nvSpPr>
        <p:spPr bwMode="auto">
          <a:xfrm>
            <a:off x="408330" y="-262543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1" name="Rectangle 2"/>
          <p:cNvSpPr>
            <a:spLocks noChangeArrowheads="1"/>
          </p:cNvSpPr>
          <p:nvPr/>
        </p:nvSpPr>
        <p:spPr bwMode="auto">
          <a:xfrm>
            <a:off x="847955" y="462268"/>
            <a:ext cx="60597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7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分析如图结构中各构件及整体的受力</a:t>
            </a:r>
          </a:p>
        </p:txBody>
      </p:sp>
      <p:sp>
        <p:nvSpPr>
          <p:cNvPr id="303" name="Text Box 144"/>
          <p:cNvSpPr txBox="1">
            <a:spLocks noChangeArrowheads="1"/>
          </p:cNvSpPr>
          <p:nvPr/>
        </p:nvSpPr>
        <p:spPr bwMode="auto">
          <a:xfrm>
            <a:off x="762217" y="5849885"/>
            <a:ext cx="76873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dirty="0"/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铰链处一个方位未知的力（二力杆、三力平衡汇交、力偶平衡）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456290" y="5031412"/>
            <a:ext cx="350951" cy="481792"/>
            <a:chOff x="8103834" y="3543344"/>
            <a:chExt cx="350951" cy="481792"/>
          </a:xfrm>
        </p:grpSpPr>
        <p:cxnSp>
          <p:nvCxnSpPr>
            <p:cNvPr id="304" name="Line 1384"/>
            <p:cNvCxnSpPr>
              <a:cxnSpLocks noChangeAspect="1" noChangeShapeType="1"/>
            </p:cNvCxnSpPr>
            <p:nvPr/>
          </p:nvCxnSpPr>
          <p:spPr bwMode="auto">
            <a:xfrm rot="9000000">
              <a:off x="8402640" y="3543344"/>
              <a:ext cx="683" cy="48179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05" name="Text Box 605"/>
            <p:cNvSpPr txBox="1">
              <a:spLocks noChangeArrowheads="1"/>
            </p:cNvSpPr>
            <p:nvPr/>
          </p:nvSpPr>
          <p:spPr bwMode="auto">
            <a:xfrm>
              <a:off x="8103834" y="3761686"/>
              <a:ext cx="350951" cy="257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235570" y="3422393"/>
            <a:ext cx="485209" cy="625220"/>
            <a:chOff x="7927090" y="3967144"/>
            <a:chExt cx="485209" cy="625220"/>
          </a:xfrm>
        </p:grpSpPr>
        <p:cxnSp>
          <p:nvCxnSpPr>
            <p:cNvPr id="306" name="Line 696"/>
            <p:cNvCxnSpPr>
              <a:cxnSpLocks noChangeShapeType="1"/>
            </p:cNvCxnSpPr>
            <p:nvPr/>
          </p:nvCxnSpPr>
          <p:spPr bwMode="auto">
            <a:xfrm>
              <a:off x="8316416" y="4279614"/>
              <a:ext cx="683" cy="295553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07" name="Text Box 694"/>
            <p:cNvSpPr txBox="1">
              <a:spLocks noChangeArrowheads="1"/>
            </p:cNvSpPr>
            <p:nvPr/>
          </p:nvSpPr>
          <p:spPr bwMode="auto">
            <a:xfrm>
              <a:off x="7927090" y="4335274"/>
              <a:ext cx="387821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Dy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8" name="Text Box 695"/>
            <p:cNvSpPr txBox="1">
              <a:spLocks noChangeArrowheads="1"/>
            </p:cNvSpPr>
            <p:nvPr/>
          </p:nvSpPr>
          <p:spPr bwMode="auto">
            <a:xfrm>
              <a:off x="7965076" y="3967144"/>
              <a:ext cx="447223" cy="25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7200" rIns="36000" bIns="720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600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Dx</a:t>
              </a:r>
              <a:endParaRPr lang="zh-CN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09" name="Line 697"/>
            <p:cNvCxnSpPr>
              <a:cxnSpLocks noChangeShapeType="1"/>
            </p:cNvCxnSpPr>
            <p:nvPr/>
          </p:nvCxnSpPr>
          <p:spPr bwMode="auto">
            <a:xfrm rot="5400000">
              <a:off x="8122464" y="4095942"/>
              <a:ext cx="675" cy="38167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73174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横卷形 1"/>
          <p:cNvSpPr/>
          <p:nvPr/>
        </p:nvSpPr>
        <p:spPr bwMode="auto">
          <a:xfrm>
            <a:off x="755576" y="738923"/>
            <a:ext cx="1584176" cy="864096"/>
          </a:xfrm>
          <a:prstGeom prst="horizontalScroll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拓展思考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531751" y="829216"/>
            <a:ext cx="3024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力学建模与力学简图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6" y="1915157"/>
            <a:ext cx="3528392" cy="2646294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4860032" y="2565532"/>
            <a:ext cx="2960174" cy="1026009"/>
            <a:chOff x="5756056" y="2689396"/>
            <a:chExt cx="2960174" cy="1026009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5756056" y="3096774"/>
              <a:ext cx="2960174" cy="618631"/>
              <a:chOff x="6994" y="9307"/>
              <a:chExt cx="2659" cy="548"/>
            </a:xfrm>
          </p:grpSpPr>
          <p:sp>
            <p:nvSpPr>
              <p:cNvPr id="6" name="Line 5"/>
              <p:cNvSpPr>
                <a:spLocks noChangeShapeType="1"/>
              </p:cNvSpPr>
              <p:nvPr/>
            </p:nvSpPr>
            <p:spPr bwMode="auto">
              <a:xfrm>
                <a:off x="7232" y="9585"/>
                <a:ext cx="2199" cy="0"/>
              </a:xfrm>
              <a:prstGeom prst="line">
                <a:avLst/>
              </a:prstGeom>
              <a:noFill/>
              <a:ln w="76200">
                <a:solidFill>
                  <a:srgbClr val="40458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" name="Group 6"/>
              <p:cNvGrpSpPr>
                <a:grpSpLocks/>
              </p:cNvGrpSpPr>
              <p:nvPr/>
            </p:nvGrpSpPr>
            <p:grpSpPr bwMode="auto">
              <a:xfrm>
                <a:off x="9261" y="9538"/>
                <a:ext cx="322" cy="279"/>
                <a:chOff x="2195" y="2780"/>
                <a:chExt cx="192" cy="166"/>
              </a:xfrm>
            </p:grpSpPr>
            <p:sp>
              <p:nvSpPr>
                <p:cNvPr id="37" name="AutoShape 7"/>
                <p:cNvSpPr>
                  <a:spLocks noChangeArrowheads="1"/>
                </p:cNvSpPr>
                <p:nvPr/>
              </p:nvSpPr>
              <p:spPr bwMode="auto">
                <a:xfrm>
                  <a:off x="2217" y="2817"/>
                  <a:ext cx="141" cy="9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C0C0C0"/>
                </a:solidFill>
                <a:ln w="9525">
                  <a:solidFill>
                    <a:srgbClr val="666699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8" name="Oval 8"/>
                <p:cNvSpPr>
                  <a:spLocks noChangeArrowheads="1"/>
                </p:cNvSpPr>
                <p:nvPr/>
              </p:nvSpPr>
              <p:spPr bwMode="auto">
                <a:xfrm>
                  <a:off x="2267" y="2780"/>
                  <a:ext cx="48" cy="48"/>
                </a:xfrm>
                <a:prstGeom prst="ellipse">
                  <a:avLst/>
                </a:prstGeom>
                <a:solidFill>
                  <a:srgbClr val="ECD882"/>
                </a:solidFill>
                <a:ln w="9525">
                  <a:solidFill>
                    <a:srgbClr val="40458C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9" name="Line 9"/>
                <p:cNvSpPr>
                  <a:spLocks noChangeShapeType="1"/>
                </p:cNvSpPr>
                <p:nvPr/>
              </p:nvSpPr>
              <p:spPr bwMode="auto">
                <a:xfrm>
                  <a:off x="2195" y="2924"/>
                  <a:ext cx="192" cy="0"/>
                </a:xfrm>
                <a:prstGeom prst="line">
                  <a:avLst/>
                </a:prstGeom>
                <a:noFill/>
                <a:ln w="22225">
                  <a:solidFill>
                    <a:srgbClr val="40458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0"/>
                <p:cNvSpPr>
                  <a:spLocks noChangeShapeType="1"/>
                </p:cNvSpPr>
                <p:nvPr/>
              </p:nvSpPr>
              <p:spPr bwMode="auto">
                <a:xfrm>
                  <a:off x="2195" y="2946"/>
                  <a:ext cx="192" cy="0"/>
                </a:xfrm>
                <a:prstGeom prst="line">
                  <a:avLst/>
                </a:prstGeom>
                <a:noFill/>
                <a:ln w="76200">
                  <a:pattFill prst="dkUpDiag">
                    <a:fgClr>
                      <a:srgbClr val="969696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11"/>
              <p:cNvGrpSpPr>
                <a:grpSpLocks/>
              </p:cNvGrpSpPr>
              <p:nvPr/>
            </p:nvGrpSpPr>
            <p:grpSpPr bwMode="auto">
              <a:xfrm>
                <a:off x="7095" y="9543"/>
                <a:ext cx="336" cy="312"/>
                <a:chOff x="3467" y="2784"/>
                <a:chExt cx="200" cy="186"/>
              </a:xfrm>
            </p:grpSpPr>
            <p:sp>
              <p:nvSpPr>
                <p:cNvPr id="30" name="AutoShape 12"/>
                <p:cNvSpPr>
                  <a:spLocks noChangeArrowheads="1"/>
                </p:cNvSpPr>
                <p:nvPr/>
              </p:nvSpPr>
              <p:spPr bwMode="auto">
                <a:xfrm>
                  <a:off x="3491" y="2792"/>
                  <a:ext cx="141" cy="9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C0C0C0"/>
                </a:solidFill>
                <a:ln w="9525">
                  <a:solidFill>
                    <a:srgbClr val="666699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" name="Oval 13"/>
                <p:cNvSpPr>
                  <a:spLocks noChangeArrowheads="1"/>
                </p:cNvSpPr>
                <p:nvPr/>
              </p:nvSpPr>
              <p:spPr bwMode="auto">
                <a:xfrm>
                  <a:off x="3539" y="2784"/>
                  <a:ext cx="48" cy="48"/>
                </a:xfrm>
                <a:prstGeom prst="ellipse">
                  <a:avLst/>
                </a:prstGeom>
                <a:solidFill>
                  <a:srgbClr val="ECD882"/>
                </a:solidFill>
                <a:ln w="9525">
                  <a:solidFill>
                    <a:srgbClr val="40458C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2" name="Line 14"/>
                <p:cNvSpPr>
                  <a:spLocks noChangeShapeType="1"/>
                </p:cNvSpPr>
                <p:nvPr/>
              </p:nvSpPr>
              <p:spPr bwMode="auto">
                <a:xfrm>
                  <a:off x="3467" y="2898"/>
                  <a:ext cx="192" cy="0"/>
                </a:xfrm>
                <a:prstGeom prst="line">
                  <a:avLst/>
                </a:prstGeom>
                <a:noFill/>
                <a:ln w="22225">
                  <a:solidFill>
                    <a:srgbClr val="40458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15"/>
                <p:cNvSpPr>
                  <a:spLocks noChangeShapeType="1"/>
                </p:cNvSpPr>
                <p:nvPr/>
              </p:nvSpPr>
              <p:spPr bwMode="auto">
                <a:xfrm>
                  <a:off x="3467" y="2970"/>
                  <a:ext cx="192" cy="0"/>
                </a:xfrm>
                <a:prstGeom prst="line">
                  <a:avLst/>
                </a:prstGeom>
                <a:noFill/>
                <a:ln w="76200">
                  <a:pattFill prst="dkUpDiag">
                    <a:fgClr>
                      <a:srgbClr val="969696"/>
                    </a:fgClr>
                    <a:bgClr>
                      <a:srgbClr val="FFFFFF"/>
                    </a:bgClr>
                  </a:patt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6"/>
                <p:cNvSpPr>
                  <a:spLocks noChangeShapeType="1"/>
                </p:cNvSpPr>
                <p:nvPr/>
              </p:nvSpPr>
              <p:spPr bwMode="auto">
                <a:xfrm>
                  <a:off x="3475" y="2954"/>
                  <a:ext cx="192" cy="0"/>
                </a:xfrm>
                <a:prstGeom prst="line">
                  <a:avLst/>
                </a:prstGeom>
                <a:noFill/>
                <a:ln w="22225">
                  <a:solidFill>
                    <a:srgbClr val="40458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Oval 17"/>
                <p:cNvSpPr>
                  <a:spLocks noChangeArrowheads="1"/>
                </p:cNvSpPr>
                <p:nvPr/>
              </p:nvSpPr>
              <p:spPr bwMode="auto">
                <a:xfrm>
                  <a:off x="3491" y="2899"/>
                  <a:ext cx="48" cy="48"/>
                </a:xfrm>
                <a:prstGeom prst="ellipse">
                  <a:avLst/>
                </a:prstGeom>
                <a:solidFill>
                  <a:srgbClr val="ECD882"/>
                </a:solidFill>
                <a:ln w="9525">
                  <a:solidFill>
                    <a:srgbClr val="40458C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6" name="Oval 18"/>
                <p:cNvSpPr>
                  <a:spLocks noChangeArrowheads="1"/>
                </p:cNvSpPr>
                <p:nvPr/>
              </p:nvSpPr>
              <p:spPr bwMode="auto">
                <a:xfrm>
                  <a:off x="3587" y="2898"/>
                  <a:ext cx="48" cy="48"/>
                </a:xfrm>
                <a:prstGeom prst="ellipse">
                  <a:avLst/>
                </a:prstGeom>
                <a:solidFill>
                  <a:srgbClr val="ECD882"/>
                </a:solidFill>
                <a:ln w="9525">
                  <a:solidFill>
                    <a:srgbClr val="40458C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</p:grpSp>
          <p:sp>
            <p:nvSpPr>
              <p:cNvPr id="13" name="Rectangle 35"/>
              <p:cNvSpPr>
                <a:spLocks noChangeArrowheads="1"/>
              </p:cNvSpPr>
              <p:nvPr/>
            </p:nvSpPr>
            <p:spPr bwMode="auto">
              <a:xfrm>
                <a:off x="6994" y="9307"/>
                <a:ext cx="165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 dirty="0">
                    <a:latin typeface="Times New Roman" panose="02020603050405020304" pitchFamily="18" charset="0"/>
                  </a:rPr>
                  <a:t>A</a:t>
                </a:r>
                <a:endParaRPr lang="en-US" altLang="zh-CN" sz="2000" dirty="0"/>
              </a:p>
            </p:txBody>
          </p:sp>
          <p:sp>
            <p:nvSpPr>
              <p:cNvPr id="14" name="Rectangle 36"/>
              <p:cNvSpPr>
                <a:spLocks noChangeArrowheads="1"/>
              </p:cNvSpPr>
              <p:nvPr/>
            </p:nvSpPr>
            <p:spPr bwMode="auto">
              <a:xfrm>
                <a:off x="9488" y="9321"/>
                <a:ext cx="165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 dirty="0">
                    <a:latin typeface="Times New Roman" panose="02020603050405020304" pitchFamily="18" charset="0"/>
                  </a:rPr>
                  <a:t>B</a:t>
                </a:r>
                <a:endParaRPr lang="en-US" altLang="zh-CN" sz="2000" dirty="0"/>
              </a:p>
            </p:txBody>
          </p:sp>
        </p:grpSp>
        <p:grpSp>
          <p:nvGrpSpPr>
            <p:cNvPr id="42" name="Group 41"/>
            <p:cNvGrpSpPr>
              <a:grpSpLocks/>
            </p:cNvGrpSpPr>
            <p:nvPr/>
          </p:nvGrpSpPr>
          <p:grpSpPr bwMode="auto">
            <a:xfrm>
              <a:off x="6067240" y="3096044"/>
              <a:ext cx="2401845" cy="288032"/>
              <a:chOff x="2700" y="3780"/>
              <a:chExt cx="2400" cy="440"/>
            </a:xfrm>
          </p:grpSpPr>
          <p:sp>
            <p:nvSpPr>
              <p:cNvPr id="58" name="Line 42"/>
              <p:cNvSpPr>
                <a:spLocks noChangeShapeType="1"/>
              </p:cNvSpPr>
              <p:nvPr/>
            </p:nvSpPr>
            <p:spPr bwMode="auto">
              <a:xfrm>
                <a:off x="2702" y="3795"/>
                <a:ext cx="239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43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0" cy="4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29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Line 45"/>
              <p:cNvSpPr>
                <a:spLocks noChangeShapeType="1"/>
              </p:cNvSpPr>
              <p:nvPr/>
            </p:nvSpPr>
            <p:spPr bwMode="auto">
              <a:xfrm>
                <a:off x="31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46"/>
              <p:cNvSpPr>
                <a:spLocks noChangeShapeType="1"/>
              </p:cNvSpPr>
              <p:nvPr/>
            </p:nvSpPr>
            <p:spPr bwMode="auto">
              <a:xfrm>
                <a:off x="34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47"/>
              <p:cNvSpPr>
                <a:spLocks noChangeShapeType="1"/>
              </p:cNvSpPr>
              <p:nvPr/>
            </p:nvSpPr>
            <p:spPr bwMode="auto">
              <a:xfrm>
                <a:off x="36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48"/>
              <p:cNvSpPr>
                <a:spLocks noChangeShapeType="1"/>
              </p:cNvSpPr>
              <p:nvPr/>
            </p:nvSpPr>
            <p:spPr bwMode="auto">
              <a:xfrm>
                <a:off x="390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49"/>
              <p:cNvSpPr>
                <a:spLocks noChangeShapeType="1"/>
              </p:cNvSpPr>
              <p:nvPr/>
            </p:nvSpPr>
            <p:spPr bwMode="auto">
              <a:xfrm>
                <a:off x="41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50"/>
              <p:cNvSpPr>
                <a:spLocks noChangeShapeType="1"/>
              </p:cNvSpPr>
              <p:nvPr/>
            </p:nvSpPr>
            <p:spPr bwMode="auto">
              <a:xfrm>
                <a:off x="43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51"/>
              <p:cNvSpPr>
                <a:spLocks noChangeShapeType="1"/>
              </p:cNvSpPr>
              <p:nvPr/>
            </p:nvSpPr>
            <p:spPr bwMode="auto">
              <a:xfrm>
                <a:off x="46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52"/>
              <p:cNvSpPr>
                <a:spLocks noChangeShapeType="1"/>
              </p:cNvSpPr>
              <p:nvPr/>
            </p:nvSpPr>
            <p:spPr bwMode="auto">
              <a:xfrm>
                <a:off x="48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53"/>
              <p:cNvSpPr>
                <a:spLocks noChangeShapeType="1"/>
              </p:cNvSpPr>
              <p:nvPr/>
            </p:nvSpPr>
            <p:spPr bwMode="auto">
              <a:xfrm>
                <a:off x="5100" y="3780"/>
                <a:ext cx="0" cy="4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" name="Text Box 68"/>
            <p:cNvSpPr txBox="1">
              <a:spLocks noChangeArrowheads="1"/>
            </p:cNvSpPr>
            <p:nvPr/>
          </p:nvSpPr>
          <p:spPr bwMode="auto">
            <a:xfrm>
              <a:off x="7117561" y="2689396"/>
              <a:ext cx="685800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q</a:t>
              </a:r>
              <a:endParaRPr lang="en-US" altLang="zh-CN" sz="2000" b="0" dirty="0"/>
            </a:p>
          </p:txBody>
        </p:sp>
      </p:grpSp>
      <p:sp>
        <p:nvSpPr>
          <p:cNvPr id="71" name="Rectangle 163"/>
          <p:cNvSpPr>
            <a:spLocks noChangeArrowheads="1"/>
          </p:cNvSpPr>
          <p:nvPr/>
        </p:nvSpPr>
        <p:spPr bwMode="auto">
          <a:xfrm>
            <a:off x="3953663" y="2956898"/>
            <a:ext cx="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" name="Rectangle 165"/>
          <p:cNvSpPr>
            <a:spLocks noChangeArrowheads="1"/>
          </p:cNvSpPr>
          <p:nvPr/>
        </p:nvSpPr>
        <p:spPr bwMode="auto">
          <a:xfrm>
            <a:off x="3953663" y="3728423"/>
            <a:ext cx="0" cy="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3" name="Rectangle 166"/>
          <p:cNvSpPr>
            <a:spLocks noChangeArrowheads="1"/>
          </p:cNvSpPr>
          <p:nvPr/>
        </p:nvSpPr>
        <p:spPr bwMode="auto">
          <a:xfrm>
            <a:off x="3953663" y="3852248"/>
            <a:ext cx="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1818569" y="4866192"/>
            <a:ext cx="5566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：刚体、平面、简化形状和尺寸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：光滑、简化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载荷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：集中力、分布力</a:t>
            </a:r>
          </a:p>
        </p:txBody>
      </p:sp>
    </p:spTree>
    <p:extLst>
      <p:ext uri="{BB962C8B-B14F-4D97-AF65-F5344CB8AC3E}">
        <p14:creationId xmlns:p14="http://schemas.microsoft.com/office/powerpoint/2010/main" val="332633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7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1403648" y="2699931"/>
            <a:ext cx="669607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Blip>
                <a:blip r:embed="rId2"/>
              </a:buBlip>
            </a:pP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受力图是建立平衡方程的重要依据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必不可少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1200"/>
              </a:spcBef>
              <a:buFontTx/>
              <a:buBlip>
                <a:blip r:embed="rId2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不同研究对象的受力图应分别绘制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不能拼图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1200"/>
              </a:spcBef>
              <a:buFontTx/>
              <a:buBlip>
                <a:blip r:embed="rId2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解除约束才有相应的约束反力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不能主观想象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1200"/>
              </a:spcBef>
              <a:buFontTx/>
              <a:buBlip>
                <a:blip r:embed="rId2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约束反力务必与其约束特性一致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1200"/>
              </a:spcBef>
              <a:buFontTx/>
              <a:buBlip>
                <a:blip r:embed="rId2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所有力均应按照力的三要素以矢量在图中表示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并标出相应力的名称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1200"/>
              </a:spcBef>
              <a:buFontTx/>
              <a:buBlip>
                <a:blip r:embed="rId2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作用力与反作用力原理必须严格遵守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3" name="Text Box 1026"/>
          <p:cNvSpPr txBox="1">
            <a:spLocks noChangeArrowheads="1"/>
          </p:cNvSpPr>
          <p:nvPr/>
        </p:nvSpPr>
        <p:spPr bwMode="auto">
          <a:xfrm>
            <a:off x="2771800" y="404664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</a:p>
        </p:txBody>
      </p:sp>
      <p:sp>
        <p:nvSpPr>
          <p:cNvPr id="4" name="Text Box 1028"/>
          <p:cNvSpPr txBox="1">
            <a:spLocks noChangeArrowheads="1"/>
          </p:cNvSpPr>
          <p:nvPr/>
        </p:nvSpPr>
        <p:spPr bwMode="auto">
          <a:xfrm>
            <a:off x="1763688" y="1162008"/>
            <a:ext cx="576064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常见约束及其约束反力。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物体的受力分析和受力图是研究物体平衡和运动的前提。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1725</Words>
  <Application>Microsoft Office PowerPoint</Application>
  <PresentationFormat>全屏显示(4:3)</PresentationFormat>
  <Paragraphs>413</Paragraphs>
  <Slides>28</Slides>
  <Notes>0</Notes>
  <HiddenSlides>0</HiddenSlides>
  <MMClips>12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黑体</vt:lpstr>
      <vt:lpstr>华文中宋</vt:lpstr>
      <vt:lpstr>楷体</vt:lpstr>
      <vt:lpstr>宋体</vt:lpstr>
      <vt:lpstr>幼圆</vt:lpstr>
      <vt:lpstr>Arial</vt:lpstr>
      <vt:lpstr>Calibri</vt:lpstr>
      <vt:lpstr>Symbol</vt:lpstr>
      <vt:lpstr>Times New Roman</vt:lpstr>
      <vt:lpstr>Wingdings</vt:lpstr>
      <vt:lpstr>默认设计模板</vt:lpstr>
      <vt:lpstr>Image</vt:lpstr>
      <vt:lpstr>BMP 图像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liujie</dc:creator>
  <cp:lastModifiedBy>Jie Liu</cp:lastModifiedBy>
  <cp:revision>314</cp:revision>
  <dcterms:created xsi:type="dcterms:W3CDTF">2003-11-13T15:45:13Z</dcterms:created>
  <dcterms:modified xsi:type="dcterms:W3CDTF">2026-09-21T12:13:38Z</dcterms:modified>
</cp:coreProperties>
</file>