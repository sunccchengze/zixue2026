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7" r:id="rId2"/>
    <p:sldId id="263" r:id="rId3"/>
    <p:sldId id="278" r:id="rId4"/>
    <p:sldId id="294" r:id="rId5"/>
    <p:sldId id="279" r:id="rId6"/>
    <p:sldId id="309" r:id="rId7"/>
    <p:sldId id="281" r:id="rId8"/>
    <p:sldId id="310" r:id="rId9"/>
    <p:sldId id="264" r:id="rId10"/>
    <p:sldId id="265" r:id="rId11"/>
    <p:sldId id="267" r:id="rId12"/>
    <p:sldId id="330" r:id="rId13"/>
    <p:sldId id="292" r:id="rId14"/>
    <p:sldId id="302" r:id="rId15"/>
    <p:sldId id="299" r:id="rId16"/>
    <p:sldId id="312" r:id="rId17"/>
    <p:sldId id="313" r:id="rId18"/>
    <p:sldId id="303" r:id="rId19"/>
    <p:sldId id="304" r:id="rId20"/>
    <p:sldId id="305" r:id="rId21"/>
    <p:sldId id="306" r:id="rId22"/>
    <p:sldId id="307" r:id="rId23"/>
    <p:sldId id="308" r:id="rId24"/>
    <p:sldId id="276" r:id="rId25"/>
    <p:sldId id="277" r:id="rId26"/>
    <p:sldId id="296" r:id="rId27"/>
    <p:sldId id="270" r:id="rId28"/>
    <p:sldId id="282" r:id="rId29"/>
    <p:sldId id="283" r:id="rId30"/>
    <p:sldId id="286" r:id="rId31"/>
    <p:sldId id="320" r:id="rId32"/>
    <p:sldId id="295" r:id="rId33"/>
    <p:sldId id="317" r:id="rId34"/>
    <p:sldId id="285" r:id="rId35"/>
    <p:sldId id="328" r:id="rId36"/>
    <p:sldId id="323" r:id="rId37"/>
    <p:sldId id="331" r:id="rId38"/>
    <p:sldId id="332" r:id="rId39"/>
    <p:sldId id="290" r:id="rId40"/>
    <p:sldId id="329" r:id="rId41"/>
    <p:sldId id="333" r:id="rId42"/>
    <p:sldId id="326" r:id="rId43"/>
    <p:sldId id="314" r:id="rId44"/>
    <p:sldId id="291" r:id="rId45"/>
    <p:sldId id="327" r:id="rId46"/>
    <p:sldId id="273" r:id="rId47"/>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modifyVerifier cryptProviderType="rsaAES" cryptAlgorithmClass="hash" cryptAlgorithmType="typeAny" cryptAlgorithmSid="14" spinCount="100000" saltData="Av7GgEwawH9sZ4c0U9mJwQ==" hashData="Zee+xduSlS/gCbDubn2hmh+byidHMXptLvcT9nEGhdDKEpY2W543qHOwbXYbgD9x5Npehbr+F0h5T6YzXQL08w=="/>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800000"/>
    <a:srgbClr val="000099"/>
    <a:srgbClr val="FF00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3719" autoAdjust="0"/>
  </p:normalViewPr>
  <p:slideViewPr>
    <p:cSldViewPr>
      <p:cViewPr varScale="1">
        <p:scale>
          <a:sx n="117" d="100"/>
          <a:sy n="117" d="100"/>
        </p:scale>
        <p:origin x="308"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 Id="rId4"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6.wmf"/><Relationship Id="rId5" Type="http://schemas.openxmlformats.org/officeDocument/2006/relationships/image" Target="../media/image12.wmf"/><Relationship Id="rId4" Type="http://schemas.openxmlformats.org/officeDocument/2006/relationships/image" Target="../media/image1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5" Type="http://schemas.openxmlformats.org/officeDocument/2006/relationships/image" Target="../media/image26.png"/><Relationship Id="rId4"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png"/><Relationship Id="rId1" Type="http://schemas.openxmlformats.org/officeDocument/2006/relationships/image" Target="../media/image33.wmf"/><Relationship Id="rId4" Type="http://schemas.openxmlformats.org/officeDocument/2006/relationships/image" Target="../media/image36.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image" Target="../media/image43.wmf"/><Relationship Id="rId7" Type="http://schemas.openxmlformats.org/officeDocument/2006/relationships/image" Target="../media/image47.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46.wmf"/><Relationship Id="rId5" Type="http://schemas.openxmlformats.org/officeDocument/2006/relationships/image" Target="../media/image45.wmf"/><Relationship Id="rId10" Type="http://schemas.openxmlformats.org/officeDocument/2006/relationships/image" Target="../media/image50.wmf"/><Relationship Id="rId4" Type="http://schemas.openxmlformats.org/officeDocument/2006/relationships/image" Target="../media/image44.wmf"/><Relationship Id="rId9" Type="http://schemas.openxmlformats.org/officeDocument/2006/relationships/image" Target="../media/image49.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59.emf"/><Relationship Id="rId3" Type="http://schemas.openxmlformats.org/officeDocument/2006/relationships/image" Target="../media/image54.emf"/><Relationship Id="rId7" Type="http://schemas.openxmlformats.org/officeDocument/2006/relationships/image" Target="../media/image58.emf"/><Relationship Id="rId2" Type="http://schemas.openxmlformats.org/officeDocument/2006/relationships/image" Target="../media/image53.emf"/><Relationship Id="rId1" Type="http://schemas.openxmlformats.org/officeDocument/2006/relationships/image" Target="../media/image52.emf"/><Relationship Id="rId6" Type="http://schemas.openxmlformats.org/officeDocument/2006/relationships/image" Target="../media/image57.emf"/><Relationship Id="rId5" Type="http://schemas.openxmlformats.org/officeDocument/2006/relationships/image" Target="../media/image56.emf"/><Relationship Id="rId4" Type="http://schemas.openxmlformats.org/officeDocument/2006/relationships/image" Target="../media/image5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0.png"/></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71.emf"/><Relationship Id="rId3" Type="http://schemas.openxmlformats.org/officeDocument/2006/relationships/image" Target="../media/image66.emf"/><Relationship Id="rId7" Type="http://schemas.openxmlformats.org/officeDocument/2006/relationships/image" Target="../media/image70.emf"/><Relationship Id="rId2" Type="http://schemas.openxmlformats.org/officeDocument/2006/relationships/image" Target="../media/image65.emf"/><Relationship Id="rId1" Type="http://schemas.openxmlformats.org/officeDocument/2006/relationships/image" Target="../media/image64.emf"/><Relationship Id="rId6" Type="http://schemas.openxmlformats.org/officeDocument/2006/relationships/image" Target="../media/image69.wmf"/><Relationship Id="rId5" Type="http://schemas.openxmlformats.org/officeDocument/2006/relationships/image" Target="../media/image68.emf"/><Relationship Id="rId4" Type="http://schemas.openxmlformats.org/officeDocument/2006/relationships/image" Target="../media/image67.emf"/><Relationship Id="rId9" Type="http://schemas.openxmlformats.org/officeDocument/2006/relationships/image" Target="../media/image72.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7.png"/></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image" Target="../media/image82.e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image" Target="../media/image87.emf"/><Relationship Id="rId7" Type="http://schemas.openxmlformats.org/officeDocument/2006/relationships/image" Target="../media/image91.wmf"/><Relationship Id="rId2" Type="http://schemas.openxmlformats.org/officeDocument/2006/relationships/image" Target="../media/image86.wmf"/><Relationship Id="rId1" Type="http://schemas.openxmlformats.org/officeDocument/2006/relationships/image" Target="../media/image85.emf"/><Relationship Id="rId6" Type="http://schemas.openxmlformats.org/officeDocument/2006/relationships/image" Target="../media/image90.wmf"/><Relationship Id="rId5" Type="http://schemas.openxmlformats.org/officeDocument/2006/relationships/image" Target="../media/image89.emf"/><Relationship Id="rId4" Type="http://schemas.openxmlformats.org/officeDocument/2006/relationships/image" Target="../media/image88.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95.png"/></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4" Type="http://schemas.openxmlformats.org/officeDocument/2006/relationships/image" Target="../media/image101.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 Id="rId4" Type="http://schemas.openxmlformats.org/officeDocument/2006/relationships/image" Target="../media/image10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emf"/><Relationship Id="rId1" Type="http://schemas.openxmlformats.org/officeDocument/2006/relationships/image" Target="../media/image108.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11.wmf"/><Relationship Id="rId1" Type="http://schemas.openxmlformats.org/officeDocument/2006/relationships/image" Target="../media/image109.emf"/><Relationship Id="rId5" Type="http://schemas.openxmlformats.org/officeDocument/2006/relationships/image" Target="../media/image113.wmf"/><Relationship Id="rId4" Type="http://schemas.openxmlformats.org/officeDocument/2006/relationships/image" Target="../media/image112.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27.wmf"/><Relationship Id="rId3" Type="http://schemas.openxmlformats.org/officeDocument/2006/relationships/image" Target="../media/image122.wmf"/><Relationship Id="rId7" Type="http://schemas.openxmlformats.org/officeDocument/2006/relationships/image" Target="../media/image126.wmf"/><Relationship Id="rId2" Type="http://schemas.openxmlformats.org/officeDocument/2006/relationships/image" Target="../media/image121.wmf"/><Relationship Id="rId1" Type="http://schemas.openxmlformats.org/officeDocument/2006/relationships/image" Target="../media/image120.wmf"/><Relationship Id="rId6" Type="http://schemas.openxmlformats.org/officeDocument/2006/relationships/image" Target="../media/image125.wmf"/><Relationship Id="rId5" Type="http://schemas.openxmlformats.org/officeDocument/2006/relationships/image" Target="../media/image124.wmf"/><Relationship Id="rId10" Type="http://schemas.openxmlformats.org/officeDocument/2006/relationships/image" Target="../media/image129.wmf"/><Relationship Id="rId4" Type="http://schemas.openxmlformats.org/officeDocument/2006/relationships/image" Target="../media/image123.wmf"/><Relationship Id="rId9" Type="http://schemas.openxmlformats.org/officeDocument/2006/relationships/image" Target="../media/image128.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30.wmf"/><Relationship Id="rId1" Type="http://schemas.openxmlformats.org/officeDocument/2006/relationships/image" Target="../media/image102.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38.wmf"/><Relationship Id="rId7" Type="http://schemas.openxmlformats.org/officeDocument/2006/relationships/image" Target="../media/image142.wmf"/><Relationship Id="rId2" Type="http://schemas.openxmlformats.org/officeDocument/2006/relationships/image" Target="../media/image137.wmf"/><Relationship Id="rId1" Type="http://schemas.openxmlformats.org/officeDocument/2006/relationships/image" Target="../media/image136.wmf"/><Relationship Id="rId6" Type="http://schemas.openxmlformats.org/officeDocument/2006/relationships/image" Target="../media/image141.wmf"/><Relationship Id="rId5" Type="http://schemas.openxmlformats.org/officeDocument/2006/relationships/image" Target="../media/image140.wmf"/><Relationship Id="rId4" Type="http://schemas.openxmlformats.org/officeDocument/2006/relationships/image" Target="../media/image139.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44.wmf"/><Relationship Id="rId1" Type="http://schemas.openxmlformats.org/officeDocument/2006/relationships/image" Target="../media/image143.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45.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image" Target="../media/image151.wmf"/><Relationship Id="rId7" Type="http://schemas.openxmlformats.org/officeDocument/2006/relationships/image" Target="../media/image155.wmf"/><Relationship Id="rId2" Type="http://schemas.openxmlformats.org/officeDocument/2006/relationships/image" Target="../media/image150.wmf"/><Relationship Id="rId1" Type="http://schemas.openxmlformats.org/officeDocument/2006/relationships/image" Target="../media/image149.wmf"/><Relationship Id="rId6" Type="http://schemas.openxmlformats.org/officeDocument/2006/relationships/image" Target="../media/image154.wmf"/><Relationship Id="rId5" Type="http://schemas.openxmlformats.org/officeDocument/2006/relationships/image" Target="../media/image153.wmf"/><Relationship Id="rId10" Type="http://schemas.openxmlformats.org/officeDocument/2006/relationships/image" Target="../media/image158.wmf"/><Relationship Id="rId4" Type="http://schemas.openxmlformats.org/officeDocument/2006/relationships/image" Target="../media/image152.wmf"/><Relationship Id="rId9" Type="http://schemas.openxmlformats.org/officeDocument/2006/relationships/image" Target="../media/image157.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png"/><Relationship Id="rId5" Type="http://schemas.openxmlformats.org/officeDocument/2006/relationships/image" Target="../media/image163.wmf"/><Relationship Id="rId4" Type="http://schemas.openxmlformats.org/officeDocument/2006/relationships/image" Target="../media/image162.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55.wmf"/><Relationship Id="rId7" Type="http://schemas.openxmlformats.org/officeDocument/2006/relationships/image" Target="../media/image166.wmf"/><Relationship Id="rId2" Type="http://schemas.openxmlformats.org/officeDocument/2006/relationships/image" Target="../media/image154.wmf"/><Relationship Id="rId1" Type="http://schemas.openxmlformats.org/officeDocument/2006/relationships/image" Target="../media/image153.wmf"/><Relationship Id="rId6" Type="http://schemas.openxmlformats.org/officeDocument/2006/relationships/image" Target="../media/image165.wmf"/><Relationship Id="rId5" Type="http://schemas.openxmlformats.org/officeDocument/2006/relationships/image" Target="../media/image164.wmf"/><Relationship Id="rId4" Type="http://schemas.openxmlformats.org/officeDocument/2006/relationships/image" Target="../media/image15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409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09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40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8495060E-49BE-4539-94C2-CED182A4CC12}" type="slidenum">
              <a:rPr lang="en-US" altLang="zh-CN"/>
              <a:pPr>
                <a:defRPr/>
              </a:pPr>
              <a:t>‹#›</a:t>
            </a:fld>
            <a:endParaRPr lang="en-US" altLang="zh-CN"/>
          </a:p>
        </p:txBody>
      </p:sp>
    </p:spTree>
    <p:extLst>
      <p:ext uri="{BB962C8B-B14F-4D97-AF65-F5344CB8AC3E}">
        <p14:creationId xmlns:p14="http://schemas.microsoft.com/office/powerpoint/2010/main" val="16118952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81B697E-55AC-4023-9E1D-AB4CE43A5BB2}" type="slidenum">
              <a:rPr lang="en-US" altLang="zh-CN"/>
              <a:pPr>
                <a:spcBef>
                  <a:spcPct val="0"/>
                </a:spcBef>
              </a:pPr>
              <a:t>13</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172874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745496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98369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164660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06497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54818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41266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652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748334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99179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22684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94825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18" Type="http://schemas.openxmlformats.org/officeDocument/2006/relationships/hyperlink" Target="../&#31532;&#19977;&#31456;/chap3.ppt" TargetMode="Externa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hyperlink" Target="../&#31532;&#22235;&#31456;/chap4.ppt" TargetMode="Externa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1.png"/><Relationship Id="rId25" Type="http://schemas.openxmlformats.org/officeDocument/2006/relationships/oleObject" Target="../embeddings/oleObject4.bin"/><Relationship Id="rId2" Type="http://schemas.openxmlformats.org/officeDocument/2006/relationships/slideLayout" Target="../slideLayouts/slideLayout2.xml"/><Relationship Id="rId16" Type="http://schemas.openxmlformats.org/officeDocument/2006/relationships/oleObject" Target="../embeddings/oleObject1.bin"/><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hyperlink" Target="../&#31532;&#19968;&#31456;/chap1.ppt" TargetMode="External"/><Relationship Id="rId5" Type="http://schemas.openxmlformats.org/officeDocument/2006/relationships/slideLayout" Target="../slideLayouts/slideLayout5.xml"/><Relationship Id="rId15" Type="http://schemas.openxmlformats.org/officeDocument/2006/relationships/hyperlink" Target="../&#31532;&#20108;&#31456;/chap2.ppt" TargetMode="Externa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oleObject" Target="../embeddings/oleObject2.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5.jpeg"/><Relationship Id="rId22"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背景(静力学)"/>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AutoShape 8">
            <a:hlinkClick r:id="" action="ppaction://hlinkshowjump?jump=previousslide" highlightClick="1"/>
          </p:cNvPr>
          <p:cNvSpPr>
            <a:spLocks noChangeArrowheads="1"/>
          </p:cNvSpPr>
          <p:nvPr userDrawn="1"/>
        </p:nvSpPr>
        <p:spPr bwMode="auto">
          <a:xfrm>
            <a:off x="228600" y="6248400"/>
            <a:ext cx="3810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rgbClr val="FF9900"/>
            </a:solidFill>
            <a:miter lim="800000"/>
            <a:headEnd/>
            <a:tailEnd/>
          </a:ln>
          <a:effectLst/>
        </p:spPr>
        <p:txBody>
          <a:bodyPr wrap="none" anchor="ctr"/>
          <a:lstStyle/>
          <a:p>
            <a:pPr eaLnBrk="1" hangingPunct="1">
              <a:defRPr/>
            </a:pPr>
            <a:endParaRPr lang="zh-CN" altLang="en-US"/>
          </a:p>
        </p:txBody>
      </p:sp>
      <p:sp>
        <p:nvSpPr>
          <p:cNvPr id="1033" name="AutoShape 9">
            <a:hlinkClick r:id="" action="ppaction://hlinkshowjump?jump=nextslide" highlightClick="1"/>
          </p:cNvPr>
          <p:cNvSpPr>
            <a:spLocks noChangeAspect="1" noChangeArrowheads="1"/>
          </p:cNvSpPr>
          <p:nvPr userDrawn="1"/>
        </p:nvSpPr>
        <p:spPr bwMode="auto">
          <a:xfrm>
            <a:off x="762000" y="6248400"/>
            <a:ext cx="381000" cy="381000"/>
          </a:xfrm>
          <a:prstGeom prst="actionButtonForwardNext">
            <a:avLst/>
          </a:prstGeom>
          <a:gradFill rotWithShape="0">
            <a:gsLst>
              <a:gs pos="0">
                <a:schemeClr val="accent1"/>
              </a:gs>
              <a:gs pos="100000">
                <a:schemeClr val="accent1">
                  <a:gamma/>
                  <a:shade val="46275"/>
                  <a:invGamma/>
                </a:schemeClr>
              </a:gs>
            </a:gsLst>
            <a:path path="rect">
              <a:fillToRect l="50000" t="50000" r="50000" b="50000"/>
            </a:path>
          </a:gradFill>
          <a:ln w="9525">
            <a:solidFill>
              <a:srgbClr val="FF9900"/>
            </a:solidFill>
            <a:miter lim="800000"/>
            <a:headEnd/>
            <a:tailEnd/>
          </a:ln>
          <a:effectLst/>
        </p:spPr>
        <p:txBody>
          <a:bodyPr wrap="none" anchor="ctr"/>
          <a:lstStyle/>
          <a:p>
            <a:pPr eaLnBrk="1" hangingPunct="1">
              <a:defRPr/>
            </a:pPr>
            <a:endParaRPr lang="zh-CN" altLang="en-US"/>
          </a:p>
        </p:txBody>
      </p:sp>
      <p:graphicFrame>
        <p:nvGraphicFramePr>
          <p:cNvPr id="1029" name="Object 10">
            <a:hlinkClick r:id="rId15"/>
          </p:cNvPr>
          <p:cNvGraphicFramePr>
            <a:graphicFrameLocks noChangeAspect="1"/>
          </p:cNvGraphicFramePr>
          <p:nvPr userDrawn="1"/>
        </p:nvGraphicFramePr>
        <p:xfrm>
          <a:off x="0" y="1649413"/>
          <a:ext cx="503238" cy="1738312"/>
        </p:xfrm>
        <a:graphic>
          <a:graphicData uri="http://schemas.openxmlformats.org/presentationml/2006/ole">
            <mc:AlternateContent xmlns:mc="http://schemas.openxmlformats.org/markup-compatibility/2006">
              <mc:Choice xmlns:v="urn:schemas-microsoft-com:vml" Requires="v">
                <p:oleObj spid="_x0000_s1042" name="Image" r:id="rId16" imgW="557643" imgH="1926014" progId="Photoshop.Image.6">
                  <p:embed/>
                </p:oleObj>
              </mc:Choice>
              <mc:Fallback>
                <p:oleObj name="Image" r:id="rId16" imgW="557643" imgH="1926014" progId="Photoshop.Image.6">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1649413"/>
                        <a:ext cx="503238" cy="173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0" name="Object 11">
            <a:hlinkClick r:id="rId18"/>
          </p:cNvPr>
          <p:cNvGraphicFramePr>
            <a:graphicFrameLocks noChangeAspect="1"/>
          </p:cNvGraphicFramePr>
          <p:nvPr userDrawn="1"/>
        </p:nvGraphicFramePr>
        <p:xfrm>
          <a:off x="0" y="3325813"/>
          <a:ext cx="508000" cy="1730375"/>
        </p:xfrm>
        <a:graphic>
          <a:graphicData uri="http://schemas.openxmlformats.org/presentationml/2006/ole">
            <mc:AlternateContent xmlns:mc="http://schemas.openxmlformats.org/markup-compatibility/2006">
              <mc:Choice xmlns:v="urn:schemas-microsoft-com:vml" Requires="v">
                <p:oleObj spid="_x0000_s1043" name="Image" r:id="rId19" imgW="563738" imgH="1920244" progId="Photoshop.Image.6">
                  <p:embed/>
                </p:oleObj>
              </mc:Choice>
              <mc:Fallback>
                <p:oleObj name="Image" r:id="rId19" imgW="563738" imgH="1920244" progId="Photoshop.Image.6">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3325813"/>
                        <a:ext cx="508000" cy="173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1" name="Object 12">
            <a:hlinkClick r:id="rId21"/>
          </p:cNvPr>
          <p:cNvGraphicFramePr>
            <a:graphicFrameLocks noChangeAspect="1"/>
          </p:cNvGraphicFramePr>
          <p:nvPr userDrawn="1"/>
        </p:nvGraphicFramePr>
        <p:xfrm>
          <a:off x="36513" y="5002213"/>
          <a:ext cx="468312" cy="1093787"/>
        </p:xfrm>
        <a:graphic>
          <a:graphicData uri="http://schemas.openxmlformats.org/presentationml/2006/ole">
            <mc:AlternateContent xmlns:mc="http://schemas.openxmlformats.org/markup-compatibility/2006">
              <mc:Choice xmlns:v="urn:schemas-microsoft-com:vml" Requires="v">
                <p:oleObj spid="_x0000_s1044" name="Image" r:id="rId22" imgW="518029" imgH="1209956" progId="Photoshop.Image.6">
                  <p:embed/>
                </p:oleObj>
              </mc:Choice>
              <mc:Fallback>
                <p:oleObj name="Image" r:id="rId22" imgW="518029" imgH="1209956" progId="Photoshop.Image.6">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6513" y="5002213"/>
                        <a:ext cx="468312" cy="109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14">
            <a:hlinkClick r:id="rId24"/>
          </p:cNvPr>
          <p:cNvGraphicFramePr>
            <a:graphicFrameLocks noChangeAspect="1"/>
          </p:cNvGraphicFramePr>
          <p:nvPr userDrawn="1"/>
        </p:nvGraphicFramePr>
        <p:xfrm>
          <a:off x="28575" y="0"/>
          <a:ext cx="471488" cy="1666875"/>
        </p:xfrm>
        <a:graphic>
          <a:graphicData uri="http://schemas.openxmlformats.org/presentationml/2006/ole">
            <mc:AlternateContent xmlns:mc="http://schemas.openxmlformats.org/markup-compatibility/2006">
              <mc:Choice xmlns:v="urn:schemas-microsoft-com:vml" Requires="v">
                <p:oleObj spid="_x0000_s1045" name="Image" r:id="rId25" imgW="520900" imgH="1837792" progId="Photoshop.Image.6">
                  <p:embed/>
                </p:oleObj>
              </mc:Choice>
              <mc:Fallback>
                <p:oleObj name="Image" r:id="rId25" imgW="520900" imgH="1837792" progId="Photoshop.Image.6">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8575" y="0"/>
                        <a:ext cx="471488" cy="166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8.jpeg"/><Relationship Id="rId4" Type="http://schemas.openxmlformats.org/officeDocument/2006/relationships/image" Target="../media/image6.wmf"/></Relationships>
</file>

<file path=ppt/slides/_rels/slide3.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2.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9.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11.png"/><Relationship Id="rId4" Type="http://schemas.openxmlformats.org/officeDocument/2006/relationships/image" Target="../media/image6.wmf"/><Relationship Id="rId9" Type="http://schemas.openxmlformats.org/officeDocument/2006/relationships/oleObject" Target="../embeddings/oleObject10.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F:\2015&#29702;&#21147;&#35838;&#20214;\&#38745;&#21147;&#23398;\J3&#21147;&#23545;&#28857;&#30340;&#30697;a.avi" TargetMode="Externa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12.bin"/><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6.wmf"/><Relationship Id="rId5" Type="http://schemas.openxmlformats.org/officeDocument/2006/relationships/oleObject" Target="../embeddings/oleObject14.bin"/><Relationship Id="rId4" Type="http://schemas.openxmlformats.org/officeDocument/2006/relationships/image" Target="../media/image15.wmf"/></Relationships>
</file>

<file path=ppt/slides/_rels/slide6.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20.bin"/><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8.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image" Target="../media/image21.png"/><Relationship Id="rId10" Type="http://schemas.openxmlformats.org/officeDocument/2006/relationships/image" Target="../media/image9.wmf"/><Relationship Id="rId4" Type="http://schemas.openxmlformats.org/officeDocument/2006/relationships/image" Target="../media/image17.wmf"/><Relationship Id="rId9" Type="http://schemas.openxmlformats.org/officeDocument/2006/relationships/oleObject" Target="../embeddings/oleObject18.bin"/><Relationship Id="rId14" Type="http://schemas.openxmlformats.org/officeDocument/2006/relationships/image" Target="../media/image20.wmf"/></Relationships>
</file>

<file path=ppt/slides/_rels/slide7.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26.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3.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24.bin"/></Relationships>
</file>

<file path=ppt/slides/_rels/slide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32.jpeg"/><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1.wmf"/><Relationship Id="rId5" Type="http://schemas.openxmlformats.org/officeDocument/2006/relationships/oleObject" Target="../embeddings/oleObject27.bin"/><Relationship Id="rId4" Type="http://schemas.openxmlformats.org/officeDocument/2006/relationships/image" Target="../media/image30.wmf"/></Relationships>
</file>

<file path=ppt/slides/_rels/slide10.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4.png"/><Relationship Id="rId5" Type="http://schemas.openxmlformats.org/officeDocument/2006/relationships/oleObject" Target="../embeddings/oleObject29.bin"/><Relationship Id="rId10" Type="http://schemas.openxmlformats.org/officeDocument/2006/relationships/image" Target="../media/image36.emf"/><Relationship Id="rId4" Type="http://schemas.openxmlformats.org/officeDocument/2006/relationships/image" Target="../media/image33.wmf"/><Relationship Id="rId9" Type="http://schemas.openxmlformats.org/officeDocument/2006/relationships/oleObject" Target="../embeddings/oleObject31.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39.wmf"/><Relationship Id="rId3" Type="http://schemas.openxmlformats.org/officeDocument/2006/relationships/image" Target="../media/image21.png"/><Relationship Id="rId7" Type="http://schemas.openxmlformats.org/officeDocument/2006/relationships/image" Target="../media/image18.wmf"/><Relationship Id="rId12"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33.bin"/><Relationship Id="rId11" Type="http://schemas.openxmlformats.org/officeDocument/2006/relationships/image" Target="../media/image38.wmf"/><Relationship Id="rId5" Type="http://schemas.openxmlformats.org/officeDocument/2006/relationships/image" Target="../media/image17.wmf"/><Relationship Id="rId15" Type="http://schemas.openxmlformats.org/officeDocument/2006/relationships/image" Target="../media/image40.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37.wmf"/><Relationship Id="rId14" Type="http://schemas.openxmlformats.org/officeDocument/2006/relationships/oleObject" Target="../embeddings/oleObject37.bin"/></Relationships>
</file>

<file path=ppt/slides/_rels/slide12.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image" Target="../media/image51.png"/><Relationship Id="rId18" Type="http://schemas.openxmlformats.org/officeDocument/2006/relationships/oleObject" Target="../embeddings/oleObject45.bin"/><Relationship Id="rId3" Type="http://schemas.openxmlformats.org/officeDocument/2006/relationships/oleObject" Target="../embeddings/oleObject38.bin"/><Relationship Id="rId21" Type="http://schemas.openxmlformats.org/officeDocument/2006/relationships/image" Target="../media/image49.wmf"/><Relationship Id="rId7" Type="http://schemas.openxmlformats.org/officeDocument/2006/relationships/oleObject" Target="../embeddings/oleObject40.bin"/><Relationship Id="rId12" Type="http://schemas.openxmlformats.org/officeDocument/2006/relationships/image" Target="../media/image45.wmf"/><Relationship Id="rId17" Type="http://schemas.openxmlformats.org/officeDocument/2006/relationships/image" Target="../media/image47.wmf"/><Relationship Id="rId2" Type="http://schemas.openxmlformats.org/officeDocument/2006/relationships/slideLayout" Target="../slideLayouts/slideLayout2.xml"/><Relationship Id="rId16" Type="http://schemas.openxmlformats.org/officeDocument/2006/relationships/oleObject" Target="../embeddings/oleObject44.bin"/><Relationship Id="rId20" Type="http://schemas.openxmlformats.org/officeDocument/2006/relationships/oleObject" Target="../embeddings/oleObject46.bin"/><Relationship Id="rId1" Type="http://schemas.openxmlformats.org/officeDocument/2006/relationships/vmlDrawing" Target="../drawings/vmlDrawing11.vml"/><Relationship Id="rId6" Type="http://schemas.openxmlformats.org/officeDocument/2006/relationships/image" Target="../media/image42.wmf"/><Relationship Id="rId11" Type="http://schemas.openxmlformats.org/officeDocument/2006/relationships/oleObject" Target="../embeddings/oleObject42.bin"/><Relationship Id="rId5" Type="http://schemas.openxmlformats.org/officeDocument/2006/relationships/oleObject" Target="../embeddings/oleObject39.bin"/><Relationship Id="rId15" Type="http://schemas.openxmlformats.org/officeDocument/2006/relationships/image" Target="../media/image46.wmf"/><Relationship Id="rId23" Type="http://schemas.openxmlformats.org/officeDocument/2006/relationships/image" Target="../media/image50.wmf"/><Relationship Id="rId10" Type="http://schemas.openxmlformats.org/officeDocument/2006/relationships/image" Target="../media/image44.wmf"/><Relationship Id="rId19" Type="http://schemas.openxmlformats.org/officeDocument/2006/relationships/image" Target="../media/image48.wmf"/><Relationship Id="rId4" Type="http://schemas.openxmlformats.org/officeDocument/2006/relationships/image" Target="../media/image41.wmf"/><Relationship Id="rId9" Type="http://schemas.openxmlformats.org/officeDocument/2006/relationships/oleObject" Target="../embeddings/oleObject41.bin"/><Relationship Id="rId14" Type="http://schemas.openxmlformats.org/officeDocument/2006/relationships/oleObject" Target="../embeddings/oleObject43.bin"/><Relationship Id="rId22" Type="http://schemas.openxmlformats.org/officeDocument/2006/relationships/oleObject" Target="../embeddings/oleObject47.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56.emf"/><Relationship Id="rId18" Type="http://schemas.openxmlformats.org/officeDocument/2006/relationships/oleObject" Target="../embeddings/oleObject55.bin"/><Relationship Id="rId3" Type="http://schemas.openxmlformats.org/officeDocument/2006/relationships/notesSlide" Target="../notesSlides/notesSlide1.xml"/><Relationship Id="rId7" Type="http://schemas.openxmlformats.org/officeDocument/2006/relationships/image" Target="../media/image53.emf"/><Relationship Id="rId12" Type="http://schemas.openxmlformats.org/officeDocument/2006/relationships/oleObject" Target="../embeddings/oleObject52.bin"/><Relationship Id="rId17" Type="http://schemas.openxmlformats.org/officeDocument/2006/relationships/image" Target="../media/image58.emf"/><Relationship Id="rId2" Type="http://schemas.openxmlformats.org/officeDocument/2006/relationships/slideLayout" Target="../slideLayouts/slideLayout7.xml"/><Relationship Id="rId16" Type="http://schemas.openxmlformats.org/officeDocument/2006/relationships/oleObject" Target="../embeddings/oleObject54.bin"/><Relationship Id="rId1" Type="http://schemas.openxmlformats.org/officeDocument/2006/relationships/vmlDrawing" Target="../drawings/vmlDrawing12.vml"/><Relationship Id="rId6" Type="http://schemas.openxmlformats.org/officeDocument/2006/relationships/oleObject" Target="../embeddings/oleObject49.bin"/><Relationship Id="rId11" Type="http://schemas.openxmlformats.org/officeDocument/2006/relationships/image" Target="../media/image55.emf"/><Relationship Id="rId5" Type="http://schemas.openxmlformats.org/officeDocument/2006/relationships/image" Target="../media/image52.emf"/><Relationship Id="rId15" Type="http://schemas.openxmlformats.org/officeDocument/2006/relationships/image" Target="../media/image57.emf"/><Relationship Id="rId10" Type="http://schemas.openxmlformats.org/officeDocument/2006/relationships/oleObject" Target="../embeddings/oleObject51.bin"/><Relationship Id="rId19" Type="http://schemas.openxmlformats.org/officeDocument/2006/relationships/image" Target="../media/image59.emf"/><Relationship Id="rId4" Type="http://schemas.openxmlformats.org/officeDocument/2006/relationships/oleObject" Target="../embeddings/oleObject48.bin"/><Relationship Id="rId9" Type="http://schemas.openxmlformats.org/officeDocument/2006/relationships/image" Target="../media/image54.emf"/><Relationship Id="rId14" Type="http://schemas.openxmlformats.org/officeDocument/2006/relationships/oleObject" Target="../embeddings/oleObject53.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62.jpeg"/><Relationship Id="rId5" Type="http://schemas.openxmlformats.org/officeDocument/2006/relationships/image" Target="../media/image61.png"/><Relationship Id="rId4" Type="http://schemas.openxmlformats.org/officeDocument/2006/relationships/image" Target="../media/image60.png"/></Relationships>
</file>

<file path=ppt/slides/_rels/slide1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image" Target="../media/image68.emf"/><Relationship Id="rId18" Type="http://schemas.openxmlformats.org/officeDocument/2006/relationships/oleObject" Target="../embeddings/oleObject64.bin"/><Relationship Id="rId3" Type="http://schemas.openxmlformats.org/officeDocument/2006/relationships/image" Target="../media/image73.jpeg"/><Relationship Id="rId21" Type="http://schemas.openxmlformats.org/officeDocument/2006/relationships/image" Target="../media/image72.emf"/><Relationship Id="rId7" Type="http://schemas.openxmlformats.org/officeDocument/2006/relationships/image" Target="../media/image65.emf"/><Relationship Id="rId12" Type="http://schemas.openxmlformats.org/officeDocument/2006/relationships/oleObject" Target="../embeddings/oleObject61.bin"/><Relationship Id="rId17" Type="http://schemas.openxmlformats.org/officeDocument/2006/relationships/image" Target="../media/image70.emf"/><Relationship Id="rId2" Type="http://schemas.openxmlformats.org/officeDocument/2006/relationships/slideLayout" Target="../slideLayouts/slideLayout2.xml"/><Relationship Id="rId16" Type="http://schemas.openxmlformats.org/officeDocument/2006/relationships/oleObject" Target="../embeddings/oleObject63.bin"/><Relationship Id="rId20" Type="http://schemas.openxmlformats.org/officeDocument/2006/relationships/oleObject" Target="../embeddings/oleObject65.bin"/><Relationship Id="rId1" Type="http://schemas.openxmlformats.org/officeDocument/2006/relationships/vmlDrawing" Target="../drawings/vmlDrawing14.vml"/><Relationship Id="rId6" Type="http://schemas.openxmlformats.org/officeDocument/2006/relationships/oleObject" Target="../embeddings/oleObject58.bin"/><Relationship Id="rId11" Type="http://schemas.openxmlformats.org/officeDocument/2006/relationships/image" Target="../media/image67.emf"/><Relationship Id="rId5" Type="http://schemas.openxmlformats.org/officeDocument/2006/relationships/image" Target="../media/image64.emf"/><Relationship Id="rId15" Type="http://schemas.openxmlformats.org/officeDocument/2006/relationships/image" Target="../media/image69.wmf"/><Relationship Id="rId10" Type="http://schemas.openxmlformats.org/officeDocument/2006/relationships/oleObject" Target="../embeddings/oleObject60.bin"/><Relationship Id="rId19" Type="http://schemas.openxmlformats.org/officeDocument/2006/relationships/image" Target="../media/image71.emf"/><Relationship Id="rId4" Type="http://schemas.openxmlformats.org/officeDocument/2006/relationships/oleObject" Target="../embeddings/oleObject57.bin"/><Relationship Id="rId9" Type="http://schemas.openxmlformats.org/officeDocument/2006/relationships/image" Target="../media/image66.emf"/><Relationship Id="rId14" Type="http://schemas.openxmlformats.org/officeDocument/2006/relationships/oleObject" Target="../embeddings/oleObject62.bin"/></Relationships>
</file>

<file path=ppt/slides/_rels/slide18.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5.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67.bin"/><Relationship Id="rId5" Type="http://schemas.openxmlformats.org/officeDocument/2006/relationships/image" Target="../media/image74.wmf"/><Relationship Id="rId4" Type="http://schemas.openxmlformats.org/officeDocument/2006/relationships/oleObject" Target="../embeddings/oleObject66.bin"/></Relationships>
</file>

<file path=ppt/slides/_rels/slide19.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78.png"/><Relationship Id="rId5" Type="http://schemas.openxmlformats.org/officeDocument/2006/relationships/oleObject" Target="../embeddings/oleObject69.bin"/><Relationship Id="rId4" Type="http://schemas.openxmlformats.org/officeDocument/2006/relationships/image" Target="../media/image7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81.wmf"/><Relationship Id="rId5" Type="http://schemas.openxmlformats.org/officeDocument/2006/relationships/oleObject" Target="../embeddings/oleObject72.bin"/><Relationship Id="rId4" Type="http://schemas.openxmlformats.org/officeDocument/2006/relationships/image" Target="../media/image80.wmf"/></Relationships>
</file>

<file path=ppt/slides/_rels/slide22.xml.rels><?xml version="1.0" encoding="UTF-8" standalone="yes"?>
<Relationships xmlns="http://schemas.openxmlformats.org/package/2006/relationships"><Relationship Id="rId8" Type="http://schemas.openxmlformats.org/officeDocument/2006/relationships/image" Target="../media/image84.e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83.emf"/><Relationship Id="rId5" Type="http://schemas.openxmlformats.org/officeDocument/2006/relationships/oleObject" Target="../embeddings/oleObject74.bin"/><Relationship Id="rId4" Type="http://schemas.openxmlformats.org/officeDocument/2006/relationships/image" Target="../media/image82.emf"/></Relationships>
</file>

<file path=ppt/slides/_rels/slide23.xml.rels><?xml version="1.0" encoding="UTF-8" standalone="yes"?>
<Relationships xmlns="http://schemas.openxmlformats.org/package/2006/relationships"><Relationship Id="rId8" Type="http://schemas.openxmlformats.org/officeDocument/2006/relationships/image" Target="../media/image87.emf"/><Relationship Id="rId13" Type="http://schemas.openxmlformats.org/officeDocument/2006/relationships/oleObject" Target="../embeddings/oleObject81.bin"/><Relationship Id="rId18" Type="http://schemas.openxmlformats.org/officeDocument/2006/relationships/image" Target="../media/image92.wmf"/><Relationship Id="rId3" Type="http://schemas.openxmlformats.org/officeDocument/2006/relationships/oleObject" Target="../embeddings/oleObject76.bin"/><Relationship Id="rId7" Type="http://schemas.openxmlformats.org/officeDocument/2006/relationships/oleObject" Target="../embeddings/oleObject78.bin"/><Relationship Id="rId12" Type="http://schemas.openxmlformats.org/officeDocument/2006/relationships/image" Target="../media/image89.emf"/><Relationship Id="rId17" Type="http://schemas.openxmlformats.org/officeDocument/2006/relationships/oleObject" Target="../embeddings/oleObject83.bin"/><Relationship Id="rId2" Type="http://schemas.openxmlformats.org/officeDocument/2006/relationships/slideLayout" Target="../slideLayouts/slideLayout7.xml"/><Relationship Id="rId16" Type="http://schemas.openxmlformats.org/officeDocument/2006/relationships/image" Target="../media/image91.wmf"/><Relationship Id="rId1" Type="http://schemas.openxmlformats.org/officeDocument/2006/relationships/vmlDrawing" Target="../drawings/vmlDrawing19.vml"/><Relationship Id="rId6" Type="http://schemas.openxmlformats.org/officeDocument/2006/relationships/image" Target="../media/image86.wmf"/><Relationship Id="rId11" Type="http://schemas.openxmlformats.org/officeDocument/2006/relationships/oleObject" Target="../embeddings/oleObject80.bin"/><Relationship Id="rId5" Type="http://schemas.openxmlformats.org/officeDocument/2006/relationships/oleObject" Target="../embeddings/oleObject77.bin"/><Relationship Id="rId15" Type="http://schemas.openxmlformats.org/officeDocument/2006/relationships/oleObject" Target="../embeddings/oleObject82.bin"/><Relationship Id="rId10" Type="http://schemas.openxmlformats.org/officeDocument/2006/relationships/image" Target="../media/image88.emf"/><Relationship Id="rId4" Type="http://schemas.openxmlformats.org/officeDocument/2006/relationships/image" Target="../media/image85.emf"/><Relationship Id="rId9" Type="http://schemas.openxmlformats.org/officeDocument/2006/relationships/oleObject" Target="../embeddings/oleObject79.bin"/><Relationship Id="rId14" Type="http://schemas.openxmlformats.org/officeDocument/2006/relationships/image" Target="../media/image90.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94.wmf"/><Relationship Id="rId5" Type="http://schemas.openxmlformats.org/officeDocument/2006/relationships/oleObject" Target="../embeddings/oleObject85.bin"/><Relationship Id="rId4" Type="http://schemas.openxmlformats.org/officeDocument/2006/relationships/image" Target="../media/image93.wmf"/></Relationships>
</file>

<file path=ppt/slides/_rels/slide25.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video" Target="../media/media1.mp4"/><Relationship Id="rId7" Type="http://schemas.openxmlformats.org/officeDocument/2006/relationships/image" Target="../media/image96.png"/><Relationship Id="rId2" Type="http://schemas.microsoft.com/office/2007/relationships/media" Target="../media/media1.mp4"/><Relationship Id="rId1" Type="http://schemas.openxmlformats.org/officeDocument/2006/relationships/vmlDrawing" Target="../drawings/vmlDrawing21.vml"/><Relationship Id="rId6" Type="http://schemas.openxmlformats.org/officeDocument/2006/relationships/image" Target="../media/image95.png"/><Relationship Id="rId5" Type="http://schemas.openxmlformats.org/officeDocument/2006/relationships/oleObject" Target="../embeddings/oleObject86.bin"/><Relationship Id="rId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87.bin"/><Relationship Id="rId7"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99.wmf"/><Relationship Id="rId5" Type="http://schemas.openxmlformats.org/officeDocument/2006/relationships/oleObject" Target="../embeddings/oleObject88.bin"/><Relationship Id="rId10" Type="http://schemas.openxmlformats.org/officeDocument/2006/relationships/image" Target="../media/image101.wmf"/><Relationship Id="rId4" Type="http://schemas.openxmlformats.org/officeDocument/2006/relationships/image" Target="../media/image98.wmf"/><Relationship Id="rId9" Type="http://schemas.openxmlformats.org/officeDocument/2006/relationships/oleObject" Target="../embeddings/oleObject90.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03.wmf"/><Relationship Id="rId5" Type="http://schemas.openxmlformats.org/officeDocument/2006/relationships/oleObject" Target="../embeddings/oleObject92.bin"/><Relationship Id="rId4" Type="http://schemas.openxmlformats.org/officeDocument/2006/relationships/image" Target="../media/image102.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104.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05.wmf"/><Relationship Id="rId5" Type="http://schemas.openxmlformats.org/officeDocument/2006/relationships/oleObject" Target="../embeddings/oleObject95.bin"/><Relationship Id="rId10" Type="http://schemas.openxmlformats.org/officeDocument/2006/relationships/image" Target="../media/image107.wmf"/><Relationship Id="rId4" Type="http://schemas.openxmlformats.org/officeDocument/2006/relationships/image" Target="../media/image104.wmf"/><Relationship Id="rId9" Type="http://schemas.openxmlformats.org/officeDocument/2006/relationships/oleObject" Target="../embeddings/oleObject97.bin"/></Relationships>
</file>

<file path=ppt/slides/_rels/slide32.x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oleObject" Target="../embeddings/oleObject98.bin"/><Relationship Id="rId7" Type="http://schemas.openxmlformats.org/officeDocument/2006/relationships/oleObject" Target="../embeddings/oleObject100.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09.emf"/><Relationship Id="rId5" Type="http://schemas.openxmlformats.org/officeDocument/2006/relationships/oleObject" Target="../embeddings/oleObject99.bin"/><Relationship Id="rId4" Type="http://schemas.openxmlformats.org/officeDocument/2006/relationships/image" Target="../media/image108.emf"/></Relationships>
</file>

<file path=ppt/slides/_rels/slide33.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101.bin"/><Relationship Id="rId7" Type="http://schemas.openxmlformats.org/officeDocument/2006/relationships/oleObject" Target="../embeddings/oleObject103.bin"/><Relationship Id="rId12" Type="http://schemas.openxmlformats.org/officeDocument/2006/relationships/image" Target="../media/image113.wmf"/><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111.wmf"/><Relationship Id="rId11" Type="http://schemas.openxmlformats.org/officeDocument/2006/relationships/oleObject" Target="../embeddings/oleObject105.bin"/><Relationship Id="rId5" Type="http://schemas.openxmlformats.org/officeDocument/2006/relationships/oleObject" Target="../embeddings/oleObject102.bin"/><Relationship Id="rId10" Type="http://schemas.openxmlformats.org/officeDocument/2006/relationships/image" Target="../media/image112.wmf"/><Relationship Id="rId4" Type="http://schemas.openxmlformats.org/officeDocument/2006/relationships/image" Target="../media/image109.emf"/><Relationship Id="rId9" Type="http://schemas.openxmlformats.org/officeDocument/2006/relationships/oleObject" Target="../embeddings/oleObject104.bin"/></Relationships>
</file>

<file path=ppt/slides/_rels/slide34.xml.rels><?xml version="1.0" encoding="UTF-8" standalone="yes"?>
<Relationships xmlns="http://schemas.openxmlformats.org/package/2006/relationships"><Relationship Id="rId8" Type="http://schemas.openxmlformats.org/officeDocument/2006/relationships/image" Target="../media/image114.png"/><Relationship Id="rId3" Type="http://schemas.microsoft.com/office/2007/relationships/media" Target="../media/media3.mp4"/><Relationship Id="rId7"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video" Target="../media/media4.mp4"/><Relationship Id="rId5" Type="http://schemas.microsoft.com/office/2007/relationships/media" Target="../media/media4.mp4"/><Relationship Id="rId10" Type="http://schemas.openxmlformats.org/officeDocument/2006/relationships/image" Target="../media/image116.png"/><Relationship Id="rId4" Type="http://schemas.openxmlformats.org/officeDocument/2006/relationships/video" Target="../media/media3.mp4"/><Relationship Id="rId9" Type="http://schemas.openxmlformats.org/officeDocument/2006/relationships/image" Target="../media/image115.png"/></Relationships>
</file>

<file path=ppt/slides/_rels/slide35.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18.wmf"/><Relationship Id="rId5" Type="http://schemas.openxmlformats.org/officeDocument/2006/relationships/oleObject" Target="../embeddings/oleObject107.bin"/><Relationship Id="rId4" Type="http://schemas.openxmlformats.org/officeDocument/2006/relationships/image" Target="../media/image117.wmf"/></Relationships>
</file>

<file path=ppt/slides/_rels/slide36.xml.rels><?xml version="1.0" encoding="UTF-8" standalone="yes"?>
<Relationships xmlns="http://schemas.openxmlformats.org/package/2006/relationships"><Relationship Id="rId8" Type="http://schemas.openxmlformats.org/officeDocument/2006/relationships/image" Target="../media/image122.wmf"/><Relationship Id="rId13" Type="http://schemas.openxmlformats.org/officeDocument/2006/relationships/oleObject" Target="../embeddings/oleObject114.bin"/><Relationship Id="rId18" Type="http://schemas.openxmlformats.org/officeDocument/2006/relationships/image" Target="../media/image127.wmf"/><Relationship Id="rId3" Type="http://schemas.openxmlformats.org/officeDocument/2006/relationships/oleObject" Target="../embeddings/oleObject109.bin"/><Relationship Id="rId21" Type="http://schemas.openxmlformats.org/officeDocument/2006/relationships/oleObject" Target="../embeddings/oleObject118.bin"/><Relationship Id="rId7" Type="http://schemas.openxmlformats.org/officeDocument/2006/relationships/oleObject" Target="../embeddings/oleObject111.bin"/><Relationship Id="rId12" Type="http://schemas.openxmlformats.org/officeDocument/2006/relationships/image" Target="../media/image124.wmf"/><Relationship Id="rId17" Type="http://schemas.openxmlformats.org/officeDocument/2006/relationships/oleObject" Target="../embeddings/oleObject116.bin"/><Relationship Id="rId2" Type="http://schemas.openxmlformats.org/officeDocument/2006/relationships/slideLayout" Target="../slideLayouts/slideLayout7.xml"/><Relationship Id="rId16" Type="http://schemas.openxmlformats.org/officeDocument/2006/relationships/image" Target="../media/image126.wmf"/><Relationship Id="rId20" Type="http://schemas.openxmlformats.org/officeDocument/2006/relationships/image" Target="../media/image128.wmf"/><Relationship Id="rId1" Type="http://schemas.openxmlformats.org/officeDocument/2006/relationships/vmlDrawing" Target="../drawings/vmlDrawing29.vml"/><Relationship Id="rId6" Type="http://schemas.openxmlformats.org/officeDocument/2006/relationships/image" Target="../media/image121.wmf"/><Relationship Id="rId11" Type="http://schemas.openxmlformats.org/officeDocument/2006/relationships/oleObject" Target="../embeddings/oleObject113.bin"/><Relationship Id="rId5" Type="http://schemas.openxmlformats.org/officeDocument/2006/relationships/oleObject" Target="../embeddings/oleObject110.bin"/><Relationship Id="rId15" Type="http://schemas.openxmlformats.org/officeDocument/2006/relationships/oleObject" Target="../embeddings/oleObject115.bin"/><Relationship Id="rId10" Type="http://schemas.openxmlformats.org/officeDocument/2006/relationships/image" Target="../media/image123.wmf"/><Relationship Id="rId19" Type="http://schemas.openxmlformats.org/officeDocument/2006/relationships/oleObject" Target="../embeddings/oleObject117.bin"/><Relationship Id="rId4" Type="http://schemas.openxmlformats.org/officeDocument/2006/relationships/image" Target="../media/image120.wmf"/><Relationship Id="rId9" Type="http://schemas.openxmlformats.org/officeDocument/2006/relationships/oleObject" Target="../embeddings/oleObject112.bin"/><Relationship Id="rId14" Type="http://schemas.openxmlformats.org/officeDocument/2006/relationships/image" Target="../media/image125.wmf"/><Relationship Id="rId22" Type="http://schemas.openxmlformats.org/officeDocument/2006/relationships/image" Target="../media/image129.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21.bin"/><Relationship Id="rId3" Type="http://schemas.openxmlformats.org/officeDocument/2006/relationships/image" Target="../media/image131.jpeg"/><Relationship Id="rId7" Type="http://schemas.openxmlformats.org/officeDocument/2006/relationships/image" Target="../media/image130.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120.bin"/><Relationship Id="rId5" Type="http://schemas.openxmlformats.org/officeDocument/2006/relationships/image" Target="../media/image102.wmf"/><Relationship Id="rId4" Type="http://schemas.openxmlformats.org/officeDocument/2006/relationships/oleObject" Target="../embeddings/oleObject119.bin"/></Relationships>
</file>

<file path=ppt/slides/_rels/slide38.x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oleObject" Target="../embeddings/oleObject122.bin"/><Relationship Id="rId7" Type="http://schemas.openxmlformats.org/officeDocument/2006/relationships/oleObject" Target="../embeddings/oleObject124.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33.wmf"/><Relationship Id="rId5" Type="http://schemas.openxmlformats.org/officeDocument/2006/relationships/oleObject" Target="../embeddings/oleObject123.bin"/><Relationship Id="rId4" Type="http://schemas.openxmlformats.org/officeDocument/2006/relationships/image" Target="../media/image132.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135.wmf"/></Relationships>
</file>

<file path=ppt/slides/_rels/slide40.xml.rels><?xml version="1.0" encoding="UTF-8" standalone="yes"?>
<Relationships xmlns="http://schemas.openxmlformats.org/package/2006/relationships"><Relationship Id="rId8" Type="http://schemas.openxmlformats.org/officeDocument/2006/relationships/image" Target="../media/image138.wmf"/><Relationship Id="rId13" Type="http://schemas.openxmlformats.org/officeDocument/2006/relationships/oleObject" Target="../embeddings/oleObject131.bin"/><Relationship Id="rId3" Type="http://schemas.openxmlformats.org/officeDocument/2006/relationships/oleObject" Target="../embeddings/oleObject126.bin"/><Relationship Id="rId7" Type="http://schemas.openxmlformats.org/officeDocument/2006/relationships/oleObject" Target="../embeddings/oleObject128.bin"/><Relationship Id="rId12" Type="http://schemas.openxmlformats.org/officeDocument/2006/relationships/image" Target="../media/image140.wmf"/><Relationship Id="rId2" Type="http://schemas.openxmlformats.org/officeDocument/2006/relationships/slideLayout" Target="../slideLayouts/slideLayout7.xml"/><Relationship Id="rId16" Type="http://schemas.openxmlformats.org/officeDocument/2006/relationships/image" Target="../media/image142.wmf"/><Relationship Id="rId1" Type="http://schemas.openxmlformats.org/officeDocument/2006/relationships/vmlDrawing" Target="../drawings/vmlDrawing33.vml"/><Relationship Id="rId6" Type="http://schemas.openxmlformats.org/officeDocument/2006/relationships/image" Target="../media/image137.wmf"/><Relationship Id="rId11" Type="http://schemas.openxmlformats.org/officeDocument/2006/relationships/oleObject" Target="../embeddings/oleObject130.bin"/><Relationship Id="rId5" Type="http://schemas.openxmlformats.org/officeDocument/2006/relationships/oleObject" Target="../embeddings/oleObject127.bin"/><Relationship Id="rId15" Type="http://schemas.openxmlformats.org/officeDocument/2006/relationships/oleObject" Target="../embeddings/oleObject132.bin"/><Relationship Id="rId10" Type="http://schemas.openxmlformats.org/officeDocument/2006/relationships/image" Target="../media/image139.wmf"/><Relationship Id="rId4" Type="http://schemas.openxmlformats.org/officeDocument/2006/relationships/image" Target="../media/image136.wmf"/><Relationship Id="rId9" Type="http://schemas.openxmlformats.org/officeDocument/2006/relationships/oleObject" Target="../embeddings/oleObject129.bin"/><Relationship Id="rId14" Type="http://schemas.openxmlformats.org/officeDocument/2006/relationships/image" Target="../media/image141.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33.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144.wmf"/><Relationship Id="rId5" Type="http://schemas.openxmlformats.org/officeDocument/2006/relationships/oleObject" Target="../embeddings/oleObject134.bin"/><Relationship Id="rId4" Type="http://schemas.openxmlformats.org/officeDocument/2006/relationships/image" Target="../media/image143.wmf"/></Relationships>
</file>

<file path=ppt/slides/_rels/slide42.xml.rels><?xml version="1.0" encoding="UTF-8" standalone="yes"?>
<Relationships xmlns="http://schemas.openxmlformats.org/package/2006/relationships"><Relationship Id="rId3" Type="http://schemas.openxmlformats.org/officeDocument/2006/relationships/image" Target="../media/image146.jpeg"/><Relationship Id="rId7" Type="http://schemas.openxmlformats.org/officeDocument/2006/relationships/image" Target="../media/image145.wmf"/><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oleObject" Target="../embeddings/oleObject135.bin"/><Relationship Id="rId5" Type="http://schemas.openxmlformats.org/officeDocument/2006/relationships/image" Target="../media/image148.jpeg"/><Relationship Id="rId4" Type="http://schemas.openxmlformats.org/officeDocument/2006/relationships/image" Target="../media/image147.jpeg"/></Relationships>
</file>

<file path=ppt/slides/_rels/slide43.xml.rels><?xml version="1.0" encoding="UTF-8" standalone="yes"?>
<Relationships xmlns="http://schemas.openxmlformats.org/package/2006/relationships"><Relationship Id="rId8" Type="http://schemas.openxmlformats.org/officeDocument/2006/relationships/image" Target="../media/image151.wmf"/><Relationship Id="rId13" Type="http://schemas.openxmlformats.org/officeDocument/2006/relationships/oleObject" Target="../embeddings/oleObject141.bin"/><Relationship Id="rId18" Type="http://schemas.openxmlformats.org/officeDocument/2006/relationships/image" Target="../media/image156.wmf"/><Relationship Id="rId3" Type="http://schemas.openxmlformats.org/officeDocument/2006/relationships/oleObject" Target="../embeddings/oleObject136.bin"/><Relationship Id="rId21" Type="http://schemas.openxmlformats.org/officeDocument/2006/relationships/oleObject" Target="../embeddings/oleObject145.bin"/><Relationship Id="rId7" Type="http://schemas.openxmlformats.org/officeDocument/2006/relationships/oleObject" Target="../embeddings/oleObject138.bin"/><Relationship Id="rId12" Type="http://schemas.openxmlformats.org/officeDocument/2006/relationships/image" Target="../media/image153.wmf"/><Relationship Id="rId17" Type="http://schemas.openxmlformats.org/officeDocument/2006/relationships/oleObject" Target="../embeddings/oleObject143.bin"/><Relationship Id="rId2" Type="http://schemas.openxmlformats.org/officeDocument/2006/relationships/slideLayout" Target="../slideLayouts/slideLayout7.xml"/><Relationship Id="rId16" Type="http://schemas.openxmlformats.org/officeDocument/2006/relationships/image" Target="../media/image155.wmf"/><Relationship Id="rId20" Type="http://schemas.openxmlformats.org/officeDocument/2006/relationships/image" Target="../media/image157.wmf"/><Relationship Id="rId1" Type="http://schemas.openxmlformats.org/officeDocument/2006/relationships/vmlDrawing" Target="../drawings/vmlDrawing36.vml"/><Relationship Id="rId6" Type="http://schemas.openxmlformats.org/officeDocument/2006/relationships/image" Target="../media/image150.wmf"/><Relationship Id="rId11" Type="http://schemas.openxmlformats.org/officeDocument/2006/relationships/oleObject" Target="../embeddings/oleObject140.bin"/><Relationship Id="rId5" Type="http://schemas.openxmlformats.org/officeDocument/2006/relationships/oleObject" Target="../embeddings/oleObject137.bin"/><Relationship Id="rId15" Type="http://schemas.openxmlformats.org/officeDocument/2006/relationships/oleObject" Target="../embeddings/oleObject142.bin"/><Relationship Id="rId10" Type="http://schemas.openxmlformats.org/officeDocument/2006/relationships/image" Target="../media/image152.wmf"/><Relationship Id="rId19" Type="http://schemas.openxmlformats.org/officeDocument/2006/relationships/oleObject" Target="../embeddings/oleObject144.bin"/><Relationship Id="rId4" Type="http://schemas.openxmlformats.org/officeDocument/2006/relationships/image" Target="../media/image149.wmf"/><Relationship Id="rId9" Type="http://schemas.openxmlformats.org/officeDocument/2006/relationships/oleObject" Target="../embeddings/oleObject139.bin"/><Relationship Id="rId14" Type="http://schemas.openxmlformats.org/officeDocument/2006/relationships/image" Target="../media/image154.wmf"/><Relationship Id="rId22" Type="http://schemas.openxmlformats.org/officeDocument/2006/relationships/image" Target="../media/image158.wmf"/></Relationships>
</file>

<file path=ppt/slides/_rels/slide44.xml.rels><?xml version="1.0" encoding="UTF-8" standalone="yes"?>
<Relationships xmlns="http://schemas.openxmlformats.org/package/2006/relationships"><Relationship Id="rId8" Type="http://schemas.openxmlformats.org/officeDocument/2006/relationships/image" Target="../media/image161.wmf"/><Relationship Id="rId13" Type="http://schemas.openxmlformats.org/officeDocument/2006/relationships/image" Target="../media/image148.jpeg"/><Relationship Id="rId3" Type="http://schemas.openxmlformats.org/officeDocument/2006/relationships/oleObject" Target="../embeddings/oleObject146.bin"/><Relationship Id="rId7" Type="http://schemas.openxmlformats.org/officeDocument/2006/relationships/oleObject" Target="../embeddings/oleObject148.bin"/><Relationship Id="rId12" Type="http://schemas.openxmlformats.org/officeDocument/2006/relationships/image" Target="../media/image163.w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160.wmf"/><Relationship Id="rId11" Type="http://schemas.openxmlformats.org/officeDocument/2006/relationships/oleObject" Target="../embeddings/oleObject150.bin"/><Relationship Id="rId5" Type="http://schemas.openxmlformats.org/officeDocument/2006/relationships/oleObject" Target="../embeddings/oleObject147.bin"/><Relationship Id="rId10" Type="http://schemas.openxmlformats.org/officeDocument/2006/relationships/image" Target="../media/image162.wmf"/><Relationship Id="rId4" Type="http://schemas.openxmlformats.org/officeDocument/2006/relationships/image" Target="../media/image159.png"/><Relationship Id="rId9" Type="http://schemas.openxmlformats.org/officeDocument/2006/relationships/oleObject" Target="../embeddings/oleObject149.bin"/></Relationships>
</file>

<file path=ppt/slides/_rels/slide45.xml.rels><?xml version="1.0" encoding="UTF-8" standalone="yes"?>
<Relationships xmlns="http://schemas.openxmlformats.org/package/2006/relationships"><Relationship Id="rId8" Type="http://schemas.openxmlformats.org/officeDocument/2006/relationships/image" Target="../media/image155.wmf"/><Relationship Id="rId13" Type="http://schemas.openxmlformats.org/officeDocument/2006/relationships/oleObject" Target="../embeddings/oleObject156.bin"/><Relationship Id="rId3" Type="http://schemas.openxmlformats.org/officeDocument/2006/relationships/oleObject" Target="../embeddings/oleObject151.bin"/><Relationship Id="rId7" Type="http://schemas.openxmlformats.org/officeDocument/2006/relationships/oleObject" Target="../embeddings/oleObject153.bin"/><Relationship Id="rId12" Type="http://schemas.openxmlformats.org/officeDocument/2006/relationships/image" Target="../media/image164.wmf"/><Relationship Id="rId17" Type="http://schemas.openxmlformats.org/officeDocument/2006/relationships/image" Target="../media/image167.jpeg"/><Relationship Id="rId2" Type="http://schemas.openxmlformats.org/officeDocument/2006/relationships/slideLayout" Target="../slideLayouts/slideLayout7.xml"/><Relationship Id="rId16" Type="http://schemas.openxmlformats.org/officeDocument/2006/relationships/image" Target="../media/image166.wmf"/><Relationship Id="rId1" Type="http://schemas.openxmlformats.org/officeDocument/2006/relationships/vmlDrawing" Target="../drawings/vmlDrawing38.vml"/><Relationship Id="rId6" Type="http://schemas.openxmlformats.org/officeDocument/2006/relationships/image" Target="../media/image154.wmf"/><Relationship Id="rId11" Type="http://schemas.openxmlformats.org/officeDocument/2006/relationships/oleObject" Target="../embeddings/oleObject155.bin"/><Relationship Id="rId5" Type="http://schemas.openxmlformats.org/officeDocument/2006/relationships/oleObject" Target="../embeddings/oleObject152.bin"/><Relationship Id="rId15" Type="http://schemas.openxmlformats.org/officeDocument/2006/relationships/oleObject" Target="../embeddings/oleObject157.bin"/><Relationship Id="rId10" Type="http://schemas.openxmlformats.org/officeDocument/2006/relationships/image" Target="../media/image156.wmf"/><Relationship Id="rId4" Type="http://schemas.openxmlformats.org/officeDocument/2006/relationships/image" Target="../media/image153.wmf"/><Relationship Id="rId9" Type="http://schemas.openxmlformats.org/officeDocument/2006/relationships/oleObject" Target="../embeddings/oleObject154.bin"/><Relationship Id="rId14" Type="http://schemas.openxmlformats.org/officeDocument/2006/relationships/image" Target="../media/image165.wmf"/></Relationships>
</file>

<file path=ppt/slides/_rels/slide46.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Text Box 3"/>
          <p:cNvSpPr txBox="1">
            <a:spLocks noChangeArrowheads="1"/>
          </p:cNvSpPr>
          <p:nvPr/>
        </p:nvSpPr>
        <p:spPr bwMode="auto">
          <a:xfrm>
            <a:off x="971600" y="1124744"/>
            <a:ext cx="713689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latin typeface="黑体" panose="02010609060101010101" pitchFamily="49" charset="-122"/>
                <a:ea typeface="黑体" panose="02010609060101010101" pitchFamily="49" charset="-122"/>
              </a:rPr>
              <a:t>第二章  刚体上力系的等效与简化</a:t>
            </a:r>
          </a:p>
        </p:txBody>
      </p:sp>
      <p:sp>
        <p:nvSpPr>
          <p:cNvPr id="3076" name="Text Box 4"/>
          <p:cNvSpPr txBox="1">
            <a:spLocks noChangeArrowheads="1"/>
          </p:cNvSpPr>
          <p:nvPr/>
        </p:nvSpPr>
        <p:spPr bwMode="auto">
          <a:xfrm>
            <a:off x="1487853" y="2276872"/>
            <a:ext cx="6248400"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5000"/>
              </a:lnSpc>
            </a:pPr>
            <a:r>
              <a:rPr lang="en-US" altLang="zh-CN" sz="3200" b="1" dirty="0">
                <a:latin typeface="+mn-lt"/>
                <a:ea typeface="黑体" panose="02010609060101010101" pitchFamily="49" charset="-122"/>
              </a:rPr>
              <a:t>§2-1  </a:t>
            </a:r>
            <a:r>
              <a:rPr lang="zh-CN" altLang="en-US" sz="3200" b="1" dirty="0">
                <a:solidFill>
                  <a:srgbClr val="FF0000"/>
                </a:solidFill>
                <a:latin typeface="黑体" panose="02010609060101010101" pitchFamily="49" charset="-122"/>
                <a:ea typeface="黑体" panose="02010609060101010101" pitchFamily="49" charset="-122"/>
              </a:rPr>
              <a:t>力矩</a:t>
            </a:r>
          </a:p>
          <a:p>
            <a:pPr eaLnBrk="1" hangingPunct="1">
              <a:lnSpc>
                <a:spcPct val="145000"/>
              </a:lnSpc>
            </a:pPr>
            <a:r>
              <a:rPr lang="en-US" altLang="zh-CN" sz="3200" b="1" dirty="0">
                <a:latin typeface="+mn-lt"/>
                <a:ea typeface="黑体" panose="02010609060101010101" pitchFamily="49" charset="-122"/>
              </a:rPr>
              <a:t>§2-2  </a:t>
            </a:r>
            <a:r>
              <a:rPr lang="zh-CN" altLang="en-US" sz="3200" b="1" dirty="0">
                <a:solidFill>
                  <a:srgbClr val="FF0000"/>
                </a:solidFill>
                <a:latin typeface="黑体" panose="02010609060101010101" pitchFamily="49" charset="-122"/>
                <a:ea typeface="黑体" panose="02010609060101010101" pitchFamily="49" charset="-122"/>
              </a:rPr>
              <a:t>力偶</a:t>
            </a:r>
            <a:endParaRPr lang="en-US" altLang="zh-CN" sz="3200" b="1" dirty="0">
              <a:solidFill>
                <a:srgbClr val="FF0000"/>
              </a:solidFill>
              <a:latin typeface="黑体" panose="02010609060101010101" pitchFamily="49" charset="-122"/>
              <a:ea typeface="黑体" panose="02010609060101010101" pitchFamily="49" charset="-122"/>
            </a:endParaRPr>
          </a:p>
          <a:p>
            <a:pPr eaLnBrk="1" hangingPunct="1">
              <a:lnSpc>
                <a:spcPct val="145000"/>
              </a:lnSpc>
            </a:pPr>
            <a:r>
              <a:rPr lang="en-US" altLang="zh-CN" sz="3200" b="1" dirty="0">
                <a:latin typeface="+mn-lt"/>
                <a:ea typeface="黑体" panose="02010609060101010101" pitchFamily="49" charset="-122"/>
              </a:rPr>
              <a:t>§2-3  </a:t>
            </a:r>
            <a:r>
              <a:rPr lang="zh-CN" altLang="en-US" sz="3200" b="1" dirty="0">
                <a:solidFill>
                  <a:srgbClr val="FF0000"/>
                </a:solidFill>
                <a:latin typeface="黑体" panose="02010609060101010101" pitchFamily="49" charset="-122"/>
                <a:ea typeface="黑体" panose="02010609060101010101" pitchFamily="49" charset="-122"/>
              </a:rPr>
              <a:t>空间任意力系的简化</a:t>
            </a:r>
          </a:p>
          <a:p>
            <a:pPr eaLnBrk="1" hangingPunct="1">
              <a:lnSpc>
                <a:spcPct val="145000"/>
              </a:lnSpc>
            </a:pPr>
            <a:r>
              <a:rPr lang="en-US" altLang="zh-CN" sz="3200" b="1" dirty="0">
                <a:latin typeface="+mn-lt"/>
                <a:ea typeface="黑体" panose="02010609060101010101" pitchFamily="49" charset="-122"/>
              </a:rPr>
              <a:t>§2-4  </a:t>
            </a:r>
            <a:r>
              <a:rPr lang="zh-CN" altLang="en-US" sz="3200" b="1" dirty="0">
                <a:solidFill>
                  <a:srgbClr val="FF0000"/>
                </a:solidFill>
                <a:latin typeface="黑体" panose="02010609060101010101" pitchFamily="49" charset="-122"/>
                <a:ea typeface="黑体" panose="02010609060101010101" pitchFamily="49" charset="-122"/>
              </a:rPr>
              <a:t>平行力系的中心与重心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wipe(up)">
                                      <p:cBhvr>
                                        <p:cTn id="7"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804265" y="1147833"/>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1</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力对点之矩</a:t>
            </a:r>
          </a:p>
        </p:txBody>
      </p:sp>
      <p:sp>
        <p:nvSpPr>
          <p:cNvPr id="9221" name="Text Box 5"/>
          <p:cNvSpPr txBox="1">
            <a:spLocks noChangeArrowheads="1"/>
          </p:cNvSpPr>
          <p:nvPr/>
        </p:nvSpPr>
        <p:spPr bwMode="auto">
          <a:xfrm>
            <a:off x="635747" y="5029093"/>
            <a:ext cx="15776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定位矢量</a:t>
            </a:r>
            <a:r>
              <a:rPr lang="en-US" altLang="zh-CN" b="1" dirty="0">
                <a:latin typeface="楷体" panose="02010609060101010101" pitchFamily="49" charset="-122"/>
                <a:ea typeface="楷体" panose="02010609060101010101" pitchFamily="49" charset="-122"/>
              </a:rPr>
              <a:t>:</a:t>
            </a:r>
          </a:p>
        </p:txBody>
      </p:sp>
      <p:sp>
        <p:nvSpPr>
          <p:cNvPr id="9228" name="Text Box 12"/>
          <p:cNvSpPr txBox="1">
            <a:spLocks noChangeArrowheads="1"/>
          </p:cNvSpPr>
          <p:nvPr/>
        </p:nvSpPr>
        <p:spPr bwMode="auto">
          <a:xfrm>
            <a:off x="837679" y="1812313"/>
            <a:ext cx="3887788" cy="830263"/>
          </a:xfrm>
          <a:prstGeom prst="rect">
            <a:avLst/>
          </a:prstGeom>
          <a:noFill/>
          <a:ln w="9525">
            <a:noFill/>
            <a:miter lim="800000"/>
            <a:headEnd/>
            <a:tailEnd/>
          </a:ln>
          <a:effectLst/>
        </p:spPr>
        <p:txBody>
          <a:bodyPr>
            <a:spAutoFit/>
          </a:bodyPr>
          <a:lstStyle/>
          <a:p>
            <a:pPr algn="ctr" eaLnBrk="1" hangingPunct="1">
              <a:defRPr/>
            </a:pPr>
            <a:r>
              <a:rPr lang="zh-CN" altLang="en-US" b="1" dirty="0">
                <a:solidFill>
                  <a:srgbClr val="FF0000"/>
                </a:solidFill>
                <a:latin typeface="黑体" panose="02010609060101010101" pitchFamily="49" charset="-122"/>
                <a:ea typeface="黑体" panose="02010609060101010101" pitchFamily="49" charset="-122"/>
              </a:rPr>
              <a:t>力对点之矩</a:t>
            </a:r>
            <a:r>
              <a:rPr lang="zh-CN" altLang="en-US" b="1" dirty="0">
                <a:latin typeface="黑体" panose="02010609060101010101" pitchFamily="49" charset="-122"/>
                <a:ea typeface="黑体" panose="02010609060101010101" pitchFamily="49" charset="-122"/>
              </a:rPr>
              <a:t>是力使物体绕某点转动效果的度量</a:t>
            </a:r>
            <a:r>
              <a:rPr lang="zh-CN" altLang="en-US" dirty="0">
                <a:latin typeface="黑体" panose="02010609060101010101" pitchFamily="49" charset="-122"/>
                <a:ea typeface="黑体" panose="02010609060101010101" pitchFamily="49" charset="-122"/>
              </a:rPr>
              <a:t>。</a:t>
            </a:r>
          </a:p>
        </p:txBody>
      </p:sp>
      <p:graphicFrame>
        <p:nvGraphicFramePr>
          <p:cNvPr id="9230" name="Object 14"/>
          <p:cNvGraphicFramePr>
            <a:graphicFrameLocks noChangeAspect="1"/>
          </p:cNvGraphicFramePr>
          <p:nvPr>
            <p:extLst>
              <p:ext uri="{D42A27DB-BD31-4B8C-83A1-F6EECF244321}">
                <p14:modId xmlns:p14="http://schemas.microsoft.com/office/powerpoint/2010/main" val="851696093"/>
              </p:ext>
            </p:extLst>
          </p:nvPr>
        </p:nvGraphicFramePr>
        <p:xfrm>
          <a:off x="1651799" y="3592461"/>
          <a:ext cx="2736850" cy="549275"/>
        </p:xfrm>
        <a:graphic>
          <a:graphicData uri="http://schemas.openxmlformats.org/presentationml/2006/ole">
            <mc:AlternateContent xmlns:mc="http://schemas.openxmlformats.org/markup-compatibility/2006">
              <mc:Choice xmlns:v="urn:schemas-microsoft-com:vml" Requires="v">
                <p:oleObj spid="_x0000_s2058" name="Equation" r:id="rId3" imgW="1905000" imgH="381000" progId="Equation.3">
                  <p:embed/>
                </p:oleObj>
              </mc:Choice>
              <mc:Fallback>
                <p:oleObj name="Equation" r:id="rId3" imgW="1905000" imgH="381000"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1799" y="3592461"/>
                        <a:ext cx="27368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31" name="Text Box 15"/>
          <p:cNvSpPr txBox="1">
            <a:spLocks noChangeArrowheads="1"/>
          </p:cNvSpPr>
          <p:nvPr/>
        </p:nvSpPr>
        <p:spPr bwMode="auto">
          <a:xfrm>
            <a:off x="2118678" y="4538345"/>
            <a:ext cx="1008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99"/>
                </a:solidFill>
                <a:latin typeface="楷体" panose="02010609060101010101" pitchFamily="49" charset="-122"/>
                <a:ea typeface="楷体" panose="02010609060101010101" pitchFamily="49" charset="-122"/>
              </a:rPr>
              <a:t>大小</a:t>
            </a:r>
            <a:r>
              <a:rPr lang="en-US" altLang="zh-CN" b="1" dirty="0">
                <a:solidFill>
                  <a:srgbClr val="000099"/>
                </a:solidFill>
                <a:latin typeface="楷体" panose="02010609060101010101" pitchFamily="49" charset="-122"/>
                <a:ea typeface="楷体" panose="02010609060101010101" pitchFamily="49" charset="-122"/>
              </a:rPr>
              <a:t>:</a:t>
            </a:r>
          </a:p>
        </p:txBody>
      </p:sp>
      <p:sp>
        <p:nvSpPr>
          <p:cNvPr id="9234" name="Text Box 18"/>
          <p:cNvSpPr txBox="1">
            <a:spLocks noChangeArrowheads="1"/>
          </p:cNvSpPr>
          <p:nvPr/>
        </p:nvSpPr>
        <p:spPr bwMode="auto">
          <a:xfrm>
            <a:off x="2118678" y="5070157"/>
            <a:ext cx="67017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99"/>
                </a:solidFill>
                <a:latin typeface="楷体" panose="02010609060101010101" pitchFamily="49" charset="-122"/>
                <a:ea typeface="楷体" panose="02010609060101010101" pitchFamily="49" charset="-122"/>
              </a:rPr>
              <a:t>方向</a:t>
            </a:r>
            <a:r>
              <a:rPr lang="en-US" altLang="zh-CN" b="1" dirty="0">
                <a:solidFill>
                  <a:srgbClr val="000099"/>
                </a:solidFill>
                <a:latin typeface="楷体" panose="02010609060101010101" pitchFamily="49" charset="-122"/>
                <a:ea typeface="楷体" panose="02010609060101010101" pitchFamily="49" charset="-122"/>
              </a:rPr>
              <a:t>: </a:t>
            </a:r>
            <a:r>
              <a:rPr lang="zh-CN" altLang="en-US" b="1" dirty="0">
                <a:solidFill>
                  <a:srgbClr val="000099"/>
                </a:solidFill>
                <a:latin typeface="楷体" panose="02010609060101010101" pitchFamily="49" charset="-122"/>
                <a:ea typeface="楷体" panose="02010609060101010101" pitchFamily="49" charset="-122"/>
              </a:rPr>
              <a:t>垂直于</a:t>
            </a:r>
            <a:r>
              <a:rPr lang="en-US" altLang="zh-CN" b="1" i="1" dirty="0">
                <a:solidFill>
                  <a:srgbClr val="000099"/>
                </a:solidFill>
                <a:latin typeface="+mn-lt"/>
                <a:ea typeface="楷体" panose="02010609060101010101" pitchFamily="49" charset="-122"/>
              </a:rPr>
              <a:t>r</a:t>
            </a:r>
            <a:r>
              <a:rPr lang="zh-CN" altLang="en-US" b="1" dirty="0">
                <a:solidFill>
                  <a:srgbClr val="000099"/>
                </a:solidFill>
                <a:latin typeface="楷体" panose="02010609060101010101" pitchFamily="49" charset="-122"/>
                <a:ea typeface="楷体" panose="02010609060101010101" pitchFamily="49" charset="-122"/>
              </a:rPr>
              <a:t>与</a:t>
            </a:r>
            <a:r>
              <a:rPr lang="en-US" altLang="zh-CN" b="1" i="1" dirty="0">
                <a:solidFill>
                  <a:srgbClr val="000099"/>
                </a:solidFill>
                <a:latin typeface="+mn-lt"/>
                <a:ea typeface="楷体" panose="02010609060101010101" pitchFamily="49" charset="-122"/>
              </a:rPr>
              <a:t>F </a:t>
            </a:r>
            <a:r>
              <a:rPr lang="zh-CN" altLang="en-US" b="1" dirty="0">
                <a:solidFill>
                  <a:srgbClr val="000099"/>
                </a:solidFill>
                <a:latin typeface="楷体" panose="02010609060101010101" pitchFamily="49" charset="-122"/>
                <a:ea typeface="楷体" panose="02010609060101010101" pitchFamily="49" charset="-122"/>
              </a:rPr>
              <a:t>组成的平面</a:t>
            </a:r>
            <a:r>
              <a:rPr lang="en-US" altLang="zh-CN" b="1" dirty="0">
                <a:solidFill>
                  <a:srgbClr val="000099"/>
                </a:solidFill>
                <a:latin typeface="楷体" panose="02010609060101010101" pitchFamily="49" charset="-122"/>
                <a:ea typeface="楷体" panose="02010609060101010101" pitchFamily="49" charset="-122"/>
              </a:rPr>
              <a:t>,</a:t>
            </a:r>
            <a:r>
              <a:rPr lang="zh-CN" altLang="en-US" b="1" dirty="0">
                <a:solidFill>
                  <a:srgbClr val="000099"/>
                </a:solidFill>
                <a:latin typeface="楷体" panose="02010609060101010101" pitchFamily="49" charset="-122"/>
                <a:ea typeface="楷体" panose="02010609060101010101" pitchFamily="49" charset="-122"/>
              </a:rPr>
              <a:t>右手螺旋法则</a:t>
            </a:r>
          </a:p>
        </p:txBody>
      </p:sp>
      <p:sp>
        <p:nvSpPr>
          <p:cNvPr id="9235" name="Text Box 19"/>
          <p:cNvSpPr txBox="1">
            <a:spLocks noChangeArrowheads="1"/>
          </p:cNvSpPr>
          <p:nvPr/>
        </p:nvSpPr>
        <p:spPr bwMode="auto">
          <a:xfrm>
            <a:off x="2118678" y="5572886"/>
            <a:ext cx="457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99"/>
                </a:solidFill>
                <a:latin typeface="楷体" panose="02010609060101010101" pitchFamily="49" charset="-122"/>
                <a:ea typeface="楷体" panose="02010609060101010101" pitchFamily="49" charset="-122"/>
              </a:rPr>
              <a:t>作用点</a:t>
            </a:r>
            <a:r>
              <a:rPr lang="en-US" altLang="zh-CN" b="1" dirty="0">
                <a:solidFill>
                  <a:srgbClr val="000099"/>
                </a:solidFill>
                <a:latin typeface="楷体" panose="02010609060101010101" pitchFamily="49" charset="-122"/>
                <a:ea typeface="楷体" panose="02010609060101010101" pitchFamily="49" charset="-122"/>
              </a:rPr>
              <a:t>: </a:t>
            </a:r>
            <a:r>
              <a:rPr lang="zh-CN" altLang="en-US" b="1" dirty="0">
                <a:solidFill>
                  <a:srgbClr val="000099"/>
                </a:solidFill>
                <a:latin typeface="楷体" panose="02010609060101010101" pitchFamily="49" charset="-122"/>
                <a:ea typeface="楷体" panose="02010609060101010101" pitchFamily="49" charset="-122"/>
              </a:rPr>
              <a:t>过矩心</a:t>
            </a:r>
            <a:r>
              <a:rPr lang="en-US" altLang="zh-CN" b="1" i="1" dirty="0">
                <a:solidFill>
                  <a:srgbClr val="000099"/>
                </a:solidFill>
                <a:latin typeface="+mn-lt"/>
                <a:ea typeface="楷体" panose="02010609060101010101" pitchFamily="49" charset="-122"/>
              </a:rPr>
              <a:t>O</a:t>
            </a:r>
            <a:r>
              <a:rPr lang="en-US" altLang="zh-CN" b="1" dirty="0">
                <a:solidFill>
                  <a:srgbClr val="000099"/>
                </a:solidFill>
                <a:latin typeface="楷体" panose="02010609060101010101" pitchFamily="49" charset="-122"/>
                <a:ea typeface="楷体" panose="02010609060101010101" pitchFamily="49" charset="-122"/>
              </a:rPr>
              <a:t>,</a:t>
            </a:r>
            <a:r>
              <a:rPr lang="en-US" altLang="zh-CN" b="1" i="1" dirty="0">
                <a:solidFill>
                  <a:srgbClr val="000099"/>
                </a:solidFill>
                <a:latin typeface="楷体" panose="02010609060101010101" pitchFamily="49" charset="-122"/>
                <a:ea typeface="楷体" panose="02010609060101010101" pitchFamily="49" charset="-122"/>
              </a:rPr>
              <a:t> </a:t>
            </a:r>
            <a:r>
              <a:rPr lang="zh-CN" altLang="en-US" b="1" dirty="0">
                <a:solidFill>
                  <a:srgbClr val="000099"/>
                </a:solidFill>
                <a:latin typeface="楷体" panose="02010609060101010101" pitchFamily="49" charset="-122"/>
                <a:ea typeface="楷体" panose="02010609060101010101" pitchFamily="49" charset="-122"/>
              </a:rPr>
              <a:t>任意指定点</a:t>
            </a:r>
            <a:endParaRPr lang="en-US" altLang="zh-CN" b="1" dirty="0">
              <a:solidFill>
                <a:srgbClr val="000099"/>
              </a:solidFill>
              <a:latin typeface="楷体" panose="02010609060101010101" pitchFamily="49" charset="-122"/>
              <a:ea typeface="楷体" panose="02010609060101010101" pitchFamily="49" charset="-122"/>
            </a:endParaRPr>
          </a:p>
        </p:txBody>
      </p:sp>
      <p:sp>
        <p:nvSpPr>
          <p:cNvPr id="9250" name="Text Box 34"/>
          <p:cNvSpPr txBox="1">
            <a:spLocks noChangeArrowheads="1"/>
          </p:cNvSpPr>
          <p:nvPr/>
        </p:nvSpPr>
        <p:spPr bwMode="auto">
          <a:xfrm>
            <a:off x="661930" y="2979029"/>
            <a:ext cx="4712979" cy="46166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黑体" panose="02010609060101010101" pitchFamily="49" charset="-122"/>
                <a:ea typeface="黑体" panose="02010609060101010101" pitchFamily="49" charset="-122"/>
              </a:rPr>
              <a:t>空间情况下的力对点之矩</a:t>
            </a:r>
            <a:r>
              <a:rPr lang="zh-CN" altLang="en-US" b="1" dirty="0">
                <a:solidFill>
                  <a:srgbClr val="FF0000"/>
                </a:solidFill>
                <a:latin typeface="黑体" panose="02010609060101010101" pitchFamily="49" charset="-122"/>
                <a:ea typeface="黑体" panose="02010609060101010101" pitchFamily="49" charset="-122"/>
              </a:rPr>
              <a:t>（矢量）</a:t>
            </a:r>
          </a:p>
        </p:txBody>
      </p:sp>
      <p:sp>
        <p:nvSpPr>
          <p:cNvPr id="13" name="TextBox 12"/>
          <p:cNvSpPr txBox="1">
            <a:spLocks noChangeArrowheads="1"/>
          </p:cNvSpPr>
          <p:nvPr/>
        </p:nvSpPr>
        <p:spPr bwMode="auto">
          <a:xfrm>
            <a:off x="6778020" y="4554511"/>
            <a:ext cx="1714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单位</a:t>
            </a:r>
            <a:r>
              <a:rPr lang="zh-CN" altLang="en-US" dirty="0"/>
              <a:t>  </a:t>
            </a:r>
            <a:r>
              <a:rPr lang="en-US" altLang="zh-CN" dirty="0" err="1"/>
              <a:t>N</a:t>
            </a:r>
            <a:r>
              <a:rPr lang="en-US" altLang="zh-CN" dirty="0" err="1">
                <a:sym typeface="Symbol" panose="05050102010706020507" pitchFamily="18" charset="2"/>
              </a:rPr>
              <a:t></a:t>
            </a:r>
            <a:r>
              <a:rPr lang="en-US" altLang="zh-CN" dirty="0" err="1"/>
              <a:t>m</a:t>
            </a:r>
            <a:endParaRPr lang="zh-CN" altLang="en-US" dirty="0"/>
          </a:p>
        </p:txBody>
      </p:sp>
      <p:grpSp>
        <p:nvGrpSpPr>
          <p:cNvPr id="14" name="Group 38"/>
          <p:cNvGrpSpPr>
            <a:grpSpLocks/>
          </p:cNvGrpSpPr>
          <p:nvPr/>
        </p:nvGrpSpPr>
        <p:grpSpPr bwMode="auto">
          <a:xfrm>
            <a:off x="5403893" y="874686"/>
            <a:ext cx="3048000" cy="3214687"/>
            <a:chOff x="1008" y="1563"/>
            <a:chExt cx="1920" cy="2025"/>
          </a:xfrm>
        </p:grpSpPr>
        <p:pic>
          <p:nvPicPr>
            <p:cNvPr id="15" name="Picture 35" descr="tu静(2)-9"/>
            <p:cNvPicPr>
              <a:picLocks noChangeAspect="1" noChangeArrowheads="1"/>
            </p:cNvPicPr>
            <p:nvPr/>
          </p:nvPicPr>
          <p:blipFill>
            <a:blip r:embed="rId5">
              <a:lum bright="18000"/>
              <a:extLst>
                <a:ext uri="{28A0092B-C50C-407E-A947-70E740481C1C}">
                  <a14:useLocalDpi xmlns:a14="http://schemas.microsoft.com/office/drawing/2010/main" val="0"/>
                </a:ext>
              </a:extLst>
            </a:blip>
            <a:srcRect/>
            <a:stretch>
              <a:fillRect/>
            </a:stretch>
          </p:blipFill>
          <p:spPr bwMode="auto">
            <a:xfrm>
              <a:off x="1033" y="1563"/>
              <a:ext cx="1895" cy="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AutoShape 36"/>
            <p:cNvSpPr>
              <a:spLocks noChangeArrowheads="1"/>
            </p:cNvSpPr>
            <p:nvPr/>
          </p:nvSpPr>
          <p:spPr bwMode="auto">
            <a:xfrm rot="20040000" flipV="1">
              <a:off x="1211" y="2515"/>
              <a:ext cx="709" cy="4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17739 h 21600"/>
              </a:gdLst>
              <a:ahLst/>
              <a:cxnLst>
                <a:cxn ang="T8">
                  <a:pos x="T0" y="T1"/>
                </a:cxn>
                <a:cxn ang="T9">
                  <a:pos x="T2" y="T3"/>
                </a:cxn>
                <a:cxn ang="T10">
                  <a:pos x="T4" y="T5"/>
                </a:cxn>
                <a:cxn ang="T11">
                  <a:pos x="T6" y="T7"/>
                </a:cxn>
              </a:cxnLst>
              <a:rect l="T12" t="T13" r="T14" b="T15"/>
              <a:pathLst>
                <a:path w="21600" h="21600">
                  <a:moveTo>
                    <a:pt x="5295" y="17825"/>
                  </a:moveTo>
                  <a:cubicBezTo>
                    <a:pt x="3136" y="16133"/>
                    <a:pt x="1875" y="13542"/>
                    <a:pt x="1875" y="10800"/>
                  </a:cubicBezTo>
                  <a:cubicBezTo>
                    <a:pt x="1875" y="5870"/>
                    <a:pt x="5870" y="1875"/>
                    <a:pt x="10800" y="1875"/>
                  </a:cubicBezTo>
                  <a:cubicBezTo>
                    <a:pt x="15729" y="1875"/>
                    <a:pt x="19725" y="5870"/>
                    <a:pt x="19725" y="10800"/>
                  </a:cubicBezTo>
                  <a:cubicBezTo>
                    <a:pt x="19725" y="13542"/>
                    <a:pt x="18463" y="16133"/>
                    <a:pt x="16304" y="17825"/>
                  </a:cubicBezTo>
                  <a:lnTo>
                    <a:pt x="17460" y="19301"/>
                  </a:lnTo>
                  <a:cubicBezTo>
                    <a:pt x="20073" y="17254"/>
                    <a:pt x="21600" y="14119"/>
                    <a:pt x="21600" y="10800"/>
                  </a:cubicBezTo>
                  <a:cubicBezTo>
                    <a:pt x="21600" y="4835"/>
                    <a:pt x="16764" y="0"/>
                    <a:pt x="10800" y="0"/>
                  </a:cubicBezTo>
                  <a:cubicBezTo>
                    <a:pt x="4835" y="0"/>
                    <a:pt x="0" y="4835"/>
                    <a:pt x="0" y="10800"/>
                  </a:cubicBezTo>
                  <a:cubicBezTo>
                    <a:pt x="-1" y="14119"/>
                    <a:pt x="1526" y="17254"/>
                    <a:pt x="4139" y="19301"/>
                  </a:cubicBezTo>
                  <a:lnTo>
                    <a:pt x="5295" y="17825"/>
                  </a:lnTo>
                  <a:close/>
                </a:path>
              </a:pathLst>
            </a:custGeom>
            <a:solidFill>
              <a:srgbClr val="FFFFFF"/>
            </a:solidFill>
            <a:ln w="9525">
              <a:solidFill>
                <a:srgbClr val="FFFFFF"/>
              </a:solidFill>
              <a:miter lim="800000"/>
              <a:headEnd/>
              <a:tailEnd/>
            </a:ln>
          </p:spPr>
          <p:txBody>
            <a:bodyPr wrap="none" anchor="ctr"/>
            <a:lstStyle/>
            <a:p>
              <a:endParaRPr lang="zh-CN" altLang="en-US"/>
            </a:p>
          </p:txBody>
        </p:sp>
        <p:sp>
          <p:nvSpPr>
            <p:cNvPr id="17" name="Text Box 37"/>
            <p:cNvSpPr txBox="1">
              <a:spLocks noChangeArrowheads="1"/>
            </p:cNvSpPr>
            <p:nvPr/>
          </p:nvSpPr>
          <p:spPr bwMode="auto">
            <a:xfrm>
              <a:off x="1008" y="2016"/>
              <a:ext cx="5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2000" i="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8" name="Group 48"/>
          <p:cNvGrpSpPr>
            <a:grpSpLocks/>
          </p:cNvGrpSpPr>
          <p:nvPr/>
        </p:nvGrpSpPr>
        <p:grpSpPr bwMode="auto">
          <a:xfrm>
            <a:off x="6927186" y="1213245"/>
            <a:ext cx="1069975" cy="2263775"/>
            <a:chOff x="1966" y="1774"/>
            <a:chExt cx="674" cy="1426"/>
          </a:xfrm>
        </p:grpSpPr>
        <p:sp>
          <p:nvSpPr>
            <p:cNvPr id="19" name="AutoShape 39"/>
            <p:cNvSpPr>
              <a:spLocks noChangeArrowheads="1"/>
            </p:cNvSpPr>
            <p:nvPr/>
          </p:nvSpPr>
          <p:spPr bwMode="auto">
            <a:xfrm rot="1320000">
              <a:off x="2304" y="1892"/>
              <a:ext cx="45" cy="816"/>
            </a:xfrm>
            <a:prstGeom prst="upArrow">
              <a:avLst>
                <a:gd name="adj1" fmla="val 50000"/>
                <a:gd name="adj2" fmla="val 453333"/>
              </a:avLst>
            </a:prstGeom>
            <a:solidFill>
              <a:srgbClr val="2113DD"/>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20" name="Oval 40"/>
            <p:cNvSpPr>
              <a:spLocks noChangeArrowheads="1"/>
            </p:cNvSpPr>
            <p:nvPr/>
          </p:nvSpPr>
          <p:spPr bwMode="auto">
            <a:xfrm>
              <a:off x="2141" y="2672"/>
              <a:ext cx="45" cy="45"/>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21" name="Text Box 41"/>
            <p:cNvSpPr txBox="1">
              <a:spLocks noChangeArrowheads="1"/>
            </p:cNvSpPr>
            <p:nvPr/>
          </p:nvSpPr>
          <p:spPr bwMode="auto">
            <a:xfrm>
              <a:off x="2160" y="2745"/>
              <a:ext cx="1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p>
          </p:txBody>
        </p:sp>
        <p:sp>
          <p:nvSpPr>
            <p:cNvPr id="22" name="Line 42"/>
            <p:cNvSpPr>
              <a:spLocks noChangeShapeType="1"/>
            </p:cNvSpPr>
            <p:nvPr/>
          </p:nvSpPr>
          <p:spPr bwMode="auto">
            <a:xfrm flipH="1">
              <a:off x="1966" y="1774"/>
              <a:ext cx="567" cy="1426"/>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Text Box 47"/>
            <p:cNvSpPr txBox="1">
              <a:spLocks noChangeArrowheads="1"/>
            </p:cNvSpPr>
            <p:nvPr/>
          </p:nvSpPr>
          <p:spPr bwMode="auto">
            <a:xfrm>
              <a:off x="2496" y="1968"/>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p>
          </p:txBody>
        </p:sp>
      </p:grpSp>
      <p:grpSp>
        <p:nvGrpSpPr>
          <p:cNvPr id="24" name="Group 70"/>
          <p:cNvGrpSpPr>
            <a:grpSpLocks/>
          </p:cNvGrpSpPr>
          <p:nvPr/>
        </p:nvGrpSpPr>
        <p:grpSpPr bwMode="auto">
          <a:xfrm>
            <a:off x="6131849" y="2345132"/>
            <a:ext cx="1987550" cy="858838"/>
            <a:chOff x="1473" y="3347"/>
            <a:chExt cx="1252" cy="541"/>
          </a:xfrm>
        </p:grpSpPr>
        <p:sp>
          <p:nvSpPr>
            <p:cNvPr id="25" name="AutoShape 50"/>
            <p:cNvSpPr>
              <a:spLocks noChangeArrowheads="1"/>
            </p:cNvSpPr>
            <p:nvPr/>
          </p:nvSpPr>
          <p:spPr bwMode="auto">
            <a:xfrm rot="-600000">
              <a:off x="1582" y="3592"/>
              <a:ext cx="542" cy="36"/>
            </a:xfrm>
            <a:prstGeom prst="rightArrow">
              <a:avLst>
                <a:gd name="adj1" fmla="val 50000"/>
                <a:gd name="adj2" fmla="val 376389"/>
              </a:avLst>
            </a:prstGeom>
            <a:solidFill>
              <a:srgbClr val="800080"/>
            </a:solidFill>
            <a:ln w="9525">
              <a:solidFill>
                <a:srgbClr val="800080"/>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nvGrpSpPr>
            <p:cNvPr id="26" name="Group 55"/>
            <p:cNvGrpSpPr>
              <a:grpSpLocks/>
            </p:cNvGrpSpPr>
            <p:nvPr/>
          </p:nvGrpSpPr>
          <p:grpSpPr bwMode="auto">
            <a:xfrm>
              <a:off x="1473" y="3347"/>
              <a:ext cx="1252" cy="541"/>
              <a:chOff x="1473" y="2471"/>
              <a:chExt cx="1252" cy="541"/>
            </a:xfrm>
          </p:grpSpPr>
          <p:sp>
            <p:nvSpPr>
              <p:cNvPr id="27" name="Line 49"/>
              <p:cNvSpPr>
                <a:spLocks noChangeShapeType="1"/>
              </p:cNvSpPr>
              <p:nvPr/>
            </p:nvSpPr>
            <p:spPr bwMode="auto">
              <a:xfrm flipV="1">
                <a:off x="1584" y="2562"/>
                <a:ext cx="1141" cy="206"/>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 name="Text Box 51"/>
              <p:cNvSpPr txBox="1">
                <a:spLocks noChangeArrowheads="1"/>
              </p:cNvSpPr>
              <p:nvPr/>
            </p:nvSpPr>
            <p:spPr bwMode="auto">
              <a:xfrm>
                <a:off x="1900" y="2471"/>
                <a:ext cx="16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b="1" i="1" dirty="0">
                    <a:solidFill>
                      <a:srgbClr val="2113DD"/>
                    </a:solidFill>
                    <a:latin typeface="Times New Roman" panose="02020603050405020304" pitchFamily="18" charset="0"/>
                    <a:ea typeface="宋体" panose="02010600030101010101" pitchFamily="2" charset="-122"/>
                    <a:cs typeface="Times New Roman" panose="02020603050405020304" pitchFamily="18" charset="0"/>
                  </a:rPr>
                  <a:t>r</a:t>
                </a:r>
              </a:p>
            </p:txBody>
          </p:sp>
          <p:grpSp>
            <p:nvGrpSpPr>
              <p:cNvPr id="29" name="Group 54"/>
              <p:cNvGrpSpPr>
                <a:grpSpLocks/>
              </p:cNvGrpSpPr>
              <p:nvPr/>
            </p:nvGrpSpPr>
            <p:grpSpPr bwMode="auto">
              <a:xfrm>
                <a:off x="1473" y="2757"/>
                <a:ext cx="153" cy="255"/>
                <a:chOff x="1473" y="2757"/>
                <a:chExt cx="153" cy="255"/>
              </a:xfrm>
            </p:grpSpPr>
            <p:sp>
              <p:nvSpPr>
                <p:cNvPr id="30" name="Text Box 52"/>
                <p:cNvSpPr txBox="1">
                  <a:spLocks noChangeArrowheads="1"/>
                </p:cNvSpPr>
                <p:nvPr/>
              </p:nvSpPr>
              <p:spPr bwMode="auto">
                <a:xfrm>
                  <a:off x="1473" y="2820"/>
                  <a:ext cx="153"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O</a:t>
                  </a:r>
                </a:p>
              </p:txBody>
            </p:sp>
            <p:sp>
              <p:nvSpPr>
                <p:cNvPr id="31" name="Oval 53"/>
                <p:cNvSpPr>
                  <a:spLocks noChangeArrowheads="1"/>
                </p:cNvSpPr>
                <p:nvPr/>
              </p:nvSpPr>
              <p:spPr bwMode="auto">
                <a:xfrm>
                  <a:off x="1572" y="2757"/>
                  <a:ext cx="48" cy="48"/>
                </a:xfrm>
                <a:prstGeom prst="ellipse">
                  <a:avLst/>
                </a:prstGeom>
                <a:solidFill>
                  <a:srgbClr val="969696"/>
                </a:solidFill>
                <a:ln w="9525">
                  <a:solidFill>
                    <a:srgbClr val="333333"/>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grpSp>
      </p:grpSp>
      <p:grpSp>
        <p:nvGrpSpPr>
          <p:cNvPr id="32" name="Group 71"/>
          <p:cNvGrpSpPr>
            <a:grpSpLocks/>
          </p:cNvGrpSpPr>
          <p:nvPr/>
        </p:nvGrpSpPr>
        <p:grpSpPr bwMode="auto">
          <a:xfrm>
            <a:off x="7371686" y="2239413"/>
            <a:ext cx="244475" cy="381000"/>
            <a:chOff x="2256" y="2400"/>
            <a:chExt cx="154" cy="240"/>
          </a:xfrm>
        </p:grpSpPr>
        <p:sp>
          <p:nvSpPr>
            <p:cNvPr id="33" name="Freeform 57"/>
            <p:cNvSpPr>
              <a:spLocks/>
            </p:cNvSpPr>
            <p:nvPr/>
          </p:nvSpPr>
          <p:spPr bwMode="auto">
            <a:xfrm>
              <a:off x="2256" y="2496"/>
              <a:ext cx="56" cy="144"/>
            </a:xfrm>
            <a:custGeom>
              <a:avLst/>
              <a:gdLst>
                <a:gd name="T0" fmla="*/ 48 w 56"/>
                <a:gd name="T1" fmla="*/ 144 h 144"/>
                <a:gd name="T2" fmla="*/ 48 w 56"/>
                <a:gd name="T3" fmla="*/ 48 h 144"/>
                <a:gd name="T4" fmla="*/ 0 w 56"/>
                <a:gd name="T5" fmla="*/ 0 h 144"/>
                <a:gd name="T6" fmla="*/ 0 60000 65536"/>
                <a:gd name="T7" fmla="*/ 0 60000 65536"/>
                <a:gd name="T8" fmla="*/ 0 60000 65536"/>
                <a:gd name="T9" fmla="*/ 0 w 56"/>
                <a:gd name="T10" fmla="*/ 0 h 144"/>
                <a:gd name="T11" fmla="*/ 56 w 56"/>
                <a:gd name="T12" fmla="*/ 144 h 144"/>
              </a:gdLst>
              <a:ahLst/>
              <a:cxnLst>
                <a:cxn ang="T6">
                  <a:pos x="T0" y="T1"/>
                </a:cxn>
                <a:cxn ang="T7">
                  <a:pos x="T2" y="T3"/>
                </a:cxn>
                <a:cxn ang="T8">
                  <a:pos x="T4" y="T5"/>
                </a:cxn>
              </a:cxnLst>
              <a:rect l="T9" t="T10" r="T11" b="T12"/>
              <a:pathLst>
                <a:path w="56" h="144">
                  <a:moveTo>
                    <a:pt x="48" y="144"/>
                  </a:moveTo>
                  <a:cubicBezTo>
                    <a:pt x="52" y="108"/>
                    <a:pt x="56" y="72"/>
                    <a:pt x="48" y="48"/>
                  </a:cubicBezTo>
                  <a:cubicBezTo>
                    <a:pt x="40" y="24"/>
                    <a:pt x="20" y="12"/>
                    <a:pt x="0" y="0"/>
                  </a:cubicBez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4" name="Text Box 58"/>
            <p:cNvSpPr txBox="1">
              <a:spLocks noChangeArrowheads="1"/>
            </p:cNvSpPr>
            <p:nvPr/>
          </p:nvSpPr>
          <p:spPr bwMode="auto">
            <a:xfrm>
              <a:off x="2304" y="2400"/>
              <a:ext cx="1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en-US" altLang="zh-CN" sz="20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35" name="Group 63"/>
          <p:cNvGrpSpPr>
            <a:grpSpLocks/>
          </p:cNvGrpSpPr>
          <p:nvPr/>
        </p:nvGrpSpPr>
        <p:grpSpPr bwMode="auto">
          <a:xfrm>
            <a:off x="6323936" y="2840436"/>
            <a:ext cx="739775" cy="493713"/>
            <a:chOff x="1621" y="2767"/>
            <a:chExt cx="466" cy="311"/>
          </a:xfrm>
        </p:grpSpPr>
        <p:sp>
          <p:nvSpPr>
            <p:cNvPr id="36" name="Line 60"/>
            <p:cNvSpPr>
              <a:spLocks noChangeShapeType="1"/>
            </p:cNvSpPr>
            <p:nvPr/>
          </p:nvSpPr>
          <p:spPr bwMode="auto">
            <a:xfrm>
              <a:off x="1621" y="2767"/>
              <a:ext cx="466" cy="183"/>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Text Box 61"/>
            <p:cNvSpPr txBox="1">
              <a:spLocks noChangeArrowheads="1"/>
            </p:cNvSpPr>
            <p:nvPr/>
          </p:nvSpPr>
          <p:spPr bwMode="auto">
            <a:xfrm>
              <a:off x="1796" y="2845"/>
              <a:ext cx="10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a:t>
              </a:r>
            </a:p>
          </p:txBody>
        </p:sp>
        <p:sp>
          <p:nvSpPr>
            <p:cNvPr id="38" name="Freeform 62"/>
            <p:cNvSpPr>
              <a:spLocks/>
            </p:cNvSpPr>
            <p:nvPr/>
          </p:nvSpPr>
          <p:spPr bwMode="auto">
            <a:xfrm>
              <a:off x="1993" y="2928"/>
              <a:ext cx="55" cy="98"/>
            </a:xfrm>
            <a:custGeom>
              <a:avLst/>
              <a:gdLst>
                <a:gd name="T0" fmla="*/ 23 w 55"/>
                <a:gd name="T1" fmla="*/ 0 h 98"/>
                <a:gd name="T2" fmla="*/ 0 w 55"/>
                <a:gd name="T3" fmla="*/ 80 h 98"/>
                <a:gd name="T4" fmla="*/ 55 w 55"/>
                <a:gd name="T5" fmla="*/ 98 h 98"/>
                <a:gd name="T6" fmla="*/ 0 60000 65536"/>
                <a:gd name="T7" fmla="*/ 0 60000 65536"/>
                <a:gd name="T8" fmla="*/ 0 60000 65536"/>
                <a:gd name="T9" fmla="*/ 0 w 55"/>
                <a:gd name="T10" fmla="*/ 0 h 98"/>
                <a:gd name="T11" fmla="*/ 55 w 55"/>
                <a:gd name="T12" fmla="*/ 98 h 98"/>
              </a:gdLst>
              <a:ahLst/>
              <a:cxnLst>
                <a:cxn ang="T6">
                  <a:pos x="T0" y="T1"/>
                </a:cxn>
                <a:cxn ang="T7">
                  <a:pos x="T2" y="T3"/>
                </a:cxn>
                <a:cxn ang="T8">
                  <a:pos x="T4" y="T5"/>
                </a:cxn>
              </a:cxnLst>
              <a:rect l="T9" t="T10" r="T11" b="T12"/>
              <a:pathLst>
                <a:path w="55" h="98">
                  <a:moveTo>
                    <a:pt x="23" y="0"/>
                  </a:moveTo>
                  <a:lnTo>
                    <a:pt x="0" y="80"/>
                  </a:lnTo>
                  <a:lnTo>
                    <a:pt x="55" y="98"/>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aphicFrame>
        <p:nvGraphicFramePr>
          <p:cNvPr id="39" name="Object 1025"/>
          <p:cNvGraphicFramePr>
            <a:graphicFrameLocks noChangeAspect="1"/>
          </p:cNvGraphicFramePr>
          <p:nvPr>
            <p:extLst>
              <p:ext uri="{D42A27DB-BD31-4B8C-83A1-F6EECF244321}">
                <p14:modId xmlns:p14="http://schemas.microsoft.com/office/powerpoint/2010/main" val="1155869712"/>
              </p:ext>
            </p:extLst>
          </p:nvPr>
        </p:nvGraphicFramePr>
        <p:xfrm>
          <a:off x="3115110" y="4497002"/>
          <a:ext cx="3429000" cy="568325"/>
        </p:xfrm>
        <a:graphic>
          <a:graphicData uri="http://schemas.openxmlformats.org/presentationml/2006/ole">
            <mc:AlternateContent xmlns:mc="http://schemas.openxmlformats.org/markup-compatibility/2006">
              <mc:Choice xmlns:v="urn:schemas-microsoft-com:vml" Requires="v">
                <p:oleObj spid="_x0000_s2059" name="Equation" r:id="rId6" imgW="1536033" imgH="253890" progId="Equation.DSMT4">
                  <p:embed/>
                </p:oleObj>
              </mc:Choice>
              <mc:Fallback>
                <p:oleObj name="Equation" r:id="rId6" imgW="1536033" imgH="25389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15110" y="4497002"/>
                        <a:ext cx="34290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8" name="Text Box 2"/>
          <p:cNvSpPr txBox="1">
            <a:spLocks noChangeArrowheads="1"/>
          </p:cNvSpPr>
          <p:nvPr/>
        </p:nvSpPr>
        <p:spPr bwMode="auto">
          <a:xfrm>
            <a:off x="408854" y="489021"/>
            <a:ext cx="725949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latin typeface="宋体" panose="02010600030101010101" pitchFamily="2" charset="-122"/>
              </a:rPr>
              <a:t>§</a:t>
            </a:r>
            <a:r>
              <a:rPr lang="en-US" altLang="zh-CN" sz="3200" b="1" dirty="0"/>
              <a:t>2-1  </a:t>
            </a:r>
            <a:r>
              <a:rPr lang="zh-CN" altLang="en-US" sz="3200" b="1" dirty="0">
                <a:solidFill>
                  <a:srgbClr val="FF0000"/>
                </a:solidFill>
                <a:latin typeface="黑体" panose="02010609060101010101" pitchFamily="49" charset="-122"/>
                <a:ea typeface="黑体" panose="02010609060101010101" pitchFamily="49" charset="-122"/>
              </a:rPr>
              <a:t>力矩</a:t>
            </a:r>
            <a:r>
              <a:rPr lang="en-US" altLang="zh-CN" sz="3200" b="1" dirty="0">
                <a:ea typeface="华文中宋" panose="02010600040101010101" pitchFamily="2" charset="-122"/>
              </a:rPr>
              <a:t>(moment)</a:t>
            </a:r>
            <a:r>
              <a:rPr lang="zh-CN" altLang="en-US" b="1" dirty="0">
                <a:latin typeface="+mn-lt"/>
                <a:ea typeface="华文中宋" panose="02010600040101010101" pitchFamily="2" charset="-122"/>
              </a:rPr>
              <a:t>（</a:t>
            </a:r>
            <a:r>
              <a:rPr lang="zh-CN" altLang="en-US" b="1" dirty="0">
                <a:ea typeface="华文中宋" panose="02010600040101010101" pitchFamily="2" charset="-122"/>
              </a:rPr>
              <a:t>书</a:t>
            </a:r>
            <a:r>
              <a:rPr lang="en-US" altLang="zh-CN" b="1" dirty="0">
                <a:latin typeface="宋体" panose="02010600030101010101" pitchFamily="2" charset="-122"/>
              </a:rPr>
              <a:t>§</a:t>
            </a:r>
            <a:r>
              <a:rPr lang="en-US" altLang="zh-CN" b="1" dirty="0"/>
              <a:t>1.1.5</a:t>
            </a:r>
            <a:r>
              <a:rPr lang="zh-CN" altLang="en-US" b="1" dirty="0"/>
              <a:t>和</a:t>
            </a:r>
            <a:r>
              <a:rPr lang="en-US" altLang="zh-CN" b="1" dirty="0">
                <a:latin typeface="宋体" panose="02010600030101010101" pitchFamily="2" charset="-122"/>
              </a:rPr>
              <a:t>§</a:t>
            </a:r>
            <a:r>
              <a:rPr lang="en-US" altLang="zh-CN" b="1" dirty="0"/>
              <a:t>3.2</a:t>
            </a:r>
            <a:r>
              <a:rPr lang="zh-CN" altLang="en-US" b="1" dirty="0">
                <a:latin typeface="+mn-lt"/>
                <a:ea typeface="华文中宋" panose="02010600040101010101" pitchFamily="2" charset="-122"/>
              </a:rPr>
              <a:t>）</a:t>
            </a:r>
            <a:endParaRPr lang="zh-CN" altLang="en-US" b="1"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ox(out)">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228">
                                            <p:txEl>
                                              <p:pRg st="0" end="0"/>
                                            </p:txEl>
                                          </p:spTgt>
                                        </p:tgtEl>
                                        <p:attrNameLst>
                                          <p:attrName>style.visibility</p:attrName>
                                        </p:attrNameLst>
                                      </p:cBhvr>
                                      <p:to>
                                        <p:strVal val="visible"/>
                                      </p:to>
                                    </p:set>
                                    <p:animEffect transition="in" filter="box(out)">
                                      <p:cBhvr>
                                        <p:cTn id="12" dur="500"/>
                                        <p:tgtEl>
                                          <p:spTgt spid="922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250"/>
                                        </p:tgtEl>
                                        <p:attrNameLst>
                                          <p:attrName>style.visibility</p:attrName>
                                        </p:attrNameLst>
                                      </p:cBhvr>
                                      <p:to>
                                        <p:strVal val="visible"/>
                                      </p:to>
                                    </p:set>
                                    <p:animEffect transition="in" filter="checkerboard(across)">
                                      <p:cBhvr>
                                        <p:cTn id="17" dur="500"/>
                                        <p:tgtEl>
                                          <p:spTgt spid="925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ox(ou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box(ou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9230"/>
                                        </p:tgtEl>
                                        <p:attrNameLst>
                                          <p:attrName>style.visibility</p:attrName>
                                        </p:attrNameLst>
                                      </p:cBhvr>
                                      <p:to>
                                        <p:strVal val="visible"/>
                                      </p:to>
                                    </p:set>
                                    <p:animEffect transition="in" filter="box(out)">
                                      <p:cBhvr>
                                        <p:cTn id="32" dur="500"/>
                                        <p:tgtEl>
                                          <p:spTgt spid="923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ox(ou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9221">
                                            <p:txEl>
                                              <p:pRg st="0" end="0"/>
                                            </p:txEl>
                                          </p:spTgt>
                                        </p:tgtEl>
                                        <p:attrNameLst>
                                          <p:attrName>style.visibility</p:attrName>
                                        </p:attrNameLst>
                                      </p:cBhvr>
                                      <p:to>
                                        <p:strVal val="visible"/>
                                      </p:to>
                                    </p:set>
                                    <p:animEffect transition="in" filter="box(out)">
                                      <p:cBhvr>
                                        <p:cTn id="42" dur="500"/>
                                        <p:tgtEl>
                                          <p:spTgt spid="922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9231"/>
                                        </p:tgtEl>
                                        <p:attrNameLst>
                                          <p:attrName>style.visibility</p:attrName>
                                        </p:attrNameLst>
                                      </p:cBhvr>
                                      <p:to>
                                        <p:strVal val="visible"/>
                                      </p:to>
                                    </p:set>
                                    <p:animEffect transition="in" filter="checkerboard(across)">
                                      <p:cBhvr>
                                        <p:cTn id="47" dur="500"/>
                                        <p:tgtEl>
                                          <p:spTgt spid="9231"/>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checkerboard(across)">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box(out)">
                                      <p:cBhvr>
                                        <p:cTn id="57" dur="5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box(in)">
                                      <p:cBhvr>
                                        <p:cTn id="62" dur="500"/>
                                        <p:tgtEl>
                                          <p:spTgt spid="35"/>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500" fill="hold"/>
                                        <p:tgtEl>
                                          <p:spTgt spid="13"/>
                                        </p:tgtEl>
                                        <p:attrNameLst>
                                          <p:attrName>ppt_x</p:attrName>
                                        </p:attrNameLst>
                                      </p:cBhvr>
                                      <p:tavLst>
                                        <p:tav tm="0">
                                          <p:val>
                                            <p:strVal val="1+#ppt_w/2"/>
                                          </p:val>
                                        </p:tav>
                                        <p:tav tm="100000">
                                          <p:val>
                                            <p:strVal val="#ppt_x"/>
                                          </p:val>
                                        </p:tav>
                                      </p:tavLst>
                                    </p:anim>
                                    <p:anim calcmode="lin" valueType="num">
                                      <p:cBhvr additive="base">
                                        <p:cTn id="6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8" presetClass="entr" presetSubtype="32" fill="hold" grpId="0" nodeType="clickEffect">
                                  <p:stCondLst>
                                    <p:cond delay="0"/>
                                  </p:stCondLst>
                                  <p:childTnLst>
                                    <p:set>
                                      <p:cBhvr>
                                        <p:cTn id="72" dur="1" fill="hold">
                                          <p:stCondLst>
                                            <p:cond delay="0"/>
                                          </p:stCondLst>
                                        </p:cTn>
                                        <p:tgtEl>
                                          <p:spTgt spid="9234"/>
                                        </p:tgtEl>
                                        <p:attrNameLst>
                                          <p:attrName>style.visibility</p:attrName>
                                        </p:attrNameLst>
                                      </p:cBhvr>
                                      <p:to>
                                        <p:strVal val="visible"/>
                                      </p:to>
                                    </p:set>
                                    <p:animEffect transition="in" filter="diamond(out)">
                                      <p:cBhvr>
                                        <p:cTn id="73" dur="500"/>
                                        <p:tgtEl>
                                          <p:spTgt spid="9234"/>
                                        </p:tgtEl>
                                      </p:cBhvr>
                                    </p:animEffect>
                                  </p:childTnLst>
                                </p:cTn>
                              </p:par>
                            </p:childTnLst>
                          </p:cTn>
                        </p:par>
                      </p:childTnLst>
                    </p:cTn>
                  </p:par>
                  <p:par>
                    <p:cTn id="74" fill="hold">
                      <p:stCondLst>
                        <p:cond delay="indefinite"/>
                      </p:stCondLst>
                      <p:childTnLst>
                        <p:par>
                          <p:cTn id="75" fill="hold">
                            <p:stCondLst>
                              <p:cond delay="0"/>
                            </p:stCondLst>
                            <p:childTnLst>
                              <p:par>
                                <p:cTn id="76" presetID="8" presetClass="entr" presetSubtype="32" fill="hold" grpId="0" nodeType="clickEffect">
                                  <p:stCondLst>
                                    <p:cond delay="0"/>
                                  </p:stCondLst>
                                  <p:childTnLst>
                                    <p:set>
                                      <p:cBhvr>
                                        <p:cTn id="77" dur="1" fill="hold">
                                          <p:stCondLst>
                                            <p:cond delay="0"/>
                                          </p:stCondLst>
                                        </p:cTn>
                                        <p:tgtEl>
                                          <p:spTgt spid="9235"/>
                                        </p:tgtEl>
                                        <p:attrNameLst>
                                          <p:attrName>style.visibility</p:attrName>
                                        </p:attrNameLst>
                                      </p:cBhvr>
                                      <p:to>
                                        <p:strVal val="visible"/>
                                      </p:to>
                                    </p:set>
                                    <p:animEffect transition="in" filter="diamond(out)">
                                      <p:cBhvr>
                                        <p:cTn id="78" dur="500"/>
                                        <p:tgtEl>
                                          <p:spTgt spid="9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P spid="9221" grpId="0" build="p" autoUpdateAnimBg="0"/>
      <p:bldP spid="9228" grpId="0" build="p" autoUpdateAnimBg="0"/>
      <p:bldP spid="9231" grpId="0"/>
      <p:bldP spid="9234" grpId="0"/>
      <p:bldP spid="9235" grpId="0"/>
      <p:bldP spid="9250" grpId="0" animBg="1" autoUpdateAnimBg="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4580" name="Object 4"/>
          <p:cNvGraphicFramePr>
            <a:graphicFrameLocks noChangeAspect="1"/>
          </p:cNvGraphicFramePr>
          <p:nvPr>
            <p:extLst>
              <p:ext uri="{D42A27DB-BD31-4B8C-83A1-F6EECF244321}">
                <p14:modId xmlns:p14="http://schemas.microsoft.com/office/powerpoint/2010/main" val="2038318422"/>
              </p:ext>
            </p:extLst>
          </p:nvPr>
        </p:nvGraphicFramePr>
        <p:xfrm>
          <a:off x="875713" y="3106390"/>
          <a:ext cx="2374900" cy="476250"/>
        </p:xfrm>
        <a:graphic>
          <a:graphicData uri="http://schemas.openxmlformats.org/presentationml/2006/ole">
            <mc:AlternateContent xmlns:mc="http://schemas.openxmlformats.org/markup-compatibility/2006">
              <mc:Choice xmlns:v="urn:schemas-microsoft-com:vml" Requires="v">
                <p:oleObj spid="_x0000_s3094" name="Equation" r:id="rId3" imgW="1905000" imgH="381000" progId="Equation.3">
                  <p:embed/>
                </p:oleObj>
              </mc:Choice>
              <mc:Fallback>
                <p:oleObj name="Equation" r:id="rId3" imgW="1905000" imgH="381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713" y="3106390"/>
                        <a:ext cx="23749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1" name="Object 5"/>
          <p:cNvGraphicFramePr>
            <a:graphicFrameLocks noChangeAspect="1"/>
          </p:cNvGraphicFramePr>
          <p:nvPr>
            <p:extLst>
              <p:ext uri="{D42A27DB-BD31-4B8C-83A1-F6EECF244321}">
                <p14:modId xmlns:p14="http://schemas.microsoft.com/office/powerpoint/2010/main" val="2156573389"/>
              </p:ext>
            </p:extLst>
          </p:nvPr>
        </p:nvGraphicFramePr>
        <p:xfrm>
          <a:off x="3320180" y="2616610"/>
          <a:ext cx="1835150" cy="1398588"/>
        </p:xfrm>
        <a:graphic>
          <a:graphicData uri="http://schemas.openxmlformats.org/presentationml/2006/ole">
            <mc:AlternateContent xmlns:mc="http://schemas.openxmlformats.org/markup-compatibility/2006">
              <mc:Choice xmlns:v="urn:schemas-microsoft-com:vml" Requires="v">
                <p:oleObj spid="_x0000_s3095" name="Equation" r:id="rId5" imgW="1828800" imgH="1397000" progId="Equation.3">
                  <p:embed/>
                </p:oleObj>
              </mc:Choice>
              <mc:Fallback>
                <p:oleObj name="Equation" r:id="rId5" imgW="1828800" imgH="13970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0180" y="2616610"/>
                        <a:ext cx="1835150" cy="139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2" name="Object 6"/>
          <p:cNvGraphicFramePr>
            <a:graphicFrameLocks noChangeAspect="1"/>
          </p:cNvGraphicFramePr>
          <p:nvPr>
            <p:extLst>
              <p:ext uri="{D42A27DB-BD31-4B8C-83A1-F6EECF244321}">
                <p14:modId xmlns:p14="http://schemas.microsoft.com/office/powerpoint/2010/main" val="4087770459"/>
              </p:ext>
            </p:extLst>
          </p:nvPr>
        </p:nvGraphicFramePr>
        <p:xfrm>
          <a:off x="1240520" y="4275139"/>
          <a:ext cx="5405438" cy="420687"/>
        </p:xfrm>
        <a:graphic>
          <a:graphicData uri="http://schemas.openxmlformats.org/presentationml/2006/ole">
            <mc:AlternateContent xmlns:mc="http://schemas.openxmlformats.org/markup-compatibility/2006">
              <mc:Choice xmlns:v="urn:schemas-microsoft-com:vml" Requires="v">
                <p:oleObj spid="_x0000_s3096" name="Equation" r:id="rId7" imgW="5346700" imgH="419100" progId="Equation.3">
                  <p:embed/>
                </p:oleObj>
              </mc:Choice>
              <mc:Fallback>
                <p:oleObj name="Equation" r:id="rId7" imgW="5346700" imgH="4191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0520" y="4275139"/>
                        <a:ext cx="5405438"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3" name="Text Box 7"/>
          <p:cNvSpPr txBox="1">
            <a:spLocks noChangeArrowheads="1"/>
          </p:cNvSpPr>
          <p:nvPr/>
        </p:nvSpPr>
        <p:spPr bwMode="auto">
          <a:xfrm>
            <a:off x="1251996" y="2024878"/>
            <a:ext cx="2719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dirty="0"/>
              <a:t>F=</a:t>
            </a:r>
            <a:r>
              <a:rPr lang="en-US" altLang="zh-CN" sz="2800" i="1" dirty="0" err="1"/>
              <a:t>F</a:t>
            </a:r>
            <a:r>
              <a:rPr lang="en-US" altLang="zh-CN" sz="2800" i="1" baseline="-25000" dirty="0" err="1"/>
              <a:t>x</a:t>
            </a:r>
            <a:r>
              <a:rPr lang="en-US" altLang="zh-CN" sz="2800" i="1" dirty="0"/>
              <a:t> </a:t>
            </a:r>
            <a:r>
              <a:rPr lang="en-US" altLang="zh-CN" sz="2800" b="1" i="1" dirty="0" err="1"/>
              <a:t>i+</a:t>
            </a:r>
            <a:r>
              <a:rPr lang="en-US" altLang="zh-CN" sz="2800" i="1" dirty="0" err="1"/>
              <a:t>F</a:t>
            </a:r>
            <a:r>
              <a:rPr lang="en-US" altLang="zh-CN" sz="2800" i="1" baseline="-25000" dirty="0" err="1"/>
              <a:t>y</a:t>
            </a:r>
            <a:r>
              <a:rPr lang="en-US" altLang="zh-CN" sz="2800" i="1" dirty="0"/>
              <a:t> </a:t>
            </a:r>
            <a:r>
              <a:rPr lang="en-US" altLang="zh-CN" sz="2800" b="1" i="1" dirty="0"/>
              <a:t>j+</a:t>
            </a:r>
            <a:r>
              <a:rPr lang="en-US" altLang="zh-CN" sz="2800" i="1" dirty="0"/>
              <a:t> </a:t>
            </a:r>
            <a:r>
              <a:rPr lang="en-US" altLang="zh-CN" sz="2800" i="1" dirty="0" err="1"/>
              <a:t>F</a:t>
            </a:r>
            <a:r>
              <a:rPr lang="en-US" altLang="zh-CN" sz="2800" i="1" baseline="-25000" dirty="0" err="1"/>
              <a:t>z</a:t>
            </a:r>
            <a:r>
              <a:rPr lang="en-US" altLang="zh-CN" sz="2800" i="1" dirty="0"/>
              <a:t> </a:t>
            </a:r>
            <a:r>
              <a:rPr lang="en-US" altLang="zh-CN" sz="2800" b="1" i="1" dirty="0"/>
              <a:t>k</a:t>
            </a:r>
          </a:p>
        </p:txBody>
      </p:sp>
      <p:sp>
        <p:nvSpPr>
          <p:cNvPr id="24584" name="Text Box 8"/>
          <p:cNvSpPr txBox="1">
            <a:spLocks noChangeArrowheads="1"/>
          </p:cNvSpPr>
          <p:nvPr/>
        </p:nvSpPr>
        <p:spPr bwMode="auto">
          <a:xfrm>
            <a:off x="1251996" y="1501658"/>
            <a:ext cx="24032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dirty="0"/>
              <a:t>r = </a:t>
            </a:r>
            <a:r>
              <a:rPr lang="en-US" altLang="zh-CN" sz="2800" i="1" dirty="0"/>
              <a:t>x </a:t>
            </a:r>
            <a:r>
              <a:rPr lang="en-US" altLang="zh-CN" sz="2800" b="1" i="1" dirty="0" err="1"/>
              <a:t>i</a:t>
            </a:r>
            <a:r>
              <a:rPr lang="en-US" altLang="zh-CN" sz="2800" b="1" i="1" dirty="0"/>
              <a:t>+ </a:t>
            </a:r>
            <a:r>
              <a:rPr lang="en-US" altLang="zh-CN" sz="2800" i="1" dirty="0"/>
              <a:t>y </a:t>
            </a:r>
            <a:r>
              <a:rPr lang="en-US" altLang="zh-CN" sz="2800" b="1" i="1" dirty="0"/>
              <a:t>j+</a:t>
            </a:r>
            <a:r>
              <a:rPr lang="en-US" altLang="zh-CN" sz="2800" i="1" dirty="0"/>
              <a:t> z </a:t>
            </a:r>
            <a:r>
              <a:rPr lang="en-US" altLang="zh-CN" sz="2800" b="1" i="1" dirty="0"/>
              <a:t>k</a:t>
            </a:r>
          </a:p>
        </p:txBody>
      </p:sp>
      <p:sp>
        <p:nvSpPr>
          <p:cNvPr id="5127" name="Text Box 9"/>
          <p:cNvSpPr txBox="1">
            <a:spLocks noChangeArrowheads="1"/>
          </p:cNvSpPr>
          <p:nvPr/>
        </p:nvSpPr>
        <p:spPr bwMode="auto">
          <a:xfrm>
            <a:off x="1115616" y="1074151"/>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楷体" panose="02010609060101010101" pitchFamily="49" charset="-122"/>
                <a:ea typeface="楷体" panose="02010609060101010101" pitchFamily="49" charset="-122"/>
              </a:rPr>
              <a:t>力对点之矩解析表达式</a:t>
            </a:r>
          </a:p>
        </p:txBody>
      </p:sp>
      <p:graphicFrame>
        <p:nvGraphicFramePr>
          <p:cNvPr id="24587" name="Object 11"/>
          <p:cNvGraphicFramePr>
            <a:graphicFrameLocks noChangeAspect="1"/>
          </p:cNvGraphicFramePr>
          <p:nvPr>
            <p:extLst>
              <p:ext uri="{D42A27DB-BD31-4B8C-83A1-F6EECF244321}">
                <p14:modId xmlns:p14="http://schemas.microsoft.com/office/powerpoint/2010/main" val="2773793001"/>
              </p:ext>
            </p:extLst>
          </p:nvPr>
        </p:nvGraphicFramePr>
        <p:xfrm>
          <a:off x="5208657" y="1018112"/>
          <a:ext cx="3168848" cy="2997086"/>
        </p:xfrm>
        <a:graphic>
          <a:graphicData uri="http://schemas.openxmlformats.org/presentationml/2006/ole">
            <mc:AlternateContent xmlns:mc="http://schemas.openxmlformats.org/markup-compatibility/2006">
              <mc:Choice xmlns:v="urn:schemas-microsoft-com:vml" Requires="v">
                <p:oleObj spid="_x0000_s3097" name="BMP 图像" r:id="rId9" imgW="1590897" imgH="1504762" progId="Paint.Picture">
                  <p:embed/>
                </p:oleObj>
              </mc:Choice>
              <mc:Fallback>
                <p:oleObj name="BMP 图像" r:id="rId9" imgW="1590897" imgH="1504762" progId="Paint.Picture">
                  <p:embed/>
                  <p:pic>
                    <p:nvPicPr>
                      <p:cNvPr id="0" name="Object 11"/>
                      <p:cNvPicPr>
                        <a:picLocks noChangeAspect="1" noChangeArrowheads="1"/>
                      </p:cNvPicPr>
                      <p:nvPr/>
                    </p:nvPicPr>
                    <p:blipFill>
                      <a:blip r:embed="rId10">
                        <a:lum contrast="30000"/>
                        <a:extLst>
                          <a:ext uri="{28A0092B-C50C-407E-A947-70E740481C1C}">
                            <a14:useLocalDpi xmlns:a14="http://schemas.microsoft.com/office/drawing/2010/main" val="0"/>
                          </a:ext>
                        </a:extLst>
                      </a:blip>
                      <a:srcRect/>
                      <a:stretch>
                        <a:fillRect/>
                      </a:stretch>
                    </p:blipFill>
                    <p:spPr bwMode="auto">
                      <a:xfrm>
                        <a:off x="5208657" y="1018112"/>
                        <a:ext cx="3168848" cy="2997086"/>
                      </a:xfrm>
                      <a:prstGeom prst="rect">
                        <a:avLst/>
                      </a:prstGeom>
                      <a:noFill/>
                      <a:ln>
                        <a:noFill/>
                      </a:ln>
                      <a:effectLst/>
                    </p:spPr>
                  </p:pic>
                </p:oleObj>
              </mc:Fallback>
            </mc:AlternateContent>
          </a:graphicData>
        </a:graphic>
      </p:graphicFrame>
      <p:sp>
        <p:nvSpPr>
          <p:cNvPr id="11" name="TextBox 10"/>
          <p:cNvSpPr txBox="1"/>
          <p:nvPr/>
        </p:nvSpPr>
        <p:spPr>
          <a:xfrm>
            <a:off x="4583328" y="5182967"/>
            <a:ext cx="3786188" cy="830263"/>
          </a:xfrm>
          <a:prstGeom prst="rect">
            <a:avLst/>
          </a:prstGeom>
          <a:noFill/>
        </p:spPr>
        <p:txBody>
          <a:bodyPr>
            <a:spAutoFit/>
          </a:bodyPr>
          <a:lstStyle/>
          <a:p>
            <a:pPr eaLnBrk="1" hangingPunct="1">
              <a:defRPr/>
            </a:pPr>
            <a:r>
              <a:rPr lang="en-US" altLang="zh-CN" i="1" dirty="0"/>
              <a:t>O</a:t>
            </a:r>
            <a:r>
              <a:rPr lang="zh-CN" altLang="en-US" b="1" dirty="0">
                <a:latin typeface="楷体" panose="02010609060101010101" pitchFamily="49" charset="-122"/>
                <a:ea typeface="楷体" panose="02010609060101010101" pitchFamily="49" charset="-122"/>
              </a:rPr>
              <a:t>为原点</a:t>
            </a:r>
            <a:r>
              <a:rPr lang="zh-CN" altLang="en-US" dirty="0"/>
              <a:t>，</a:t>
            </a:r>
            <a:r>
              <a:rPr lang="en-US" altLang="zh-CN" i="1" dirty="0" err="1"/>
              <a:t>x,y,z</a:t>
            </a:r>
            <a:r>
              <a:rPr lang="zh-CN" altLang="en-US" b="1" dirty="0">
                <a:latin typeface="楷体" panose="02010609060101010101" pitchFamily="49" charset="-122"/>
                <a:ea typeface="楷体" panose="02010609060101010101" pitchFamily="49" charset="-122"/>
              </a:rPr>
              <a:t>为</a:t>
            </a:r>
            <a:r>
              <a:rPr lang="en-US" altLang="zh-CN" i="1" dirty="0"/>
              <a:t>A</a:t>
            </a:r>
            <a:r>
              <a:rPr lang="zh-CN" altLang="en-US" b="1" dirty="0">
                <a:latin typeface="楷体" panose="02010609060101010101" pitchFamily="49" charset="-122"/>
                <a:ea typeface="楷体" panose="02010609060101010101" pitchFamily="49" charset="-122"/>
              </a:rPr>
              <a:t>点坐标</a:t>
            </a:r>
            <a:r>
              <a:rPr lang="zh-CN" altLang="en-US" dirty="0">
                <a:latin typeface="华文中宋" pitchFamily="2" charset="-122"/>
                <a:ea typeface="华文中宋" pitchFamily="2" charset="-122"/>
              </a:rPr>
              <a:t>，</a:t>
            </a:r>
            <a:r>
              <a:rPr lang="en-US" altLang="zh-CN" i="1" dirty="0"/>
              <a:t> O</a:t>
            </a:r>
            <a:r>
              <a:rPr lang="zh-CN" altLang="en-US" b="1" dirty="0">
                <a:latin typeface="楷体" panose="02010609060101010101" pitchFamily="49" charset="-122"/>
                <a:ea typeface="楷体" panose="02010609060101010101" pitchFamily="49" charset="-122"/>
              </a:rPr>
              <a:t>非原点</a:t>
            </a:r>
            <a:r>
              <a:rPr lang="zh-CN" altLang="en-US" dirty="0"/>
              <a:t>，</a:t>
            </a:r>
            <a:r>
              <a:rPr lang="en-US" altLang="zh-CN" i="1" dirty="0" err="1"/>
              <a:t>x,y,z</a:t>
            </a:r>
            <a:r>
              <a:rPr lang="zh-CN" altLang="en-US" b="1" dirty="0">
                <a:latin typeface="楷体" panose="02010609060101010101" pitchFamily="49" charset="-122"/>
                <a:ea typeface="楷体" panose="02010609060101010101" pitchFamily="49" charset="-122"/>
              </a:rPr>
              <a:t>为</a:t>
            </a:r>
            <a:r>
              <a:rPr lang="en-US" altLang="zh-CN" i="1" dirty="0">
                <a:latin typeface="+mn-lt"/>
                <a:ea typeface="华文中宋" pitchFamily="2" charset="-122"/>
              </a:rPr>
              <a:t>O</a:t>
            </a:r>
            <a:r>
              <a:rPr lang="en-US" altLang="zh-CN" i="1" dirty="0"/>
              <a:t>A</a:t>
            </a:r>
            <a:r>
              <a:rPr lang="zh-CN" altLang="en-US" b="1" dirty="0">
                <a:latin typeface="楷体" panose="02010609060101010101" pitchFamily="49" charset="-122"/>
                <a:ea typeface="楷体" panose="02010609060101010101" pitchFamily="49" charset="-122"/>
              </a:rPr>
              <a:t>的投影</a:t>
            </a:r>
            <a:r>
              <a:rPr lang="en-US" altLang="zh-CN" b="1" dirty="0">
                <a:latin typeface="楷体" panose="02010609060101010101" pitchFamily="49" charset="-122"/>
                <a:ea typeface="楷体" panose="02010609060101010101" pitchFamily="49" charset="-122"/>
              </a:rPr>
              <a:t>.</a:t>
            </a:r>
            <a:endParaRPr lang="zh-CN" altLang="en-US" b="1" dirty="0">
              <a:latin typeface="楷体" panose="02010609060101010101" pitchFamily="49" charset="-122"/>
              <a:ea typeface="楷体" panose="02010609060101010101" pitchFamily="49" charset="-122"/>
            </a:endParaRPr>
          </a:p>
        </p:txBody>
      </p:sp>
      <p:sp>
        <p:nvSpPr>
          <p:cNvPr id="12" name="Text Box 3"/>
          <p:cNvSpPr txBox="1">
            <a:spLocks noChangeArrowheads="1"/>
          </p:cNvSpPr>
          <p:nvPr/>
        </p:nvSpPr>
        <p:spPr bwMode="auto">
          <a:xfrm>
            <a:off x="631031" y="460996"/>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1</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力对点之矩</a:t>
            </a:r>
          </a:p>
        </p:txBody>
      </p:sp>
      <p:graphicFrame>
        <p:nvGraphicFramePr>
          <p:cNvPr id="14" name="Object 2050"/>
          <p:cNvGraphicFramePr>
            <a:graphicFrameLocks noChangeAspect="1"/>
          </p:cNvGraphicFramePr>
          <p:nvPr>
            <p:extLst>
              <p:ext uri="{D42A27DB-BD31-4B8C-83A1-F6EECF244321}">
                <p14:modId xmlns:p14="http://schemas.microsoft.com/office/powerpoint/2010/main" val="1393292232"/>
              </p:ext>
            </p:extLst>
          </p:nvPr>
        </p:nvGraphicFramePr>
        <p:xfrm>
          <a:off x="1620838" y="4919663"/>
          <a:ext cx="2709862" cy="1441450"/>
        </p:xfrm>
        <a:graphic>
          <a:graphicData uri="http://schemas.openxmlformats.org/presentationml/2006/ole">
            <mc:AlternateContent xmlns:mc="http://schemas.openxmlformats.org/markup-compatibility/2006">
              <mc:Choice xmlns:v="urn:schemas-microsoft-com:vml" Requires="v">
                <p:oleObj spid="_x0000_s3098" name="Equation" r:id="rId11" imgW="1384200" imgH="736560" progId="Equation.DSMT4">
                  <p:embed/>
                </p:oleObj>
              </mc:Choice>
              <mc:Fallback>
                <p:oleObj name="Equation" r:id="rId11" imgW="1384200" imgH="736560" progId="Equation.DSMT4">
                  <p:embed/>
                  <p:pic>
                    <p:nvPicPr>
                      <p:cNvPr id="0" name=""/>
                      <p:cNvPicPr>
                        <a:picLocks noChangeAspect="1" noChangeArrowheads="1"/>
                      </p:cNvPicPr>
                      <p:nvPr/>
                    </p:nvPicPr>
                    <p:blipFill>
                      <a:blip r:embed="rId12"/>
                      <a:srcRect/>
                      <a:stretch>
                        <a:fillRect/>
                      </a:stretch>
                    </p:blipFill>
                    <p:spPr bwMode="auto">
                      <a:xfrm>
                        <a:off x="1620838" y="4919663"/>
                        <a:ext cx="2709862" cy="144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93"/>
          <p:cNvSpPr>
            <a:spLocks noChangeArrowheads="1"/>
          </p:cNvSpPr>
          <p:nvPr/>
        </p:nvSpPr>
        <p:spPr bwMode="auto">
          <a:xfrm>
            <a:off x="1475004" y="4855349"/>
            <a:ext cx="3000375" cy="1571625"/>
          </a:xfrm>
          <a:prstGeom prst="rect">
            <a:avLst/>
          </a:prstGeom>
          <a:noFill/>
          <a:ln w="254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5127"/>
                                        </p:tgtEl>
                                        <p:attrNameLst>
                                          <p:attrName>style.visibility</p:attrName>
                                        </p:attrNameLst>
                                      </p:cBhvr>
                                      <p:to>
                                        <p:strVal val="visible"/>
                                      </p:to>
                                    </p:set>
                                    <p:animEffect transition="in" filter="circle(out)">
                                      <p:cBhvr>
                                        <p:cTn id="7" dur="500"/>
                                        <p:tgtEl>
                                          <p:spTgt spid="51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4584"/>
                                        </p:tgtEl>
                                        <p:attrNameLst>
                                          <p:attrName>style.visibility</p:attrName>
                                        </p:attrNameLst>
                                      </p:cBhvr>
                                      <p:to>
                                        <p:strVal val="visible"/>
                                      </p:to>
                                    </p:set>
                                    <p:animEffect transition="in" filter="blinds(vertical)">
                                      <p:cBhvr>
                                        <p:cTn id="12" dur="500"/>
                                        <p:tgtEl>
                                          <p:spTgt spid="2458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4583"/>
                                        </p:tgtEl>
                                        <p:attrNameLst>
                                          <p:attrName>style.visibility</p:attrName>
                                        </p:attrNameLst>
                                      </p:cBhvr>
                                      <p:to>
                                        <p:strVal val="visible"/>
                                      </p:to>
                                    </p:set>
                                    <p:animEffect transition="in" filter="blinds(vertical)">
                                      <p:cBhvr>
                                        <p:cTn id="17" dur="500"/>
                                        <p:tgtEl>
                                          <p:spTgt spid="2458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4580"/>
                                        </p:tgtEl>
                                        <p:attrNameLst>
                                          <p:attrName>style.visibility</p:attrName>
                                        </p:attrNameLst>
                                      </p:cBhvr>
                                      <p:to>
                                        <p:strVal val="visible"/>
                                      </p:to>
                                    </p:set>
                                    <p:animEffect transition="in" filter="box(out)">
                                      <p:cBhvr>
                                        <p:cTn id="22" dur="500"/>
                                        <p:tgtEl>
                                          <p:spTgt spid="2458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4581"/>
                                        </p:tgtEl>
                                        <p:attrNameLst>
                                          <p:attrName>style.visibility</p:attrName>
                                        </p:attrNameLst>
                                      </p:cBhvr>
                                      <p:to>
                                        <p:strVal val="visible"/>
                                      </p:to>
                                    </p:set>
                                    <p:animEffect transition="in" filter="box(out)">
                                      <p:cBhvr>
                                        <p:cTn id="27" dur="500"/>
                                        <p:tgtEl>
                                          <p:spTgt spid="2458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24582"/>
                                        </p:tgtEl>
                                        <p:attrNameLst>
                                          <p:attrName>style.visibility</p:attrName>
                                        </p:attrNameLst>
                                      </p:cBhvr>
                                      <p:to>
                                        <p:strVal val="visible"/>
                                      </p:to>
                                    </p:set>
                                    <p:animEffect transition="in" filter="box(out)">
                                      <p:cBhvr>
                                        <p:cTn id="32" dur="500"/>
                                        <p:tgtEl>
                                          <p:spTgt spid="24582"/>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checkerboard(across)">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1" presetClass="entr" presetSubtype="0" fill="hold" grpId="0" nodeType="clickEffect">
                                  <p:stCondLst>
                                    <p:cond delay="0"/>
                                  </p:stCondLst>
                                  <p:childTnLst>
                                    <p:set>
                                      <p:cBhvr>
                                        <p:cTn id="41" dur="1000">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blinds(horizontal)">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autoUpdateAnimBg="0"/>
      <p:bldP spid="24584" grpId="0" autoUpdateAnimBg="0"/>
      <p:bldP spid="5127" grpId="0"/>
      <p:bldP spid="11" grpId="0"/>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2" name="Text Box 4"/>
          <p:cNvSpPr txBox="1">
            <a:spLocks noChangeArrowheads="1"/>
          </p:cNvSpPr>
          <p:nvPr/>
        </p:nvSpPr>
        <p:spPr bwMode="auto">
          <a:xfrm>
            <a:off x="1066469" y="1201054"/>
            <a:ext cx="5040560" cy="46166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latin typeface="华文中宋" panose="02010600040101010101" pitchFamily="2" charset="-122"/>
                <a:ea typeface="华文中宋" panose="02010600040101010101" pitchFamily="2" charset="-122"/>
              </a:rPr>
              <a:t> </a:t>
            </a:r>
            <a:r>
              <a:rPr lang="zh-CN" altLang="en-US" b="1" dirty="0">
                <a:latin typeface="黑体" panose="02010609060101010101" pitchFamily="49" charset="-122"/>
                <a:ea typeface="黑体" panose="02010609060101010101" pitchFamily="49" charset="-122"/>
              </a:rPr>
              <a:t>平面情况下的力对点之矩</a:t>
            </a:r>
            <a:r>
              <a:rPr lang="zh-CN" altLang="en-US" b="1" dirty="0">
                <a:solidFill>
                  <a:srgbClr val="FF0000"/>
                </a:solidFill>
                <a:latin typeface="黑体" panose="02010609060101010101" pitchFamily="49" charset="-122"/>
                <a:ea typeface="黑体" panose="02010609060101010101" pitchFamily="49" charset="-122"/>
              </a:rPr>
              <a:t>（代数量）</a:t>
            </a:r>
          </a:p>
        </p:txBody>
      </p:sp>
      <p:sp>
        <p:nvSpPr>
          <p:cNvPr id="48134" name="Text Box 6"/>
          <p:cNvSpPr txBox="1">
            <a:spLocks noChangeArrowheads="1"/>
          </p:cNvSpPr>
          <p:nvPr/>
        </p:nvSpPr>
        <p:spPr bwMode="auto">
          <a:xfrm>
            <a:off x="4431974" y="4882132"/>
            <a:ext cx="3529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99"/>
                </a:solidFill>
                <a:latin typeface="楷体" panose="02010609060101010101" pitchFamily="49" charset="-122"/>
                <a:ea typeface="楷体" panose="02010609060101010101" pitchFamily="49" charset="-122"/>
              </a:rPr>
              <a:t>规定：逆钟向取“</a:t>
            </a:r>
            <a:r>
              <a:rPr lang="en-US" altLang="zh-CN" b="1" dirty="0">
                <a:solidFill>
                  <a:srgbClr val="000099"/>
                </a:solidFill>
                <a:latin typeface="楷体" panose="02010609060101010101" pitchFamily="49" charset="-122"/>
                <a:ea typeface="楷体" panose="02010609060101010101" pitchFamily="49" charset="-122"/>
              </a:rPr>
              <a:t>+”</a:t>
            </a:r>
          </a:p>
        </p:txBody>
      </p:sp>
      <p:sp>
        <p:nvSpPr>
          <p:cNvPr id="48135" name="Text Box 7"/>
          <p:cNvSpPr txBox="1">
            <a:spLocks noChangeArrowheads="1"/>
          </p:cNvSpPr>
          <p:nvPr/>
        </p:nvSpPr>
        <p:spPr bwMode="auto">
          <a:xfrm>
            <a:off x="1868163" y="5587776"/>
            <a:ext cx="5256212"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1" dirty="0">
                <a:solidFill>
                  <a:srgbClr val="000000"/>
                </a:solidFill>
                <a:latin typeface="楷体" panose="02010609060101010101" pitchFamily="49" charset="-122"/>
                <a:ea typeface="楷体" panose="02010609060101010101" pitchFamily="49" charset="-122"/>
              </a:rPr>
              <a:t>思考</a:t>
            </a:r>
            <a:r>
              <a:rPr lang="en-US" altLang="zh-CN" b="1" dirty="0">
                <a:solidFill>
                  <a:srgbClr val="000000"/>
                </a:solidFill>
                <a:latin typeface="楷体" panose="02010609060101010101" pitchFamily="49" charset="-122"/>
                <a:ea typeface="楷体" panose="02010609060101010101" pitchFamily="49" charset="-122"/>
              </a:rPr>
              <a:t>:</a:t>
            </a:r>
            <a:r>
              <a:rPr lang="zh-CN" altLang="en-US" b="1" dirty="0">
                <a:solidFill>
                  <a:srgbClr val="000000"/>
                </a:solidFill>
                <a:latin typeface="楷体" panose="02010609060101010101" pitchFamily="49" charset="-122"/>
                <a:ea typeface="楷体" panose="02010609060101010101" pitchFamily="49" charset="-122"/>
              </a:rPr>
              <a:t>空间矢量还是平面内的代数量</a:t>
            </a:r>
            <a:r>
              <a:rPr lang="en-US" altLang="zh-CN" b="1" dirty="0">
                <a:solidFill>
                  <a:srgbClr val="000000"/>
                </a:solidFill>
                <a:latin typeface="楷体" panose="02010609060101010101" pitchFamily="49" charset="-122"/>
                <a:ea typeface="楷体" panose="02010609060101010101" pitchFamily="49" charset="-122"/>
              </a:rPr>
              <a:t>?</a:t>
            </a:r>
          </a:p>
        </p:txBody>
      </p:sp>
      <p:pic>
        <p:nvPicPr>
          <p:cNvPr id="48136" name="J3力对点的矩a.avi">
            <a:hlinkClick r:id="" action="ppaction://media"/>
          </p:cNvPr>
          <p:cNvPicPr>
            <a:picLocks noRot="1" noChangeAspect="1" noChangeArrowheads="1"/>
          </p:cNvPicPr>
          <p:nvPr>
            <a:videoFile r:link="rId2"/>
          </p:nvPr>
        </p:nvPicPr>
        <p:blipFill>
          <a:blip r:embed="rId4">
            <a:extLst>
              <a:ext uri="{28A0092B-C50C-407E-A947-70E740481C1C}">
                <a14:useLocalDpi xmlns:a14="http://schemas.microsoft.com/office/drawing/2010/main" val="0"/>
              </a:ext>
            </a:extLst>
          </a:blip>
          <a:srcRect/>
          <a:stretch>
            <a:fillRect/>
          </a:stretch>
        </p:blipFill>
        <p:spPr bwMode="auto">
          <a:xfrm>
            <a:off x="1235519" y="1946088"/>
            <a:ext cx="3342729" cy="2507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9"/>
          <p:cNvGrpSpPr>
            <a:grpSpLocks/>
          </p:cNvGrpSpPr>
          <p:nvPr/>
        </p:nvGrpSpPr>
        <p:grpSpPr bwMode="auto">
          <a:xfrm>
            <a:off x="4797425" y="2034874"/>
            <a:ext cx="2547937" cy="2244725"/>
            <a:chOff x="1706" y="1382"/>
            <a:chExt cx="1605" cy="1414"/>
          </a:xfrm>
        </p:grpSpPr>
        <p:sp>
          <p:nvSpPr>
            <p:cNvPr id="6152" name="Line 10"/>
            <p:cNvSpPr>
              <a:spLocks noChangeShapeType="1"/>
            </p:cNvSpPr>
            <p:nvPr/>
          </p:nvSpPr>
          <p:spPr bwMode="auto">
            <a:xfrm flipV="1">
              <a:off x="2458" y="1478"/>
              <a:ext cx="672" cy="1152"/>
            </a:xfrm>
            <a:prstGeom prst="line">
              <a:avLst/>
            </a:prstGeom>
            <a:noFill/>
            <a:ln w="31750">
              <a:solidFill>
                <a:srgbClr val="FF0000"/>
              </a:solidFill>
              <a:round/>
              <a:headEnd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3" name="Line 11"/>
            <p:cNvSpPr>
              <a:spLocks noChangeShapeType="1"/>
            </p:cNvSpPr>
            <p:nvPr/>
          </p:nvSpPr>
          <p:spPr bwMode="auto">
            <a:xfrm rot="5400000" flipV="1">
              <a:off x="2035" y="1770"/>
              <a:ext cx="438" cy="725"/>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4" name="Line 12"/>
            <p:cNvSpPr>
              <a:spLocks noChangeShapeType="1"/>
            </p:cNvSpPr>
            <p:nvPr/>
          </p:nvSpPr>
          <p:spPr bwMode="auto">
            <a:xfrm>
              <a:off x="1882" y="1910"/>
              <a:ext cx="576" cy="720"/>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5" name="Line 13"/>
            <p:cNvSpPr>
              <a:spLocks noChangeShapeType="1"/>
            </p:cNvSpPr>
            <p:nvPr/>
          </p:nvSpPr>
          <p:spPr bwMode="auto">
            <a:xfrm flipV="1">
              <a:off x="1882" y="1478"/>
              <a:ext cx="1248" cy="432"/>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Text Box 14"/>
            <p:cNvSpPr txBox="1">
              <a:spLocks noChangeArrowheads="1"/>
            </p:cNvSpPr>
            <p:nvPr/>
          </p:nvSpPr>
          <p:spPr bwMode="auto">
            <a:xfrm>
              <a:off x="1706" y="1743"/>
              <a:ext cx="20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1600" b="1" i="1">
                  <a:ea typeface="楷体_GB2312" pitchFamily="49" charset="-122"/>
                </a:rPr>
                <a:t>O</a:t>
              </a:r>
              <a:endParaRPr lang="en-US" altLang="zh-CN" sz="1600" b="1" i="1">
                <a:latin typeface="楷体_GB2312" pitchFamily="49" charset="-122"/>
                <a:ea typeface="楷体_GB2312" pitchFamily="49" charset="-122"/>
              </a:endParaRPr>
            </a:p>
          </p:txBody>
        </p:sp>
        <p:sp>
          <p:nvSpPr>
            <p:cNvPr id="6157" name="Text Box 15"/>
            <p:cNvSpPr txBox="1">
              <a:spLocks noChangeArrowheads="1"/>
            </p:cNvSpPr>
            <p:nvPr/>
          </p:nvSpPr>
          <p:spPr bwMode="auto">
            <a:xfrm>
              <a:off x="2454" y="2530"/>
              <a:ext cx="20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1600" b="1" i="1">
                  <a:ea typeface="楷体_GB2312" pitchFamily="49" charset="-122"/>
                </a:rPr>
                <a:t>A</a:t>
              </a:r>
              <a:endParaRPr lang="en-US" altLang="zh-CN" sz="1600" b="1" i="1">
                <a:latin typeface="楷体_GB2312" pitchFamily="49" charset="-122"/>
                <a:ea typeface="楷体_GB2312" pitchFamily="49" charset="-122"/>
              </a:endParaRPr>
            </a:p>
          </p:txBody>
        </p:sp>
        <p:sp>
          <p:nvSpPr>
            <p:cNvPr id="6158" name="Text Box 16"/>
            <p:cNvSpPr txBox="1">
              <a:spLocks noChangeArrowheads="1"/>
            </p:cNvSpPr>
            <p:nvPr/>
          </p:nvSpPr>
          <p:spPr bwMode="auto">
            <a:xfrm>
              <a:off x="2269" y="1937"/>
              <a:ext cx="19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1800" b="1" i="1" dirty="0">
                  <a:ea typeface="楷体_GB2312" pitchFamily="49" charset="-122"/>
                </a:rPr>
                <a:t>h</a:t>
              </a:r>
              <a:endParaRPr lang="en-US" altLang="zh-CN" sz="1800" b="1" i="1" dirty="0">
                <a:latin typeface="楷体_GB2312" pitchFamily="49" charset="-122"/>
                <a:ea typeface="楷体_GB2312" pitchFamily="49" charset="-122"/>
              </a:endParaRPr>
            </a:p>
          </p:txBody>
        </p:sp>
        <p:sp>
          <p:nvSpPr>
            <p:cNvPr id="6159" name="Text Box 17"/>
            <p:cNvSpPr txBox="1">
              <a:spLocks noChangeArrowheads="1"/>
            </p:cNvSpPr>
            <p:nvPr/>
          </p:nvSpPr>
          <p:spPr bwMode="auto">
            <a:xfrm>
              <a:off x="3110" y="1382"/>
              <a:ext cx="20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1600" b="1" i="1">
                  <a:ea typeface="楷体_GB2312" pitchFamily="49" charset="-122"/>
                </a:rPr>
                <a:t>B</a:t>
              </a:r>
              <a:endParaRPr lang="en-US" altLang="zh-CN" sz="1600" b="1" i="1">
                <a:latin typeface="楷体_GB2312" pitchFamily="49" charset="-122"/>
                <a:ea typeface="楷体_GB2312" pitchFamily="49" charset="-122"/>
              </a:endParaRPr>
            </a:p>
          </p:txBody>
        </p:sp>
        <p:sp>
          <p:nvSpPr>
            <p:cNvPr id="6160" name="Line 18"/>
            <p:cNvSpPr>
              <a:spLocks noChangeShapeType="1"/>
            </p:cNvSpPr>
            <p:nvPr/>
          </p:nvSpPr>
          <p:spPr bwMode="auto">
            <a:xfrm flipV="1">
              <a:off x="2542" y="2228"/>
              <a:ext cx="41" cy="79"/>
            </a:xfrm>
            <a:prstGeom prst="line">
              <a:avLst/>
            </a:prstGeom>
            <a:noFill/>
            <a:ln w="127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1" name="Line 19"/>
            <p:cNvSpPr>
              <a:spLocks noChangeShapeType="1"/>
            </p:cNvSpPr>
            <p:nvPr/>
          </p:nvSpPr>
          <p:spPr bwMode="auto">
            <a:xfrm>
              <a:off x="2583" y="2231"/>
              <a:ext cx="72" cy="41"/>
            </a:xfrm>
            <a:prstGeom prst="line">
              <a:avLst/>
            </a:prstGeom>
            <a:noFill/>
            <a:ln w="127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2" name="Text Box 20"/>
            <p:cNvSpPr txBox="1">
              <a:spLocks noChangeArrowheads="1"/>
            </p:cNvSpPr>
            <p:nvPr/>
          </p:nvSpPr>
          <p:spPr bwMode="auto">
            <a:xfrm>
              <a:off x="2777" y="1991"/>
              <a:ext cx="2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5000"/>
                </a:lnSpc>
              </a:pPr>
              <a:r>
                <a:rPr lang="en-US" altLang="zh-CN" sz="2000" b="1" i="1">
                  <a:ea typeface="楷体_GB2312" pitchFamily="49" charset="-122"/>
                </a:rPr>
                <a:t>F</a:t>
              </a:r>
              <a:endParaRPr lang="en-US" altLang="zh-CN" sz="2000" b="1" i="1">
                <a:latin typeface="楷体_GB2312" pitchFamily="49" charset="-122"/>
                <a:ea typeface="楷体_GB2312" pitchFamily="49" charset="-122"/>
              </a:endParaRPr>
            </a:p>
          </p:txBody>
        </p:sp>
      </p:grpSp>
      <p:sp>
        <p:nvSpPr>
          <p:cNvPr id="19" name="Text Box 3"/>
          <p:cNvSpPr txBox="1">
            <a:spLocks noChangeArrowheads="1"/>
          </p:cNvSpPr>
          <p:nvPr/>
        </p:nvSpPr>
        <p:spPr bwMode="auto">
          <a:xfrm>
            <a:off x="791529" y="545279"/>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1</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力对点之矩</a:t>
            </a:r>
          </a:p>
        </p:txBody>
      </p:sp>
      <p:graphicFrame>
        <p:nvGraphicFramePr>
          <p:cNvPr id="20" name="Object 1026"/>
          <p:cNvGraphicFramePr>
            <a:graphicFrameLocks noChangeAspect="1"/>
          </p:cNvGraphicFramePr>
          <p:nvPr>
            <p:extLst>
              <p:ext uri="{D42A27DB-BD31-4B8C-83A1-F6EECF244321}">
                <p14:modId xmlns:p14="http://schemas.microsoft.com/office/powerpoint/2010/main" val="3542049487"/>
              </p:ext>
            </p:extLst>
          </p:nvPr>
        </p:nvGraphicFramePr>
        <p:xfrm>
          <a:off x="1835696" y="4858249"/>
          <a:ext cx="2219124" cy="540922"/>
        </p:xfrm>
        <a:graphic>
          <a:graphicData uri="http://schemas.openxmlformats.org/presentationml/2006/ole">
            <mc:AlternateContent xmlns:mc="http://schemas.openxmlformats.org/markup-compatibility/2006">
              <mc:Choice xmlns:v="urn:schemas-microsoft-com:vml" Requires="v">
                <p:oleObj spid="_x0000_s4102" name="Equation" r:id="rId5" imgW="939800" imgH="228600" progId="Equation.DSMT4">
                  <p:embed/>
                </p:oleObj>
              </mc:Choice>
              <mc:Fallback>
                <p:oleObj name="Equation" r:id="rId5" imgW="9398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696" y="4858249"/>
                        <a:ext cx="2219124" cy="540922"/>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8136"/>
                                        </p:tgtEl>
                                        <p:attrNameLst>
                                          <p:attrName>style.visibility</p:attrName>
                                        </p:attrNameLst>
                                      </p:cBhvr>
                                      <p:to>
                                        <p:strVal val="visible"/>
                                      </p:to>
                                    </p:set>
                                    <p:animEffect transition="in" filter="checkerboard(across)">
                                      <p:cBhvr>
                                        <p:cTn id="7" dur="500"/>
                                        <p:tgtEl>
                                          <p:spTgt spid="481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ox(ou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8134"/>
                                        </p:tgtEl>
                                        <p:attrNameLst>
                                          <p:attrName>style.visibility</p:attrName>
                                        </p:attrNameLst>
                                      </p:cBhvr>
                                      <p:to>
                                        <p:strVal val="visible"/>
                                      </p:to>
                                    </p:set>
                                    <p:animEffect transition="in" filter="box(out)">
                                      <p:cBhvr>
                                        <p:cTn id="22" dur="500"/>
                                        <p:tgtEl>
                                          <p:spTgt spid="4813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8135"/>
                                        </p:tgtEl>
                                        <p:attrNameLst>
                                          <p:attrName>style.visibility</p:attrName>
                                        </p:attrNameLst>
                                      </p:cBhvr>
                                      <p:to>
                                        <p:strVal val="visible"/>
                                      </p:to>
                                    </p:set>
                                    <p:anim calcmode="lin" valueType="num">
                                      <p:cBhvr additive="base">
                                        <p:cTn id="27" dur="500" fill="hold"/>
                                        <p:tgtEl>
                                          <p:spTgt spid="48135"/>
                                        </p:tgtEl>
                                        <p:attrNameLst>
                                          <p:attrName>ppt_x</p:attrName>
                                        </p:attrNameLst>
                                      </p:cBhvr>
                                      <p:tavLst>
                                        <p:tav tm="0">
                                          <p:val>
                                            <p:strVal val="#ppt_x"/>
                                          </p:val>
                                        </p:tav>
                                        <p:tav tm="100000">
                                          <p:val>
                                            <p:strVal val="#ppt_x"/>
                                          </p:val>
                                        </p:tav>
                                      </p:tavLst>
                                    </p:anim>
                                    <p:anim calcmode="lin" valueType="num">
                                      <p:cBhvr additive="base">
                                        <p:cTn id="28" dur="500" fill="hold"/>
                                        <p:tgtEl>
                                          <p:spTgt spid="481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p:cTn id="29" fill="hold" display="0">
                  <p:stCondLst>
                    <p:cond delay="indefinite"/>
                  </p:stCondLst>
                  <p:endCondLst>
                    <p:cond evt="onNext" delay="0">
                      <p:tgtEl>
                        <p:sldTgt/>
                      </p:tgtEl>
                    </p:cond>
                    <p:cond evt="onPrev" delay="0">
                      <p:tgtEl>
                        <p:sldTgt/>
                      </p:tgtEl>
                    </p:cond>
                  </p:endCondLst>
                </p:cTn>
                <p:tgtEl>
                  <p:spTgt spid="48136"/>
                </p:tgtEl>
              </p:cMediaNode>
            </p:video>
          </p:childTnLst>
        </p:cTn>
      </p:par>
    </p:tnLst>
    <p:bldLst>
      <p:bldP spid="48134" grpId="0" autoUpdateAnimBg="0"/>
      <p:bldP spid="48135"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Oval 4"/>
          <p:cNvSpPr>
            <a:spLocks noChangeArrowheads="1"/>
          </p:cNvSpPr>
          <p:nvPr/>
        </p:nvSpPr>
        <p:spPr bwMode="auto">
          <a:xfrm>
            <a:off x="791529" y="1157139"/>
            <a:ext cx="2448793" cy="720055"/>
          </a:xfrm>
          <a:prstGeom prst="ellipse">
            <a:avLst/>
          </a:prstGeom>
          <a:solidFill>
            <a:srgbClr val="FFFF00"/>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latin typeface="黑体" panose="02010609060101010101" pitchFamily="49" charset="-122"/>
                <a:ea typeface="黑体" panose="02010609060101010101" pitchFamily="49" charset="-122"/>
              </a:rPr>
              <a:t>合力矩定理</a:t>
            </a:r>
          </a:p>
        </p:txBody>
      </p:sp>
      <p:sp>
        <p:nvSpPr>
          <p:cNvPr id="25605" name="Text Box 5"/>
          <p:cNvSpPr txBox="1">
            <a:spLocks noChangeArrowheads="1"/>
          </p:cNvSpPr>
          <p:nvPr/>
        </p:nvSpPr>
        <p:spPr bwMode="auto">
          <a:xfrm>
            <a:off x="866602" y="1906721"/>
            <a:ext cx="684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黑体" panose="02010609060101010101" pitchFamily="49" charset="-122"/>
                <a:ea typeface="黑体" panose="02010609060101010101" pitchFamily="49" charset="-122"/>
              </a:rPr>
              <a:t>合力对任一点之矩等于各分力对该点之矩的和。</a:t>
            </a:r>
          </a:p>
        </p:txBody>
      </p:sp>
      <p:grpSp>
        <p:nvGrpSpPr>
          <p:cNvPr id="2" name="Group 6"/>
          <p:cNvGrpSpPr>
            <a:grpSpLocks/>
          </p:cNvGrpSpPr>
          <p:nvPr/>
        </p:nvGrpSpPr>
        <p:grpSpPr bwMode="auto">
          <a:xfrm>
            <a:off x="6477722" y="3861311"/>
            <a:ext cx="1562100" cy="2851150"/>
            <a:chOff x="4565" y="1756"/>
            <a:chExt cx="984" cy="1796"/>
          </a:xfrm>
        </p:grpSpPr>
        <p:sp>
          <p:nvSpPr>
            <p:cNvPr id="7195" name="Freeform 7"/>
            <p:cNvSpPr>
              <a:spLocks/>
            </p:cNvSpPr>
            <p:nvPr/>
          </p:nvSpPr>
          <p:spPr bwMode="auto">
            <a:xfrm rot="-1200000">
              <a:off x="4565" y="1756"/>
              <a:ext cx="984" cy="1796"/>
            </a:xfrm>
            <a:custGeom>
              <a:avLst/>
              <a:gdLst>
                <a:gd name="T0" fmla="*/ 624 w 984"/>
                <a:gd name="T1" fmla="*/ 536 h 888"/>
                <a:gd name="T2" fmla="*/ 192 w 984"/>
                <a:gd name="T3" fmla="*/ 3829 h 888"/>
                <a:gd name="T4" fmla="*/ 0 w 984"/>
                <a:gd name="T5" fmla="*/ 23562 h 888"/>
                <a:gd name="T6" fmla="*/ 192 w 984"/>
                <a:gd name="T7" fmla="*/ 49815 h 888"/>
                <a:gd name="T8" fmla="*/ 576 w 984"/>
                <a:gd name="T9" fmla="*/ 59703 h 888"/>
                <a:gd name="T10" fmla="*/ 864 w 984"/>
                <a:gd name="T11" fmla="*/ 43254 h 888"/>
                <a:gd name="T12" fmla="*/ 960 w 984"/>
                <a:gd name="T13" fmla="*/ 20262 h 888"/>
                <a:gd name="T14" fmla="*/ 720 w 984"/>
                <a:gd name="T15" fmla="*/ 3829 h 888"/>
                <a:gd name="T16" fmla="*/ 624 w 984"/>
                <a:gd name="T17" fmla="*/ 536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solidFill>
              <a:srgbClr val="DDDDDD"/>
            </a:solidFill>
            <a:ln w="22225">
              <a:solidFill>
                <a:srgbClr val="808080"/>
              </a:solidFill>
              <a:miter lim="800000"/>
              <a:headEnd/>
              <a:tailEnd/>
            </a:ln>
          </p:spPr>
          <p:txBody>
            <a:bodyPr wrap="none"/>
            <a:lstStyle/>
            <a:p>
              <a:endParaRPr lang="zh-CN" altLang="en-US"/>
            </a:p>
          </p:txBody>
        </p:sp>
        <p:sp>
          <p:nvSpPr>
            <p:cNvPr id="7196" name="Oval 8"/>
            <p:cNvSpPr>
              <a:spLocks noChangeArrowheads="1"/>
            </p:cNvSpPr>
            <p:nvPr/>
          </p:nvSpPr>
          <p:spPr bwMode="auto">
            <a:xfrm>
              <a:off x="4754" y="1953"/>
              <a:ext cx="45" cy="45"/>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9"/>
          <p:cNvGrpSpPr>
            <a:grpSpLocks/>
          </p:cNvGrpSpPr>
          <p:nvPr/>
        </p:nvGrpSpPr>
        <p:grpSpPr bwMode="auto">
          <a:xfrm>
            <a:off x="5964959" y="3504123"/>
            <a:ext cx="2135188" cy="2406650"/>
            <a:chOff x="4223" y="1530"/>
            <a:chExt cx="1345" cy="1516"/>
          </a:xfrm>
        </p:grpSpPr>
        <p:sp>
          <p:nvSpPr>
            <p:cNvPr id="7185" name="Text Box 10"/>
            <p:cNvSpPr txBox="1">
              <a:spLocks noChangeArrowheads="1"/>
            </p:cNvSpPr>
            <p:nvPr/>
          </p:nvSpPr>
          <p:spPr bwMode="auto">
            <a:xfrm>
              <a:off x="4512" y="1863"/>
              <a:ext cx="2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dirty="0"/>
                <a:t>A</a:t>
              </a:r>
            </a:p>
          </p:txBody>
        </p:sp>
        <p:grpSp>
          <p:nvGrpSpPr>
            <p:cNvPr id="7186" name="Group 11"/>
            <p:cNvGrpSpPr>
              <a:grpSpLocks/>
            </p:cNvGrpSpPr>
            <p:nvPr/>
          </p:nvGrpSpPr>
          <p:grpSpPr bwMode="auto">
            <a:xfrm>
              <a:off x="4223" y="1530"/>
              <a:ext cx="1345" cy="1516"/>
              <a:chOff x="1260" y="1974"/>
              <a:chExt cx="1345" cy="1516"/>
            </a:xfrm>
          </p:grpSpPr>
          <p:sp>
            <p:nvSpPr>
              <p:cNvPr id="7187" name="AutoShape 12"/>
              <p:cNvSpPr>
                <a:spLocks noChangeArrowheads="1"/>
              </p:cNvSpPr>
              <p:nvPr/>
            </p:nvSpPr>
            <p:spPr bwMode="auto">
              <a:xfrm>
                <a:off x="1824" y="2388"/>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8" name="AutoShape 13"/>
              <p:cNvSpPr>
                <a:spLocks noChangeArrowheads="1"/>
              </p:cNvSpPr>
              <p:nvPr/>
            </p:nvSpPr>
            <p:spPr bwMode="auto">
              <a:xfrm rot="1200000">
                <a:off x="1794" y="2487"/>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9" name="AutoShape 14"/>
              <p:cNvSpPr>
                <a:spLocks noChangeArrowheads="1"/>
              </p:cNvSpPr>
              <p:nvPr/>
            </p:nvSpPr>
            <p:spPr bwMode="auto">
              <a:xfrm rot="-7800000">
                <a:off x="1407" y="2190"/>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90" name="Text Box 15"/>
              <p:cNvSpPr txBox="1">
                <a:spLocks noChangeArrowheads="1"/>
              </p:cNvSpPr>
              <p:nvPr/>
            </p:nvSpPr>
            <p:spPr bwMode="auto">
              <a:xfrm>
                <a:off x="1310" y="2086"/>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dirty="0"/>
                  <a:t>F</a:t>
                </a:r>
                <a:r>
                  <a:rPr lang="en-US" altLang="zh-CN" sz="1800" baseline="-25000" dirty="0"/>
                  <a:t>1</a:t>
                </a:r>
                <a:endParaRPr lang="en-US" altLang="zh-CN" sz="1800" dirty="0"/>
              </a:p>
            </p:txBody>
          </p:sp>
          <p:sp>
            <p:nvSpPr>
              <p:cNvPr id="7191" name="Text Box 16"/>
              <p:cNvSpPr txBox="1">
                <a:spLocks noChangeArrowheads="1"/>
              </p:cNvSpPr>
              <p:nvPr/>
            </p:nvSpPr>
            <p:spPr bwMode="auto">
              <a:xfrm>
                <a:off x="2307" y="2256"/>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t>F</a:t>
                </a:r>
                <a:r>
                  <a:rPr lang="en-US" altLang="zh-CN" sz="1800" baseline="-25000"/>
                  <a:t>2</a:t>
                </a:r>
                <a:endParaRPr lang="en-US" altLang="zh-CN" sz="1800"/>
              </a:p>
            </p:txBody>
          </p:sp>
          <p:sp>
            <p:nvSpPr>
              <p:cNvPr id="7192" name="Text Box 17"/>
              <p:cNvSpPr txBox="1">
                <a:spLocks noChangeArrowheads="1"/>
              </p:cNvSpPr>
              <p:nvPr/>
            </p:nvSpPr>
            <p:spPr bwMode="auto">
              <a:xfrm>
                <a:off x="2214" y="2523"/>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t>F</a:t>
                </a:r>
                <a:r>
                  <a:rPr lang="en-US" altLang="zh-CN" sz="1800" baseline="-25000"/>
                  <a:t>3</a:t>
                </a:r>
                <a:endParaRPr lang="en-US" altLang="zh-CN" sz="1800"/>
              </a:p>
            </p:txBody>
          </p:sp>
          <p:sp>
            <p:nvSpPr>
              <p:cNvPr id="7193" name="Text Box 18"/>
              <p:cNvSpPr txBox="1">
                <a:spLocks noChangeArrowheads="1"/>
              </p:cNvSpPr>
              <p:nvPr/>
            </p:nvSpPr>
            <p:spPr bwMode="auto">
              <a:xfrm>
                <a:off x="1260" y="2769"/>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dirty="0" err="1"/>
                  <a:t>F</a:t>
                </a:r>
                <a:r>
                  <a:rPr lang="en-US" altLang="zh-CN" sz="1800" b="1" i="1" baseline="-25000" dirty="0" err="1"/>
                  <a:t>n</a:t>
                </a:r>
                <a:endParaRPr lang="en-US" altLang="zh-CN" sz="1800" b="1" i="1" dirty="0"/>
              </a:p>
            </p:txBody>
          </p:sp>
          <p:sp>
            <p:nvSpPr>
              <p:cNvPr id="7194" name="AutoShape 19"/>
              <p:cNvSpPr>
                <a:spLocks noChangeArrowheads="1"/>
              </p:cNvSpPr>
              <p:nvPr/>
            </p:nvSpPr>
            <p:spPr bwMode="auto">
              <a:xfrm rot="7200000">
                <a:off x="943" y="2897"/>
                <a:ext cx="1138" cy="48"/>
              </a:xfrm>
              <a:prstGeom prst="rightArrow">
                <a:avLst>
                  <a:gd name="adj1" fmla="val 50000"/>
                  <a:gd name="adj2" fmla="val 592708"/>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5" name="Group 20"/>
          <p:cNvGrpSpPr>
            <a:grpSpLocks/>
          </p:cNvGrpSpPr>
          <p:nvPr/>
        </p:nvGrpSpPr>
        <p:grpSpPr bwMode="auto">
          <a:xfrm>
            <a:off x="6815859" y="4212149"/>
            <a:ext cx="1057275" cy="2212976"/>
            <a:chOff x="4779" y="1968"/>
            <a:chExt cx="666" cy="1394"/>
          </a:xfrm>
        </p:grpSpPr>
        <p:sp>
          <p:nvSpPr>
            <p:cNvPr id="7181" name="Line 21"/>
            <p:cNvSpPr>
              <a:spLocks noChangeShapeType="1"/>
            </p:cNvSpPr>
            <p:nvPr/>
          </p:nvSpPr>
          <p:spPr bwMode="auto">
            <a:xfrm>
              <a:off x="4779" y="1968"/>
              <a:ext cx="624" cy="1248"/>
            </a:xfrm>
            <a:prstGeom prst="line">
              <a:avLst/>
            </a:prstGeom>
            <a:noFill/>
            <a:ln w="22225">
              <a:solidFill>
                <a:srgbClr val="FF0000"/>
              </a:solidFill>
              <a:miter lim="800000"/>
              <a:headEnd type="triangle" w="sm"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82" name="Oval 22"/>
            <p:cNvSpPr>
              <a:spLocks noChangeArrowheads="1"/>
            </p:cNvSpPr>
            <p:nvPr/>
          </p:nvSpPr>
          <p:spPr bwMode="auto">
            <a:xfrm>
              <a:off x="5375" y="3210"/>
              <a:ext cx="70" cy="70"/>
            </a:xfrm>
            <a:prstGeom prst="ellipse">
              <a:avLst/>
            </a:prstGeom>
            <a:solidFill>
              <a:srgbClr val="C0C0C0"/>
            </a:solidFill>
            <a:ln w="15875">
              <a:solidFill>
                <a:srgbClr val="C81204"/>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3" name="Text Box 23"/>
            <p:cNvSpPr txBox="1">
              <a:spLocks noChangeArrowheads="1"/>
            </p:cNvSpPr>
            <p:nvPr/>
          </p:nvSpPr>
          <p:spPr bwMode="auto">
            <a:xfrm>
              <a:off x="5184" y="3168"/>
              <a:ext cx="19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dirty="0">
                  <a:solidFill>
                    <a:srgbClr val="C81204"/>
                  </a:solidFill>
                  <a:latin typeface="+mn-lt"/>
                </a:rPr>
                <a:t>O</a:t>
              </a:r>
            </a:p>
          </p:txBody>
        </p:sp>
        <p:sp>
          <p:nvSpPr>
            <p:cNvPr id="7184" name="Text Box 24"/>
            <p:cNvSpPr txBox="1">
              <a:spLocks noChangeArrowheads="1"/>
            </p:cNvSpPr>
            <p:nvPr/>
          </p:nvSpPr>
          <p:spPr bwMode="auto">
            <a:xfrm>
              <a:off x="5232" y="2640"/>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solidFill>
                    <a:srgbClr val="C81204"/>
                  </a:solidFill>
                </a:rPr>
                <a:t>r</a:t>
              </a:r>
            </a:p>
          </p:txBody>
        </p:sp>
      </p:grpSp>
      <p:grpSp>
        <p:nvGrpSpPr>
          <p:cNvPr id="6" name="Group 25"/>
          <p:cNvGrpSpPr>
            <a:grpSpLocks/>
          </p:cNvGrpSpPr>
          <p:nvPr/>
        </p:nvGrpSpPr>
        <p:grpSpPr bwMode="auto">
          <a:xfrm>
            <a:off x="6452322" y="4216911"/>
            <a:ext cx="457200" cy="1173162"/>
            <a:chOff x="1584" y="2172"/>
            <a:chExt cx="288" cy="739"/>
          </a:xfrm>
        </p:grpSpPr>
        <p:sp>
          <p:nvSpPr>
            <p:cNvPr id="7179" name="AutoShape 26"/>
            <p:cNvSpPr>
              <a:spLocks noChangeArrowheads="1"/>
            </p:cNvSpPr>
            <p:nvPr/>
          </p:nvSpPr>
          <p:spPr bwMode="auto">
            <a:xfrm rot="21300000" flipV="1">
              <a:off x="1824" y="2172"/>
              <a:ext cx="48" cy="739"/>
            </a:xfrm>
            <a:prstGeom prst="upArrow">
              <a:avLst>
                <a:gd name="adj1" fmla="val 50000"/>
                <a:gd name="adj2" fmla="val 384896"/>
              </a:avLst>
            </a:prstGeom>
            <a:solidFill>
              <a:srgbClr val="FF6600"/>
            </a:solidFill>
            <a:ln w="9525">
              <a:solidFill>
                <a:srgbClr val="993300"/>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80" name="Text Box 27"/>
            <p:cNvSpPr txBox="1">
              <a:spLocks noChangeArrowheads="1"/>
            </p:cNvSpPr>
            <p:nvPr/>
          </p:nvSpPr>
          <p:spPr bwMode="auto">
            <a:xfrm>
              <a:off x="1584" y="2676"/>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C81204"/>
                  </a:solidFill>
                </a:rPr>
                <a:t>F</a:t>
              </a:r>
              <a:r>
                <a:rPr lang="en-US" altLang="zh-CN" sz="1800" b="1" i="1" baseline="-25000" dirty="0">
                  <a:solidFill>
                    <a:srgbClr val="C81204"/>
                  </a:solidFill>
                </a:rPr>
                <a:t>R</a:t>
              </a:r>
              <a:endParaRPr lang="en-US" altLang="zh-CN" sz="1800" b="1" i="1" dirty="0">
                <a:solidFill>
                  <a:srgbClr val="C81204"/>
                </a:solidFill>
              </a:endParaRPr>
            </a:p>
          </p:txBody>
        </p:sp>
      </p:grpSp>
      <p:sp>
        <p:nvSpPr>
          <p:cNvPr id="25629" name="AutoShape 29"/>
          <p:cNvSpPr>
            <a:spLocks noChangeArrowheads="1"/>
          </p:cNvSpPr>
          <p:nvPr/>
        </p:nvSpPr>
        <p:spPr bwMode="auto">
          <a:xfrm>
            <a:off x="988380" y="3563977"/>
            <a:ext cx="2630483" cy="1224490"/>
          </a:xfrm>
          <a:prstGeom prst="cloudCallout">
            <a:avLst>
              <a:gd name="adj1" fmla="val -42634"/>
              <a:gd name="adj2" fmla="val 98634"/>
            </a:avLst>
          </a:prstGeom>
          <a:noFill/>
          <a:ln w="9525">
            <a:solidFill>
              <a:srgbClr val="FF0000"/>
            </a:solidFill>
            <a:round/>
            <a:headEnd/>
            <a:tailEnd type="none" w="sm" len="sm"/>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dirty="0">
                <a:solidFill>
                  <a:srgbClr val="C81204"/>
                </a:solidFill>
                <a:latin typeface="Tahoma" panose="020B0604030504040204" pitchFamily="34" charset="0"/>
              </a:rPr>
              <a:t> </a:t>
            </a:r>
            <a:r>
              <a:rPr lang="zh-CN" altLang="en-US" b="1" dirty="0">
                <a:solidFill>
                  <a:srgbClr val="C81204"/>
                </a:solidFill>
                <a:latin typeface="幼圆" panose="02010509060101010101" pitchFamily="49" charset="-122"/>
                <a:ea typeface="幼圆" panose="02010509060101010101" pitchFamily="49" charset="-122"/>
              </a:rPr>
              <a:t>矢量和</a:t>
            </a:r>
            <a:r>
              <a:rPr lang="en-US" altLang="zh-CN" b="1" dirty="0">
                <a:solidFill>
                  <a:srgbClr val="C81204"/>
                </a:solidFill>
                <a:latin typeface="幼圆" panose="02010509060101010101" pitchFamily="49" charset="-122"/>
                <a:ea typeface="幼圆" panose="02010509060101010101" pitchFamily="49" charset="-122"/>
              </a:rPr>
              <a:t>?</a:t>
            </a:r>
          </a:p>
          <a:p>
            <a:pPr algn="ctr" eaLnBrk="1" hangingPunct="1"/>
            <a:r>
              <a:rPr lang="zh-CN" altLang="en-US" b="1" dirty="0">
                <a:solidFill>
                  <a:srgbClr val="C81204"/>
                </a:solidFill>
                <a:latin typeface="幼圆" panose="02010509060101010101" pitchFamily="49" charset="-122"/>
                <a:ea typeface="幼圆" panose="02010509060101010101" pitchFamily="49" charset="-122"/>
              </a:rPr>
              <a:t>代数和</a:t>
            </a:r>
            <a:r>
              <a:rPr lang="en-US" altLang="zh-CN" b="1" dirty="0">
                <a:solidFill>
                  <a:srgbClr val="C81204"/>
                </a:solidFill>
                <a:latin typeface="幼圆" panose="02010509060101010101" pitchFamily="49" charset="-122"/>
                <a:ea typeface="幼圆" panose="02010509060101010101" pitchFamily="49" charset="-122"/>
              </a:rPr>
              <a:t>?</a:t>
            </a:r>
            <a:endParaRPr lang="en-US" altLang="zh-CN" b="1" dirty="0">
              <a:latin typeface="幼圆" panose="02010509060101010101" pitchFamily="49" charset="-122"/>
              <a:ea typeface="幼圆" panose="02010509060101010101" pitchFamily="49" charset="-122"/>
            </a:endParaRPr>
          </a:p>
        </p:txBody>
      </p:sp>
      <p:graphicFrame>
        <p:nvGraphicFramePr>
          <p:cNvPr id="25630" name="Object 30"/>
          <p:cNvGraphicFramePr>
            <a:graphicFrameLocks noChangeAspect="1"/>
          </p:cNvGraphicFramePr>
          <p:nvPr>
            <p:extLst>
              <p:ext uri="{D42A27DB-BD31-4B8C-83A1-F6EECF244321}">
                <p14:modId xmlns:p14="http://schemas.microsoft.com/office/powerpoint/2010/main" val="2633188245"/>
              </p:ext>
            </p:extLst>
          </p:nvPr>
        </p:nvGraphicFramePr>
        <p:xfrm>
          <a:off x="2050416" y="2442148"/>
          <a:ext cx="3530600" cy="455613"/>
        </p:xfrm>
        <a:graphic>
          <a:graphicData uri="http://schemas.openxmlformats.org/presentationml/2006/ole">
            <mc:AlternateContent xmlns:mc="http://schemas.openxmlformats.org/markup-compatibility/2006">
              <mc:Choice xmlns:v="urn:schemas-microsoft-com:vml" Requires="v">
                <p:oleObj spid="_x0000_s5130" name="Equation" r:id="rId3" imgW="1752600" imgH="228600" progId="Equation.3">
                  <p:embed/>
                </p:oleObj>
              </mc:Choice>
              <mc:Fallback>
                <p:oleObj name="Equation" r:id="rId3" imgW="1752600" imgH="228600" progId="Equation.3">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0416" y="2442148"/>
                        <a:ext cx="35306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Text Box 3"/>
          <p:cNvSpPr txBox="1">
            <a:spLocks noChangeArrowheads="1"/>
          </p:cNvSpPr>
          <p:nvPr/>
        </p:nvSpPr>
        <p:spPr bwMode="auto">
          <a:xfrm>
            <a:off x="791529" y="545279"/>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1</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力对点之矩</a:t>
            </a:r>
          </a:p>
        </p:txBody>
      </p:sp>
      <p:sp>
        <p:nvSpPr>
          <p:cNvPr id="30" name="Text Box 5"/>
          <p:cNvSpPr txBox="1">
            <a:spLocks noChangeArrowheads="1"/>
          </p:cNvSpPr>
          <p:nvPr/>
        </p:nvSpPr>
        <p:spPr bwMode="auto">
          <a:xfrm>
            <a:off x="3369275" y="1306831"/>
            <a:ext cx="192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伐里农定理</a:t>
            </a:r>
          </a:p>
        </p:txBody>
      </p:sp>
      <p:sp>
        <p:nvSpPr>
          <p:cNvPr id="31" name="AutoShape 29"/>
          <p:cNvSpPr>
            <a:spLocks noChangeArrowheads="1"/>
          </p:cNvSpPr>
          <p:nvPr/>
        </p:nvSpPr>
        <p:spPr bwMode="auto">
          <a:xfrm>
            <a:off x="3201005" y="4448706"/>
            <a:ext cx="2630483" cy="1224490"/>
          </a:xfrm>
          <a:prstGeom prst="cloudCallout">
            <a:avLst>
              <a:gd name="adj1" fmla="val -42634"/>
              <a:gd name="adj2" fmla="val 98634"/>
            </a:avLst>
          </a:prstGeom>
          <a:noFill/>
          <a:ln w="9525">
            <a:solidFill>
              <a:srgbClr val="FF0000"/>
            </a:solidFill>
            <a:round/>
            <a:headEnd/>
            <a:tailEnd type="none" w="sm" len="sm"/>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dirty="0">
                <a:solidFill>
                  <a:srgbClr val="C81204"/>
                </a:solidFill>
                <a:latin typeface="Tahoma" panose="020B0604030504040204" pitchFamily="34" charset="0"/>
              </a:rPr>
              <a:t> </a:t>
            </a:r>
            <a:r>
              <a:rPr lang="zh-CN" altLang="en-US" b="1" dirty="0">
                <a:solidFill>
                  <a:srgbClr val="C81204"/>
                </a:solidFill>
                <a:latin typeface="幼圆" panose="02010509060101010101" pitchFamily="49" charset="-122"/>
                <a:ea typeface="幼圆" panose="02010509060101010101" pitchFamily="49" charset="-122"/>
              </a:rPr>
              <a:t>对非共点力系成立？</a:t>
            </a:r>
            <a:endParaRPr lang="en-US" altLang="zh-CN" b="1" dirty="0">
              <a:latin typeface="幼圆" panose="02010509060101010101" pitchFamily="49" charset="-122"/>
              <a:ea typeface="幼圆" panose="02010509060101010101" pitchFamily="49" charset="-122"/>
            </a:endParaRPr>
          </a:p>
        </p:txBody>
      </p:sp>
      <p:graphicFrame>
        <p:nvGraphicFramePr>
          <p:cNvPr id="32" name="Object 2050"/>
          <p:cNvGraphicFramePr>
            <a:graphicFrameLocks noChangeAspect="1"/>
          </p:cNvGraphicFramePr>
          <p:nvPr>
            <p:extLst>
              <p:ext uri="{D42A27DB-BD31-4B8C-83A1-F6EECF244321}">
                <p14:modId xmlns:p14="http://schemas.microsoft.com/office/powerpoint/2010/main" val="1466677472"/>
              </p:ext>
            </p:extLst>
          </p:nvPr>
        </p:nvGraphicFramePr>
        <p:xfrm>
          <a:off x="984971" y="2918334"/>
          <a:ext cx="6637338" cy="447675"/>
        </p:xfrm>
        <a:graphic>
          <a:graphicData uri="http://schemas.openxmlformats.org/presentationml/2006/ole">
            <mc:AlternateContent xmlns:mc="http://schemas.openxmlformats.org/markup-compatibility/2006">
              <mc:Choice xmlns:v="urn:schemas-microsoft-com:vml" Requires="v">
                <p:oleObj spid="_x0000_s5131" name="Equation" r:id="rId5" imgW="3390840" imgH="228600" progId="Equation.DSMT4">
                  <p:embed/>
                </p:oleObj>
              </mc:Choice>
              <mc:Fallback>
                <p:oleObj name="Equation" r:id="rId5" imgW="3390840" imgH="228600" progId="Equation.DSMT4">
                  <p:embed/>
                  <p:pic>
                    <p:nvPicPr>
                      <p:cNvPr id="0" name=""/>
                      <p:cNvPicPr>
                        <a:picLocks noChangeAspect="1" noChangeArrowheads="1"/>
                      </p:cNvPicPr>
                      <p:nvPr/>
                    </p:nvPicPr>
                    <p:blipFill>
                      <a:blip r:embed="rId6"/>
                      <a:srcRect/>
                      <a:stretch>
                        <a:fillRect/>
                      </a:stretch>
                    </p:blipFill>
                    <p:spPr bwMode="auto">
                      <a:xfrm>
                        <a:off x="984971" y="2918334"/>
                        <a:ext cx="663733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box(out)">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5605">
                                            <p:txEl>
                                              <p:pRg st="0" end="0"/>
                                            </p:txEl>
                                          </p:spTgt>
                                        </p:tgtEl>
                                        <p:attrNameLst>
                                          <p:attrName>style.visibility</p:attrName>
                                        </p:attrNameLst>
                                      </p:cBhvr>
                                      <p:to>
                                        <p:strVal val="visible"/>
                                      </p:to>
                                    </p:set>
                                    <p:animEffect transition="in" filter="box(out)">
                                      <p:cBhvr>
                                        <p:cTn id="12" dur="500"/>
                                        <p:tgtEl>
                                          <p:spTgt spid="2560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ou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ou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25630"/>
                                        </p:tgtEl>
                                        <p:attrNameLst>
                                          <p:attrName>style.visibility</p:attrName>
                                        </p:attrNameLst>
                                      </p:cBhvr>
                                      <p:to>
                                        <p:strVal val="visible"/>
                                      </p:to>
                                    </p:set>
                                    <p:animEffect transition="in" filter="box(out)">
                                      <p:cBhvr>
                                        <p:cTn id="37" dur="500"/>
                                        <p:tgtEl>
                                          <p:spTgt spid="25630"/>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checkerboard(across)">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32" fill="hold" grpId="0" nodeType="clickEffect">
                                  <p:stCondLst>
                                    <p:cond delay="0"/>
                                  </p:stCondLst>
                                  <p:childTnLst>
                                    <p:set>
                                      <p:cBhvr>
                                        <p:cTn id="46" dur="1" fill="hold">
                                          <p:stCondLst>
                                            <p:cond delay="0"/>
                                          </p:stCondLst>
                                        </p:cTn>
                                        <p:tgtEl>
                                          <p:spTgt spid="25629"/>
                                        </p:tgtEl>
                                        <p:attrNameLst>
                                          <p:attrName>style.visibility</p:attrName>
                                        </p:attrNameLst>
                                      </p:cBhvr>
                                      <p:to>
                                        <p:strVal val="visible"/>
                                      </p:to>
                                    </p:set>
                                    <p:animEffect transition="in" filter="diamond(out)">
                                      <p:cBhvr>
                                        <p:cTn id="47" dur="750"/>
                                        <p:tgtEl>
                                          <p:spTgt spid="25629"/>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ntr" presetSubtype="32"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amond(out)">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build="p" autoUpdateAnimBg="0"/>
      <p:bldP spid="25629" grpId="0" animBg="1"/>
      <p:bldP spid="30" grpId="0" build="p" autoUpdateAnimBg="0"/>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Text Box 2"/>
          <p:cNvSpPr txBox="1">
            <a:spLocks noChangeArrowheads="1"/>
          </p:cNvSpPr>
          <p:nvPr/>
        </p:nvSpPr>
        <p:spPr bwMode="auto">
          <a:xfrm>
            <a:off x="629657" y="1718252"/>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2113DD"/>
                </a:solidFill>
                <a:latin typeface="楷体" panose="02010609060101010101" pitchFamily="49" charset="-122"/>
                <a:ea typeface="楷体" panose="02010609060101010101" pitchFamily="49" charset="-122"/>
              </a:rPr>
              <a:t>解</a:t>
            </a:r>
            <a:r>
              <a:rPr lang="zh-CN" altLang="en-US" dirty="0">
                <a:solidFill>
                  <a:srgbClr val="2113DD"/>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矢量作用点坐标为：</a:t>
            </a:r>
          </a:p>
        </p:txBody>
      </p:sp>
      <p:graphicFrame>
        <p:nvGraphicFramePr>
          <p:cNvPr id="264195" name="Object 3"/>
          <p:cNvGraphicFramePr>
            <a:graphicFrameLocks noChangeAspect="1"/>
          </p:cNvGraphicFramePr>
          <p:nvPr>
            <p:extLst>
              <p:ext uri="{D42A27DB-BD31-4B8C-83A1-F6EECF244321}">
                <p14:modId xmlns:p14="http://schemas.microsoft.com/office/powerpoint/2010/main" val="784634099"/>
              </p:ext>
            </p:extLst>
          </p:nvPr>
        </p:nvGraphicFramePr>
        <p:xfrm>
          <a:off x="1259632" y="2292351"/>
          <a:ext cx="2463800" cy="342900"/>
        </p:xfrm>
        <a:graphic>
          <a:graphicData uri="http://schemas.openxmlformats.org/presentationml/2006/ole">
            <mc:AlternateContent xmlns:mc="http://schemas.openxmlformats.org/markup-compatibility/2006">
              <mc:Choice xmlns:v="urn:schemas-microsoft-com:vml" Requires="v">
                <p:oleObj spid="_x0000_s6170" name="Equation" r:id="rId3" imgW="2463800" imgH="342900" progId="Equation.DSMT4">
                  <p:embed/>
                </p:oleObj>
              </mc:Choice>
              <mc:Fallback>
                <p:oleObj name="Equation" r:id="rId3" imgW="2463800" imgH="3429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2292351"/>
                        <a:ext cx="24638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196" name="Object 4"/>
          <p:cNvGraphicFramePr>
            <a:graphicFrameLocks noChangeAspect="1"/>
          </p:cNvGraphicFramePr>
          <p:nvPr/>
        </p:nvGraphicFramePr>
        <p:xfrm>
          <a:off x="642938" y="2786063"/>
          <a:ext cx="5067300" cy="444500"/>
        </p:xfrm>
        <a:graphic>
          <a:graphicData uri="http://schemas.openxmlformats.org/presentationml/2006/ole">
            <mc:AlternateContent xmlns:mc="http://schemas.openxmlformats.org/markup-compatibility/2006">
              <mc:Choice xmlns:v="urn:schemas-microsoft-com:vml" Requires="v">
                <p:oleObj spid="_x0000_s6171" name="Equation" r:id="rId5" imgW="5067300" imgH="444500" progId="Equation.DSMT4">
                  <p:embed/>
                </p:oleObj>
              </mc:Choice>
              <mc:Fallback>
                <p:oleObj name="Equation" r:id="rId5" imgW="5067300" imgH="4445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938" y="2786063"/>
                        <a:ext cx="50673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a:grpSpLocks/>
          </p:cNvGrpSpPr>
          <p:nvPr/>
        </p:nvGrpSpPr>
        <p:grpSpPr bwMode="auto">
          <a:xfrm>
            <a:off x="714375" y="3357563"/>
            <a:ext cx="4427538" cy="1398587"/>
            <a:chOff x="1292" y="1525"/>
            <a:chExt cx="2789" cy="881"/>
          </a:xfrm>
        </p:grpSpPr>
        <p:graphicFrame>
          <p:nvGraphicFramePr>
            <p:cNvPr id="23564" name="Object 6"/>
            <p:cNvGraphicFramePr>
              <a:graphicFrameLocks noChangeAspect="1"/>
            </p:cNvGraphicFramePr>
            <p:nvPr/>
          </p:nvGraphicFramePr>
          <p:xfrm>
            <a:off x="1292" y="1797"/>
            <a:ext cx="1496" cy="300"/>
          </p:xfrm>
          <a:graphic>
            <a:graphicData uri="http://schemas.openxmlformats.org/presentationml/2006/ole">
              <mc:AlternateContent xmlns:mc="http://schemas.openxmlformats.org/markup-compatibility/2006">
                <mc:Choice xmlns:v="urn:schemas-microsoft-com:vml" Requires="v">
                  <p:oleObj spid="_x0000_s6172" name="Equation" r:id="rId7" imgW="1905000" imgH="381000" progId="Equation.DSMT4">
                    <p:embed/>
                  </p:oleObj>
                </mc:Choice>
                <mc:Fallback>
                  <p:oleObj name="Equation" r:id="rId7" imgW="1905000" imgH="3810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2" y="1797"/>
                          <a:ext cx="1496"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5" name="Object 7"/>
            <p:cNvGraphicFramePr>
              <a:graphicFrameLocks noChangeAspect="1"/>
            </p:cNvGraphicFramePr>
            <p:nvPr/>
          </p:nvGraphicFramePr>
          <p:xfrm>
            <a:off x="2925" y="1525"/>
            <a:ext cx="1156" cy="881"/>
          </p:xfrm>
          <a:graphic>
            <a:graphicData uri="http://schemas.openxmlformats.org/presentationml/2006/ole">
              <mc:AlternateContent xmlns:mc="http://schemas.openxmlformats.org/markup-compatibility/2006">
                <mc:Choice xmlns:v="urn:schemas-microsoft-com:vml" Requires="v">
                  <p:oleObj spid="_x0000_s6173" name="Equation" r:id="rId9" imgW="1828800" imgH="1397000" progId="Equation.DSMT4">
                    <p:embed/>
                  </p:oleObj>
                </mc:Choice>
                <mc:Fallback>
                  <p:oleObj name="Equation" r:id="rId9" imgW="1828800" imgH="13970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5" y="1525"/>
                          <a:ext cx="1156" cy="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64200" name="Object 8"/>
          <p:cNvGraphicFramePr>
            <a:graphicFrameLocks noChangeAspect="1"/>
          </p:cNvGraphicFramePr>
          <p:nvPr>
            <p:extLst>
              <p:ext uri="{D42A27DB-BD31-4B8C-83A1-F6EECF244321}">
                <p14:modId xmlns:p14="http://schemas.microsoft.com/office/powerpoint/2010/main" val="3913725284"/>
              </p:ext>
            </p:extLst>
          </p:nvPr>
        </p:nvGraphicFramePr>
        <p:xfrm>
          <a:off x="923925" y="4840288"/>
          <a:ext cx="3790950" cy="1420812"/>
        </p:xfrm>
        <a:graphic>
          <a:graphicData uri="http://schemas.openxmlformats.org/presentationml/2006/ole">
            <mc:AlternateContent xmlns:mc="http://schemas.openxmlformats.org/markup-compatibility/2006">
              <mc:Choice xmlns:v="urn:schemas-microsoft-com:vml" Requires="v">
                <p:oleObj spid="_x0000_s6174" name="Equation" r:id="rId11" imgW="2031840" imgH="761760" progId="Equation.DSMT4">
                  <p:embed/>
                </p:oleObj>
              </mc:Choice>
              <mc:Fallback>
                <p:oleObj name="Equation" r:id="rId11" imgW="2031840" imgH="761760" progId="Equation.DSMT4">
                  <p:embed/>
                  <p:pic>
                    <p:nvPicPr>
                      <p:cNvPr id="0" name=""/>
                      <p:cNvPicPr>
                        <a:picLocks noChangeAspect="1" noChangeArrowheads="1"/>
                      </p:cNvPicPr>
                      <p:nvPr/>
                    </p:nvPicPr>
                    <p:blipFill>
                      <a:blip r:embed="rId12"/>
                      <a:srcRect/>
                      <a:stretch>
                        <a:fillRect/>
                      </a:stretch>
                    </p:blipFill>
                    <p:spPr bwMode="auto">
                      <a:xfrm>
                        <a:off x="923925" y="4840288"/>
                        <a:ext cx="3790950" cy="1420812"/>
                      </a:xfrm>
                      <a:prstGeom prst="rect">
                        <a:avLst/>
                      </a:prstGeom>
                      <a:noFill/>
                      <a:ln>
                        <a:noFill/>
                      </a:ln>
                      <a:effectLst/>
                    </p:spPr>
                  </p:pic>
                </p:oleObj>
              </mc:Fallback>
            </mc:AlternateContent>
          </a:graphicData>
        </a:graphic>
      </p:graphicFrame>
      <p:graphicFrame>
        <p:nvGraphicFramePr>
          <p:cNvPr id="264201" name="Object 9"/>
          <p:cNvGraphicFramePr>
            <a:graphicFrameLocks noChangeAspect="1"/>
          </p:cNvGraphicFramePr>
          <p:nvPr>
            <p:extLst>
              <p:ext uri="{D42A27DB-BD31-4B8C-83A1-F6EECF244321}">
                <p14:modId xmlns:p14="http://schemas.microsoft.com/office/powerpoint/2010/main" val="1848212034"/>
              </p:ext>
            </p:extLst>
          </p:nvPr>
        </p:nvGraphicFramePr>
        <p:xfrm>
          <a:off x="4605338" y="5286375"/>
          <a:ext cx="2743200" cy="492125"/>
        </p:xfrm>
        <a:graphic>
          <a:graphicData uri="http://schemas.openxmlformats.org/presentationml/2006/ole">
            <mc:AlternateContent xmlns:mc="http://schemas.openxmlformats.org/markup-compatibility/2006">
              <mc:Choice xmlns:v="urn:schemas-microsoft-com:vml" Requires="v">
                <p:oleObj spid="_x0000_s6175" name="Equation" r:id="rId13" imgW="1346040" imgH="241200" progId="Equation.DSMT4">
                  <p:embed/>
                </p:oleObj>
              </mc:Choice>
              <mc:Fallback>
                <p:oleObj name="Equation" r:id="rId13" imgW="1346040" imgH="241200" progId="Equation.DSMT4">
                  <p:embed/>
                  <p:pic>
                    <p:nvPicPr>
                      <p:cNvPr id="0" name=""/>
                      <p:cNvPicPr>
                        <a:picLocks noChangeAspect="1" noChangeArrowheads="1"/>
                      </p:cNvPicPr>
                      <p:nvPr/>
                    </p:nvPicPr>
                    <p:blipFill>
                      <a:blip r:embed="rId14"/>
                      <a:srcRect/>
                      <a:stretch>
                        <a:fillRect/>
                      </a:stretch>
                    </p:blipFill>
                    <p:spPr bwMode="auto">
                      <a:xfrm>
                        <a:off x="4605338" y="5286375"/>
                        <a:ext cx="2743200" cy="492125"/>
                      </a:xfrm>
                      <a:prstGeom prst="rect">
                        <a:avLst/>
                      </a:prstGeom>
                      <a:noFill/>
                      <a:ln>
                        <a:noFill/>
                      </a:ln>
                      <a:effectLst/>
                    </p:spPr>
                  </p:pic>
                </p:oleObj>
              </mc:Fallback>
            </mc:AlternateContent>
          </a:graphicData>
        </a:graphic>
      </p:graphicFrame>
      <p:pic>
        <p:nvPicPr>
          <p:cNvPr id="23560" name="Picture 10" descr="题图2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96136" y="838201"/>
            <a:ext cx="2916238"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4205" name="Text Box 13"/>
          <p:cNvSpPr txBox="1">
            <a:spLocks noChangeArrowheads="1"/>
          </p:cNvSpPr>
          <p:nvPr/>
        </p:nvSpPr>
        <p:spPr bwMode="auto">
          <a:xfrm>
            <a:off x="7164288" y="5260155"/>
            <a:ext cx="10080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spcBef>
                <a:spcPct val="50000"/>
              </a:spcBef>
            </a:pPr>
            <a:r>
              <a:rPr lang="en-US" altLang="zh-CN" sz="2800">
                <a:latin typeface="Times New Roman" panose="02020603050405020304" pitchFamily="18" charset="0"/>
              </a:rPr>
              <a:t>N</a:t>
            </a:r>
            <a:r>
              <a:rPr lang="en-US" altLang="zh-CN"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rPr>
              <a:t>m</a:t>
            </a:r>
          </a:p>
        </p:txBody>
      </p:sp>
      <p:sp>
        <p:nvSpPr>
          <p:cNvPr id="23563" name="Text Box 2"/>
          <p:cNvSpPr txBox="1">
            <a:spLocks noChangeArrowheads="1"/>
          </p:cNvSpPr>
          <p:nvPr/>
        </p:nvSpPr>
        <p:spPr bwMode="auto">
          <a:xfrm>
            <a:off x="629657" y="851477"/>
            <a:ext cx="60007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FF0000"/>
                </a:solidFill>
                <a:latin typeface="楷体" panose="02010609060101010101" pitchFamily="49" charset="-122"/>
                <a:ea typeface="楷体" panose="02010609060101010101" pitchFamily="49" charset="-122"/>
              </a:rPr>
              <a:t>例</a:t>
            </a:r>
            <a:r>
              <a:rPr lang="zh-CN" altLang="en-US" b="1" dirty="0">
                <a:latin typeface="楷体" panose="02010609060101010101" pitchFamily="49" charset="-122"/>
                <a:ea typeface="楷体" panose="02010609060101010101" pitchFamily="49" charset="-122"/>
              </a:rPr>
              <a:t> 在图示长方体的顶点</a:t>
            </a:r>
            <a:r>
              <a:rPr lang="en-US" altLang="zh-CN" i="1" dirty="0">
                <a:latin typeface="+mn-lt"/>
                <a:ea typeface="楷体" panose="02010609060101010101" pitchFamily="49" charset="-122"/>
              </a:rPr>
              <a:t>B</a:t>
            </a:r>
            <a:r>
              <a:rPr lang="zh-CN" altLang="en-US" b="1" dirty="0">
                <a:latin typeface="楷体" panose="02010609060101010101" pitchFamily="49" charset="-122"/>
                <a:ea typeface="楷体" panose="02010609060101010101" pitchFamily="49" charset="-122"/>
              </a:rPr>
              <a:t>处作用一力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a:t>
            </a:r>
            <a:r>
              <a:rPr lang="en-US" altLang="zh-CN" i="1" dirty="0">
                <a:latin typeface="+mn-lt"/>
                <a:ea typeface="楷体" panose="02010609060101010101" pitchFamily="49" charset="-122"/>
              </a:rPr>
              <a:t>F</a:t>
            </a:r>
            <a:r>
              <a:rPr lang="en-US" altLang="zh-CN" dirty="0">
                <a:latin typeface="+mn-lt"/>
                <a:ea typeface="楷体" panose="02010609060101010101" pitchFamily="49" charset="-122"/>
              </a:rPr>
              <a:t>=700N</a:t>
            </a:r>
            <a:r>
              <a:rPr lang="zh-CN" altLang="en-US" b="1" dirty="0">
                <a:latin typeface="楷体" panose="02010609060101010101" pitchFamily="49" charset="-122"/>
                <a:ea typeface="楷体" panose="02010609060101010101" pitchFamily="49" charset="-122"/>
              </a:rPr>
              <a:t>。求力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对点</a:t>
            </a:r>
            <a:r>
              <a:rPr lang="en-US" altLang="zh-CN" i="1" dirty="0">
                <a:latin typeface="+mn-lt"/>
                <a:ea typeface="楷体" panose="02010609060101010101" pitchFamily="49" charset="-122"/>
              </a:rPr>
              <a:t>O</a:t>
            </a:r>
            <a:r>
              <a:rPr lang="zh-CN" altLang="en-US" b="1" dirty="0">
                <a:latin typeface="楷体" panose="02010609060101010101" pitchFamily="49" charset="-122"/>
                <a:ea typeface="楷体" panose="02010609060101010101" pitchFamily="49" charset="-122"/>
              </a:rPr>
              <a:t>之矩矢量</a:t>
            </a:r>
            <a:r>
              <a:rPr lang="en-US" altLang="zh-CN" b="1" i="1" dirty="0">
                <a:latin typeface="+mn-lt"/>
                <a:ea typeface="楷体" panose="02010609060101010101" pitchFamily="49" charset="-122"/>
              </a:rPr>
              <a:t>M</a:t>
            </a:r>
            <a:r>
              <a:rPr lang="en-US" altLang="zh-CN" b="1" i="1" baseline="-25000" dirty="0">
                <a:latin typeface="+mn-lt"/>
                <a:ea typeface="楷体" panose="02010609060101010101" pitchFamily="49" charset="-122"/>
              </a:rPr>
              <a:t>O</a:t>
            </a:r>
            <a:r>
              <a:rPr lang="en-US" altLang="zh-CN" b="1" dirty="0">
                <a:latin typeface="+mn-lt"/>
                <a:ea typeface="楷体" panose="02010609060101010101" pitchFamily="49" charset="-122"/>
              </a:rPr>
              <a:t>(</a:t>
            </a:r>
            <a:r>
              <a:rPr lang="en-US" altLang="zh-CN" b="1" i="1" dirty="0">
                <a:latin typeface="+mn-lt"/>
                <a:ea typeface="楷体" panose="02010609060101010101" pitchFamily="49" charset="-122"/>
              </a:rPr>
              <a:t>F</a:t>
            </a:r>
            <a:r>
              <a:rPr lang="en-US" altLang="zh-CN" b="1" dirty="0">
                <a:latin typeface="+mn-lt"/>
                <a:ea typeface="楷体" panose="02010609060101010101" pitchFamily="49" charset="-122"/>
              </a:rPr>
              <a:t>)</a:t>
            </a:r>
            <a:r>
              <a:rPr lang="zh-CN" altLang="en-US" b="1"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29413780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64194">
                                            <p:txEl>
                                              <p:pRg st="0" end="0"/>
                                            </p:txEl>
                                          </p:spTgt>
                                        </p:tgtEl>
                                        <p:attrNameLst>
                                          <p:attrName>style.visibility</p:attrName>
                                        </p:attrNameLst>
                                      </p:cBhvr>
                                      <p:to>
                                        <p:strVal val="visible"/>
                                      </p:to>
                                    </p:set>
                                    <p:animEffect transition="in" filter="box(out)">
                                      <p:cBhvr>
                                        <p:cTn id="7" dur="500"/>
                                        <p:tgtEl>
                                          <p:spTgt spid="2641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64195"/>
                                        </p:tgtEl>
                                        <p:attrNameLst>
                                          <p:attrName>style.visibility</p:attrName>
                                        </p:attrNameLst>
                                      </p:cBhvr>
                                      <p:to>
                                        <p:strVal val="visible"/>
                                      </p:to>
                                    </p:set>
                                    <p:animEffect transition="in" filter="box(out)">
                                      <p:cBhvr>
                                        <p:cTn id="12" dur="500"/>
                                        <p:tgtEl>
                                          <p:spTgt spid="2641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64196"/>
                                        </p:tgtEl>
                                        <p:attrNameLst>
                                          <p:attrName>style.visibility</p:attrName>
                                        </p:attrNameLst>
                                      </p:cBhvr>
                                      <p:to>
                                        <p:strVal val="visible"/>
                                      </p:to>
                                    </p:set>
                                    <p:animEffect transition="in" filter="box(out)">
                                      <p:cBhvr>
                                        <p:cTn id="17" dur="500"/>
                                        <p:tgtEl>
                                          <p:spTgt spid="264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amond(out)">
                                      <p:cBhvr>
                                        <p:cTn id="22" dur="75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264200"/>
                                        </p:tgtEl>
                                        <p:attrNameLst>
                                          <p:attrName>style.visibility</p:attrName>
                                        </p:attrNameLst>
                                      </p:cBhvr>
                                      <p:to>
                                        <p:strVal val="visible"/>
                                      </p:to>
                                    </p:set>
                                    <p:animEffect transition="in" filter="strips(downRight)">
                                      <p:cBhvr>
                                        <p:cTn id="27" dur="500"/>
                                        <p:tgtEl>
                                          <p:spTgt spid="2642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264201"/>
                                        </p:tgtEl>
                                        <p:attrNameLst>
                                          <p:attrName>style.visibility</p:attrName>
                                        </p:attrNameLst>
                                      </p:cBhvr>
                                      <p:to>
                                        <p:strVal val="visible"/>
                                      </p:to>
                                    </p:set>
                                    <p:animEffect transition="in" filter="box(out)">
                                      <p:cBhvr>
                                        <p:cTn id="32" dur="500"/>
                                        <p:tgtEl>
                                          <p:spTgt spid="2642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2" fill="hold" grpId="0" nodeType="clickEffect">
                                  <p:stCondLst>
                                    <p:cond delay="0"/>
                                  </p:stCondLst>
                                  <p:childTnLst>
                                    <p:set>
                                      <p:cBhvr>
                                        <p:cTn id="36" dur="1" fill="hold">
                                          <p:stCondLst>
                                            <p:cond delay="0"/>
                                          </p:stCondLst>
                                        </p:cTn>
                                        <p:tgtEl>
                                          <p:spTgt spid="264205"/>
                                        </p:tgtEl>
                                        <p:attrNameLst>
                                          <p:attrName>style.visibility</p:attrName>
                                        </p:attrNameLst>
                                      </p:cBhvr>
                                      <p:to>
                                        <p:strVal val="visible"/>
                                      </p:to>
                                    </p:set>
                                    <p:animEffect transition="in" filter="slide(fromRight)">
                                      <p:cBhvr>
                                        <p:cTn id="37" dur="500"/>
                                        <p:tgtEl>
                                          <p:spTgt spid="264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4" grpId="0" build="p" autoUpdateAnimBg="0"/>
      <p:bldP spid="264205"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2" name="Text Box 4"/>
          <p:cNvSpPr txBox="1">
            <a:spLocks noChangeArrowheads="1"/>
          </p:cNvSpPr>
          <p:nvPr/>
        </p:nvSpPr>
        <p:spPr bwMode="auto">
          <a:xfrm>
            <a:off x="683568" y="540544"/>
            <a:ext cx="7704856"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solidFill>
                  <a:srgbClr val="FF0000"/>
                </a:solidFill>
                <a:latin typeface="楷体" panose="02010609060101010101" pitchFamily="49" charset="-122"/>
                <a:ea typeface="楷体" panose="02010609060101010101" pitchFamily="49" charset="-122"/>
              </a:rPr>
              <a:t>例</a:t>
            </a:r>
            <a:r>
              <a:rPr lang="zh-CN" altLang="en-US" dirty="0">
                <a:solidFill>
                  <a:srgbClr val="000099"/>
                </a:solidFill>
                <a:latin typeface="楷体" panose="02010609060101010101" pitchFamily="49" charset="-122"/>
                <a:ea typeface="楷体" panose="02010609060101010101" pitchFamily="49" charset="-122"/>
              </a:rPr>
              <a:t> </a:t>
            </a:r>
            <a:r>
              <a:rPr lang="zh-CN" altLang="en-US" b="1" dirty="0">
                <a:latin typeface="楷体" panose="02010609060101010101" pitchFamily="49" charset="-122"/>
                <a:ea typeface="楷体" panose="02010609060101010101" pitchFamily="49" charset="-122"/>
              </a:rPr>
              <a:t>如图所示，圆柱直齿轮受啮合力的作用。设</a:t>
            </a:r>
            <a:r>
              <a:rPr lang="en-US" altLang="zh-CN" i="1" dirty="0">
                <a:latin typeface="+mn-lt"/>
                <a:ea typeface="楷体" panose="02010609060101010101" pitchFamily="49" charset="-122"/>
              </a:rPr>
              <a:t>F</a:t>
            </a:r>
            <a:r>
              <a:rPr lang="en-US" altLang="zh-CN" b="1" dirty="0">
                <a:latin typeface="+mn-lt"/>
                <a:ea typeface="楷体" panose="02010609060101010101" pitchFamily="49" charset="-122"/>
              </a:rPr>
              <a:t>=</a:t>
            </a:r>
            <a:r>
              <a:rPr lang="en-US" altLang="zh-CN" dirty="0">
                <a:latin typeface="+mn-lt"/>
                <a:ea typeface="楷体" panose="02010609060101010101" pitchFamily="49" charset="-122"/>
              </a:rPr>
              <a:t>1400N</a:t>
            </a:r>
            <a:r>
              <a:rPr lang="zh-CN" altLang="en-US" b="1" dirty="0">
                <a:latin typeface="楷体" panose="02010609060101010101" pitchFamily="49" charset="-122"/>
                <a:ea typeface="楷体" panose="02010609060101010101" pitchFamily="49" charset="-122"/>
              </a:rPr>
              <a:t>。压力角</a:t>
            </a:r>
            <a:r>
              <a:rPr lang="zh-CN" altLang="en-US" b="1" i="1" dirty="0">
                <a:latin typeface="+mn-lt"/>
                <a:ea typeface="楷体" panose="02010609060101010101" pitchFamily="49" charset="-122"/>
                <a:cs typeface="Times New Roman" panose="02020603050405020304" pitchFamily="18" charset="0"/>
                <a:sym typeface="Symbol" panose="05050102010706020507" pitchFamily="18" charset="2"/>
              </a:rPr>
              <a:t></a:t>
            </a:r>
            <a:r>
              <a:rPr lang="zh-CN" altLang="en-US" b="1" dirty="0">
                <a:latin typeface="+mn-lt"/>
                <a:ea typeface="楷体" panose="02010609060101010101" pitchFamily="49" charset="-122"/>
              </a:rPr>
              <a:t> </a:t>
            </a:r>
            <a:r>
              <a:rPr lang="en-US" altLang="zh-CN" b="1" dirty="0">
                <a:latin typeface="+mn-lt"/>
                <a:ea typeface="楷体" panose="02010609060101010101" pitchFamily="49" charset="-122"/>
              </a:rPr>
              <a:t>=</a:t>
            </a:r>
            <a:r>
              <a:rPr lang="en-US" altLang="zh-CN" dirty="0">
                <a:latin typeface="+mn-lt"/>
                <a:ea typeface="楷体" panose="02010609060101010101" pitchFamily="49" charset="-122"/>
              </a:rPr>
              <a:t>20</a:t>
            </a:r>
            <a:r>
              <a:rPr lang="en-US" altLang="zh-CN" b="1" dirty="0">
                <a:latin typeface="+mn-lt"/>
                <a:ea typeface="楷体" panose="02010609060101010101" pitchFamily="49" charset="-122"/>
              </a:rPr>
              <a:t>°</a:t>
            </a:r>
            <a:r>
              <a:rPr lang="zh-CN" altLang="en-US" b="1" dirty="0">
                <a:latin typeface="楷体" panose="02010609060101010101" pitchFamily="49" charset="-122"/>
                <a:ea typeface="楷体" panose="02010609060101010101" pitchFamily="49" charset="-122"/>
              </a:rPr>
              <a:t>，齿轮的节圆（啮合圆）半径</a:t>
            </a:r>
            <a:r>
              <a:rPr lang="en-US" altLang="zh-CN" i="1" dirty="0">
                <a:latin typeface="+mn-lt"/>
                <a:ea typeface="楷体" panose="02010609060101010101" pitchFamily="49" charset="-122"/>
              </a:rPr>
              <a:t>r </a:t>
            </a:r>
            <a:r>
              <a:rPr lang="en-US" altLang="zh-CN" b="1" dirty="0">
                <a:latin typeface="+mn-lt"/>
                <a:ea typeface="楷体" panose="02010609060101010101" pitchFamily="49" charset="-122"/>
              </a:rPr>
              <a:t>=</a:t>
            </a:r>
            <a:r>
              <a:rPr lang="en-US" altLang="zh-CN" dirty="0">
                <a:latin typeface="+mn-lt"/>
                <a:ea typeface="楷体" panose="02010609060101010101" pitchFamily="49" charset="-122"/>
              </a:rPr>
              <a:t>60mm</a:t>
            </a:r>
            <a:r>
              <a:rPr lang="zh-CN" altLang="en-US" b="1" dirty="0">
                <a:latin typeface="楷体" panose="02010609060101010101" pitchFamily="49" charset="-122"/>
                <a:ea typeface="楷体" panose="02010609060101010101" pitchFamily="49" charset="-122"/>
              </a:rPr>
              <a:t>，试计算力对</a:t>
            </a:r>
            <a:r>
              <a:rPr lang="en-US" altLang="zh-CN" i="1" dirty="0">
                <a:latin typeface="+mn-lt"/>
                <a:ea typeface="楷体" panose="02010609060101010101" pitchFamily="49" charset="-122"/>
              </a:rPr>
              <a:t>O</a:t>
            </a:r>
            <a:r>
              <a:rPr lang="zh-CN" altLang="en-US" b="1" dirty="0">
                <a:latin typeface="楷体" panose="02010609060101010101" pitchFamily="49" charset="-122"/>
                <a:ea typeface="楷体" panose="02010609060101010101" pitchFamily="49" charset="-122"/>
              </a:rPr>
              <a:t>点的力矩。</a:t>
            </a:r>
          </a:p>
        </p:txBody>
      </p:sp>
      <p:sp>
        <p:nvSpPr>
          <p:cNvPr id="27654" name="Text Box 6"/>
          <p:cNvSpPr txBox="1">
            <a:spLocks noChangeArrowheads="1"/>
          </p:cNvSpPr>
          <p:nvPr/>
        </p:nvSpPr>
        <p:spPr bwMode="auto">
          <a:xfrm>
            <a:off x="876449" y="2023892"/>
            <a:ext cx="3744912" cy="587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60000"/>
              </a:lnSpc>
            </a:pPr>
            <a:r>
              <a:rPr lang="zh-CN" altLang="en-US" b="1" dirty="0">
                <a:solidFill>
                  <a:srgbClr val="0000FF"/>
                </a:solidFill>
                <a:latin typeface="楷体" panose="02010609060101010101" pitchFamily="49" charset="-122"/>
                <a:ea typeface="楷体" panose="02010609060101010101" pitchFamily="49" charset="-122"/>
              </a:rPr>
              <a:t>解</a:t>
            </a:r>
            <a:r>
              <a:rPr lang="en-US" altLang="zh-CN" b="1" dirty="0">
                <a:solidFill>
                  <a:srgbClr val="0000FF"/>
                </a:solidFill>
                <a:latin typeface="楷体" panose="02010609060101010101" pitchFamily="49" charset="-122"/>
                <a:ea typeface="楷体" panose="02010609060101010101" pitchFamily="49" charset="-122"/>
              </a:rPr>
              <a:t>1  </a:t>
            </a:r>
            <a:r>
              <a:rPr lang="zh-CN" altLang="en-US" b="1" dirty="0">
                <a:solidFill>
                  <a:srgbClr val="0000FF"/>
                </a:solidFill>
                <a:latin typeface="楷体" panose="02010609060101010101" pitchFamily="49" charset="-122"/>
                <a:ea typeface="楷体" panose="02010609060101010101" pitchFamily="49" charset="-122"/>
              </a:rPr>
              <a:t>按力矩定义求解。</a:t>
            </a:r>
          </a:p>
        </p:txBody>
      </p:sp>
      <p:graphicFrame>
        <p:nvGraphicFramePr>
          <p:cNvPr id="27655" name="Object 7"/>
          <p:cNvGraphicFramePr>
            <a:graphicFrameLocks noChangeAspect="1"/>
          </p:cNvGraphicFramePr>
          <p:nvPr>
            <p:extLst>
              <p:ext uri="{D42A27DB-BD31-4B8C-83A1-F6EECF244321}">
                <p14:modId xmlns:p14="http://schemas.microsoft.com/office/powerpoint/2010/main" val="1039667553"/>
              </p:ext>
            </p:extLst>
          </p:nvPr>
        </p:nvGraphicFramePr>
        <p:xfrm>
          <a:off x="820738" y="2792413"/>
          <a:ext cx="3727450" cy="1295400"/>
        </p:xfrm>
        <a:graphic>
          <a:graphicData uri="http://schemas.openxmlformats.org/presentationml/2006/ole">
            <mc:AlternateContent xmlns:mc="http://schemas.openxmlformats.org/markup-compatibility/2006">
              <mc:Choice xmlns:v="urn:schemas-microsoft-com:vml" Requires="v">
                <p:oleObj spid="_x0000_s7190" name="Equation" r:id="rId3" imgW="1879560" imgH="647640" progId="Equation.DSMT4">
                  <p:embed/>
                </p:oleObj>
              </mc:Choice>
              <mc:Fallback>
                <p:oleObj name="Equation" r:id="rId3" imgW="1879560" imgH="647640" progId="Equation.DSMT4">
                  <p:embed/>
                  <p:pic>
                    <p:nvPicPr>
                      <p:cNvPr id="0" name="Object 7"/>
                      <p:cNvPicPr>
                        <a:picLocks noChangeAspect="1" noChangeArrowheads="1"/>
                      </p:cNvPicPr>
                      <p:nvPr/>
                    </p:nvPicPr>
                    <p:blipFill>
                      <a:blip r:embed="rId4"/>
                      <a:srcRect/>
                      <a:stretch>
                        <a:fillRect/>
                      </a:stretch>
                    </p:blipFill>
                    <p:spPr bwMode="auto">
                      <a:xfrm>
                        <a:off x="820738" y="2792413"/>
                        <a:ext cx="3727450" cy="1295400"/>
                      </a:xfrm>
                      <a:prstGeom prst="rect">
                        <a:avLst/>
                      </a:prstGeom>
                      <a:noFill/>
                      <a:ln>
                        <a:noFill/>
                      </a:ln>
                      <a:effectLst/>
                    </p:spPr>
                  </p:pic>
                </p:oleObj>
              </mc:Fallback>
            </mc:AlternateContent>
          </a:graphicData>
        </a:graphic>
      </p:graphicFrame>
      <p:sp>
        <p:nvSpPr>
          <p:cNvPr id="27656" name="Text Box 8"/>
          <p:cNvSpPr txBox="1">
            <a:spLocks noChangeArrowheads="1"/>
          </p:cNvSpPr>
          <p:nvPr/>
        </p:nvSpPr>
        <p:spPr bwMode="auto">
          <a:xfrm>
            <a:off x="971600" y="4294977"/>
            <a:ext cx="4608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FF"/>
                </a:solidFill>
                <a:latin typeface="楷体" panose="02010609060101010101" pitchFamily="49" charset="-122"/>
                <a:ea typeface="楷体" panose="02010609060101010101" pitchFamily="49" charset="-122"/>
              </a:rPr>
              <a:t>解</a:t>
            </a:r>
            <a:r>
              <a:rPr lang="en-US" altLang="zh-CN" b="1" dirty="0">
                <a:solidFill>
                  <a:srgbClr val="0000FF"/>
                </a:solidFill>
                <a:latin typeface="楷体" panose="02010609060101010101" pitchFamily="49" charset="-122"/>
                <a:ea typeface="楷体" panose="02010609060101010101" pitchFamily="49" charset="-122"/>
              </a:rPr>
              <a:t>2  </a:t>
            </a:r>
            <a:r>
              <a:rPr lang="zh-CN" altLang="en-US" b="1" dirty="0">
                <a:solidFill>
                  <a:srgbClr val="0000FF"/>
                </a:solidFill>
                <a:latin typeface="楷体" panose="02010609060101010101" pitchFamily="49" charset="-122"/>
                <a:ea typeface="楷体" panose="02010609060101010101" pitchFamily="49" charset="-122"/>
              </a:rPr>
              <a:t>用合力之矩定理求解</a:t>
            </a:r>
            <a:r>
              <a:rPr lang="zh-CN" altLang="en-US" dirty="0">
                <a:solidFill>
                  <a:srgbClr val="0000FF"/>
                </a:solidFill>
                <a:latin typeface="楷体" panose="02010609060101010101" pitchFamily="49" charset="-122"/>
                <a:ea typeface="楷体" panose="02010609060101010101" pitchFamily="49" charset="-122"/>
              </a:rPr>
              <a:t>。</a:t>
            </a:r>
          </a:p>
        </p:txBody>
      </p:sp>
      <p:graphicFrame>
        <p:nvGraphicFramePr>
          <p:cNvPr id="10" name="Object 1026"/>
          <p:cNvGraphicFramePr>
            <a:graphicFrameLocks noChangeAspect="1"/>
          </p:cNvGraphicFramePr>
          <p:nvPr>
            <p:extLst>
              <p:ext uri="{D42A27DB-BD31-4B8C-83A1-F6EECF244321}">
                <p14:modId xmlns:p14="http://schemas.microsoft.com/office/powerpoint/2010/main" val="2198382294"/>
              </p:ext>
            </p:extLst>
          </p:nvPr>
        </p:nvGraphicFramePr>
        <p:xfrm>
          <a:off x="1040124" y="4967320"/>
          <a:ext cx="3456384" cy="488243"/>
        </p:xfrm>
        <a:graphic>
          <a:graphicData uri="http://schemas.openxmlformats.org/presentationml/2006/ole">
            <mc:AlternateContent xmlns:mc="http://schemas.openxmlformats.org/markup-compatibility/2006">
              <mc:Choice xmlns:v="urn:schemas-microsoft-com:vml" Requires="v">
                <p:oleObj spid="_x0000_s7191" name="Equation" r:id="rId5" imgW="1752480" imgH="228600" progId="Equation.DSMT4">
                  <p:embed/>
                </p:oleObj>
              </mc:Choice>
              <mc:Fallback>
                <p:oleObj name="Equation" r:id="rId5" imgW="1752480" imgH="228600" progId="Equation.DSMT4">
                  <p:embed/>
                  <p:pic>
                    <p:nvPicPr>
                      <p:cNvPr id="0" name=""/>
                      <p:cNvPicPr>
                        <a:picLocks noChangeAspect="1" noChangeArrowheads="1"/>
                      </p:cNvPicPr>
                      <p:nvPr/>
                    </p:nvPicPr>
                    <p:blipFill>
                      <a:blip r:embed="rId6"/>
                      <a:srcRect/>
                      <a:stretch>
                        <a:fillRect/>
                      </a:stretch>
                    </p:blipFill>
                    <p:spPr bwMode="auto">
                      <a:xfrm>
                        <a:off x="1040124" y="4967320"/>
                        <a:ext cx="3456384" cy="488243"/>
                      </a:xfrm>
                      <a:prstGeom prst="rect">
                        <a:avLst/>
                      </a:prstGeom>
                      <a:noFill/>
                      <a:ln>
                        <a:noFill/>
                      </a:ln>
                      <a:effectLst/>
                    </p:spPr>
                  </p:pic>
                </p:oleObj>
              </mc:Fallback>
            </mc:AlternateContent>
          </a:graphicData>
        </a:graphic>
      </p:graphicFrame>
      <p:graphicFrame>
        <p:nvGraphicFramePr>
          <p:cNvPr id="11" name="Object 1027"/>
          <p:cNvGraphicFramePr>
            <a:graphicFrameLocks noChangeAspect="1"/>
          </p:cNvGraphicFramePr>
          <p:nvPr>
            <p:extLst>
              <p:ext uri="{D42A27DB-BD31-4B8C-83A1-F6EECF244321}">
                <p14:modId xmlns:p14="http://schemas.microsoft.com/office/powerpoint/2010/main" val="1661925018"/>
              </p:ext>
            </p:extLst>
          </p:nvPr>
        </p:nvGraphicFramePr>
        <p:xfrm>
          <a:off x="971600" y="5566006"/>
          <a:ext cx="4241527" cy="485626"/>
        </p:xfrm>
        <a:graphic>
          <a:graphicData uri="http://schemas.openxmlformats.org/presentationml/2006/ole">
            <mc:AlternateContent xmlns:mc="http://schemas.openxmlformats.org/markup-compatibility/2006">
              <mc:Choice xmlns:v="urn:schemas-microsoft-com:vml" Requires="v">
                <p:oleObj spid="_x0000_s7192" name="Equation" r:id="rId7" imgW="2108160" imgH="228600" progId="Equation.DSMT4">
                  <p:embed/>
                </p:oleObj>
              </mc:Choice>
              <mc:Fallback>
                <p:oleObj name="Equation" r:id="rId7" imgW="2108160" imgH="228600" progId="Equation.DSMT4">
                  <p:embed/>
                  <p:pic>
                    <p:nvPicPr>
                      <p:cNvPr id="0" name=""/>
                      <p:cNvPicPr>
                        <a:picLocks noChangeAspect="1" noChangeArrowheads="1"/>
                      </p:cNvPicPr>
                      <p:nvPr/>
                    </p:nvPicPr>
                    <p:blipFill>
                      <a:blip r:embed="rId8"/>
                      <a:srcRect/>
                      <a:stretch>
                        <a:fillRect/>
                      </a:stretch>
                    </p:blipFill>
                    <p:spPr bwMode="auto">
                      <a:xfrm>
                        <a:off x="971600" y="5566006"/>
                        <a:ext cx="4241527" cy="485626"/>
                      </a:xfrm>
                      <a:prstGeom prst="rect">
                        <a:avLst/>
                      </a:prstGeom>
                      <a:noFill/>
                      <a:ln>
                        <a:noFill/>
                      </a:ln>
                      <a:effectLst/>
                    </p:spPr>
                  </p:pic>
                </p:oleObj>
              </mc:Fallback>
            </mc:AlternateContent>
          </a:graphicData>
        </a:graphic>
      </p:graphicFrame>
      <p:grpSp>
        <p:nvGrpSpPr>
          <p:cNvPr id="4" name="组合 3"/>
          <p:cNvGrpSpPr/>
          <p:nvPr/>
        </p:nvGrpSpPr>
        <p:grpSpPr>
          <a:xfrm>
            <a:off x="5589292" y="1730241"/>
            <a:ext cx="3255621" cy="2145618"/>
            <a:chOff x="5069708" y="1721771"/>
            <a:chExt cx="3255621" cy="2145618"/>
          </a:xfrm>
        </p:grpSpPr>
        <p:graphicFrame>
          <p:nvGraphicFramePr>
            <p:cNvPr id="27653" name="Object 5"/>
            <p:cNvGraphicFramePr>
              <a:graphicFrameLocks noChangeAspect="1"/>
            </p:cNvGraphicFramePr>
            <p:nvPr>
              <p:extLst>
                <p:ext uri="{D42A27DB-BD31-4B8C-83A1-F6EECF244321}">
                  <p14:modId xmlns:p14="http://schemas.microsoft.com/office/powerpoint/2010/main" val="108161174"/>
                </p:ext>
              </p:extLst>
            </p:nvPr>
          </p:nvGraphicFramePr>
          <p:xfrm>
            <a:off x="5148063" y="1721771"/>
            <a:ext cx="3126261" cy="1924317"/>
          </p:xfrm>
          <a:graphic>
            <a:graphicData uri="http://schemas.openxmlformats.org/presentationml/2006/ole">
              <mc:AlternateContent xmlns:mc="http://schemas.openxmlformats.org/markup-compatibility/2006">
                <mc:Choice xmlns:v="urn:schemas-microsoft-com:vml" Requires="v">
                  <p:oleObj spid="_x0000_s7193" name="BMP 图像" r:id="rId9" imgW="1720800" imgH="1060560" progId="Paint.Picture">
                    <p:embed/>
                  </p:oleObj>
                </mc:Choice>
                <mc:Fallback>
                  <p:oleObj name="BMP 图像" r:id="rId9" imgW="1720800" imgH="1060560" progId="Paint.Picture">
                    <p:embed/>
                    <p:pic>
                      <p:nvPicPr>
                        <p:cNvPr id="0" name="Object 5"/>
                        <p:cNvPicPr>
                          <a:picLocks noChangeAspect="1" noChangeArrowheads="1"/>
                        </p:cNvPicPr>
                        <p:nvPr/>
                      </p:nvPicPr>
                      <p:blipFill>
                        <a:blip r:embed="rId10"/>
                        <a:srcRect/>
                        <a:stretch>
                          <a:fillRect/>
                        </a:stretch>
                      </p:blipFill>
                      <p:spPr bwMode="auto">
                        <a:xfrm>
                          <a:off x="5148063" y="1721771"/>
                          <a:ext cx="3126261" cy="1924317"/>
                        </a:xfrm>
                        <a:prstGeom prst="rect">
                          <a:avLst/>
                        </a:prstGeom>
                        <a:noFill/>
                        <a:ln>
                          <a:noFill/>
                        </a:ln>
                        <a:effectLst/>
                      </p:spPr>
                    </p:pic>
                  </p:oleObj>
                </mc:Fallback>
              </mc:AlternateContent>
            </a:graphicData>
          </a:graphic>
        </p:graphicFrame>
        <p:sp>
          <p:nvSpPr>
            <p:cNvPr id="3" name="文本框 2"/>
            <p:cNvSpPr txBox="1"/>
            <p:nvPr/>
          </p:nvSpPr>
          <p:spPr>
            <a:xfrm>
              <a:off x="6525129" y="1721771"/>
              <a:ext cx="1800200" cy="1971975"/>
            </a:xfrm>
            <a:prstGeom prst="rect">
              <a:avLst/>
            </a:prstGeom>
            <a:solidFill>
              <a:schemeClr val="bg1"/>
            </a:solidFill>
          </p:spPr>
          <p:txBody>
            <a:bodyPr wrap="square" rtlCol="0">
              <a:spAutoFit/>
            </a:bodyPr>
            <a:lstStyle/>
            <a:p>
              <a:endParaRPr lang="zh-CN" altLang="en-US" dirty="0"/>
            </a:p>
          </p:txBody>
        </p:sp>
        <p:sp>
          <p:nvSpPr>
            <p:cNvPr id="13" name="文本框 12"/>
            <p:cNvSpPr txBox="1">
              <a:spLocks noChangeAspect="1"/>
            </p:cNvSpPr>
            <p:nvPr/>
          </p:nvSpPr>
          <p:spPr>
            <a:xfrm>
              <a:off x="5069708" y="3214752"/>
              <a:ext cx="1573375" cy="652637"/>
            </a:xfrm>
            <a:prstGeom prst="rect">
              <a:avLst/>
            </a:prstGeom>
            <a:solidFill>
              <a:schemeClr val="bg1"/>
            </a:solidFill>
          </p:spPr>
          <p:txBody>
            <a:bodyPr wrap="square" rtlCol="0">
              <a:spAutoFit/>
            </a:bodyPr>
            <a:lstStyle/>
            <a:p>
              <a:endParaRPr lang="zh-CN" altLang="en-US" dirty="0"/>
            </a:p>
          </p:txBody>
        </p:sp>
      </p:grpSp>
      <p:grpSp>
        <p:nvGrpSpPr>
          <p:cNvPr id="6" name="组合 5"/>
          <p:cNvGrpSpPr/>
          <p:nvPr/>
        </p:nvGrpSpPr>
        <p:grpSpPr>
          <a:xfrm>
            <a:off x="5184832" y="3702216"/>
            <a:ext cx="3181029" cy="2197107"/>
            <a:chOff x="5345805" y="3839710"/>
            <a:chExt cx="3181029" cy="2197107"/>
          </a:xfrm>
        </p:grpSpPr>
        <p:graphicFrame>
          <p:nvGraphicFramePr>
            <p:cNvPr id="2" name="Object 5">
              <a:extLst>
                <a:ext uri="{FF2B5EF4-FFF2-40B4-BE49-F238E27FC236}">
                  <a16:creationId xmlns:a16="http://schemas.microsoft.com/office/drawing/2014/main" xmlns="" id="{F29780FA-FD2C-5E18-8F49-62DC6CD803D8}"/>
                </a:ext>
              </a:extLst>
            </p:cNvPr>
            <p:cNvGraphicFramePr>
              <a:graphicFrameLocks noChangeAspect="1"/>
            </p:cNvGraphicFramePr>
            <p:nvPr>
              <p:extLst>
                <p:ext uri="{D42A27DB-BD31-4B8C-83A1-F6EECF244321}">
                  <p14:modId xmlns:p14="http://schemas.microsoft.com/office/powerpoint/2010/main" val="3806525399"/>
                </p:ext>
              </p:extLst>
            </p:nvPr>
          </p:nvGraphicFramePr>
          <p:xfrm>
            <a:off x="5370692" y="3861048"/>
            <a:ext cx="3156142" cy="1944216"/>
          </p:xfrm>
          <a:graphic>
            <a:graphicData uri="http://schemas.openxmlformats.org/presentationml/2006/ole">
              <mc:AlternateContent xmlns:mc="http://schemas.openxmlformats.org/markup-compatibility/2006">
                <mc:Choice xmlns:v="urn:schemas-microsoft-com:vml" Requires="v">
                  <p:oleObj spid="_x0000_s7194" name="BMP 图像" r:id="rId11" imgW="2580952" imgH="1590897" progId="Paint.Picture">
                    <p:embed/>
                  </p:oleObj>
                </mc:Choice>
                <mc:Fallback>
                  <p:oleObj name="BMP 图像" r:id="rId11" imgW="2580952" imgH="1590897" progId="Paint.Picture">
                    <p:embed/>
                    <p:pic>
                      <p:nvPicPr>
                        <p:cNvPr id="27653"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70692" y="3861048"/>
                          <a:ext cx="3156142" cy="1944216"/>
                        </a:xfrm>
                        <a:prstGeom prst="rect">
                          <a:avLst/>
                        </a:prstGeom>
                        <a:noFill/>
                        <a:ln>
                          <a:noFill/>
                        </a:ln>
                        <a:effectLst/>
                      </p:spPr>
                    </p:pic>
                  </p:oleObj>
                </mc:Fallback>
              </mc:AlternateContent>
            </a:graphicData>
          </a:graphic>
        </p:graphicFrame>
        <p:sp>
          <p:nvSpPr>
            <p:cNvPr id="14" name="文本框 13"/>
            <p:cNvSpPr txBox="1">
              <a:spLocks/>
            </p:cNvSpPr>
            <p:nvPr/>
          </p:nvSpPr>
          <p:spPr>
            <a:xfrm>
              <a:off x="7104676" y="5445224"/>
              <a:ext cx="1422158" cy="591593"/>
            </a:xfrm>
            <a:prstGeom prst="rect">
              <a:avLst/>
            </a:prstGeom>
            <a:solidFill>
              <a:schemeClr val="bg1"/>
            </a:solidFill>
          </p:spPr>
          <p:txBody>
            <a:bodyPr wrap="square" rtlCol="0">
              <a:spAutoFit/>
            </a:bodyPr>
            <a:lstStyle/>
            <a:p>
              <a:endParaRPr lang="zh-CN" altLang="en-US" dirty="0"/>
            </a:p>
          </p:txBody>
        </p:sp>
        <p:sp>
          <p:nvSpPr>
            <p:cNvPr id="12" name="文本框 11"/>
            <p:cNvSpPr txBox="1"/>
            <p:nvPr/>
          </p:nvSpPr>
          <p:spPr>
            <a:xfrm>
              <a:off x="5345805" y="3839710"/>
              <a:ext cx="1800200" cy="1971975"/>
            </a:xfrm>
            <a:prstGeom prst="rect">
              <a:avLst/>
            </a:prstGeom>
            <a:solidFill>
              <a:schemeClr val="bg1"/>
            </a:solidFill>
          </p:spPr>
          <p:txBody>
            <a:bodyPr wrap="square" rtlCol="0">
              <a:spAutoFit/>
            </a:bodyPr>
            <a:lstStyle/>
            <a:p>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7654">
                                            <p:txEl>
                                              <p:pRg st="0" end="0"/>
                                            </p:txEl>
                                          </p:spTgt>
                                        </p:tgtEl>
                                        <p:attrNameLst>
                                          <p:attrName>style.visibility</p:attrName>
                                        </p:attrNameLst>
                                      </p:cBhvr>
                                      <p:to>
                                        <p:strVal val="visible"/>
                                      </p:to>
                                    </p:set>
                                    <p:animEffect transition="in" filter="box(out)">
                                      <p:cBhvr>
                                        <p:cTn id="7" dur="500"/>
                                        <p:tgtEl>
                                          <p:spTgt spid="2765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7655"/>
                                        </p:tgtEl>
                                        <p:attrNameLst>
                                          <p:attrName>style.visibility</p:attrName>
                                        </p:attrNameLst>
                                      </p:cBhvr>
                                      <p:to>
                                        <p:strVal val="visible"/>
                                      </p:to>
                                    </p:set>
                                    <p:animEffect transition="in" filter="box(out)">
                                      <p:cBhvr>
                                        <p:cTn id="12" dur="500"/>
                                        <p:tgtEl>
                                          <p:spTgt spid="2765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7656">
                                            <p:txEl>
                                              <p:pRg st="0" end="0"/>
                                            </p:txEl>
                                          </p:spTgt>
                                        </p:tgtEl>
                                        <p:attrNameLst>
                                          <p:attrName>style.visibility</p:attrName>
                                        </p:attrNameLst>
                                      </p:cBhvr>
                                      <p:to>
                                        <p:strVal val="visible"/>
                                      </p:to>
                                    </p:set>
                                    <p:animEffect transition="in" filter="box(out)">
                                      <p:cBhvr>
                                        <p:cTn id="17" dur="500"/>
                                        <p:tgtEl>
                                          <p:spTgt spid="2765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ox(ou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ox(ou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build="p" autoUpdateAnimBg="0"/>
      <p:bldP spid="27656"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p:cNvSpPr txBox="1">
            <a:spLocks noChangeArrowheads="1"/>
          </p:cNvSpPr>
          <p:nvPr/>
        </p:nvSpPr>
        <p:spPr bwMode="auto">
          <a:xfrm>
            <a:off x="611560" y="1263303"/>
            <a:ext cx="7217040" cy="461665"/>
          </a:xfrm>
          <a:prstGeom prst="rect">
            <a:avLst/>
          </a:prstGeom>
          <a:noFill/>
          <a:ln w="9525">
            <a:noFill/>
            <a:miter lim="800000"/>
            <a:headEnd/>
            <a:tailEnd/>
          </a:ln>
          <a:effectLst/>
        </p:spPr>
        <p:txBody>
          <a:bodyPr wrap="none">
            <a:spAutoFit/>
          </a:bodyPr>
          <a:lstStyle/>
          <a:p>
            <a:pPr eaLnBrk="1" hangingPunct="1">
              <a:defRPr/>
            </a:pPr>
            <a:r>
              <a:rPr lang="en-US" altLang="zh-CN" b="1" dirty="0">
                <a:solidFill>
                  <a:schemeClr val="accent2"/>
                </a:solidFill>
                <a:effectLst>
                  <a:outerShdw blurRad="38100" dist="38100" dir="2700000" algn="tl">
                    <a:srgbClr val="C0C0C0"/>
                  </a:outerShdw>
                </a:effectLst>
              </a:rPr>
              <a:t>       </a:t>
            </a:r>
            <a:r>
              <a:rPr lang="zh-CN" altLang="en-US" b="1" dirty="0">
                <a:solidFill>
                  <a:srgbClr val="FF0000"/>
                </a:solidFill>
                <a:latin typeface="黑体" panose="02010609060101010101" pitchFamily="49" charset="-122"/>
                <a:ea typeface="黑体" panose="02010609060101010101" pitchFamily="49" charset="-122"/>
              </a:rPr>
              <a:t>力对轴之矩</a:t>
            </a:r>
            <a:r>
              <a:rPr lang="zh-CN" altLang="en-US" dirty="0">
                <a:latin typeface="黑体" panose="02010609060101010101" pitchFamily="49" charset="-122"/>
                <a:ea typeface="黑体" panose="02010609060101010101" pitchFamily="49" charset="-122"/>
              </a:rPr>
              <a:t>是</a:t>
            </a:r>
            <a:r>
              <a:rPr lang="zh-CN" altLang="en-US" b="1" dirty="0">
                <a:latin typeface="黑体" panose="02010609060101010101" pitchFamily="49" charset="-122"/>
                <a:ea typeface="黑体" panose="02010609060101010101" pitchFamily="49" charset="-122"/>
              </a:rPr>
              <a:t>力使物体绕某轴转动效果的度量</a:t>
            </a:r>
            <a:r>
              <a:rPr lang="zh-CN" altLang="en-US" dirty="0">
                <a:latin typeface="黑体" panose="02010609060101010101" pitchFamily="49" charset="-122"/>
                <a:ea typeface="黑体" panose="02010609060101010101" pitchFamily="49" charset="-122"/>
              </a:rPr>
              <a:t>。</a:t>
            </a:r>
          </a:p>
        </p:txBody>
      </p:sp>
      <p:sp>
        <p:nvSpPr>
          <p:cNvPr id="3" name="Text Box 3"/>
          <p:cNvSpPr txBox="1">
            <a:spLocks noChangeArrowheads="1"/>
          </p:cNvSpPr>
          <p:nvPr/>
        </p:nvSpPr>
        <p:spPr bwMode="auto">
          <a:xfrm>
            <a:off x="791529" y="545279"/>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2</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力对轴之矩</a:t>
            </a:r>
          </a:p>
        </p:txBody>
      </p:sp>
      <p:pic>
        <p:nvPicPr>
          <p:cNvPr id="4" name="Picture 15" descr="HWOCRTEMP_ROC3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5875" y="2071688"/>
            <a:ext cx="3027363"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16"/>
          <p:cNvSpPr>
            <a:spLocks noChangeArrowheads="1"/>
          </p:cNvSpPr>
          <p:nvPr/>
        </p:nvSpPr>
        <p:spPr bwMode="auto">
          <a:xfrm rot="840000">
            <a:off x="1430338" y="4879975"/>
            <a:ext cx="1219200" cy="152400"/>
          </a:xfrm>
          <a:prstGeom prst="rightArrow">
            <a:avLst>
              <a:gd name="adj1" fmla="val 50000"/>
              <a:gd name="adj2" fmla="val 200000"/>
            </a:avLst>
          </a:prstGeom>
          <a:solidFill>
            <a:srgbClr val="C81204"/>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nvGrpSpPr>
          <p:cNvPr id="6" name="Group 47"/>
          <p:cNvGrpSpPr>
            <a:grpSpLocks/>
          </p:cNvGrpSpPr>
          <p:nvPr/>
        </p:nvGrpSpPr>
        <p:grpSpPr bwMode="auto">
          <a:xfrm>
            <a:off x="4588610" y="1840706"/>
            <a:ext cx="3697288" cy="4125913"/>
            <a:chOff x="3264" y="960"/>
            <a:chExt cx="2329" cy="2599"/>
          </a:xfrm>
        </p:grpSpPr>
        <p:pic>
          <p:nvPicPr>
            <p:cNvPr id="7" name="Picture 33" descr="tu静(2)-12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4" y="960"/>
              <a:ext cx="2329" cy="2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40"/>
            <p:cNvGrpSpPr>
              <a:grpSpLocks/>
            </p:cNvGrpSpPr>
            <p:nvPr/>
          </p:nvGrpSpPr>
          <p:grpSpPr bwMode="auto">
            <a:xfrm>
              <a:off x="4482" y="1815"/>
              <a:ext cx="690" cy="1200"/>
              <a:chOff x="4482" y="1815"/>
              <a:chExt cx="690" cy="1200"/>
            </a:xfrm>
          </p:grpSpPr>
          <p:sp>
            <p:nvSpPr>
              <p:cNvPr id="9" name="Freeform 37" descr="编织物"/>
              <p:cNvSpPr>
                <a:spLocks/>
              </p:cNvSpPr>
              <p:nvPr/>
            </p:nvSpPr>
            <p:spPr bwMode="auto">
              <a:xfrm>
                <a:off x="4482" y="1815"/>
                <a:ext cx="96" cy="816"/>
              </a:xfrm>
              <a:custGeom>
                <a:avLst/>
                <a:gdLst>
                  <a:gd name="T0" fmla="*/ 0 w 240"/>
                  <a:gd name="T1" fmla="*/ 4 h 912"/>
                  <a:gd name="T2" fmla="*/ 0 w 240"/>
                  <a:gd name="T3" fmla="*/ 11 h 912"/>
                  <a:gd name="T4" fmla="*/ 0 w 240"/>
                  <a:gd name="T5" fmla="*/ 72 h 912"/>
                  <a:gd name="T6" fmla="*/ 0 w 240"/>
                  <a:gd name="T7" fmla="*/ 59 h 912"/>
                  <a:gd name="T8" fmla="*/ 0 w 240"/>
                  <a:gd name="T9" fmla="*/ 0 h 912"/>
                  <a:gd name="T10" fmla="*/ 0 w 240"/>
                  <a:gd name="T11" fmla="*/ 4 h 912"/>
                  <a:gd name="T12" fmla="*/ 0 60000 65536"/>
                  <a:gd name="T13" fmla="*/ 0 60000 65536"/>
                  <a:gd name="T14" fmla="*/ 0 60000 65536"/>
                  <a:gd name="T15" fmla="*/ 0 60000 65536"/>
                  <a:gd name="T16" fmla="*/ 0 60000 65536"/>
                  <a:gd name="T17" fmla="*/ 0 60000 65536"/>
                  <a:gd name="T18" fmla="*/ 0 w 240"/>
                  <a:gd name="T19" fmla="*/ 0 h 912"/>
                  <a:gd name="T20" fmla="*/ 240 w 240"/>
                  <a:gd name="T21" fmla="*/ 912 h 912"/>
                </a:gdLst>
                <a:ahLst/>
                <a:cxnLst>
                  <a:cxn ang="T12">
                    <a:pos x="T0" y="T1"/>
                  </a:cxn>
                  <a:cxn ang="T13">
                    <a:pos x="T2" y="T3"/>
                  </a:cxn>
                  <a:cxn ang="T14">
                    <a:pos x="T4" y="T5"/>
                  </a:cxn>
                  <a:cxn ang="T15">
                    <a:pos x="T6" y="T7"/>
                  </a:cxn>
                  <a:cxn ang="T16">
                    <a:pos x="T8" y="T9"/>
                  </a:cxn>
                  <a:cxn ang="T17">
                    <a:pos x="T10" y="T11"/>
                  </a:cxn>
                </a:cxnLst>
                <a:rect l="T18" t="T19" r="T20" b="T21"/>
                <a:pathLst>
                  <a:path w="240" h="912">
                    <a:moveTo>
                      <a:pt x="96" y="48"/>
                    </a:moveTo>
                    <a:lnTo>
                      <a:pt x="240" y="144"/>
                    </a:lnTo>
                    <a:lnTo>
                      <a:pt x="240" y="912"/>
                    </a:lnTo>
                    <a:lnTo>
                      <a:pt x="0" y="768"/>
                    </a:lnTo>
                    <a:lnTo>
                      <a:pt x="0" y="0"/>
                    </a:lnTo>
                    <a:lnTo>
                      <a:pt x="96" y="48"/>
                    </a:lnTo>
                    <a:close/>
                  </a:path>
                </a:pathLst>
              </a:cu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en-US"/>
              </a:p>
            </p:txBody>
          </p:sp>
          <p:sp>
            <p:nvSpPr>
              <p:cNvPr id="10" name="Freeform 38"/>
              <p:cNvSpPr>
                <a:spLocks/>
              </p:cNvSpPr>
              <p:nvPr/>
            </p:nvSpPr>
            <p:spPr bwMode="auto">
              <a:xfrm>
                <a:off x="4548" y="2631"/>
                <a:ext cx="624" cy="384"/>
              </a:xfrm>
              <a:custGeom>
                <a:avLst/>
                <a:gdLst>
                  <a:gd name="T0" fmla="*/ 48 w 624"/>
                  <a:gd name="T1" fmla="*/ 0 h 384"/>
                  <a:gd name="T2" fmla="*/ 624 w 624"/>
                  <a:gd name="T3" fmla="*/ 336 h 384"/>
                  <a:gd name="T4" fmla="*/ 528 w 624"/>
                  <a:gd name="T5" fmla="*/ 384 h 384"/>
                  <a:gd name="T6" fmla="*/ 0 w 624"/>
                  <a:gd name="T7" fmla="*/ 96 h 384"/>
                  <a:gd name="T8" fmla="*/ 48 w 624"/>
                  <a:gd name="T9" fmla="*/ 0 h 384"/>
                  <a:gd name="T10" fmla="*/ 0 60000 65536"/>
                  <a:gd name="T11" fmla="*/ 0 60000 65536"/>
                  <a:gd name="T12" fmla="*/ 0 60000 65536"/>
                  <a:gd name="T13" fmla="*/ 0 60000 65536"/>
                  <a:gd name="T14" fmla="*/ 0 60000 65536"/>
                  <a:gd name="T15" fmla="*/ 0 w 624"/>
                  <a:gd name="T16" fmla="*/ 0 h 384"/>
                  <a:gd name="T17" fmla="*/ 624 w 624"/>
                  <a:gd name="T18" fmla="*/ 384 h 384"/>
                </a:gdLst>
                <a:ahLst/>
                <a:cxnLst>
                  <a:cxn ang="T10">
                    <a:pos x="T0" y="T1"/>
                  </a:cxn>
                  <a:cxn ang="T11">
                    <a:pos x="T2" y="T3"/>
                  </a:cxn>
                  <a:cxn ang="T12">
                    <a:pos x="T4" y="T5"/>
                  </a:cxn>
                  <a:cxn ang="T13">
                    <a:pos x="T6" y="T7"/>
                  </a:cxn>
                  <a:cxn ang="T14">
                    <a:pos x="T8" y="T9"/>
                  </a:cxn>
                </a:cxnLst>
                <a:rect l="T15" t="T16" r="T17" b="T18"/>
                <a:pathLst>
                  <a:path w="624" h="384">
                    <a:moveTo>
                      <a:pt x="48" y="0"/>
                    </a:moveTo>
                    <a:lnTo>
                      <a:pt x="624" y="336"/>
                    </a:lnTo>
                    <a:lnTo>
                      <a:pt x="528" y="384"/>
                    </a:lnTo>
                    <a:lnTo>
                      <a:pt x="0" y="96"/>
                    </a:lnTo>
                    <a:lnTo>
                      <a:pt x="48" y="0"/>
                    </a:lnTo>
                    <a:close/>
                  </a:path>
                </a:pathLst>
              </a:custGeom>
              <a:solidFill>
                <a:schemeClr val="bg1"/>
              </a:solidFill>
              <a:ln w="9525">
                <a:solidFill>
                  <a:srgbClr val="FFFFFF"/>
                </a:solidFill>
                <a:miter lim="800000"/>
                <a:headEnd/>
                <a:tailEnd/>
              </a:ln>
            </p:spPr>
            <p:txBody>
              <a:bodyPr wrap="none"/>
              <a:lstStyle/>
              <a:p>
                <a:endParaRPr lang="zh-CN" altLang="en-US"/>
              </a:p>
            </p:txBody>
          </p:sp>
          <p:sp>
            <p:nvSpPr>
              <p:cNvPr id="11" name="Freeform 39"/>
              <p:cNvSpPr>
                <a:spLocks/>
              </p:cNvSpPr>
              <p:nvPr/>
            </p:nvSpPr>
            <p:spPr bwMode="auto">
              <a:xfrm>
                <a:off x="4599" y="2634"/>
                <a:ext cx="57" cy="192"/>
              </a:xfrm>
              <a:custGeom>
                <a:avLst/>
                <a:gdLst>
                  <a:gd name="T0" fmla="*/ 0 w 96"/>
                  <a:gd name="T1" fmla="*/ 0 h 192"/>
                  <a:gd name="T2" fmla="*/ 0 w 96"/>
                  <a:gd name="T3" fmla="*/ 192 h 192"/>
                  <a:gd name="T4" fmla="*/ 1 w 96"/>
                  <a:gd name="T5" fmla="*/ 192 h 192"/>
                  <a:gd name="T6" fmla="*/ 1 w 96"/>
                  <a:gd name="T7" fmla="*/ 0 h 192"/>
                  <a:gd name="T8" fmla="*/ 0 w 96"/>
                  <a:gd name="T9" fmla="*/ 0 h 192"/>
                  <a:gd name="T10" fmla="*/ 0 60000 65536"/>
                  <a:gd name="T11" fmla="*/ 0 60000 65536"/>
                  <a:gd name="T12" fmla="*/ 0 60000 65536"/>
                  <a:gd name="T13" fmla="*/ 0 60000 65536"/>
                  <a:gd name="T14" fmla="*/ 0 60000 65536"/>
                  <a:gd name="T15" fmla="*/ 0 w 96"/>
                  <a:gd name="T16" fmla="*/ 0 h 192"/>
                  <a:gd name="T17" fmla="*/ 96 w 96"/>
                  <a:gd name="T18" fmla="*/ 192 h 192"/>
                </a:gdLst>
                <a:ahLst/>
                <a:cxnLst>
                  <a:cxn ang="T10">
                    <a:pos x="T0" y="T1"/>
                  </a:cxn>
                  <a:cxn ang="T11">
                    <a:pos x="T2" y="T3"/>
                  </a:cxn>
                  <a:cxn ang="T12">
                    <a:pos x="T4" y="T5"/>
                  </a:cxn>
                  <a:cxn ang="T13">
                    <a:pos x="T6" y="T7"/>
                  </a:cxn>
                  <a:cxn ang="T14">
                    <a:pos x="T8" y="T9"/>
                  </a:cxn>
                </a:cxnLst>
                <a:rect l="T15" t="T16" r="T17" b="T18"/>
                <a:pathLst>
                  <a:path w="96" h="192">
                    <a:moveTo>
                      <a:pt x="0" y="0"/>
                    </a:moveTo>
                    <a:lnTo>
                      <a:pt x="0" y="192"/>
                    </a:lnTo>
                    <a:lnTo>
                      <a:pt x="96" y="192"/>
                    </a:lnTo>
                    <a:lnTo>
                      <a:pt x="96" y="0"/>
                    </a:lnTo>
                    <a:lnTo>
                      <a:pt x="0" y="0"/>
                    </a:lnTo>
                    <a:close/>
                  </a:path>
                </a:pathLst>
              </a:custGeom>
              <a:solidFill>
                <a:srgbClr val="55470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en-US"/>
              </a:p>
            </p:txBody>
          </p:sp>
        </p:grpSp>
      </p:grpSp>
      <p:grpSp>
        <p:nvGrpSpPr>
          <p:cNvPr id="12" name="Group 45"/>
          <p:cNvGrpSpPr>
            <a:grpSpLocks/>
          </p:cNvGrpSpPr>
          <p:nvPr/>
        </p:nvGrpSpPr>
        <p:grpSpPr bwMode="auto">
          <a:xfrm>
            <a:off x="2882900" y="1998663"/>
            <a:ext cx="609600" cy="3200400"/>
            <a:chOff x="2352" y="1344"/>
            <a:chExt cx="384" cy="2016"/>
          </a:xfrm>
        </p:grpSpPr>
        <p:sp>
          <p:nvSpPr>
            <p:cNvPr id="13" name="Freeform 18"/>
            <p:cNvSpPr>
              <a:spLocks/>
            </p:cNvSpPr>
            <p:nvPr/>
          </p:nvSpPr>
          <p:spPr bwMode="auto">
            <a:xfrm>
              <a:off x="2352" y="2544"/>
              <a:ext cx="384" cy="200"/>
            </a:xfrm>
            <a:custGeom>
              <a:avLst/>
              <a:gdLst>
                <a:gd name="T0" fmla="*/ 1 w 552"/>
                <a:gd name="T1" fmla="*/ 0 h 152"/>
                <a:gd name="T2" fmla="*/ 0 w 552"/>
                <a:gd name="T3" fmla="*/ 26254 h 152"/>
                <a:gd name="T4" fmla="*/ 1 w 552"/>
                <a:gd name="T5" fmla="*/ 52843 h 152"/>
                <a:gd name="T6" fmla="*/ 1 w 552"/>
                <a:gd name="T7" fmla="*/ 79316 h 152"/>
                <a:gd name="T8" fmla="*/ 1 w 552"/>
                <a:gd name="T9" fmla="*/ 79316 h 152"/>
                <a:gd name="T10" fmla="*/ 1 w 552"/>
                <a:gd name="T11" fmla="*/ 52843 h 152"/>
                <a:gd name="T12" fmla="*/ 1 w 552"/>
                <a:gd name="T13" fmla="*/ 0 h 152"/>
                <a:gd name="T14" fmla="*/ 0 60000 65536"/>
                <a:gd name="T15" fmla="*/ 0 60000 65536"/>
                <a:gd name="T16" fmla="*/ 0 60000 65536"/>
                <a:gd name="T17" fmla="*/ 0 60000 65536"/>
                <a:gd name="T18" fmla="*/ 0 60000 65536"/>
                <a:gd name="T19" fmla="*/ 0 60000 65536"/>
                <a:gd name="T20" fmla="*/ 0 60000 65536"/>
                <a:gd name="T21" fmla="*/ 0 w 552"/>
                <a:gd name="T22" fmla="*/ 0 h 152"/>
                <a:gd name="T23" fmla="*/ 552 w 552"/>
                <a:gd name="T24" fmla="*/ 152 h 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52" h="152">
                  <a:moveTo>
                    <a:pt x="48" y="0"/>
                  </a:moveTo>
                  <a:cubicBezTo>
                    <a:pt x="24" y="16"/>
                    <a:pt x="0" y="32"/>
                    <a:pt x="0" y="48"/>
                  </a:cubicBezTo>
                  <a:cubicBezTo>
                    <a:pt x="0" y="64"/>
                    <a:pt x="16" y="80"/>
                    <a:pt x="48" y="96"/>
                  </a:cubicBezTo>
                  <a:cubicBezTo>
                    <a:pt x="80" y="112"/>
                    <a:pt x="144" y="136"/>
                    <a:pt x="192" y="144"/>
                  </a:cubicBezTo>
                  <a:cubicBezTo>
                    <a:pt x="240" y="152"/>
                    <a:pt x="280" y="152"/>
                    <a:pt x="336" y="144"/>
                  </a:cubicBezTo>
                  <a:cubicBezTo>
                    <a:pt x="392" y="136"/>
                    <a:pt x="504" y="120"/>
                    <a:pt x="528" y="96"/>
                  </a:cubicBezTo>
                  <a:cubicBezTo>
                    <a:pt x="552" y="72"/>
                    <a:pt x="488" y="16"/>
                    <a:pt x="480" y="0"/>
                  </a:cubicBezTo>
                </a:path>
              </a:pathLst>
            </a:custGeom>
            <a:noFill/>
            <a:ln w="25400">
              <a:solidFill>
                <a:srgbClr val="FF0000"/>
              </a:solidFill>
              <a:miter lim="800000"/>
              <a:headEnd/>
              <a:tailEnd type="arrow"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4" name="Line 42"/>
            <p:cNvSpPr>
              <a:spLocks noChangeShapeType="1"/>
            </p:cNvSpPr>
            <p:nvPr/>
          </p:nvSpPr>
          <p:spPr bwMode="auto">
            <a:xfrm>
              <a:off x="2562" y="1344"/>
              <a:ext cx="0" cy="2016"/>
            </a:xfrm>
            <a:prstGeom prst="line">
              <a:avLst/>
            </a:prstGeom>
            <a:noFill/>
            <a:ln w="22225">
              <a:solidFill>
                <a:srgbClr val="C81204"/>
              </a:solidFill>
              <a:miter lim="800000"/>
              <a:headEnd type="triangle" w="sm" len="lg"/>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5" name="Group 46"/>
          <p:cNvGrpSpPr>
            <a:grpSpLocks/>
          </p:cNvGrpSpPr>
          <p:nvPr/>
        </p:nvGrpSpPr>
        <p:grpSpPr bwMode="auto">
          <a:xfrm>
            <a:off x="5544176" y="2008949"/>
            <a:ext cx="381000" cy="3200400"/>
            <a:chOff x="3864" y="1056"/>
            <a:chExt cx="240" cy="2016"/>
          </a:xfrm>
        </p:grpSpPr>
        <p:sp>
          <p:nvSpPr>
            <p:cNvPr id="16" name="Line 41"/>
            <p:cNvSpPr>
              <a:spLocks noChangeShapeType="1"/>
            </p:cNvSpPr>
            <p:nvPr/>
          </p:nvSpPr>
          <p:spPr bwMode="auto">
            <a:xfrm>
              <a:off x="3984" y="1056"/>
              <a:ext cx="0" cy="2016"/>
            </a:xfrm>
            <a:prstGeom prst="line">
              <a:avLst/>
            </a:prstGeom>
            <a:noFill/>
            <a:ln w="22225">
              <a:solidFill>
                <a:srgbClr val="C81204"/>
              </a:solidFill>
              <a:miter lim="800000"/>
              <a:headEnd type="triangle" w="sm"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Freeform 44"/>
            <p:cNvSpPr>
              <a:spLocks/>
            </p:cNvSpPr>
            <p:nvPr/>
          </p:nvSpPr>
          <p:spPr bwMode="auto">
            <a:xfrm>
              <a:off x="3864" y="1362"/>
              <a:ext cx="240" cy="152"/>
            </a:xfrm>
            <a:custGeom>
              <a:avLst/>
              <a:gdLst>
                <a:gd name="T0" fmla="*/ 0 w 552"/>
                <a:gd name="T1" fmla="*/ 0 h 152"/>
                <a:gd name="T2" fmla="*/ 0 w 552"/>
                <a:gd name="T3" fmla="*/ 48 h 152"/>
                <a:gd name="T4" fmla="*/ 0 w 552"/>
                <a:gd name="T5" fmla="*/ 96 h 152"/>
                <a:gd name="T6" fmla="*/ 0 w 552"/>
                <a:gd name="T7" fmla="*/ 144 h 152"/>
                <a:gd name="T8" fmla="*/ 0 w 552"/>
                <a:gd name="T9" fmla="*/ 144 h 152"/>
                <a:gd name="T10" fmla="*/ 0 w 552"/>
                <a:gd name="T11" fmla="*/ 96 h 152"/>
                <a:gd name="T12" fmla="*/ 0 w 552"/>
                <a:gd name="T13" fmla="*/ 0 h 152"/>
                <a:gd name="T14" fmla="*/ 0 60000 65536"/>
                <a:gd name="T15" fmla="*/ 0 60000 65536"/>
                <a:gd name="T16" fmla="*/ 0 60000 65536"/>
                <a:gd name="T17" fmla="*/ 0 60000 65536"/>
                <a:gd name="T18" fmla="*/ 0 60000 65536"/>
                <a:gd name="T19" fmla="*/ 0 60000 65536"/>
                <a:gd name="T20" fmla="*/ 0 60000 65536"/>
                <a:gd name="T21" fmla="*/ 0 w 552"/>
                <a:gd name="T22" fmla="*/ 0 h 152"/>
                <a:gd name="T23" fmla="*/ 552 w 552"/>
                <a:gd name="T24" fmla="*/ 152 h 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52" h="152">
                  <a:moveTo>
                    <a:pt x="48" y="0"/>
                  </a:moveTo>
                  <a:cubicBezTo>
                    <a:pt x="24" y="16"/>
                    <a:pt x="0" y="32"/>
                    <a:pt x="0" y="48"/>
                  </a:cubicBezTo>
                  <a:cubicBezTo>
                    <a:pt x="0" y="64"/>
                    <a:pt x="16" y="80"/>
                    <a:pt x="48" y="96"/>
                  </a:cubicBezTo>
                  <a:cubicBezTo>
                    <a:pt x="80" y="112"/>
                    <a:pt x="144" y="136"/>
                    <a:pt x="192" y="144"/>
                  </a:cubicBezTo>
                  <a:cubicBezTo>
                    <a:pt x="240" y="152"/>
                    <a:pt x="280" y="152"/>
                    <a:pt x="336" y="144"/>
                  </a:cubicBezTo>
                  <a:cubicBezTo>
                    <a:pt x="392" y="136"/>
                    <a:pt x="504" y="120"/>
                    <a:pt x="528" y="96"/>
                  </a:cubicBezTo>
                  <a:cubicBezTo>
                    <a:pt x="552" y="72"/>
                    <a:pt x="488" y="16"/>
                    <a:pt x="480" y="0"/>
                  </a:cubicBezTo>
                </a:path>
              </a:pathLst>
            </a:custGeom>
            <a:noFill/>
            <a:ln w="25400">
              <a:solidFill>
                <a:srgbClr val="FF0000"/>
              </a:solidFill>
              <a:miter lim="800000"/>
              <a:headEnd/>
              <a:tailEnd type="arrow"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18" name="AutoShape 48"/>
          <p:cNvSpPr>
            <a:spLocks noChangeArrowheads="1"/>
          </p:cNvSpPr>
          <p:nvPr/>
        </p:nvSpPr>
        <p:spPr bwMode="auto">
          <a:xfrm rot="-1800000">
            <a:off x="5347069" y="4831495"/>
            <a:ext cx="1187450" cy="228600"/>
          </a:xfrm>
          <a:prstGeom prst="rightArrow">
            <a:avLst>
              <a:gd name="adj1" fmla="val 50000"/>
              <a:gd name="adj2" fmla="val 129861"/>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Tree>
    <p:extLst>
      <p:ext uri="{BB962C8B-B14F-4D97-AF65-F5344CB8AC3E}">
        <p14:creationId xmlns:p14="http://schemas.microsoft.com/office/powerpoint/2010/main" val="420404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ou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heckerboard(across)">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ou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ou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1" presetClass="entr" presetSubtype="0" fill="hold" grpId="0" nodeType="clickEffect">
                                  <p:stCondLst>
                                    <p:cond delay="0"/>
                                  </p:stCondLst>
                                  <p:childTnLst>
                                    <p:set>
                                      <p:cBhvr>
                                        <p:cTn id="31" dur="500">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ox(out)">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5"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0254" name="Object 14"/>
          <p:cNvGraphicFramePr>
            <a:graphicFrameLocks noChangeAspect="1"/>
          </p:cNvGraphicFramePr>
          <p:nvPr>
            <p:extLst>
              <p:ext uri="{D42A27DB-BD31-4B8C-83A1-F6EECF244321}">
                <p14:modId xmlns:p14="http://schemas.microsoft.com/office/powerpoint/2010/main" val="3102019126"/>
              </p:ext>
            </p:extLst>
          </p:nvPr>
        </p:nvGraphicFramePr>
        <p:xfrm>
          <a:off x="1225078" y="2521867"/>
          <a:ext cx="2592388" cy="469900"/>
        </p:xfrm>
        <a:graphic>
          <a:graphicData uri="http://schemas.openxmlformats.org/presentationml/2006/ole">
            <mc:AlternateContent xmlns:mc="http://schemas.openxmlformats.org/markup-compatibility/2006">
              <mc:Choice xmlns:v="urn:schemas-microsoft-com:vml" Requires="v">
                <p:oleObj spid="_x0000_s8202" name="Equation" r:id="rId3" imgW="2298700" imgH="419100" progId="Equation.3">
                  <p:embed/>
                </p:oleObj>
              </mc:Choice>
              <mc:Fallback>
                <p:oleObj name="Equation" r:id="rId3" imgW="2298700" imgH="419100"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078" y="2521867"/>
                        <a:ext cx="2592388"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5" name="Object 15"/>
          <p:cNvGraphicFramePr>
            <a:graphicFrameLocks noChangeAspect="1"/>
          </p:cNvGraphicFramePr>
          <p:nvPr>
            <p:extLst>
              <p:ext uri="{D42A27DB-BD31-4B8C-83A1-F6EECF244321}">
                <p14:modId xmlns:p14="http://schemas.microsoft.com/office/powerpoint/2010/main" val="3368548137"/>
              </p:ext>
            </p:extLst>
          </p:nvPr>
        </p:nvGraphicFramePr>
        <p:xfrm>
          <a:off x="2277434" y="2985782"/>
          <a:ext cx="1489075" cy="598487"/>
        </p:xfrm>
        <a:graphic>
          <a:graphicData uri="http://schemas.openxmlformats.org/presentationml/2006/ole">
            <mc:AlternateContent xmlns:mc="http://schemas.openxmlformats.org/markup-compatibility/2006">
              <mc:Choice xmlns:v="urn:schemas-microsoft-com:vml" Requires="v">
                <p:oleObj spid="_x0000_s8203" name="公式" r:id="rId5" imgW="596900" imgH="241300" progId="Equation.3">
                  <p:embed/>
                </p:oleObj>
              </mc:Choice>
              <mc:Fallback>
                <p:oleObj name="公式" r:id="rId5" imgW="596900" imgH="2413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7434" y="2985782"/>
                        <a:ext cx="1489075" cy="59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6" name="Text Box 16"/>
          <p:cNvSpPr txBox="1">
            <a:spLocks noChangeArrowheads="1"/>
          </p:cNvSpPr>
          <p:nvPr/>
        </p:nvSpPr>
        <p:spPr bwMode="auto">
          <a:xfrm>
            <a:off x="616904" y="1523503"/>
            <a:ext cx="4952543" cy="830997"/>
          </a:xfrm>
          <a:prstGeom prst="rect">
            <a:avLst/>
          </a:prstGeom>
          <a:noFill/>
          <a:ln w="9525">
            <a:noFill/>
            <a:miter lim="800000"/>
            <a:headEnd/>
            <a:tailEnd/>
          </a:ln>
          <a:effectLst/>
        </p:spPr>
        <p:txBody>
          <a:bodyPr wrap="square">
            <a:spAutoFit/>
          </a:bodyPr>
          <a:lstStyle/>
          <a:p>
            <a:pPr eaLnBrk="1" hangingPunct="1">
              <a:defRPr/>
            </a:pPr>
            <a:r>
              <a:rPr lang="zh-CN" altLang="en-US" b="1" dirty="0">
                <a:latin typeface="楷体" panose="02010609060101010101" pitchFamily="49" charset="-122"/>
                <a:ea typeface="楷体" panose="02010609060101010101" pitchFamily="49" charset="-122"/>
              </a:rPr>
              <a:t>力对轴之矩等于该力在与轴垂直的平面上的投影对轴与平面交点之矩。</a:t>
            </a:r>
          </a:p>
        </p:txBody>
      </p:sp>
      <p:sp>
        <p:nvSpPr>
          <p:cNvPr id="10257" name="Text Box 17"/>
          <p:cNvSpPr txBox="1">
            <a:spLocks noChangeArrowheads="1"/>
          </p:cNvSpPr>
          <p:nvPr/>
        </p:nvSpPr>
        <p:spPr bwMode="auto">
          <a:xfrm>
            <a:off x="1115616" y="4757449"/>
            <a:ext cx="648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a:t>
            </a:r>
            <a:r>
              <a:rPr lang="zh-CN" altLang="en-US" b="1" dirty="0">
                <a:latin typeface="楷体" panose="02010609060101010101" pitchFamily="49" charset="-122"/>
                <a:ea typeface="楷体" panose="02010609060101010101" pitchFamily="49" charset="-122"/>
              </a:rPr>
              <a:t>力与轴</a:t>
            </a:r>
            <a:r>
              <a:rPr lang="zh-CN" altLang="en-US" b="1" dirty="0">
                <a:solidFill>
                  <a:srgbClr val="FF0000"/>
                </a:solidFill>
                <a:latin typeface="楷体" panose="02010609060101010101" pitchFamily="49" charset="-122"/>
                <a:ea typeface="楷体" panose="02010609060101010101" pitchFamily="49" charset="-122"/>
              </a:rPr>
              <a:t>平行</a:t>
            </a:r>
            <a:r>
              <a:rPr lang="zh-CN" altLang="en-US" b="1" dirty="0">
                <a:latin typeface="楷体" panose="02010609060101010101" pitchFamily="49" charset="-122"/>
                <a:ea typeface="楷体" panose="02010609060101010101" pitchFamily="49" charset="-122"/>
              </a:rPr>
              <a:t>或</a:t>
            </a:r>
            <a:r>
              <a:rPr lang="zh-CN" altLang="en-US" b="1" dirty="0">
                <a:solidFill>
                  <a:srgbClr val="FF0000"/>
                </a:solidFill>
                <a:latin typeface="楷体" panose="02010609060101010101" pitchFamily="49" charset="-122"/>
                <a:ea typeface="楷体" panose="02010609060101010101" pitchFamily="49" charset="-122"/>
              </a:rPr>
              <a:t>相交</a:t>
            </a:r>
            <a:r>
              <a:rPr lang="zh-CN" altLang="en-US" b="1" dirty="0">
                <a:latin typeface="楷体" panose="02010609060101010101" pitchFamily="49" charset="-122"/>
                <a:ea typeface="楷体" panose="02010609060101010101" pitchFamily="49" charset="-122"/>
              </a:rPr>
              <a:t>时，力对该轴的矩等于零</a:t>
            </a:r>
            <a:r>
              <a:rPr lang="zh-CN" altLang="en-US" b="1" dirty="0"/>
              <a:t>。</a:t>
            </a:r>
          </a:p>
        </p:txBody>
      </p:sp>
      <p:grpSp>
        <p:nvGrpSpPr>
          <p:cNvPr id="2" name="Group 20"/>
          <p:cNvGrpSpPr>
            <a:grpSpLocks/>
          </p:cNvGrpSpPr>
          <p:nvPr/>
        </p:nvGrpSpPr>
        <p:grpSpPr bwMode="auto">
          <a:xfrm>
            <a:off x="5436096" y="1052736"/>
            <a:ext cx="3048000" cy="3246437"/>
            <a:chOff x="3552" y="1056"/>
            <a:chExt cx="1920" cy="2045"/>
          </a:xfrm>
        </p:grpSpPr>
        <p:grpSp>
          <p:nvGrpSpPr>
            <p:cNvPr id="8203" name="Group 21"/>
            <p:cNvGrpSpPr>
              <a:grpSpLocks/>
            </p:cNvGrpSpPr>
            <p:nvPr/>
          </p:nvGrpSpPr>
          <p:grpSpPr bwMode="auto">
            <a:xfrm>
              <a:off x="3552" y="1056"/>
              <a:ext cx="1920" cy="2045"/>
              <a:chOff x="3552" y="1056"/>
              <a:chExt cx="1920" cy="2045"/>
            </a:xfrm>
          </p:grpSpPr>
          <p:pic>
            <p:nvPicPr>
              <p:cNvPr id="8206" name="Picture 22" descr="1-7-1"/>
              <p:cNvPicPr>
                <a:picLocks noChangeAspect="1" noChangeArrowheads="1"/>
              </p:cNvPicPr>
              <p:nvPr/>
            </p:nvPicPr>
            <p:blipFill>
              <a:blip r:embed="rId7">
                <a:lum bright="-6000" contrast="18000"/>
                <a:extLst>
                  <a:ext uri="{28A0092B-C50C-407E-A947-70E740481C1C}">
                    <a14:useLocalDpi xmlns:a14="http://schemas.microsoft.com/office/drawing/2010/main" val="0"/>
                  </a:ext>
                </a:extLst>
              </a:blip>
              <a:srcRect/>
              <a:stretch>
                <a:fillRect/>
              </a:stretch>
            </p:blipFill>
            <p:spPr bwMode="auto">
              <a:xfrm>
                <a:off x="3552" y="1056"/>
                <a:ext cx="1920" cy="1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07" name="Group 23"/>
              <p:cNvGrpSpPr>
                <a:grpSpLocks/>
              </p:cNvGrpSpPr>
              <p:nvPr/>
            </p:nvGrpSpPr>
            <p:grpSpPr bwMode="auto">
              <a:xfrm>
                <a:off x="3712" y="2736"/>
                <a:ext cx="1424" cy="363"/>
                <a:chOff x="3712" y="2736"/>
                <a:chExt cx="1424" cy="363"/>
              </a:xfrm>
            </p:grpSpPr>
            <p:sp>
              <p:nvSpPr>
                <p:cNvPr id="8217" name="Line 24"/>
                <p:cNvSpPr>
                  <a:spLocks noChangeShapeType="1"/>
                </p:cNvSpPr>
                <p:nvPr/>
              </p:nvSpPr>
              <p:spPr bwMode="auto">
                <a:xfrm>
                  <a:off x="4080" y="2736"/>
                  <a:ext cx="1056" cy="0"/>
                </a:xfrm>
                <a:prstGeom prst="line">
                  <a:avLst/>
                </a:prstGeom>
                <a:noFill/>
                <a:ln w="9525">
                  <a:solidFill>
                    <a:srgbClr val="A02C98"/>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8" name="Line 25"/>
                <p:cNvSpPr>
                  <a:spLocks noChangeShapeType="1"/>
                </p:cNvSpPr>
                <p:nvPr/>
              </p:nvSpPr>
              <p:spPr bwMode="auto">
                <a:xfrm flipH="1">
                  <a:off x="3712" y="2736"/>
                  <a:ext cx="368" cy="363"/>
                </a:xfrm>
                <a:prstGeom prst="line">
                  <a:avLst/>
                </a:prstGeom>
                <a:noFill/>
                <a:ln w="9525">
                  <a:solidFill>
                    <a:srgbClr val="A02C98"/>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8208" name="Text Box 26"/>
              <p:cNvSpPr txBox="1">
                <a:spLocks noChangeArrowheads="1"/>
              </p:cNvSpPr>
              <p:nvPr/>
            </p:nvSpPr>
            <p:spPr bwMode="auto">
              <a:xfrm>
                <a:off x="3696" y="2928"/>
                <a:ext cx="5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i="1">
                    <a:solidFill>
                      <a:srgbClr val="A02C98"/>
                    </a:solidFill>
                  </a:rPr>
                  <a:t>x</a:t>
                </a:r>
              </a:p>
            </p:txBody>
          </p:sp>
          <p:sp>
            <p:nvSpPr>
              <p:cNvPr id="8209" name="Text Box 27"/>
              <p:cNvSpPr txBox="1">
                <a:spLocks noChangeArrowheads="1"/>
              </p:cNvSpPr>
              <p:nvPr/>
            </p:nvSpPr>
            <p:spPr bwMode="auto">
              <a:xfrm>
                <a:off x="5184" y="2688"/>
                <a:ext cx="5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i="1">
                    <a:solidFill>
                      <a:srgbClr val="A02C98"/>
                    </a:solidFill>
                  </a:rPr>
                  <a:t>y</a:t>
                </a:r>
              </a:p>
            </p:txBody>
          </p:sp>
          <p:sp>
            <p:nvSpPr>
              <p:cNvPr id="8210" name="Line 28"/>
              <p:cNvSpPr>
                <a:spLocks noChangeShapeType="1"/>
              </p:cNvSpPr>
              <p:nvPr/>
            </p:nvSpPr>
            <p:spPr bwMode="auto">
              <a:xfrm>
                <a:off x="4718" y="2176"/>
                <a:ext cx="0" cy="778"/>
              </a:xfrm>
              <a:prstGeom prst="line">
                <a:avLst/>
              </a:prstGeom>
              <a:noFill/>
              <a:ln w="9525">
                <a:solidFill>
                  <a:srgbClr val="A02C98"/>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1" name="Line 29"/>
              <p:cNvSpPr>
                <a:spLocks noChangeShapeType="1"/>
              </p:cNvSpPr>
              <p:nvPr/>
            </p:nvSpPr>
            <p:spPr bwMode="auto">
              <a:xfrm>
                <a:off x="5012" y="2047"/>
                <a:ext cx="0" cy="755"/>
              </a:xfrm>
              <a:prstGeom prst="line">
                <a:avLst/>
              </a:prstGeom>
              <a:noFill/>
              <a:ln w="9525">
                <a:solidFill>
                  <a:srgbClr val="A02C98"/>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2" name="Line 30"/>
              <p:cNvSpPr>
                <a:spLocks noChangeShapeType="1"/>
              </p:cNvSpPr>
              <p:nvPr/>
            </p:nvSpPr>
            <p:spPr bwMode="auto">
              <a:xfrm flipV="1">
                <a:off x="4407" y="2816"/>
                <a:ext cx="613" cy="256"/>
              </a:xfrm>
              <a:prstGeom prst="line">
                <a:avLst/>
              </a:prstGeom>
              <a:noFill/>
              <a:ln w="9525">
                <a:solidFill>
                  <a:srgbClr val="A02C98"/>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3" name="Line 31"/>
              <p:cNvSpPr>
                <a:spLocks noChangeShapeType="1"/>
              </p:cNvSpPr>
              <p:nvPr/>
            </p:nvSpPr>
            <p:spPr bwMode="auto">
              <a:xfrm>
                <a:off x="4096" y="2744"/>
                <a:ext cx="425" cy="280"/>
              </a:xfrm>
              <a:prstGeom prst="line">
                <a:avLst/>
              </a:prstGeom>
              <a:noFill/>
              <a:ln w="9525">
                <a:solidFill>
                  <a:srgbClr val="A02C98"/>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214" name="AutoShape 32"/>
              <p:cNvSpPr>
                <a:spLocks noChangeArrowheads="1"/>
              </p:cNvSpPr>
              <p:nvPr/>
            </p:nvSpPr>
            <p:spPr bwMode="auto">
              <a:xfrm rot="-1380000">
                <a:off x="4701" y="2864"/>
                <a:ext cx="320" cy="41"/>
              </a:xfrm>
              <a:prstGeom prst="rightArrow">
                <a:avLst>
                  <a:gd name="adj1" fmla="val 50000"/>
                  <a:gd name="adj2" fmla="val 195122"/>
                </a:avLst>
              </a:prstGeom>
              <a:solidFill>
                <a:srgbClr val="A02C98"/>
              </a:solidFill>
              <a:ln w="9525">
                <a:solidFill>
                  <a:srgbClr val="A02C98"/>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215" name="Text Box 33"/>
              <p:cNvSpPr txBox="1">
                <a:spLocks noChangeArrowheads="1"/>
              </p:cNvSpPr>
              <p:nvPr/>
            </p:nvSpPr>
            <p:spPr bwMode="auto">
              <a:xfrm>
                <a:off x="4848" y="2928"/>
                <a:ext cx="20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solidFill>
                      <a:srgbClr val="A02C98"/>
                    </a:solidFill>
                  </a:rPr>
                  <a:t>F</a:t>
                </a:r>
                <a:r>
                  <a:rPr lang="en-US" altLang="zh-CN" sz="1800" i="1" baseline="-25000">
                    <a:solidFill>
                      <a:srgbClr val="A02C98"/>
                    </a:solidFill>
                  </a:rPr>
                  <a:t>xy</a:t>
                </a:r>
                <a:endParaRPr lang="en-US" altLang="zh-CN" sz="1800" i="1">
                  <a:solidFill>
                    <a:srgbClr val="A02C98"/>
                  </a:solidFill>
                </a:endParaRPr>
              </a:p>
            </p:txBody>
          </p:sp>
          <p:sp>
            <p:nvSpPr>
              <p:cNvPr id="8216" name="Text Box 34"/>
              <p:cNvSpPr txBox="1">
                <a:spLocks noChangeArrowheads="1"/>
              </p:cNvSpPr>
              <p:nvPr/>
            </p:nvSpPr>
            <p:spPr bwMode="auto">
              <a:xfrm>
                <a:off x="4254" y="2880"/>
                <a:ext cx="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i="1">
                    <a:solidFill>
                      <a:srgbClr val="A02C98"/>
                    </a:solidFill>
                  </a:rPr>
                  <a:t>d</a:t>
                </a:r>
              </a:p>
            </p:txBody>
          </p:sp>
        </p:grpSp>
        <p:sp>
          <p:nvSpPr>
            <p:cNvPr id="8204" name="Text Box 35"/>
            <p:cNvSpPr txBox="1">
              <a:spLocks noChangeArrowheads="1"/>
            </p:cNvSpPr>
            <p:nvPr/>
          </p:nvSpPr>
          <p:spPr bwMode="auto">
            <a:xfrm>
              <a:off x="4233" y="2822"/>
              <a:ext cx="117" cy="20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sm" len="sm"/>
                </a14:hiddenLine>
              </a:ext>
            </a:extLst>
          </p:spPr>
          <p:txBody>
            <a:bodyPr wrap="none" lIns="36000" tIns="36000" rIns="36000" bIns="3600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i="1" dirty="0">
                  <a:solidFill>
                    <a:srgbClr val="CC0066"/>
                  </a:solidFill>
                </a:rPr>
                <a:t>h</a:t>
              </a:r>
            </a:p>
          </p:txBody>
        </p:sp>
        <p:sp>
          <p:nvSpPr>
            <p:cNvPr id="8205" name="Text Box 36"/>
            <p:cNvSpPr txBox="1">
              <a:spLocks noChangeArrowheads="1"/>
            </p:cNvSpPr>
            <p:nvPr/>
          </p:nvSpPr>
          <p:spPr bwMode="auto">
            <a:xfrm>
              <a:off x="4237" y="2115"/>
              <a:ext cx="117" cy="20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type="none" w="sm" len="sm"/>
                </a14:hiddenLine>
              </a:ext>
            </a:extLst>
          </p:spPr>
          <p:txBody>
            <a:bodyPr wrap="none" lIns="36000" tIns="36000" rIns="36000" bIns="3600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i="1" dirty="0">
                  <a:solidFill>
                    <a:srgbClr val="CC0066"/>
                  </a:solidFill>
                </a:rPr>
                <a:t>h</a:t>
              </a:r>
            </a:p>
          </p:txBody>
        </p:sp>
      </p:grpSp>
      <p:sp>
        <p:nvSpPr>
          <p:cNvPr id="10278" name="Rectangle 38"/>
          <p:cNvSpPr>
            <a:spLocks noChangeArrowheads="1"/>
          </p:cNvSpPr>
          <p:nvPr/>
        </p:nvSpPr>
        <p:spPr bwMode="auto">
          <a:xfrm>
            <a:off x="998705" y="3560167"/>
            <a:ext cx="42066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FF"/>
                </a:solidFill>
                <a:latin typeface="楷体" panose="02010609060101010101" pitchFamily="49" charset="-122"/>
                <a:ea typeface="楷体" panose="02010609060101010101" pitchFamily="49" charset="-122"/>
              </a:rPr>
              <a:t>正负号根据右手螺旋法则确定</a:t>
            </a:r>
          </a:p>
        </p:txBody>
      </p:sp>
      <p:sp>
        <p:nvSpPr>
          <p:cNvPr id="10279" name="Text Box 39"/>
          <p:cNvSpPr txBox="1">
            <a:spLocks noChangeArrowheads="1"/>
          </p:cNvSpPr>
          <p:nvPr/>
        </p:nvSpPr>
        <p:spPr bwMode="auto">
          <a:xfrm>
            <a:off x="1115616" y="5333711"/>
            <a:ext cx="352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t>*</a:t>
            </a:r>
            <a:r>
              <a:rPr lang="zh-CN" altLang="en-US" b="1" dirty="0">
                <a:latin typeface="楷体" panose="02010609060101010101" pitchFamily="49" charset="-122"/>
                <a:ea typeface="楷体" panose="02010609060101010101" pitchFamily="49" charset="-122"/>
              </a:rPr>
              <a:t>合力矩定理仍然成立。</a:t>
            </a:r>
          </a:p>
        </p:txBody>
      </p:sp>
      <p:sp>
        <p:nvSpPr>
          <p:cNvPr id="27" name="Text Box 3"/>
          <p:cNvSpPr txBox="1">
            <a:spLocks noChangeArrowheads="1"/>
          </p:cNvSpPr>
          <p:nvPr/>
        </p:nvSpPr>
        <p:spPr bwMode="auto">
          <a:xfrm>
            <a:off x="742322" y="768326"/>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2</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力对轴之矩</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256">
                                            <p:txEl>
                                              <p:pRg st="0" end="0"/>
                                            </p:txEl>
                                          </p:spTgt>
                                        </p:tgtEl>
                                        <p:attrNameLst>
                                          <p:attrName>style.visibility</p:attrName>
                                        </p:attrNameLst>
                                      </p:cBhvr>
                                      <p:to>
                                        <p:strVal val="visible"/>
                                      </p:to>
                                    </p:set>
                                    <p:animEffect transition="in" filter="box(out)">
                                      <p:cBhvr>
                                        <p:cTn id="12" dur="500"/>
                                        <p:tgtEl>
                                          <p:spTgt spid="1025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0254"/>
                                        </p:tgtEl>
                                        <p:attrNameLst>
                                          <p:attrName>style.visibility</p:attrName>
                                        </p:attrNameLst>
                                      </p:cBhvr>
                                      <p:to>
                                        <p:strVal val="visible"/>
                                      </p:to>
                                    </p:set>
                                    <p:animEffect transition="in" filter="box(out)">
                                      <p:cBhvr>
                                        <p:cTn id="17" dur="500"/>
                                        <p:tgtEl>
                                          <p:spTgt spid="102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0255"/>
                                        </p:tgtEl>
                                        <p:attrNameLst>
                                          <p:attrName>style.visibility</p:attrName>
                                        </p:attrNameLst>
                                      </p:cBhvr>
                                      <p:to>
                                        <p:strVal val="visible"/>
                                      </p:to>
                                    </p:set>
                                    <p:animEffect transition="in" filter="box(out)">
                                      <p:cBhvr>
                                        <p:cTn id="22" dur="500"/>
                                        <p:tgtEl>
                                          <p:spTgt spid="102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0278"/>
                                        </p:tgtEl>
                                        <p:attrNameLst>
                                          <p:attrName>style.visibility</p:attrName>
                                        </p:attrNameLst>
                                      </p:cBhvr>
                                      <p:to>
                                        <p:strVal val="visible"/>
                                      </p:to>
                                    </p:set>
                                    <p:anim calcmode="lin" valueType="num">
                                      <p:cBhvr>
                                        <p:cTn id="27" dur="500" fill="hold"/>
                                        <p:tgtEl>
                                          <p:spTgt spid="10278"/>
                                        </p:tgtEl>
                                        <p:attrNameLst>
                                          <p:attrName>ppt_x</p:attrName>
                                        </p:attrNameLst>
                                      </p:cBhvr>
                                      <p:tavLst>
                                        <p:tav tm="0">
                                          <p:val>
                                            <p:strVal val="#ppt_x-#ppt_w/2"/>
                                          </p:val>
                                        </p:tav>
                                        <p:tav tm="100000">
                                          <p:val>
                                            <p:strVal val="#ppt_x"/>
                                          </p:val>
                                        </p:tav>
                                      </p:tavLst>
                                    </p:anim>
                                    <p:anim calcmode="lin" valueType="num">
                                      <p:cBhvr>
                                        <p:cTn id="28" dur="500" fill="hold"/>
                                        <p:tgtEl>
                                          <p:spTgt spid="10278"/>
                                        </p:tgtEl>
                                        <p:attrNameLst>
                                          <p:attrName>ppt_y</p:attrName>
                                        </p:attrNameLst>
                                      </p:cBhvr>
                                      <p:tavLst>
                                        <p:tav tm="0">
                                          <p:val>
                                            <p:strVal val="#ppt_y"/>
                                          </p:val>
                                        </p:tav>
                                        <p:tav tm="100000">
                                          <p:val>
                                            <p:strVal val="#ppt_y"/>
                                          </p:val>
                                        </p:tav>
                                      </p:tavLst>
                                    </p:anim>
                                    <p:anim calcmode="lin" valueType="num">
                                      <p:cBhvr>
                                        <p:cTn id="29" dur="500" fill="hold"/>
                                        <p:tgtEl>
                                          <p:spTgt spid="10278"/>
                                        </p:tgtEl>
                                        <p:attrNameLst>
                                          <p:attrName>ppt_w</p:attrName>
                                        </p:attrNameLst>
                                      </p:cBhvr>
                                      <p:tavLst>
                                        <p:tav tm="0">
                                          <p:val>
                                            <p:fltVal val="0"/>
                                          </p:val>
                                        </p:tav>
                                        <p:tav tm="100000">
                                          <p:val>
                                            <p:strVal val="#ppt_w"/>
                                          </p:val>
                                        </p:tav>
                                      </p:tavLst>
                                    </p:anim>
                                    <p:anim calcmode="lin" valueType="num">
                                      <p:cBhvr>
                                        <p:cTn id="30" dur="500" fill="hold"/>
                                        <p:tgtEl>
                                          <p:spTgt spid="10278"/>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257">
                                            <p:txEl>
                                              <p:pRg st="0" end="0"/>
                                            </p:txEl>
                                          </p:spTgt>
                                        </p:tgtEl>
                                        <p:attrNameLst>
                                          <p:attrName>style.visibility</p:attrName>
                                        </p:attrNameLst>
                                      </p:cBhvr>
                                      <p:to>
                                        <p:strVal val="visible"/>
                                      </p:to>
                                    </p:set>
                                    <p:animEffect transition="in" filter="box(out)">
                                      <p:cBhvr>
                                        <p:cTn id="35" dur="500"/>
                                        <p:tgtEl>
                                          <p:spTgt spid="10257">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279">
                                            <p:txEl>
                                              <p:pRg st="0" end="0"/>
                                            </p:txEl>
                                          </p:spTgt>
                                        </p:tgtEl>
                                        <p:attrNameLst>
                                          <p:attrName>style.visibility</p:attrName>
                                        </p:attrNameLst>
                                      </p:cBhvr>
                                      <p:to>
                                        <p:strVal val="visible"/>
                                      </p:to>
                                    </p:set>
                                    <p:animEffect transition="in" filter="box(out)">
                                      <p:cBhvr>
                                        <p:cTn id="40" dur="500"/>
                                        <p:tgtEl>
                                          <p:spTgt spid="102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6" grpId="0" build="p" autoUpdateAnimBg="0"/>
      <p:bldP spid="10257" grpId="0" build="p" autoUpdateAnimBg="0"/>
      <p:bldP spid="10278" grpId="0" autoUpdateAnimBg="0"/>
      <p:bldP spid="10279"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117618" y="3499037"/>
            <a:ext cx="6480720" cy="461665"/>
          </a:xfrm>
          <a:prstGeom prst="rect">
            <a:avLst/>
          </a:prstGeom>
          <a:solidFill>
            <a:schemeClr val="accent5">
              <a:lumMod val="40000"/>
              <a:lumOff val="60000"/>
            </a:schemeClr>
          </a:solidFill>
          <a:ln w="9525">
            <a:noFill/>
            <a:miter lim="800000"/>
            <a:headEnd/>
            <a:tailEnd/>
          </a:ln>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黑体" panose="02010609060101010101" pitchFamily="49" charset="-122"/>
                <a:ea typeface="黑体" panose="02010609060101010101" pitchFamily="49" charset="-122"/>
              </a:rPr>
              <a:t>力对</a:t>
            </a:r>
            <a:r>
              <a:rPr lang="zh-CN" altLang="en-US" b="1" dirty="0">
                <a:solidFill>
                  <a:srgbClr val="FF0000"/>
                </a:solidFill>
                <a:latin typeface="黑体" panose="02010609060101010101" pitchFamily="49" charset="-122"/>
                <a:ea typeface="黑体" panose="02010609060101010101" pitchFamily="49" charset="-122"/>
              </a:rPr>
              <a:t>点</a:t>
            </a:r>
            <a:r>
              <a:rPr lang="zh-CN" altLang="en-US" b="1" dirty="0">
                <a:latin typeface="黑体" panose="02010609060101010101" pitchFamily="49" charset="-122"/>
                <a:ea typeface="黑体" panose="02010609060101010101" pitchFamily="49" charset="-122"/>
              </a:rPr>
              <a:t>之矩与力对</a:t>
            </a:r>
            <a:r>
              <a:rPr lang="zh-CN" altLang="en-US" b="1" dirty="0">
                <a:solidFill>
                  <a:srgbClr val="FF0000"/>
                </a:solidFill>
                <a:latin typeface="黑体" panose="02010609060101010101" pitchFamily="49" charset="-122"/>
                <a:ea typeface="黑体" panose="02010609060101010101" pitchFamily="49" charset="-122"/>
              </a:rPr>
              <a:t>轴</a:t>
            </a:r>
            <a:r>
              <a:rPr lang="zh-CN" altLang="en-US" b="1" dirty="0">
                <a:latin typeface="黑体" panose="02010609060101010101" pitchFamily="49" charset="-122"/>
                <a:ea typeface="黑体" panose="02010609060101010101" pitchFamily="49" charset="-122"/>
              </a:rPr>
              <a:t>之矩的关系</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力矩关系定律</a:t>
            </a:r>
          </a:p>
        </p:txBody>
      </p:sp>
      <p:graphicFrame>
        <p:nvGraphicFramePr>
          <p:cNvPr id="11268" name="Object 4"/>
          <p:cNvGraphicFramePr>
            <a:graphicFrameLocks noChangeAspect="1"/>
          </p:cNvGraphicFramePr>
          <p:nvPr>
            <p:extLst>
              <p:ext uri="{D42A27DB-BD31-4B8C-83A1-F6EECF244321}">
                <p14:modId xmlns:p14="http://schemas.microsoft.com/office/powerpoint/2010/main" val="3822153305"/>
              </p:ext>
            </p:extLst>
          </p:nvPr>
        </p:nvGraphicFramePr>
        <p:xfrm>
          <a:off x="1452353" y="5926187"/>
          <a:ext cx="5951670" cy="503956"/>
        </p:xfrm>
        <a:graphic>
          <a:graphicData uri="http://schemas.openxmlformats.org/presentationml/2006/ole">
            <mc:AlternateContent xmlns:mc="http://schemas.openxmlformats.org/markup-compatibility/2006">
              <mc:Choice xmlns:v="urn:schemas-microsoft-com:vml" Requires="v">
                <p:oleObj spid="_x0000_s9234" name="Equation" r:id="rId3" imgW="4927600" imgH="419100" progId="Equation.3">
                  <p:embed/>
                </p:oleObj>
              </mc:Choice>
              <mc:Fallback>
                <p:oleObj name="Equation" r:id="rId3" imgW="49276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2353" y="5926187"/>
                        <a:ext cx="5951670" cy="503956"/>
                      </a:xfrm>
                      <a:prstGeom prst="rect">
                        <a:avLst/>
                      </a:prstGeom>
                      <a:noFill/>
                      <a:ln>
                        <a:noFill/>
                      </a:ln>
                      <a:effectLst/>
                    </p:spPr>
                  </p:pic>
                </p:oleObj>
              </mc:Fallback>
            </mc:AlternateContent>
          </a:graphicData>
        </a:graphic>
      </p:graphicFrame>
      <p:graphicFrame>
        <p:nvGraphicFramePr>
          <p:cNvPr id="11270" name="Object 6"/>
          <p:cNvGraphicFramePr>
            <a:graphicFrameLocks noChangeAspect="1"/>
          </p:cNvGraphicFramePr>
          <p:nvPr>
            <p:extLst>
              <p:ext uri="{D42A27DB-BD31-4B8C-83A1-F6EECF244321}">
                <p14:modId xmlns:p14="http://schemas.microsoft.com/office/powerpoint/2010/main" val="3963845420"/>
              </p:ext>
            </p:extLst>
          </p:nvPr>
        </p:nvGraphicFramePr>
        <p:xfrm>
          <a:off x="4881434" y="650319"/>
          <a:ext cx="2838707" cy="2697287"/>
        </p:xfrm>
        <a:graphic>
          <a:graphicData uri="http://schemas.openxmlformats.org/presentationml/2006/ole">
            <mc:AlternateContent xmlns:mc="http://schemas.openxmlformats.org/markup-compatibility/2006">
              <mc:Choice xmlns:v="urn:schemas-microsoft-com:vml" Requires="v">
                <p:oleObj spid="_x0000_s9235" name="BMP 图像" r:id="rId5" imgW="1933333" imgH="1838095" progId="Paint.Picture">
                  <p:embed/>
                </p:oleObj>
              </mc:Choice>
              <mc:Fallback>
                <p:oleObj name="BMP 图像" r:id="rId5" imgW="1933333" imgH="1838095" progId="Paint.Picture">
                  <p:embed/>
                  <p:pic>
                    <p:nvPicPr>
                      <p:cNvPr id="0" name="Object 6"/>
                      <p:cNvPicPr>
                        <a:picLocks noChangeAspect="1" noChangeArrowheads="1"/>
                      </p:cNvPicPr>
                      <p:nvPr/>
                    </p:nvPicPr>
                    <p:blipFill>
                      <a:blip r:embed="rId6">
                        <a:lum contrast="36000"/>
                        <a:extLst>
                          <a:ext uri="{28A0092B-C50C-407E-A947-70E740481C1C}">
                            <a14:useLocalDpi xmlns:a14="http://schemas.microsoft.com/office/drawing/2010/main" val="0"/>
                          </a:ext>
                        </a:extLst>
                      </a:blip>
                      <a:srcRect/>
                      <a:stretch>
                        <a:fillRect/>
                      </a:stretch>
                    </p:blipFill>
                    <p:spPr bwMode="auto">
                      <a:xfrm>
                        <a:off x="4881434" y="650319"/>
                        <a:ext cx="2838707" cy="2697287"/>
                      </a:xfrm>
                      <a:prstGeom prst="rect">
                        <a:avLst/>
                      </a:prstGeom>
                      <a:noFill/>
                      <a:ln>
                        <a:noFill/>
                      </a:ln>
                      <a:effectLst/>
                    </p:spPr>
                  </p:pic>
                </p:oleObj>
              </mc:Fallback>
            </mc:AlternateContent>
          </a:graphicData>
        </a:graphic>
      </p:graphicFrame>
      <p:sp>
        <p:nvSpPr>
          <p:cNvPr id="11271" name="Text Box 7"/>
          <p:cNvSpPr txBox="1">
            <a:spLocks noChangeArrowheads="1"/>
          </p:cNvSpPr>
          <p:nvPr/>
        </p:nvSpPr>
        <p:spPr bwMode="auto">
          <a:xfrm>
            <a:off x="1256539" y="1133331"/>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力对轴之矩的解析式</a:t>
            </a:r>
          </a:p>
        </p:txBody>
      </p:sp>
      <p:graphicFrame>
        <p:nvGraphicFramePr>
          <p:cNvPr id="11273" name="Object 9"/>
          <p:cNvGraphicFramePr>
            <a:graphicFrameLocks noChangeAspect="1"/>
          </p:cNvGraphicFramePr>
          <p:nvPr>
            <p:extLst>
              <p:ext uri="{D42A27DB-BD31-4B8C-83A1-F6EECF244321}">
                <p14:modId xmlns:p14="http://schemas.microsoft.com/office/powerpoint/2010/main" val="2556047990"/>
              </p:ext>
            </p:extLst>
          </p:nvPr>
        </p:nvGraphicFramePr>
        <p:xfrm>
          <a:off x="1455584" y="1762342"/>
          <a:ext cx="2602283" cy="1501565"/>
        </p:xfrm>
        <a:graphic>
          <a:graphicData uri="http://schemas.openxmlformats.org/presentationml/2006/ole">
            <mc:AlternateContent xmlns:mc="http://schemas.openxmlformats.org/markup-compatibility/2006">
              <mc:Choice xmlns:v="urn:schemas-microsoft-com:vml" Requires="v">
                <p:oleObj spid="_x0000_s9236" name="Equation" r:id="rId7" imgW="2552700" imgH="1473200" progId="Equation.3">
                  <p:embed/>
                </p:oleObj>
              </mc:Choice>
              <mc:Fallback>
                <p:oleObj name="Equation" r:id="rId7" imgW="2552700" imgH="1473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5584" y="1762342"/>
                        <a:ext cx="2602283" cy="1501565"/>
                      </a:xfrm>
                      <a:prstGeom prst="rect">
                        <a:avLst/>
                      </a:prstGeom>
                      <a:noFill/>
                      <a:ln>
                        <a:noFill/>
                      </a:ln>
                      <a:effectLst/>
                    </p:spPr>
                  </p:pic>
                </p:oleObj>
              </mc:Fallback>
            </mc:AlternateContent>
          </a:graphicData>
        </a:graphic>
      </p:graphicFrame>
      <p:graphicFrame>
        <p:nvGraphicFramePr>
          <p:cNvPr id="11274" name="Object 10"/>
          <p:cNvGraphicFramePr>
            <a:graphicFrameLocks noChangeAspect="1"/>
          </p:cNvGraphicFramePr>
          <p:nvPr>
            <p:extLst>
              <p:ext uri="{D42A27DB-BD31-4B8C-83A1-F6EECF244321}">
                <p14:modId xmlns:p14="http://schemas.microsoft.com/office/powerpoint/2010/main" val="2193061783"/>
              </p:ext>
            </p:extLst>
          </p:nvPr>
        </p:nvGraphicFramePr>
        <p:xfrm>
          <a:off x="1763688" y="4132328"/>
          <a:ext cx="2957923" cy="1624012"/>
        </p:xfrm>
        <a:graphic>
          <a:graphicData uri="http://schemas.openxmlformats.org/presentationml/2006/ole">
            <mc:AlternateContent xmlns:mc="http://schemas.openxmlformats.org/markup-compatibility/2006">
              <mc:Choice xmlns:v="urn:schemas-microsoft-com:vml" Requires="v">
                <p:oleObj spid="_x0000_s9237" name="Equation" r:id="rId9" imgW="1285875" imgH="704850" progId="Equation.3">
                  <p:embed/>
                </p:oleObj>
              </mc:Choice>
              <mc:Fallback>
                <p:oleObj name="Equation" r:id="rId9" imgW="1285875" imgH="70485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688" y="4132328"/>
                        <a:ext cx="2957923" cy="1624012"/>
                      </a:xfrm>
                      <a:prstGeom prst="rect">
                        <a:avLst/>
                      </a:prstGeom>
                      <a:noFill/>
                      <a:ln>
                        <a:noFill/>
                      </a:ln>
                      <a:effectLst/>
                    </p:spPr>
                  </p:pic>
                </p:oleObj>
              </mc:Fallback>
            </mc:AlternateContent>
          </a:graphicData>
        </a:graphic>
      </p:graphicFrame>
      <p:sp>
        <p:nvSpPr>
          <p:cNvPr id="11275" name="Text Box 11"/>
          <p:cNvSpPr txBox="1">
            <a:spLocks noChangeArrowheads="1"/>
          </p:cNvSpPr>
          <p:nvPr/>
        </p:nvSpPr>
        <p:spPr bwMode="auto">
          <a:xfrm>
            <a:off x="5199191" y="4159504"/>
            <a:ext cx="252095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黑体" panose="02010609060101010101" pitchFamily="49" charset="-122"/>
                <a:ea typeface="黑体" panose="02010609060101010101" pitchFamily="49" charset="-122"/>
              </a:rPr>
              <a:t>力对点之矩矢量在过该点之轴上的投影等于该力对该轴之矩</a:t>
            </a:r>
            <a:r>
              <a:rPr lang="en-US" altLang="zh-CN" b="1" dirty="0">
                <a:latin typeface="黑体" panose="02010609060101010101" pitchFamily="49" charset="-122"/>
                <a:ea typeface="黑体" panose="02010609060101010101" pitchFamily="49" charset="-122"/>
              </a:rPr>
              <a:t>.</a:t>
            </a:r>
          </a:p>
        </p:txBody>
      </p:sp>
      <p:sp>
        <p:nvSpPr>
          <p:cNvPr id="9" name="Text Box 3"/>
          <p:cNvSpPr txBox="1">
            <a:spLocks noChangeArrowheads="1"/>
          </p:cNvSpPr>
          <p:nvPr/>
        </p:nvSpPr>
        <p:spPr bwMode="auto">
          <a:xfrm>
            <a:off x="738188" y="549137"/>
            <a:ext cx="30241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rPr>
              <a:t>2</a:t>
            </a:r>
            <a:r>
              <a:rPr lang="zh-CN" altLang="en-US" sz="2800" b="1" dirty="0">
                <a:solidFill>
                  <a:srgbClr val="0000FF"/>
                </a:solidFill>
              </a:rPr>
              <a:t>．</a:t>
            </a:r>
            <a:r>
              <a:rPr lang="zh-CN" altLang="en-US" sz="2800" b="1" dirty="0">
                <a:solidFill>
                  <a:srgbClr val="0000FF"/>
                </a:solidFill>
                <a:latin typeface="黑体" panose="02010609060101010101" pitchFamily="49" charset="-122"/>
                <a:ea typeface="黑体" panose="02010609060101010101" pitchFamily="49" charset="-122"/>
              </a:rPr>
              <a:t>力对轴之矩</a:t>
            </a:r>
          </a:p>
        </p:txBody>
      </p:sp>
      <p:sp>
        <p:nvSpPr>
          <p:cNvPr id="10" name="Rectangle 93"/>
          <p:cNvSpPr>
            <a:spLocks noChangeArrowheads="1"/>
          </p:cNvSpPr>
          <p:nvPr/>
        </p:nvSpPr>
        <p:spPr bwMode="auto">
          <a:xfrm>
            <a:off x="1256539" y="1730014"/>
            <a:ext cx="3000375" cy="1571625"/>
          </a:xfrm>
          <a:prstGeom prst="rect">
            <a:avLst/>
          </a:prstGeom>
          <a:noFill/>
          <a:ln w="254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271">
                                            <p:txEl>
                                              <p:pRg st="0" end="0"/>
                                            </p:txEl>
                                          </p:spTgt>
                                        </p:tgtEl>
                                        <p:attrNameLst>
                                          <p:attrName>style.visibility</p:attrName>
                                        </p:attrNameLst>
                                      </p:cBhvr>
                                      <p:to>
                                        <p:strVal val="visible"/>
                                      </p:to>
                                    </p:set>
                                    <p:animEffect transition="in" filter="box(out)">
                                      <p:cBhvr>
                                        <p:cTn id="7" dur="500"/>
                                        <p:tgtEl>
                                          <p:spTgt spid="112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1270"/>
                                        </p:tgtEl>
                                        <p:attrNameLst>
                                          <p:attrName>style.visibility</p:attrName>
                                        </p:attrNameLst>
                                      </p:cBhvr>
                                      <p:to>
                                        <p:strVal val="visible"/>
                                      </p:to>
                                    </p:set>
                                    <p:animEffect transition="in" filter="box(out)">
                                      <p:cBhvr>
                                        <p:cTn id="12" dur="500"/>
                                        <p:tgtEl>
                                          <p:spTgt spid="112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1273"/>
                                        </p:tgtEl>
                                        <p:attrNameLst>
                                          <p:attrName>style.visibility</p:attrName>
                                        </p:attrNameLst>
                                      </p:cBhvr>
                                      <p:to>
                                        <p:strVal val="visible"/>
                                      </p:to>
                                    </p:set>
                                    <p:animEffect transition="in" filter="box(out)">
                                      <p:cBhvr>
                                        <p:cTn id="17" dur="500"/>
                                        <p:tgtEl>
                                          <p:spTgt spid="112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1" presetClass="entr" presetSubtype="0" fill="hold" grpId="0" nodeType="clickEffect">
                                  <p:stCondLst>
                                    <p:cond delay="0"/>
                                  </p:stCondLst>
                                  <p:childTnLst>
                                    <p:set>
                                      <p:cBhvr>
                                        <p:cTn id="21" dur="1000">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1266"/>
                                        </p:tgtEl>
                                        <p:attrNameLst>
                                          <p:attrName>style.visibility</p:attrName>
                                        </p:attrNameLst>
                                      </p:cBhvr>
                                      <p:to>
                                        <p:strVal val="visible"/>
                                      </p:to>
                                    </p:set>
                                    <p:animEffect transition="in" filter="strips(downRight)">
                                      <p:cBhvr>
                                        <p:cTn id="26" dur="500"/>
                                        <p:tgtEl>
                                          <p:spTgt spid="11266"/>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1274"/>
                                        </p:tgtEl>
                                        <p:attrNameLst>
                                          <p:attrName>style.visibility</p:attrName>
                                        </p:attrNameLst>
                                      </p:cBhvr>
                                      <p:to>
                                        <p:strVal val="visible"/>
                                      </p:to>
                                    </p:set>
                                    <p:animEffect transition="in" filter="box(out)">
                                      <p:cBhvr>
                                        <p:cTn id="31" dur="500"/>
                                        <p:tgtEl>
                                          <p:spTgt spid="1127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1275"/>
                                        </p:tgtEl>
                                        <p:attrNameLst>
                                          <p:attrName>style.visibility</p:attrName>
                                        </p:attrNameLst>
                                      </p:cBhvr>
                                      <p:to>
                                        <p:strVal val="visible"/>
                                      </p:to>
                                    </p:set>
                                    <p:animEffect transition="in" filter="box(out)">
                                      <p:cBhvr>
                                        <p:cTn id="36" dur="500"/>
                                        <p:tgtEl>
                                          <p:spTgt spid="11275"/>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1268"/>
                                        </p:tgtEl>
                                        <p:attrNameLst>
                                          <p:attrName>style.visibility</p:attrName>
                                        </p:attrNameLst>
                                      </p:cBhvr>
                                      <p:to>
                                        <p:strVal val="visible"/>
                                      </p:to>
                                    </p:set>
                                    <p:animEffect transition="in" filter="box(out)">
                                      <p:cBhvr>
                                        <p:cTn id="41"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nimBg="1"/>
      <p:bldP spid="11271" grpId="0" build="p" autoUpdateAnimBg="0"/>
      <p:bldP spid="11275" grpId="0" autoUpdateAnimBg="0"/>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570679" y="583021"/>
            <a:ext cx="549565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FF0000"/>
                </a:solidFill>
                <a:latin typeface="楷体" panose="02010609060101010101" pitchFamily="49" charset="-122"/>
                <a:ea typeface="楷体" panose="02010609060101010101" pitchFamily="49" charset="-122"/>
              </a:rPr>
              <a:t>例</a:t>
            </a:r>
            <a:r>
              <a:rPr lang="zh-CN" altLang="en-US" b="1" dirty="0">
                <a:latin typeface="楷体" panose="02010609060101010101" pitchFamily="49" charset="-122"/>
                <a:ea typeface="楷体" panose="02010609060101010101" pitchFamily="49" charset="-122"/>
              </a:rPr>
              <a:t> 在图示长方体的顶点</a:t>
            </a:r>
            <a:r>
              <a:rPr lang="en-US" altLang="zh-CN" i="1" dirty="0">
                <a:latin typeface="+mn-lt"/>
                <a:ea typeface="楷体" panose="02010609060101010101" pitchFamily="49" charset="-122"/>
              </a:rPr>
              <a:t>B</a:t>
            </a:r>
            <a:r>
              <a:rPr lang="zh-CN" altLang="en-US" b="1" dirty="0">
                <a:latin typeface="楷体" panose="02010609060101010101" pitchFamily="49" charset="-122"/>
                <a:ea typeface="楷体" panose="02010609060101010101" pitchFamily="49" charset="-122"/>
              </a:rPr>
              <a:t>处作用一力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a:t>
            </a:r>
            <a:r>
              <a:rPr lang="en-US" altLang="zh-CN" i="1" dirty="0">
                <a:latin typeface="+mn-lt"/>
                <a:ea typeface="楷体" panose="02010609060101010101" pitchFamily="49" charset="-122"/>
              </a:rPr>
              <a:t>F</a:t>
            </a:r>
            <a:r>
              <a:rPr lang="en-US" altLang="zh-CN" b="1" dirty="0">
                <a:latin typeface="+mn-lt"/>
                <a:ea typeface="楷体" panose="02010609060101010101" pitchFamily="49" charset="-122"/>
              </a:rPr>
              <a:t>=</a:t>
            </a:r>
            <a:r>
              <a:rPr lang="en-US" altLang="zh-CN" dirty="0">
                <a:latin typeface="+mn-lt"/>
                <a:ea typeface="楷体" panose="02010609060101010101" pitchFamily="49" charset="-122"/>
              </a:rPr>
              <a:t>700N</a:t>
            </a:r>
            <a:r>
              <a:rPr lang="zh-CN" altLang="en-US" b="1" dirty="0">
                <a:latin typeface="楷体" panose="02010609060101010101" pitchFamily="49" charset="-122"/>
                <a:ea typeface="楷体" panose="02010609060101010101" pitchFamily="49" charset="-122"/>
              </a:rPr>
              <a:t>。分别求力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对各坐标轴之矩，并写出力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对点</a:t>
            </a:r>
            <a:r>
              <a:rPr lang="en-US" altLang="zh-CN" i="1" dirty="0">
                <a:latin typeface="+mn-lt"/>
                <a:ea typeface="楷体" panose="02010609060101010101" pitchFamily="49" charset="-122"/>
              </a:rPr>
              <a:t>O</a:t>
            </a:r>
            <a:r>
              <a:rPr lang="zh-CN" altLang="en-US" b="1" dirty="0">
                <a:latin typeface="楷体" panose="02010609060101010101" pitchFamily="49" charset="-122"/>
                <a:ea typeface="楷体" panose="02010609060101010101" pitchFamily="49" charset="-122"/>
              </a:rPr>
              <a:t>之矩矢量</a:t>
            </a:r>
            <a:r>
              <a:rPr lang="en-US" altLang="zh-CN" b="1" i="1" dirty="0">
                <a:latin typeface="+mn-lt"/>
                <a:ea typeface="楷体" panose="02010609060101010101" pitchFamily="49" charset="-122"/>
              </a:rPr>
              <a:t>M</a:t>
            </a:r>
            <a:r>
              <a:rPr lang="en-US" altLang="zh-CN" b="1" i="1" baseline="-25000" dirty="0">
                <a:latin typeface="+mn-lt"/>
                <a:ea typeface="楷体" panose="02010609060101010101" pitchFamily="49" charset="-122"/>
              </a:rPr>
              <a:t>O</a:t>
            </a:r>
            <a:r>
              <a:rPr lang="en-US" altLang="zh-CN" b="1" dirty="0">
                <a:latin typeface="+mn-lt"/>
                <a:ea typeface="楷体" panose="02010609060101010101" pitchFamily="49" charset="-122"/>
              </a:rPr>
              <a:t>(</a:t>
            </a:r>
            <a:r>
              <a:rPr lang="en-US" altLang="zh-CN" b="1" i="1" dirty="0">
                <a:latin typeface="+mn-lt"/>
                <a:ea typeface="楷体" panose="02010609060101010101" pitchFamily="49" charset="-122"/>
              </a:rPr>
              <a:t>F</a:t>
            </a:r>
            <a:r>
              <a:rPr lang="en-US" altLang="zh-CN" b="1" dirty="0">
                <a:latin typeface="+mn-lt"/>
                <a:ea typeface="楷体" panose="02010609060101010101" pitchFamily="49" charset="-122"/>
              </a:rPr>
              <a:t>)</a:t>
            </a:r>
            <a:r>
              <a:rPr lang="zh-CN" altLang="en-US" b="1" dirty="0">
                <a:latin typeface="楷体" panose="02010609060101010101" pitchFamily="49" charset="-122"/>
                <a:ea typeface="楷体" panose="02010609060101010101" pitchFamily="49" charset="-122"/>
              </a:rPr>
              <a:t>。 </a:t>
            </a:r>
          </a:p>
        </p:txBody>
      </p:sp>
      <p:pic>
        <p:nvPicPr>
          <p:cNvPr id="10244" name="Picture 4" descr="题图2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627041"/>
            <a:ext cx="27432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317" name="Object 5"/>
          <p:cNvGraphicFramePr>
            <a:graphicFrameLocks noChangeAspect="1"/>
          </p:cNvGraphicFramePr>
          <p:nvPr>
            <p:extLst>
              <p:ext uri="{D42A27DB-BD31-4B8C-83A1-F6EECF244321}">
                <p14:modId xmlns:p14="http://schemas.microsoft.com/office/powerpoint/2010/main" val="1176033493"/>
              </p:ext>
            </p:extLst>
          </p:nvPr>
        </p:nvGraphicFramePr>
        <p:xfrm>
          <a:off x="1602101" y="2355772"/>
          <a:ext cx="2463800" cy="342900"/>
        </p:xfrm>
        <a:graphic>
          <a:graphicData uri="http://schemas.openxmlformats.org/presentationml/2006/ole">
            <mc:AlternateContent xmlns:mc="http://schemas.openxmlformats.org/markup-compatibility/2006">
              <mc:Choice xmlns:v="urn:schemas-microsoft-com:vml" Requires="v">
                <p:oleObj spid="_x0000_s10266" name="Equation" r:id="rId4" imgW="2463800" imgH="342900" progId="Equation.3">
                  <p:embed/>
                </p:oleObj>
              </mc:Choice>
              <mc:Fallback>
                <p:oleObj name="Equation" r:id="rId4" imgW="2463800" imgH="3429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2101" y="2355772"/>
                        <a:ext cx="24638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7"/>
          <p:cNvGraphicFramePr>
            <a:graphicFrameLocks noChangeAspect="1"/>
          </p:cNvGraphicFramePr>
          <p:nvPr>
            <p:extLst>
              <p:ext uri="{D42A27DB-BD31-4B8C-83A1-F6EECF244321}">
                <p14:modId xmlns:p14="http://schemas.microsoft.com/office/powerpoint/2010/main" val="1401896044"/>
              </p:ext>
            </p:extLst>
          </p:nvPr>
        </p:nvGraphicFramePr>
        <p:xfrm>
          <a:off x="743722" y="2855833"/>
          <a:ext cx="5067300" cy="444500"/>
        </p:xfrm>
        <a:graphic>
          <a:graphicData uri="http://schemas.openxmlformats.org/presentationml/2006/ole">
            <mc:AlternateContent xmlns:mc="http://schemas.openxmlformats.org/markup-compatibility/2006">
              <mc:Choice xmlns:v="urn:schemas-microsoft-com:vml" Requires="v">
                <p:oleObj spid="_x0000_s10267" name="Equation" r:id="rId6" imgW="5067300" imgH="444500" progId="Equation.3">
                  <p:embed/>
                </p:oleObj>
              </mc:Choice>
              <mc:Fallback>
                <p:oleObj name="Equation" r:id="rId6" imgW="5067300" imgH="4445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3722" y="2855833"/>
                        <a:ext cx="50673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0" name="Rectangle 8"/>
          <p:cNvSpPr>
            <a:spLocks noChangeArrowheads="1"/>
          </p:cNvSpPr>
          <p:nvPr/>
        </p:nvSpPr>
        <p:spPr bwMode="auto">
          <a:xfrm>
            <a:off x="876462" y="3404355"/>
            <a:ext cx="4767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矢量对三个坐标轴的矩为：</a:t>
            </a:r>
          </a:p>
        </p:txBody>
      </p:sp>
      <p:sp>
        <p:nvSpPr>
          <p:cNvPr id="13325" name="Rectangle 13"/>
          <p:cNvSpPr>
            <a:spLocks noChangeArrowheads="1"/>
          </p:cNvSpPr>
          <p:nvPr/>
        </p:nvSpPr>
        <p:spPr bwMode="auto">
          <a:xfrm>
            <a:off x="601976" y="5664778"/>
            <a:ext cx="326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矢量对</a:t>
            </a:r>
            <a:r>
              <a:rPr lang="en-US" altLang="zh-CN" i="1" dirty="0">
                <a:latin typeface="+mn-lt"/>
                <a:ea typeface="楷体" panose="02010609060101010101" pitchFamily="49" charset="-122"/>
              </a:rPr>
              <a:t>O</a:t>
            </a:r>
            <a:r>
              <a:rPr lang="zh-CN" altLang="en-US" b="1" dirty="0">
                <a:latin typeface="楷体" panose="02010609060101010101" pitchFamily="49" charset="-122"/>
                <a:ea typeface="楷体" panose="02010609060101010101" pitchFamily="49" charset="-122"/>
              </a:rPr>
              <a:t>之矩为：</a:t>
            </a:r>
          </a:p>
        </p:txBody>
      </p:sp>
      <p:graphicFrame>
        <p:nvGraphicFramePr>
          <p:cNvPr id="13326" name="Object 14"/>
          <p:cNvGraphicFramePr>
            <a:graphicFrameLocks noChangeAspect="1"/>
          </p:cNvGraphicFramePr>
          <p:nvPr>
            <p:extLst>
              <p:ext uri="{D42A27DB-BD31-4B8C-83A1-F6EECF244321}">
                <p14:modId xmlns:p14="http://schemas.microsoft.com/office/powerpoint/2010/main" val="4247048220"/>
              </p:ext>
            </p:extLst>
          </p:nvPr>
        </p:nvGraphicFramePr>
        <p:xfrm>
          <a:off x="3582055" y="5664778"/>
          <a:ext cx="4968552" cy="484115"/>
        </p:xfrm>
        <a:graphic>
          <a:graphicData uri="http://schemas.openxmlformats.org/presentationml/2006/ole">
            <mc:AlternateContent xmlns:mc="http://schemas.openxmlformats.org/markup-compatibility/2006">
              <mc:Choice xmlns:v="urn:schemas-microsoft-com:vml" Requires="v">
                <p:oleObj spid="_x0000_s10268" name="Equation" r:id="rId8" imgW="2476440" imgH="241200" progId="Equation.DSMT4">
                  <p:embed/>
                </p:oleObj>
              </mc:Choice>
              <mc:Fallback>
                <p:oleObj name="Equation" r:id="rId8" imgW="2476440" imgH="241200" progId="Equation.DSMT4">
                  <p:embed/>
                  <p:pic>
                    <p:nvPicPr>
                      <p:cNvPr id="0" name="Object 14"/>
                      <p:cNvPicPr>
                        <a:picLocks noChangeAspect="1" noChangeArrowheads="1"/>
                      </p:cNvPicPr>
                      <p:nvPr/>
                    </p:nvPicPr>
                    <p:blipFill>
                      <a:blip r:embed="rId9"/>
                      <a:srcRect/>
                      <a:stretch>
                        <a:fillRect/>
                      </a:stretch>
                    </p:blipFill>
                    <p:spPr bwMode="auto">
                      <a:xfrm>
                        <a:off x="3582055" y="5664778"/>
                        <a:ext cx="4968552" cy="484115"/>
                      </a:xfrm>
                      <a:prstGeom prst="rect">
                        <a:avLst/>
                      </a:prstGeom>
                      <a:noFill/>
                      <a:ln>
                        <a:noFill/>
                      </a:ln>
                      <a:effectLst/>
                    </p:spPr>
                  </p:pic>
                </p:oleObj>
              </mc:Fallback>
            </mc:AlternateContent>
          </a:graphicData>
        </a:graphic>
      </p:graphicFrame>
      <p:sp>
        <p:nvSpPr>
          <p:cNvPr id="16" name="Text Box 2"/>
          <p:cNvSpPr txBox="1">
            <a:spLocks noChangeArrowheads="1"/>
          </p:cNvSpPr>
          <p:nvPr/>
        </p:nvSpPr>
        <p:spPr bwMode="auto">
          <a:xfrm>
            <a:off x="601976" y="1828722"/>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2113DD"/>
                </a:solidFill>
                <a:latin typeface="楷体" panose="02010609060101010101" pitchFamily="49" charset="-122"/>
                <a:ea typeface="楷体" panose="02010609060101010101" pitchFamily="49" charset="-122"/>
              </a:rPr>
              <a:t>解</a:t>
            </a:r>
            <a:r>
              <a:rPr lang="zh-CN" altLang="en-US" dirty="0">
                <a:solidFill>
                  <a:srgbClr val="2113DD"/>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zh-CN" altLang="en-US" b="1" dirty="0">
                <a:latin typeface="楷体" panose="02010609060101010101" pitchFamily="49" charset="-122"/>
                <a:ea typeface="楷体" panose="02010609060101010101" pitchFamily="49" charset="-122"/>
              </a:rPr>
              <a:t>矢量作用点坐标为：</a:t>
            </a:r>
          </a:p>
        </p:txBody>
      </p:sp>
      <p:graphicFrame>
        <p:nvGraphicFramePr>
          <p:cNvPr id="17" name="Object 9"/>
          <p:cNvGraphicFramePr>
            <a:graphicFrameLocks noChangeAspect="1"/>
          </p:cNvGraphicFramePr>
          <p:nvPr>
            <p:extLst>
              <p:ext uri="{D42A27DB-BD31-4B8C-83A1-F6EECF244321}">
                <p14:modId xmlns:p14="http://schemas.microsoft.com/office/powerpoint/2010/main" val="12137964"/>
              </p:ext>
            </p:extLst>
          </p:nvPr>
        </p:nvGraphicFramePr>
        <p:xfrm>
          <a:off x="573801" y="3904421"/>
          <a:ext cx="7848872" cy="537901"/>
        </p:xfrm>
        <a:graphic>
          <a:graphicData uri="http://schemas.openxmlformats.org/presentationml/2006/ole">
            <mc:AlternateContent xmlns:mc="http://schemas.openxmlformats.org/markup-compatibility/2006">
              <mc:Choice xmlns:v="urn:schemas-microsoft-com:vml" Requires="v">
                <p:oleObj spid="_x0000_s10269" name="Equation" r:id="rId10" imgW="3898900" imgH="266700" progId="Equation.DSMT4">
                  <p:embed/>
                </p:oleObj>
              </mc:Choice>
              <mc:Fallback>
                <p:oleObj name="Equation" r:id="rId10" imgW="3898900" imgH="2667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3801" y="3904421"/>
                        <a:ext cx="7848872" cy="537901"/>
                      </a:xfrm>
                      <a:prstGeom prst="rect">
                        <a:avLst/>
                      </a:prstGeom>
                      <a:noFill/>
                      <a:ln>
                        <a:noFill/>
                      </a:ln>
                      <a:effectLst/>
                    </p:spPr>
                  </p:pic>
                </p:oleObj>
              </mc:Fallback>
            </mc:AlternateContent>
          </a:graphicData>
        </a:graphic>
      </p:graphicFrame>
      <p:graphicFrame>
        <p:nvGraphicFramePr>
          <p:cNvPr id="13" name="Object 9"/>
          <p:cNvGraphicFramePr>
            <a:graphicFrameLocks noChangeAspect="1"/>
          </p:cNvGraphicFramePr>
          <p:nvPr>
            <p:extLst>
              <p:ext uri="{D42A27DB-BD31-4B8C-83A1-F6EECF244321}">
                <p14:modId xmlns:p14="http://schemas.microsoft.com/office/powerpoint/2010/main" val="771789160"/>
              </p:ext>
            </p:extLst>
          </p:nvPr>
        </p:nvGraphicFramePr>
        <p:xfrm>
          <a:off x="911997" y="4480422"/>
          <a:ext cx="4730750" cy="538163"/>
        </p:xfrm>
        <a:graphic>
          <a:graphicData uri="http://schemas.openxmlformats.org/presentationml/2006/ole">
            <mc:AlternateContent xmlns:mc="http://schemas.openxmlformats.org/markup-compatibility/2006">
              <mc:Choice xmlns:v="urn:schemas-microsoft-com:vml" Requires="v">
                <p:oleObj spid="_x0000_s10270" name="Equation" r:id="rId12" imgW="2349360" imgH="266400" progId="Equation.DSMT4">
                  <p:embed/>
                </p:oleObj>
              </mc:Choice>
              <mc:Fallback>
                <p:oleObj name="Equation" r:id="rId12" imgW="2349360" imgH="266400" progId="Equation.DSMT4">
                  <p:embed/>
                  <p:pic>
                    <p:nvPicPr>
                      <p:cNvPr id="0" name=""/>
                      <p:cNvPicPr>
                        <a:picLocks noChangeAspect="1" noChangeArrowheads="1"/>
                      </p:cNvPicPr>
                      <p:nvPr/>
                    </p:nvPicPr>
                    <p:blipFill>
                      <a:blip r:embed="rId13"/>
                      <a:srcRect/>
                      <a:stretch>
                        <a:fillRect/>
                      </a:stretch>
                    </p:blipFill>
                    <p:spPr bwMode="auto">
                      <a:xfrm>
                        <a:off x="911997" y="4480422"/>
                        <a:ext cx="4730750" cy="538163"/>
                      </a:xfrm>
                      <a:prstGeom prst="rect">
                        <a:avLst/>
                      </a:prstGeom>
                      <a:noFill/>
                      <a:ln>
                        <a:noFill/>
                      </a:ln>
                      <a:effectLst/>
                    </p:spPr>
                  </p:pic>
                </p:oleObj>
              </mc:Fallback>
            </mc:AlternateContent>
          </a:graphicData>
        </a:graphic>
      </p:graphicFrame>
      <p:graphicFrame>
        <p:nvGraphicFramePr>
          <p:cNvPr id="14" name="Object 9"/>
          <p:cNvGraphicFramePr>
            <a:graphicFrameLocks noChangeAspect="1"/>
          </p:cNvGraphicFramePr>
          <p:nvPr>
            <p:extLst>
              <p:ext uri="{D42A27DB-BD31-4B8C-83A1-F6EECF244321}">
                <p14:modId xmlns:p14="http://schemas.microsoft.com/office/powerpoint/2010/main" val="547676060"/>
              </p:ext>
            </p:extLst>
          </p:nvPr>
        </p:nvGraphicFramePr>
        <p:xfrm>
          <a:off x="941701" y="5078950"/>
          <a:ext cx="3784600" cy="487363"/>
        </p:xfrm>
        <a:graphic>
          <a:graphicData uri="http://schemas.openxmlformats.org/presentationml/2006/ole">
            <mc:AlternateContent xmlns:mc="http://schemas.openxmlformats.org/markup-compatibility/2006">
              <mc:Choice xmlns:v="urn:schemas-microsoft-com:vml" Requires="v">
                <p:oleObj spid="_x0000_s10271" name="Equation" r:id="rId14" imgW="1879560" imgH="241200" progId="Equation.DSMT4">
                  <p:embed/>
                </p:oleObj>
              </mc:Choice>
              <mc:Fallback>
                <p:oleObj name="Equation" r:id="rId14" imgW="1879560" imgH="241200" progId="Equation.DSMT4">
                  <p:embed/>
                  <p:pic>
                    <p:nvPicPr>
                      <p:cNvPr id="0" name=""/>
                      <p:cNvPicPr>
                        <a:picLocks noChangeAspect="1" noChangeArrowheads="1"/>
                      </p:cNvPicPr>
                      <p:nvPr/>
                    </p:nvPicPr>
                    <p:blipFill>
                      <a:blip r:embed="rId15"/>
                      <a:srcRect/>
                      <a:stretch>
                        <a:fillRect/>
                      </a:stretch>
                    </p:blipFill>
                    <p:spPr bwMode="auto">
                      <a:xfrm>
                        <a:off x="941701" y="5078950"/>
                        <a:ext cx="3784600" cy="487363"/>
                      </a:xfrm>
                      <a:prstGeom prst="rect">
                        <a:avLst/>
                      </a:prstGeom>
                      <a:noFill/>
                      <a:ln>
                        <a:noFill/>
                      </a:ln>
                      <a:effectLst/>
                    </p:spPr>
                  </p:pic>
                </p:oleObj>
              </mc:Fallback>
            </mc:AlternateContent>
          </a:graphicData>
        </a:graphic>
      </p:graphicFrame>
      <p:grpSp>
        <p:nvGrpSpPr>
          <p:cNvPr id="2" name="组合 1"/>
          <p:cNvGrpSpPr/>
          <p:nvPr/>
        </p:nvGrpSpPr>
        <p:grpSpPr>
          <a:xfrm>
            <a:off x="6984223" y="1171803"/>
            <a:ext cx="1413516" cy="1526791"/>
            <a:chOff x="6984344" y="1164604"/>
            <a:chExt cx="1413516" cy="1526791"/>
          </a:xfrm>
        </p:grpSpPr>
        <p:sp>
          <p:nvSpPr>
            <p:cNvPr id="15" name="Line 17"/>
            <p:cNvSpPr>
              <a:spLocks noChangeShapeType="1"/>
            </p:cNvSpPr>
            <p:nvPr/>
          </p:nvSpPr>
          <p:spPr bwMode="auto">
            <a:xfrm flipH="1">
              <a:off x="6984344" y="2363360"/>
              <a:ext cx="684000" cy="0"/>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7"/>
            <p:cNvSpPr>
              <a:spLocks noChangeShapeType="1"/>
            </p:cNvSpPr>
            <p:nvPr/>
          </p:nvSpPr>
          <p:spPr bwMode="auto">
            <a:xfrm rot="5400000" flipH="1">
              <a:off x="7353581" y="2021360"/>
              <a:ext cx="684000" cy="0"/>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6"/>
            <p:cNvSpPr>
              <a:spLocks noChangeShapeType="1"/>
            </p:cNvSpPr>
            <p:nvPr/>
          </p:nvSpPr>
          <p:spPr bwMode="auto">
            <a:xfrm rot="10800000" flipH="1">
              <a:off x="7695581" y="1844824"/>
              <a:ext cx="332803" cy="518536"/>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11"/>
            <p:cNvSpPr txBox="1">
              <a:spLocks noChangeArrowheads="1"/>
            </p:cNvSpPr>
            <p:nvPr/>
          </p:nvSpPr>
          <p:spPr bwMode="auto">
            <a:xfrm>
              <a:off x="7827947" y="1872073"/>
              <a:ext cx="569913" cy="464038"/>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sz="2000" b="1" i="1" dirty="0" err="1">
                  <a:solidFill>
                    <a:srgbClr val="FF3300"/>
                  </a:solidFill>
                </a:rPr>
                <a:t>F</a:t>
              </a:r>
              <a:r>
                <a:rPr lang="en-US" altLang="zh-CN" sz="2000" b="1" i="1" baseline="-25000" dirty="0" err="1">
                  <a:solidFill>
                    <a:srgbClr val="FF3300"/>
                  </a:solidFill>
                </a:rPr>
                <a:t>x</a:t>
              </a:r>
              <a:endParaRPr lang="en-US" altLang="zh-CN" sz="2000" b="1" i="1" baseline="-25000" dirty="0">
                <a:solidFill>
                  <a:srgbClr val="FF3300"/>
                </a:solidFill>
              </a:endParaRPr>
            </a:p>
          </p:txBody>
        </p:sp>
        <p:sp>
          <p:nvSpPr>
            <p:cNvPr id="21" name="Text Box 11"/>
            <p:cNvSpPr txBox="1">
              <a:spLocks noChangeArrowheads="1"/>
            </p:cNvSpPr>
            <p:nvPr/>
          </p:nvSpPr>
          <p:spPr bwMode="auto">
            <a:xfrm>
              <a:off x="7193339" y="2227357"/>
              <a:ext cx="569913" cy="464038"/>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sz="2000" b="1" i="1" dirty="0" err="1">
                  <a:solidFill>
                    <a:srgbClr val="FF3300"/>
                  </a:solidFill>
                </a:rPr>
                <a:t>F</a:t>
              </a:r>
              <a:r>
                <a:rPr lang="en-US" altLang="zh-CN" sz="2000" b="1" i="1" baseline="-25000" dirty="0" err="1">
                  <a:solidFill>
                    <a:srgbClr val="FF3300"/>
                  </a:solidFill>
                </a:rPr>
                <a:t>y</a:t>
              </a:r>
              <a:endParaRPr lang="en-US" altLang="zh-CN" sz="2000" b="1" i="1" baseline="-25000" dirty="0">
                <a:solidFill>
                  <a:srgbClr val="FF3300"/>
                </a:solidFill>
              </a:endParaRPr>
            </a:p>
          </p:txBody>
        </p:sp>
        <p:sp>
          <p:nvSpPr>
            <p:cNvPr id="22" name="Text Box 11"/>
            <p:cNvSpPr txBox="1">
              <a:spLocks noChangeArrowheads="1"/>
            </p:cNvSpPr>
            <p:nvPr/>
          </p:nvSpPr>
          <p:spPr bwMode="auto">
            <a:xfrm>
              <a:off x="7410624" y="1164604"/>
              <a:ext cx="569913" cy="464038"/>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sz="2000" b="1" i="1" dirty="0" err="1">
                  <a:solidFill>
                    <a:srgbClr val="FF3300"/>
                  </a:solidFill>
                </a:rPr>
                <a:t>F</a:t>
              </a:r>
              <a:r>
                <a:rPr lang="en-US" altLang="zh-CN" sz="2000" b="1" i="1" baseline="-25000" dirty="0" err="1">
                  <a:solidFill>
                    <a:srgbClr val="FF3300"/>
                  </a:solidFill>
                </a:rPr>
                <a:t>z</a:t>
              </a:r>
              <a:endParaRPr lang="en-US" altLang="zh-CN" sz="2000" b="1" i="1" baseline="-25000" dirty="0">
                <a:solidFill>
                  <a:srgbClr val="FF33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ox(ou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3317"/>
                                        </p:tgtEl>
                                        <p:attrNameLst>
                                          <p:attrName>style.visibility</p:attrName>
                                        </p:attrNameLst>
                                      </p:cBhvr>
                                      <p:to>
                                        <p:strVal val="visible"/>
                                      </p:to>
                                    </p:set>
                                    <p:animEffect transition="in" filter="box(out)">
                                      <p:cBhvr>
                                        <p:cTn id="12" dur="500"/>
                                        <p:tgtEl>
                                          <p:spTgt spid="133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3319"/>
                                        </p:tgtEl>
                                        <p:attrNameLst>
                                          <p:attrName>style.visibility</p:attrName>
                                        </p:attrNameLst>
                                      </p:cBhvr>
                                      <p:to>
                                        <p:strVal val="visible"/>
                                      </p:to>
                                    </p:set>
                                    <p:animEffect transition="in" filter="box(out)">
                                      <p:cBhvr>
                                        <p:cTn id="22" dur="500"/>
                                        <p:tgtEl>
                                          <p:spTgt spid="1331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3320">
                                            <p:txEl>
                                              <p:pRg st="0" end="0"/>
                                            </p:txEl>
                                          </p:spTgt>
                                        </p:tgtEl>
                                        <p:attrNameLst>
                                          <p:attrName>style.visibility</p:attrName>
                                        </p:attrNameLst>
                                      </p:cBhvr>
                                      <p:to>
                                        <p:strVal val="visible"/>
                                      </p:to>
                                    </p:set>
                                    <p:animEffect transition="in" filter="box(out)">
                                      <p:cBhvr>
                                        <p:cTn id="27" dur="500"/>
                                        <p:tgtEl>
                                          <p:spTgt spid="1332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ox(ou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ox(ou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ox(ou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3325">
                                            <p:txEl>
                                              <p:pRg st="0" end="0"/>
                                            </p:txEl>
                                          </p:spTgt>
                                        </p:tgtEl>
                                        <p:attrNameLst>
                                          <p:attrName>style.visibility</p:attrName>
                                        </p:attrNameLst>
                                      </p:cBhvr>
                                      <p:to>
                                        <p:strVal val="visible"/>
                                      </p:to>
                                    </p:set>
                                    <p:animEffect transition="in" filter="box(out)">
                                      <p:cBhvr>
                                        <p:cTn id="47" dur="500"/>
                                        <p:tgtEl>
                                          <p:spTgt spid="1332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13326"/>
                                        </p:tgtEl>
                                        <p:attrNameLst>
                                          <p:attrName>style.visibility</p:attrName>
                                        </p:attrNameLst>
                                      </p:cBhvr>
                                      <p:to>
                                        <p:strVal val="visible"/>
                                      </p:to>
                                    </p:set>
                                    <p:animEffect transition="in" filter="box(out)">
                                      <p:cBhvr>
                                        <p:cTn id="52" dur="500"/>
                                        <p:tgtEl>
                                          <p:spTgt spid="13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0" grpId="0" build="p" autoUpdateAnimBg="0"/>
      <p:bldP spid="13325" grpId="0" build="p" autoUpdateAnimBg="0"/>
      <p:bldP spid="16"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36"/>
          <p:cNvSpPr txBox="1">
            <a:spLocks noChangeArrowheads="1"/>
          </p:cNvSpPr>
          <p:nvPr/>
        </p:nvSpPr>
        <p:spPr bwMode="auto">
          <a:xfrm>
            <a:off x="494178" y="388739"/>
            <a:ext cx="81010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FF0000"/>
                </a:solidFill>
                <a:latin typeface="楷体" panose="02010609060101010101" pitchFamily="49" charset="-122"/>
                <a:ea typeface="楷体" panose="02010609060101010101" pitchFamily="49" charset="-122"/>
              </a:rPr>
              <a:t>例</a:t>
            </a:r>
            <a:r>
              <a:rPr lang="zh-CN" altLang="en-US" b="1" dirty="0">
                <a:latin typeface="楷体" panose="02010609060101010101" pitchFamily="49" charset="-122"/>
                <a:ea typeface="楷体" panose="02010609060101010101" pitchFamily="49" charset="-122"/>
              </a:rPr>
              <a:t>力</a:t>
            </a:r>
            <a:r>
              <a:rPr lang="en-US" altLang="zh-CN" b="1" i="1" dirty="0">
                <a:latin typeface="+mn-lt"/>
                <a:ea typeface="+mj-ea"/>
                <a:cs typeface="Microsoft Himalaya" panose="01010100010101010101" pitchFamily="2" charset="0"/>
              </a:rPr>
              <a:t>F</a:t>
            </a:r>
            <a:r>
              <a:rPr lang="zh-CN" altLang="en-US" b="1" dirty="0">
                <a:latin typeface="楷体" panose="02010609060101010101" pitchFamily="49" charset="-122"/>
                <a:ea typeface="楷体" panose="02010609060101010101" pitchFamily="49" charset="-122"/>
              </a:rPr>
              <a:t>作用于水平圆盘边缘上一点，并垂直于半径</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如图</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，其作用线在过该点而与圆周相切的平面内。已知圆盘半径为</a:t>
            </a:r>
            <a:r>
              <a:rPr lang="en-US" altLang="zh-CN" i="1" dirty="0">
                <a:latin typeface="+mj-lt"/>
                <a:ea typeface="Meiryo" panose="020B0604030504040204" pitchFamily="34" charset="-128"/>
                <a:cs typeface="Meiryo" panose="020B0604030504040204" pitchFamily="34" charset="-128"/>
              </a:rPr>
              <a:t>r</a:t>
            </a:r>
            <a:r>
              <a:rPr lang="zh-CN" altLang="en-US" b="1" dirty="0">
                <a:latin typeface="楷体" panose="02010609060101010101" pitchFamily="49" charset="-122"/>
                <a:ea typeface="楷体" panose="02010609060101010101" pitchFamily="49" charset="-122"/>
              </a:rPr>
              <a:t>，      。</a:t>
            </a:r>
            <a:r>
              <a:rPr lang="zh-CN" altLang="en-US" b="1" dirty="0">
                <a:solidFill>
                  <a:srgbClr val="000000"/>
                </a:solidFill>
                <a:latin typeface="楷体" panose="02010609060101010101" pitchFamily="49" charset="-122"/>
                <a:ea typeface="楷体" panose="02010609060101010101" pitchFamily="49" charset="-122"/>
              </a:rPr>
              <a:t>试求力</a:t>
            </a:r>
            <a:r>
              <a:rPr lang="en-US" altLang="zh-CN" b="1" i="1" dirty="0">
                <a:latin typeface="+mn-lt"/>
                <a:cs typeface="Microsoft Himalaya" panose="01010100010101010101" pitchFamily="2" charset="0"/>
              </a:rPr>
              <a:t>F</a:t>
            </a:r>
            <a:r>
              <a:rPr lang="zh-CN" altLang="en-US" b="1" dirty="0">
                <a:solidFill>
                  <a:srgbClr val="000000"/>
                </a:solidFill>
                <a:latin typeface="楷体" panose="02010609060101010101" pitchFamily="49" charset="-122"/>
                <a:ea typeface="楷体" panose="02010609060101010101" pitchFamily="49" charset="-122"/>
              </a:rPr>
              <a:t>对</a:t>
            </a:r>
            <a:r>
              <a:rPr lang="en-US" altLang="zh-CN" i="1" dirty="0">
                <a:solidFill>
                  <a:srgbClr val="000000"/>
                </a:solidFill>
                <a:latin typeface="+mn-lt"/>
                <a:ea typeface="楷体" panose="02010609060101010101" pitchFamily="49" charset="-122"/>
              </a:rPr>
              <a:t>x</a:t>
            </a:r>
            <a:r>
              <a:rPr lang="zh-CN" altLang="en-US" i="1" dirty="0">
                <a:solidFill>
                  <a:srgbClr val="000000"/>
                </a:solidFill>
                <a:latin typeface="+mn-lt"/>
                <a:ea typeface="楷体" panose="02010609060101010101" pitchFamily="49" charset="-122"/>
              </a:rPr>
              <a:t>、</a:t>
            </a:r>
            <a:r>
              <a:rPr lang="en-US" altLang="zh-CN" i="1" dirty="0">
                <a:solidFill>
                  <a:srgbClr val="000000"/>
                </a:solidFill>
                <a:latin typeface="+mn-lt"/>
                <a:ea typeface="楷体" panose="02010609060101010101" pitchFamily="49" charset="-122"/>
              </a:rPr>
              <a:t>y</a:t>
            </a:r>
            <a:r>
              <a:rPr lang="zh-CN" altLang="en-US" b="1" dirty="0">
                <a:solidFill>
                  <a:srgbClr val="000000"/>
                </a:solidFill>
                <a:latin typeface="楷体" panose="02010609060101010101" pitchFamily="49" charset="-122"/>
                <a:ea typeface="楷体" panose="02010609060101010101" pitchFamily="49" charset="-122"/>
              </a:rPr>
              <a:t>和</a:t>
            </a:r>
            <a:r>
              <a:rPr lang="en-US" altLang="zh-CN" i="1" dirty="0">
                <a:solidFill>
                  <a:srgbClr val="000000"/>
                </a:solidFill>
                <a:latin typeface="+mn-lt"/>
                <a:ea typeface="楷体" panose="02010609060101010101" pitchFamily="49" charset="-122"/>
              </a:rPr>
              <a:t>z</a:t>
            </a:r>
            <a:r>
              <a:rPr lang="zh-CN" altLang="en-US" b="1" dirty="0">
                <a:solidFill>
                  <a:srgbClr val="000000"/>
                </a:solidFill>
                <a:latin typeface="楷体" panose="02010609060101010101" pitchFamily="49" charset="-122"/>
                <a:ea typeface="楷体" panose="02010609060101010101" pitchFamily="49" charset="-122"/>
              </a:rPr>
              <a:t>轴之矩。</a:t>
            </a:r>
          </a:p>
        </p:txBody>
      </p:sp>
      <p:sp>
        <p:nvSpPr>
          <p:cNvPr id="58405" name="Text Box 37"/>
          <p:cNvSpPr txBox="1">
            <a:spLocks noChangeArrowheads="1"/>
          </p:cNvSpPr>
          <p:nvPr/>
        </p:nvSpPr>
        <p:spPr bwMode="auto">
          <a:xfrm>
            <a:off x="541482" y="1616742"/>
            <a:ext cx="8018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2113DD"/>
                </a:solidFill>
                <a:latin typeface="楷体" panose="02010609060101010101" pitchFamily="49" charset="-122"/>
                <a:ea typeface="楷体" panose="02010609060101010101" pitchFamily="49" charset="-122"/>
              </a:rPr>
              <a:t>解</a:t>
            </a:r>
            <a:r>
              <a:rPr lang="zh-CN" altLang="en-US" dirty="0">
                <a:solidFill>
                  <a:srgbClr val="2113DD"/>
                </a:solidFill>
                <a:latin typeface="楷体" panose="02010609060101010101" pitchFamily="49" charset="-122"/>
                <a:ea typeface="楷体" panose="02010609060101010101" pitchFamily="49" charset="-122"/>
              </a:rPr>
              <a:t>：</a:t>
            </a:r>
          </a:p>
        </p:txBody>
      </p:sp>
      <p:graphicFrame>
        <p:nvGraphicFramePr>
          <p:cNvPr id="58408" name="Object 40"/>
          <p:cNvGraphicFramePr>
            <a:graphicFrameLocks noChangeAspect="1"/>
          </p:cNvGraphicFramePr>
          <p:nvPr>
            <p:extLst>
              <p:ext uri="{D42A27DB-BD31-4B8C-83A1-F6EECF244321}">
                <p14:modId xmlns:p14="http://schemas.microsoft.com/office/powerpoint/2010/main" val="3478131663"/>
              </p:ext>
            </p:extLst>
          </p:nvPr>
        </p:nvGraphicFramePr>
        <p:xfrm>
          <a:off x="701598" y="3267591"/>
          <a:ext cx="2900363" cy="404813"/>
        </p:xfrm>
        <a:graphic>
          <a:graphicData uri="http://schemas.openxmlformats.org/presentationml/2006/ole">
            <mc:AlternateContent xmlns:mc="http://schemas.openxmlformats.org/markup-compatibility/2006">
              <mc:Choice xmlns:v="urn:schemas-microsoft-com:vml" Requires="v">
                <p:oleObj spid="_x0000_s11306" name="Equation" r:id="rId3" imgW="1714320" imgH="241200" progId="Equation.DSMT4">
                  <p:embed/>
                </p:oleObj>
              </mc:Choice>
              <mc:Fallback>
                <p:oleObj name="Equation" r:id="rId3" imgW="1714320" imgH="241200" progId="Equation.DSMT4">
                  <p:embed/>
                  <p:pic>
                    <p:nvPicPr>
                      <p:cNvPr id="0" name=""/>
                      <p:cNvPicPr>
                        <a:picLocks noChangeAspect="1" noChangeArrowheads="1"/>
                      </p:cNvPicPr>
                      <p:nvPr/>
                    </p:nvPicPr>
                    <p:blipFill>
                      <a:blip r:embed="rId4"/>
                      <a:srcRect/>
                      <a:stretch>
                        <a:fillRect/>
                      </a:stretch>
                    </p:blipFill>
                    <p:spPr bwMode="auto">
                      <a:xfrm>
                        <a:off x="701598" y="3267591"/>
                        <a:ext cx="2900363" cy="404813"/>
                      </a:xfrm>
                      <a:prstGeom prst="rect">
                        <a:avLst/>
                      </a:prstGeom>
                      <a:noFill/>
                      <a:ln>
                        <a:noFill/>
                      </a:ln>
                      <a:effectLst/>
                    </p:spPr>
                  </p:pic>
                </p:oleObj>
              </mc:Fallback>
            </mc:AlternateContent>
          </a:graphicData>
        </a:graphic>
      </p:graphicFrame>
      <p:graphicFrame>
        <p:nvGraphicFramePr>
          <p:cNvPr id="58409" name="Object 41"/>
          <p:cNvGraphicFramePr>
            <a:graphicFrameLocks noChangeAspect="1"/>
          </p:cNvGraphicFramePr>
          <p:nvPr>
            <p:extLst>
              <p:ext uri="{D42A27DB-BD31-4B8C-83A1-F6EECF244321}">
                <p14:modId xmlns:p14="http://schemas.microsoft.com/office/powerpoint/2010/main" val="1432092761"/>
              </p:ext>
            </p:extLst>
          </p:nvPr>
        </p:nvGraphicFramePr>
        <p:xfrm>
          <a:off x="3622024" y="3172292"/>
          <a:ext cx="1044004" cy="532533"/>
        </p:xfrm>
        <a:graphic>
          <a:graphicData uri="http://schemas.openxmlformats.org/presentationml/2006/ole">
            <mc:AlternateContent xmlns:mc="http://schemas.openxmlformats.org/markup-compatibility/2006">
              <mc:Choice xmlns:v="urn:schemas-microsoft-com:vml" Requires="v">
                <p:oleObj spid="_x0000_s11307" name="Equation" r:id="rId5" imgW="774360" imgH="393480" progId="Equation.DSMT4">
                  <p:embed/>
                </p:oleObj>
              </mc:Choice>
              <mc:Fallback>
                <p:oleObj name="Equation" r:id="rId5" imgW="774360" imgH="393480" progId="Equation.DSMT4">
                  <p:embed/>
                  <p:pic>
                    <p:nvPicPr>
                      <p:cNvPr id="0" name=""/>
                      <p:cNvPicPr>
                        <a:picLocks noChangeAspect="1" noChangeArrowheads="1"/>
                      </p:cNvPicPr>
                      <p:nvPr/>
                    </p:nvPicPr>
                    <p:blipFill>
                      <a:blip r:embed="rId6"/>
                      <a:srcRect/>
                      <a:stretch>
                        <a:fillRect/>
                      </a:stretch>
                    </p:blipFill>
                    <p:spPr bwMode="auto">
                      <a:xfrm>
                        <a:off x="3622024" y="3172292"/>
                        <a:ext cx="1044004" cy="532533"/>
                      </a:xfrm>
                      <a:prstGeom prst="rect">
                        <a:avLst/>
                      </a:prstGeom>
                      <a:noFill/>
                      <a:ln>
                        <a:noFill/>
                      </a:ln>
                      <a:effectLst/>
                    </p:spPr>
                  </p:pic>
                </p:oleObj>
              </mc:Fallback>
            </mc:AlternateContent>
          </a:graphicData>
        </a:graphic>
      </p:graphicFrame>
      <p:graphicFrame>
        <p:nvGraphicFramePr>
          <p:cNvPr id="58410" name="Object 42"/>
          <p:cNvGraphicFramePr>
            <a:graphicFrameLocks noChangeAspect="1"/>
          </p:cNvGraphicFramePr>
          <p:nvPr>
            <p:extLst>
              <p:ext uri="{D42A27DB-BD31-4B8C-83A1-F6EECF244321}">
                <p14:modId xmlns:p14="http://schemas.microsoft.com/office/powerpoint/2010/main" val="4156866056"/>
              </p:ext>
            </p:extLst>
          </p:nvPr>
        </p:nvGraphicFramePr>
        <p:xfrm>
          <a:off x="730116" y="3755247"/>
          <a:ext cx="2890055" cy="405329"/>
        </p:xfrm>
        <a:graphic>
          <a:graphicData uri="http://schemas.openxmlformats.org/presentationml/2006/ole">
            <mc:AlternateContent xmlns:mc="http://schemas.openxmlformats.org/markup-compatibility/2006">
              <mc:Choice xmlns:v="urn:schemas-microsoft-com:vml" Requires="v">
                <p:oleObj spid="_x0000_s11308" name="Equation" r:id="rId7" imgW="1714320" imgH="241200" progId="Equation.DSMT4">
                  <p:embed/>
                </p:oleObj>
              </mc:Choice>
              <mc:Fallback>
                <p:oleObj name="Equation" r:id="rId7" imgW="1714320" imgH="241200" progId="Equation.DSMT4">
                  <p:embed/>
                  <p:pic>
                    <p:nvPicPr>
                      <p:cNvPr id="0" name=""/>
                      <p:cNvPicPr>
                        <a:picLocks noChangeAspect="1" noChangeArrowheads="1"/>
                      </p:cNvPicPr>
                      <p:nvPr/>
                    </p:nvPicPr>
                    <p:blipFill>
                      <a:blip r:embed="rId8"/>
                      <a:srcRect/>
                      <a:stretch>
                        <a:fillRect/>
                      </a:stretch>
                    </p:blipFill>
                    <p:spPr bwMode="auto">
                      <a:xfrm>
                        <a:off x="730116" y="3755247"/>
                        <a:ext cx="2890055" cy="405329"/>
                      </a:xfrm>
                      <a:prstGeom prst="rect">
                        <a:avLst/>
                      </a:prstGeom>
                      <a:noFill/>
                      <a:ln>
                        <a:noFill/>
                      </a:ln>
                      <a:effectLst/>
                    </p:spPr>
                  </p:pic>
                </p:oleObj>
              </mc:Fallback>
            </mc:AlternateContent>
          </a:graphicData>
        </a:graphic>
      </p:graphicFrame>
      <p:graphicFrame>
        <p:nvGraphicFramePr>
          <p:cNvPr id="58411" name="Object 43"/>
          <p:cNvGraphicFramePr>
            <a:graphicFrameLocks noChangeAspect="1"/>
          </p:cNvGraphicFramePr>
          <p:nvPr>
            <p:extLst>
              <p:ext uri="{D42A27DB-BD31-4B8C-83A1-F6EECF244321}">
                <p14:modId xmlns:p14="http://schemas.microsoft.com/office/powerpoint/2010/main" val="3418911926"/>
              </p:ext>
            </p:extLst>
          </p:nvPr>
        </p:nvGraphicFramePr>
        <p:xfrm>
          <a:off x="681163" y="4225587"/>
          <a:ext cx="2878390" cy="411380"/>
        </p:xfrm>
        <a:graphic>
          <a:graphicData uri="http://schemas.openxmlformats.org/presentationml/2006/ole">
            <mc:AlternateContent xmlns:mc="http://schemas.openxmlformats.org/markup-compatibility/2006">
              <mc:Choice xmlns:v="urn:schemas-microsoft-com:vml" Requires="v">
                <p:oleObj spid="_x0000_s11309" name="Equation" r:id="rId9" imgW="1688760" imgH="241200" progId="Equation.DSMT4">
                  <p:embed/>
                </p:oleObj>
              </mc:Choice>
              <mc:Fallback>
                <p:oleObj name="Equation" r:id="rId9" imgW="1688760" imgH="241200" progId="Equation.DSMT4">
                  <p:embed/>
                  <p:pic>
                    <p:nvPicPr>
                      <p:cNvPr id="0" name=""/>
                      <p:cNvPicPr>
                        <a:picLocks noChangeAspect="1" noChangeArrowheads="1"/>
                      </p:cNvPicPr>
                      <p:nvPr/>
                    </p:nvPicPr>
                    <p:blipFill>
                      <a:blip r:embed="rId10"/>
                      <a:srcRect/>
                      <a:stretch>
                        <a:fillRect/>
                      </a:stretch>
                    </p:blipFill>
                    <p:spPr bwMode="auto">
                      <a:xfrm>
                        <a:off x="681163" y="4225587"/>
                        <a:ext cx="2878390" cy="411380"/>
                      </a:xfrm>
                      <a:prstGeom prst="rect">
                        <a:avLst/>
                      </a:prstGeom>
                      <a:noFill/>
                      <a:ln>
                        <a:noFill/>
                      </a:ln>
                      <a:effectLst/>
                    </p:spPr>
                  </p:pic>
                </p:oleObj>
              </mc:Fallback>
            </mc:AlternateContent>
          </a:graphicData>
        </a:graphic>
      </p:graphicFrame>
      <p:graphicFrame>
        <p:nvGraphicFramePr>
          <p:cNvPr id="58412" name="Object 44"/>
          <p:cNvGraphicFramePr>
            <a:graphicFrameLocks noChangeAspect="1"/>
          </p:cNvGraphicFramePr>
          <p:nvPr>
            <p:extLst>
              <p:ext uri="{D42A27DB-BD31-4B8C-83A1-F6EECF244321}">
                <p14:modId xmlns:p14="http://schemas.microsoft.com/office/powerpoint/2010/main" val="285655829"/>
              </p:ext>
            </p:extLst>
          </p:nvPr>
        </p:nvGraphicFramePr>
        <p:xfrm>
          <a:off x="3590723" y="4210997"/>
          <a:ext cx="639085" cy="450173"/>
        </p:xfrm>
        <a:graphic>
          <a:graphicData uri="http://schemas.openxmlformats.org/presentationml/2006/ole">
            <mc:AlternateContent xmlns:mc="http://schemas.openxmlformats.org/markup-compatibility/2006">
              <mc:Choice xmlns:v="urn:schemas-microsoft-com:vml" Requires="v">
                <p:oleObj spid="_x0000_s11310" name="Equation" r:id="rId11" imgW="558720" imgH="393480" progId="Equation.DSMT4">
                  <p:embed/>
                </p:oleObj>
              </mc:Choice>
              <mc:Fallback>
                <p:oleObj name="Equation" r:id="rId11" imgW="558720" imgH="393480" progId="Equation.DSMT4">
                  <p:embed/>
                  <p:pic>
                    <p:nvPicPr>
                      <p:cNvPr id="0" name=""/>
                      <p:cNvPicPr>
                        <a:picLocks noChangeAspect="1" noChangeArrowheads="1"/>
                      </p:cNvPicPr>
                      <p:nvPr/>
                    </p:nvPicPr>
                    <p:blipFill>
                      <a:blip r:embed="rId12"/>
                      <a:srcRect/>
                      <a:stretch>
                        <a:fillRect/>
                      </a:stretch>
                    </p:blipFill>
                    <p:spPr bwMode="auto">
                      <a:xfrm>
                        <a:off x="3590723" y="4210997"/>
                        <a:ext cx="639085" cy="450173"/>
                      </a:xfrm>
                      <a:prstGeom prst="rect">
                        <a:avLst/>
                      </a:prstGeom>
                      <a:noFill/>
                      <a:ln>
                        <a:noFill/>
                      </a:ln>
                      <a:effectLst/>
                    </p:spPr>
                  </p:pic>
                </p:oleObj>
              </mc:Fallback>
            </mc:AlternateContent>
          </a:graphicData>
        </a:graphic>
      </p:graphicFrame>
      <p:sp>
        <p:nvSpPr>
          <p:cNvPr id="13" name="TextBox 8"/>
          <p:cNvSpPr txBox="1">
            <a:spLocks noChangeArrowheads="1"/>
          </p:cNvSpPr>
          <p:nvPr/>
        </p:nvSpPr>
        <p:spPr bwMode="auto">
          <a:xfrm>
            <a:off x="924751" y="5928433"/>
            <a:ext cx="6643687" cy="461963"/>
          </a:xfrm>
          <a:prstGeom prst="rect">
            <a:avLst/>
          </a:prstGeom>
          <a:solidFill>
            <a:srgbClr val="FF3399">
              <a:alpha val="2392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b="1" dirty="0">
                <a:solidFill>
                  <a:srgbClr val="000000"/>
                </a:solidFill>
                <a:latin typeface="黑体" panose="02010609060101010101" pitchFamily="49" charset="-122"/>
                <a:ea typeface="黑体" panose="02010609060101010101" pitchFamily="49" charset="-122"/>
              </a:rPr>
              <a:t>小结：定义、计算公式、力矩关系、合力矩定理</a:t>
            </a:r>
          </a:p>
        </p:txBody>
      </p:sp>
      <p:pic>
        <p:nvPicPr>
          <p:cNvPr id="15" name="图片 14" descr="xt2-13"/>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a:xfrm>
            <a:off x="6156176" y="1231817"/>
            <a:ext cx="2562771" cy="3030634"/>
          </a:xfrm>
          <a:prstGeom prst="rect">
            <a:avLst/>
          </a:prstGeom>
          <a:noFill/>
          <a:ln>
            <a:noFill/>
          </a:ln>
        </p:spPr>
      </p:pic>
      <p:graphicFrame>
        <p:nvGraphicFramePr>
          <p:cNvPr id="3" name="对象 2"/>
          <p:cNvGraphicFramePr>
            <a:graphicFrameLocks noChangeAspect="1"/>
          </p:cNvGraphicFramePr>
          <p:nvPr>
            <p:extLst>
              <p:ext uri="{D42A27DB-BD31-4B8C-83A1-F6EECF244321}">
                <p14:modId xmlns:p14="http://schemas.microsoft.com/office/powerpoint/2010/main" val="4203927930"/>
              </p:ext>
            </p:extLst>
          </p:nvPr>
        </p:nvGraphicFramePr>
        <p:xfrm>
          <a:off x="1259632" y="1198753"/>
          <a:ext cx="892148" cy="390315"/>
        </p:xfrm>
        <a:graphic>
          <a:graphicData uri="http://schemas.openxmlformats.org/presentationml/2006/ole">
            <mc:AlternateContent xmlns:mc="http://schemas.openxmlformats.org/markup-compatibility/2006">
              <mc:Choice xmlns:v="urn:schemas-microsoft-com:vml" Requires="v">
                <p:oleObj spid="_x0000_s11311" name="Equation" r:id="rId14" imgW="405872" imgH="177569" progId="Equation.DSMT4">
                  <p:embed/>
                </p:oleObj>
              </mc:Choice>
              <mc:Fallback>
                <p:oleObj name="Equation" r:id="rId14" imgW="405872" imgH="177569"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59632" y="1198753"/>
                        <a:ext cx="892148" cy="390315"/>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736436336"/>
              </p:ext>
            </p:extLst>
          </p:nvPr>
        </p:nvGraphicFramePr>
        <p:xfrm>
          <a:off x="1195548" y="1640369"/>
          <a:ext cx="2284942" cy="1597087"/>
        </p:xfrm>
        <a:graphic>
          <a:graphicData uri="http://schemas.openxmlformats.org/presentationml/2006/ole">
            <mc:AlternateContent xmlns:mc="http://schemas.openxmlformats.org/markup-compatibility/2006">
              <mc:Choice xmlns:v="urn:schemas-microsoft-com:vml" Requires="v">
                <p:oleObj spid="_x0000_s11312" name="Equation" r:id="rId16" imgW="1841500" imgH="1282700" progId="Equation.DSMT4">
                  <p:embed/>
                </p:oleObj>
              </mc:Choice>
              <mc:Fallback>
                <p:oleObj name="Equation" r:id="rId16" imgW="1841500" imgH="12827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95548" y="1640369"/>
                        <a:ext cx="2284942" cy="1597087"/>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616727201"/>
              </p:ext>
            </p:extLst>
          </p:nvPr>
        </p:nvGraphicFramePr>
        <p:xfrm>
          <a:off x="3923928" y="1931164"/>
          <a:ext cx="2597104" cy="934210"/>
        </p:xfrm>
        <a:graphic>
          <a:graphicData uri="http://schemas.openxmlformats.org/presentationml/2006/ole">
            <mc:AlternateContent xmlns:mc="http://schemas.openxmlformats.org/markup-compatibility/2006">
              <mc:Choice xmlns:v="urn:schemas-microsoft-com:vml" Requires="v">
                <p:oleObj spid="_x0000_s11313" name="Equation" r:id="rId18" imgW="1765080" imgH="634680" progId="Equation.DSMT4">
                  <p:embed/>
                </p:oleObj>
              </mc:Choice>
              <mc:Fallback>
                <p:oleObj name="Equation" r:id="rId18" imgW="1765080" imgH="634680" progId="Equation.DSMT4">
                  <p:embed/>
                  <p:pic>
                    <p:nvPicPr>
                      <p:cNvPr id="0" name=""/>
                      <p:cNvPicPr>
                        <a:picLocks noChangeAspect="1" noChangeArrowheads="1"/>
                      </p:cNvPicPr>
                      <p:nvPr/>
                    </p:nvPicPr>
                    <p:blipFill>
                      <a:blip r:embed="rId19"/>
                      <a:srcRect/>
                      <a:stretch>
                        <a:fillRect/>
                      </a:stretch>
                    </p:blipFill>
                    <p:spPr bwMode="auto">
                      <a:xfrm>
                        <a:off x="3923928" y="1931164"/>
                        <a:ext cx="2597104" cy="934210"/>
                      </a:xfrm>
                      <a:prstGeom prst="rect">
                        <a:avLst/>
                      </a:prstGeom>
                      <a:noFill/>
                    </p:spPr>
                  </p:pic>
                </p:oleObj>
              </mc:Fallback>
            </mc:AlternateContent>
          </a:graphicData>
        </a:graphic>
      </p:graphicFrame>
      <p:sp>
        <p:nvSpPr>
          <p:cNvPr id="8" name="Rectangle 146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4099447411"/>
              </p:ext>
            </p:extLst>
          </p:nvPr>
        </p:nvGraphicFramePr>
        <p:xfrm>
          <a:off x="4043363" y="4403725"/>
          <a:ext cx="4802187" cy="1385888"/>
        </p:xfrm>
        <a:graphic>
          <a:graphicData uri="http://schemas.openxmlformats.org/presentationml/2006/ole">
            <mc:AlternateContent xmlns:mc="http://schemas.openxmlformats.org/markup-compatibility/2006">
              <mc:Choice xmlns:v="urn:schemas-microsoft-com:vml" Requires="v">
                <p:oleObj spid="_x0000_s11314" name="Equation" r:id="rId20" imgW="4483080" imgH="1295280" progId="Equation.DSMT4">
                  <p:embed/>
                </p:oleObj>
              </mc:Choice>
              <mc:Fallback>
                <p:oleObj name="Equation" r:id="rId20" imgW="4483080" imgH="1295280" progId="Equation.DSMT4">
                  <p:embed/>
                  <p:pic>
                    <p:nvPicPr>
                      <p:cNvPr id="0" name=""/>
                      <p:cNvPicPr>
                        <a:picLocks noChangeAspect="1" noChangeArrowheads="1"/>
                      </p:cNvPicPr>
                      <p:nvPr/>
                    </p:nvPicPr>
                    <p:blipFill>
                      <a:blip r:embed="rId21"/>
                      <a:srcRect/>
                      <a:stretch>
                        <a:fillRect/>
                      </a:stretch>
                    </p:blipFill>
                    <p:spPr bwMode="auto">
                      <a:xfrm>
                        <a:off x="4043363" y="4403725"/>
                        <a:ext cx="4802187" cy="1385888"/>
                      </a:xfrm>
                      <a:prstGeom prst="rect">
                        <a:avLst/>
                      </a:prstGeom>
                      <a:noFill/>
                    </p:spPr>
                  </p:pic>
                </p:oleObj>
              </mc:Fallback>
            </mc:AlternateContent>
          </a:graphicData>
        </a:graphic>
      </p:graphicFrame>
      <p:graphicFrame>
        <p:nvGraphicFramePr>
          <p:cNvPr id="16" name="Object 41"/>
          <p:cNvGraphicFramePr>
            <a:graphicFrameLocks noChangeAspect="1"/>
          </p:cNvGraphicFramePr>
          <p:nvPr>
            <p:extLst>
              <p:ext uri="{D42A27DB-BD31-4B8C-83A1-F6EECF244321}">
                <p14:modId xmlns:p14="http://schemas.microsoft.com/office/powerpoint/2010/main" val="3206470886"/>
              </p:ext>
            </p:extLst>
          </p:nvPr>
        </p:nvGraphicFramePr>
        <p:xfrm>
          <a:off x="3594020" y="3666311"/>
          <a:ext cx="1222711" cy="596140"/>
        </p:xfrm>
        <a:graphic>
          <a:graphicData uri="http://schemas.openxmlformats.org/presentationml/2006/ole">
            <mc:AlternateContent xmlns:mc="http://schemas.openxmlformats.org/markup-compatibility/2006">
              <mc:Choice xmlns:v="urn:schemas-microsoft-com:vml" Requires="v">
                <p:oleObj spid="_x0000_s11315" name="Equation" r:id="rId22" imgW="888840" imgH="431640" progId="Equation.DSMT4">
                  <p:embed/>
                </p:oleObj>
              </mc:Choice>
              <mc:Fallback>
                <p:oleObj name="Equation" r:id="rId22" imgW="888840" imgH="431640" progId="Equation.DSMT4">
                  <p:embed/>
                  <p:pic>
                    <p:nvPicPr>
                      <p:cNvPr id="0" name=""/>
                      <p:cNvPicPr>
                        <a:picLocks noChangeAspect="1" noChangeArrowheads="1"/>
                      </p:cNvPicPr>
                      <p:nvPr/>
                    </p:nvPicPr>
                    <p:blipFill>
                      <a:blip r:embed="rId23"/>
                      <a:srcRect/>
                      <a:stretch>
                        <a:fillRect/>
                      </a:stretch>
                    </p:blipFill>
                    <p:spPr bwMode="auto">
                      <a:xfrm>
                        <a:off x="3594020" y="3666311"/>
                        <a:ext cx="1222711" cy="59614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7603728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8405">
                                            <p:txEl>
                                              <p:pRg st="0" end="0"/>
                                            </p:txEl>
                                          </p:spTgt>
                                        </p:tgtEl>
                                        <p:attrNameLst>
                                          <p:attrName>style.visibility</p:attrName>
                                        </p:attrNameLst>
                                      </p:cBhvr>
                                      <p:to>
                                        <p:strVal val="visible"/>
                                      </p:to>
                                    </p:set>
                                    <p:animEffect transition="in" filter="box(out)">
                                      <p:cBhvr>
                                        <p:cTn id="7" dur="500"/>
                                        <p:tgtEl>
                                          <p:spTgt spid="5840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3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out)">
                                      <p:cBhvr>
                                        <p:cTn id="12" dur="7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3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out)">
                                      <p:cBhvr>
                                        <p:cTn id="17" dur="75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8408"/>
                                        </p:tgtEl>
                                        <p:attrNameLst>
                                          <p:attrName>style.visibility</p:attrName>
                                        </p:attrNameLst>
                                      </p:cBhvr>
                                      <p:to>
                                        <p:strVal val="visible"/>
                                      </p:to>
                                    </p:set>
                                    <p:animEffect transition="in" filter="box(out)">
                                      <p:cBhvr>
                                        <p:cTn id="22" dur="500"/>
                                        <p:tgtEl>
                                          <p:spTgt spid="5840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8409"/>
                                        </p:tgtEl>
                                        <p:attrNameLst>
                                          <p:attrName>style.visibility</p:attrName>
                                        </p:attrNameLst>
                                      </p:cBhvr>
                                      <p:to>
                                        <p:strVal val="visible"/>
                                      </p:to>
                                    </p:set>
                                    <p:animEffect transition="in" filter="box(out)">
                                      <p:cBhvr>
                                        <p:cTn id="27" dur="500"/>
                                        <p:tgtEl>
                                          <p:spTgt spid="5840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58410"/>
                                        </p:tgtEl>
                                        <p:attrNameLst>
                                          <p:attrName>style.visibility</p:attrName>
                                        </p:attrNameLst>
                                      </p:cBhvr>
                                      <p:to>
                                        <p:strVal val="visible"/>
                                      </p:to>
                                    </p:set>
                                    <p:animEffect transition="in" filter="box(out)">
                                      <p:cBhvr>
                                        <p:cTn id="32" dur="500"/>
                                        <p:tgtEl>
                                          <p:spTgt spid="5841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ox(ou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58411"/>
                                        </p:tgtEl>
                                        <p:attrNameLst>
                                          <p:attrName>style.visibility</p:attrName>
                                        </p:attrNameLst>
                                      </p:cBhvr>
                                      <p:to>
                                        <p:strVal val="visible"/>
                                      </p:to>
                                    </p:set>
                                    <p:animEffect transition="in" filter="box(out)">
                                      <p:cBhvr>
                                        <p:cTn id="42" dur="500"/>
                                        <p:tgtEl>
                                          <p:spTgt spid="5841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58412"/>
                                        </p:tgtEl>
                                        <p:attrNameLst>
                                          <p:attrName>style.visibility</p:attrName>
                                        </p:attrNameLst>
                                      </p:cBhvr>
                                      <p:to>
                                        <p:strVal val="visible"/>
                                      </p:to>
                                    </p:set>
                                    <p:animEffect transition="in" filter="box(out)">
                                      <p:cBhvr>
                                        <p:cTn id="47" dur="500"/>
                                        <p:tgtEl>
                                          <p:spTgt spid="584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ppt_x</p:attrName>
                                        </p:attrNameLst>
                                      </p:cBhvr>
                                      <p:tavLst>
                                        <p:tav tm="0">
                                          <p:val>
                                            <p:strVal val="#ppt_x"/>
                                          </p:val>
                                        </p:tav>
                                        <p:tav tm="100000">
                                          <p:val>
                                            <p:strVal val="#ppt_x"/>
                                          </p:val>
                                        </p:tav>
                                      </p:tavLst>
                                    </p:anim>
                                    <p:anim calcmode="lin" valueType="num">
                                      <p:cBhvr additive="base">
                                        <p:cTn id="5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05" grpId="0" build="p" autoUpdateAnimBg="0"/>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489202" y="1176321"/>
            <a:ext cx="3831949" cy="1200329"/>
          </a:xfrm>
          <a:prstGeom prst="rect">
            <a:avLst/>
          </a:prstGeom>
          <a:noFill/>
          <a:ln w="28575">
            <a:noFill/>
            <a:miter lim="800000"/>
            <a:headEnd/>
            <a:tailEnd/>
          </a:ln>
          <a:effectLst/>
        </p:spPr>
        <p:txBody>
          <a:bodyPr wrap="square">
            <a:spAutoFit/>
          </a:bodyPr>
          <a:lstStyle/>
          <a:p>
            <a:pPr eaLnBrk="1" hangingPunct="1">
              <a:spcBef>
                <a:spcPts val="0"/>
              </a:spcBef>
              <a:defRPr/>
            </a:pPr>
            <a:r>
              <a:rPr lang="zh-CN" altLang="en-US" b="1" dirty="0">
                <a:latin typeface="楷体" panose="02010609060101010101" pitchFamily="49" charset="-122"/>
                <a:ea typeface="楷体" panose="02010609060101010101" pitchFamily="49" charset="-122"/>
              </a:rPr>
              <a:t>受力情况如图所示，求</a:t>
            </a:r>
            <a:endParaRPr lang="en-US" altLang="zh-CN" b="1" dirty="0">
              <a:latin typeface="楷体" panose="02010609060101010101" pitchFamily="49" charset="-122"/>
              <a:ea typeface="楷体" panose="02010609060101010101" pitchFamily="49" charset="-122"/>
            </a:endParaRPr>
          </a:p>
          <a:p>
            <a:pPr eaLnBrk="1" hangingPunct="1">
              <a:spcBef>
                <a:spcPts val="0"/>
              </a:spcBef>
              <a:defRPr/>
            </a:pPr>
            <a:r>
              <a:rPr lang="zh-CN" altLang="en-US" b="1" dirty="0">
                <a:latin typeface="+mn-lt"/>
                <a:ea typeface="楷体" panose="02010609060101010101" pitchFamily="49" charset="-122"/>
                <a:cs typeface="Segoe UI Black" panose="020B0A02040204020203" pitchFamily="34" charset="0"/>
              </a:rPr>
              <a:t>（</a:t>
            </a:r>
            <a:r>
              <a:rPr lang="en-US" altLang="zh-CN" dirty="0">
                <a:latin typeface="+mn-lt"/>
                <a:ea typeface="Segoe UI Black" panose="020B0A02040204020203" pitchFamily="34" charset="0"/>
                <a:cs typeface="Segoe UI Black" panose="020B0A02040204020203" pitchFamily="34" charset="0"/>
              </a:rPr>
              <a:t>1</a:t>
            </a:r>
            <a:r>
              <a:rPr lang="zh-CN" altLang="en-US" b="1" dirty="0">
                <a:latin typeface="+mn-lt"/>
                <a:ea typeface="楷体" panose="02010609060101010101" pitchFamily="49" charset="-122"/>
                <a:cs typeface="Segoe UI Black" panose="020B0A02040204020203" pitchFamily="34" charset="0"/>
              </a:rPr>
              <a:t>）</a:t>
            </a:r>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en-US" altLang="zh-CN" b="1" baseline="-25000" dirty="0">
                <a:latin typeface="+mn-lt"/>
                <a:ea typeface="楷体" panose="02010609060101010101" pitchFamily="49" charset="-122"/>
              </a:rPr>
              <a:t>1</a:t>
            </a:r>
            <a:r>
              <a:rPr lang="zh-CN" altLang="en-US" b="1" dirty="0">
                <a:latin typeface="楷体" panose="02010609060101010101" pitchFamily="49" charset="-122"/>
                <a:ea typeface="楷体" panose="02010609060101010101" pitchFamily="49" charset="-122"/>
              </a:rPr>
              <a:t>对</a:t>
            </a:r>
            <a:r>
              <a:rPr lang="en-US" altLang="zh-CN" i="1" dirty="0">
                <a:latin typeface="+mn-lt"/>
                <a:ea typeface="楷体" panose="02010609060101010101" pitchFamily="49" charset="-122"/>
              </a:rPr>
              <a:t>x</a:t>
            </a:r>
            <a:r>
              <a:rPr lang="zh-CN" altLang="en-US" dirty="0">
                <a:latin typeface="+mn-lt"/>
                <a:ea typeface="楷体" panose="02010609060101010101" pitchFamily="49" charset="-122"/>
              </a:rPr>
              <a:t>，</a:t>
            </a:r>
            <a:r>
              <a:rPr lang="en-US" altLang="zh-CN" i="1" dirty="0">
                <a:latin typeface="+mn-lt"/>
                <a:ea typeface="楷体" panose="02010609060101010101" pitchFamily="49" charset="-122"/>
              </a:rPr>
              <a:t>y</a:t>
            </a:r>
            <a:r>
              <a:rPr lang="zh-CN" altLang="en-US" dirty="0">
                <a:latin typeface="+mn-lt"/>
                <a:ea typeface="楷体" panose="02010609060101010101" pitchFamily="49" charset="-122"/>
              </a:rPr>
              <a:t>，</a:t>
            </a:r>
            <a:r>
              <a:rPr lang="en-US" altLang="zh-CN" i="1" dirty="0">
                <a:latin typeface="+mn-lt"/>
                <a:ea typeface="楷体" panose="02010609060101010101" pitchFamily="49" charset="-122"/>
              </a:rPr>
              <a:t>z</a:t>
            </a:r>
            <a:r>
              <a:rPr lang="zh-CN" altLang="en-US" b="1" dirty="0">
                <a:latin typeface="楷体" panose="02010609060101010101" pitchFamily="49" charset="-122"/>
                <a:ea typeface="楷体" panose="02010609060101010101" pitchFamily="49" charset="-122"/>
              </a:rPr>
              <a:t>轴之矩，</a:t>
            </a:r>
            <a:endParaRPr lang="en-US" altLang="zh-CN" b="1" dirty="0">
              <a:latin typeface="楷体" panose="02010609060101010101" pitchFamily="49" charset="-122"/>
              <a:ea typeface="楷体" panose="02010609060101010101" pitchFamily="49" charset="-122"/>
            </a:endParaRPr>
          </a:p>
          <a:p>
            <a:pPr eaLnBrk="1" hangingPunct="1">
              <a:spcBef>
                <a:spcPts val="0"/>
              </a:spcBef>
              <a:defRPr/>
            </a:pPr>
            <a:r>
              <a:rPr lang="zh-CN" altLang="en-US" b="1" dirty="0">
                <a:latin typeface="+mn-lt"/>
                <a:ea typeface="楷体" panose="02010609060101010101" pitchFamily="49" charset="-122"/>
              </a:rPr>
              <a:t>（</a:t>
            </a:r>
            <a:r>
              <a:rPr lang="en-US" altLang="zh-CN" dirty="0">
                <a:latin typeface="+mn-lt"/>
                <a:ea typeface="楷体" panose="02010609060101010101" pitchFamily="49" charset="-122"/>
              </a:rPr>
              <a:t>2</a:t>
            </a:r>
            <a:r>
              <a:rPr lang="zh-CN" altLang="en-US" b="1" dirty="0">
                <a:latin typeface="+mn-lt"/>
                <a:ea typeface="楷体" panose="02010609060101010101" pitchFamily="49" charset="-122"/>
              </a:rPr>
              <a:t>）</a:t>
            </a:r>
            <a:r>
              <a:rPr lang="zh-CN" altLang="en-US" b="1" dirty="0">
                <a:latin typeface="楷体" panose="02010609060101010101" pitchFamily="49" charset="-122"/>
                <a:ea typeface="楷体" panose="02010609060101010101" pitchFamily="49" charset="-122"/>
              </a:rPr>
              <a:t>力</a:t>
            </a:r>
            <a:r>
              <a:rPr lang="en-US" altLang="zh-CN" b="1" i="1" dirty="0">
                <a:latin typeface="+mn-lt"/>
                <a:ea typeface="楷体" panose="02010609060101010101" pitchFamily="49" charset="-122"/>
              </a:rPr>
              <a:t>F</a:t>
            </a:r>
            <a:r>
              <a:rPr lang="en-US" altLang="zh-CN" b="1" baseline="-25000" dirty="0">
                <a:latin typeface="+mn-lt"/>
                <a:ea typeface="楷体" panose="02010609060101010101" pitchFamily="49" charset="-122"/>
              </a:rPr>
              <a:t>2</a:t>
            </a:r>
            <a:r>
              <a:rPr lang="zh-CN" altLang="en-US" b="1" dirty="0">
                <a:latin typeface="楷体" panose="02010609060101010101" pitchFamily="49" charset="-122"/>
                <a:ea typeface="楷体" panose="02010609060101010101" pitchFamily="49" charset="-122"/>
              </a:rPr>
              <a:t> 对</a:t>
            </a:r>
            <a:r>
              <a:rPr lang="en-US" altLang="zh-CN" i="1" dirty="0">
                <a:latin typeface="+mn-lt"/>
                <a:ea typeface="楷体" panose="02010609060101010101" pitchFamily="49" charset="-122"/>
              </a:rPr>
              <a:t>z′</a:t>
            </a:r>
            <a:r>
              <a:rPr lang="zh-CN" altLang="en-US" b="1" dirty="0">
                <a:latin typeface="楷体" panose="02010609060101010101" pitchFamily="49" charset="-122"/>
                <a:ea typeface="楷体" panose="02010609060101010101" pitchFamily="49" charset="-122"/>
              </a:rPr>
              <a:t>轴之矩。</a:t>
            </a:r>
          </a:p>
        </p:txBody>
      </p:sp>
      <p:grpSp>
        <p:nvGrpSpPr>
          <p:cNvPr id="13315" name="Group 67"/>
          <p:cNvGrpSpPr>
            <a:grpSpLocks/>
          </p:cNvGrpSpPr>
          <p:nvPr/>
        </p:nvGrpSpPr>
        <p:grpSpPr bwMode="auto">
          <a:xfrm>
            <a:off x="4067944" y="609075"/>
            <a:ext cx="4833938" cy="3003550"/>
            <a:chOff x="2647" y="924"/>
            <a:chExt cx="3045" cy="1892"/>
          </a:xfrm>
        </p:grpSpPr>
        <p:sp>
          <p:nvSpPr>
            <p:cNvPr id="13333" name="Line 3"/>
            <p:cNvSpPr>
              <a:spLocks noChangeShapeType="1"/>
            </p:cNvSpPr>
            <p:nvPr/>
          </p:nvSpPr>
          <p:spPr bwMode="auto">
            <a:xfrm flipV="1">
              <a:off x="3555" y="1303"/>
              <a:ext cx="1661" cy="1219"/>
            </a:xfrm>
            <a:prstGeom prst="line">
              <a:avLst/>
            </a:prstGeom>
            <a:noFill/>
            <a:ln w="19050">
              <a:solidFill>
                <a:srgbClr val="0000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334" name="AutoShape 4"/>
            <p:cNvSpPr>
              <a:spLocks noChangeArrowheads="1"/>
            </p:cNvSpPr>
            <p:nvPr/>
          </p:nvSpPr>
          <p:spPr bwMode="auto">
            <a:xfrm flipH="1">
              <a:off x="3314" y="1531"/>
              <a:ext cx="1829" cy="1000"/>
            </a:xfrm>
            <a:prstGeom prst="cube">
              <a:avLst>
                <a:gd name="adj" fmla="val 25000"/>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35" name="Line 5"/>
            <p:cNvSpPr>
              <a:spLocks noChangeShapeType="1"/>
            </p:cNvSpPr>
            <p:nvPr/>
          </p:nvSpPr>
          <p:spPr bwMode="auto">
            <a:xfrm flipH="1">
              <a:off x="4896" y="1548"/>
              <a:ext cx="0" cy="741"/>
            </a:xfrm>
            <a:prstGeom prst="line">
              <a:avLst/>
            </a:prstGeom>
            <a:noFill/>
            <a:ln w="9525">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6" name="Line 6"/>
            <p:cNvSpPr>
              <a:spLocks noChangeShapeType="1"/>
            </p:cNvSpPr>
            <p:nvPr/>
          </p:nvSpPr>
          <p:spPr bwMode="auto">
            <a:xfrm>
              <a:off x="3316" y="2267"/>
              <a:ext cx="1588" cy="0"/>
            </a:xfrm>
            <a:prstGeom prst="line">
              <a:avLst/>
            </a:prstGeom>
            <a:noFill/>
            <a:ln w="9525">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 name="Line 7"/>
            <p:cNvSpPr>
              <a:spLocks noChangeShapeType="1"/>
            </p:cNvSpPr>
            <p:nvPr/>
          </p:nvSpPr>
          <p:spPr bwMode="auto">
            <a:xfrm flipH="1" flipV="1">
              <a:off x="4893" y="2274"/>
              <a:ext cx="225" cy="240"/>
            </a:xfrm>
            <a:prstGeom prst="line">
              <a:avLst/>
            </a:prstGeom>
            <a:noFill/>
            <a:ln w="9525">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 name="Text Box 8"/>
            <p:cNvSpPr txBox="1">
              <a:spLocks noChangeArrowheads="1"/>
            </p:cNvSpPr>
            <p:nvPr/>
          </p:nvSpPr>
          <p:spPr bwMode="auto">
            <a:xfrm>
              <a:off x="4654" y="1986"/>
              <a:ext cx="306"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t>O</a:t>
              </a:r>
              <a:endParaRPr lang="en-US" altLang="zh-CN" baseline="-25000"/>
            </a:p>
          </p:txBody>
        </p:sp>
        <p:sp>
          <p:nvSpPr>
            <p:cNvPr id="13339" name="Text Box 9"/>
            <p:cNvSpPr txBox="1">
              <a:spLocks noChangeArrowheads="1"/>
            </p:cNvSpPr>
            <p:nvPr/>
          </p:nvSpPr>
          <p:spPr bwMode="auto">
            <a:xfrm>
              <a:off x="4681" y="1224"/>
              <a:ext cx="21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t>B</a:t>
              </a:r>
              <a:endParaRPr lang="en-US" altLang="zh-CN" i="1" baseline="-25000"/>
            </a:p>
          </p:txBody>
        </p:sp>
        <p:sp>
          <p:nvSpPr>
            <p:cNvPr id="13340" name="Line 10"/>
            <p:cNvSpPr>
              <a:spLocks noChangeShapeType="1"/>
            </p:cNvSpPr>
            <p:nvPr/>
          </p:nvSpPr>
          <p:spPr bwMode="auto">
            <a:xfrm flipV="1">
              <a:off x="3593" y="2069"/>
              <a:ext cx="587" cy="427"/>
            </a:xfrm>
            <a:prstGeom prst="line">
              <a:avLst/>
            </a:prstGeom>
            <a:noFill/>
            <a:ln w="57150">
              <a:solidFill>
                <a:schemeClr val="tx1"/>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39947" name="Text Box 11"/>
            <p:cNvSpPr txBox="1">
              <a:spLocks noChangeArrowheads="1"/>
            </p:cNvSpPr>
            <p:nvPr/>
          </p:nvSpPr>
          <p:spPr bwMode="auto">
            <a:xfrm>
              <a:off x="3887" y="1731"/>
              <a:ext cx="359" cy="339"/>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b="1" i="1" dirty="0">
                  <a:solidFill>
                    <a:srgbClr val="FF3300"/>
                  </a:solidFill>
                </a:rPr>
                <a:t>F</a:t>
              </a:r>
              <a:r>
                <a:rPr lang="en-US" altLang="zh-CN" b="1" baseline="-25000" dirty="0">
                  <a:solidFill>
                    <a:srgbClr val="FF3300"/>
                  </a:solidFill>
                </a:rPr>
                <a:t>1</a:t>
              </a:r>
            </a:p>
          </p:txBody>
        </p:sp>
        <p:sp>
          <p:nvSpPr>
            <p:cNvPr id="13342" name="Line 12"/>
            <p:cNvSpPr>
              <a:spLocks noChangeShapeType="1"/>
            </p:cNvSpPr>
            <p:nvPr/>
          </p:nvSpPr>
          <p:spPr bwMode="auto">
            <a:xfrm flipV="1">
              <a:off x="4894" y="1034"/>
              <a:ext cx="0" cy="480"/>
            </a:xfrm>
            <a:prstGeom prst="line">
              <a:avLst/>
            </a:prstGeom>
            <a:noFill/>
            <a:ln w="12700">
              <a:solidFill>
                <a:schemeClr val="tx1"/>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343" name="Line 13"/>
            <p:cNvSpPr>
              <a:spLocks noChangeShapeType="1"/>
            </p:cNvSpPr>
            <p:nvPr/>
          </p:nvSpPr>
          <p:spPr bwMode="auto">
            <a:xfrm flipH="1" flipV="1">
              <a:off x="2647" y="2270"/>
              <a:ext cx="813" cy="1"/>
            </a:xfrm>
            <a:prstGeom prst="line">
              <a:avLst/>
            </a:prstGeom>
            <a:noFill/>
            <a:ln w="12700">
              <a:solidFill>
                <a:schemeClr val="tx1"/>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344" name="Line 14"/>
            <p:cNvSpPr>
              <a:spLocks noChangeShapeType="1"/>
            </p:cNvSpPr>
            <p:nvPr/>
          </p:nvSpPr>
          <p:spPr bwMode="auto">
            <a:xfrm>
              <a:off x="5134" y="2522"/>
              <a:ext cx="250" cy="288"/>
            </a:xfrm>
            <a:prstGeom prst="line">
              <a:avLst/>
            </a:prstGeom>
            <a:noFill/>
            <a:ln w="12700">
              <a:solidFill>
                <a:schemeClr val="tx1"/>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345" name="Line 15"/>
            <p:cNvSpPr>
              <a:spLocks noChangeShapeType="1"/>
            </p:cNvSpPr>
            <p:nvPr/>
          </p:nvSpPr>
          <p:spPr bwMode="auto">
            <a:xfrm flipV="1">
              <a:off x="3574" y="2273"/>
              <a:ext cx="1325" cy="249"/>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6" name="Oval 16"/>
            <p:cNvSpPr>
              <a:spLocks noChangeArrowheads="1"/>
            </p:cNvSpPr>
            <p:nvPr/>
          </p:nvSpPr>
          <p:spPr bwMode="auto">
            <a:xfrm>
              <a:off x="3516" y="2467"/>
              <a:ext cx="80" cy="80"/>
            </a:xfrm>
            <a:prstGeom prst="ellipse">
              <a:avLst/>
            </a:prstGeom>
            <a:gradFill rotWithShape="0">
              <a:gsLst>
                <a:gs pos="0">
                  <a:srgbClr val="FF66FF"/>
                </a:gs>
                <a:gs pos="100000">
                  <a:srgbClr val="762F76"/>
                </a:gs>
              </a:gsLst>
              <a:path path="shape">
                <a:fillToRect l="50000" t="50000" r="50000" b="50000"/>
              </a:path>
            </a:gra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47" name="Text Box 17"/>
            <p:cNvSpPr txBox="1">
              <a:spLocks noChangeArrowheads="1"/>
            </p:cNvSpPr>
            <p:nvPr/>
          </p:nvSpPr>
          <p:spPr bwMode="auto">
            <a:xfrm>
              <a:off x="3309" y="2426"/>
              <a:ext cx="21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t>A</a:t>
              </a:r>
              <a:endParaRPr lang="en-US" altLang="zh-CN" i="1" baseline="-25000"/>
            </a:p>
          </p:txBody>
        </p:sp>
        <p:sp>
          <p:nvSpPr>
            <p:cNvPr id="13348" name="Text Box 18"/>
            <p:cNvSpPr txBox="1">
              <a:spLocks noChangeArrowheads="1"/>
            </p:cNvSpPr>
            <p:nvPr/>
          </p:nvSpPr>
          <p:spPr bwMode="auto">
            <a:xfrm>
              <a:off x="4279" y="2447"/>
              <a:ext cx="21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t>a</a:t>
              </a:r>
              <a:endParaRPr lang="en-US" altLang="zh-CN" i="1" baseline="-25000"/>
            </a:p>
          </p:txBody>
        </p:sp>
        <p:sp>
          <p:nvSpPr>
            <p:cNvPr id="13349" name="Text Box 19"/>
            <p:cNvSpPr txBox="1">
              <a:spLocks noChangeArrowheads="1"/>
            </p:cNvSpPr>
            <p:nvPr/>
          </p:nvSpPr>
          <p:spPr bwMode="auto">
            <a:xfrm>
              <a:off x="3223" y="2246"/>
              <a:ext cx="21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t>b</a:t>
              </a:r>
              <a:endParaRPr lang="en-US" altLang="zh-CN" i="1" baseline="-25000"/>
            </a:p>
          </p:txBody>
        </p:sp>
        <p:sp>
          <p:nvSpPr>
            <p:cNvPr id="13350" name="Text Box 20"/>
            <p:cNvSpPr txBox="1">
              <a:spLocks noChangeArrowheads="1"/>
            </p:cNvSpPr>
            <p:nvPr/>
          </p:nvSpPr>
          <p:spPr bwMode="auto">
            <a:xfrm>
              <a:off x="5145" y="1958"/>
              <a:ext cx="21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t>c</a:t>
              </a:r>
              <a:endParaRPr lang="en-US" altLang="zh-CN" i="1" baseline="-25000"/>
            </a:p>
          </p:txBody>
        </p:sp>
        <p:sp>
          <p:nvSpPr>
            <p:cNvPr id="13351" name="Text Box 21"/>
            <p:cNvSpPr txBox="1">
              <a:spLocks noChangeArrowheads="1"/>
            </p:cNvSpPr>
            <p:nvPr/>
          </p:nvSpPr>
          <p:spPr bwMode="auto">
            <a:xfrm>
              <a:off x="5351" y="2422"/>
              <a:ext cx="21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t>y</a:t>
              </a:r>
              <a:endParaRPr lang="en-US" altLang="zh-CN" i="1" baseline="-25000"/>
            </a:p>
          </p:txBody>
        </p:sp>
        <p:sp>
          <p:nvSpPr>
            <p:cNvPr id="13352" name="Text Box 22"/>
            <p:cNvSpPr txBox="1">
              <a:spLocks noChangeArrowheads="1"/>
            </p:cNvSpPr>
            <p:nvPr/>
          </p:nvSpPr>
          <p:spPr bwMode="auto">
            <a:xfrm>
              <a:off x="2665" y="1951"/>
              <a:ext cx="21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t>x</a:t>
              </a:r>
              <a:endParaRPr lang="en-US" altLang="zh-CN" i="1" baseline="-25000"/>
            </a:p>
          </p:txBody>
        </p:sp>
        <p:sp>
          <p:nvSpPr>
            <p:cNvPr id="13353" name="Text Box 23"/>
            <p:cNvSpPr txBox="1">
              <a:spLocks noChangeArrowheads="1"/>
            </p:cNvSpPr>
            <p:nvPr/>
          </p:nvSpPr>
          <p:spPr bwMode="auto">
            <a:xfrm>
              <a:off x="4687" y="924"/>
              <a:ext cx="21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t>z</a:t>
              </a:r>
              <a:endParaRPr lang="en-US" altLang="zh-CN" i="1" baseline="-25000"/>
            </a:p>
          </p:txBody>
        </p:sp>
        <p:sp>
          <p:nvSpPr>
            <p:cNvPr id="13354" name="Text Box 24"/>
            <p:cNvSpPr txBox="1">
              <a:spLocks noChangeArrowheads="1"/>
            </p:cNvSpPr>
            <p:nvPr/>
          </p:nvSpPr>
          <p:spPr bwMode="auto">
            <a:xfrm>
              <a:off x="5192" y="1020"/>
              <a:ext cx="500"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en-US" altLang="zh-CN" i="1">
                  <a:solidFill>
                    <a:srgbClr val="0000CC"/>
                  </a:solidFill>
                </a:rPr>
                <a:t>z</a:t>
              </a:r>
              <a:r>
                <a:rPr lang="en-US" altLang="zh-CN">
                  <a:solidFill>
                    <a:srgbClr val="0000CC"/>
                  </a:solidFill>
                </a:rPr>
                <a:t>′</a:t>
              </a:r>
            </a:p>
          </p:txBody>
        </p:sp>
        <p:sp>
          <p:nvSpPr>
            <p:cNvPr id="13355" name="Line 25"/>
            <p:cNvSpPr>
              <a:spLocks noChangeShapeType="1"/>
            </p:cNvSpPr>
            <p:nvPr/>
          </p:nvSpPr>
          <p:spPr bwMode="auto">
            <a:xfrm flipH="1" flipV="1">
              <a:off x="2778" y="2277"/>
              <a:ext cx="546" cy="0"/>
            </a:xfrm>
            <a:prstGeom prst="line">
              <a:avLst/>
            </a:prstGeom>
            <a:noFill/>
            <a:ln w="57150">
              <a:solidFill>
                <a:schemeClr val="tx1"/>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39962" name="Text Box 26"/>
            <p:cNvSpPr txBox="1">
              <a:spLocks noChangeArrowheads="1"/>
            </p:cNvSpPr>
            <p:nvPr/>
          </p:nvSpPr>
          <p:spPr bwMode="auto">
            <a:xfrm>
              <a:off x="2905" y="1916"/>
              <a:ext cx="376" cy="339"/>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b="1" i="1" dirty="0">
                  <a:solidFill>
                    <a:srgbClr val="FF3300"/>
                  </a:solidFill>
                </a:rPr>
                <a:t>F</a:t>
              </a:r>
              <a:r>
                <a:rPr lang="en-US" altLang="zh-CN" b="1" baseline="-25000" dirty="0">
                  <a:solidFill>
                    <a:srgbClr val="FF3300"/>
                  </a:solidFill>
                </a:rPr>
                <a:t>2</a:t>
              </a:r>
            </a:p>
          </p:txBody>
        </p:sp>
        <p:sp>
          <p:nvSpPr>
            <p:cNvPr id="13357" name="Arc 27"/>
            <p:cNvSpPr>
              <a:spLocks/>
            </p:cNvSpPr>
            <p:nvPr/>
          </p:nvSpPr>
          <p:spPr bwMode="auto">
            <a:xfrm>
              <a:off x="3570" y="2233"/>
              <a:ext cx="186" cy="14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64" name="Text Box 28"/>
            <p:cNvSpPr txBox="1">
              <a:spLocks noChangeArrowheads="1"/>
            </p:cNvSpPr>
            <p:nvPr/>
          </p:nvSpPr>
          <p:spPr bwMode="auto">
            <a:xfrm>
              <a:off x="3622" y="2005"/>
              <a:ext cx="317" cy="339"/>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i="1" dirty="0">
                  <a:ea typeface="楷体_GB2312" pitchFamily="49" charset="-122"/>
                </a:rPr>
                <a:t>α</a:t>
              </a:r>
            </a:p>
          </p:txBody>
        </p:sp>
        <p:sp>
          <p:nvSpPr>
            <p:cNvPr id="13359" name="Oval 29"/>
            <p:cNvSpPr>
              <a:spLocks noChangeArrowheads="1"/>
            </p:cNvSpPr>
            <p:nvPr/>
          </p:nvSpPr>
          <p:spPr bwMode="auto">
            <a:xfrm>
              <a:off x="4859" y="2231"/>
              <a:ext cx="54" cy="61"/>
            </a:xfrm>
            <a:prstGeom prst="ellipse">
              <a:avLst/>
            </a:prstGeom>
            <a:solidFill>
              <a:schemeClr val="tx1"/>
            </a:solidFill>
            <a:ln w="9525">
              <a:solidFill>
                <a:srgbClr val="FFCC66"/>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9968" name="Text Box 32"/>
          <p:cNvSpPr txBox="1">
            <a:spLocks noChangeArrowheads="1"/>
          </p:cNvSpPr>
          <p:nvPr/>
        </p:nvSpPr>
        <p:spPr bwMode="auto">
          <a:xfrm>
            <a:off x="633287" y="526040"/>
            <a:ext cx="1728788" cy="457200"/>
          </a:xfrm>
          <a:prstGeom prst="rect">
            <a:avLst/>
          </a:prstGeom>
          <a:solidFill>
            <a:srgbClr val="33CCFF"/>
          </a:solidFill>
          <a:ln w="12700">
            <a:noFill/>
            <a:miter lim="800000"/>
            <a:headEnd type="none" w="sm" len="sm"/>
            <a:tailEnd type="none" w="sm" len="sm"/>
          </a:ln>
          <a:effectLst/>
        </p:spPr>
        <p:txBody>
          <a:bodyPr>
            <a:spAutoFit/>
          </a:bodyPr>
          <a:lstStyle/>
          <a:p>
            <a:pPr eaLnBrk="1" hangingPunct="1">
              <a:defRPr/>
            </a:pPr>
            <a:r>
              <a:rPr lang="en-US" altLang="zh-CN" b="1" dirty="0">
                <a:sym typeface="Wingdings" pitchFamily="2" charset="2"/>
              </a:rPr>
              <a:t>  </a:t>
            </a:r>
            <a:r>
              <a:rPr lang="zh-CN" altLang="en-US" b="1" dirty="0">
                <a:latin typeface="黑体" panose="02010609060101010101" pitchFamily="49" charset="-122"/>
                <a:ea typeface="黑体" panose="02010609060101010101" pitchFamily="49" charset="-122"/>
                <a:sym typeface="Wingdings" pitchFamily="2" charset="2"/>
              </a:rPr>
              <a:t>思考</a:t>
            </a:r>
            <a:r>
              <a:rPr lang="zh-CN" altLang="en-US" b="1" dirty="0">
                <a:latin typeface="黑体" panose="02010609060101010101" pitchFamily="49" charset="-122"/>
                <a:ea typeface="黑体" panose="02010609060101010101" pitchFamily="49" charset="-122"/>
              </a:rPr>
              <a:t>题</a:t>
            </a:r>
            <a:endParaRPr lang="zh-CN" altLang="en-US" b="1" dirty="0">
              <a:latin typeface="黑体" panose="02010609060101010101" pitchFamily="49" charset="-122"/>
              <a:ea typeface="黑体" panose="02010609060101010101" pitchFamily="49" charset="-122"/>
              <a:sym typeface="Wingdings" pitchFamily="2" charset="2"/>
            </a:endParaRPr>
          </a:p>
        </p:txBody>
      </p:sp>
      <p:grpSp>
        <p:nvGrpSpPr>
          <p:cNvPr id="3" name="Group 95"/>
          <p:cNvGrpSpPr>
            <a:grpSpLocks/>
          </p:cNvGrpSpPr>
          <p:nvPr/>
        </p:nvGrpSpPr>
        <p:grpSpPr bwMode="auto">
          <a:xfrm>
            <a:off x="4982344" y="2166413"/>
            <a:ext cx="2216150" cy="1089025"/>
            <a:chOff x="3268" y="1882"/>
            <a:chExt cx="1396" cy="686"/>
          </a:xfrm>
        </p:grpSpPr>
        <p:sp>
          <p:nvSpPr>
            <p:cNvPr id="13327" name="Line 96"/>
            <p:cNvSpPr>
              <a:spLocks noChangeShapeType="1"/>
            </p:cNvSpPr>
            <p:nvPr/>
          </p:nvSpPr>
          <p:spPr bwMode="auto">
            <a:xfrm flipH="1">
              <a:off x="4212" y="2056"/>
              <a:ext cx="6" cy="355"/>
            </a:xfrm>
            <a:prstGeom prst="line">
              <a:avLst/>
            </a:prstGeom>
            <a:noFill/>
            <a:ln w="19050">
              <a:solidFill>
                <a:schemeClr val="tx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8" name="Line 97"/>
            <p:cNvSpPr>
              <a:spLocks noChangeShapeType="1"/>
            </p:cNvSpPr>
            <p:nvPr/>
          </p:nvSpPr>
          <p:spPr bwMode="auto">
            <a:xfrm flipV="1">
              <a:off x="3616" y="2038"/>
              <a:ext cx="584" cy="7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9" name="Line 98"/>
            <p:cNvSpPr>
              <a:spLocks noChangeShapeType="1"/>
            </p:cNvSpPr>
            <p:nvPr/>
          </p:nvSpPr>
          <p:spPr bwMode="auto">
            <a:xfrm flipV="1">
              <a:off x="3622" y="2378"/>
              <a:ext cx="605" cy="127"/>
            </a:xfrm>
            <a:prstGeom prst="line">
              <a:avLst/>
            </a:prstGeom>
            <a:noFill/>
            <a:ln w="57150">
              <a:solidFill>
                <a:srgbClr val="FF33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330" name="Line 99"/>
            <p:cNvSpPr>
              <a:spLocks noChangeShapeType="1"/>
            </p:cNvSpPr>
            <p:nvPr/>
          </p:nvSpPr>
          <p:spPr bwMode="auto">
            <a:xfrm flipV="1">
              <a:off x="3604" y="2090"/>
              <a:ext cx="2" cy="356"/>
            </a:xfrm>
            <a:prstGeom prst="line">
              <a:avLst/>
            </a:prstGeom>
            <a:noFill/>
            <a:ln w="57150">
              <a:solidFill>
                <a:srgbClr val="FF33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0036" name="Text Box 100"/>
            <p:cNvSpPr txBox="1">
              <a:spLocks noChangeArrowheads="1"/>
            </p:cNvSpPr>
            <p:nvPr/>
          </p:nvSpPr>
          <p:spPr bwMode="auto">
            <a:xfrm>
              <a:off x="4235" y="2229"/>
              <a:ext cx="429" cy="339"/>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b="1" i="1" dirty="0">
                  <a:solidFill>
                    <a:srgbClr val="FF33CC"/>
                  </a:solidFill>
                </a:rPr>
                <a:t>F</a:t>
              </a:r>
              <a:r>
                <a:rPr lang="en-US" altLang="zh-CN" b="1" baseline="-25000" dirty="0">
                  <a:solidFill>
                    <a:srgbClr val="FF33CC"/>
                  </a:solidFill>
                </a:rPr>
                <a:t>1</a:t>
              </a:r>
              <a:r>
                <a:rPr lang="en-US" altLang="zh-CN" b="1" i="1" baseline="-25000" dirty="0">
                  <a:solidFill>
                    <a:srgbClr val="FF33CC"/>
                  </a:solidFill>
                </a:rPr>
                <a:t>xy</a:t>
              </a:r>
              <a:endParaRPr lang="en-US" altLang="zh-CN" b="1" baseline="-25000" dirty="0">
                <a:solidFill>
                  <a:srgbClr val="FF33CC"/>
                </a:solidFill>
              </a:endParaRPr>
            </a:p>
          </p:txBody>
        </p:sp>
        <p:sp>
          <p:nvSpPr>
            <p:cNvPr id="40037" name="Text Box 101"/>
            <p:cNvSpPr txBox="1">
              <a:spLocks noChangeArrowheads="1"/>
            </p:cNvSpPr>
            <p:nvPr/>
          </p:nvSpPr>
          <p:spPr bwMode="auto">
            <a:xfrm>
              <a:off x="3268" y="1882"/>
              <a:ext cx="376" cy="339"/>
            </a:xfrm>
            <a:prstGeom prst="rect">
              <a:avLst/>
            </a:prstGeom>
            <a:noFill/>
            <a:ln w="28575">
              <a:noFill/>
              <a:miter lim="800000"/>
              <a:headEnd/>
              <a:tailEnd/>
            </a:ln>
            <a:effectLst/>
          </p:spPr>
          <p:txBody>
            <a:bodyPr>
              <a:spAutoFit/>
            </a:bodyPr>
            <a:lstStyle/>
            <a:p>
              <a:pPr eaLnBrk="1" hangingPunct="1">
                <a:lnSpc>
                  <a:spcPct val="135000"/>
                </a:lnSpc>
                <a:spcBef>
                  <a:spcPct val="50000"/>
                </a:spcBef>
                <a:defRPr/>
              </a:pPr>
              <a:r>
                <a:rPr lang="en-US" altLang="zh-CN" b="1" i="1" dirty="0">
                  <a:solidFill>
                    <a:srgbClr val="FF33CC"/>
                  </a:solidFill>
                </a:rPr>
                <a:t>F</a:t>
              </a:r>
              <a:r>
                <a:rPr lang="en-US" altLang="zh-CN" b="1" baseline="-25000" dirty="0">
                  <a:solidFill>
                    <a:srgbClr val="FF33CC"/>
                  </a:solidFill>
                </a:rPr>
                <a:t>1</a:t>
              </a:r>
              <a:r>
                <a:rPr lang="en-US" altLang="zh-CN" b="1" i="1" baseline="-25000" dirty="0">
                  <a:solidFill>
                    <a:srgbClr val="FF33CC"/>
                  </a:solidFill>
                </a:rPr>
                <a:t>z</a:t>
              </a:r>
              <a:endParaRPr lang="en-US" altLang="zh-CN" b="1" baseline="-25000" dirty="0">
                <a:solidFill>
                  <a:srgbClr val="FF33CC"/>
                </a:solidFill>
              </a:endParaRPr>
            </a:p>
          </p:txBody>
        </p:sp>
      </p:grpSp>
      <p:graphicFrame>
        <p:nvGraphicFramePr>
          <p:cNvPr id="40040" name="Object 104"/>
          <p:cNvGraphicFramePr>
            <a:graphicFrameLocks noChangeAspect="1"/>
          </p:cNvGraphicFramePr>
          <p:nvPr>
            <p:extLst>
              <p:ext uri="{D42A27DB-BD31-4B8C-83A1-F6EECF244321}">
                <p14:modId xmlns:p14="http://schemas.microsoft.com/office/powerpoint/2010/main" val="463727169"/>
              </p:ext>
            </p:extLst>
          </p:nvPr>
        </p:nvGraphicFramePr>
        <p:xfrm>
          <a:off x="897717" y="2687621"/>
          <a:ext cx="2687638" cy="854075"/>
        </p:xfrm>
        <a:graphic>
          <a:graphicData uri="http://schemas.openxmlformats.org/presentationml/2006/ole">
            <mc:AlternateContent xmlns:mc="http://schemas.openxmlformats.org/markup-compatibility/2006">
              <mc:Choice xmlns:v="urn:schemas-microsoft-com:vml" Requires="v">
                <p:oleObj spid="_x0000_s12322" name="Equation" r:id="rId4" imgW="1352550" imgH="419100" progId="Equation.3">
                  <p:embed/>
                </p:oleObj>
              </mc:Choice>
              <mc:Fallback>
                <p:oleObj name="Equation" r:id="rId4" imgW="1352550" imgH="419100" progId="Equation.3">
                  <p:embed/>
                  <p:pic>
                    <p:nvPicPr>
                      <p:cNvPr id="0" name="Object 10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7717" y="2687621"/>
                        <a:ext cx="2687638"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041" name="Object 105"/>
          <p:cNvGraphicFramePr>
            <a:graphicFrameLocks noChangeAspect="1"/>
          </p:cNvGraphicFramePr>
          <p:nvPr>
            <p:extLst>
              <p:ext uri="{D42A27DB-BD31-4B8C-83A1-F6EECF244321}">
                <p14:modId xmlns:p14="http://schemas.microsoft.com/office/powerpoint/2010/main" val="1089135080"/>
              </p:ext>
            </p:extLst>
          </p:nvPr>
        </p:nvGraphicFramePr>
        <p:xfrm>
          <a:off x="880890" y="3706795"/>
          <a:ext cx="3376613" cy="436563"/>
        </p:xfrm>
        <a:graphic>
          <a:graphicData uri="http://schemas.openxmlformats.org/presentationml/2006/ole">
            <mc:AlternateContent xmlns:mc="http://schemas.openxmlformats.org/markup-compatibility/2006">
              <mc:Choice xmlns:v="urn:schemas-microsoft-com:vml" Requires="v">
                <p:oleObj spid="_x0000_s12323" name="Equation" r:id="rId6" imgW="1857375" imgH="228600" progId="Equation.3">
                  <p:embed/>
                </p:oleObj>
              </mc:Choice>
              <mc:Fallback>
                <p:oleObj name="Equation" r:id="rId6" imgW="1857375" imgH="228600" progId="Equation.3">
                  <p:embed/>
                  <p:pic>
                    <p:nvPicPr>
                      <p:cNvPr id="0" name="Object 10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0890" y="3706795"/>
                        <a:ext cx="3376613"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042" name="Object 106"/>
          <p:cNvGraphicFramePr>
            <a:graphicFrameLocks noChangeAspect="1"/>
          </p:cNvGraphicFramePr>
          <p:nvPr>
            <p:extLst>
              <p:ext uri="{D42A27DB-BD31-4B8C-83A1-F6EECF244321}">
                <p14:modId xmlns:p14="http://schemas.microsoft.com/office/powerpoint/2010/main" val="3490736032"/>
              </p:ext>
            </p:extLst>
          </p:nvPr>
        </p:nvGraphicFramePr>
        <p:xfrm>
          <a:off x="1797757" y="4178283"/>
          <a:ext cx="1746250" cy="412750"/>
        </p:xfrm>
        <a:graphic>
          <a:graphicData uri="http://schemas.openxmlformats.org/presentationml/2006/ole">
            <mc:AlternateContent xmlns:mc="http://schemas.openxmlformats.org/markup-compatibility/2006">
              <mc:Choice xmlns:v="urn:schemas-microsoft-com:vml" Requires="v">
                <p:oleObj spid="_x0000_s12324" name="Equation" r:id="rId8" imgW="904875" imgH="209550" progId="Equation.3">
                  <p:embed/>
                </p:oleObj>
              </mc:Choice>
              <mc:Fallback>
                <p:oleObj name="Equation" r:id="rId8" imgW="904875" imgH="209550" progId="Equation.3">
                  <p:embed/>
                  <p:pic>
                    <p:nvPicPr>
                      <p:cNvPr id="0" name="Object 10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7757" y="4178283"/>
                        <a:ext cx="174625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043" name="Object 107"/>
          <p:cNvGraphicFramePr>
            <a:graphicFrameLocks noChangeAspect="1"/>
          </p:cNvGraphicFramePr>
          <p:nvPr>
            <p:extLst>
              <p:ext uri="{D42A27DB-BD31-4B8C-83A1-F6EECF244321}">
                <p14:modId xmlns:p14="http://schemas.microsoft.com/office/powerpoint/2010/main" val="2495954877"/>
              </p:ext>
            </p:extLst>
          </p:nvPr>
        </p:nvGraphicFramePr>
        <p:xfrm>
          <a:off x="1831158" y="5183131"/>
          <a:ext cx="2112962" cy="450850"/>
        </p:xfrm>
        <a:graphic>
          <a:graphicData uri="http://schemas.openxmlformats.org/presentationml/2006/ole">
            <mc:AlternateContent xmlns:mc="http://schemas.openxmlformats.org/markup-compatibility/2006">
              <mc:Choice xmlns:v="urn:schemas-microsoft-com:vml" Requires="v">
                <p:oleObj spid="_x0000_s12325" name="公式" r:id="rId10" imgW="1009650" imgH="209550" progId="Equation.3">
                  <p:embed/>
                </p:oleObj>
              </mc:Choice>
              <mc:Fallback>
                <p:oleObj name="公式" r:id="rId10" imgW="1009650" imgH="209550" progId="Equation.3">
                  <p:embed/>
                  <p:pic>
                    <p:nvPicPr>
                      <p:cNvPr id="0" name="Object 10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1158" y="5183131"/>
                        <a:ext cx="2112962"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044" name="Object 108"/>
          <p:cNvGraphicFramePr>
            <a:graphicFrameLocks noChangeAspect="1"/>
          </p:cNvGraphicFramePr>
          <p:nvPr>
            <p:extLst>
              <p:ext uri="{D42A27DB-BD31-4B8C-83A1-F6EECF244321}">
                <p14:modId xmlns:p14="http://schemas.microsoft.com/office/powerpoint/2010/main" val="2333544182"/>
              </p:ext>
            </p:extLst>
          </p:nvPr>
        </p:nvGraphicFramePr>
        <p:xfrm>
          <a:off x="882848" y="4683373"/>
          <a:ext cx="3481388" cy="447675"/>
        </p:xfrm>
        <a:graphic>
          <a:graphicData uri="http://schemas.openxmlformats.org/presentationml/2006/ole">
            <mc:AlternateContent xmlns:mc="http://schemas.openxmlformats.org/markup-compatibility/2006">
              <mc:Choice xmlns:v="urn:schemas-microsoft-com:vml" Requires="v">
                <p:oleObj spid="_x0000_s12326" name="Equation" r:id="rId12" imgW="1866900" imgH="228600" progId="Equation.3">
                  <p:embed/>
                </p:oleObj>
              </mc:Choice>
              <mc:Fallback>
                <p:oleObj name="Equation" r:id="rId12" imgW="1866900" imgH="228600" progId="Equation.3">
                  <p:embed/>
                  <p:pic>
                    <p:nvPicPr>
                      <p:cNvPr id="0" name="Object 10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2848" y="4683373"/>
                        <a:ext cx="348138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045" name="Object 109"/>
          <p:cNvGraphicFramePr>
            <a:graphicFrameLocks noChangeAspect="1"/>
          </p:cNvGraphicFramePr>
          <p:nvPr>
            <p:extLst>
              <p:ext uri="{D42A27DB-BD31-4B8C-83A1-F6EECF244321}">
                <p14:modId xmlns:p14="http://schemas.microsoft.com/office/powerpoint/2010/main" val="2965601596"/>
              </p:ext>
            </p:extLst>
          </p:nvPr>
        </p:nvGraphicFramePr>
        <p:xfrm>
          <a:off x="899142" y="5726755"/>
          <a:ext cx="1408112" cy="412750"/>
        </p:xfrm>
        <a:graphic>
          <a:graphicData uri="http://schemas.openxmlformats.org/presentationml/2006/ole">
            <mc:AlternateContent xmlns:mc="http://schemas.openxmlformats.org/markup-compatibility/2006">
              <mc:Choice xmlns:v="urn:schemas-microsoft-com:vml" Requires="v">
                <p:oleObj spid="_x0000_s12327" name="Equation" r:id="rId14" imgW="723900" imgH="209550" progId="Equation.3">
                  <p:embed/>
                </p:oleObj>
              </mc:Choice>
              <mc:Fallback>
                <p:oleObj name="Equation" r:id="rId14" imgW="723900" imgH="209550" progId="Equation.3">
                  <p:embed/>
                  <p:pic>
                    <p:nvPicPr>
                      <p:cNvPr id="0" name="Object 10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99142" y="5726755"/>
                        <a:ext cx="1408112"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048" name="Object 112"/>
          <p:cNvGraphicFramePr>
            <a:graphicFrameLocks noChangeAspect="1"/>
          </p:cNvGraphicFramePr>
          <p:nvPr>
            <p:extLst>
              <p:ext uri="{D42A27DB-BD31-4B8C-83A1-F6EECF244321}">
                <p14:modId xmlns:p14="http://schemas.microsoft.com/office/powerpoint/2010/main" val="1439899908"/>
              </p:ext>
            </p:extLst>
          </p:nvPr>
        </p:nvGraphicFramePr>
        <p:xfrm>
          <a:off x="5111475" y="4874365"/>
          <a:ext cx="3629971" cy="513366"/>
        </p:xfrm>
        <a:graphic>
          <a:graphicData uri="http://schemas.openxmlformats.org/presentationml/2006/ole">
            <mc:AlternateContent xmlns:mc="http://schemas.openxmlformats.org/markup-compatibility/2006">
              <mc:Choice xmlns:v="urn:schemas-microsoft-com:vml" Requires="v">
                <p:oleObj spid="_x0000_s12328" name="Equation" r:id="rId16" imgW="1514475" imgH="209550" progId="Equation.3">
                  <p:embed/>
                </p:oleObj>
              </mc:Choice>
              <mc:Fallback>
                <p:oleObj name="Equation" r:id="rId16" imgW="1514475" imgH="209550" progId="Equation.3">
                  <p:embed/>
                  <p:pic>
                    <p:nvPicPr>
                      <p:cNvPr id="0" name="Object 1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11475" y="4874365"/>
                        <a:ext cx="3629971" cy="513366"/>
                      </a:xfrm>
                      <a:prstGeom prst="rect">
                        <a:avLst/>
                      </a:prstGeom>
                      <a:noFill/>
                      <a:ln>
                        <a:noFill/>
                      </a:ln>
                      <a:effectLst/>
                    </p:spPr>
                  </p:pic>
                </p:oleObj>
              </mc:Fallback>
            </mc:AlternateContent>
          </a:graphicData>
        </a:graphic>
      </p:graphicFrame>
      <p:graphicFrame>
        <p:nvGraphicFramePr>
          <p:cNvPr id="40049" name="Object 113"/>
          <p:cNvGraphicFramePr>
            <a:graphicFrameLocks noChangeAspect="1"/>
          </p:cNvGraphicFramePr>
          <p:nvPr>
            <p:extLst>
              <p:ext uri="{D42A27DB-BD31-4B8C-83A1-F6EECF244321}">
                <p14:modId xmlns:p14="http://schemas.microsoft.com/office/powerpoint/2010/main" val="4253944478"/>
              </p:ext>
            </p:extLst>
          </p:nvPr>
        </p:nvGraphicFramePr>
        <p:xfrm>
          <a:off x="5608836" y="4253653"/>
          <a:ext cx="2199434" cy="526542"/>
        </p:xfrm>
        <a:graphic>
          <a:graphicData uri="http://schemas.openxmlformats.org/presentationml/2006/ole">
            <mc:AlternateContent xmlns:mc="http://schemas.openxmlformats.org/markup-compatibility/2006">
              <mc:Choice xmlns:v="urn:schemas-microsoft-com:vml" Requires="v">
                <p:oleObj spid="_x0000_s12329" name="Equation" r:id="rId18" imgW="895350" imgH="209550" progId="Equation.3">
                  <p:embed/>
                </p:oleObj>
              </mc:Choice>
              <mc:Fallback>
                <p:oleObj name="Equation" r:id="rId18" imgW="895350" imgH="209550" progId="Equation.3">
                  <p:embed/>
                  <p:pic>
                    <p:nvPicPr>
                      <p:cNvPr id="0" name="Object 1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08836" y="4253653"/>
                        <a:ext cx="2199434" cy="526542"/>
                      </a:xfrm>
                      <a:prstGeom prst="rect">
                        <a:avLst/>
                      </a:prstGeom>
                      <a:noFill/>
                      <a:ln>
                        <a:noFill/>
                      </a:ln>
                      <a:effectLst/>
                    </p:spPr>
                  </p:pic>
                </p:oleObj>
              </mc:Fallback>
            </mc:AlternateContent>
          </a:graphicData>
        </a:graphic>
      </p:graphicFrame>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040"/>
                                        </p:tgtEl>
                                        <p:attrNameLst>
                                          <p:attrName>style.visibility</p:attrName>
                                        </p:attrNameLst>
                                      </p:cBhvr>
                                      <p:to>
                                        <p:strVal val="visible"/>
                                      </p:to>
                                    </p:set>
                                    <p:animEffect transition="in" filter="wipe(left)">
                                      <p:cBhvr>
                                        <p:cTn id="12" dur="500"/>
                                        <p:tgtEl>
                                          <p:spTgt spid="400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0041"/>
                                        </p:tgtEl>
                                        <p:attrNameLst>
                                          <p:attrName>style.visibility</p:attrName>
                                        </p:attrNameLst>
                                      </p:cBhvr>
                                      <p:to>
                                        <p:strVal val="visible"/>
                                      </p:to>
                                    </p:set>
                                    <p:animEffect transition="in" filter="wipe(left)">
                                      <p:cBhvr>
                                        <p:cTn id="17" dur="500"/>
                                        <p:tgtEl>
                                          <p:spTgt spid="400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0042"/>
                                        </p:tgtEl>
                                        <p:attrNameLst>
                                          <p:attrName>style.visibility</p:attrName>
                                        </p:attrNameLst>
                                      </p:cBhvr>
                                      <p:to>
                                        <p:strVal val="visible"/>
                                      </p:to>
                                    </p:set>
                                    <p:animEffect transition="in" filter="wipe(left)">
                                      <p:cBhvr>
                                        <p:cTn id="22" dur="500"/>
                                        <p:tgtEl>
                                          <p:spTgt spid="400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0044"/>
                                        </p:tgtEl>
                                        <p:attrNameLst>
                                          <p:attrName>style.visibility</p:attrName>
                                        </p:attrNameLst>
                                      </p:cBhvr>
                                      <p:to>
                                        <p:strVal val="visible"/>
                                      </p:to>
                                    </p:set>
                                    <p:animEffect transition="in" filter="wipe(left)">
                                      <p:cBhvr>
                                        <p:cTn id="27" dur="500"/>
                                        <p:tgtEl>
                                          <p:spTgt spid="400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0043"/>
                                        </p:tgtEl>
                                        <p:attrNameLst>
                                          <p:attrName>style.visibility</p:attrName>
                                        </p:attrNameLst>
                                      </p:cBhvr>
                                      <p:to>
                                        <p:strVal val="visible"/>
                                      </p:to>
                                    </p:set>
                                    <p:animEffect transition="in" filter="wipe(left)">
                                      <p:cBhvr>
                                        <p:cTn id="32" dur="500"/>
                                        <p:tgtEl>
                                          <p:spTgt spid="4004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0045"/>
                                        </p:tgtEl>
                                        <p:attrNameLst>
                                          <p:attrName>style.visibility</p:attrName>
                                        </p:attrNameLst>
                                      </p:cBhvr>
                                      <p:to>
                                        <p:strVal val="visible"/>
                                      </p:to>
                                    </p:set>
                                    <p:animEffect transition="in" filter="wipe(left)">
                                      <p:cBhvr>
                                        <p:cTn id="37" dur="500"/>
                                        <p:tgtEl>
                                          <p:spTgt spid="4004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0049"/>
                                        </p:tgtEl>
                                        <p:attrNameLst>
                                          <p:attrName>style.visibility</p:attrName>
                                        </p:attrNameLst>
                                      </p:cBhvr>
                                      <p:to>
                                        <p:strVal val="visible"/>
                                      </p:to>
                                    </p:set>
                                    <p:animEffect transition="in" filter="wipe(left)">
                                      <p:cBhvr>
                                        <p:cTn id="42" dur="500"/>
                                        <p:tgtEl>
                                          <p:spTgt spid="400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0048"/>
                                        </p:tgtEl>
                                        <p:attrNameLst>
                                          <p:attrName>style.visibility</p:attrName>
                                        </p:attrNameLst>
                                      </p:cBhvr>
                                      <p:to>
                                        <p:strVal val="visible"/>
                                      </p:to>
                                    </p:set>
                                    <p:animEffect transition="in" filter="wipe(left)">
                                      <p:cBhvr>
                                        <p:cTn id="47" dur="500"/>
                                        <p:tgtEl>
                                          <p:spTgt spid="40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3"/>
          <p:cNvSpPr txBox="1">
            <a:spLocks noChangeArrowheads="1"/>
          </p:cNvSpPr>
          <p:nvPr/>
        </p:nvSpPr>
        <p:spPr bwMode="auto">
          <a:xfrm>
            <a:off x="669645" y="1603591"/>
            <a:ext cx="75836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400" b="1" dirty="0">
                <a:solidFill>
                  <a:srgbClr val="000000"/>
                </a:solidFill>
                <a:latin typeface="黑体" panose="02010609060101010101" pitchFamily="49" charset="-122"/>
                <a:ea typeface="黑体" panose="02010609060101010101" pitchFamily="49" charset="-122"/>
              </a:rPr>
              <a:t>大小相等</a:t>
            </a:r>
            <a:r>
              <a:rPr kumimoji="1" lang="en-US" altLang="zh-CN" sz="2400" b="1" dirty="0">
                <a:solidFill>
                  <a:srgbClr val="000000"/>
                </a:solidFill>
                <a:latin typeface="黑体" panose="02010609060101010101" pitchFamily="49" charset="-122"/>
                <a:ea typeface="黑体" panose="02010609060101010101" pitchFamily="49" charset="-122"/>
              </a:rPr>
              <a:t>,</a:t>
            </a:r>
            <a:r>
              <a:rPr kumimoji="1" lang="zh-CN" altLang="en-US" sz="2400" b="1" dirty="0">
                <a:solidFill>
                  <a:srgbClr val="000000"/>
                </a:solidFill>
                <a:latin typeface="黑体" panose="02010609060101010101" pitchFamily="49" charset="-122"/>
                <a:ea typeface="黑体" panose="02010609060101010101" pitchFamily="49" charset="-122"/>
              </a:rPr>
              <a:t>方向相反</a:t>
            </a:r>
            <a:r>
              <a:rPr kumimoji="1" lang="en-US" altLang="zh-CN" sz="2400" b="1" dirty="0">
                <a:solidFill>
                  <a:srgbClr val="000000"/>
                </a:solidFill>
                <a:latin typeface="黑体" panose="02010609060101010101" pitchFamily="49" charset="-122"/>
                <a:ea typeface="黑体" panose="02010609060101010101" pitchFamily="49" charset="-122"/>
              </a:rPr>
              <a:t>,</a:t>
            </a:r>
            <a:r>
              <a:rPr kumimoji="1" lang="zh-CN" altLang="en-US" sz="2400" b="1" dirty="0">
                <a:solidFill>
                  <a:srgbClr val="000000"/>
                </a:solidFill>
                <a:latin typeface="黑体" panose="02010609060101010101" pitchFamily="49" charset="-122"/>
                <a:ea typeface="黑体" panose="02010609060101010101" pitchFamily="49" charset="-122"/>
              </a:rPr>
              <a:t>作用线平行的两个力组成的力系称为</a:t>
            </a:r>
            <a:r>
              <a:rPr kumimoji="1" lang="zh-CN" altLang="en-US" sz="2400" b="1" dirty="0">
                <a:solidFill>
                  <a:srgbClr val="FF0000"/>
                </a:solidFill>
                <a:latin typeface="黑体" panose="02010609060101010101" pitchFamily="49" charset="-122"/>
                <a:ea typeface="黑体" panose="02010609060101010101" pitchFamily="49" charset="-122"/>
              </a:rPr>
              <a:t>力偶</a:t>
            </a:r>
            <a:r>
              <a:rPr kumimoji="1" lang="zh-CN" altLang="en-US" sz="2400" b="1" dirty="0">
                <a:latin typeface="黑体" panose="02010609060101010101" pitchFamily="49" charset="-122"/>
                <a:ea typeface="黑体" panose="02010609060101010101" pitchFamily="49" charset="-122"/>
              </a:rPr>
              <a:t>。</a:t>
            </a:r>
            <a:r>
              <a:rPr kumimoji="1" lang="en-US" altLang="zh-CN" sz="2400" dirty="0">
                <a:latin typeface="Times New Roman" panose="02020603050405020304" pitchFamily="18" charset="0"/>
                <a:ea typeface="华文中宋" panose="02010600040101010101" pitchFamily="2" charset="-122"/>
              </a:rPr>
              <a:t>(</a:t>
            </a:r>
            <a:r>
              <a:rPr kumimoji="1" lang="en-US" altLang="zh-CN" sz="2400" b="1" i="1" dirty="0">
                <a:latin typeface="Times New Roman" panose="02020603050405020304" pitchFamily="18" charset="0"/>
                <a:ea typeface="华文中宋" panose="02010600040101010101" pitchFamily="2" charset="-122"/>
              </a:rPr>
              <a:t>F ,</a:t>
            </a:r>
            <a:r>
              <a:rPr kumimoji="1" lang="en-US" altLang="zh-CN" sz="2400" b="1" i="1" dirty="0">
                <a:latin typeface="Times New Roman" panose="02020603050405020304" pitchFamily="18" charset="0"/>
              </a:rPr>
              <a:t>F </a:t>
            </a:r>
            <a:r>
              <a:rPr kumimoji="1" lang="en-US" altLang="zh-CN" sz="2400" b="1" dirty="0">
                <a:latin typeface="Times New Roman" panose="02020603050405020304" pitchFamily="18" charset="0"/>
                <a:sym typeface="Symbol" panose="05050102010706020507" pitchFamily="18" charset="2"/>
              </a:rPr>
              <a:t></a:t>
            </a:r>
            <a:r>
              <a:rPr kumimoji="1" lang="en-US" altLang="zh-CN" sz="2400" dirty="0">
                <a:latin typeface="Times New Roman" panose="02020603050405020304" pitchFamily="18" charset="0"/>
                <a:ea typeface="华文中宋" panose="02010600040101010101" pitchFamily="2" charset="-122"/>
              </a:rPr>
              <a:t>)</a:t>
            </a:r>
          </a:p>
        </p:txBody>
      </p:sp>
      <p:graphicFrame>
        <p:nvGraphicFramePr>
          <p:cNvPr id="16388" name="Object 4"/>
          <p:cNvGraphicFramePr>
            <a:graphicFrameLocks noChangeAspect="1"/>
          </p:cNvGraphicFramePr>
          <p:nvPr>
            <p:extLst>
              <p:ext uri="{D42A27DB-BD31-4B8C-83A1-F6EECF244321}">
                <p14:modId xmlns:p14="http://schemas.microsoft.com/office/powerpoint/2010/main" val="4101071097"/>
              </p:ext>
            </p:extLst>
          </p:nvPr>
        </p:nvGraphicFramePr>
        <p:xfrm>
          <a:off x="1081032" y="2600732"/>
          <a:ext cx="3505200" cy="2419350"/>
        </p:xfrm>
        <a:graphic>
          <a:graphicData uri="http://schemas.openxmlformats.org/presentationml/2006/ole">
            <mc:AlternateContent xmlns:mc="http://schemas.openxmlformats.org/markup-compatibility/2006">
              <mc:Choice xmlns:v="urn:schemas-microsoft-com:vml" Requires="v">
                <p:oleObj spid="_x0000_s13318" name="BMP 图象" r:id="rId3" imgW="2400635" imgH="1657581" progId="Paint.Picture">
                  <p:embed/>
                </p:oleObj>
              </mc:Choice>
              <mc:Fallback>
                <p:oleObj name="BMP 图象" r:id="rId3" imgW="2400635" imgH="1657581"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1032" y="2600732"/>
                        <a:ext cx="3505200" cy="24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9" name="Text Box 5"/>
          <p:cNvSpPr txBox="1">
            <a:spLocks noChangeArrowheads="1"/>
          </p:cNvSpPr>
          <p:nvPr/>
        </p:nvSpPr>
        <p:spPr bwMode="auto">
          <a:xfrm>
            <a:off x="971600" y="1152885"/>
            <a:ext cx="31575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1</a:t>
            </a:r>
            <a:r>
              <a:rPr kumimoji="1" lang="zh-CN" altLang="en-US" sz="2800" b="1" dirty="0">
                <a:solidFill>
                  <a:srgbClr val="0000FF"/>
                </a:solidFill>
                <a:latin typeface="黑体" panose="02010609060101010101" pitchFamily="49" charset="-122"/>
                <a:ea typeface="黑体" panose="02010609060101010101" pitchFamily="49" charset="-122"/>
              </a:rPr>
              <a:t>．力偶</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sp>
        <p:nvSpPr>
          <p:cNvPr id="11" name="矩形 10"/>
          <p:cNvSpPr/>
          <p:nvPr/>
        </p:nvSpPr>
        <p:spPr>
          <a:xfrm>
            <a:off x="876817" y="502156"/>
            <a:ext cx="7619394" cy="584775"/>
          </a:xfrm>
          <a:prstGeom prst="rect">
            <a:avLst/>
          </a:prstGeom>
        </p:spPr>
        <p:txBody>
          <a:bodyPr wrap="none">
            <a:spAutoFit/>
          </a:bodyPr>
          <a:lstStyle/>
          <a:p>
            <a:pPr eaLnBrk="1" hangingPunct="1"/>
            <a:r>
              <a:rPr lang="en-US" altLang="zh-CN" sz="3200" b="1" dirty="0">
                <a:latin typeface="宋体" panose="02010600030101010101" pitchFamily="2" charset="-122"/>
              </a:rPr>
              <a:t>§</a:t>
            </a:r>
            <a:r>
              <a:rPr lang="en-US" altLang="zh-CN" sz="3200" b="1" dirty="0"/>
              <a:t>2-2  </a:t>
            </a:r>
            <a:r>
              <a:rPr lang="zh-CN" altLang="en-US" sz="3200" b="1" dirty="0">
                <a:solidFill>
                  <a:srgbClr val="FF0000"/>
                </a:solidFill>
                <a:latin typeface="黑体" panose="02010609060101010101" pitchFamily="49" charset="-122"/>
                <a:ea typeface="黑体" panose="02010609060101010101" pitchFamily="49" charset="-122"/>
              </a:rPr>
              <a:t>力偶</a:t>
            </a:r>
            <a:r>
              <a:rPr lang="en-US" altLang="zh-CN" sz="3200" b="1" dirty="0">
                <a:ea typeface="华文中宋" panose="02010600040101010101" pitchFamily="2" charset="-122"/>
              </a:rPr>
              <a:t>(couple)</a:t>
            </a:r>
            <a:r>
              <a:rPr lang="zh-CN" altLang="en-US" sz="3200" b="1" dirty="0">
                <a:ea typeface="华文中宋" panose="02010600040101010101" pitchFamily="2" charset="-122"/>
              </a:rPr>
              <a:t> </a:t>
            </a:r>
            <a:r>
              <a:rPr lang="zh-CN" altLang="en-US" b="1" dirty="0">
                <a:ea typeface="华文中宋" panose="02010600040101010101" pitchFamily="2" charset="-122"/>
              </a:rPr>
              <a:t>（书</a:t>
            </a:r>
            <a:r>
              <a:rPr lang="en-US" altLang="zh-CN" b="1" dirty="0">
                <a:latin typeface="宋体" panose="02010600030101010101" pitchFamily="2" charset="-122"/>
              </a:rPr>
              <a:t>§</a:t>
            </a:r>
            <a:r>
              <a:rPr lang="en-US" altLang="zh-CN" b="1" dirty="0"/>
              <a:t>1.1.6</a:t>
            </a:r>
            <a:r>
              <a:rPr lang="zh-CN" altLang="en-US" b="1" dirty="0"/>
              <a:t>和</a:t>
            </a:r>
            <a:r>
              <a:rPr lang="en-US" altLang="zh-CN" b="1" dirty="0">
                <a:latin typeface="宋体" panose="02010600030101010101" pitchFamily="2" charset="-122"/>
              </a:rPr>
              <a:t>§</a:t>
            </a:r>
            <a:r>
              <a:rPr lang="en-US" altLang="zh-CN" b="1" dirty="0"/>
              <a:t>3.3</a:t>
            </a:r>
            <a:r>
              <a:rPr lang="zh-CN" altLang="en-US" b="1" dirty="0"/>
              <a:t>和</a:t>
            </a:r>
            <a:r>
              <a:rPr lang="en-US" altLang="zh-CN" b="1" dirty="0">
                <a:latin typeface="宋体" panose="02010600030101010101" pitchFamily="2" charset="-122"/>
              </a:rPr>
              <a:t>§</a:t>
            </a:r>
            <a:r>
              <a:rPr lang="en-US" altLang="zh-CN" b="1" dirty="0"/>
              <a:t>2.2 </a:t>
            </a:r>
            <a:r>
              <a:rPr lang="zh-CN" altLang="en-US" b="1" dirty="0">
                <a:ea typeface="华文中宋" panose="02010600040101010101" pitchFamily="2" charset="-122"/>
              </a:rPr>
              <a:t>）</a:t>
            </a: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47033" y="5084380"/>
            <a:ext cx="4117416" cy="1274763"/>
          </a:xfrm>
          <a:prstGeom prst="rect">
            <a:avLst/>
          </a:prstGeom>
        </p:spPr>
      </p:pic>
      <p:grpSp>
        <p:nvGrpSpPr>
          <p:cNvPr id="10" name="Group 2"/>
          <p:cNvGrpSpPr>
            <a:grpSpLocks/>
          </p:cNvGrpSpPr>
          <p:nvPr/>
        </p:nvGrpSpPr>
        <p:grpSpPr bwMode="auto">
          <a:xfrm>
            <a:off x="5076056" y="2478724"/>
            <a:ext cx="2762250" cy="2730500"/>
            <a:chOff x="2486" y="1161"/>
            <a:chExt cx="2298" cy="2488"/>
          </a:xfrm>
        </p:grpSpPr>
        <p:pic>
          <p:nvPicPr>
            <p:cNvPr id="12" name="Picture 3" descr="tu静(2)-41"/>
            <p:cNvPicPr>
              <a:picLocks noChangeAspect="1" noChangeArrowheads="1"/>
            </p:cNvPicPr>
            <p:nvPr/>
          </p:nvPicPr>
          <p:blipFill>
            <a:blip r:embed="rId6">
              <a:lum bright="12000"/>
              <a:extLst>
                <a:ext uri="{28A0092B-C50C-407E-A947-70E740481C1C}">
                  <a14:useLocalDpi xmlns:a14="http://schemas.microsoft.com/office/drawing/2010/main" val="0"/>
                </a:ext>
              </a:extLst>
            </a:blip>
            <a:srcRect t="3847" b="1408"/>
            <a:stretch>
              <a:fillRect/>
            </a:stretch>
          </p:blipFill>
          <p:spPr bwMode="auto">
            <a:xfrm>
              <a:off x="2565" y="1161"/>
              <a:ext cx="2219" cy="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4"/>
            <p:cNvSpPr txBox="1">
              <a:spLocks noChangeArrowheads="1"/>
            </p:cNvSpPr>
            <p:nvPr/>
          </p:nvSpPr>
          <p:spPr bwMode="auto">
            <a:xfrm>
              <a:off x="2486" y="2137"/>
              <a:ext cx="344"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r" eaLnBrk="1" hangingPunct="1"/>
              <a:r>
                <a:rPr lang="en-US" altLang="zh-CN" sz="1800" b="1" i="1">
                  <a:solidFill>
                    <a:srgbClr val="FF0000"/>
                  </a:solidFill>
                  <a:latin typeface="Times New Roman" panose="02020603050405020304" pitchFamily="18" charset="0"/>
                  <a:ea typeface="幼圆_GB2312" pitchFamily="2" charset="-122"/>
                  <a:sym typeface="UniversalMath1 BT" pitchFamily="18" charset="2"/>
                </a:rPr>
                <a:t>F</a:t>
              </a:r>
              <a:r>
                <a:rPr lang="en-US" altLang="zh-CN" sz="1800" b="1" baseline="-25000">
                  <a:solidFill>
                    <a:srgbClr val="FF0000"/>
                  </a:solidFill>
                  <a:latin typeface="Times New Roman" panose="02020603050405020304" pitchFamily="18" charset="0"/>
                  <a:ea typeface="幼圆_GB2312" pitchFamily="2" charset="-122"/>
                  <a:sym typeface="UniversalMath1 BT" pitchFamily="18" charset="2"/>
                </a:rPr>
                <a:t>1</a:t>
              </a:r>
              <a:endParaRPr lang="en-US" altLang="zh-CN" sz="1800" b="1">
                <a:solidFill>
                  <a:srgbClr val="FF0000"/>
                </a:solidFill>
                <a:latin typeface="Times New Roman" panose="02020603050405020304" pitchFamily="18" charset="0"/>
                <a:ea typeface="幼圆_GB2312" pitchFamily="2" charset="-122"/>
                <a:sym typeface="UniversalMath1 BT" pitchFamily="18" charset="2"/>
              </a:endParaRPr>
            </a:p>
          </p:txBody>
        </p:sp>
        <p:sp>
          <p:nvSpPr>
            <p:cNvPr id="14" name="Text Box 5"/>
            <p:cNvSpPr txBox="1">
              <a:spLocks noChangeArrowheads="1"/>
            </p:cNvSpPr>
            <p:nvPr/>
          </p:nvSpPr>
          <p:spPr bwMode="auto">
            <a:xfrm>
              <a:off x="3380" y="2697"/>
              <a:ext cx="34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r" eaLnBrk="1" hangingPunct="1"/>
              <a:r>
                <a:rPr lang="en-US" altLang="zh-CN" sz="1800" b="1" i="1" dirty="0">
                  <a:solidFill>
                    <a:srgbClr val="FF0000"/>
                  </a:solidFill>
                  <a:latin typeface="Times New Roman" panose="02020603050405020304" pitchFamily="18" charset="0"/>
                  <a:ea typeface="幼圆_GB2312" pitchFamily="2" charset="-122"/>
                  <a:sym typeface="UniversalMath1 BT" pitchFamily="18" charset="2"/>
                </a:rPr>
                <a:t>F</a:t>
              </a:r>
              <a:r>
                <a:rPr lang="en-US" altLang="zh-CN" sz="1800" b="1" baseline="-25000" dirty="0">
                  <a:solidFill>
                    <a:srgbClr val="FF0000"/>
                  </a:solidFill>
                  <a:latin typeface="Times New Roman" panose="02020603050405020304" pitchFamily="18" charset="0"/>
                  <a:ea typeface="幼圆_GB2312" pitchFamily="2" charset="-122"/>
                  <a:sym typeface="UniversalMath1 BT" pitchFamily="18" charset="2"/>
                </a:rPr>
                <a:t>2</a:t>
              </a:r>
              <a:endParaRPr lang="en-US" altLang="zh-CN" sz="1800" b="1" dirty="0">
                <a:solidFill>
                  <a:srgbClr val="FF0000"/>
                </a:solidFill>
                <a:latin typeface="Times New Roman" panose="02020603050405020304" pitchFamily="18" charset="0"/>
                <a:ea typeface="幼圆_GB2312" pitchFamily="2" charset="-122"/>
                <a:sym typeface="UniversalMath1 BT" pitchFamily="18" charset="2"/>
              </a:endParaRPr>
            </a:p>
          </p:txBody>
        </p:sp>
      </p:grpSp>
    </p:spTree>
    <p:extLst>
      <p:ext uri="{BB962C8B-B14F-4D97-AF65-F5344CB8AC3E}">
        <p14:creationId xmlns:p14="http://schemas.microsoft.com/office/powerpoint/2010/main" val="1868364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6389">
                                            <p:txEl>
                                              <p:pRg st="0" end="0"/>
                                            </p:txEl>
                                          </p:spTgt>
                                        </p:tgtEl>
                                        <p:attrNameLst>
                                          <p:attrName>style.visibility</p:attrName>
                                        </p:attrNameLst>
                                      </p:cBhvr>
                                      <p:to>
                                        <p:strVal val="visible"/>
                                      </p:to>
                                    </p:set>
                                    <p:animEffect transition="in" filter="box(out)">
                                      <p:cBhvr>
                                        <p:cTn id="7" dur="500"/>
                                        <p:tgtEl>
                                          <p:spTgt spid="1638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387">
                                            <p:txEl>
                                              <p:pRg st="0" end="0"/>
                                            </p:txEl>
                                          </p:spTgt>
                                        </p:tgtEl>
                                        <p:attrNameLst>
                                          <p:attrName>style.visibility</p:attrName>
                                        </p:attrNameLst>
                                      </p:cBhvr>
                                      <p:to>
                                        <p:strVal val="visible"/>
                                      </p:to>
                                    </p:set>
                                    <p:animEffect transition="in" filter="box(out)">
                                      <p:cBhvr>
                                        <p:cTn id="12" dur="500"/>
                                        <p:tgtEl>
                                          <p:spTgt spid="1638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box(out)">
                                      <p:cBhvr>
                                        <p:cTn id="17" dur="500"/>
                                        <p:tgtEl>
                                          <p:spTgt spid="1638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P spid="16389"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5" name="Text Box 15"/>
          <p:cNvSpPr txBox="1">
            <a:spLocks noChangeArrowheads="1"/>
          </p:cNvSpPr>
          <p:nvPr/>
        </p:nvSpPr>
        <p:spPr bwMode="auto">
          <a:xfrm>
            <a:off x="515361" y="1108868"/>
            <a:ext cx="3671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latin typeface="楷体" panose="02010609060101010101" pitchFamily="49" charset="-122"/>
                <a:ea typeface="楷体" panose="02010609060101010101" pitchFamily="49" charset="-122"/>
              </a:rPr>
              <a:t>两同向平行力的合成</a:t>
            </a:r>
          </a:p>
        </p:txBody>
      </p:sp>
      <p:grpSp>
        <p:nvGrpSpPr>
          <p:cNvPr id="2" name="Group 31"/>
          <p:cNvGrpSpPr>
            <a:grpSpLocks/>
          </p:cNvGrpSpPr>
          <p:nvPr/>
        </p:nvGrpSpPr>
        <p:grpSpPr bwMode="auto">
          <a:xfrm>
            <a:off x="571550" y="1790186"/>
            <a:ext cx="3830638" cy="1487488"/>
            <a:chOff x="3356" y="1207"/>
            <a:chExt cx="2413" cy="937"/>
          </a:xfrm>
        </p:grpSpPr>
        <p:sp>
          <p:nvSpPr>
            <p:cNvPr id="21554" name="Line 24"/>
            <p:cNvSpPr>
              <a:spLocks noChangeShapeType="1"/>
            </p:cNvSpPr>
            <p:nvPr/>
          </p:nvSpPr>
          <p:spPr bwMode="auto">
            <a:xfrm>
              <a:off x="3613" y="1472"/>
              <a:ext cx="1920" cy="0"/>
            </a:xfrm>
            <a:prstGeom prst="line">
              <a:avLst/>
            </a:prstGeom>
            <a:noFill/>
            <a:ln w="1270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5" name="Line 25"/>
            <p:cNvSpPr>
              <a:spLocks noChangeShapeType="1"/>
            </p:cNvSpPr>
            <p:nvPr/>
          </p:nvSpPr>
          <p:spPr bwMode="auto">
            <a:xfrm>
              <a:off x="3600" y="1472"/>
              <a:ext cx="0" cy="672"/>
            </a:xfrm>
            <a:prstGeom prst="line">
              <a:avLst/>
            </a:prstGeom>
            <a:noFill/>
            <a:ln w="317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6" name="Line 26"/>
            <p:cNvSpPr>
              <a:spLocks noChangeShapeType="1"/>
            </p:cNvSpPr>
            <p:nvPr/>
          </p:nvSpPr>
          <p:spPr bwMode="auto">
            <a:xfrm>
              <a:off x="5533" y="1472"/>
              <a:ext cx="0" cy="432"/>
            </a:xfrm>
            <a:prstGeom prst="line">
              <a:avLst/>
            </a:prstGeom>
            <a:noFill/>
            <a:ln w="317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7" name="Text Box 27"/>
            <p:cNvSpPr txBox="1">
              <a:spLocks noChangeArrowheads="1"/>
            </p:cNvSpPr>
            <p:nvPr/>
          </p:nvSpPr>
          <p:spPr bwMode="auto">
            <a:xfrm>
              <a:off x="3411" y="1209"/>
              <a:ext cx="234"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i="1" dirty="0">
                  <a:latin typeface="Times New Roman" panose="02020603050405020304" pitchFamily="18" charset="0"/>
                  <a:ea typeface="楷体_GB2312" pitchFamily="49" charset="-122"/>
                </a:rPr>
                <a:t>A</a:t>
              </a:r>
              <a:endParaRPr kumimoji="1" lang="en-US" altLang="zh-CN" i="1" dirty="0">
                <a:latin typeface="楷体_GB2312" pitchFamily="49" charset="-122"/>
                <a:ea typeface="楷体_GB2312" pitchFamily="49" charset="-122"/>
              </a:endParaRPr>
            </a:p>
          </p:txBody>
        </p:sp>
        <p:sp>
          <p:nvSpPr>
            <p:cNvPr id="21558" name="Text Box 28"/>
            <p:cNvSpPr txBox="1">
              <a:spLocks noChangeArrowheads="1"/>
            </p:cNvSpPr>
            <p:nvPr/>
          </p:nvSpPr>
          <p:spPr bwMode="auto">
            <a:xfrm>
              <a:off x="5527" y="1207"/>
              <a:ext cx="233"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400" i="1" dirty="0">
                  <a:latin typeface="Times New Roman" panose="02020603050405020304" pitchFamily="18" charset="0"/>
                  <a:ea typeface="楷体_GB2312" pitchFamily="49" charset="-122"/>
                </a:rPr>
                <a:t>B</a:t>
              </a:r>
              <a:endParaRPr kumimoji="1" lang="en-US" altLang="zh-CN" sz="2400" i="1" dirty="0">
                <a:latin typeface="楷体_GB2312" pitchFamily="49" charset="-122"/>
                <a:ea typeface="楷体_GB2312" pitchFamily="49" charset="-122"/>
              </a:endParaRPr>
            </a:p>
          </p:txBody>
        </p:sp>
        <p:sp>
          <p:nvSpPr>
            <p:cNvPr id="21559" name="Text Box 29"/>
            <p:cNvSpPr txBox="1">
              <a:spLocks noChangeArrowheads="1"/>
            </p:cNvSpPr>
            <p:nvPr/>
          </p:nvSpPr>
          <p:spPr bwMode="auto">
            <a:xfrm>
              <a:off x="3356" y="1805"/>
              <a:ext cx="27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dirty="0">
                  <a:latin typeface="Times New Roman" panose="02020603050405020304" pitchFamily="18" charset="0"/>
                  <a:ea typeface="楷体_GB2312" pitchFamily="49" charset="-122"/>
                </a:rPr>
                <a:t>F</a:t>
              </a:r>
              <a:r>
                <a:rPr kumimoji="1" lang="en-US" altLang="zh-CN" sz="2000" b="1" baseline="-25000" dirty="0">
                  <a:latin typeface="Times New Roman" panose="02020603050405020304" pitchFamily="18" charset="0"/>
                  <a:ea typeface="楷体_GB2312" pitchFamily="49" charset="-122"/>
                </a:rPr>
                <a:t>1</a:t>
              </a:r>
              <a:endParaRPr kumimoji="1" lang="en-US" altLang="zh-CN" sz="2000" b="1" i="1" dirty="0">
                <a:latin typeface="楷体_GB2312" pitchFamily="49" charset="-122"/>
                <a:ea typeface="楷体_GB2312" pitchFamily="49" charset="-122"/>
              </a:endParaRPr>
            </a:p>
          </p:txBody>
        </p:sp>
        <p:sp>
          <p:nvSpPr>
            <p:cNvPr id="21560" name="Text Box 30"/>
            <p:cNvSpPr txBox="1">
              <a:spLocks noChangeArrowheads="1"/>
            </p:cNvSpPr>
            <p:nvPr/>
          </p:nvSpPr>
          <p:spPr bwMode="auto">
            <a:xfrm>
              <a:off x="5494" y="1692"/>
              <a:ext cx="27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dirty="0">
                  <a:latin typeface="Times New Roman" panose="02020603050405020304" pitchFamily="18" charset="0"/>
                  <a:ea typeface="楷体_GB2312" pitchFamily="49" charset="-122"/>
                </a:rPr>
                <a:t>F</a:t>
              </a:r>
              <a:r>
                <a:rPr kumimoji="1" lang="en-US" altLang="zh-CN" sz="2000" b="1" baseline="-25000" dirty="0">
                  <a:latin typeface="Times New Roman" panose="02020603050405020304" pitchFamily="18" charset="0"/>
                  <a:ea typeface="楷体_GB2312" pitchFamily="49" charset="-122"/>
                </a:rPr>
                <a:t>2</a:t>
              </a:r>
              <a:endParaRPr kumimoji="1" lang="en-US" altLang="zh-CN" sz="2000" b="1" i="1" dirty="0">
                <a:latin typeface="楷体_GB2312" pitchFamily="49" charset="-122"/>
                <a:ea typeface="楷体_GB2312" pitchFamily="49" charset="-122"/>
              </a:endParaRPr>
            </a:p>
          </p:txBody>
        </p:sp>
      </p:grpSp>
      <p:grpSp>
        <p:nvGrpSpPr>
          <p:cNvPr id="3" name="Group 32"/>
          <p:cNvGrpSpPr>
            <a:grpSpLocks/>
          </p:cNvGrpSpPr>
          <p:nvPr/>
        </p:nvGrpSpPr>
        <p:grpSpPr bwMode="auto">
          <a:xfrm>
            <a:off x="971600" y="1679060"/>
            <a:ext cx="3035300" cy="604838"/>
            <a:chOff x="3456" y="706"/>
            <a:chExt cx="1912" cy="381"/>
          </a:xfrm>
        </p:grpSpPr>
        <p:sp>
          <p:nvSpPr>
            <p:cNvPr id="21548" name="Line 33"/>
            <p:cNvSpPr>
              <a:spLocks noChangeShapeType="1"/>
            </p:cNvSpPr>
            <p:nvPr/>
          </p:nvSpPr>
          <p:spPr bwMode="auto">
            <a:xfrm>
              <a:off x="3456" y="1039"/>
              <a:ext cx="480" cy="0"/>
            </a:xfrm>
            <a:prstGeom prst="line">
              <a:avLst/>
            </a:prstGeom>
            <a:noFill/>
            <a:ln w="317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9" name="Line 34"/>
            <p:cNvSpPr>
              <a:spLocks noChangeShapeType="1"/>
            </p:cNvSpPr>
            <p:nvPr/>
          </p:nvSpPr>
          <p:spPr bwMode="auto">
            <a:xfrm flipH="1">
              <a:off x="4888" y="1037"/>
              <a:ext cx="480" cy="0"/>
            </a:xfrm>
            <a:prstGeom prst="line">
              <a:avLst/>
            </a:prstGeom>
            <a:noFill/>
            <a:ln w="317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0" name="Text Box 35"/>
            <p:cNvSpPr txBox="1">
              <a:spLocks noChangeArrowheads="1"/>
            </p:cNvSpPr>
            <p:nvPr/>
          </p:nvSpPr>
          <p:spPr bwMode="auto">
            <a:xfrm>
              <a:off x="4763" y="750"/>
              <a:ext cx="234"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i="1" dirty="0">
                  <a:latin typeface="Times New Roman" panose="02020603050405020304" pitchFamily="18" charset="0"/>
                  <a:ea typeface="楷体_GB2312" pitchFamily="49" charset="-122"/>
                </a:rPr>
                <a:t>E</a:t>
              </a:r>
              <a:endParaRPr kumimoji="1" lang="en-US" altLang="zh-CN" i="1" dirty="0">
                <a:latin typeface="楷体_GB2312" pitchFamily="49" charset="-122"/>
                <a:ea typeface="楷体_GB2312" pitchFamily="49" charset="-122"/>
              </a:endParaRPr>
            </a:p>
          </p:txBody>
        </p:sp>
        <p:sp>
          <p:nvSpPr>
            <p:cNvPr id="21551" name="Text Box 36"/>
            <p:cNvSpPr txBox="1">
              <a:spLocks noChangeArrowheads="1"/>
            </p:cNvSpPr>
            <p:nvPr/>
          </p:nvSpPr>
          <p:spPr bwMode="auto">
            <a:xfrm>
              <a:off x="3840" y="738"/>
              <a:ext cx="257"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i="1" dirty="0">
                  <a:latin typeface="Times New Roman" panose="02020603050405020304" pitchFamily="18" charset="0"/>
                  <a:ea typeface="楷体_GB2312" pitchFamily="49" charset="-122"/>
                </a:rPr>
                <a:t>D</a:t>
              </a:r>
              <a:endParaRPr kumimoji="1" lang="en-US" altLang="zh-CN" i="1" dirty="0">
                <a:latin typeface="楷体_GB2312" pitchFamily="49" charset="-122"/>
                <a:ea typeface="楷体_GB2312" pitchFamily="49" charset="-122"/>
              </a:endParaRPr>
            </a:p>
          </p:txBody>
        </p:sp>
        <p:sp>
          <p:nvSpPr>
            <p:cNvPr id="21552" name="Text Box 37"/>
            <p:cNvSpPr txBox="1">
              <a:spLocks noChangeArrowheads="1"/>
            </p:cNvSpPr>
            <p:nvPr/>
          </p:nvSpPr>
          <p:spPr bwMode="auto">
            <a:xfrm>
              <a:off x="3552" y="720"/>
              <a:ext cx="31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F</a:t>
              </a:r>
              <a:r>
                <a:rPr kumimoji="1" lang="en-US" altLang="zh-CN" sz="2000" b="1" i="1">
                  <a:latin typeface="Times New Roman" panose="02020603050405020304" pitchFamily="18" charset="0"/>
                  <a:cs typeface="Times New Roman" panose="02020603050405020304" pitchFamily="18" charset="0"/>
                </a:rPr>
                <a:t>'</a:t>
              </a:r>
              <a:r>
                <a:rPr kumimoji="1" lang="en-US" altLang="zh-CN" sz="2000" b="1" baseline="-25000">
                  <a:latin typeface="Times New Roman" panose="02020603050405020304" pitchFamily="18" charset="0"/>
                  <a:ea typeface="楷体_GB2312" pitchFamily="49" charset="-122"/>
                </a:rPr>
                <a:t>1</a:t>
              </a:r>
              <a:endParaRPr kumimoji="1" lang="en-US" altLang="zh-CN" sz="2000" b="1" i="1">
                <a:latin typeface="楷体_GB2312" pitchFamily="49" charset="-122"/>
                <a:ea typeface="楷体_GB2312" pitchFamily="49" charset="-122"/>
              </a:endParaRPr>
            </a:p>
          </p:txBody>
        </p:sp>
        <p:sp>
          <p:nvSpPr>
            <p:cNvPr id="21553" name="Text Box 38"/>
            <p:cNvSpPr txBox="1">
              <a:spLocks noChangeArrowheads="1"/>
            </p:cNvSpPr>
            <p:nvPr/>
          </p:nvSpPr>
          <p:spPr bwMode="auto">
            <a:xfrm>
              <a:off x="5009" y="706"/>
              <a:ext cx="31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dirty="0">
                  <a:latin typeface="Times New Roman" panose="02020603050405020304" pitchFamily="18" charset="0"/>
                  <a:ea typeface="楷体_GB2312" pitchFamily="49" charset="-122"/>
                </a:rPr>
                <a:t>F</a:t>
              </a:r>
              <a:r>
                <a:rPr kumimoji="1" lang="en-US" altLang="zh-CN" sz="2000" b="1" i="1" dirty="0">
                  <a:latin typeface="Times New Roman" panose="02020603050405020304" pitchFamily="18" charset="0"/>
                  <a:cs typeface="Times New Roman" panose="02020603050405020304" pitchFamily="18" charset="0"/>
                </a:rPr>
                <a:t>'</a:t>
              </a:r>
              <a:r>
                <a:rPr kumimoji="1" lang="en-US" altLang="zh-CN" sz="2000" b="1" baseline="-25000" dirty="0">
                  <a:latin typeface="Times New Roman" panose="02020603050405020304" pitchFamily="18" charset="0"/>
                  <a:ea typeface="楷体_GB2312" pitchFamily="49" charset="-122"/>
                </a:rPr>
                <a:t>2</a:t>
              </a:r>
              <a:endParaRPr kumimoji="1" lang="en-US" altLang="zh-CN" sz="2000" b="1" i="1" dirty="0">
                <a:latin typeface="楷体_GB2312" pitchFamily="49" charset="-122"/>
                <a:ea typeface="楷体_GB2312" pitchFamily="49" charset="-122"/>
              </a:endParaRPr>
            </a:p>
          </p:txBody>
        </p:sp>
      </p:grpSp>
      <p:sp>
        <p:nvSpPr>
          <p:cNvPr id="15399" name="Rectangle 39"/>
          <p:cNvSpPr>
            <a:spLocks noChangeArrowheads="1"/>
          </p:cNvSpPr>
          <p:nvPr/>
        </p:nvSpPr>
        <p:spPr bwMode="auto">
          <a:xfrm>
            <a:off x="5017156" y="1150354"/>
            <a:ext cx="14526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dirty="0">
                <a:latin typeface="Times New Roman" panose="02020603050405020304" pitchFamily="18" charset="0"/>
              </a:rPr>
              <a:t>F'</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 =  ̶ </a:t>
            </a:r>
            <a:r>
              <a:rPr lang="en-US" altLang="zh-CN" sz="2400" b="1" i="1" dirty="0">
                <a:latin typeface="Times New Roman" panose="02020603050405020304" pitchFamily="18" charset="0"/>
              </a:rPr>
              <a:t>F'</a:t>
            </a:r>
            <a:r>
              <a:rPr lang="en-US" altLang="zh-CN" sz="2400" b="1" baseline="-25000" dirty="0">
                <a:latin typeface="Times New Roman" panose="02020603050405020304" pitchFamily="18" charset="0"/>
              </a:rPr>
              <a:t>2</a:t>
            </a:r>
          </a:p>
        </p:txBody>
      </p:sp>
      <p:sp>
        <p:nvSpPr>
          <p:cNvPr id="15400" name="Rectangle 40"/>
          <p:cNvSpPr>
            <a:spLocks noChangeArrowheads="1"/>
          </p:cNvSpPr>
          <p:nvPr/>
        </p:nvSpPr>
        <p:spPr bwMode="auto">
          <a:xfrm>
            <a:off x="3740151" y="1131093"/>
            <a:ext cx="1030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dirty="0">
                <a:latin typeface="Times New Roman" panose="02020603050405020304" pitchFamily="18" charset="0"/>
              </a:rPr>
              <a:t>F</a:t>
            </a:r>
            <a:r>
              <a:rPr lang="en-US" altLang="zh-CN" sz="2400" b="1" baseline="-25000" dirty="0">
                <a:latin typeface="Times New Roman" panose="02020603050405020304" pitchFamily="18" charset="0"/>
              </a:rPr>
              <a:t>1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F</a:t>
            </a:r>
            <a:r>
              <a:rPr lang="en-US" altLang="zh-CN" sz="2400" b="1" baseline="-25000" dirty="0">
                <a:latin typeface="Times New Roman" panose="02020603050405020304" pitchFamily="18" charset="0"/>
              </a:rPr>
              <a:t>2</a:t>
            </a:r>
          </a:p>
        </p:txBody>
      </p:sp>
      <p:grpSp>
        <p:nvGrpSpPr>
          <p:cNvPr id="4" name="Group 83"/>
          <p:cNvGrpSpPr>
            <a:grpSpLocks/>
          </p:cNvGrpSpPr>
          <p:nvPr/>
        </p:nvGrpSpPr>
        <p:grpSpPr bwMode="auto">
          <a:xfrm>
            <a:off x="1390700" y="1777485"/>
            <a:ext cx="1508125" cy="4189413"/>
            <a:chOff x="3969" y="1681"/>
            <a:chExt cx="950" cy="2639"/>
          </a:xfrm>
        </p:grpSpPr>
        <p:sp>
          <p:nvSpPr>
            <p:cNvPr id="21539" name="Text Box 55"/>
            <p:cNvSpPr txBox="1">
              <a:spLocks noChangeArrowheads="1"/>
            </p:cNvSpPr>
            <p:nvPr/>
          </p:nvSpPr>
          <p:spPr bwMode="auto">
            <a:xfrm>
              <a:off x="4401" y="1681"/>
              <a:ext cx="2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dirty="0">
                  <a:latin typeface="Times New Roman" panose="02020603050405020304" pitchFamily="18" charset="0"/>
                  <a:ea typeface="楷体_GB2312" pitchFamily="49" charset="-122"/>
                </a:rPr>
                <a:t>C</a:t>
              </a:r>
              <a:endParaRPr kumimoji="1" lang="en-US" altLang="zh-CN" sz="2000" b="1" i="1" dirty="0">
                <a:latin typeface="楷体_GB2312" pitchFamily="49" charset="-122"/>
                <a:ea typeface="楷体_GB2312" pitchFamily="49" charset="-122"/>
              </a:endParaRPr>
            </a:p>
          </p:txBody>
        </p:sp>
        <p:grpSp>
          <p:nvGrpSpPr>
            <p:cNvPr id="21540" name="Group 56"/>
            <p:cNvGrpSpPr>
              <a:grpSpLocks/>
            </p:cNvGrpSpPr>
            <p:nvPr/>
          </p:nvGrpSpPr>
          <p:grpSpPr bwMode="auto">
            <a:xfrm>
              <a:off x="3969" y="1954"/>
              <a:ext cx="950" cy="2366"/>
              <a:chOff x="3716" y="796"/>
              <a:chExt cx="950" cy="2366"/>
            </a:xfrm>
          </p:grpSpPr>
          <p:sp>
            <p:nvSpPr>
              <p:cNvPr id="21541" name="Text Box 57"/>
              <p:cNvSpPr txBox="1">
                <a:spLocks noChangeArrowheads="1"/>
              </p:cNvSpPr>
              <p:nvPr/>
            </p:nvSpPr>
            <p:spPr bwMode="auto">
              <a:xfrm>
                <a:off x="4211" y="1667"/>
                <a:ext cx="2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dirty="0">
                    <a:latin typeface="Times New Roman" panose="02020603050405020304" pitchFamily="18" charset="0"/>
                    <a:ea typeface="楷体_GB2312" pitchFamily="49" charset="-122"/>
                  </a:rPr>
                  <a:t>K</a:t>
                </a:r>
                <a:endParaRPr kumimoji="1" lang="en-US" altLang="zh-CN" sz="2000" b="1" i="1" dirty="0">
                  <a:latin typeface="楷体_GB2312" pitchFamily="49" charset="-122"/>
                  <a:ea typeface="楷体_GB2312" pitchFamily="49" charset="-122"/>
                </a:endParaRPr>
              </a:p>
            </p:txBody>
          </p:sp>
          <p:grpSp>
            <p:nvGrpSpPr>
              <p:cNvPr id="21542" name="Group 58"/>
              <p:cNvGrpSpPr>
                <a:grpSpLocks/>
              </p:cNvGrpSpPr>
              <p:nvPr/>
            </p:nvGrpSpPr>
            <p:grpSpPr bwMode="auto">
              <a:xfrm>
                <a:off x="3716" y="796"/>
                <a:ext cx="950" cy="2366"/>
                <a:chOff x="3716" y="796"/>
                <a:chExt cx="950" cy="2366"/>
              </a:xfrm>
            </p:grpSpPr>
            <p:sp>
              <p:nvSpPr>
                <p:cNvPr id="21543" name="Line 59"/>
                <p:cNvSpPr>
                  <a:spLocks noChangeShapeType="1"/>
                </p:cNvSpPr>
                <p:nvPr/>
              </p:nvSpPr>
              <p:spPr bwMode="auto">
                <a:xfrm>
                  <a:off x="4191" y="796"/>
                  <a:ext cx="0" cy="2160"/>
                </a:xfrm>
                <a:prstGeom prst="line">
                  <a:avLst/>
                </a:prstGeom>
                <a:noFill/>
                <a:ln w="1905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4" name="Line 60"/>
                <p:cNvSpPr>
                  <a:spLocks noChangeShapeType="1"/>
                </p:cNvSpPr>
                <p:nvPr/>
              </p:nvSpPr>
              <p:spPr bwMode="auto">
                <a:xfrm>
                  <a:off x="3716" y="2274"/>
                  <a:ext cx="480" cy="672"/>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5" name="Line 61"/>
                <p:cNvSpPr>
                  <a:spLocks noChangeShapeType="1"/>
                </p:cNvSpPr>
                <p:nvPr/>
              </p:nvSpPr>
              <p:spPr bwMode="auto">
                <a:xfrm flipH="1">
                  <a:off x="4186" y="2519"/>
                  <a:ext cx="480" cy="432"/>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6" name="Line 62"/>
                <p:cNvSpPr>
                  <a:spLocks noChangeShapeType="1"/>
                </p:cNvSpPr>
                <p:nvPr/>
              </p:nvSpPr>
              <p:spPr bwMode="auto">
                <a:xfrm>
                  <a:off x="4191" y="1842"/>
                  <a:ext cx="0" cy="1066"/>
                </a:xfrm>
                <a:prstGeom prst="line">
                  <a:avLst/>
                </a:prstGeom>
                <a:noFill/>
                <a:ln w="31750">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7" name="Text Box 63"/>
                <p:cNvSpPr txBox="1">
                  <a:spLocks noChangeArrowheads="1"/>
                </p:cNvSpPr>
                <p:nvPr/>
              </p:nvSpPr>
              <p:spPr bwMode="auto">
                <a:xfrm>
                  <a:off x="4144" y="2845"/>
                  <a:ext cx="2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F</a:t>
                  </a:r>
                  <a:endParaRPr kumimoji="1" lang="en-US" altLang="zh-CN" sz="2000" b="1" i="1">
                    <a:latin typeface="楷体_GB2312" pitchFamily="49" charset="-122"/>
                    <a:ea typeface="楷体_GB2312" pitchFamily="49" charset="-122"/>
                  </a:endParaRPr>
                </a:p>
              </p:txBody>
            </p:sp>
          </p:grpSp>
        </p:grpSp>
      </p:grpSp>
      <p:grpSp>
        <p:nvGrpSpPr>
          <p:cNvPr id="7" name="Group 64"/>
          <p:cNvGrpSpPr>
            <a:grpSpLocks/>
          </p:cNvGrpSpPr>
          <p:nvPr/>
        </p:nvGrpSpPr>
        <p:grpSpPr bwMode="auto">
          <a:xfrm>
            <a:off x="1093837" y="2183885"/>
            <a:ext cx="2911475" cy="2359025"/>
            <a:chOff x="3529" y="788"/>
            <a:chExt cx="1834" cy="1486"/>
          </a:xfrm>
        </p:grpSpPr>
        <p:sp>
          <p:nvSpPr>
            <p:cNvPr id="21536" name="Line 65"/>
            <p:cNvSpPr>
              <a:spLocks noChangeShapeType="1"/>
            </p:cNvSpPr>
            <p:nvPr/>
          </p:nvSpPr>
          <p:spPr bwMode="auto">
            <a:xfrm flipH="1">
              <a:off x="4191" y="788"/>
              <a:ext cx="1172" cy="1055"/>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7" name="Line 66"/>
            <p:cNvSpPr>
              <a:spLocks noChangeShapeType="1"/>
            </p:cNvSpPr>
            <p:nvPr/>
          </p:nvSpPr>
          <p:spPr bwMode="auto">
            <a:xfrm flipH="1">
              <a:off x="3711" y="1842"/>
              <a:ext cx="480" cy="432"/>
            </a:xfrm>
            <a:prstGeom prst="line">
              <a:avLst/>
            </a:prstGeom>
            <a:noFill/>
            <a:ln w="317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8" name="Text Box 67"/>
            <p:cNvSpPr txBox="1">
              <a:spLocks noChangeArrowheads="1"/>
            </p:cNvSpPr>
            <p:nvPr/>
          </p:nvSpPr>
          <p:spPr bwMode="auto">
            <a:xfrm>
              <a:off x="3529" y="1919"/>
              <a:ext cx="2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F</a:t>
              </a:r>
              <a:r>
                <a:rPr kumimoji="1" lang="en-US" altLang="zh-CN" sz="2000" i="1" baseline="-25000">
                  <a:latin typeface="Times New Roman" panose="02020603050405020304" pitchFamily="18" charset="0"/>
                  <a:ea typeface="楷体_GB2312" pitchFamily="49" charset="-122"/>
                </a:rPr>
                <a:t>B</a:t>
              </a:r>
              <a:endParaRPr kumimoji="1" lang="en-US" altLang="zh-CN" sz="2000" i="1" baseline="30000">
                <a:latin typeface="Times New Roman" panose="02020603050405020304" pitchFamily="18" charset="0"/>
                <a:ea typeface="楷体_GB2312" pitchFamily="49" charset="-122"/>
              </a:endParaRPr>
            </a:p>
          </p:txBody>
        </p:sp>
      </p:grpSp>
      <p:grpSp>
        <p:nvGrpSpPr>
          <p:cNvPr id="8" name="Group 68"/>
          <p:cNvGrpSpPr>
            <a:grpSpLocks/>
          </p:cNvGrpSpPr>
          <p:nvPr/>
        </p:nvGrpSpPr>
        <p:grpSpPr bwMode="auto">
          <a:xfrm>
            <a:off x="958900" y="2199760"/>
            <a:ext cx="2359025" cy="2727325"/>
            <a:chOff x="3443" y="796"/>
            <a:chExt cx="1486" cy="1718"/>
          </a:xfrm>
        </p:grpSpPr>
        <p:sp>
          <p:nvSpPr>
            <p:cNvPr id="21533" name="Line 69"/>
            <p:cNvSpPr>
              <a:spLocks noChangeShapeType="1"/>
            </p:cNvSpPr>
            <p:nvPr/>
          </p:nvSpPr>
          <p:spPr bwMode="auto">
            <a:xfrm>
              <a:off x="3443" y="796"/>
              <a:ext cx="754" cy="1056"/>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4" name="Line 70"/>
            <p:cNvSpPr>
              <a:spLocks noChangeShapeType="1"/>
            </p:cNvSpPr>
            <p:nvPr/>
          </p:nvSpPr>
          <p:spPr bwMode="auto">
            <a:xfrm>
              <a:off x="4191" y="1842"/>
              <a:ext cx="480" cy="672"/>
            </a:xfrm>
            <a:prstGeom prst="line">
              <a:avLst/>
            </a:prstGeom>
            <a:noFill/>
            <a:ln w="317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5" name="Text Box 71"/>
            <p:cNvSpPr txBox="1">
              <a:spLocks noChangeArrowheads="1"/>
            </p:cNvSpPr>
            <p:nvPr/>
          </p:nvSpPr>
          <p:spPr bwMode="auto">
            <a:xfrm>
              <a:off x="4642" y="2166"/>
              <a:ext cx="2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F</a:t>
              </a:r>
              <a:r>
                <a:rPr kumimoji="1" lang="en-US" altLang="zh-CN" sz="2000" i="1" baseline="-25000">
                  <a:latin typeface="Times New Roman" panose="02020603050405020304" pitchFamily="18" charset="0"/>
                  <a:ea typeface="楷体_GB2312" pitchFamily="49" charset="-122"/>
                </a:rPr>
                <a:t>A</a:t>
              </a:r>
              <a:endParaRPr kumimoji="1" lang="en-US" altLang="zh-CN" sz="2000" i="1" baseline="30000">
                <a:latin typeface="Times New Roman" panose="02020603050405020304" pitchFamily="18" charset="0"/>
                <a:ea typeface="楷体_GB2312" pitchFamily="49" charset="-122"/>
              </a:endParaRPr>
            </a:p>
          </p:txBody>
        </p:sp>
      </p:grpSp>
      <p:grpSp>
        <p:nvGrpSpPr>
          <p:cNvPr id="9" name="Group 72"/>
          <p:cNvGrpSpPr>
            <a:grpSpLocks/>
          </p:cNvGrpSpPr>
          <p:nvPr/>
        </p:nvGrpSpPr>
        <p:grpSpPr bwMode="auto">
          <a:xfrm>
            <a:off x="958900" y="2199760"/>
            <a:ext cx="3048000" cy="1439863"/>
            <a:chOff x="3443" y="792"/>
            <a:chExt cx="1920" cy="907"/>
          </a:xfrm>
        </p:grpSpPr>
        <p:sp>
          <p:nvSpPr>
            <p:cNvPr id="21523" name="Text Box 73"/>
            <p:cNvSpPr txBox="1">
              <a:spLocks noChangeArrowheads="1"/>
            </p:cNvSpPr>
            <p:nvPr/>
          </p:nvSpPr>
          <p:spPr bwMode="auto">
            <a:xfrm>
              <a:off x="4806" y="1155"/>
              <a:ext cx="26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dirty="0">
                  <a:latin typeface="Times New Roman" panose="02020603050405020304" pitchFamily="18" charset="0"/>
                  <a:ea typeface="楷体_GB2312" pitchFamily="49" charset="-122"/>
                </a:rPr>
                <a:t>B</a:t>
              </a:r>
              <a:r>
                <a:rPr kumimoji="1" lang="en-US" altLang="zh-CN" sz="2000" b="1" i="1" dirty="0">
                  <a:latin typeface="Times New Roman" panose="02020603050405020304" pitchFamily="18" charset="0"/>
                  <a:ea typeface="楷体_GB2312" pitchFamily="49" charset="-122"/>
                  <a:sym typeface="Symbol" panose="05050102010706020507" pitchFamily="18" charset="2"/>
                </a:rPr>
                <a:t></a:t>
              </a:r>
              <a:endParaRPr kumimoji="1" lang="en-US" altLang="zh-CN" sz="2000" b="1" i="1" dirty="0">
                <a:latin typeface="楷体_GB2312" pitchFamily="49" charset="-122"/>
                <a:ea typeface="楷体_GB2312" pitchFamily="49" charset="-122"/>
              </a:endParaRPr>
            </a:p>
          </p:txBody>
        </p:sp>
        <p:sp>
          <p:nvSpPr>
            <p:cNvPr id="21524" name="Text Box 74"/>
            <p:cNvSpPr txBox="1">
              <a:spLocks noChangeArrowheads="1"/>
            </p:cNvSpPr>
            <p:nvPr/>
          </p:nvSpPr>
          <p:spPr bwMode="auto">
            <a:xfrm>
              <a:off x="3731" y="1379"/>
              <a:ext cx="28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dirty="0">
                  <a:latin typeface="Times New Roman" panose="02020603050405020304" pitchFamily="18" charset="0"/>
                  <a:ea typeface="楷体_GB2312" pitchFamily="49" charset="-122"/>
                </a:rPr>
                <a:t>A</a:t>
              </a:r>
              <a:r>
                <a:rPr kumimoji="1" lang="en-US" altLang="zh-CN" sz="2000" b="1" i="1" dirty="0">
                  <a:latin typeface="Times New Roman" panose="02020603050405020304" pitchFamily="18" charset="0"/>
                  <a:ea typeface="楷体_GB2312" pitchFamily="49" charset="-122"/>
                  <a:sym typeface="Symbol" panose="05050102010706020507" pitchFamily="18" charset="2"/>
                </a:rPr>
                <a:t></a:t>
              </a:r>
              <a:endParaRPr kumimoji="1" lang="en-US" altLang="zh-CN" sz="2000" b="1" i="1" dirty="0">
                <a:latin typeface="楷体_GB2312" pitchFamily="49" charset="-122"/>
                <a:ea typeface="楷体_GB2312" pitchFamily="49" charset="-122"/>
              </a:endParaRPr>
            </a:p>
          </p:txBody>
        </p:sp>
        <p:sp>
          <p:nvSpPr>
            <p:cNvPr id="21525" name="Line 75"/>
            <p:cNvSpPr>
              <a:spLocks noChangeShapeType="1"/>
            </p:cNvSpPr>
            <p:nvPr/>
          </p:nvSpPr>
          <p:spPr bwMode="auto">
            <a:xfrm>
              <a:off x="3923" y="806"/>
              <a:ext cx="0" cy="672"/>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6" name="Line 76"/>
            <p:cNvSpPr>
              <a:spLocks noChangeShapeType="1"/>
            </p:cNvSpPr>
            <p:nvPr/>
          </p:nvSpPr>
          <p:spPr bwMode="auto">
            <a:xfrm>
              <a:off x="3443" y="1478"/>
              <a:ext cx="480" cy="0"/>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7" name="Line 77"/>
            <p:cNvSpPr>
              <a:spLocks noChangeShapeType="1"/>
            </p:cNvSpPr>
            <p:nvPr/>
          </p:nvSpPr>
          <p:spPr bwMode="auto">
            <a:xfrm>
              <a:off x="3443" y="806"/>
              <a:ext cx="480" cy="672"/>
            </a:xfrm>
            <a:prstGeom prst="line">
              <a:avLst/>
            </a:prstGeom>
            <a:noFill/>
            <a:ln w="317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8" name="Line 78"/>
            <p:cNvSpPr>
              <a:spLocks noChangeShapeType="1"/>
            </p:cNvSpPr>
            <p:nvPr/>
          </p:nvSpPr>
          <p:spPr bwMode="auto">
            <a:xfrm flipH="1">
              <a:off x="4883" y="796"/>
              <a:ext cx="480" cy="432"/>
            </a:xfrm>
            <a:prstGeom prst="line">
              <a:avLst/>
            </a:prstGeom>
            <a:noFill/>
            <a:ln w="317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9" name="Line 79"/>
            <p:cNvSpPr>
              <a:spLocks noChangeShapeType="1"/>
            </p:cNvSpPr>
            <p:nvPr/>
          </p:nvSpPr>
          <p:spPr bwMode="auto">
            <a:xfrm>
              <a:off x="4883" y="796"/>
              <a:ext cx="0" cy="432"/>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0" name="Line 80"/>
            <p:cNvSpPr>
              <a:spLocks noChangeShapeType="1"/>
            </p:cNvSpPr>
            <p:nvPr/>
          </p:nvSpPr>
          <p:spPr bwMode="auto">
            <a:xfrm>
              <a:off x="4883" y="1228"/>
              <a:ext cx="480" cy="0"/>
            </a:xfrm>
            <a:prstGeom prst="line">
              <a:avLst/>
            </a:prstGeom>
            <a:noFill/>
            <a:ln w="1270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1" name="Text Box 81"/>
            <p:cNvSpPr txBox="1">
              <a:spLocks noChangeArrowheads="1"/>
            </p:cNvSpPr>
            <p:nvPr/>
          </p:nvSpPr>
          <p:spPr bwMode="auto">
            <a:xfrm>
              <a:off x="3491" y="1142"/>
              <a:ext cx="2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F</a:t>
              </a:r>
              <a:r>
                <a:rPr kumimoji="1" lang="en-US" altLang="zh-CN" sz="2000" i="1" baseline="-25000">
                  <a:latin typeface="Times New Roman" panose="02020603050405020304" pitchFamily="18" charset="0"/>
                  <a:ea typeface="楷体_GB2312" pitchFamily="49" charset="-122"/>
                </a:rPr>
                <a:t>A</a:t>
              </a:r>
              <a:endParaRPr kumimoji="1" lang="en-US" altLang="zh-CN" sz="2000" b="1" i="1" baseline="30000">
                <a:latin typeface="Times New Roman" panose="02020603050405020304" pitchFamily="18" charset="0"/>
                <a:ea typeface="楷体_GB2312" pitchFamily="49" charset="-122"/>
              </a:endParaRPr>
            </a:p>
          </p:txBody>
        </p:sp>
        <p:sp>
          <p:nvSpPr>
            <p:cNvPr id="21532" name="Text Box 82"/>
            <p:cNvSpPr txBox="1">
              <a:spLocks noChangeArrowheads="1"/>
            </p:cNvSpPr>
            <p:nvPr/>
          </p:nvSpPr>
          <p:spPr bwMode="auto">
            <a:xfrm>
              <a:off x="4822" y="792"/>
              <a:ext cx="2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F</a:t>
              </a:r>
              <a:r>
                <a:rPr kumimoji="1" lang="en-US" altLang="zh-CN" sz="2000" i="1" baseline="-25000">
                  <a:latin typeface="Times New Roman" panose="02020603050405020304" pitchFamily="18" charset="0"/>
                  <a:ea typeface="楷体_GB2312" pitchFamily="49" charset="-122"/>
                </a:rPr>
                <a:t>B</a:t>
              </a:r>
              <a:endParaRPr kumimoji="1" lang="en-US" altLang="zh-CN" sz="2000" i="1" baseline="30000">
                <a:latin typeface="Times New Roman" panose="02020603050405020304" pitchFamily="18" charset="0"/>
                <a:ea typeface="楷体_GB2312" pitchFamily="49" charset="-122"/>
              </a:endParaRPr>
            </a:p>
          </p:txBody>
        </p:sp>
      </p:grpSp>
      <p:sp>
        <p:nvSpPr>
          <p:cNvPr id="58" name="Text Box 5"/>
          <p:cNvSpPr txBox="1">
            <a:spLocks noChangeArrowheads="1"/>
          </p:cNvSpPr>
          <p:nvPr/>
        </p:nvSpPr>
        <p:spPr bwMode="auto">
          <a:xfrm>
            <a:off x="754085" y="491192"/>
            <a:ext cx="18462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1</a:t>
            </a:r>
            <a:r>
              <a:rPr kumimoji="1" lang="zh-CN" altLang="en-US" sz="2800" b="1" dirty="0">
                <a:solidFill>
                  <a:srgbClr val="0000FF"/>
                </a:solidFill>
                <a:latin typeface="黑体" panose="02010609060101010101" pitchFamily="49" charset="-122"/>
                <a:ea typeface="黑体" panose="02010609060101010101" pitchFamily="49" charset="-122"/>
              </a:rPr>
              <a:t>．力偶</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sp>
        <p:nvSpPr>
          <p:cNvPr id="59" name="Text Box 4"/>
          <p:cNvSpPr txBox="1">
            <a:spLocks noChangeArrowheads="1"/>
          </p:cNvSpPr>
          <p:nvPr/>
        </p:nvSpPr>
        <p:spPr bwMode="auto">
          <a:xfrm>
            <a:off x="5226908" y="1989272"/>
            <a:ext cx="3080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latin typeface="楷体" panose="02010609060101010101" pitchFamily="49" charset="-122"/>
                <a:ea typeface="楷体" panose="02010609060101010101" pitchFamily="49" charset="-122"/>
              </a:rPr>
              <a:t>两反向平行力的合成</a:t>
            </a:r>
          </a:p>
        </p:txBody>
      </p:sp>
      <p:grpSp>
        <p:nvGrpSpPr>
          <p:cNvPr id="60" name="Group 19"/>
          <p:cNvGrpSpPr>
            <a:grpSpLocks/>
          </p:cNvGrpSpPr>
          <p:nvPr/>
        </p:nvGrpSpPr>
        <p:grpSpPr bwMode="auto">
          <a:xfrm>
            <a:off x="5601444" y="2998273"/>
            <a:ext cx="431800" cy="1879600"/>
            <a:chOff x="1655" y="1117"/>
            <a:chExt cx="272" cy="1184"/>
          </a:xfrm>
        </p:grpSpPr>
        <p:sp>
          <p:nvSpPr>
            <p:cNvPr id="61" name="Line 9"/>
            <p:cNvSpPr>
              <a:spLocks noChangeShapeType="1"/>
            </p:cNvSpPr>
            <p:nvPr/>
          </p:nvSpPr>
          <p:spPr bwMode="auto">
            <a:xfrm flipV="1">
              <a:off x="1837" y="1389"/>
              <a:ext cx="0" cy="624"/>
            </a:xfrm>
            <a:prstGeom prst="line">
              <a:avLst/>
            </a:prstGeom>
            <a:noFill/>
            <a:ln w="38100">
              <a:solidFill>
                <a:srgbClr val="7030A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Text Box 11"/>
            <p:cNvSpPr txBox="1">
              <a:spLocks noChangeArrowheads="1"/>
            </p:cNvSpPr>
            <p:nvPr/>
          </p:nvSpPr>
          <p:spPr bwMode="auto">
            <a:xfrm>
              <a:off x="1701" y="1117"/>
              <a:ext cx="2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F</a:t>
              </a:r>
              <a:endParaRPr kumimoji="1" lang="en-US" altLang="zh-CN" sz="2000">
                <a:latin typeface="楷体_GB2312" pitchFamily="49" charset="-122"/>
                <a:ea typeface="楷体_GB2312" pitchFamily="49" charset="-122"/>
              </a:endParaRPr>
            </a:p>
          </p:txBody>
        </p:sp>
        <p:sp>
          <p:nvSpPr>
            <p:cNvPr id="63" name="Text Box 15"/>
            <p:cNvSpPr txBox="1">
              <a:spLocks noChangeArrowheads="1"/>
            </p:cNvSpPr>
            <p:nvPr/>
          </p:nvSpPr>
          <p:spPr bwMode="auto">
            <a:xfrm>
              <a:off x="1655" y="1984"/>
              <a:ext cx="27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C</a:t>
              </a:r>
              <a:endParaRPr kumimoji="1" lang="en-US" altLang="zh-CN" sz="2000" b="1" i="1">
                <a:latin typeface="楷体_GB2312" pitchFamily="49" charset="-122"/>
                <a:ea typeface="楷体_GB2312" pitchFamily="49" charset="-122"/>
              </a:endParaRPr>
            </a:p>
          </p:txBody>
        </p:sp>
      </p:grpSp>
      <p:grpSp>
        <p:nvGrpSpPr>
          <p:cNvPr id="64" name="Group 18"/>
          <p:cNvGrpSpPr>
            <a:grpSpLocks/>
          </p:cNvGrpSpPr>
          <p:nvPr/>
        </p:nvGrpSpPr>
        <p:grpSpPr bwMode="auto">
          <a:xfrm>
            <a:off x="5868144" y="2755385"/>
            <a:ext cx="2319337" cy="2286000"/>
            <a:chOff x="2214" y="981"/>
            <a:chExt cx="1461" cy="1440"/>
          </a:xfrm>
        </p:grpSpPr>
        <p:sp>
          <p:nvSpPr>
            <p:cNvPr id="65" name="Line 6"/>
            <p:cNvSpPr>
              <a:spLocks noChangeShapeType="1"/>
            </p:cNvSpPr>
            <p:nvPr/>
          </p:nvSpPr>
          <p:spPr bwMode="auto">
            <a:xfrm>
              <a:off x="2214" y="2037"/>
              <a:ext cx="1200" cy="0"/>
            </a:xfrm>
            <a:prstGeom prst="line">
              <a:avLst/>
            </a:prstGeom>
            <a:noFill/>
            <a:ln w="1905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8"/>
            <p:cNvSpPr>
              <a:spLocks noChangeShapeType="1"/>
            </p:cNvSpPr>
            <p:nvPr/>
          </p:nvSpPr>
          <p:spPr bwMode="auto">
            <a:xfrm>
              <a:off x="3414" y="2037"/>
              <a:ext cx="0" cy="384"/>
            </a:xfrm>
            <a:prstGeom prst="line">
              <a:avLst/>
            </a:prstGeom>
            <a:noFill/>
            <a:ln w="317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10"/>
            <p:cNvSpPr>
              <a:spLocks noChangeShapeType="1"/>
            </p:cNvSpPr>
            <p:nvPr/>
          </p:nvSpPr>
          <p:spPr bwMode="auto">
            <a:xfrm flipV="1">
              <a:off x="2638" y="981"/>
              <a:ext cx="0" cy="1056"/>
            </a:xfrm>
            <a:prstGeom prst="line">
              <a:avLst/>
            </a:prstGeom>
            <a:noFill/>
            <a:ln w="317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Text Box 13"/>
            <p:cNvSpPr txBox="1">
              <a:spLocks noChangeArrowheads="1"/>
            </p:cNvSpPr>
            <p:nvPr/>
          </p:nvSpPr>
          <p:spPr bwMode="auto">
            <a:xfrm>
              <a:off x="2646" y="981"/>
              <a:ext cx="27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F</a:t>
              </a:r>
              <a:r>
                <a:rPr kumimoji="1" lang="en-US" altLang="zh-CN" sz="2000" baseline="-25000">
                  <a:latin typeface="Times New Roman" panose="02020603050405020304" pitchFamily="18" charset="0"/>
                  <a:ea typeface="楷体_GB2312" pitchFamily="49" charset="-122"/>
                </a:rPr>
                <a:t>1</a:t>
              </a:r>
              <a:endParaRPr kumimoji="1" lang="en-US" altLang="zh-CN" sz="2000">
                <a:latin typeface="楷体_GB2312" pitchFamily="49" charset="-122"/>
                <a:ea typeface="楷体_GB2312" pitchFamily="49" charset="-122"/>
              </a:endParaRPr>
            </a:p>
          </p:txBody>
        </p:sp>
        <p:sp>
          <p:nvSpPr>
            <p:cNvPr id="69" name="Text Box 14"/>
            <p:cNvSpPr txBox="1">
              <a:spLocks noChangeArrowheads="1"/>
            </p:cNvSpPr>
            <p:nvPr/>
          </p:nvSpPr>
          <p:spPr bwMode="auto">
            <a:xfrm>
              <a:off x="3400" y="2095"/>
              <a:ext cx="27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a:latin typeface="Times New Roman" panose="02020603050405020304" pitchFamily="18" charset="0"/>
                  <a:ea typeface="楷体_GB2312" pitchFamily="49" charset="-122"/>
                </a:rPr>
                <a:t>F</a:t>
              </a:r>
              <a:r>
                <a:rPr kumimoji="1" lang="en-US" altLang="zh-CN" sz="2000" baseline="-25000">
                  <a:latin typeface="Times New Roman" panose="02020603050405020304" pitchFamily="18" charset="0"/>
                  <a:ea typeface="楷体_GB2312" pitchFamily="49" charset="-122"/>
                </a:rPr>
                <a:t>2</a:t>
              </a:r>
              <a:endParaRPr kumimoji="1" lang="en-US" altLang="zh-CN" sz="2000">
                <a:latin typeface="楷体_GB2312" pitchFamily="49" charset="-122"/>
                <a:ea typeface="楷体_GB2312" pitchFamily="49" charset="-122"/>
              </a:endParaRPr>
            </a:p>
          </p:txBody>
        </p:sp>
        <p:sp>
          <p:nvSpPr>
            <p:cNvPr id="70" name="Text Box 16"/>
            <p:cNvSpPr txBox="1">
              <a:spLocks noChangeArrowheads="1"/>
            </p:cNvSpPr>
            <p:nvPr/>
          </p:nvSpPr>
          <p:spPr bwMode="auto">
            <a:xfrm>
              <a:off x="2609" y="1958"/>
              <a:ext cx="2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dirty="0">
                  <a:latin typeface="Times New Roman" panose="02020603050405020304" pitchFamily="18" charset="0"/>
                  <a:ea typeface="楷体_GB2312" pitchFamily="49" charset="-122"/>
                </a:rPr>
                <a:t>A</a:t>
              </a:r>
              <a:endParaRPr kumimoji="1" lang="en-US" altLang="zh-CN" sz="2000" b="1" i="1" dirty="0">
                <a:latin typeface="楷体_GB2312" pitchFamily="49" charset="-122"/>
                <a:ea typeface="楷体_GB2312" pitchFamily="49" charset="-122"/>
              </a:endParaRPr>
            </a:p>
          </p:txBody>
        </p:sp>
        <p:sp>
          <p:nvSpPr>
            <p:cNvPr id="71" name="Text Box 17"/>
            <p:cNvSpPr txBox="1">
              <a:spLocks noChangeArrowheads="1"/>
            </p:cNvSpPr>
            <p:nvPr/>
          </p:nvSpPr>
          <p:spPr bwMode="auto">
            <a:xfrm>
              <a:off x="3433" y="1908"/>
              <a:ext cx="2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pPr>
              <a:r>
                <a:rPr kumimoji="1" lang="en-US" altLang="zh-CN" sz="2000" b="1" i="1" dirty="0">
                  <a:latin typeface="Times New Roman" panose="02020603050405020304" pitchFamily="18" charset="0"/>
                  <a:ea typeface="楷体_GB2312" pitchFamily="49" charset="-122"/>
                </a:rPr>
                <a:t>B</a:t>
              </a:r>
              <a:endParaRPr kumimoji="1" lang="en-US" altLang="zh-CN" sz="2000" b="1" i="1" dirty="0">
                <a:latin typeface="楷体_GB2312" pitchFamily="49" charset="-122"/>
                <a:ea typeface="楷体_GB2312" pitchFamily="49" charset="-122"/>
              </a:endParaRPr>
            </a:p>
          </p:txBody>
        </p:sp>
      </p:gr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653" y="1864821"/>
            <a:ext cx="4535604" cy="3960767"/>
          </a:xfrm>
          <a:prstGeom prst="rect">
            <a:avLst/>
          </a:prstGeom>
          <a:solidFill>
            <a:schemeClr val="bg1"/>
          </a:solidFill>
        </p:spPr>
      </p:pic>
      <p:sp>
        <p:nvSpPr>
          <p:cNvPr id="72" name="Text Box 24"/>
          <p:cNvSpPr txBox="1">
            <a:spLocks noChangeArrowheads="1"/>
          </p:cNvSpPr>
          <p:nvPr/>
        </p:nvSpPr>
        <p:spPr bwMode="auto">
          <a:xfrm>
            <a:off x="3516718" y="5415814"/>
            <a:ext cx="4537075" cy="466725"/>
          </a:xfrm>
          <a:prstGeom prst="rect">
            <a:avLst/>
          </a:prstGeom>
          <a:solidFill>
            <a:srgbClr val="FFFF99"/>
          </a:solidFill>
          <a:ln w="9525">
            <a:no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latin typeface="楷体" panose="02010609060101010101" pitchFamily="49" charset="-122"/>
                <a:ea typeface="楷体" panose="02010609060101010101" pitchFamily="49" charset="-122"/>
              </a:rPr>
              <a:t>若两力反向且等值</a:t>
            </a:r>
            <a:r>
              <a:rPr kumimoji="1" lang="en-US" altLang="zh-CN" sz="2400" b="1" dirty="0">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合力是什么</a:t>
            </a:r>
            <a:r>
              <a:rPr kumimoji="1" lang="en-US" altLang="zh-CN" sz="2400"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12187151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375"/>
                                        </p:tgtEl>
                                        <p:attrNameLst>
                                          <p:attrName>style.visibility</p:attrName>
                                        </p:attrNameLst>
                                      </p:cBhvr>
                                      <p:to>
                                        <p:strVal val="visible"/>
                                      </p:to>
                                    </p:set>
                                    <p:animEffect transition="in" filter="box(out)">
                                      <p:cBhvr>
                                        <p:cTn id="7" dur="500"/>
                                        <p:tgtEl>
                                          <p:spTgt spid="153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400"/>
                                        </p:tgtEl>
                                        <p:attrNameLst>
                                          <p:attrName>style.visibility</p:attrName>
                                        </p:attrNameLst>
                                      </p:cBhvr>
                                      <p:to>
                                        <p:strVal val="visible"/>
                                      </p:to>
                                    </p:set>
                                    <p:animEffect transition="in" filter="box(out)">
                                      <p:cBhvr>
                                        <p:cTn id="12" dur="500"/>
                                        <p:tgtEl>
                                          <p:spTgt spid="154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out)">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5399"/>
                                        </p:tgtEl>
                                        <p:attrNameLst>
                                          <p:attrName>style.visibility</p:attrName>
                                        </p:attrNameLst>
                                      </p:cBhvr>
                                      <p:to>
                                        <p:strVal val="visible"/>
                                      </p:to>
                                    </p:set>
                                    <p:animEffect transition="in" filter="box(out)">
                                      <p:cBhvr>
                                        <p:cTn id="27" dur="500"/>
                                        <p:tgtEl>
                                          <p:spTgt spid="153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ox(in)">
                                      <p:cBhvr>
                                        <p:cTn id="32" dur="500"/>
                                        <p:tgtEl>
                                          <p:spTgt spid="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ox(in)">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ox(ou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ox(in)">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dissolve">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box(out)">
                                      <p:cBhvr>
                                        <p:cTn id="57" dur="500"/>
                                        <p:tgtEl>
                                          <p:spTgt spid="59"/>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box(out)">
                                      <p:cBhvr>
                                        <p:cTn id="62" dur="500"/>
                                        <p:tgtEl>
                                          <p:spTgt spid="64"/>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box(out)">
                                      <p:cBhvr>
                                        <p:cTn id="67" dur="500"/>
                                        <p:tgtEl>
                                          <p:spTgt spid="60"/>
                                        </p:tgtEl>
                                      </p:cBhvr>
                                    </p:animEffect>
                                  </p:childTnLst>
                                </p:cTn>
                              </p:par>
                            </p:childTnLst>
                          </p:cTn>
                        </p:par>
                      </p:childTnLst>
                    </p:cTn>
                  </p:par>
                  <p:par>
                    <p:cTn id="68" fill="hold">
                      <p:stCondLst>
                        <p:cond delay="indefinite"/>
                      </p:stCondLst>
                      <p:childTnLst>
                        <p:par>
                          <p:cTn id="69" fill="hold">
                            <p:stCondLst>
                              <p:cond delay="0"/>
                            </p:stCondLst>
                            <p:childTnLst>
                              <p:par>
                                <p:cTn id="70" presetID="51" presetClass="entr" presetSubtype="0" fill="hold" grpId="0" nodeType="clickEffect">
                                  <p:stCondLst>
                                    <p:cond delay="0"/>
                                  </p:stCondLst>
                                  <p:childTnLst>
                                    <p:set>
                                      <p:cBhvr>
                                        <p:cTn id="71" dur="1" fill="hold">
                                          <p:stCondLst>
                                            <p:cond delay="0"/>
                                          </p:stCondLst>
                                        </p:cTn>
                                        <p:tgtEl>
                                          <p:spTgt spid="72"/>
                                        </p:tgtEl>
                                        <p:attrNameLst>
                                          <p:attrName>style.visibility</p:attrName>
                                        </p:attrNameLst>
                                      </p:cBhvr>
                                      <p:to>
                                        <p:strVal val="visible"/>
                                      </p:to>
                                    </p:set>
                                    <p:animEffect transition="in" filter="fade">
                                      <p:cBhvr>
                                        <p:cTn id="72" dur="770" decel="100000"/>
                                        <p:tgtEl>
                                          <p:spTgt spid="72"/>
                                        </p:tgtEl>
                                      </p:cBhvr>
                                    </p:animEffect>
                                    <p:animScale>
                                      <p:cBhvr>
                                        <p:cTn id="73" dur="770" decel="100000"/>
                                        <p:tgtEl>
                                          <p:spTgt spid="72"/>
                                        </p:tgtEl>
                                      </p:cBhvr>
                                      <p:from x="10000" y="10000"/>
                                      <p:to x="200000" y="450000"/>
                                    </p:animScale>
                                    <p:animScale>
                                      <p:cBhvr>
                                        <p:cTn id="74" dur="1230" accel="100000" fill="hold">
                                          <p:stCondLst>
                                            <p:cond delay="770"/>
                                          </p:stCondLst>
                                        </p:cTn>
                                        <p:tgtEl>
                                          <p:spTgt spid="72"/>
                                        </p:tgtEl>
                                      </p:cBhvr>
                                      <p:from x="200000" y="450000"/>
                                      <p:to x="100000" y="100000"/>
                                    </p:animScale>
                                    <p:set>
                                      <p:cBhvr>
                                        <p:cTn id="75" dur="770" fill="hold"/>
                                        <p:tgtEl>
                                          <p:spTgt spid="72"/>
                                        </p:tgtEl>
                                        <p:attrNameLst>
                                          <p:attrName>ppt_x</p:attrName>
                                        </p:attrNameLst>
                                      </p:cBhvr>
                                      <p:to>
                                        <p:strVal val="(0.5)"/>
                                      </p:to>
                                    </p:set>
                                    <p:anim from="(0.5)" to="(#ppt_x)" calcmode="lin" valueType="num">
                                      <p:cBhvr>
                                        <p:cTn id="76" dur="1230" accel="100000" fill="hold">
                                          <p:stCondLst>
                                            <p:cond delay="770"/>
                                          </p:stCondLst>
                                        </p:cTn>
                                        <p:tgtEl>
                                          <p:spTgt spid="72"/>
                                        </p:tgtEl>
                                        <p:attrNameLst>
                                          <p:attrName>ppt_x</p:attrName>
                                        </p:attrNameLst>
                                      </p:cBhvr>
                                    </p:anim>
                                    <p:set>
                                      <p:cBhvr>
                                        <p:cTn id="77" dur="770" fill="hold"/>
                                        <p:tgtEl>
                                          <p:spTgt spid="72"/>
                                        </p:tgtEl>
                                        <p:attrNameLst>
                                          <p:attrName>ppt_y</p:attrName>
                                        </p:attrNameLst>
                                      </p:cBhvr>
                                      <p:to>
                                        <p:strVal val="(#ppt_y+0.4)"/>
                                      </p:to>
                                    </p:set>
                                    <p:anim from="(#ppt_y+0.4)" to="(#ppt_y)" calcmode="lin" valueType="num">
                                      <p:cBhvr>
                                        <p:cTn id="78" dur="1230" accel="100000" fill="hold">
                                          <p:stCondLst>
                                            <p:cond delay="770"/>
                                          </p:stCondLst>
                                        </p:cTn>
                                        <p:tgtEl>
                                          <p:spTgt spid="72"/>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5" grpId="0"/>
      <p:bldP spid="15399" grpId="0"/>
      <p:bldP spid="15400" grpId="0"/>
      <p:bldP spid="59" grpId="0"/>
      <p:bldP spid="7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696083" y="1463854"/>
            <a:ext cx="423671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ts val="600"/>
              </a:spcBef>
            </a:pPr>
            <a:r>
              <a:rPr kumimoji="1" lang="en-US" altLang="zh-CN" sz="2400" dirty="0">
                <a:solidFill>
                  <a:srgbClr val="FF0000"/>
                </a:solidFill>
                <a:latin typeface="Times New Roman" panose="02020603050405020304" pitchFamily="18" charset="0"/>
              </a:rPr>
              <a:t>*</a:t>
            </a:r>
            <a:r>
              <a:rPr kumimoji="1" lang="zh-CN" altLang="en-US" sz="2400" b="1" dirty="0">
                <a:solidFill>
                  <a:srgbClr val="000000"/>
                </a:solidFill>
                <a:latin typeface="楷体" panose="02010609060101010101" pitchFamily="49" charset="-122"/>
                <a:ea typeface="楷体" panose="02010609060101010101" pitchFamily="49" charset="-122"/>
              </a:rPr>
              <a:t>力偶不能合成一个力也不能与一个力平衡</a:t>
            </a:r>
            <a:r>
              <a:rPr kumimoji="1" lang="zh-CN" altLang="en-US" sz="2400" b="1" dirty="0">
                <a:latin typeface="楷体" panose="02010609060101010101" pitchFamily="49" charset="-122"/>
                <a:ea typeface="楷体" panose="02010609060101010101" pitchFamily="49" charset="-122"/>
              </a:rPr>
              <a:t>。</a:t>
            </a:r>
            <a:r>
              <a:rPr kumimoji="1" lang="zh-CN" altLang="en-US" sz="2400" b="1" dirty="0">
                <a:solidFill>
                  <a:srgbClr val="000000"/>
                </a:solidFill>
                <a:latin typeface="楷体" panose="02010609060101010101" pitchFamily="49" charset="-122"/>
                <a:ea typeface="楷体" panose="02010609060101010101" pitchFamily="49" charset="-122"/>
              </a:rPr>
              <a:t>因此，</a:t>
            </a:r>
            <a:r>
              <a:rPr kumimoji="1" lang="zh-CN" altLang="en-US" sz="2400" b="1" dirty="0">
                <a:solidFill>
                  <a:srgbClr val="FF0000"/>
                </a:solidFill>
                <a:latin typeface="楷体" panose="02010609060101010101" pitchFamily="49" charset="-122"/>
                <a:ea typeface="楷体" panose="02010609060101010101" pitchFamily="49" charset="-122"/>
              </a:rPr>
              <a:t>力偶不能与一个力等效</a:t>
            </a:r>
            <a:r>
              <a:rPr kumimoji="1" lang="zh-CN" altLang="en-US" sz="2400" b="1" dirty="0">
                <a:solidFill>
                  <a:srgbClr val="000000"/>
                </a:solidFill>
                <a:latin typeface="楷体" panose="02010609060101010101" pitchFamily="49" charset="-122"/>
                <a:ea typeface="楷体" panose="02010609060101010101" pitchFamily="49" charset="-122"/>
              </a:rPr>
              <a:t>。</a:t>
            </a:r>
          </a:p>
        </p:txBody>
      </p:sp>
      <p:sp>
        <p:nvSpPr>
          <p:cNvPr id="3" name="Text Box 7"/>
          <p:cNvSpPr txBox="1">
            <a:spLocks noChangeArrowheads="1"/>
          </p:cNvSpPr>
          <p:nvPr/>
        </p:nvSpPr>
        <p:spPr bwMode="auto">
          <a:xfrm>
            <a:off x="724163" y="3832494"/>
            <a:ext cx="3886200" cy="457200"/>
          </a:xfrm>
          <a:prstGeom prst="rect">
            <a:avLst/>
          </a:prstGeom>
          <a:noFill/>
          <a:ln w="9525">
            <a:noFill/>
            <a:miter lim="800000"/>
            <a:headEnd/>
            <a:tailEnd/>
          </a:ln>
          <a:effectLst/>
        </p:spPr>
        <p:txBody>
          <a:bodyPr>
            <a:spAutoFit/>
          </a:bodyPr>
          <a:lstStyle/>
          <a:p>
            <a:pPr algn="just" eaLnBrk="1" hangingPunct="1">
              <a:defRPr/>
            </a:pPr>
            <a:r>
              <a:rPr kumimoji="1" lang="en-US" altLang="zh-CN" sz="2400" dirty="0">
                <a:solidFill>
                  <a:srgbClr val="FF0000"/>
                </a:solidFill>
                <a:latin typeface="Times New Roman" pitchFamily="18" charset="0"/>
              </a:rPr>
              <a:t>*</a:t>
            </a:r>
            <a:r>
              <a:rPr kumimoji="1" lang="zh-CN" altLang="en-US" sz="2400" b="1" dirty="0">
                <a:latin typeface="楷体" panose="02010609060101010101" pitchFamily="49" charset="-122"/>
                <a:ea typeface="楷体" panose="02010609060101010101" pitchFamily="49" charset="-122"/>
              </a:rPr>
              <a:t>力偶只能使物体转动</a:t>
            </a:r>
            <a:r>
              <a:rPr kumimoji="1" lang="zh-CN" altLang="en-US" sz="2400" b="1" dirty="0">
                <a:solidFill>
                  <a:srgbClr val="000000"/>
                </a:solidFill>
                <a:latin typeface="楷体" panose="02010609060101010101" pitchFamily="49" charset="-122"/>
                <a:ea typeface="楷体" panose="02010609060101010101" pitchFamily="49" charset="-122"/>
              </a:rPr>
              <a:t>。        </a:t>
            </a:r>
            <a:endParaRPr kumimoji="1" lang="zh-CN" altLang="en-US" sz="2400" b="1" dirty="0">
              <a:solidFill>
                <a:srgbClr val="FF0066"/>
              </a:solidFill>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
        <p:nvSpPr>
          <p:cNvPr id="4" name="Text Box 12"/>
          <p:cNvSpPr txBox="1">
            <a:spLocks noChangeArrowheads="1"/>
          </p:cNvSpPr>
          <p:nvPr/>
        </p:nvSpPr>
        <p:spPr bwMode="auto">
          <a:xfrm>
            <a:off x="710573" y="4482175"/>
            <a:ext cx="41505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ts val="600"/>
              </a:spcBef>
            </a:pPr>
            <a:r>
              <a:rPr kumimoji="1" lang="en-US" altLang="zh-CN" sz="2400" dirty="0">
                <a:solidFill>
                  <a:srgbClr val="FF0000"/>
                </a:solidFill>
                <a:latin typeface="Times New Roman" panose="02020603050405020304" pitchFamily="18" charset="0"/>
              </a:rPr>
              <a:t>*</a:t>
            </a:r>
            <a:r>
              <a:rPr kumimoji="1" lang="zh-CN" altLang="en-US" sz="2400" b="1" dirty="0">
                <a:solidFill>
                  <a:srgbClr val="000000"/>
                </a:solidFill>
                <a:latin typeface="楷体" panose="02010609060101010101" pitchFamily="49" charset="-122"/>
                <a:ea typeface="楷体" panose="02010609060101010101" pitchFamily="49" charset="-122"/>
              </a:rPr>
              <a:t>力偶的三要素</a:t>
            </a:r>
            <a:r>
              <a:rPr kumimoji="1" lang="en-US" altLang="zh-CN" sz="2400" b="1" dirty="0">
                <a:solidFill>
                  <a:srgbClr val="000000"/>
                </a:solidFill>
                <a:latin typeface="楷体" panose="02010609060101010101" pitchFamily="49" charset="-122"/>
                <a:ea typeface="楷体" panose="02010609060101010101" pitchFamily="49" charset="-122"/>
              </a:rPr>
              <a:t>:</a:t>
            </a:r>
            <a:r>
              <a:rPr kumimoji="1" lang="zh-CN" altLang="en-US" sz="2400" b="1" dirty="0">
                <a:solidFill>
                  <a:srgbClr val="000000"/>
                </a:solidFill>
                <a:latin typeface="楷体" panose="02010609060101010101" pitchFamily="49" charset="-122"/>
                <a:ea typeface="楷体" panose="02010609060101010101" pitchFamily="49" charset="-122"/>
              </a:rPr>
              <a:t>力</a:t>
            </a:r>
            <a:r>
              <a:rPr kumimoji="1" lang="zh-CN" altLang="en-US" sz="2400" b="1" dirty="0">
                <a:latin typeface="楷体" panose="02010609060101010101" pitchFamily="49" charset="-122"/>
                <a:ea typeface="楷体" panose="02010609060101010101" pitchFamily="49" charset="-122"/>
              </a:rPr>
              <a:t>、力偶臂、 力偶作用面</a:t>
            </a:r>
          </a:p>
        </p:txBody>
      </p:sp>
      <p:sp>
        <p:nvSpPr>
          <p:cNvPr id="5" name="Text Box 5"/>
          <p:cNvSpPr txBox="1">
            <a:spLocks noChangeArrowheads="1"/>
          </p:cNvSpPr>
          <p:nvPr/>
        </p:nvSpPr>
        <p:spPr bwMode="auto">
          <a:xfrm>
            <a:off x="696083" y="688343"/>
            <a:ext cx="18462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1</a:t>
            </a:r>
            <a:r>
              <a:rPr kumimoji="1" lang="zh-CN" altLang="en-US" sz="2800" b="1" dirty="0">
                <a:solidFill>
                  <a:srgbClr val="0000FF"/>
                </a:solidFill>
                <a:latin typeface="黑体" panose="02010609060101010101" pitchFamily="49" charset="-122"/>
                <a:ea typeface="黑体" panose="02010609060101010101" pitchFamily="49" charset="-122"/>
              </a:rPr>
              <a:t>．力偶</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grpSp>
        <p:nvGrpSpPr>
          <p:cNvPr id="10" name="Group 8"/>
          <p:cNvGrpSpPr>
            <a:grpSpLocks/>
          </p:cNvGrpSpPr>
          <p:nvPr/>
        </p:nvGrpSpPr>
        <p:grpSpPr bwMode="auto">
          <a:xfrm>
            <a:off x="5508104" y="1606819"/>
            <a:ext cx="1528762" cy="2971800"/>
            <a:chOff x="3645" y="1392"/>
            <a:chExt cx="963" cy="1872"/>
          </a:xfrm>
        </p:grpSpPr>
        <p:sp>
          <p:nvSpPr>
            <p:cNvPr id="11" name="Text Box 9"/>
            <p:cNvSpPr txBox="1">
              <a:spLocks noChangeArrowheads="1"/>
            </p:cNvSpPr>
            <p:nvPr/>
          </p:nvSpPr>
          <p:spPr bwMode="auto">
            <a:xfrm>
              <a:off x="3648" y="1920"/>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a:solidFill>
                    <a:srgbClr val="000000"/>
                  </a:solidFill>
                  <a:latin typeface="Times New Roman" panose="02020603050405020304" pitchFamily="18" charset="0"/>
                  <a:ea typeface="宋体" panose="02010600030101010101" pitchFamily="2" charset="-122"/>
                </a:rPr>
                <a:t>A</a:t>
              </a:r>
              <a:endParaRPr lang="en-US" altLang="zh-CN" sz="2000" b="1">
                <a:solidFill>
                  <a:srgbClr val="000000"/>
                </a:solidFill>
                <a:latin typeface="Times New Roman" panose="02020603050405020304" pitchFamily="18" charset="0"/>
                <a:ea typeface="宋体" panose="02010600030101010101" pitchFamily="2" charset="-122"/>
              </a:endParaRPr>
            </a:p>
          </p:txBody>
        </p:sp>
        <p:grpSp>
          <p:nvGrpSpPr>
            <p:cNvPr id="12" name="Group 10"/>
            <p:cNvGrpSpPr>
              <a:grpSpLocks/>
            </p:cNvGrpSpPr>
            <p:nvPr/>
          </p:nvGrpSpPr>
          <p:grpSpPr bwMode="auto">
            <a:xfrm>
              <a:off x="3645" y="1392"/>
              <a:ext cx="963" cy="1872"/>
              <a:chOff x="3645" y="1392"/>
              <a:chExt cx="963" cy="1872"/>
            </a:xfrm>
          </p:grpSpPr>
          <p:sp>
            <p:nvSpPr>
              <p:cNvPr id="13" name="Line 11"/>
              <p:cNvSpPr>
                <a:spLocks noChangeShapeType="1"/>
              </p:cNvSpPr>
              <p:nvPr/>
            </p:nvSpPr>
            <p:spPr bwMode="auto">
              <a:xfrm>
                <a:off x="4413" y="1776"/>
                <a:ext cx="0" cy="1200"/>
              </a:xfrm>
              <a:prstGeom prst="line">
                <a:avLst/>
              </a:prstGeom>
              <a:noFill/>
              <a:ln w="9525">
                <a:solidFill>
                  <a:srgbClr val="C81204"/>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12"/>
              <p:cNvSpPr>
                <a:spLocks noChangeShapeType="1"/>
              </p:cNvSpPr>
              <p:nvPr/>
            </p:nvSpPr>
            <p:spPr bwMode="auto">
              <a:xfrm>
                <a:off x="3807" y="1392"/>
                <a:ext cx="0" cy="1200"/>
              </a:xfrm>
              <a:prstGeom prst="line">
                <a:avLst/>
              </a:prstGeom>
              <a:noFill/>
              <a:ln w="9525">
                <a:solidFill>
                  <a:srgbClr val="C81204"/>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 name="AutoShape 13"/>
              <p:cNvSpPr>
                <a:spLocks noChangeArrowheads="1"/>
              </p:cNvSpPr>
              <p:nvPr/>
            </p:nvSpPr>
            <p:spPr bwMode="auto">
              <a:xfrm>
                <a:off x="3789" y="1680"/>
                <a:ext cx="48" cy="336"/>
              </a:xfrm>
              <a:prstGeom prst="upArrow">
                <a:avLst>
                  <a:gd name="adj1" fmla="val 50000"/>
                  <a:gd name="adj2" fmla="val 175000"/>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16" name="AutoShape 14"/>
              <p:cNvSpPr>
                <a:spLocks noChangeArrowheads="1"/>
              </p:cNvSpPr>
              <p:nvPr/>
            </p:nvSpPr>
            <p:spPr bwMode="auto">
              <a:xfrm flipV="1">
                <a:off x="4389" y="2331"/>
                <a:ext cx="48" cy="336"/>
              </a:xfrm>
              <a:prstGeom prst="upArrow">
                <a:avLst>
                  <a:gd name="adj1" fmla="val 50000"/>
                  <a:gd name="adj2" fmla="val 175000"/>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17" name="Text Box 15"/>
              <p:cNvSpPr txBox="1">
                <a:spLocks noChangeArrowheads="1"/>
              </p:cNvSpPr>
              <p:nvPr/>
            </p:nvSpPr>
            <p:spPr bwMode="auto">
              <a:xfrm>
                <a:off x="3648" y="1632"/>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C81204"/>
                    </a:solidFill>
                    <a:latin typeface="Times New Roman" panose="02020603050405020304" pitchFamily="18" charset="0"/>
                    <a:ea typeface="宋体" panose="02010600030101010101" pitchFamily="2" charset="-122"/>
                  </a:rPr>
                  <a:t>F</a:t>
                </a:r>
                <a:endParaRPr lang="en-US" altLang="zh-CN" sz="2000" dirty="0">
                  <a:solidFill>
                    <a:srgbClr val="C81204"/>
                  </a:solidFill>
                  <a:latin typeface="Times New Roman" panose="02020603050405020304" pitchFamily="18" charset="0"/>
                  <a:ea typeface="宋体" panose="02010600030101010101" pitchFamily="2" charset="-122"/>
                </a:endParaRPr>
              </a:p>
            </p:txBody>
          </p:sp>
          <p:sp>
            <p:nvSpPr>
              <p:cNvPr id="18" name="Text Box 16"/>
              <p:cNvSpPr txBox="1">
                <a:spLocks noChangeArrowheads="1"/>
              </p:cNvSpPr>
              <p:nvPr/>
            </p:nvSpPr>
            <p:spPr bwMode="auto">
              <a:xfrm>
                <a:off x="4229" y="2539"/>
                <a:ext cx="1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C81204"/>
                    </a:solidFill>
                    <a:latin typeface="Times New Roman" panose="02020603050405020304" pitchFamily="18" charset="0"/>
                    <a:ea typeface="宋体" panose="02010600030101010101" pitchFamily="2" charset="-122"/>
                  </a:rPr>
                  <a:t>F</a:t>
                </a:r>
                <a:r>
                  <a:rPr lang="en-US" altLang="zh-CN" sz="2000" i="1" dirty="0">
                    <a:solidFill>
                      <a:srgbClr val="C81204"/>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solidFill>
                    <a:srgbClr val="C81204"/>
                  </a:solidFill>
                  <a:latin typeface="Times New Roman" panose="02020603050405020304" pitchFamily="18" charset="0"/>
                  <a:ea typeface="宋体" panose="02010600030101010101" pitchFamily="2" charset="-122"/>
                </a:endParaRPr>
              </a:p>
            </p:txBody>
          </p:sp>
          <p:sp>
            <p:nvSpPr>
              <p:cNvPr id="19" name="Freeform 17"/>
              <p:cNvSpPr>
                <a:spLocks/>
              </p:cNvSpPr>
              <p:nvPr/>
            </p:nvSpPr>
            <p:spPr bwMode="auto">
              <a:xfrm>
                <a:off x="3645" y="1488"/>
                <a:ext cx="963" cy="1776"/>
              </a:xfrm>
              <a:custGeom>
                <a:avLst/>
                <a:gdLst>
                  <a:gd name="T0" fmla="*/ 0 w 960"/>
                  <a:gd name="T1" fmla="*/ 0 h 2352"/>
                  <a:gd name="T2" fmla="*/ 0 w 960"/>
                  <a:gd name="T3" fmla="*/ 3 h 2352"/>
                  <a:gd name="T4" fmla="*/ 1029 w 960"/>
                  <a:gd name="T5" fmla="*/ 4 h 2352"/>
                  <a:gd name="T6" fmla="*/ 1029 w 960"/>
                  <a:gd name="T7" fmla="*/ 2 h 2352"/>
                  <a:gd name="T8" fmla="*/ 0 w 960"/>
                  <a:gd name="T9" fmla="*/ 0 h 2352"/>
                  <a:gd name="T10" fmla="*/ 0 60000 65536"/>
                  <a:gd name="T11" fmla="*/ 0 60000 65536"/>
                  <a:gd name="T12" fmla="*/ 0 60000 65536"/>
                  <a:gd name="T13" fmla="*/ 0 60000 65536"/>
                  <a:gd name="T14" fmla="*/ 0 60000 65536"/>
                  <a:gd name="T15" fmla="*/ 0 w 960"/>
                  <a:gd name="T16" fmla="*/ 0 h 2352"/>
                  <a:gd name="T17" fmla="*/ 960 w 960"/>
                  <a:gd name="T18" fmla="*/ 2352 h 2352"/>
                </a:gdLst>
                <a:ahLst/>
                <a:cxnLst>
                  <a:cxn ang="T10">
                    <a:pos x="T0" y="T1"/>
                  </a:cxn>
                  <a:cxn ang="T11">
                    <a:pos x="T2" y="T3"/>
                  </a:cxn>
                  <a:cxn ang="T12">
                    <a:pos x="T4" y="T5"/>
                  </a:cxn>
                  <a:cxn ang="T13">
                    <a:pos x="T6" y="T7"/>
                  </a:cxn>
                  <a:cxn ang="T14">
                    <a:pos x="T8" y="T9"/>
                  </a:cxn>
                </a:cxnLst>
                <a:rect l="T15" t="T16" r="T17" b="T18"/>
                <a:pathLst>
                  <a:path w="960" h="2352">
                    <a:moveTo>
                      <a:pt x="0" y="0"/>
                    </a:moveTo>
                    <a:lnTo>
                      <a:pt x="0" y="1680"/>
                    </a:lnTo>
                    <a:lnTo>
                      <a:pt x="960" y="2352"/>
                    </a:lnTo>
                    <a:lnTo>
                      <a:pt x="960" y="720"/>
                    </a:lnTo>
                    <a:lnTo>
                      <a:pt x="0" y="0"/>
                    </a:lnTo>
                    <a:close/>
                  </a:path>
                </a:pathLst>
              </a:custGeom>
              <a:noFill/>
              <a:ln w="9525">
                <a:solidFill>
                  <a:srgbClr val="C81204"/>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0" name="Text Box 18"/>
              <p:cNvSpPr txBox="1">
                <a:spLocks noChangeArrowheads="1"/>
              </p:cNvSpPr>
              <p:nvPr/>
            </p:nvSpPr>
            <p:spPr bwMode="auto">
              <a:xfrm>
                <a:off x="4464" y="2208"/>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a:solidFill>
                      <a:srgbClr val="000000"/>
                    </a:solidFill>
                    <a:latin typeface="Times New Roman" panose="02020603050405020304" pitchFamily="18" charset="0"/>
                    <a:ea typeface="宋体" panose="02010600030101010101" pitchFamily="2" charset="-122"/>
                  </a:rPr>
                  <a:t>B</a:t>
                </a:r>
                <a:endParaRPr lang="en-US" altLang="zh-CN" sz="2000" b="1">
                  <a:solidFill>
                    <a:srgbClr val="000000"/>
                  </a:solidFill>
                  <a:latin typeface="Times New Roman" panose="02020603050405020304" pitchFamily="18" charset="0"/>
                  <a:ea typeface="宋体" panose="02010600030101010101" pitchFamily="2" charset="-122"/>
                </a:endParaRPr>
              </a:p>
            </p:txBody>
          </p:sp>
        </p:grpSp>
      </p:grpSp>
      <p:grpSp>
        <p:nvGrpSpPr>
          <p:cNvPr id="21" name="Group 19"/>
          <p:cNvGrpSpPr>
            <a:grpSpLocks/>
          </p:cNvGrpSpPr>
          <p:nvPr/>
        </p:nvGrpSpPr>
        <p:grpSpPr bwMode="auto">
          <a:xfrm>
            <a:off x="6790806" y="4135707"/>
            <a:ext cx="1595438" cy="339725"/>
            <a:chOff x="4512" y="3050"/>
            <a:chExt cx="1005" cy="214"/>
          </a:xfrm>
        </p:grpSpPr>
        <p:sp>
          <p:nvSpPr>
            <p:cNvPr id="22" name="Text Box 20"/>
            <p:cNvSpPr txBox="1">
              <a:spLocks noChangeArrowheads="1"/>
            </p:cNvSpPr>
            <p:nvPr/>
          </p:nvSpPr>
          <p:spPr bwMode="auto">
            <a:xfrm>
              <a:off x="4704" y="3050"/>
              <a:ext cx="81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zh-CN" altLang="en-US" sz="2000" b="1" dirty="0">
                  <a:solidFill>
                    <a:srgbClr val="000000"/>
                  </a:solidFill>
                  <a:latin typeface="楷体" panose="02010609060101010101" pitchFamily="49" charset="-122"/>
                  <a:ea typeface="楷体" panose="02010609060101010101" pitchFamily="49" charset="-122"/>
                </a:rPr>
                <a:t>力偶作用面</a:t>
              </a:r>
            </a:p>
          </p:txBody>
        </p:sp>
        <p:sp>
          <p:nvSpPr>
            <p:cNvPr id="23" name="Freeform 21"/>
            <p:cNvSpPr>
              <a:spLocks/>
            </p:cNvSpPr>
            <p:nvPr/>
          </p:nvSpPr>
          <p:spPr bwMode="auto">
            <a:xfrm>
              <a:off x="4512" y="3120"/>
              <a:ext cx="816" cy="144"/>
            </a:xfrm>
            <a:custGeom>
              <a:avLst/>
              <a:gdLst>
                <a:gd name="T0" fmla="*/ 0 w 816"/>
                <a:gd name="T1" fmla="*/ 0 h 144"/>
                <a:gd name="T2" fmla="*/ 192 w 816"/>
                <a:gd name="T3" fmla="*/ 144 h 144"/>
                <a:gd name="T4" fmla="*/ 816 w 816"/>
                <a:gd name="T5" fmla="*/ 144 h 144"/>
                <a:gd name="T6" fmla="*/ 0 60000 65536"/>
                <a:gd name="T7" fmla="*/ 0 60000 65536"/>
                <a:gd name="T8" fmla="*/ 0 60000 65536"/>
                <a:gd name="T9" fmla="*/ 0 w 816"/>
                <a:gd name="T10" fmla="*/ 0 h 144"/>
                <a:gd name="T11" fmla="*/ 816 w 816"/>
                <a:gd name="T12" fmla="*/ 144 h 144"/>
              </a:gdLst>
              <a:ahLst/>
              <a:cxnLst>
                <a:cxn ang="T6">
                  <a:pos x="T0" y="T1"/>
                </a:cxn>
                <a:cxn ang="T7">
                  <a:pos x="T2" y="T3"/>
                </a:cxn>
                <a:cxn ang="T8">
                  <a:pos x="T4" y="T5"/>
                </a:cxn>
              </a:cxnLst>
              <a:rect l="T9" t="T10" r="T11" b="T12"/>
              <a:pathLst>
                <a:path w="816" h="144">
                  <a:moveTo>
                    <a:pt x="0" y="0"/>
                  </a:moveTo>
                  <a:lnTo>
                    <a:pt x="192" y="144"/>
                  </a:lnTo>
                  <a:lnTo>
                    <a:pt x="816" y="144"/>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24" name="Group 22"/>
          <p:cNvGrpSpPr>
            <a:grpSpLocks/>
          </p:cNvGrpSpPr>
          <p:nvPr/>
        </p:nvGrpSpPr>
        <p:grpSpPr bwMode="auto">
          <a:xfrm>
            <a:off x="5744641" y="1705244"/>
            <a:ext cx="976313" cy="541338"/>
            <a:chOff x="3792" y="1488"/>
            <a:chExt cx="615" cy="341"/>
          </a:xfrm>
        </p:grpSpPr>
        <p:sp>
          <p:nvSpPr>
            <p:cNvPr id="25" name="Line 23"/>
            <p:cNvSpPr>
              <a:spLocks noChangeShapeType="1"/>
            </p:cNvSpPr>
            <p:nvPr/>
          </p:nvSpPr>
          <p:spPr bwMode="auto">
            <a:xfrm>
              <a:off x="3792" y="1488"/>
              <a:ext cx="615" cy="341"/>
            </a:xfrm>
            <a:prstGeom prst="line">
              <a:avLst/>
            </a:prstGeom>
            <a:noFill/>
            <a:ln w="9525">
              <a:solidFill>
                <a:schemeClr val="tx1"/>
              </a:solidFill>
              <a:miter lim="800000"/>
              <a:headEnd type="triangl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6" name="Text Box 24"/>
            <p:cNvSpPr txBox="1">
              <a:spLocks noChangeArrowheads="1"/>
            </p:cNvSpPr>
            <p:nvPr/>
          </p:nvSpPr>
          <p:spPr bwMode="auto">
            <a:xfrm>
              <a:off x="4134" y="1493"/>
              <a:ext cx="9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d</a:t>
              </a:r>
            </a:p>
          </p:txBody>
        </p:sp>
      </p:grpSp>
      <p:sp>
        <p:nvSpPr>
          <p:cNvPr id="27" name="Text Box 6"/>
          <p:cNvSpPr txBox="1">
            <a:spLocks noChangeArrowheads="1"/>
          </p:cNvSpPr>
          <p:nvPr/>
        </p:nvSpPr>
        <p:spPr bwMode="auto">
          <a:xfrm>
            <a:off x="696083" y="2791520"/>
            <a:ext cx="423671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ts val="600"/>
              </a:spcBef>
            </a:pPr>
            <a:r>
              <a:rPr kumimoji="1" lang="en-US" altLang="zh-CN" sz="2400" dirty="0">
                <a:solidFill>
                  <a:srgbClr val="FF0000"/>
                </a:solidFill>
                <a:latin typeface="Times New Roman" panose="02020603050405020304" pitchFamily="18" charset="0"/>
              </a:rPr>
              <a:t>*</a:t>
            </a:r>
            <a:r>
              <a:rPr kumimoji="1" lang="zh-CN" altLang="en-US" sz="2400" b="1" dirty="0">
                <a:solidFill>
                  <a:srgbClr val="000000"/>
                </a:solidFill>
                <a:latin typeface="楷体" panose="02010609060101010101" pitchFamily="49" charset="-122"/>
                <a:ea typeface="楷体" panose="02010609060101010101" pitchFamily="49" charset="-122"/>
              </a:rPr>
              <a:t>力偶</a:t>
            </a:r>
            <a:r>
              <a:rPr lang="zh-CN" altLang="en-US" b="1" dirty="0">
                <a:solidFill>
                  <a:srgbClr val="000000"/>
                </a:solidFill>
                <a:latin typeface="楷体" panose="02010609060101010101" pitchFamily="49" charset="-122"/>
                <a:ea typeface="楷体" panose="02010609060101010101" pitchFamily="49" charset="-122"/>
              </a:rPr>
              <a:t>与力是两个基本力学量，是一种不能再简化的简单力系</a:t>
            </a:r>
            <a:r>
              <a:rPr kumimoji="1" lang="zh-CN" altLang="en-US" sz="2400" b="1" dirty="0">
                <a:latin typeface="楷体" panose="02010609060101010101" pitchFamily="49" charset="-122"/>
                <a:ea typeface="楷体" panose="02010609060101010101" pitchFamily="49" charset="-122"/>
              </a:rPr>
              <a:t>。</a:t>
            </a:r>
            <a:endParaRPr kumimoji="1" lang="zh-CN" altLang="en-US" sz="2400" b="1" dirty="0">
              <a:solidFill>
                <a:srgbClr val="00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29666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box(out)">
                                      <p:cBhvr>
                                        <p:cTn id="11" dur="500"/>
                                        <p:tgtEl>
                                          <p:spTgt spid="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27">
                                            <p:txEl>
                                              <p:pRg st="0" end="0"/>
                                            </p:txEl>
                                          </p:spTgt>
                                        </p:tgtEl>
                                        <p:attrNameLst>
                                          <p:attrName>style.visibility</p:attrName>
                                        </p:attrNameLst>
                                      </p:cBhvr>
                                      <p:to>
                                        <p:strVal val="visible"/>
                                      </p:to>
                                    </p:set>
                                    <p:animEffect transition="in" filter="box(out)">
                                      <p:cBhvr>
                                        <p:cTn id="16" dur="500"/>
                                        <p:tgtEl>
                                          <p:spTgt spid="2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box(out)">
                                      <p:cBhvr>
                                        <p:cTn id="21" dur="5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Effect transition="in" filter="box(out)">
                                      <p:cBhvr>
                                        <p:cTn id="26" dur="500"/>
                                        <p:tgtEl>
                                          <p:spTgt spid="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box(out)">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box(out)">
                                      <p:cBhvr>
                                        <p:cTn id="3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3" grpId="0" build="p" autoUpdateAnimBg="0"/>
      <p:bldP spid="4" grpId="0" build="p" autoUpdateAnimBg="0"/>
      <p:bldP spid="2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78"/>
          <p:cNvGrpSpPr>
            <a:grpSpLocks/>
          </p:cNvGrpSpPr>
          <p:nvPr/>
        </p:nvGrpSpPr>
        <p:grpSpPr bwMode="auto">
          <a:xfrm>
            <a:off x="5072063" y="714375"/>
            <a:ext cx="3633787" cy="3822700"/>
            <a:chOff x="3279" y="760"/>
            <a:chExt cx="2289" cy="2408"/>
          </a:xfrm>
        </p:grpSpPr>
        <p:pic>
          <p:nvPicPr>
            <p:cNvPr id="31770" name="Picture 53" descr="2-10"/>
            <p:cNvPicPr>
              <a:picLocks noChangeAspect="1" noChangeArrowheads="1"/>
            </p:cNvPicPr>
            <p:nvPr/>
          </p:nvPicPr>
          <p:blipFill>
            <a:blip r:embed="rId3">
              <a:lum bright="-6000" contrast="42000"/>
              <a:extLst>
                <a:ext uri="{28A0092B-C50C-407E-A947-70E740481C1C}">
                  <a14:useLocalDpi xmlns:a14="http://schemas.microsoft.com/office/drawing/2010/main" val="0"/>
                </a:ext>
              </a:extLst>
            </a:blip>
            <a:srcRect/>
            <a:stretch>
              <a:fillRect/>
            </a:stretch>
          </p:blipFill>
          <p:spPr bwMode="auto">
            <a:xfrm>
              <a:off x="3279" y="760"/>
              <a:ext cx="2289" cy="240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1771" name="Line 69"/>
            <p:cNvSpPr>
              <a:spLocks noChangeShapeType="1"/>
            </p:cNvSpPr>
            <p:nvPr/>
          </p:nvSpPr>
          <p:spPr bwMode="auto">
            <a:xfrm>
              <a:off x="3924" y="1593"/>
              <a:ext cx="1116" cy="205"/>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72" name="Line 70"/>
            <p:cNvSpPr>
              <a:spLocks noChangeShapeType="1"/>
            </p:cNvSpPr>
            <p:nvPr/>
          </p:nvSpPr>
          <p:spPr bwMode="auto">
            <a:xfrm>
              <a:off x="4320" y="2256"/>
              <a:ext cx="672" cy="144"/>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73" name="Text Box 72"/>
            <p:cNvSpPr txBox="1">
              <a:spLocks noChangeArrowheads="1"/>
            </p:cNvSpPr>
            <p:nvPr/>
          </p:nvSpPr>
          <p:spPr bwMode="auto">
            <a:xfrm>
              <a:off x="4944" y="192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400" i="1">
                  <a:solidFill>
                    <a:srgbClr val="C507B7"/>
                  </a:solidFill>
                  <a:latin typeface="Times New Roman" panose="02020603050405020304" pitchFamily="18" charset="0"/>
                  <a:ea typeface="宋体" panose="02010600030101010101" pitchFamily="2" charset="-122"/>
                </a:rPr>
                <a:t>d</a:t>
              </a:r>
            </a:p>
          </p:txBody>
        </p:sp>
        <p:sp>
          <p:nvSpPr>
            <p:cNvPr id="31774" name="Line 73"/>
            <p:cNvSpPr>
              <a:spLocks noChangeShapeType="1"/>
            </p:cNvSpPr>
            <p:nvPr/>
          </p:nvSpPr>
          <p:spPr bwMode="auto">
            <a:xfrm flipH="1" flipV="1">
              <a:off x="4142" y="1371"/>
              <a:ext cx="247" cy="885"/>
            </a:xfrm>
            <a:prstGeom prst="line">
              <a:avLst/>
            </a:prstGeom>
            <a:noFill/>
            <a:ln w="9525">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775" name="Line 74"/>
            <p:cNvSpPr>
              <a:spLocks noChangeShapeType="1"/>
            </p:cNvSpPr>
            <p:nvPr/>
          </p:nvSpPr>
          <p:spPr bwMode="auto">
            <a:xfrm flipH="1">
              <a:off x="4836" y="1776"/>
              <a:ext cx="123" cy="592"/>
            </a:xfrm>
            <a:prstGeom prst="line">
              <a:avLst/>
            </a:prstGeom>
            <a:noFill/>
            <a:ln w="9525">
              <a:solidFill>
                <a:srgbClr val="FF00FF"/>
              </a:solidFill>
              <a:miter lim="800000"/>
              <a:headEnd type="triangl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1776" name="Text Box 75"/>
            <p:cNvSpPr txBox="1">
              <a:spLocks noChangeArrowheads="1"/>
            </p:cNvSpPr>
            <p:nvPr/>
          </p:nvSpPr>
          <p:spPr bwMode="auto">
            <a:xfrm>
              <a:off x="4071" y="1431"/>
              <a:ext cx="7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400" i="1">
                  <a:solidFill>
                    <a:srgbClr val="C507B7"/>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400" i="1">
                <a:solidFill>
                  <a:srgbClr val="C507B7"/>
                </a:solidFill>
                <a:latin typeface="Times New Roman" panose="02020603050405020304" pitchFamily="18" charset="0"/>
                <a:ea typeface="宋体" panose="02010600030101010101" pitchFamily="2" charset="-122"/>
              </a:endParaRPr>
            </a:p>
          </p:txBody>
        </p:sp>
        <p:sp>
          <p:nvSpPr>
            <p:cNvPr id="31777" name="Freeform 76"/>
            <p:cNvSpPr>
              <a:spLocks/>
            </p:cNvSpPr>
            <p:nvPr/>
          </p:nvSpPr>
          <p:spPr bwMode="auto">
            <a:xfrm rot="-1200000">
              <a:off x="4062" y="1542"/>
              <a:ext cx="123" cy="47"/>
            </a:xfrm>
            <a:custGeom>
              <a:avLst/>
              <a:gdLst>
                <a:gd name="T0" fmla="*/ 1 w 171"/>
                <a:gd name="T1" fmla="*/ 1 h 68"/>
                <a:gd name="T2" fmla="*/ 1 w 171"/>
                <a:gd name="T3" fmla="*/ 1 h 68"/>
                <a:gd name="T4" fmla="*/ 1 w 171"/>
                <a:gd name="T5" fmla="*/ 1 h 68"/>
                <a:gd name="T6" fmla="*/ 0 w 171"/>
                <a:gd name="T7" fmla="*/ 1 h 68"/>
                <a:gd name="T8" fmla="*/ 0 60000 65536"/>
                <a:gd name="T9" fmla="*/ 0 60000 65536"/>
                <a:gd name="T10" fmla="*/ 0 60000 65536"/>
                <a:gd name="T11" fmla="*/ 0 60000 65536"/>
                <a:gd name="T12" fmla="*/ 0 w 171"/>
                <a:gd name="T13" fmla="*/ 0 h 68"/>
                <a:gd name="T14" fmla="*/ 171 w 171"/>
                <a:gd name="T15" fmla="*/ 68 h 68"/>
              </a:gdLst>
              <a:ahLst/>
              <a:cxnLst>
                <a:cxn ang="T8">
                  <a:pos x="T0" y="T1"/>
                </a:cxn>
                <a:cxn ang="T9">
                  <a:pos x="T2" y="T3"/>
                </a:cxn>
                <a:cxn ang="T10">
                  <a:pos x="T4" y="T5"/>
                </a:cxn>
                <a:cxn ang="T11">
                  <a:pos x="T6" y="T7"/>
                </a:cxn>
              </a:cxnLst>
              <a:rect l="T12" t="T13" r="T14" b="T15"/>
              <a:pathLst>
                <a:path w="171" h="68">
                  <a:moveTo>
                    <a:pt x="171" y="38"/>
                  </a:moveTo>
                  <a:cubicBezTo>
                    <a:pt x="152" y="23"/>
                    <a:pt x="134" y="8"/>
                    <a:pt x="109" y="4"/>
                  </a:cubicBezTo>
                  <a:cubicBezTo>
                    <a:pt x="84" y="0"/>
                    <a:pt x="36" y="2"/>
                    <a:pt x="18" y="13"/>
                  </a:cubicBezTo>
                  <a:cubicBezTo>
                    <a:pt x="0" y="24"/>
                    <a:pt x="1" y="60"/>
                    <a:pt x="0" y="68"/>
                  </a:cubicBezTo>
                </a:path>
              </a:pathLst>
            </a:cu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3" name="Group 54"/>
          <p:cNvGrpSpPr>
            <a:grpSpLocks/>
          </p:cNvGrpSpPr>
          <p:nvPr/>
        </p:nvGrpSpPr>
        <p:grpSpPr bwMode="auto">
          <a:xfrm>
            <a:off x="4599820" y="2616571"/>
            <a:ext cx="455613" cy="512763"/>
            <a:chOff x="469" y="2509"/>
            <a:chExt cx="287" cy="323"/>
          </a:xfrm>
        </p:grpSpPr>
        <p:sp>
          <p:nvSpPr>
            <p:cNvPr id="31768" name="Text Box 55"/>
            <p:cNvSpPr txBox="1">
              <a:spLocks noChangeArrowheads="1"/>
            </p:cNvSpPr>
            <p:nvPr/>
          </p:nvSpPr>
          <p:spPr bwMode="auto">
            <a:xfrm>
              <a:off x="469" y="2509"/>
              <a:ext cx="28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000" b="1" i="1" dirty="0">
                  <a:solidFill>
                    <a:srgbClr val="0000FF"/>
                  </a:solidFill>
                  <a:latin typeface="Times New Roman" panose="02020603050405020304" pitchFamily="18" charset="0"/>
                  <a:ea typeface="幼圆_GB2312" pitchFamily="2" charset="-122"/>
                  <a:sym typeface="UniversalMath1 BT" pitchFamily="18" charset="2"/>
                </a:rPr>
                <a:t>O</a:t>
              </a:r>
              <a:r>
                <a:rPr lang="en-US" altLang="zh-CN" sz="2000" b="1" baseline="-25000" dirty="0">
                  <a:solidFill>
                    <a:srgbClr val="0000FF"/>
                  </a:solidFill>
                  <a:latin typeface="Times New Roman" panose="02020603050405020304" pitchFamily="18" charset="0"/>
                  <a:ea typeface="幼圆_GB2312" pitchFamily="2" charset="-122"/>
                  <a:sym typeface="UniversalMath1 BT" pitchFamily="18" charset="2"/>
                </a:rPr>
                <a:t>1</a:t>
              </a:r>
              <a:endParaRPr lang="en-US" altLang="zh-CN" sz="2000" dirty="0">
                <a:solidFill>
                  <a:srgbClr val="0000FF"/>
                </a:solidFill>
                <a:latin typeface="Times New Roman" panose="02020603050405020304" pitchFamily="18" charset="0"/>
                <a:ea typeface="幼圆_GB2312" pitchFamily="2" charset="-122"/>
                <a:sym typeface="UniversalMath1 BT" pitchFamily="18" charset="2"/>
              </a:endParaRPr>
            </a:p>
          </p:txBody>
        </p:sp>
        <p:sp>
          <p:nvSpPr>
            <p:cNvPr id="31769" name="Oval 56"/>
            <p:cNvSpPr>
              <a:spLocks noChangeArrowheads="1"/>
            </p:cNvSpPr>
            <p:nvPr/>
          </p:nvSpPr>
          <p:spPr bwMode="auto">
            <a:xfrm>
              <a:off x="672" y="2784"/>
              <a:ext cx="48" cy="48"/>
            </a:xfrm>
            <a:prstGeom prst="ellipse">
              <a:avLst/>
            </a:prstGeom>
            <a:solidFill>
              <a:srgbClr val="FF0066"/>
            </a:solidFill>
            <a:ln w="12700">
              <a:solidFill>
                <a:srgbClr val="00FFCC"/>
              </a:solidFill>
              <a:round/>
              <a:headEnd type="none" w="sm" len="sm"/>
              <a:tailEnd type="none" w="sm" len="sm"/>
            </a:ln>
          </p:spPr>
          <p:txBody>
            <a:bodyPr anchor="ct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graphicFrame>
        <p:nvGraphicFramePr>
          <p:cNvPr id="62521" name="Object 57"/>
          <p:cNvGraphicFramePr>
            <a:graphicFrameLocks noChangeAspect="1"/>
          </p:cNvGraphicFramePr>
          <p:nvPr>
            <p:extLst>
              <p:ext uri="{D42A27DB-BD31-4B8C-83A1-F6EECF244321}">
                <p14:modId xmlns:p14="http://schemas.microsoft.com/office/powerpoint/2010/main" val="3849680617"/>
              </p:ext>
            </p:extLst>
          </p:nvPr>
        </p:nvGraphicFramePr>
        <p:xfrm>
          <a:off x="1149350" y="2190185"/>
          <a:ext cx="2824162" cy="424287"/>
        </p:xfrm>
        <a:graphic>
          <a:graphicData uri="http://schemas.openxmlformats.org/presentationml/2006/ole">
            <mc:AlternateContent xmlns:mc="http://schemas.openxmlformats.org/markup-compatibility/2006">
              <mc:Choice xmlns:v="urn:schemas-microsoft-com:vml" Requires="v">
                <p:oleObj spid="_x0000_s14374" name="Equation" r:id="rId4" imgW="1476375" imgH="180975" progId="Equation.DSMT4">
                  <p:embed/>
                </p:oleObj>
              </mc:Choice>
              <mc:Fallback>
                <p:oleObj name="Equation" r:id="rId4" imgW="1476375" imgH="180975"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9350" y="2190185"/>
                        <a:ext cx="2824162" cy="424287"/>
                      </a:xfrm>
                      <a:prstGeom prst="rect">
                        <a:avLst/>
                      </a:prstGeom>
                      <a:noFill/>
                      <a:ln>
                        <a:noFill/>
                      </a:ln>
                      <a:effectLst/>
                    </p:spPr>
                  </p:pic>
                </p:oleObj>
              </mc:Fallback>
            </mc:AlternateContent>
          </a:graphicData>
        </a:graphic>
      </p:graphicFrame>
      <p:graphicFrame>
        <p:nvGraphicFramePr>
          <p:cNvPr id="62522" name="Object 58"/>
          <p:cNvGraphicFramePr>
            <a:graphicFrameLocks noChangeAspect="1"/>
          </p:cNvGraphicFramePr>
          <p:nvPr>
            <p:extLst>
              <p:ext uri="{D42A27DB-BD31-4B8C-83A1-F6EECF244321}">
                <p14:modId xmlns:p14="http://schemas.microsoft.com/office/powerpoint/2010/main" val="2624442210"/>
              </p:ext>
            </p:extLst>
          </p:nvPr>
        </p:nvGraphicFramePr>
        <p:xfrm>
          <a:off x="1611226" y="2630582"/>
          <a:ext cx="2247900" cy="477837"/>
        </p:xfrm>
        <a:graphic>
          <a:graphicData uri="http://schemas.openxmlformats.org/presentationml/2006/ole">
            <mc:AlternateContent xmlns:mc="http://schemas.openxmlformats.org/markup-compatibility/2006">
              <mc:Choice xmlns:v="urn:schemas-microsoft-com:vml" Requires="v">
                <p:oleObj spid="_x0000_s14375" name="Equation" r:id="rId6" imgW="971550" imgH="171450" progId="Equation.DSMT4">
                  <p:embed/>
                </p:oleObj>
              </mc:Choice>
              <mc:Fallback>
                <p:oleObj name="Equation" r:id="rId6" imgW="971550" imgH="17145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1226" y="2630582"/>
                        <a:ext cx="2247900"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523" name="Object 59"/>
          <p:cNvGraphicFramePr>
            <a:graphicFrameLocks noChangeAspect="1"/>
          </p:cNvGraphicFramePr>
          <p:nvPr>
            <p:extLst>
              <p:ext uri="{D42A27DB-BD31-4B8C-83A1-F6EECF244321}">
                <p14:modId xmlns:p14="http://schemas.microsoft.com/office/powerpoint/2010/main" val="2645004946"/>
              </p:ext>
            </p:extLst>
          </p:nvPr>
        </p:nvGraphicFramePr>
        <p:xfrm>
          <a:off x="1637996" y="3115779"/>
          <a:ext cx="2104281" cy="465142"/>
        </p:xfrm>
        <a:graphic>
          <a:graphicData uri="http://schemas.openxmlformats.org/presentationml/2006/ole">
            <mc:AlternateContent xmlns:mc="http://schemas.openxmlformats.org/markup-compatibility/2006">
              <mc:Choice xmlns:v="urn:schemas-microsoft-com:vml" Requires="v">
                <p:oleObj spid="_x0000_s14376" name="Equation" r:id="rId8" imgW="933450" imgH="171450" progId="Equation.DSMT4">
                  <p:embed/>
                </p:oleObj>
              </mc:Choice>
              <mc:Fallback>
                <p:oleObj name="Equation" r:id="rId8" imgW="933450" imgH="17145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37996" y="3115779"/>
                        <a:ext cx="2104281" cy="465142"/>
                      </a:xfrm>
                      <a:prstGeom prst="rect">
                        <a:avLst/>
                      </a:prstGeom>
                      <a:noFill/>
                      <a:ln>
                        <a:noFill/>
                      </a:ln>
                      <a:effectLst/>
                    </p:spPr>
                  </p:pic>
                </p:oleObj>
              </mc:Fallback>
            </mc:AlternateContent>
          </a:graphicData>
        </a:graphic>
      </p:graphicFrame>
      <p:graphicFrame>
        <p:nvGraphicFramePr>
          <p:cNvPr id="62524" name="Object 60"/>
          <p:cNvGraphicFramePr>
            <a:graphicFrameLocks noChangeAspect="1"/>
          </p:cNvGraphicFramePr>
          <p:nvPr>
            <p:extLst>
              <p:ext uri="{D42A27DB-BD31-4B8C-83A1-F6EECF244321}">
                <p14:modId xmlns:p14="http://schemas.microsoft.com/office/powerpoint/2010/main" val="1728632299"/>
              </p:ext>
            </p:extLst>
          </p:nvPr>
        </p:nvGraphicFramePr>
        <p:xfrm>
          <a:off x="1611226" y="3606986"/>
          <a:ext cx="1840857" cy="461052"/>
        </p:xfrm>
        <a:graphic>
          <a:graphicData uri="http://schemas.openxmlformats.org/presentationml/2006/ole">
            <mc:AlternateContent xmlns:mc="http://schemas.openxmlformats.org/markup-compatibility/2006">
              <mc:Choice xmlns:v="urn:schemas-microsoft-com:vml" Requires="v">
                <p:oleObj spid="_x0000_s14377" name="Equation" r:id="rId10" imgW="819150" imgH="171450" progId="Equation.DSMT4">
                  <p:embed/>
                </p:oleObj>
              </mc:Choice>
              <mc:Fallback>
                <p:oleObj name="Equation" r:id="rId10" imgW="819150" imgH="17145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11226" y="3606986"/>
                        <a:ext cx="1840857" cy="461052"/>
                      </a:xfrm>
                      <a:prstGeom prst="rect">
                        <a:avLst/>
                      </a:prstGeom>
                      <a:noFill/>
                      <a:ln>
                        <a:noFill/>
                      </a:ln>
                      <a:effectLst/>
                    </p:spPr>
                  </p:pic>
                </p:oleObj>
              </mc:Fallback>
            </mc:AlternateContent>
          </a:graphicData>
        </a:graphic>
      </p:graphicFrame>
      <p:graphicFrame>
        <p:nvGraphicFramePr>
          <p:cNvPr id="62525" name="Object 61"/>
          <p:cNvGraphicFramePr>
            <a:graphicFrameLocks noChangeAspect="1"/>
          </p:cNvGraphicFramePr>
          <p:nvPr>
            <p:extLst>
              <p:ext uri="{D42A27DB-BD31-4B8C-83A1-F6EECF244321}">
                <p14:modId xmlns:p14="http://schemas.microsoft.com/office/powerpoint/2010/main" val="68774836"/>
              </p:ext>
            </p:extLst>
          </p:nvPr>
        </p:nvGraphicFramePr>
        <p:xfrm>
          <a:off x="1614401" y="4092582"/>
          <a:ext cx="1120775" cy="415925"/>
        </p:xfrm>
        <a:graphic>
          <a:graphicData uri="http://schemas.openxmlformats.org/presentationml/2006/ole">
            <mc:AlternateContent xmlns:mc="http://schemas.openxmlformats.org/markup-compatibility/2006">
              <mc:Choice xmlns:v="urn:schemas-microsoft-com:vml" Requires="v">
                <p:oleObj spid="_x0000_s14378" name="Equation" r:id="rId12" imgW="533400" imgH="171450" progId="Equation.DSMT4">
                  <p:embed/>
                </p:oleObj>
              </mc:Choice>
              <mc:Fallback>
                <p:oleObj name="Equation" r:id="rId12" imgW="533400" imgH="17145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14401" y="4092582"/>
                        <a:ext cx="1120775"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529" name="Text Box 65"/>
          <p:cNvSpPr txBox="1">
            <a:spLocks noChangeArrowheads="1"/>
          </p:cNvSpPr>
          <p:nvPr/>
        </p:nvSpPr>
        <p:spPr bwMode="auto">
          <a:xfrm>
            <a:off x="2744788" y="5050314"/>
            <a:ext cx="3979862" cy="457200"/>
          </a:xfrm>
          <a:prstGeom prst="rect">
            <a:avLst/>
          </a:prstGeom>
          <a:noFill/>
          <a:ln>
            <a:noFill/>
          </a:ln>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r>
              <a:rPr kumimoji="0" lang="zh-CN" altLang="en-US" b="1" dirty="0">
                <a:solidFill>
                  <a:srgbClr val="FF0000"/>
                </a:solidFill>
                <a:latin typeface="楷体" panose="02010609060101010101" pitchFamily="49" charset="-122"/>
                <a:ea typeface="楷体" panose="02010609060101010101" pitchFamily="49" charset="-122"/>
              </a:rPr>
              <a:t>力偶矩与矩心的位置无关。 </a:t>
            </a:r>
          </a:p>
        </p:txBody>
      </p:sp>
      <p:graphicFrame>
        <p:nvGraphicFramePr>
          <p:cNvPr id="62531" name="Object 67"/>
          <p:cNvGraphicFramePr>
            <a:graphicFrameLocks noChangeAspect="1"/>
          </p:cNvGraphicFramePr>
          <p:nvPr>
            <p:extLst>
              <p:ext uri="{D42A27DB-BD31-4B8C-83A1-F6EECF244321}">
                <p14:modId xmlns:p14="http://schemas.microsoft.com/office/powerpoint/2010/main" val="605732191"/>
              </p:ext>
            </p:extLst>
          </p:nvPr>
        </p:nvGraphicFramePr>
        <p:xfrm>
          <a:off x="2964002" y="5616983"/>
          <a:ext cx="2952328" cy="555271"/>
        </p:xfrm>
        <a:graphic>
          <a:graphicData uri="http://schemas.openxmlformats.org/presentationml/2006/ole">
            <mc:AlternateContent xmlns:mc="http://schemas.openxmlformats.org/markup-compatibility/2006">
              <mc:Choice xmlns:v="urn:schemas-microsoft-com:vml" Requires="v">
                <p:oleObj spid="_x0000_s14379" name="Equation" r:id="rId14" imgW="1384200" imgH="228600" progId="Equation.DSMT4">
                  <p:embed/>
                </p:oleObj>
              </mc:Choice>
              <mc:Fallback>
                <p:oleObj name="Equation" r:id="rId14" imgW="1384200" imgH="228600" progId="Equation.DSMT4">
                  <p:embed/>
                  <p:pic>
                    <p:nvPicPr>
                      <p:cNvPr id="0" name=""/>
                      <p:cNvPicPr>
                        <a:picLocks noChangeAspect="1" noChangeArrowheads="1"/>
                      </p:cNvPicPr>
                      <p:nvPr/>
                    </p:nvPicPr>
                    <p:blipFill>
                      <a:blip r:embed="rId15"/>
                      <a:srcRect/>
                      <a:stretch>
                        <a:fillRect/>
                      </a:stretch>
                    </p:blipFill>
                    <p:spPr bwMode="auto">
                      <a:xfrm>
                        <a:off x="2964002" y="5616983"/>
                        <a:ext cx="2952328" cy="555271"/>
                      </a:xfrm>
                      <a:prstGeom prst="rect">
                        <a:avLst/>
                      </a:prstGeom>
                      <a:noFill/>
                      <a:ln>
                        <a:noFill/>
                      </a:ln>
                      <a:effectLst/>
                    </p:spPr>
                  </p:pic>
                </p:oleObj>
              </mc:Fallback>
            </mc:AlternateContent>
          </a:graphicData>
        </a:graphic>
      </p:graphicFrame>
      <p:graphicFrame>
        <p:nvGraphicFramePr>
          <p:cNvPr id="62544" name="Object 80"/>
          <p:cNvGraphicFramePr>
            <a:graphicFrameLocks noChangeAspect="1"/>
          </p:cNvGraphicFramePr>
          <p:nvPr>
            <p:extLst>
              <p:ext uri="{D42A27DB-BD31-4B8C-83A1-F6EECF244321}">
                <p14:modId xmlns:p14="http://schemas.microsoft.com/office/powerpoint/2010/main" val="3452947254"/>
              </p:ext>
            </p:extLst>
          </p:nvPr>
        </p:nvGraphicFramePr>
        <p:xfrm>
          <a:off x="1595040" y="4588482"/>
          <a:ext cx="1446212" cy="458787"/>
        </p:xfrm>
        <a:graphic>
          <a:graphicData uri="http://schemas.openxmlformats.org/presentationml/2006/ole">
            <mc:AlternateContent xmlns:mc="http://schemas.openxmlformats.org/markup-compatibility/2006">
              <mc:Choice xmlns:v="urn:schemas-microsoft-com:vml" Requires="v">
                <p:oleObj spid="_x0000_s14380" name="Equation" r:id="rId16" imgW="714375" imgH="190500" progId="Equation.DSMT4">
                  <p:embed/>
                </p:oleObj>
              </mc:Choice>
              <mc:Fallback>
                <p:oleObj name="Equation" r:id="rId16" imgW="714375" imgH="19050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95040" y="4588482"/>
                        <a:ext cx="1446212"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546" name="Object 82"/>
          <p:cNvGraphicFramePr>
            <a:graphicFrameLocks noChangeAspect="1"/>
          </p:cNvGraphicFramePr>
          <p:nvPr>
            <p:extLst>
              <p:ext uri="{D42A27DB-BD31-4B8C-83A1-F6EECF244321}">
                <p14:modId xmlns:p14="http://schemas.microsoft.com/office/powerpoint/2010/main" val="2457110142"/>
              </p:ext>
            </p:extLst>
          </p:nvPr>
        </p:nvGraphicFramePr>
        <p:xfrm>
          <a:off x="2035830" y="1678488"/>
          <a:ext cx="1368425" cy="398463"/>
        </p:xfrm>
        <a:graphic>
          <a:graphicData uri="http://schemas.openxmlformats.org/presentationml/2006/ole">
            <mc:AlternateContent xmlns:mc="http://schemas.openxmlformats.org/markup-compatibility/2006">
              <mc:Choice xmlns:v="urn:schemas-microsoft-com:vml" Requires="v">
                <p:oleObj spid="_x0000_s14381" name="Equation" r:id="rId18" imgW="523875" imgH="114300" progId="Equation.DSMT4">
                  <p:embed/>
                </p:oleObj>
              </mc:Choice>
              <mc:Fallback>
                <p:oleObj name="Equation" r:id="rId18" imgW="523875" imgH="1143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35830" y="1678488"/>
                        <a:ext cx="1368425"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548" name="Line 84"/>
          <p:cNvSpPr>
            <a:spLocks noChangeShapeType="1"/>
          </p:cNvSpPr>
          <p:nvPr/>
        </p:nvSpPr>
        <p:spPr bwMode="auto">
          <a:xfrm rot="-6360000">
            <a:off x="6161087" y="2654301"/>
            <a:ext cx="1076325"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2549" name="Object 85"/>
          <p:cNvGraphicFramePr>
            <a:graphicFrameLocks noChangeAspect="1"/>
          </p:cNvGraphicFramePr>
          <p:nvPr>
            <p:extLst>
              <p:ext uri="{D42A27DB-BD31-4B8C-83A1-F6EECF244321}">
                <p14:modId xmlns:p14="http://schemas.microsoft.com/office/powerpoint/2010/main" val="1146871046"/>
              </p:ext>
            </p:extLst>
          </p:nvPr>
        </p:nvGraphicFramePr>
        <p:xfrm>
          <a:off x="2818646" y="4129156"/>
          <a:ext cx="2179637" cy="412750"/>
        </p:xfrm>
        <a:graphic>
          <a:graphicData uri="http://schemas.openxmlformats.org/presentationml/2006/ole">
            <mc:AlternateContent xmlns:mc="http://schemas.openxmlformats.org/markup-compatibility/2006">
              <mc:Choice xmlns:v="urn:schemas-microsoft-com:vml" Requires="v">
                <p:oleObj spid="_x0000_s14382" name="Equation" r:id="rId20" imgW="1095375" imgH="171450" progId="Equation.DSMT4">
                  <p:embed/>
                </p:oleObj>
              </mc:Choice>
              <mc:Fallback>
                <p:oleObj name="Equation" r:id="rId20" imgW="1095375" imgH="171450"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18646" y="4129156"/>
                        <a:ext cx="2179637"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88"/>
          <p:cNvGrpSpPr>
            <a:grpSpLocks/>
          </p:cNvGrpSpPr>
          <p:nvPr/>
        </p:nvGrpSpPr>
        <p:grpSpPr bwMode="auto">
          <a:xfrm>
            <a:off x="4940300" y="2163763"/>
            <a:ext cx="1582738" cy="942975"/>
            <a:chOff x="3205" y="1672"/>
            <a:chExt cx="997" cy="594"/>
          </a:xfrm>
        </p:grpSpPr>
        <p:sp>
          <p:nvSpPr>
            <p:cNvPr id="31766" name="Line 63"/>
            <p:cNvSpPr>
              <a:spLocks noChangeShapeType="1"/>
            </p:cNvSpPr>
            <p:nvPr/>
          </p:nvSpPr>
          <p:spPr bwMode="auto">
            <a:xfrm flipV="1">
              <a:off x="3205" y="1672"/>
              <a:ext cx="997" cy="594"/>
            </a:xfrm>
            <a:prstGeom prst="line">
              <a:avLst/>
            </a:prstGeom>
            <a:noFill/>
            <a:ln w="28575">
              <a:solidFill>
                <a:srgbClr val="0000FF"/>
              </a:solidFill>
              <a:round/>
              <a:headEnd type="none" w="sm" len="sm"/>
              <a:tailEnd type="stealth" w="med" len="lg"/>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31767" name="Text Box 86"/>
            <p:cNvSpPr txBox="1">
              <a:spLocks noChangeArrowheads="1"/>
            </p:cNvSpPr>
            <p:nvPr/>
          </p:nvSpPr>
          <p:spPr bwMode="auto">
            <a:xfrm>
              <a:off x="3406" y="1776"/>
              <a:ext cx="2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wrap="none">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r>
                <a:rPr lang="en-US" altLang="zh-CN" sz="2000" b="1" i="1" dirty="0">
                  <a:solidFill>
                    <a:srgbClr val="0000FF"/>
                  </a:solidFill>
                  <a:latin typeface="Times New Roman" panose="02020603050405020304" pitchFamily="18" charset="0"/>
                  <a:ea typeface="宋体" panose="02010600030101010101" pitchFamily="2" charset="-122"/>
                </a:rPr>
                <a:t>r</a:t>
              </a:r>
              <a:r>
                <a:rPr lang="en-US" altLang="zh-CN" sz="2000" i="1" baseline="-25000" dirty="0">
                  <a:solidFill>
                    <a:srgbClr val="0000FF"/>
                  </a:solidFill>
                  <a:latin typeface="Times New Roman" panose="02020603050405020304" pitchFamily="18" charset="0"/>
                  <a:ea typeface="宋体" panose="02010600030101010101" pitchFamily="2" charset="-122"/>
                </a:rPr>
                <a:t>A</a:t>
              </a:r>
              <a:r>
                <a:rPr lang="en-US" altLang="zh-CN" sz="2000" baseline="-25000" dirty="0">
                  <a:solidFill>
                    <a:srgbClr val="0000FF"/>
                  </a:solidFill>
                  <a:latin typeface="Times New Roman" panose="02020603050405020304" pitchFamily="18" charset="0"/>
                  <a:ea typeface="宋体" panose="02010600030101010101" pitchFamily="2" charset="-122"/>
                </a:rPr>
                <a:t>1</a:t>
              </a:r>
              <a:endParaRPr lang="en-US" altLang="zh-CN" sz="2000" dirty="0">
                <a:solidFill>
                  <a:srgbClr val="0000FF"/>
                </a:solidFill>
                <a:latin typeface="Times New Roman" panose="02020603050405020304" pitchFamily="18" charset="0"/>
                <a:ea typeface="宋体" panose="02010600030101010101" pitchFamily="2" charset="-122"/>
              </a:endParaRPr>
            </a:p>
          </p:txBody>
        </p:sp>
      </p:grpSp>
      <p:grpSp>
        <p:nvGrpSpPr>
          <p:cNvPr id="5" name="Group 89"/>
          <p:cNvGrpSpPr>
            <a:grpSpLocks/>
          </p:cNvGrpSpPr>
          <p:nvPr/>
        </p:nvGrpSpPr>
        <p:grpSpPr bwMode="auto">
          <a:xfrm>
            <a:off x="4975559" y="3013815"/>
            <a:ext cx="1843087" cy="400050"/>
            <a:chOff x="3214" y="2216"/>
            <a:chExt cx="1161" cy="252"/>
          </a:xfrm>
        </p:grpSpPr>
        <p:sp>
          <p:nvSpPr>
            <p:cNvPr id="31764" name="Line 64"/>
            <p:cNvSpPr>
              <a:spLocks noChangeShapeType="1"/>
            </p:cNvSpPr>
            <p:nvPr/>
          </p:nvSpPr>
          <p:spPr bwMode="auto">
            <a:xfrm>
              <a:off x="3214" y="2266"/>
              <a:ext cx="1161" cy="37"/>
            </a:xfrm>
            <a:prstGeom prst="line">
              <a:avLst/>
            </a:prstGeom>
            <a:noFill/>
            <a:ln w="28575">
              <a:solidFill>
                <a:srgbClr val="0000FF"/>
              </a:solidFill>
              <a:round/>
              <a:headEnd type="none" w="sm" len="sm"/>
              <a:tailEnd type="stealth" w="med" len="lg"/>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31765" name="Text Box 87"/>
            <p:cNvSpPr txBox="1">
              <a:spLocks noChangeArrowheads="1"/>
            </p:cNvSpPr>
            <p:nvPr/>
          </p:nvSpPr>
          <p:spPr bwMode="auto">
            <a:xfrm>
              <a:off x="3503" y="2216"/>
              <a:ext cx="2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wrap="none">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r>
                <a:rPr lang="en-US" altLang="zh-CN" sz="2000" b="1" i="1" dirty="0">
                  <a:solidFill>
                    <a:srgbClr val="0000FF"/>
                  </a:solidFill>
                  <a:latin typeface="Times New Roman" panose="02020603050405020304" pitchFamily="18" charset="0"/>
                  <a:ea typeface="宋体" panose="02010600030101010101" pitchFamily="2" charset="-122"/>
                </a:rPr>
                <a:t>r</a:t>
              </a:r>
              <a:r>
                <a:rPr lang="en-US" altLang="zh-CN" sz="2000" i="1" baseline="-25000" dirty="0">
                  <a:solidFill>
                    <a:srgbClr val="0000FF"/>
                  </a:solidFill>
                  <a:latin typeface="Times New Roman" panose="02020603050405020304" pitchFamily="18" charset="0"/>
                  <a:ea typeface="宋体" panose="02010600030101010101" pitchFamily="2" charset="-122"/>
                </a:rPr>
                <a:t>B</a:t>
              </a:r>
              <a:r>
                <a:rPr lang="en-US" altLang="zh-CN" sz="2000" baseline="-25000" dirty="0">
                  <a:solidFill>
                    <a:srgbClr val="0000FF"/>
                  </a:solidFill>
                  <a:latin typeface="Times New Roman" panose="02020603050405020304" pitchFamily="18" charset="0"/>
                  <a:ea typeface="宋体" panose="02010600030101010101" pitchFamily="2" charset="-122"/>
                </a:rPr>
                <a:t>1</a:t>
              </a:r>
              <a:endParaRPr lang="en-US" altLang="zh-CN" sz="2000" dirty="0">
                <a:solidFill>
                  <a:srgbClr val="0000FF"/>
                </a:solidFill>
                <a:latin typeface="Times New Roman" panose="02020603050405020304" pitchFamily="18" charset="0"/>
                <a:ea typeface="宋体" panose="02010600030101010101" pitchFamily="2" charset="-122"/>
              </a:endParaRPr>
            </a:p>
          </p:txBody>
        </p:sp>
      </p:grpSp>
      <p:sp>
        <p:nvSpPr>
          <p:cNvPr id="34" name="Text Box 5"/>
          <p:cNvSpPr txBox="1">
            <a:spLocks noChangeArrowheads="1"/>
          </p:cNvSpPr>
          <p:nvPr/>
        </p:nvSpPr>
        <p:spPr bwMode="auto">
          <a:xfrm>
            <a:off x="971932" y="686603"/>
            <a:ext cx="426568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2</a:t>
            </a:r>
            <a:r>
              <a:rPr kumimoji="1" lang="zh-CN" altLang="en-US" sz="2800" b="1" dirty="0">
                <a:solidFill>
                  <a:srgbClr val="0000FF"/>
                </a:solidFill>
                <a:latin typeface="黑体" panose="02010609060101010101" pitchFamily="49" charset="-122"/>
                <a:ea typeface="黑体" panose="02010609060101010101" pitchFamily="49" charset="-122"/>
              </a:rPr>
              <a:t>．力偶</a:t>
            </a:r>
            <a:r>
              <a:rPr lang="zh-CN" altLang="en-US" sz="2800" b="1" dirty="0">
                <a:solidFill>
                  <a:srgbClr val="0000FF"/>
                </a:solidFill>
                <a:latin typeface="黑体" panose="02010609060101010101" pitchFamily="49" charset="-122"/>
                <a:ea typeface="黑体" panose="02010609060101010101" pitchFamily="49" charset="-122"/>
              </a:rPr>
              <a:t>矩</a:t>
            </a:r>
            <a:r>
              <a:rPr lang="en-US" altLang="zh-CN" sz="2800" b="1" dirty="0">
                <a:solidFill>
                  <a:srgbClr val="000000"/>
                </a:solidFill>
                <a:latin typeface="Times New Roman" panose="02020603050405020304" pitchFamily="18" charset="0"/>
                <a:ea typeface="华文中宋" panose="02010600040101010101" pitchFamily="2" charset="-122"/>
              </a:rPr>
              <a:t>(moment) </a:t>
            </a:r>
            <a:r>
              <a:rPr lang="en-US" altLang="zh-CN" sz="2800" b="1" dirty="0">
                <a:latin typeface="Times New Roman" panose="02020603050405020304" pitchFamily="18" charset="0"/>
                <a:sym typeface="Symbol" panose="05050102010706020507" pitchFamily="18" charset="2"/>
              </a:rPr>
              <a:t></a:t>
            </a:r>
          </a:p>
          <a:p>
            <a:pPr eaLnBrk="1" hangingPunct="1"/>
            <a:r>
              <a:rPr lang="zh-CN" altLang="en-US" b="1" dirty="0">
                <a:latin typeface="黑体" panose="02010609060101010101" pitchFamily="49" charset="-122"/>
                <a:ea typeface="黑体" panose="02010609060101010101" pitchFamily="49" charset="-122"/>
                <a:sym typeface="Symbol" panose="05050102010706020507" pitchFamily="18" charset="2"/>
              </a:rPr>
              <a:t>    度量力偶的转动效应</a:t>
            </a:r>
            <a:endParaRPr lang="zh-CN" altLang="en-US" b="1" dirty="0">
              <a:solidFill>
                <a:srgbClr val="0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168430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62546"/>
                                        </p:tgtEl>
                                        <p:attrNameLst>
                                          <p:attrName>style.visibility</p:attrName>
                                        </p:attrNameLst>
                                      </p:cBhvr>
                                      <p:to>
                                        <p:strVal val="visible"/>
                                      </p:to>
                                    </p:set>
                                    <p:animEffect transition="in" filter="box(out)">
                                      <p:cBhvr>
                                        <p:cTn id="12" dur="500"/>
                                        <p:tgtEl>
                                          <p:spTgt spid="6254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62521"/>
                                        </p:tgtEl>
                                        <p:attrNameLst>
                                          <p:attrName>style.visibility</p:attrName>
                                        </p:attrNameLst>
                                      </p:cBhvr>
                                      <p:to>
                                        <p:strVal val="visible"/>
                                      </p:to>
                                    </p:set>
                                    <p:animEffect transition="in" filter="box(out)">
                                      <p:cBhvr>
                                        <p:cTn id="17" dur="500"/>
                                        <p:tgtEl>
                                          <p:spTgt spid="6252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62522"/>
                                        </p:tgtEl>
                                        <p:attrNameLst>
                                          <p:attrName>style.visibility</p:attrName>
                                        </p:attrNameLst>
                                      </p:cBhvr>
                                      <p:to>
                                        <p:strVal val="visible"/>
                                      </p:to>
                                    </p:set>
                                    <p:animEffect transition="in" filter="box(out)">
                                      <p:cBhvr>
                                        <p:cTn id="22" dur="500"/>
                                        <p:tgtEl>
                                          <p:spTgt spid="6252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62523"/>
                                        </p:tgtEl>
                                        <p:attrNameLst>
                                          <p:attrName>style.visibility</p:attrName>
                                        </p:attrNameLst>
                                      </p:cBhvr>
                                      <p:to>
                                        <p:strVal val="visible"/>
                                      </p:to>
                                    </p:set>
                                    <p:animEffect transition="in" filter="box(out)">
                                      <p:cBhvr>
                                        <p:cTn id="27" dur="500"/>
                                        <p:tgtEl>
                                          <p:spTgt spid="6252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62524"/>
                                        </p:tgtEl>
                                        <p:attrNameLst>
                                          <p:attrName>style.visibility</p:attrName>
                                        </p:attrNameLst>
                                      </p:cBhvr>
                                      <p:to>
                                        <p:strVal val="visible"/>
                                      </p:to>
                                    </p:set>
                                    <p:animEffect transition="in" filter="box(out)">
                                      <p:cBhvr>
                                        <p:cTn id="32" dur="500"/>
                                        <p:tgtEl>
                                          <p:spTgt spid="6252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62525"/>
                                        </p:tgtEl>
                                        <p:attrNameLst>
                                          <p:attrName>style.visibility</p:attrName>
                                        </p:attrNameLst>
                                      </p:cBhvr>
                                      <p:to>
                                        <p:strVal val="visible"/>
                                      </p:to>
                                    </p:set>
                                    <p:animEffect transition="in" filter="box(out)">
                                      <p:cBhvr>
                                        <p:cTn id="37" dur="500"/>
                                        <p:tgtEl>
                                          <p:spTgt spid="62525"/>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62548"/>
                                        </p:tgtEl>
                                        <p:attrNameLst>
                                          <p:attrName>style.visibility</p:attrName>
                                        </p:attrNameLst>
                                      </p:cBhvr>
                                      <p:to>
                                        <p:strVal val="visible"/>
                                      </p:to>
                                    </p:set>
                                    <p:animEffect transition="in" filter="box(out)">
                                      <p:cBhvr>
                                        <p:cTn id="42" dur="500"/>
                                        <p:tgtEl>
                                          <p:spTgt spid="62548"/>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ox(out)">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ox(out)">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box(out)">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62549"/>
                                        </p:tgtEl>
                                        <p:attrNameLst>
                                          <p:attrName>style.visibility</p:attrName>
                                        </p:attrNameLst>
                                      </p:cBhvr>
                                      <p:to>
                                        <p:strVal val="visible"/>
                                      </p:to>
                                    </p:set>
                                    <p:animEffect transition="in" filter="box(out)">
                                      <p:cBhvr>
                                        <p:cTn id="62" dur="500"/>
                                        <p:tgtEl>
                                          <p:spTgt spid="62549"/>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62544"/>
                                        </p:tgtEl>
                                        <p:attrNameLst>
                                          <p:attrName>style.visibility</p:attrName>
                                        </p:attrNameLst>
                                      </p:cBhvr>
                                      <p:to>
                                        <p:strVal val="visible"/>
                                      </p:to>
                                    </p:set>
                                    <p:animEffect transition="in" filter="box(out)">
                                      <p:cBhvr>
                                        <p:cTn id="67" dur="500"/>
                                        <p:tgtEl>
                                          <p:spTgt spid="62544"/>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62529"/>
                                        </p:tgtEl>
                                        <p:attrNameLst>
                                          <p:attrName>style.visibility</p:attrName>
                                        </p:attrNameLst>
                                      </p:cBhvr>
                                      <p:to>
                                        <p:strVal val="visible"/>
                                      </p:to>
                                    </p:set>
                                    <p:animEffect transition="in" filter="box(out)">
                                      <p:cBhvr>
                                        <p:cTn id="72" dur="500"/>
                                        <p:tgtEl>
                                          <p:spTgt spid="62529"/>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32" fill="hold" nodeType="clickEffect">
                                  <p:stCondLst>
                                    <p:cond delay="0"/>
                                  </p:stCondLst>
                                  <p:childTnLst>
                                    <p:set>
                                      <p:cBhvr>
                                        <p:cTn id="76" dur="1" fill="hold">
                                          <p:stCondLst>
                                            <p:cond delay="0"/>
                                          </p:stCondLst>
                                        </p:cTn>
                                        <p:tgtEl>
                                          <p:spTgt spid="62531"/>
                                        </p:tgtEl>
                                        <p:attrNameLst>
                                          <p:attrName>style.visibility</p:attrName>
                                        </p:attrNameLst>
                                      </p:cBhvr>
                                      <p:to>
                                        <p:strVal val="visible"/>
                                      </p:to>
                                    </p:set>
                                    <p:animEffect transition="in" filter="box(out)">
                                      <p:cBhvr>
                                        <p:cTn id="77" dur="500"/>
                                        <p:tgtEl>
                                          <p:spTgt spid="6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29" grpId="0"/>
      <p:bldP spid="6254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2" name="Text Box 14"/>
          <p:cNvSpPr txBox="1">
            <a:spLocks noChangeArrowheads="1"/>
          </p:cNvSpPr>
          <p:nvPr/>
        </p:nvSpPr>
        <p:spPr bwMode="auto">
          <a:xfrm>
            <a:off x="1030883" y="3213621"/>
            <a:ext cx="18716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latin typeface="黑体" panose="02010609060101010101" pitchFamily="49" charset="-122"/>
                <a:ea typeface="黑体" panose="02010609060101010101" pitchFamily="49" charset="-122"/>
              </a:rPr>
              <a:t>空间力偶矩    </a:t>
            </a:r>
            <a:r>
              <a:rPr kumimoji="1" lang="en-US" altLang="zh-CN" sz="2400" b="1" dirty="0">
                <a:solidFill>
                  <a:srgbClr val="FF0000"/>
                </a:solidFill>
                <a:latin typeface="黑体" panose="02010609060101010101" pitchFamily="49" charset="-122"/>
                <a:ea typeface="黑体" panose="02010609060101010101" pitchFamily="49" charset="-122"/>
              </a:rPr>
              <a:t>(</a:t>
            </a:r>
            <a:r>
              <a:rPr kumimoji="1" lang="zh-CN" altLang="en-US" sz="2400" b="1" dirty="0">
                <a:solidFill>
                  <a:srgbClr val="FF0000"/>
                </a:solidFill>
                <a:latin typeface="黑体" panose="02010609060101010101" pitchFamily="49" charset="-122"/>
                <a:ea typeface="黑体" panose="02010609060101010101" pitchFamily="49" charset="-122"/>
              </a:rPr>
              <a:t>自由矢量</a:t>
            </a:r>
            <a:r>
              <a:rPr kumimoji="1" lang="en-US" altLang="zh-CN" sz="2400" b="1" dirty="0">
                <a:solidFill>
                  <a:srgbClr val="FF0000"/>
                </a:solidFill>
                <a:latin typeface="黑体" panose="02010609060101010101" pitchFamily="49" charset="-122"/>
                <a:ea typeface="黑体" panose="02010609060101010101" pitchFamily="49" charset="-122"/>
              </a:rPr>
              <a:t>)</a:t>
            </a:r>
          </a:p>
        </p:txBody>
      </p:sp>
      <p:sp>
        <p:nvSpPr>
          <p:cNvPr id="17423" name="AutoShape 15"/>
          <p:cNvSpPr>
            <a:spLocks/>
          </p:cNvSpPr>
          <p:nvPr/>
        </p:nvSpPr>
        <p:spPr bwMode="auto">
          <a:xfrm>
            <a:off x="2700933" y="2688159"/>
            <a:ext cx="144463" cy="1728787"/>
          </a:xfrm>
          <a:prstGeom prst="leftBrace">
            <a:avLst>
              <a:gd name="adj1" fmla="val 9972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endParaRPr lang="zh-CN" altLang="en-US"/>
          </a:p>
        </p:txBody>
      </p:sp>
      <p:sp>
        <p:nvSpPr>
          <p:cNvPr id="17424" name="Text Box 16"/>
          <p:cNvSpPr txBox="1">
            <a:spLocks noChangeArrowheads="1"/>
          </p:cNvSpPr>
          <p:nvPr/>
        </p:nvSpPr>
        <p:spPr bwMode="auto">
          <a:xfrm>
            <a:off x="2843808" y="2492896"/>
            <a:ext cx="554461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FF0000"/>
                </a:solidFill>
                <a:latin typeface="楷体" panose="02010609060101010101" pitchFamily="49" charset="-122"/>
                <a:ea typeface="楷体" panose="02010609060101010101" pitchFamily="49" charset="-122"/>
              </a:rPr>
              <a:t>大小</a:t>
            </a:r>
            <a:r>
              <a:rPr kumimoji="1" lang="en-US" altLang="zh-CN" sz="2400" b="1" dirty="0">
                <a:solidFill>
                  <a:srgbClr val="FF0000"/>
                </a:solidFill>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力偶中力的大小与力偶臂的乘积</a:t>
            </a:r>
            <a:r>
              <a:rPr kumimoji="1" lang="en-US" altLang="zh-CN" sz="2400" b="1" dirty="0">
                <a:latin typeface="楷体" panose="02010609060101010101" pitchFamily="49" charset="-122"/>
                <a:ea typeface="楷体" panose="02010609060101010101" pitchFamily="49" charset="-122"/>
              </a:rPr>
              <a:t>.</a:t>
            </a:r>
          </a:p>
        </p:txBody>
      </p:sp>
      <p:sp>
        <p:nvSpPr>
          <p:cNvPr id="17426" name="Text Box 18"/>
          <p:cNvSpPr txBox="1">
            <a:spLocks noChangeArrowheads="1"/>
          </p:cNvSpPr>
          <p:nvPr/>
        </p:nvSpPr>
        <p:spPr bwMode="auto">
          <a:xfrm>
            <a:off x="2823171" y="3429521"/>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FF0000"/>
                </a:solidFill>
                <a:latin typeface="楷体" panose="02010609060101010101" pitchFamily="49" charset="-122"/>
                <a:ea typeface="楷体" panose="02010609060101010101" pitchFamily="49" charset="-122"/>
              </a:rPr>
              <a:t>方位</a:t>
            </a:r>
            <a:r>
              <a:rPr kumimoji="1" lang="en-US" altLang="zh-CN" sz="2400" b="1" dirty="0">
                <a:solidFill>
                  <a:srgbClr val="FF0000"/>
                </a:solidFill>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力偶作用面的法线方向</a:t>
            </a:r>
            <a:r>
              <a:rPr kumimoji="1" lang="en-US" altLang="zh-CN" sz="2400" b="1" dirty="0">
                <a:latin typeface="楷体" panose="02010609060101010101" pitchFamily="49" charset="-122"/>
                <a:ea typeface="楷体" panose="02010609060101010101" pitchFamily="49" charset="-122"/>
              </a:rPr>
              <a:t>.</a:t>
            </a:r>
          </a:p>
        </p:txBody>
      </p:sp>
      <p:sp>
        <p:nvSpPr>
          <p:cNvPr id="17427" name="Text Box 19"/>
          <p:cNvSpPr txBox="1">
            <a:spLocks noChangeArrowheads="1"/>
          </p:cNvSpPr>
          <p:nvPr/>
        </p:nvSpPr>
        <p:spPr bwMode="auto">
          <a:xfrm>
            <a:off x="2797771" y="4051821"/>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FF0000"/>
                </a:solidFill>
                <a:latin typeface="楷体" panose="02010609060101010101" pitchFamily="49" charset="-122"/>
                <a:ea typeface="楷体" panose="02010609060101010101" pitchFamily="49" charset="-122"/>
              </a:rPr>
              <a:t>指向</a:t>
            </a:r>
            <a:r>
              <a:rPr kumimoji="1" lang="en-US" altLang="zh-CN" sz="2400" b="1" dirty="0">
                <a:solidFill>
                  <a:srgbClr val="FF0000"/>
                </a:solidFill>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服从右手螺旋法则</a:t>
            </a:r>
            <a:r>
              <a:rPr kumimoji="1" lang="en-US" altLang="zh-CN" sz="2400" b="1" dirty="0">
                <a:latin typeface="楷体" panose="02010609060101010101" pitchFamily="49" charset="-122"/>
                <a:ea typeface="楷体" panose="02010609060101010101" pitchFamily="49" charset="-122"/>
              </a:rPr>
              <a:t>.</a:t>
            </a:r>
          </a:p>
        </p:txBody>
      </p:sp>
      <p:sp>
        <p:nvSpPr>
          <p:cNvPr id="17428" name="Text Box 20"/>
          <p:cNvSpPr txBox="1">
            <a:spLocks noChangeArrowheads="1"/>
          </p:cNvSpPr>
          <p:nvPr/>
        </p:nvSpPr>
        <p:spPr bwMode="auto">
          <a:xfrm>
            <a:off x="1061046" y="4726509"/>
            <a:ext cx="18716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latin typeface="黑体" panose="02010609060101010101" pitchFamily="49" charset="-122"/>
                <a:ea typeface="黑体" panose="02010609060101010101" pitchFamily="49" charset="-122"/>
              </a:rPr>
              <a:t>平面力偶矩    </a:t>
            </a:r>
            <a:r>
              <a:rPr kumimoji="1" lang="en-US" altLang="zh-CN" sz="2400" b="1" dirty="0">
                <a:solidFill>
                  <a:srgbClr val="FF0000"/>
                </a:solidFill>
                <a:latin typeface="黑体" panose="02010609060101010101" pitchFamily="49" charset="-122"/>
                <a:ea typeface="黑体" panose="02010609060101010101" pitchFamily="49" charset="-122"/>
              </a:rPr>
              <a:t>(</a:t>
            </a:r>
            <a:r>
              <a:rPr kumimoji="1" lang="zh-CN" altLang="en-US" sz="2400" b="1" dirty="0">
                <a:solidFill>
                  <a:srgbClr val="FF0000"/>
                </a:solidFill>
                <a:latin typeface="黑体" panose="02010609060101010101" pitchFamily="49" charset="-122"/>
                <a:ea typeface="黑体" panose="02010609060101010101" pitchFamily="49" charset="-122"/>
              </a:rPr>
              <a:t>代数量</a:t>
            </a:r>
            <a:r>
              <a:rPr kumimoji="1" lang="en-US" altLang="zh-CN" sz="2400" b="1" dirty="0">
                <a:solidFill>
                  <a:srgbClr val="FF0000"/>
                </a:solidFill>
                <a:latin typeface="黑体" panose="02010609060101010101" pitchFamily="49" charset="-122"/>
                <a:ea typeface="黑体" panose="02010609060101010101" pitchFamily="49" charset="-122"/>
              </a:rPr>
              <a:t>)</a:t>
            </a:r>
          </a:p>
        </p:txBody>
      </p:sp>
      <p:sp>
        <p:nvSpPr>
          <p:cNvPr id="17429" name="AutoShape 21"/>
          <p:cNvSpPr>
            <a:spLocks/>
          </p:cNvSpPr>
          <p:nvPr/>
        </p:nvSpPr>
        <p:spPr bwMode="auto">
          <a:xfrm>
            <a:off x="2762846" y="4802643"/>
            <a:ext cx="69850" cy="1150937"/>
          </a:xfrm>
          <a:prstGeom prst="leftBrace">
            <a:avLst>
              <a:gd name="adj1" fmla="val 13731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endParaRPr lang="zh-CN" altLang="en-US"/>
          </a:p>
        </p:txBody>
      </p:sp>
      <p:sp>
        <p:nvSpPr>
          <p:cNvPr id="17430" name="Text Box 22"/>
          <p:cNvSpPr txBox="1">
            <a:spLocks noChangeArrowheads="1"/>
          </p:cNvSpPr>
          <p:nvPr/>
        </p:nvSpPr>
        <p:spPr bwMode="auto">
          <a:xfrm>
            <a:off x="2769989" y="4641637"/>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FF0000"/>
                </a:solidFill>
                <a:latin typeface="楷体" panose="02010609060101010101" pitchFamily="49" charset="-122"/>
                <a:ea typeface="楷体" panose="02010609060101010101" pitchFamily="49" charset="-122"/>
              </a:rPr>
              <a:t>大小</a:t>
            </a:r>
            <a:r>
              <a:rPr kumimoji="1" lang="en-US" altLang="zh-CN" sz="2400" b="1" dirty="0">
                <a:solidFill>
                  <a:srgbClr val="FF0000"/>
                </a:solidFill>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力偶中力的大小与力偶臂的乘积</a:t>
            </a:r>
            <a:r>
              <a:rPr kumimoji="1" lang="en-US" altLang="zh-CN" sz="2400" b="1" dirty="0">
                <a:latin typeface="楷体" panose="02010609060101010101" pitchFamily="49" charset="-122"/>
                <a:ea typeface="楷体" panose="02010609060101010101" pitchFamily="49" charset="-122"/>
              </a:rPr>
              <a:t>.</a:t>
            </a:r>
          </a:p>
        </p:txBody>
      </p:sp>
      <p:sp>
        <p:nvSpPr>
          <p:cNvPr id="17432" name="Text Box 24"/>
          <p:cNvSpPr txBox="1">
            <a:spLocks noChangeArrowheads="1"/>
          </p:cNvSpPr>
          <p:nvPr/>
        </p:nvSpPr>
        <p:spPr bwMode="auto">
          <a:xfrm>
            <a:off x="2812058" y="5605612"/>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FF0000"/>
                </a:solidFill>
                <a:latin typeface="楷体" panose="02010609060101010101" pitchFamily="49" charset="-122"/>
                <a:ea typeface="楷体" panose="02010609060101010101" pitchFamily="49" charset="-122"/>
              </a:rPr>
              <a:t>转向</a:t>
            </a:r>
            <a:r>
              <a:rPr kumimoji="1" lang="en-US" altLang="zh-CN" sz="2400" b="1" dirty="0">
                <a:solidFill>
                  <a:srgbClr val="FF0000"/>
                </a:solidFill>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逆时针为正</a:t>
            </a:r>
            <a:r>
              <a:rPr kumimoji="1" lang="en-US" altLang="zh-CN" sz="2400" b="1" dirty="0">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顺时针为负</a:t>
            </a:r>
            <a:r>
              <a:rPr kumimoji="1" lang="en-US" altLang="zh-CN" sz="2400" b="1" dirty="0">
                <a:latin typeface="楷体" panose="02010609060101010101" pitchFamily="49" charset="-122"/>
                <a:ea typeface="楷体" panose="02010609060101010101" pitchFamily="49" charset="-122"/>
              </a:rPr>
              <a:t>.</a:t>
            </a:r>
          </a:p>
        </p:txBody>
      </p:sp>
      <p:pic>
        <p:nvPicPr>
          <p:cNvPr id="25615" name="Picture 27" descr="02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2212" y="403739"/>
            <a:ext cx="2581912" cy="193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5"/>
          <p:cNvSpPr txBox="1">
            <a:spLocks noChangeArrowheads="1"/>
          </p:cNvSpPr>
          <p:nvPr/>
        </p:nvSpPr>
        <p:spPr bwMode="auto">
          <a:xfrm>
            <a:off x="791155" y="728840"/>
            <a:ext cx="189689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2</a:t>
            </a:r>
            <a:r>
              <a:rPr kumimoji="1" lang="zh-CN" altLang="en-US" sz="2800" b="1" dirty="0">
                <a:solidFill>
                  <a:srgbClr val="0000FF"/>
                </a:solidFill>
                <a:latin typeface="黑体" panose="02010609060101010101" pitchFamily="49" charset="-122"/>
                <a:ea typeface="黑体" panose="02010609060101010101" pitchFamily="49" charset="-122"/>
              </a:rPr>
              <a:t>．力偶</a:t>
            </a:r>
            <a:r>
              <a:rPr lang="zh-CN" altLang="en-US" sz="2800" b="1" dirty="0">
                <a:solidFill>
                  <a:srgbClr val="0000FF"/>
                </a:solidFill>
                <a:latin typeface="黑体" panose="02010609060101010101" pitchFamily="49" charset="-122"/>
                <a:ea typeface="黑体" panose="02010609060101010101" pitchFamily="49" charset="-122"/>
              </a:rPr>
              <a:t>矩</a:t>
            </a:r>
            <a:endParaRPr lang="en-US" altLang="zh-CN" sz="2800" b="1" dirty="0">
              <a:latin typeface="Times New Roman" panose="02020603050405020304" pitchFamily="18" charset="0"/>
              <a:sym typeface="Symbol" panose="05050102010706020507" pitchFamily="18" charset="2"/>
            </a:endParaRPr>
          </a:p>
        </p:txBody>
      </p:sp>
      <p:graphicFrame>
        <p:nvGraphicFramePr>
          <p:cNvPr id="17" name="Object 17"/>
          <p:cNvGraphicFramePr>
            <a:graphicFrameLocks noChangeAspect="1"/>
          </p:cNvGraphicFramePr>
          <p:nvPr>
            <p:extLst>
              <p:ext uri="{D42A27DB-BD31-4B8C-83A1-F6EECF244321}">
                <p14:modId xmlns:p14="http://schemas.microsoft.com/office/powerpoint/2010/main" val="4223529605"/>
              </p:ext>
            </p:extLst>
          </p:nvPr>
        </p:nvGraphicFramePr>
        <p:xfrm>
          <a:off x="4211960" y="2962013"/>
          <a:ext cx="1632940" cy="457752"/>
        </p:xfrm>
        <a:graphic>
          <a:graphicData uri="http://schemas.openxmlformats.org/presentationml/2006/ole">
            <mc:AlternateContent xmlns:mc="http://schemas.openxmlformats.org/markup-compatibility/2006">
              <mc:Choice xmlns:v="urn:schemas-microsoft-com:vml" Requires="v">
                <p:oleObj spid="_x0000_s15370" name="Equation" r:id="rId4" imgW="634449" imgH="177646" progId="Equation.DSMT4">
                  <p:embed/>
                </p:oleObj>
              </mc:Choice>
              <mc:Fallback>
                <p:oleObj name="Equation" r:id="rId4" imgW="634449" imgH="177646"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960" y="2962013"/>
                        <a:ext cx="1632940" cy="457752"/>
                      </a:xfrm>
                      <a:prstGeom prst="rect">
                        <a:avLst/>
                      </a:prstGeom>
                      <a:noFill/>
                      <a:ln>
                        <a:noFill/>
                      </a:ln>
                      <a:effectLst/>
                    </p:spPr>
                  </p:pic>
                </p:oleObj>
              </mc:Fallback>
            </mc:AlternateContent>
          </a:graphicData>
        </a:graphic>
      </p:graphicFrame>
      <p:sp>
        <p:nvSpPr>
          <p:cNvPr id="14" name="TextBox 12"/>
          <p:cNvSpPr txBox="1">
            <a:spLocks noChangeArrowheads="1"/>
          </p:cNvSpPr>
          <p:nvPr/>
        </p:nvSpPr>
        <p:spPr bwMode="auto">
          <a:xfrm>
            <a:off x="6156176" y="2970852"/>
            <a:ext cx="1714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latin typeface="楷体" panose="02010609060101010101" pitchFamily="49" charset="-122"/>
                <a:ea typeface="楷体" panose="02010609060101010101" pitchFamily="49" charset="-122"/>
              </a:rPr>
              <a:t>单位</a:t>
            </a:r>
            <a:r>
              <a:rPr lang="zh-CN" altLang="en-US" dirty="0"/>
              <a:t>  </a:t>
            </a:r>
            <a:r>
              <a:rPr lang="en-US" altLang="zh-CN" dirty="0" err="1"/>
              <a:t>N</a:t>
            </a:r>
            <a:r>
              <a:rPr lang="en-US" altLang="zh-CN" dirty="0" err="1">
                <a:sym typeface="Symbol" panose="05050102010706020507" pitchFamily="18" charset="2"/>
              </a:rPr>
              <a:t></a:t>
            </a:r>
            <a:r>
              <a:rPr lang="en-US" altLang="zh-CN" dirty="0" err="1"/>
              <a:t>m</a:t>
            </a:r>
            <a:endParaRPr lang="zh-CN" altLang="en-US" dirty="0"/>
          </a:p>
        </p:txBody>
      </p:sp>
      <p:graphicFrame>
        <p:nvGraphicFramePr>
          <p:cNvPr id="15" name="Object 17"/>
          <p:cNvGraphicFramePr>
            <a:graphicFrameLocks noChangeAspect="1"/>
          </p:cNvGraphicFramePr>
          <p:nvPr>
            <p:extLst>
              <p:ext uri="{D42A27DB-BD31-4B8C-83A1-F6EECF244321}">
                <p14:modId xmlns:p14="http://schemas.microsoft.com/office/powerpoint/2010/main" val="3668002089"/>
              </p:ext>
            </p:extLst>
          </p:nvPr>
        </p:nvGraphicFramePr>
        <p:xfrm>
          <a:off x="4472186" y="5110754"/>
          <a:ext cx="1895475" cy="457200"/>
        </p:xfrm>
        <a:graphic>
          <a:graphicData uri="http://schemas.openxmlformats.org/presentationml/2006/ole">
            <mc:AlternateContent xmlns:mc="http://schemas.openxmlformats.org/markup-compatibility/2006">
              <mc:Choice xmlns:v="urn:schemas-microsoft-com:vml" Requires="v">
                <p:oleObj spid="_x0000_s15371" name="Equation" r:id="rId6" imgW="736560" imgH="177480" progId="Equation.DSMT4">
                  <p:embed/>
                </p:oleObj>
              </mc:Choice>
              <mc:Fallback>
                <p:oleObj name="Equation" r:id="rId6" imgW="736560" imgH="177480" progId="Equation.DSMT4">
                  <p:embed/>
                  <p:pic>
                    <p:nvPicPr>
                      <p:cNvPr id="0" name=""/>
                      <p:cNvPicPr>
                        <a:picLocks noChangeAspect="1" noChangeArrowheads="1"/>
                      </p:cNvPicPr>
                      <p:nvPr/>
                    </p:nvPicPr>
                    <p:blipFill>
                      <a:blip r:embed="rId7"/>
                      <a:srcRect/>
                      <a:stretch>
                        <a:fillRect/>
                      </a:stretch>
                    </p:blipFill>
                    <p:spPr bwMode="auto">
                      <a:xfrm>
                        <a:off x="4472186" y="5110754"/>
                        <a:ext cx="1895475" cy="4572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0426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22"/>
                                        </p:tgtEl>
                                        <p:attrNameLst>
                                          <p:attrName>style.visibility</p:attrName>
                                        </p:attrNameLst>
                                      </p:cBhvr>
                                      <p:to>
                                        <p:strVal val="visible"/>
                                      </p:to>
                                    </p:set>
                                    <p:animEffect transition="in" filter="blinds(horizontal)">
                                      <p:cBhvr>
                                        <p:cTn id="7" dur="500"/>
                                        <p:tgtEl>
                                          <p:spTgt spid="174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423"/>
                                        </p:tgtEl>
                                        <p:attrNameLst>
                                          <p:attrName>style.visibility</p:attrName>
                                        </p:attrNameLst>
                                      </p:cBhvr>
                                      <p:to>
                                        <p:strVal val="visible"/>
                                      </p:to>
                                    </p:set>
                                    <p:animEffect transition="in" filter="dissolve">
                                      <p:cBhvr>
                                        <p:cTn id="12" dur="500"/>
                                        <p:tgtEl>
                                          <p:spTgt spid="174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24"/>
                                        </p:tgtEl>
                                        <p:attrNameLst>
                                          <p:attrName>style.visibility</p:attrName>
                                        </p:attrNameLst>
                                      </p:cBhvr>
                                      <p:to>
                                        <p:strVal val="visible"/>
                                      </p:to>
                                    </p:set>
                                    <p:animEffect transition="in" filter="blinds(horizontal)">
                                      <p:cBhvr>
                                        <p:cTn id="17" dur="500"/>
                                        <p:tgtEl>
                                          <p:spTgt spid="174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1+#ppt_w/2"/>
                                          </p:val>
                                        </p:tav>
                                        <p:tav tm="100000">
                                          <p:val>
                                            <p:strVal val="#ppt_x"/>
                                          </p:val>
                                        </p:tav>
                                      </p:tavLst>
                                    </p:anim>
                                    <p:anim calcmode="lin" valueType="num">
                                      <p:cBhvr additive="base">
                                        <p:cTn id="2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7426"/>
                                        </p:tgtEl>
                                        <p:attrNameLst>
                                          <p:attrName>style.visibility</p:attrName>
                                        </p:attrNameLst>
                                      </p:cBhvr>
                                      <p:to>
                                        <p:strVal val="visible"/>
                                      </p:to>
                                    </p:set>
                                    <p:animEffect transition="in" filter="blinds(horizontal)">
                                      <p:cBhvr>
                                        <p:cTn id="33" dur="500"/>
                                        <p:tgtEl>
                                          <p:spTgt spid="1742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7427"/>
                                        </p:tgtEl>
                                        <p:attrNameLst>
                                          <p:attrName>style.visibility</p:attrName>
                                        </p:attrNameLst>
                                      </p:cBhvr>
                                      <p:to>
                                        <p:strVal val="visible"/>
                                      </p:to>
                                    </p:set>
                                    <p:animEffect transition="in" filter="blinds(horizontal)">
                                      <p:cBhvr>
                                        <p:cTn id="38" dur="500"/>
                                        <p:tgtEl>
                                          <p:spTgt spid="1742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7428"/>
                                        </p:tgtEl>
                                        <p:attrNameLst>
                                          <p:attrName>style.visibility</p:attrName>
                                        </p:attrNameLst>
                                      </p:cBhvr>
                                      <p:to>
                                        <p:strVal val="visible"/>
                                      </p:to>
                                    </p:set>
                                    <p:animEffect transition="in" filter="blinds(horizontal)">
                                      <p:cBhvr>
                                        <p:cTn id="43" dur="500"/>
                                        <p:tgtEl>
                                          <p:spTgt spid="17428"/>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7429"/>
                                        </p:tgtEl>
                                        <p:attrNameLst>
                                          <p:attrName>style.visibility</p:attrName>
                                        </p:attrNameLst>
                                      </p:cBhvr>
                                      <p:to>
                                        <p:strVal val="visible"/>
                                      </p:to>
                                    </p:set>
                                    <p:animEffect transition="in" filter="dissolve">
                                      <p:cBhvr>
                                        <p:cTn id="48" dur="500"/>
                                        <p:tgtEl>
                                          <p:spTgt spid="17429"/>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7430"/>
                                        </p:tgtEl>
                                        <p:attrNameLst>
                                          <p:attrName>style.visibility</p:attrName>
                                        </p:attrNameLst>
                                      </p:cBhvr>
                                      <p:to>
                                        <p:strVal val="visible"/>
                                      </p:to>
                                    </p:set>
                                    <p:animEffect transition="in" filter="blinds(horizontal)">
                                      <p:cBhvr>
                                        <p:cTn id="53" dur="500"/>
                                        <p:tgtEl>
                                          <p:spTgt spid="17430"/>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blinds(horizontal)">
                                      <p:cBhvr>
                                        <p:cTn id="58" dur="5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7432"/>
                                        </p:tgtEl>
                                        <p:attrNameLst>
                                          <p:attrName>style.visibility</p:attrName>
                                        </p:attrNameLst>
                                      </p:cBhvr>
                                      <p:to>
                                        <p:strVal val="visible"/>
                                      </p:to>
                                    </p:set>
                                    <p:animEffect transition="in" filter="blinds(horizontal)">
                                      <p:cBhvr>
                                        <p:cTn id="63" dur="500"/>
                                        <p:tgtEl>
                                          <p:spTgt spid="17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2" grpId="0"/>
      <p:bldP spid="17423" grpId="0" animBg="1"/>
      <p:bldP spid="17424" grpId="0"/>
      <p:bldP spid="17426" grpId="0"/>
      <p:bldP spid="17427" grpId="0"/>
      <p:bldP spid="17428" grpId="0"/>
      <p:bldP spid="17429" grpId="0" animBg="1"/>
      <p:bldP spid="17430" grpId="0"/>
      <p:bldP spid="17432"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839614" y="1978855"/>
            <a:ext cx="466848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rgbClr val="000000"/>
                </a:solidFill>
                <a:latin typeface="Times New Roman" panose="02020603050405020304" pitchFamily="18" charset="0"/>
              </a:rPr>
              <a:t>(1) </a:t>
            </a:r>
            <a:r>
              <a:rPr kumimoji="1" lang="zh-CN" altLang="en-US" sz="2400" b="1" dirty="0">
                <a:solidFill>
                  <a:srgbClr val="000000"/>
                </a:solidFill>
                <a:latin typeface="楷体" panose="02010609060101010101" pitchFamily="49" charset="-122"/>
                <a:ea typeface="楷体" panose="02010609060101010101" pitchFamily="49" charset="-122"/>
              </a:rPr>
              <a:t>力偶可在自己的作用平面内任 意移动，对刚体的作用不变。 </a:t>
            </a:r>
          </a:p>
        </p:txBody>
      </p:sp>
      <p:sp>
        <p:nvSpPr>
          <p:cNvPr id="18435" name="Rectangle 3"/>
          <p:cNvSpPr>
            <a:spLocks noChangeArrowheads="1"/>
          </p:cNvSpPr>
          <p:nvPr/>
        </p:nvSpPr>
        <p:spPr bwMode="auto">
          <a:xfrm>
            <a:off x="839614" y="3082925"/>
            <a:ext cx="474049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rgbClr val="000000"/>
                </a:solidFill>
                <a:latin typeface="Times New Roman" panose="02020603050405020304" pitchFamily="18" charset="0"/>
              </a:rPr>
              <a:t>(2) </a:t>
            </a:r>
            <a:r>
              <a:rPr kumimoji="1" lang="zh-CN" altLang="en-US" sz="2400" b="1" dirty="0">
                <a:solidFill>
                  <a:srgbClr val="000000"/>
                </a:solidFill>
                <a:latin typeface="楷体" panose="02010609060101010101" pitchFamily="49" charset="-122"/>
                <a:ea typeface="楷体" panose="02010609060101010101" pitchFamily="49" charset="-122"/>
              </a:rPr>
              <a:t>力偶可以同时改变</a:t>
            </a:r>
            <a:r>
              <a:rPr kumimoji="1" lang="en-US" altLang="zh-CN" sz="2400" i="1" dirty="0">
                <a:solidFill>
                  <a:srgbClr val="000000"/>
                </a:solidFill>
                <a:latin typeface="+mn-lt"/>
                <a:ea typeface="楷体" panose="02010609060101010101" pitchFamily="49" charset="-122"/>
              </a:rPr>
              <a:t>F</a:t>
            </a:r>
            <a:r>
              <a:rPr kumimoji="1" lang="zh-CN" altLang="en-US" sz="2400" b="1" i="1" dirty="0">
                <a:solidFill>
                  <a:srgbClr val="000000"/>
                </a:solidFill>
                <a:latin typeface="+mn-lt"/>
                <a:ea typeface="楷体" panose="02010609060101010101" pitchFamily="49" charset="-122"/>
              </a:rPr>
              <a:t>、</a:t>
            </a:r>
            <a:r>
              <a:rPr kumimoji="1" lang="en-US" altLang="zh-CN" sz="2400" i="1" dirty="0">
                <a:solidFill>
                  <a:srgbClr val="000000"/>
                </a:solidFill>
                <a:latin typeface="+mn-lt"/>
                <a:ea typeface="楷体" panose="02010609060101010101" pitchFamily="49" charset="-122"/>
              </a:rPr>
              <a:t>d</a:t>
            </a:r>
            <a:r>
              <a:rPr kumimoji="1" lang="zh-CN" altLang="en-US" sz="2400" b="1" dirty="0">
                <a:solidFill>
                  <a:srgbClr val="000000"/>
                </a:solidFill>
                <a:latin typeface="楷体" panose="02010609060101010101" pitchFamily="49" charset="-122"/>
                <a:ea typeface="楷体" panose="02010609060101010101" pitchFamily="49" charset="-122"/>
              </a:rPr>
              <a:t>的大小，只要力偶矩不变，对刚体的作用不变。 </a:t>
            </a:r>
          </a:p>
        </p:txBody>
      </p:sp>
      <p:sp>
        <p:nvSpPr>
          <p:cNvPr id="18436" name="Rectangle 4"/>
          <p:cNvSpPr>
            <a:spLocks noChangeArrowheads="1"/>
          </p:cNvSpPr>
          <p:nvPr/>
        </p:nvSpPr>
        <p:spPr bwMode="auto">
          <a:xfrm>
            <a:off x="891234" y="4553716"/>
            <a:ext cx="468887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rgbClr val="000000"/>
                </a:solidFill>
                <a:latin typeface="Times New Roman" panose="02020603050405020304" pitchFamily="18" charset="0"/>
              </a:rPr>
              <a:t>(3) </a:t>
            </a:r>
            <a:r>
              <a:rPr kumimoji="1" lang="zh-CN" altLang="en-US" sz="2400" b="1" dirty="0">
                <a:solidFill>
                  <a:srgbClr val="000000"/>
                </a:solidFill>
                <a:latin typeface="楷体" panose="02010609060101010101" pitchFamily="49" charset="-122"/>
                <a:ea typeface="楷体" panose="02010609060101010101" pitchFamily="49" charset="-122"/>
              </a:rPr>
              <a:t>力偶可以从其作用面移至另一 平行平面，只要力偶矩不变，对</a:t>
            </a:r>
            <a:r>
              <a:rPr kumimoji="1" lang="zh-CN" altLang="en-US" sz="2400" b="1" dirty="0">
                <a:latin typeface="楷体" panose="02010609060101010101" pitchFamily="49" charset="-122"/>
                <a:ea typeface="楷体" panose="02010609060101010101" pitchFamily="49" charset="-122"/>
              </a:rPr>
              <a:t>刚体</a:t>
            </a:r>
            <a:r>
              <a:rPr kumimoji="1" lang="zh-CN" altLang="en-US" sz="2400" b="1" dirty="0">
                <a:solidFill>
                  <a:srgbClr val="000000"/>
                </a:solidFill>
                <a:latin typeface="楷体" panose="02010609060101010101" pitchFamily="49" charset="-122"/>
                <a:ea typeface="楷体" panose="02010609060101010101" pitchFamily="49" charset="-122"/>
              </a:rPr>
              <a:t>的作用不变。 </a:t>
            </a:r>
          </a:p>
        </p:txBody>
      </p:sp>
      <p:graphicFrame>
        <p:nvGraphicFramePr>
          <p:cNvPr id="18439" name="Object 7"/>
          <p:cNvGraphicFramePr>
            <a:graphicFrameLocks noChangeAspect="1"/>
          </p:cNvGraphicFramePr>
          <p:nvPr>
            <p:extLst>
              <p:ext uri="{D42A27DB-BD31-4B8C-83A1-F6EECF244321}">
                <p14:modId xmlns:p14="http://schemas.microsoft.com/office/powerpoint/2010/main" val="2880214531"/>
              </p:ext>
            </p:extLst>
          </p:nvPr>
        </p:nvGraphicFramePr>
        <p:xfrm>
          <a:off x="6043239" y="1936972"/>
          <a:ext cx="2039937" cy="1085850"/>
        </p:xfrm>
        <a:graphic>
          <a:graphicData uri="http://schemas.openxmlformats.org/presentationml/2006/ole">
            <mc:AlternateContent xmlns:mc="http://schemas.openxmlformats.org/markup-compatibility/2006">
              <mc:Choice xmlns:v="urn:schemas-microsoft-com:vml" Requires="v">
                <p:oleObj spid="_x0000_s16398" name="BMP 图象" r:id="rId3" imgW="1895238" imgH="1009791" progId="Paint.Picture">
                  <p:embed/>
                </p:oleObj>
              </mc:Choice>
              <mc:Fallback>
                <p:oleObj name="BMP 图象" r:id="rId3" imgW="1895238" imgH="1009791"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3239" y="1936972"/>
                        <a:ext cx="2039937"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0" name="Object 8"/>
          <p:cNvGraphicFramePr>
            <a:graphicFrameLocks noChangeAspect="1"/>
          </p:cNvGraphicFramePr>
          <p:nvPr>
            <p:extLst>
              <p:ext uri="{D42A27DB-BD31-4B8C-83A1-F6EECF244321}">
                <p14:modId xmlns:p14="http://schemas.microsoft.com/office/powerpoint/2010/main" val="3630287743"/>
              </p:ext>
            </p:extLst>
          </p:nvPr>
        </p:nvGraphicFramePr>
        <p:xfrm>
          <a:off x="6001171" y="3082372"/>
          <a:ext cx="2266950" cy="1504950"/>
        </p:xfrm>
        <a:graphic>
          <a:graphicData uri="http://schemas.openxmlformats.org/presentationml/2006/ole">
            <mc:AlternateContent xmlns:mc="http://schemas.openxmlformats.org/markup-compatibility/2006">
              <mc:Choice xmlns:v="urn:schemas-microsoft-com:vml" Requires="v">
                <p:oleObj spid="_x0000_s16399" name="BMP 图象" r:id="rId5" imgW="2266667" imgH="1504762" progId="Paint.Picture">
                  <p:embed/>
                </p:oleObj>
              </mc:Choice>
              <mc:Fallback>
                <p:oleObj name="BMP 图象" r:id="rId5" imgW="2266667" imgH="1504762"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1171" y="3082372"/>
                        <a:ext cx="226695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1" name="Object 9"/>
          <p:cNvGraphicFramePr>
            <a:graphicFrameLocks noChangeAspect="1"/>
          </p:cNvGraphicFramePr>
          <p:nvPr>
            <p:extLst>
              <p:ext uri="{D42A27DB-BD31-4B8C-83A1-F6EECF244321}">
                <p14:modId xmlns:p14="http://schemas.microsoft.com/office/powerpoint/2010/main" val="785500650"/>
              </p:ext>
            </p:extLst>
          </p:nvPr>
        </p:nvGraphicFramePr>
        <p:xfrm>
          <a:off x="6001171" y="4730949"/>
          <a:ext cx="2124075" cy="1485900"/>
        </p:xfrm>
        <a:graphic>
          <a:graphicData uri="http://schemas.openxmlformats.org/presentationml/2006/ole">
            <mc:AlternateContent xmlns:mc="http://schemas.openxmlformats.org/markup-compatibility/2006">
              <mc:Choice xmlns:v="urn:schemas-microsoft-com:vml" Requires="v">
                <p:oleObj spid="_x0000_s16400" name="BMP 图象" r:id="rId7" imgW="2123810" imgH="1486107" progId="Paint.Picture">
                  <p:embed/>
                </p:oleObj>
              </mc:Choice>
              <mc:Fallback>
                <p:oleObj name="BMP 图象" r:id="rId7" imgW="2123810" imgH="1486107" progId="Paint.Picture">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01171" y="4730949"/>
                        <a:ext cx="2124075"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44" name="Text Box 12"/>
          <p:cNvSpPr txBox="1">
            <a:spLocks noChangeArrowheads="1"/>
          </p:cNvSpPr>
          <p:nvPr/>
        </p:nvSpPr>
        <p:spPr bwMode="auto">
          <a:xfrm>
            <a:off x="791154" y="1308659"/>
            <a:ext cx="6062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latin typeface="黑体" panose="02010609060101010101" pitchFamily="49" charset="-122"/>
                <a:ea typeface="黑体" panose="02010609060101010101" pitchFamily="49" charset="-122"/>
              </a:rPr>
              <a:t>若两力偶的力偶矩矢相等，则两力偶等效。</a:t>
            </a:r>
          </a:p>
        </p:txBody>
      </p:sp>
      <p:sp>
        <p:nvSpPr>
          <p:cNvPr id="10" name="Text Box 5"/>
          <p:cNvSpPr txBox="1">
            <a:spLocks noChangeArrowheads="1"/>
          </p:cNvSpPr>
          <p:nvPr/>
        </p:nvSpPr>
        <p:spPr bwMode="auto">
          <a:xfrm>
            <a:off x="791154" y="728840"/>
            <a:ext cx="47169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3</a:t>
            </a:r>
            <a:r>
              <a:rPr kumimoji="1" lang="zh-CN" altLang="en-US" sz="2800" b="1" dirty="0">
                <a:solidFill>
                  <a:srgbClr val="0000FF"/>
                </a:solidFill>
                <a:latin typeface="黑体" panose="02010609060101010101" pitchFamily="49" charset="-122"/>
                <a:ea typeface="黑体" panose="02010609060101010101" pitchFamily="49" charset="-122"/>
              </a:rPr>
              <a:t>．力偶的性质和等效条件</a:t>
            </a:r>
            <a:endParaRPr lang="en-US" altLang="zh-CN" sz="2800" b="1" dirty="0">
              <a:latin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23329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444">
                                            <p:txEl>
                                              <p:pRg st="0" end="0"/>
                                            </p:txEl>
                                          </p:spTgt>
                                        </p:tgtEl>
                                        <p:attrNameLst>
                                          <p:attrName>style.visibility</p:attrName>
                                        </p:attrNameLst>
                                      </p:cBhvr>
                                      <p:to>
                                        <p:strVal val="visible"/>
                                      </p:to>
                                    </p:set>
                                    <p:animEffect transition="in" filter="box(out)">
                                      <p:cBhvr>
                                        <p:cTn id="7" dur="500"/>
                                        <p:tgtEl>
                                          <p:spTgt spid="1844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8434">
                                            <p:txEl>
                                              <p:pRg st="0" end="0"/>
                                            </p:txEl>
                                          </p:spTgt>
                                        </p:tgtEl>
                                        <p:attrNameLst>
                                          <p:attrName>style.visibility</p:attrName>
                                        </p:attrNameLst>
                                      </p:cBhvr>
                                      <p:to>
                                        <p:strVal val="visible"/>
                                      </p:to>
                                    </p:set>
                                    <p:animEffect transition="in" filter="box(out)">
                                      <p:cBhvr>
                                        <p:cTn id="12" dur="500"/>
                                        <p:tgtEl>
                                          <p:spTgt spid="1843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8439"/>
                                        </p:tgtEl>
                                        <p:attrNameLst>
                                          <p:attrName>style.visibility</p:attrName>
                                        </p:attrNameLst>
                                      </p:cBhvr>
                                      <p:to>
                                        <p:strVal val="visible"/>
                                      </p:to>
                                    </p:set>
                                    <p:animEffect transition="in" filter="box(out)">
                                      <p:cBhvr>
                                        <p:cTn id="17" dur="500"/>
                                        <p:tgtEl>
                                          <p:spTgt spid="184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8435">
                                            <p:txEl>
                                              <p:pRg st="0" end="0"/>
                                            </p:txEl>
                                          </p:spTgt>
                                        </p:tgtEl>
                                        <p:attrNameLst>
                                          <p:attrName>style.visibility</p:attrName>
                                        </p:attrNameLst>
                                      </p:cBhvr>
                                      <p:to>
                                        <p:strVal val="visible"/>
                                      </p:to>
                                    </p:set>
                                    <p:animEffect transition="in" filter="box(out)">
                                      <p:cBhvr>
                                        <p:cTn id="22" dur="500"/>
                                        <p:tgtEl>
                                          <p:spTgt spid="1843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8440"/>
                                        </p:tgtEl>
                                        <p:attrNameLst>
                                          <p:attrName>style.visibility</p:attrName>
                                        </p:attrNameLst>
                                      </p:cBhvr>
                                      <p:to>
                                        <p:strVal val="visible"/>
                                      </p:to>
                                    </p:set>
                                    <p:animEffect transition="in" filter="box(out)">
                                      <p:cBhvr>
                                        <p:cTn id="27" dur="500"/>
                                        <p:tgtEl>
                                          <p:spTgt spid="184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8436">
                                            <p:txEl>
                                              <p:pRg st="0" end="0"/>
                                            </p:txEl>
                                          </p:spTgt>
                                        </p:tgtEl>
                                        <p:attrNameLst>
                                          <p:attrName>style.visibility</p:attrName>
                                        </p:attrNameLst>
                                      </p:cBhvr>
                                      <p:to>
                                        <p:strVal val="visible"/>
                                      </p:to>
                                    </p:set>
                                    <p:animEffect transition="in" filter="box(out)">
                                      <p:cBhvr>
                                        <p:cTn id="32" dur="500"/>
                                        <p:tgtEl>
                                          <p:spTgt spid="1843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8441"/>
                                        </p:tgtEl>
                                        <p:attrNameLst>
                                          <p:attrName>style.visibility</p:attrName>
                                        </p:attrNameLst>
                                      </p:cBhvr>
                                      <p:to>
                                        <p:strVal val="visible"/>
                                      </p:to>
                                    </p:set>
                                    <p:animEffect transition="in" filter="box(out)">
                                      <p:cBhvr>
                                        <p:cTn id="37" dur="500"/>
                                        <p:tgtEl>
                                          <p:spTgt spid="18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autoUpdateAnimBg="0"/>
      <p:bldP spid="18435" grpId="0" build="p" autoUpdateAnimBg="0"/>
      <p:bldP spid="18436" grpId="0" build="p" autoUpdateAnimBg="0"/>
      <p:bldP spid="18444"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AutoShape 4"/>
          <p:cNvSpPr>
            <a:spLocks noChangeArrowheads="1"/>
          </p:cNvSpPr>
          <p:nvPr/>
        </p:nvSpPr>
        <p:spPr bwMode="auto">
          <a:xfrm>
            <a:off x="947738" y="536213"/>
            <a:ext cx="2890837" cy="1676401"/>
          </a:xfrm>
          <a:prstGeom prst="cloudCallout">
            <a:avLst>
              <a:gd name="adj1" fmla="val -55556"/>
              <a:gd name="adj2" fmla="val 60889"/>
            </a:avLst>
          </a:prstGeom>
          <a:solidFill>
            <a:srgbClr val="FFFF00"/>
          </a:solidFill>
          <a:ln w="9525">
            <a:solidFill>
              <a:srgbClr val="FF0000"/>
            </a:solidFill>
            <a:round/>
            <a:headEnd/>
            <a:tailEnd type="none" w="sm" len="sm"/>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dirty="0">
                <a:latin typeface="楷体" panose="02010609060101010101" pitchFamily="49" charset="-122"/>
                <a:ea typeface="楷体" panose="02010609060101010101" pitchFamily="49" charset="-122"/>
              </a:rPr>
              <a:t>思考</a:t>
            </a:r>
            <a:r>
              <a:rPr kumimoji="1" lang="en-US" altLang="zh-CN" sz="2400" b="1" dirty="0">
                <a:latin typeface="楷体" panose="02010609060101010101" pitchFamily="49" charset="-122"/>
                <a:ea typeface="楷体" panose="02010609060101010101" pitchFamily="49" charset="-122"/>
              </a:rPr>
              <a:t>:</a:t>
            </a:r>
            <a:r>
              <a:rPr kumimoji="1" lang="zh-CN" altLang="en-US" sz="2400" b="1" dirty="0">
                <a:latin typeface="楷体" panose="02010609060101010101" pitchFamily="49" charset="-122"/>
                <a:ea typeface="楷体" panose="02010609060101010101" pitchFamily="49" charset="-122"/>
              </a:rPr>
              <a:t>力偶矩到底是矢量还是代数量</a:t>
            </a:r>
            <a:r>
              <a:rPr kumimoji="1" lang="en-US" altLang="zh-CN" sz="2400" b="1" dirty="0">
                <a:latin typeface="楷体" panose="02010609060101010101" pitchFamily="49" charset="-122"/>
                <a:ea typeface="楷体" panose="02010609060101010101" pitchFamily="49" charset="-122"/>
              </a:rPr>
              <a:t>?</a:t>
            </a:r>
          </a:p>
        </p:txBody>
      </p:sp>
      <p:grpSp>
        <p:nvGrpSpPr>
          <p:cNvPr id="2" name="Group 26"/>
          <p:cNvGrpSpPr>
            <a:grpSpLocks/>
          </p:cNvGrpSpPr>
          <p:nvPr/>
        </p:nvGrpSpPr>
        <p:grpSpPr bwMode="auto">
          <a:xfrm>
            <a:off x="2159000" y="2294290"/>
            <a:ext cx="2232025" cy="720725"/>
            <a:chOff x="1338" y="2205"/>
            <a:chExt cx="1406" cy="454"/>
          </a:xfrm>
        </p:grpSpPr>
        <p:sp>
          <p:nvSpPr>
            <p:cNvPr id="27667" name="AutoShape 23"/>
            <p:cNvSpPr>
              <a:spLocks noChangeArrowheads="1"/>
            </p:cNvSpPr>
            <p:nvPr/>
          </p:nvSpPr>
          <p:spPr bwMode="auto">
            <a:xfrm>
              <a:off x="1338" y="2205"/>
              <a:ext cx="1406" cy="454"/>
            </a:xfrm>
            <a:prstGeom prst="flowChartInputOutput">
              <a:avLst/>
            </a:prstGeom>
            <a:solidFill>
              <a:srgbClr val="CCFF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endParaRPr lang="zh-CN" altLang="en-US"/>
            </a:p>
          </p:txBody>
        </p:sp>
        <p:grpSp>
          <p:nvGrpSpPr>
            <p:cNvPr id="27668" name="Group 5"/>
            <p:cNvGrpSpPr>
              <a:grpSpLocks/>
            </p:cNvGrpSpPr>
            <p:nvPr/>
          </p:nvGrpSpPr>
          <p:grpSpPr bwMode="auto">
            <a:xfrm>
              <a:off x="1722" y="2205"/>
              <a:ext cx="600" cy="432"/>
              <a:chOff x="648" y="2160"/>
              <a:chExt cx="600" cy="432"/>
            </a:xfrm>
          </p:grpSpPr>
          <p:sp>
            <p:nvSpPr>
              <p:cNvPr id="27669" name="Line 6"/>
              <p:cNvSpPr>
                <a:spLocks noChangeShapeType="1"/>
              </p:cNvSpPr>
              <p:nvPr/>
            </p:nvSpPr>
            <p:spPr bwMode="auto">
              <a:xfrm rot="1800000">
                <a:off x="768" y="2256"/>
                <a:ext cx="0" cy="336"/>
              </a:xfrm>
              <a:prstGeom prst="line">
                <a:avLst/>
              </a:prstGeom>
              <a:noFill/>
              <a:ln w="25400">
                <a:solidFill>
                  <a:schemeClr val="tx1"/>
                </a:solidFill>
                <a:miter lim="800000"/>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27670" name="Line 7"/>
              <p:cNvSpPr>
                <a:spLocks noChangeShapeType="1"/>
              </p:cNvSpPr>
              <p:nvPr/>
            </p:nvSpPr>
            <p:spPr bwMode="auto">
              <a:xfrm>
                <a:off x="859" y="2295"/>
                <a:ext cx="293"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27671" name="Group 8"/>
              <p:cNvGrpSpPr>
                <a:grpSpLocks/>
              </p:cNvGrpSpPr>
              <p:nvPr/>
            </p:nvGrpSpPr>
            <p:grpSpPr bwMode="auto">
              <a:xfrm>
                <a:off x="648" y="2160"/>
                <a:ext cx="600" cy="336"/>
                <a:chOff x="648" y="2160"/>
                <a:chExt cx="600" cy="336"/>
              </a:xfrm>
            </p:grpSpPr>
            <p:sp>
              <p:nvSpPr>
                <p:cNvPr id="27672" name="Line 9"/>
                <p:cNvSpPr>
                  <a:spLocks noChangeShapeType="1"/>
                </p:cNvSpPr>
                <p:nvPr/>
              </p:nvSpPr>
              <p:spPr bwMode="auto">
                <a:xfrm rot="-9000000">
                  <a:off x="1248" y="2160"/>
                  <a:ext cx="0" cy="336"/>
                </a:xfrm>
                <a:prstGeom prst="line">
                  <a:avLst/>
                </a:prstGeom>
                <a:noFill/>
                <a:ln w="25400">
                  <a:solidFill>
                    <a:schemeClr val="tx1"/>
                  </a:solidFill>
                  <a:miter lim="800000"/>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27673" name="Text Box 10"/>
                <p:cNvSpPr txBox="1">
                  <a:spLocks noChangeArrowheads="1"/>
                </p:cNvSpPr>
                <p:nvPr/>
              </p:nvSpPr>
              <p:spPr bwMode="auto">
                <a:xfrm>
                  <a:off x="648" y="2213"/>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dirty="0">
                      <a:latin typeface="Times New Roman" panose="02020603050405020304" pitchFamily="18" charset="0"/>
                    </a:rPr>
                    <a:t>F</a:t>
                  </a:r>
                </a:p>
              </p:txBody>
            </p:sp>
            <p:sp>
              <p:nvSpPr>
                <p:cNvPr id="27674" name="Text Box 11"/>
                <p:cNvSpPr txBox="1">
                  <a:spLocks noChangeArrowheads="1"/>
                </p:cNvSpPr>
                <p:nvPr/>
              </p:nvSpPr>
              <p:spPr bwMode="auto">
                <a:xfrm>
                  <a:off x="1005" y="2191"/>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dirty="0">
                      <a:latin typeface="Times New Roman" panose="02020603050405020304" pitchFamily="18" charset="0"/>
                    </a:rPr>
                    <a:t>d</a:t>
                  </a:r>
                </a:p>
              </p:txBody>
            </p:sp>
          </p:grpSp>
        </p:grpSp>
      </p:grpSp>
      <p:grpSp>
        <p:nvGrpSpPr>
          <p:cNvPr id="5" name="Group 31"/>
          <p:cNvGrpSpPr>
            <a:grpSpLocks/>
          </p:cNvGrpSpPr>
          <p:nvPr/>
        </p:nvGrpSpPr>
        <p:grpSpPr bwMode="auto">
          <a:xfrm>
            <a:off x="4643438" y="2214563"/>
            <a:ext cx="2590800" cy="1085850"/>
            <a:chOff x="2064" y="2840"/>
            <a:chExt cx="1632" cy="684"/>
          </a:xfrm>
        </p:grpSpPr>
        <p:grpSp>
          <p:nvGrpSpPr>
            <p:cNvPr id="27661" name="Group 27"/>
            <p:cNvGrpSpPr>
              <a:grpSpLocks/>
            </p:cNvGrpSpPr>
            <p:nvPr/>
          </p:nvGrpSpPr>
          <p:grpSpPr bwMode="auto">
            <a:xfrm>
              <a:off x="2064" y="3022"/>
              <a:ext cx="195" cy="51"/>
              <a:chOff x="4150" y="2862"/>
              <a:chExt cx="195" cy="51"/>
            </a:xfrm>
          </p:grpSpPr>
          <p:sp>
            <p:nvSpPr>
              <p:cNvPr id="27665" name="Line 18"/>
              <p:cNvSpPr>
                <a:spLocks noChangeShapeType="1"/>
              </p:cNvSpPr>
              <p:nvPr/>
            </p:nvSpPr>
            <p:spPr bwMode="auto">
              <a:xfrm>
                <a:off x="4153" y="2862"/>
                <a:ext cx="19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66" name="Line 19"/>
              <p:cNvSpPr>
                <a:spLocks noChangeShapeType="1"/>
              </p:cNvSpPr>
              <p:nvPr/>
            </p:nvSpPr>
            <p:spPr bwMode="auto">
              <a:xfrm>
                <a:off x="4150" y="2913"/>
                <a:ext cx="19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27662" name="AutoShape 24"/>
            <p:cNvSpPr>
              <a:spLocks noChangeArrowheads="1"/>
            </p:cNvSpPr>
            <p:nvPr/>
          </p:nvSpPr>
          <p:spPr bwMode="auto">
            <a:xfrm>
              <a:off x="2290" y="2840"/>
              <a:ext cx="1406" cy="454"/>
            </a:xfrm>
            <a:prstGeom prst="flowChartInputOutput">
              <a:avLst/>
            </a:prstGeom>
            <a:solidFill>
              <a:srgbClr val="CCFF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endParaRPr lang="zh-CN" altLang="en-US"/>
            </a:p>
          </p:txBody>
        </p:sp>
        <p:sp>
          <p:nvSpPr>
            <p:cNvPr id="27663" name="AutoShape 20"/>
            <p:cNvSpPr>
              <a:spLocks noChangeArrowheads="1"/>
            </p:cNvSpPr>
            <p:nvPr/>
          </p:nvSpPr>
          <p:spPr bwMode="auto">
            <a:xfrm rot="21026395" flipH="1">
              <a:off x="2880" y="2931"/>
              <a:ext cx="384"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290" y="11576"/>
                  </a:moveTo>
                  <a:cubicBezTo>
                    <a:pt x="20311" y="11318"/>
                    <a:pt x="20322" y="11059"/>
                    <a:pt x="20322" y="10800"/>
                  </a:cubicBezTo>
                  <a:cubicBezTo>
                    <a:pt x="20322" y="5541"/>
                    <a:pt x="16058" y="1278"/>
                    <a:pt x="10800" y="1278"/>
                  </a:cubicBezTo>
                  <a:cubicBezTo>
                    <a:pt x="5541" y="1278"/>
                    <a:pt x="1278" y="5541"/>
                    <a:pt x="1278" y="10800"/>
                  </a:cubicBezTo>
                  <a:lnTo>
                    <a:pt x="0" y="10800"/>
                  </a:lnTo>
                  <a:cubicBezTo>
                    <a:pt x="0" y="4835"/>
                    <a:pt x="4835" y="0"/>
                    <a:pt x="10800" y="0"/>
                  </a:cubicBezTo>
                  <a:cubicBezTo>
                    <a:pt x="16764" y="0"/>
                    <a:pt x="21600" y="4835"/>
                    <a:pt x="21600" y="10800"/>
                  </a:cubicBezTo>
                  <a:cubicBezTo>
                    <a:pt x="21600" y="11094"/>
                    <a:pt x="21587" y="11388"/>
                    <a:pt x="21563" y="11681"/>
                  </a:cubicBezTo>
                  <a:lnTo>
                    <a:pt x="24254" y="11901"/>
                  </a:lnTo>
                  <a:lnTo>
                    <a:pt x="20654" y="14957"/>
                  </a:lnTo>
                  <a:lnTo>
                    <a:pt x="17599" y="11356"/>
                  </a:lnTo>
                  <a:lnTo>
                    <a:pt x="20290" y="11576"/>
                  </a:lnTo>
                  <a:close/>
                </a:path>
              </a:pathLst>
            </a:custGeom>
            <a:solidFill>
              <a:srgbClr val="333399"/>
            </a:solidFill>
            <a:ln w="9525">
              <a:solidFill>
                <a:schemeClr val="tx1"/>
              </a:solidFill>
              <a:miter lim="800000"/>
              <a:headEnd/>
              <a:tailEnd/>
            </a:ln>
          </p:spPr>
          <p:txBody>
            <a:bodyPr wrap="none" anchor="ctr"/>
            <a:lstStyle/>
            <a:p>
              <a:endParaRPr lang="zh-CN" altLang="en-US"/>
            </a:p>
          </p:txBody>
        </p:sp>
        <p:sp>
          <p:nvSpPr>
            <p:cNvPr id="27664" name="Text Box 21"/>
            <p:cNvSpPr txBox="1">
              <a:spLocks noChangeArrowheads="1"/>
            </p:cNvSpPr>
            <p:nvPr/>
          </p:nvSpPr>
          <p:spPr bwMode="auto">
            <a:xfrm>
              <a:off x="2608" y="3294"/>
              <a:ext cx="63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latin typeface="Times New Roman" panose="02020603050405020304" pitchFamily="18" charset="0"/>
                </a:rPr>
                <a:t>M=Fd</a:t>
              </a:r>
            </a:p>
          </p:txBody>
        </p:sp>
      </p:grpSp>
      <p:grpSp>
        <p:nvGrpSpPr>
          <p:cNvPr id="7" name="Group 41"/>
          <p:cNvGrpSpPr>
            <a:grpSpLocks/>
          </p:cNvGrpSpPr>
          <p:nvPr/>
        </p:nvGrpSpPr>
        <p:grpSpPr bwMode="auto">
          <a:xfrm>
            <a:off x="4643438" y="479426"/>
            <a:ext cx="2735263" cy="1370012"/>
            <a:chOff x="3833" y="2976"/>
            <a:chExt cx="1723" cy="863"/>
          </a:xfrm>
        </p:grpSpPr>
        <p:sp>
          <p:nvSpPr>
            <p:cNvPr id="27655" name="AutoShape 25"/>
            <p:cNvSpPr>
              <a:spLocks noChangeArrowheads="1"/>
            </p:cNvSpPr>
            <p:nvPr/>
          </p:nvSpPr>
          <p:spPr bwMode="auto">
            <a:xfrm>
              <a:off x="4150" y="3385"/>
              <a:ext cx="1406" cy="454"/>
            </a:xfrm>
            <a:prstGeom prst="flowChartInputOutput">
              <a:avLst/>
            </a:prstGeom>
            <a:solidFill>
              <a:srgbClr val="CCFF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endParaRPr lang="zh-CN" altLang="en-US"/>
            </a:p>
          </p:txBody>
        </p:sp>
        <p:grpSp>
          <p:nvGrpSpPr>
            <p:cNvPr id="27656" name="Group 28"/>
            <p:cNvGrpSpPr>
              <a:grpSpLocks/>
            </p:cNvGrpSpPr>
            <p:nvPr/>
          </p:nvGrpSpPr>
          <p:grpSpPr bwMode="auto">
            <a:xfrm>
              <a:off x="3833" y="3566"/>
              <a:ext cx="195" cy="51"/>
              <a:chOff x="4150" y="2862"/>
              <a:chExt cx="195" cy="51"/>
            </a:xfrm>
          </p:grpSpPr>
          <p:sp>
            <p:nvSpPr>
              <p:cNvPr id="27659" name="Line 29"/>
              <p:cNvSpPr>
                <a:spLocks noChangeShapeType="1"/>
              </p:cNvSpPr>
              <p:nvPr/>
            </p:nvSpPr>
            <p:spPr bwMode="auto">
              <a:xfrm>
                <a:off x="4153" y="2862"/>
                <a:ext cx="19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60" name="Line 30"/>
              <p:cNvSpPr>
                <a:spLocks noChangeShapeType="1"/>
              </p:cNvSpPr>
              <p:nvPr/>
            </p:nvSpPr>
            <p:spPr bwMode="auto">
              <a:xfrm>
                <a:off x="4150" y="2913"/>
                <a:ext cx="19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27657" name="Line 32"/>
            <p:cNvSpPr>
              <a:spLocks noChangeShapeType="1"/>
            </p:cNvSpPr>
            <p:nvPr/>
          </p:nvSpPr>
          <p:spPr bwMode="auto">
            <a:xfrm flipV="1">
              <a:off x="4876" y="3022"/>
              <a:ext cx="0" cy="590"/>
            </a:xfrm>
            <a:prstGeom prst="line">
              <a:avLst/>
            </a:prstGeom>
            <a:noFill/>
            <a:ln w="3175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7658" name="Text Box 40"/>
            <p:cNvSpPr txBox="1">
              <a:spLocks noChangeArrowheads="1"/>
            </p:cNvSpPr>
            <p:nvPr/>
          </p:nvSpPr>
          <p:spPr bwMode="auto">
            <a:xfrm>
              <a:off x="4967" y="2976"/>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latin typeface="Times New Roman" panose="02020603050405020304" pitchFamily="18" charset="0"/>
                </a:rPr>
                <a:t>M</a:t>
              </a:r>
            </a:p>
          </p:txBody>
        </p:sp>
      </p:grpSp>
      <p:sp>
        <p:nvSpPr>
          <p:cNvPr id="26" name="Text Box 4"/>
          <p:cNvSpPr txBox="1">
            <a:spLocks noChangeArrowheads="1"/>
          </p:cNvSpPr>
          <p:nvPr/>
        </p:nvSpPr>
        <p:spPr bwMode="auto">
          <a:xfrm>
            <a:off x="1079042" y="3204279"/>
            <a:ext cx="71287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FF0000"/>
                </a:solidFill>
                <a:latin typeface="楷体" panose="02010609060101010101" pitchFamily="49" charset="-122"/>
                <a:ea typeface="楷体" panose="02010609060101010101" pitchFamily="49" charset="-122"/>
              </a:rPr>
              <a:t>说明</a:t>
            </a:r>
            <a:r>
              <a:rPr kumimoji="1" lang="en-US" altLang="zh-CN" sz="2400" b="1" dirty="0">
                <a:solidFill>
                  <a:srgbClr val="FF0000"/>
                </a:solidFill>
                <a:latin typeface="楷体" panose="02010609060101010101" pitchFamily="49" charset="-122"/>
                <a:ea typeface="楷体" panose="02010609060101010101" pitchFamily="49" charset="-122"/>
              </a:rPr>
              <a:t>:</a:t>
            </a:r>
          </a:p>
        </p:txBody>
      </p:sp>
      <p:sp>
        <p:nvSpPr>
          <p:cNvPr id="3" name="矩形 2"/>
          <p:cNvSpPr/>
          <p:nvPr/>
        </p:nvSpPr>
        <p:spPr>
          <a:xfrm>
            <a:off x="1125538" y="4642553"/>
            <a:ext cx="7082296" cy="830997"/>
          </a:xfrm>
          <a:prstGeom prst="rect">
            <a:avLst/>
          </a:prstGeom>
        </p:spPr>
        <p:txBody>
          <a:bodyPr wrap="square">
            <a:spAutoFit/>
          </a:bodyPr>
          <a:lstStyle/>
          <a:p>
            <a:pPr eaLnBrk="1" hangingPunct="1">
              <a:spcBef>
                <a:spcPct val="50000"/>
              </a:spcBef>
            </a:pPr>
            <a:r>
              <a:rPr lang="en-US" altLang="zh-CN" b="1" dirty="0" smtClean="0">
                <a:latin typeface="楷体" panose="02010609060101010101" pitchFamily="49" charset="-122"/>
                <a:ea typeface="楷体" panose="02010609060101010101" pitchFamily="49" charset="-122"/>
              </a:rPr>
              <a:t>2</a:t>
            </a:r>
            <a:r>
              <a:rPr lang="zh-CN" altLang="en-US" b="1" dirty="0" smtClean="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自由刚体受力偶作用时总是绕着力偶臂的中点转动</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那么力偶无法等效</a:t>
            </a:r>
            <a:r>
              <a:rPr lang="en-US" altLang="zh-CN" b="1" dirty="0">
                <a:latin typeface="楷体" panose="02010609060101010101" pitchFamily="49" charset="-122"/>
                <a:ea typeface="楷体" panose="02010609060101010101" pitchFamily="49" charset="-122"/>
              </a:rPr>
              <a:t>.</a:t>
            </a:r>
          </a:p>
        </p:txBody>
      </p:sp>
      <p:sp>
        <p:nvSpPr>
          <p:cNvPr id="4" name="矩形 3"/>
          <p:cNvSpPr/>
          <p:nvPr/>
        </p:nvSpPr>
        <p:spPr>
          <a:xfrm>
            <a:off x="1079042" y="3783624"/>
            <a:ext cx="7021350" cy="830997"/>
          </a:xfrm>
          <a:prstGeom prst="rect">
            <a:avLst/>
          </a:prstGeom>
        </p:spPr>
        <p:txBody>
          <a:bodyPr wrap="square">
            <a:spAutoFit/>
          </a:bodyPr>
          <a:lstStyle/>
          <a:p>
            <a:pPr eaLnBrk="1" hangingPunct="1">
              <a:spcBef>
                <a:spcPct val="50000"/>
              </a:spcBef>
            </a:pPr>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、力、力偶臂不是力偶的特征量</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只有</a:t>
            </a:r>
            <a:r>
              <a:rPr lang="zh-CN" altLang="en-US" b="1" dirty="0">
                <a:solidFill>
                  <a:srgbClr val="FF0000"/>
                </a:solidFill>
                <a:latin typeface="楷体" panose="02010609060101010101" pitchFamily="49" charset="-122"/>
                <a:ea typeface="楷体" panose="02010609060101010101" pitchFamily="49" charset="-122"/>
              </a:rPr>
              <a:t>力偶矩</a:t>
            </a:r>
            <a:r>
              <a:rPr lang="zh-CN" altLang="en-US" b="1" dirty="0">
                <a:latin typeface="楷体" panose="02010609060101010101" pitchFamily="49" charset="-122"/>
                <a:ea typeface="楷体" panose="02010609060101010101" pitchFamily="49" charset="-122"/>
              </a:rPr>
              <a:t>是唯一度量</a:t>
            </a:r>
            <a:r>
              <a:rPr lang="en-US" altLang="zh-CN" b="1" dirty="0">
                <a:latin typeface="楷体" panose="02010609060101010101" pitchFamily="49" charset="-122"/>
                <a:ea typeface="楷体" panose="02010609060101010101" pitchFamily="49" charset="-122"/>
              </a:rPr>
              <a:t>.</a:t>
            </a:r>
          </a:p>
        </p:txBody>
      </p:sp>
      <p:sp>
        <p:nvSpPr>
          <p:cNvPr id="6" name="矩形 5"/>
          <p:cNvSpPr/>
          <p:nvPr/>
        </p:nvSpPr>
        <p:spPr>
          <a:xfrm>
            <a:off x="603195" y="5501482"/>
            <a:ext cx="8126982" cy="830997"/>
          </a:xfrm>
          <a:prstGeom prst="rect">
            <a:avLst/>
          </a:prstGeom>
        </p:spPr>
        <p:txBody>
          <a:bodyPr wrap="square">
            <a:spAutoFit/>
          </a:bodyPr>
          <a:lstStyle/>
          <a:p>
            <a:pPr eaLnBrk="1" hangingPunct="1">
              <a:spcBef>
                <a:spcPct val="50000"/>
              </a:spcBef>
            </a:pPr>
            <a:r>
              <a:rPr lang="zh-CN" altLang="en-US" b="1" dirty="0">
                <a:latin typeface="楷体" panose="02010609060101010101" pitchFamily="49" charset="-122"/>
                <a:ea typeface="楷体" panose="02010609060101010101" pitchFamily="49" charset="-122"/>
              </a:rPr>
              <a:t>动力学可以证明</a:t>
            </a:r>
            <a:r>
              <a:rPr lang="en-US" altLang="zh-CN" b="1" dirty="0">
                <a:latin typeface="楷体" panose="02010609060101010101" pitchFamily="49" charset="-122"/>
                <a:ea typeface="楷体" panose="02010609060101010101" pitchFamily="49" charset="-122"/>
              </a:rPr>
              <a:t>:</a:t>
            </a:r>
            <a:r>
              <a:rPr lang="zh-CN" altLang="en-US" b="1" dirty="0">
                <a:solidFill>
                  <a:srgbClr val="FF0000"/>
                </a:solidFill>
                <a:latin typeface="楷体" panose="02010609060101010101" pitchFamily="49" charset="-122"/>
                <a:ea typeface="楷体" panose="02010609060101010101" pitchFamily="49" charset="-122"/>
              </a:rPr>
              <a:t>静止的自由刚体受力偶作用时</a:t>
            </a:r>
            <a:r>
              <a:rPr lang="en-US" altLang="zh-CN" b="1" dirty="0">
                <a:solidFill>
                  <a:srgbClr val="FF0000"/>
                </a:solidFill>
                <a:latin typeface="楷体" panose="02010609060101010101" pitchFamily="49" charset="-122"/>
                <a:ea typeface="楷体" panose="02010609060101010101" pitchFamily="49" charset="-122"/>
              </a:rPr>
              <a:t>,</a:t>
            </a:r>
            <a:r>
              <a:rPr lang="zh-CN" altLang="en-US" b="1" dirty="0">
                <a:solidFill>
                  <a:srgbClr val="FF0000"/>
                </a:solidFill>
                <a:latin typeface="楷体" panose="02010609060101010101" pitchFamily="49" charset="-122"/>
                <a:ea typeface="楷体" panose="02010609060101010101" pitchFamily="49" charset="-122"/>
              </a:rPr>
              <a:t>总是绕着刚体的质量中心转动</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与质量分布有关</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与作用位置无关</a:t>
            </a:r>
            <a:r>
              <a:rPr lang="en-US" altLang="zh-CN"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1146818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dissolve">
                                      <p:cBhvr>
                                        <p:cTn id="7" dur="500"/>
                                        <p:tgtEl>
                                          <p:spTgt spid="256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amond(ou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3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amond(ou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32"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amond(out)">
                                      <p:cBhvr>
                                        <p:cTn id="22" dur="75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blinds(horizontal)">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arn(outVertical)">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animBg="1" autoUpdateAnimBg="0"/>
      <p:bldP spid="26" grpId="0"/>
      <p:bldP spid="3" grpId="0"/>
      <p:bldP spid="4"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0" name="Text Box 14"/>
          <p:cNvSpPr txBox="1">
            <a:spLocks noChangeArrowheads="1"/>
          </p:cNvSpPr>
          <p:nvPr/>
        </p:nvSpPr>
        <p:spPr bwMode="auto">
          <a:xfrm>
            <a:off x="911653" y="4143668"/>
            <a:ext cx="3095719" cy="603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60000"/>
              </a:lnSpc>
            </a:pPr>
            <a:r>
              <a:rPr kumimoji="1" lang="en-US" altLang="zh-CN" sz="2400" dirty="0">
                <a:latin typeface="Times New Roman" panose="02020603050405020304" pitchFamily="18" charset="0"/>
              </a:rPr>
              <a:t>(1) </a:t>
            </a:r>
            <a:r>
              <a:rPr kumimoji="1" lang="zh-CN" altLang="en-US" sz="2400" b="1" dirty="0">
                <a:latin typeface="黑体" panose="02010609060101010101" pitchFamily="49" charset="-122"/>
                <a:ea typeface="黑体" panose="02010609060101010101" pitchFamily="49" charset="-122"/>
              </a:rPr>
              <a:t>空间</a:t>
            </a:r>
            <a:r>
              <a:rPr kumimoji="1" lang="zh-CN" altLang="en-US" sz="2400" b="1" dirty="0">
                <a:solidFill>
                  <a:srgbClr val="000000"/>
                </a:solidFill>
                <a:latin typeface="黑体" panose="02010609060101010101" pitchFamily="49" charset="-122"/>
                <a:ea typeface="黑体" panose="02010609060101010101" pitchFamily="49" charset="-122"/>
              </a:rPr>
              <a:t>力偶系的合成</a:t>
            </a:r>
            <a:endParaRPr kumimoji="1" lang="zh-CN" altLang="en-US" sz="2400" b="1" dirty="0">
              <a:latin typeface="黑体" panose="02010609060101010101" pitchFamily="49" charset="-122"/>
              <a:ea typeface="黑体" panose="02010609060101010101" pitchFamily="49" charset="-122"/>
            </a:endParaRPr>
          </a:p>
        </p:txBody>
      </p:sp>
      <p:graphicFrame>
        <p:nvGraphicFramePr>
          <p:cNvPr id="19471" name="Object 15"/>
          <p:cNvGraphicFramePr>
            <a:graphicFrameLocks noChangeAspect="1"/>
          </p:cNvGraphicFramePr>
          <p:nvPr>
            <p:extLst>
              <p:ext uri="{D42A27DB-BD31-4B8C-83A1-F6EECF244321}">
                <p14:modId xmlns:p14="http://schemas.microsoft.com/office/powerpoint/2010/main" val="3195091387"/>
              </p:ext>
            </p:extLst>
          </p:nvPr>
        </p:nvGraphicFramePr>
        <p:xfrm>
          <a:off x="1011713" y="4927149"/>
          <a:ext cx="4167187" cy="457200"/>
        </p:xfrm>
        <a:graphic>
          <a:graphicData uri="http://schemas.openxmlformats.org/presentationml/2006/ole">
            <mc:AlternateContent xmlns:mc="http://schemas.openxmlformats.org/markup-compatibility/2006">
              <mc:Choice xmlns:v="urn:schemas-microsoft-com:vml" Requires="v">
                <p:oleObj spid="_x0000_s17418" name="Equation" r:id="rId3" imgW="4140200" imgH="457200" progId="Equation.3">
                  <p:embed/>
                </p:oleObj>
              </mc:Choice>
              <mc:Fallback>
                <p:oleObj name="Equation" r:id="rId3" imgW="41402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1713" y="4927149"/>
                        <a:ext cx="4167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72" name="Text Box 16"/>
          <p:cNvSpPr txBox="1">
            <a:spLocks noChangeArrowheads="1"/>
          </p:cNvSpPr>
          <p:nvPr/>
        </p:nvSpPr>
        <p:spPr bwMode="auto">
          <a:xfrm>
            <a:off x="5371171" y="4889149"/>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FF0000"/>
                </a:solidFill>
                <a:latin typeface="楷体" panose="02010609060101010101" pitchFamily="49" charset="-122"/>
                <a:ea typeface="楷体" panose="02010609060101010101" pitchFamily="49" charset="-122"/>
              </a:rPr>
              <a:t>方法</a:t>
            </a:r>
            <a:r>
              <a:rPr kumimoji="1" lang="en-US" altLang="zh-CN" sz="2400" b="1" dirty="0">
                <a:solidFill>
                  <a:srgbClr val="FF0000"/>
                </a:solidFill>
                <a:latin typeface="楷体" panose="02010609060101010101" pitchFamily="49" charset="-122"/>
                <a:ea typeface="楷体" panose="02010609060101010101" pitchFamily="49" charset="-122"/>
              </a:rPr>
              <a:t>:</a:t>
            </a:r>
            <a:r>
              <a:rPr kumimoji="1" lang="zh-CN" altLang="en-US" sz="2400" b="1" dirty="0">
                <a:solidFill>
                  <a:srgbClr val="FF0000"/>
                </a:solidFill>
                <a:latin typeface="楷体" panose="02010609060101010101" pitchFamily="49" charset="-122"/>
                <a:ea typeface="楷体" panose="02010609060101010101" pitchFamily="49" charset="-122"/>
              </a:rPr>
              <a:t>几何法、解析法</a:t>
            </a:r>
          </a:p>
        </p:txBody>
      </p:sp>
      <p:sp>
        <p:nvSpPr>
          <p:cNvPr id="19473" name="Text Box 17"/>
          <p:cNvSpPr txBox="1">
            <a:spLocks noChangeArrowheads="1"/>
          </p:cNvSpPr>
          <p:nvPr/>
        </p:nvSpPr>
        <p:spPr bwMode="auto">
          <a:xfrm>
            <a:off x="934671" y="5384349"/>
            <a:ext cx="3095719" cy="603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60000"/>
              </a:lnSpc>
            </a:pPr>
            <a:r>
              <a:rPr kumimoji="1" lang="en-US" altLang="zh-CN" sz="2400" dirty="0">
                <a:latin typeface="Times New Roman" panose="02020603050405020304" pitchFamily="18" charset="0"/>
              </a:rPr>
              <a:t>(2) </a:t>
            </a:r>
            <a:r>
              <a:rPr kumimoji="1" lang="zh-CN" altLang="en-US" sz="2400" b="1" dirty="0">
                <a:latin typeface="黑体" panose="02010609060101010101" pitchFamily="49" charset="-122"/>
                <a:ea typeface="黑体" panose="02010609060101010101" pitchFamily="49" charset="-122"/>
              </a:rPr>
              <a:t>平面</a:t>
            </a:r>
            <a:r>
              <a:rPr kumimoji="1" lang="zh-CN" altLang="en-US" sz="2400" b="1" dirty="0">
                <a:solidFill>
                  <a:srgbClr val="000000"/>
                </a:solidFill>
                <a:latin typeface="黑体" panose="02010609060101010101" pitchFamily="49" charset="-122"/>
                <a:ea typeface="黑体" panose="02010609060101010101" pitchFamily="49" charset="-122"/>
              </a:rPr>
              <a:t>力偶系的合成</a:t>
            </a:r>
            <a:endParaRPr kumimoji="1" lang="zh-CN" altLang="en-US" sz="2400" b="1" dirty="0">
              <a:latin typeface="黑体" panose="02010609060101010101" pitchFamily="49" charset="-122"/>
              <a:ea typeface="黑体" panose="02010609060101010101" pitchFamily="49" charset="-122"/>
            </a:endParaRPr>
          </a:p>
        </p:txBody>
      </p:sp>
      <p:graphicFrame>
        <p:nvGraphicFramePr>
          <p:cNvPr id="19474" name="Object 18"/>
          <p:cNvGraphicFramePr>
            <a:graphicFrameLocks noChangeAspect="1"/>
          </p:cNvGraphicFramePr>
          <p:nvPr>
            <p:extLst>
              <p:ext uri="{D42A27DB-BD31-4B8C-83A1-F6EECF244321}">
                <p14:modId xmlns:p14="http://schemas.microsoft.com/office/powerpoint/2010/main" val="1940397090"/>
              </p:ext>
            </p:extLst>
          </p:nvPr>
        </p:nvGraphicFramePr>
        <p:xfrm>
          <a:off x="4243271" y="5571452"/>
          <a:ext cx="1420019" cy="521002"/>
        </p:xfrm>
        <a:graphic>
          <a:graphicData uri="http://schemas.openxmlformats.org/presentationml/2006/ole">
            <mc:AlternateContent xmlns:mc="http://schemas.openxmlformats.org/markup-compatibility/2006">
              <mc:Choice xmlns:v="urn:schemas-microsoft-com:vml" Requires="v">
                <p:oleObj spid="_x0000_s17419" name="公式" r:id="rId5" imgW="723586" imgH="266584" progId="Equation.3">
                  <p:embed/>
                </p:oleObj>
              </mc:Choice>
              <mc:Fallback>
                <p:oleObj name="公式" r:id="rId5" imgW="723586" imgH="26658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3271" y="5571452"/>
                        <a:ext cx="1420019" cy="521002"/>
                      </a:xfrm>
                      <a:prstGeom prst="rect">
                        <a:avLst/>
                      </a:prstGeom>
                      <a:noFill/>
                      <a:ln>
                        <a:noFill/>
                      </a:ln>
                      <a:effectLst/>
                    </p:spPr>
                  </p:pic>
                </p:oleObj>
              </mc:Fallback>
            </mc:AlternateContent>
          </a:graphicData>
        </a:graphic>
      </p:graphicFrame>
      <p:sp>
        <p:nvSpPr>
          <p:cNvPr id="19475" name="Text Box 19"/>
          <p:cNvSpPr txBox="1">
            <a:spLocks noChangeArrowheads="1"/>
          </p:cNvSpPr>
          <p:nvPr/>
        </p:nvSpPr>
        <p:spPr bwMode="auto">
          <a:xfrm>
            <a:off x="6178413" y="5556402"/>
            <a:ext cx="110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dirty="0">
                <a:solidFill>
                  <a:srgbClr val="FF0000"/>
                </a:solidFill>
                <a:latin typeface="楷体" panose="02010609060101010101" pitchFamily="49" charset="-122"/>
                <a:ea typeface="楷体" panose="02010609060101010101" pitchFamily="49" charset="-122"/>
                <a:sym typeface="Symbol" panose="05050102010706020507" pitchFamily="18" charset="2"/>
              </a:rPr>
              <a:t>代数和</a:t>
            </a:r>
          </a:p>
        </p:txBody>
      </p:sp>
      <p:sp>
        <p:nvSpPr>
          <p:cNvPr id="15" name="Text Box 5"/>
          <p:cNvSpPr txBox="1">
            <a:spLocks noChangeArrowheads="1"/>
          </p:cNvSpPr>
          <p:nvPr/>
        </p:nvSpPr>
        <p:spPr bwMode="auto">
          <a:xfrm>
            <a:off x="794851" y="659579"/>
            <a:ext cx="47169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4</a:t>
            </a:r>
            <a:r>
              <a:rPr kumimoji="1" lang="zh-CN" altLang="en-US" sz="2800" b="1" dirty="0">
                <a:solidFill>
                  <a:srgbClr val="0000FF"/>
                </a:solidFill>
                <a:latin typeface="黑体" panose="02010609060101010101" pitchFamily="49" charset="-122"/>
                <a:ea typeface="黑体" panose="02010609060101010101" pitchFamily="49" charset="-122"/>
              </a:rPr>
              <a:t>．力偶系的合成</a:t>
            </a:r>
            <a:endParaRPr lang="en-US" altLang="zh-CN" sz="2800" b="1" dirty="0">
              <a:latin typeface="Times New Roman" panose="02020603050405020304" pitchFamily="18" charset="0"/>
              <a:sym typeface="Symbol" panose="05050102010706020507" pitchFamily="18" charset="2"/>
            </a:endParaRPr>
          </a:p>
        </p:txBody>
      </p:sp>
      <p:sp>
        <p:nvSpPr>
          <p:cNvPr id="16" name="Text Box 4"/>
          <p:cNvSpPr txBox="1">
            <a:spLocks noChangeArrowheads="1"/>
          </p:cNvSpPr>
          <p:nvPr/>
        </p:nvSpPr>
        <p:spPr bwMode="auto">
          <a:xfrm>
            <a:off x="1340452" y="1136957"/>
            <a:ext cx="575189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nSpc>
                <a:spcPct val="120000"/>
              </a:lnSpc>
            </a:pPr>
            <a:r>
              <a:rPr lang="en-US" altLang="zh-CN" dirty="0">
                <a:latin typeface="华文中宋" panose="02010600040101010101" pitchFamily="2" charset="-122"/>
              </a:rPr>
              <a:t>—</a:t>
            </a:r>
            <a:r>
              <a:rPr lang="zh-CN" altLang="en-US" b="1" dirty="0">
                <a:latin typeface="黑体" panose="02010609060101010101" pitchFamily="49" charset="-122"/>
                <a:ea typeface="黑体" panose="02010609060101010101" pitchFamily="49" charset="-122"/>
              </a:rPr>
              <a:t>由两个或两个以上力偶组成的特殊力系</a:t>
            </a:r>
          </a:p>
        </p:txBody>
      </p:sp>
      <p:grpSp>
        <p:nvGrpSpPr>
          <p:cNvPr id="17" name="Group 95"/>
          <p:cNvGrpSpPr>
            <a:grpSpLocks/>
          </p:cNvGrpSpPr>
          <p:nvPr/>
        </p:nvGrpSpPr>
        <p:grpSpPr bwMode="auto">
          <a:xfrm>
            <a:off x="1159350" y="2425926"/>
            <a:ext cx="1524000" cy="1524000"/>
            <a:chOff x="1008" y="1788"/>
            <a:chExt cx="960" cy="960"/>
          </a:xfrm>
        </p:grpSpPr>
        <p:sp>
          <p:nvSpPr>
            <p:cNvPr id="18" name="Freeform 16"/>
            <p:cNvSpPr>
              <a:spLocks/>
            </p:cNvSpPr>
            <p:nvPr/>
          </p:nvSpPr>
          <p:spPr bwMode="auto">
            <a:xfrm>
              <a:off x="1008" y="1788"/>
              <a:ext cx="960" cy="960"/>
            </a:xfrm>
            <a:custGeom>
              <a:avLst/>
              <a:gdLst>
                <a:gd name="T0" fmla="*/ 384 w 960"/>
                <a:gd name="T1" fmla="*/ 0 h 960"/>
                <a:gd name="T2" fmla="*/ 960 w 960"/>
                <a:gd name="T3" fmla="*/ 0 h 960"/>
                <a:gd name="T4" fmla="*/ 768 w 960"/>
                <a:gd name="T5" fmla="*/ 192 h 960"/>
                <a:gd name="T6" fmla="*/ 192 w 960"/>
                <a:gd name="T7" fmla="*/ 192 h 960"/>
                <a:gd name="T8" fmla="*/ 0 w 960"/>
                <a:gd name="T9" fmla="*/ 576 h 960"/>
                <a:gd name="T10" fmla="*/ 0 w 960"/>
                <a:gd name="T11" fmla="*/ 960 h 960"/>
                <a:gd name="T12" fmla="*/ 768 w 960"/>
                <a:gd name="T13" fmla="*/ 960 h 960"/>
                <a:gd name="T14" fmla="*/ 576 w 960"/>
                <a:gd name="T15" fmla="*/ 960 h 960"/>
                <a:gd name="T16" fmla="*/ 576 w 960"/>
                <a:gd name="T17" fmla="*/ 576 h 960"/>
                <a:gd name="T18" fmla="*/ 768 w 960"/>
                <a:gd name="T19" fmla="*/ 192 h 960"/>
                <a:gd name="T20" fmla="*/ 960 w 960"/>
                <a:gd name="T21" fmla="*/ 0 h 960"/>
                <a:gd name="T22" fmla="*/ 960 w 960"/>
                <a:gd name="T23" fmla="*/ 576 h 960"/>
                <a:gd name="T24" fmla="*/ 576 w 960"/>
                <a:gd name="T25" fmla="*/ 960 h 9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60"/>
                <a:gd name="T40" fmla="*/ 0 h 960"/>
                <a:gd name="T41" fmla="*/ 960 w 960"/>
                <a:gd name="T42" fmla="*/ 960 h 96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60" h="960">
                  <a:moveTo>
                    <a:pt x="384" y="0"/>
                  </a:moveTo>
                  <a:lnTo>
                    <a:pt x="960" y="0"/>
                  </a:lnTo>
                  <a:lnTo>
                    <a:pt x="768" y="192"/>
                  </a:lnTo>
                  <a:lnTo>
                    <a:pt x="192" y="192"/>
                  </a:lnTo>
                  <a:lnTo>
                    <a:pt x="0" y="576"/>
                  </a:lnTo>
                  <a:lnTo>
                    <a:pt x="0" y="960"/>
                  </a:lnTo>
                  <a:lnTo>
                    <a:pt x="768" y="960"/>
                  </a:lnTo>
                  <a:lnTo>
                    <a:pt x="576" y="960"/>
                  </a:lnTo>
                  <a:lnTo>
                    <a:pt x="576" y="576"/>
                  </a:lnTo>
                  <a:lnTo>
                    <a:pt x="768" y="192"/>
                  </a:lnTo>
                  <a:lnTo>
                    <a:pt x="960" y="0"/>
                  </a:lnTo>
                  <a:lnTo>
                    <a:pt x="960" y="576"/>
                  </a:lnTo>
                  <a:lnTo>
                    <a:pt x="576" y="960"/>
                  </a:lnTo>
                </a:path>
              </a:pathLst>
            </a:cu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9" name="Line 17"/>
            <p:cNvSpPr>
              <a:spLocks noChangeShapeType="1"/>
            </p:cNvSpPr>
            <p:nvPr/>
          </p:nvSpPr>
          <p:spPr bwMode="auto">
            <a:xfrm>
              <a:off x="1008" y="2364"/>
              <a:ext cx="576" cy="0"/>
            </a:xfrm>
            <a:prstGeom prst="line">
              <a:avLst/>
            </a:prstGeom>
            <a:noFill/>
            <a:ln w="158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18"/>
            <p:cNvSpPr>
              <a:spLocks noChangeShapeType="1"/>
            </p:cNvSpPr>
            <p:nvPr/>
          </p:nvSpPr>
          <p:spPr bwMode="auto">
            <a:xfrm flipH="1">
              <a:off x="1200" y="1788"/>
              <a:ext cx="192" cy="192"/>
            </a:xfrm>
            <a:prstGeom prst="line">
              <a:avLst/>
            </a:prstGeom>
            <a:noFill/>
            <a:ln w="158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21" name="Group 24"/>
            <p:cNvGrpSpPr>
              <a:grpSpLocks/>
            </p:cNvGrpSpPr>
            <p:nvPr/>
          </p:nvGrpSpPr>
          <p:grpSpPr bwMode="auto">
            <a:xfrm>
              <a:off x="1827" y="2088"/>
              <a:ext cx="96" cy="192"/>
              <a:chOff x="1728" y="3168"/>
              <a:chExt cx="96" cy="192"/>
            </a:xfrm>
          </p:grpSpPr>
          <p:sp>
            <p:nvSpPr>
              <p:cNvPr id="30" name="Oval 22"/>
              <p:cNvSpPr>
                <a:spLocks noChangeArrowheads="1"/>
              </p:cNvSpPr>
              <p:nvPr/>
            </p:nvSpPr>
            <p:spPr bwMode="auto">
              <a:xfrm>
                <a:off x="1728" y="3168"/>
                <a:ext cx="96" cy="192"/>
              </a:xfrm>
              <a:prstGeom prst="ellipse">
                <a:avLst/>
              </a:prstGeom>
              <a:solidFill>
                <a:srgbClr val="C0C0C0"/>
              </a:solidFill>
              <a:ln w="1587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31" name="Oval 23"/>
              <p:cNvSpPr>
                <a:spLocks noChangeArrowheads="1"/>
              </p:cNvSpPr>
              <p:nvPr/>
            </p:nvSpPr>
            <p:spPr bwMode="auto">
              <a:xfrm>
                <a:off x="1737" y="3186"/>
                <a:ext cx="48" cy="170"/>
              </a:xfrm>
              <a:prstGeom prst="ellipse">
                <a:avLst/>
              </a:prstGeom>
              <a:solidFill>
                <a:srgbClr val="FFFFFF"/>
              </a:solidFill>
              <a:ln w="1587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sp>
          <p:nvSpPr>
            <p:cNvPr id="22" name="Oval 26"/>
            <p:cNvSpPr>
              <a:spLocks noChangeArrowheads="1"/>
            </p:cNvSpPr>
            <p:nvPr/>
          </p:nvSpPr>
          <p:spPr bwMode="auto">
            <a:xfrm rot="-5400000">
              <a:off x="1518" y="1785"/>
              <a:ext cx="96" cy="192"/>
            </a:xfrm>
            <a:prstGeom prst="ellipse">
              <a:avLst/>
            </a:prstGeom>
            <a:solidFill>
              <a:srgbClr val="C0C0C0"/>
            </a:solidFill>
            <a:ln w="1587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23" name="Oval 27"/>
            <p:cNvSpPr>
              <a:spLocks noChangeArrowheads="1"/>
            </p:cNvSpPr>
            <p:nvPr/>
          </p:nvSpPr>
          <p:spPr bwMode="auto">
            <a:xfrm rot="-5400000">
              <a:off x="1548" y="1810"/>
              <a:ext cx="48" cy="170"/>
            </a:xfrm>
            <a:prstGeom prst="ellipse">
              <a:avLst/>
            </a:prstGeom>
            <a:solidFill>
              <a:srgbClr val="FFFFFF"/>
            </a:solidFill>
            <a:ln w="1587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nvGrpSpPr>
            <p:cNvPr id="24" name="Group 31"/>
            <p:cNvGrpSpPr>
              <a:grpSpLocks/>
            </p:cNvGrpSpPr>
            <p:nvPr/>
          </p:nvGrpSpPr>
          <p:grpSpPr bwMode="auto">
            <a:xfrm rot="-2700000">
              <a:off x="1296" y="2106"/>
              <a:ext cx="192" cy="141"/>
              <a:chOff x="1632" y="1662"/>
              <a:chExt cx="192" cy="141"/>
            </a:xfrm>
          </p:grpSpPr>
          <p:sp>
            <p:nvSpPr>
              <p:cNvPr id="28" name="Oval 29"/>
              <p:cNvSpPr>
                <a:spLocks noChangeArrowheads="1"/>
              </p:cNvSpPr>
              <p:nvPr/>
            </p:nvSpPr>
            <p:spPr bwMode="auto">
              <a:xfrm rot="-5400000">
                <a:off x="1657" y="1637"/>
                <a:ext cx="141" cy="192"/>
              </a:xfrm>
              <a:prstGeom prst="ellipse">
                <a:avLst/>
              </a:prstGeom>
              <a:solidFill>
                <a:srgbClr val="C0C0C0"/>
              </a:solidFill>
              <a:ln w="1587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29" name="Oval 30"/>
              <p:cNvSpPr>
                <a:spLocks noChangeArrowheads="1"/>
              </p:cNvSpPr>
              <p:nvPr/>
            </p:nvSpPr>
            <p:spPr bwMode="auto">
              <a:xfrm rot="-5400000">
                <a:off x="1677" y="1666"/>
                <a:ext cx="93" cy="170"/>
              </a:xfrm>
              <a:prstGeom prst="ellipse">
                <a:avLst/>
              </a:prstGeom>
              <a:solidFill>
                <a:srgbClr val="FFFFFF"/>
              </a:solidFill>
              <a:ln w="1587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grpSp>
          <p:nvGrpSpPr>
            <p:cNvPr id="25" name="Group 32"/>
            <p:cNvGrpSpPr>
              <a:grpSpLocks/>
            </p:cNvGrpSpPr>
            <p:nvPr/>
          </p:nvGrpSpPr>
          <p:grpSpPr bwMode="auto">
            <a:xfrm rot="-5400000">
              <a:off x="1213" y="2448"/>
              <a:ext cx="192" cy="163"/>
              <a:chOff x="1632" y="1662"/>
              <a:chExt cx="192" cy="141"/>
            </a:xfrm>
          </p:grpSpPr>
          <p:sp>
            <p:nvSpPr>
              <p:cNvPr id="26" name="Oval 33"/>
              <p:cNvSpPr>
                <a:spLocks noChangeArrowheads="1"/>
              </p:cNvSpPr>
              <p:nvPr/>
            </p:nvSpPr>
            <p:spPr bwMode="auto">
              <a:xfrm rot="-5400000">
                <a:off x="1657" y="1637"/>
                <a:ext cx="141" cy="192"/>
              </a:xfrm>
              <a:prstGeom prst="ellipse">
                <a:avLst/>
              </a:prstGeom>
              <a:solidFill>
                <a:srgbClr val="C0C0C0"/>
              </a:solidFill>
              <a:ln w="1587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27" name="Oval 34"/>
              <p:cNvSpPr>
                <a:spLocks noChangeArrowheads="1"/>
              </p:cNvSpPr>
              <p:nvPr/>
            </p:nvSpPr>
            <p:spPr bwMode="auto">
              <a:xfrm rot="-5400000">
                <a:off x="1677" y="1666"/>
                <a:ext cx="93" cy="170"/>
              </a:xfrm>
              <a:prstGeom prst="ellipse">
                <a:avLst/>
              </a:prstGeom>
              <a:solidFill>
                <a:srgbClr val="FFFFFF"/>
              </a:solidFill>
              <a:ln w="1587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grpSp>
      <p:grpSp>
        <p:nvGrpSpPr>
          <p:cNvPr id="32" name="Group 101"/>
          <p:cNvGrpSpPr>
            <a:grpSpLocks/>
          </p:cNvGrpSpPr>
          <p:nvPr/>
        </p:nvGrpSpPr>
        <p:grpSpPr bwMode="auto">
          <a:xfrm>
            <a:off x="849787" y="1654401"/>
            <a:ext cx="2641600" cy="2430462"/>
            <a:chOff x="816" y="1304"/>
            <a:chExt cx="1664" cy="1531"/>
          </a:xfrm>
        </p:grpSpPr>
        <p:sp>
          <p:nvSpPr>
            <p:cNvPr id="33" name="Text Box 51"/>
            <p:cNvSpPr txBox="1">
              <a:spLocks noChangeArrowheads="1"/>
            </p:cNvSpPr>
            <p:nvPr/>
          </p:nvSpPr>
          <p:spPr bwMode="auto">
            <a:xfrm>
              <a:off x="816" y="2604"/>
              <a:ext cx="1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dirty="0" err="1">
                  <a:latin typeface="Times New Roman" panose="02020603050405020304" pitchFamily="18" charset="0"/>
                  <a:ea typeface="宋体" panose="02010600030101010101" pitchFamily="2" charset="-122"/>
                </a:rPr>
                <a:t>M</a:t>
              </a:r>
              <a:r>
                <a:rPr lang="en-US" altLang="zh-CN" sz="1800" b="1" i="1" baseline="-25000" dirty="0" err="1">
                  <a:latin typeface="Times New Roman" panose="02020603050405020304" pitchFamily="18" charset="0"/>
                  <a:ea typeface="宋体" panose="02010600030101010101" pitchFamily="2" charset="-122"/>
                </a:rPr>
                <a:t>n</a:t>
              </a:r>
              <a:endParaRPr lang="en-US" altLang="zh-CN" sz="1800" b="1" i="1" dirty="0">
                <a:latin typeface="Times New Roman" panose="02020603050405020304" pitchFamily="18" charset="0"/>
                <a:ea typeface="宋体" panose="02010600030101010101" pitchFamily="2" charset="-122"/>
              </a:endParaRPr>
            </a:p>
          </p:txBody>
        </p:sp>
        <p:sp>
          <p:nvSpPr>
            <p:cNvPr id="34" name="Text Box 56"/>
            <p:cNvSpPr txBox="1">
              <a:spLocks noChangeArrowheads="1"/>
            </p:cNvSpPr>
            <p:nvPr/>
          </p:nvSpPr>
          <p:spPr bwMode="auto">
            <a:xfrm>
              <a:off x="2304" y="198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a:latin typeface="Times New Roman" panose="02020603050405020304" pitchFamily="18" charset="0"/>
                  <a:ea typeface="宋体" panose="02010600030101010101" pitchFamily="2" charset="-122"/>
                </a:rPr>
                <a:t>M</a:t>
              </a:r>
              <a:r>
                <a:rPr lang="en-US" altLang="zh-CN" sz="1800" baseline="-25000">
                  <a:latin typeface="Times New Roman" panose="02020603050405020304" pitchFamily="18" charset="0"/>
                  <a:ea typeface="宋体" panose="02010600030101010101" pitchFamily="2" charset="-122"/>
                </a:rPr>
                <a:t>3</a:t>
              </a:r>
              <a:endParaRPr lang="en-US" altLang="zh-CN" sz="1800">
                <a:latin typeface="Times New Roman" panose="02020603050405020304" pitchFamily="18" charset="0"/>
                <a:ea typeface="宋体" panose="02010600030101010101" pitchFamily="2" charset="-122"/>
              </a:endParaRPr>
            </a:p>
          </p:txBody>
        </p:sp>
        <p:grpSp>
          <p:nvGrpSpPr>
            <p:cNvPr id="35" name="Group 96"/>
            <p:cNvGrpSpPr>
              <a:grpSpLocks/>
            </p:cNvGrpSpPr>
            <p:nvPr/>
          </p:nvGrpSpPr>
          <p:grpSpPr bwMode="auto">
            <a:xfrm>
              <a:off x="843" y="1304"/>
              <a:ext cx="1580" cy="1531"/>
              <a:chOff x="843" y="1304"/>
              <a:chExt cx="1580" cy="1531"/>
            </a:xfrm>
          </p:grpSpPr>
          <p:grpSp>
            <p:nvGrpSpPr>
              <p:cNvPr id="36" name="Group 52"/>
              <p:cNvGrpSpPr>
                <a:grpSpLocks/>
              </p:cNvGrpSpPr>
              <p:nvPr/>
            </p:nvGrpSpPr>
            <p:grpSpPr bwMode="auto">
              <a:xfrm rot="-8100000">
                <a:off x="1034" y="2449"/>
                <a:ext cx="195" cy="578"/>
                <a:chOff x="3696" y="2544"/>
                <a:chExt cx="195" cy="578"/>
              </a:xfrm>
            </p:grpSpPr>
            <p:sp>
              <p:nvSpPr>
                <p:cNvPr id="48" name="AutoShape 49"/>
                <p:cNvSpPr>
                  <a:spLocks noChangeArrowheads="1"/>
                </p:cNvSpPr>
                <p:nvPr/>
              </p:nvSpPr>
              <p:spPr bwMode="auto">
                <a:xfrm>
                  <a:off x="3786" y="2544"/>
                  <a:ext cx="41" cy="578"/>
                </a:xfrm>
                <a:prstGeom prst="upArrow">
                  <a:avLst>
                    <a:gd name="adj1" fmla="val 50000"/>
                    <a:gd name="adj2" fmla="val 352439"/>
                  </a:avLst>
                </a:prstGeom>
                <a:solidFill>
                  <a:schemeClr val="tx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49" name="Freeform 50"/>
                <p:cNvSpPr>
                  <a:spLocks/>
                </p:cNvSpPr>
                <p:nvPr/>
              </p:nvSpPr>
              <p:spPr bwMode="auto">
                <a:xfrm>
                  <a:off x="3696" y="2736"/>
                  <a:ext cx="195" cy="104"/>
                </a:xfrm>
                <a:custGeom>
                  <a:avLst/>
                  <a:gdLst>
                    <a:gd name="T0" fmla="*/ 1 w 285"/>
                    <a:gd name="T1" fmla="*/ 0 h 127"/>
                    <a:gd name="T2" fmla="*/ 1 w 285"/>
                    <a:gd name="T3" fmla="*/ 2 h 127"/>
                    <a:gd name="T4" fmla="*/ 1 w 285"/>
                    <a:gd name="T5" fmla="*/ 2 h 127"/>
                    <a:gd name="T6" fmla="*/ 1 w 285"/>
                    <a:gd name="T7" fmla="*/ 2 h 127"/>
                    <a:gd name="T8" fmla="*/ 1 w 285"/>
                    <a:gd name="T9" fmla="*/ 2 h 127"/>
                    <a:gd name="T10" fmla="*/ 1 w 285"/>
                    <a:gd name="T11" fmla="*/ 2 h 127"/>
                    <a:gd name="T12" fmla="*/ 1 w 285"/>
                    <a:gd name="T13" fmla="*/ 2 h 127"/>
                    <a:gd name="T14" fmla="*/ 0 60000 65536"/>
                    <a:gd name="T15" fmla="*/ 0 60000 65536"/>
                    <a:gd name="T16" fmla="*/ 0 60000 65536"/>
                    <a:gd name="T17" fmla="*/ 0 60000 65536"/>
                    <a:gd name="T18" fmla="*/ 0 60000 65536"/>
                    <a:gd name="T19" fmla="*/ 0 60000 65536"/>
                    <a:gd name="T20" fmla="*/ 0 60000 65536"/>
                    <a:gd name="T21" fmla="*/ 0 w 285"/>
                    <a:gd name="T22" fmla="*/ 0 h 127"/>
                    <a:gd name="T23" fmla="*/ 285 w 285"/>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127">
                      <a:moveTo>
                        <a:pt x="87" y="0"/>
                      </a:moveTo>
                      <a:cubicBezTo>
                        <a:pt x="56" y="6"/>
                        <a:pt x="26" y="13"/>
                        <a:pt x="14" y="27"/>
                      </a:cubicBezTo>
                      <a:cubicBezTo>
                        <a:pt x="2" y="41"/>
                        <a:pt x="0" y="68"/>
                        <a:pt x="14" y="82"/>
                      </a:cubicBezTo>
                      <a:cubicBezTo>
                        <a:pt x="28" y="96"/>
                        <a:pt x="64" y="104"/>
                        <a:pt x="96" y="110"/>
                      </a:cubicBezTo>
                      <a:cubicBezTo>
                        <a:pt x="128" y="116"/>
                        <a:pt x="175" y="127"/>
                        <a:pt x="206" y="119"/>
                      </a:cubicBezTo>
                      <a:cubicBezTo>
                        <a:pt x="237" y="111"/>
                        <a:pt x="273" y="82"/>
                        <a:pt x="279" y="64"/>
                      </a:cubicBezTo>
                      <a:cubicBezTo>
                        <a:pt x="285" y="46"/>
                        <a:pt x="263" y="27"/>
                        <a:pt x="242" y="9"/>
                      </a:cubicBezTo>
                    </a:path>
                  </a:pathLst>
                </a:custGeom>
                <a:noFill/>
                <a:ln w="12700">
                  <a:solidFill>
                    <a:schemeClr val="tx1"/>
                  </a:solidFill>
                  <a:miter lim="800000"/>
                  <a:headEnd/>
                  <a:tailEnd type="triangl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37" name="Group 53"/>
              <p:cNvGrpSpPr>
                <a:grpSpLocks/>
              </p:cNvGrpSpPr>
              <p:nvPr/>
            </p:nvGrpSpPr>
            <p:grpSpPr bwMode="auto">
              <a:xfrm rot="5400000">
                <a:off x="2036" y="1885"/>
                <a:ext cx="195" cy="578"/>
                <a:chOff x="3696" y="2544"/>
                <a:chExt cx="195" cy="578"/>
              </a:xfrm>
            </p:grpSpPr>
            <p:sp>
              <p:nvSpPr>
                <p:cNvPr id="46" name="AutoShape 54"/>
                <p:cNvSpPr>
                  <a:spLocks noChangeArrowheads="1"/>
                </p:cNvSpPr>
                <p:nvPr/>
              </p:nvSpPr>
              <p:spPr bwMode="auto">
                <a:xfrm>
                  <a:off x="3786" y="2544"/>
                  <a:ext cx="41" cy="578"/>
                </a:xfrm>
                <a:prstGeom prst="upArrow">
                  <a:avLst>
                    <a:gd name="adj1" fmla="val 50000"/>
                    <a:gd name="adj2" fmla="val 352439"/>
                  </a:avLst>
                </a:prstGeom>
                <a:solidFill>
                  <a:schemeClr val="tx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47" name="Freeform 55"/>
                <p:cNvSpPr>
                  <a:spLocks/>
                </p:cNvSpPr>
                <p:nvPr/>
              </p:nvSpPr>
              <p:spPr bwMode="auto">
                <a:xfrm>
                  <a:off x="3696" y="2736"/>
                  <a:ext cx="195" cy="104"/>
                </a:xfrm>
                <a:custGeom>
                  <a:avLst/>
                  <a:gdLst>
                    <a:gd name="T0" fmla="*/ 1 w 285"/>
                    <a:gd name="T1" fmla="*/ 0 h 127"/>
                    <a:gd name="T2" fmla="*/ 1 w 285"/>
                    <a:gd name="T3" fmla="*/ 2 h 127"/>
                    <a:gd name="T4" fmla="*/ 1 w 285"/>
                    <a:gd name="T5" fmla="*/ 2 h 127"/>
                    <a:gd name="T6" fmla="*/ 1 w 285"/>
                    <a:gd name="T7" fmla="*/ 2 h 127"/>
                    <a:gd name="T8" fmla="*/ 1 w 285"/>
                    <a:gd name="T9" fmla="*/ 2 h 127"/>
                    <a:gd name="T10" fmla="*/ 1 w 285"/>
                    <a:gd name="T11" fmla="*/ 2 h 127"/>
                    <a:gd name="T12" fmla="*/ 1 w 285"/>
                    <a:gd name="T13" fmla="*/ 2 h 127"/>
                    <a:gd name="T14" fmla="*/ 0 60000 65536"/>
                    <a:gd name="T15" fmla="*/ 0 60000 65536"/>
                    <a:gd name="T16" fmla="*/ 0 60000 65536"/>
                    <a:gd name="T17" fmla="*/ 0 60000 65536"/>
                    <a:gd name="T18" fmla="*/ 0 60000 65536"/>
                    <a:gd name="T19" fmla="*/ 0 60000 65536"/>
                    <a:gd name="T20" fmla="*/ 0 60000 65536"/>
                    <a:gd name="T21" fmla="*/ 0 w 285"/>
                    <a:gd name="T22" fmla="*/ 0 h 127"/>
                    <a:gd name="T23" fmla="*/ 285 w 285"/>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127">
                      <a:moveTo>
                        <a:pt x="87" y="0"/>
                      </a:moveTo>
                      <a:cubicBezTo>
                        <a:pt x="56" y="6"/>
                        <a:pt x="26" y="13"/>
                        <a:pt x="14" y="27"/>
                      </a:cubicBezTo>
                      <a:cubicBezTo>
                        <a:pt x="2" y="41"/>
                        <a:pt x="0" y="68"/>
                        <a:pt x="14" y="82"/>
                      </a:cubicBezTo>
                      <a:cubicBezTo>
                        <a:pt x="28" y="96"/>
                        <a:pt x="64" y="104"/>
                        <a:pt x="96" y="110"/>
                      </a:cubicBezTo>
                      <a:cubicBezTo>
                        <a:pt x="128" y="116"/>
                        <a:pt x="175" y="127"/>
                        <a:pt x="206" y="119"/>
                      </a:cubicBezTo>
                      <a:cubicBezTo>
                        <a:pt x="237" y="111"/>
                        <a:pt x="273" y="82"/>
                        <a:pt x="279" y="64"/>
                      </a:cubicBezTo>
                      <a:cubicBezTo>
                        <a:pt x="285" y="46"/>
                        <a:pt x="263" y="27"/>
                        <a:pt x="242" y="9"/>
                      </a:cubicBezTo>
                    </a:path>
                  </a:pathLst>
                </a:custGeom>
                <a:noFill/>
                <a:ln w="12700">
                  <a:solidFill>
                    <a:schemeClr val="tx1"/>
                  </a:solidFill>
                  <a:miter lim="800000"/>
                  <a:headEnd/>
                  <a:tailEnd type="triangl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38" name="Group 44"/>
              <p:cNvGrpSpPr>
                <a:grpSpLocks/>
              </p:cNvGrpSpPr>
              <p:nvPr/>
            </p:nvGrpSpPr>
            <p:grpSpPr bwMode="auto">
              <a:xfrm rot="-1200000">
                <a:off x="1161" y="1488"/>
                <a:ext cx="314" cy="722"/>
                <a:chOff x="1254" y="3168"/>
                <a:chExt cx="314" cy="722"/>
              </a:xfrm>
            </p:grpSpPr>
            <p:sp>
              <p:nvSpPr>
                <p:cNvPr id="43" name="AutoShape 45"/>
                <p:cNvSpPr>
                  <a:spLocks noChangeArrowheads="1"/>
                </p:cNvSpPr>
                <p:nvPr/>
              </p:nvSpPr>
              <p:spPr bwMode="auto">
                <a:xfrm>
                  <a:off x="1344" y="3312"/>
                  <a:ext cx="41" cy="578"/>
                </a:xfrm>
                <a:prstGeom prst="upArrow">
                  <a:avLst>
                    <a:gd name="adj1" fmla="val 50000"/>
                    <a:gd name="adj2" fmla="val 352439"/>
                  </a:avLst>
                </a:prstGeom>
                <a:solidFill>
                  <a:schemeClr val="tx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44" name="Freeform 46"/>
                <p:cNvSpPr>
                  <a:spLocks/>
                </p:cNvSpPr>
                <p:nvPr/>
              </p:nvSpPr>
              <p:spPr bwMode="auto">
                <a:xfrm>
                  <a:off x="1254" y="3504"/>
                  <a:ext cx="195" cy="104"/>
                </a:xfrm>
                <a:custGeom>
                  <a:avLst/>
                  <a:gdLst>
                    <a:gd name="T0" fmla="*/ 1 w 285"/>
                    <a:gd name="T1" fmla="*/ 0 h 127"/>
                    <a:gd name="T2" fmla="*/ 1 w 285"/>
                    <a:gd name="T3" fmla="*/ 2 h 127"/>
                    <a:gd name="T4" fmla="*/ 1 w 285"/>
                    <a:gd name="T5" fmla="*/ 2 h 127"/>
                    <a:gd name="T6" fmla="*/ 1 w 285"/>
                    <a:gd name="T7" fmla="*/ 2 h 127"/>
                    <a:gd name="T8" fmla="*/ 1 w 285"/>
                    <a:gd name="T9" fmla="*/ 2 h 127"/>
                    <a:gd name="T10" fmla="*/ 1 w 285"/>
                    <a:gd name="T11" fmla="*/ 2 h 127"/>
                    <a:gd name="T12" fmla="*/ 1 w 285"/>
                    <a:gd name="T13" fmla="*/ 2 h 127"/>
                    <a:gd name="T14" fmla="*/ 0 60000 65536"/>
                    <a:gd name="T15" fmla="*/ 0 60000 65536"/>
                    <a:gd name="T16" fmla="*/ 0 60000 65536"/>
                    <a:gd name="T17" fmla="*/ 0 60000 65536"/>
                    <a:gd name="T18" fmla="*/ 0 60000 65536"/>
                    <a:gd name="T19" fmla="*/ 0 60000 65536"/>
                    <a:gd name="T20" fmla="*/ 0 60000 65536"/>
                    <a:gd name="T21" fmla="*/ 0 w 285"/>
                    <a:gd name="T22" fmla="*/ 0 h 127"/>
                    <a:gd name="T23" fmla="*/ 285 w 285"/>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127">
                      <a:moveTo>
                        <a:pt x="87" y="0"/>
                      </a:moveTo>
                      <a:cubicBezTo>
                        <a:pt x="56" y="6"/>
                        <a:pt x="26" y="13"/>
                        <a:pt x="14" y="27"/>
                      </a:cubicBezTo>
                      <a:cubicBezTo>
                        <a:pt x="2" y="41"/>
                        <a:pt x="0" y="68"/>
                        <a:pt x="14" y="82"/>
                      </a:cubicBezTo>
                      <a:cubicBezTo>
                        <a:pt x="28" y="96"/>
                        <a:pt x="64" y="104"/>
                        <a:pt x="96" y="110"/>
                      </a:cubicBezTo>
                      <a:cubicBezTo>
                        <a:pt x="128" y="116"/>
                        <a:pt x="175" y="127"/>
                        <a:pt x="206" y="119"/>
                      </a:cubicBezTo>
                      <a:cubicBezTo>
                        <a:pt x="237" y="111"/>
                        <a:pt x="273" y="82"/>
                        <a:pt x="279" y="64"/>
                      </a:cubicBezTo>
                      <a:cubicBezTo>
                        <a:pt x="285" y="46"/>
                        <a:pt x="263" y="27"/>
                        <a:pt x="242" y="9"/>
                      </a:cubicBezTo>
                    </a:path>
                  </a:pathLst>
                </a:custGeom>
                <a:noFill/>
                <a:ln w="12700">
                  <a:solidFill>
                    <a:schemeClr val="tx1"/>
                  </a:solidFill>
                  <a:miter lim="800000"/>
                  <a:headEnd/>
                  <a:tailEnd type="triangl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5" name="Text Box 47"/>
                <p:cNvSpPr txBox="1">
                  <a:spLocks noChangeArrowheads="1"/>
                </p:cNvSpPr>
                <p:nvPr/>
              </p:nvSpPr>
              <p:spPr bwMode="auto">
                <a:xfrm>
                  <a:off x="1392" y="3168"/>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a:latin typeface="Times New Roman" panose="02020603050405020304" pitchFamily="18" charset="0"/>
                      <a:ea typeface="宋体" panose="02010600030101010101" pitchFamily="2" charset="-122"/>
                    </a:rPr>
                    <a:t>M</a:t>
                  </a:r>
                  <a:r>
                    <a:rPr lang="en-US" altLang="zh-CN" sz="1800" baseline="-25000">
                      <a:latin typeface="Times New Roman" panose="02020603050405020304" pitchFamily="18" charset="0"/>
                      <a:ea typeface="宋体" panose="02010600030101010101" pitchFamily="2" charset="-122"/>
                    </a:rPr>
                    <a:t>2</a:t>
                  </a:r>
                  <a:endParaRPr lang="en-US" altLang="zh-CN" sz="1800">
                    <a:latin typeface="Times New Roman" panose="02020603050405020304" pitchFamily="18" charset="0"/>
                    <a:ea typeface="宋体" panose="02010600030101010101" pitchFamily="2" charset="-122"/>
                  </a:endParaRPr>
                </a:p>
              </p:txBody>
            </p:sp>
          </p:grpSp>
          <p:grpSp>
            <p:nvGrpSpPr>
              <p:cNvPr id="39" name="Group 43"/>
              <p:cNvGrpSpPr>
                <a:grpSpLocks/>
              </p:cNvGrpSpPr>
              <p:nvPr/>
            </p:nvGrpSpPr>
            <p:grpSpPr bwMode="auto">
              <a:xfrm>
                <a:off x="1449" y="1304"/>
                <a:ext cx="343" cy="618"/>
                <a:chOff x="1254" y="3272"/>
                <a:chExt cx="343" cy="618"/>
              </a:xfrm>
            </p:grpSpPr>
            <p:sp>
              <p:nvSpPr>
                <p:cNvPr id="40" name="AutoShape 36"/>
                <p:cNvSpPr>
                  <a:spLocks noChangeArrowheads="1"/>
                </p:cNvSpPr>
                <p:nvPr/>
              </p:nvSpPr>
              <p:spPr bwMode="auto">
                <a:xfrm>
                  <a:off x="1344" y="3312"/>
                  <a:ext cx="41" cy="578"/>
                </a:xfrm>
                <a:prstGeom prst="upArrow">
                  <a:avLst>
                    <a:gd name="adj1" fmla="val 50000"/>
                    <a:gd name="adj2" fmla="val 352439"/>
                  </a:avLst>
                </a:prstGeom>
                <a:solidFill>
                  <a:schemeClr val="tx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41" name="Freeform 41"/>
                <p:cNvSpPr>
                  <a:spLocks/>
                </p:cNvSpPr>
                <p:nvPr/>
              </p:nvSpPr>
              <p:spPr bwMode="auto">
                <a:xfrm>
                  <a:off x="1254" y="3504"/>
                  <a:ext cx="195" cy="104"/>
                </a:xfrm>
                <a:custGeom>
                  <a:avLst/>
                  <a:gdLst>
                    <a:gd name="T0" fmla="*/ 1 w 285"/>
                    <a:gd name="T1" fmla="*/ 0 h 127"/>
                    <a:gd name="T2" fmla="*/ 1 w 285"/>
                    <a:gd name="T3" fmla="*/ 2 h 127"/>
                    <a:gd name="T4" fmla="*/ 1 w 285"/>
                    <a:gd name="T5" fmla="*/ 2 h 127"/>
                    <a:gd name="T6" fmla="*/ 1 w 285"/>
                    <a:gd name="T7" fmla="*/ 2 h 127"/>
                    <a:gd name="T8" fmla="*/ 1 w 285"/>
                    <a:gd name="T9" fmla="*/ 2 h 127"/>
                    <a:gd name="T10" fmla="*/ 1 w 285"/>
                    <a:gd name="T11" fmla="*/ 2 h 127"/>
                    <a:gd name="T12" fmla="*/ 1 w 285"/>
                    <a:gd name="T13" fmla="*/ 2 h 127"/>
                    <a:gd name="T14" fmla="*/ 0 60000 65536"/>
                    <a:gd name="T15" fmla="*/ 0 60000 65536"/>
                    <a:gd name="T16" fmla="*/ 0 60000 65536"/>
                    <a:gd name="T17" fmla="*/ 0 60000 65536"/>
                    <a:gd name="T18" fmla="*/ 0 60000 65536"/>
                    <a:gd name="T19" fmla="*/ 0 60000 65536"/>
                    <a:gd name="T20" fmla="*/ 0 60000 65536"/>
                    <a:gd name="T21" fmla="*/ 0 w 285"/>
                    <a:gd name="T22" fmla="*/ 0 h 127"/>
                    <a:gd name="T23" fmla="*/ 285 w 285"/>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127">
                      <a:moveTo>
                        <a:pt x="87" y="0"/>
                      </a:moveTo>
                      <a:cubicBezTo>
                        <a:pt x="56" y="6"/>
                        <a:pt x="26" y="13"/>
                        <a:pt x="14" y="27"/>
                      </a:cubicBezTo>
                      <a:cubicBezTo>
                        <a:pt x="2" y="41"/>
                        <a:pt x="0" y="68"/>
                        <a:pt x="14" y="82"/>
                      </a:cubicBezTo>
                      <a:cubicBezTo>
                        <a:pt x="28" y="96"/>
                        <a:pt x="64" y="104"/>
                        <a:pt x="96" y="110"/>
                      </a:cubicBezTo>
                      <a:cubicBezTo>
                        <a:pt x="128" y="116"/>
                        <a:pt x="175" y="127"/>
                        <a:pt x="206" y="119"/>
                      </a:cubicBezTo>
                      <a:cubicBezTo>
                        <a:pt x="237" y="111"/>
                        <a:pt x="273" y="82"/>
                        <a:pt x="279" y="64"/>
                      </a:cubicBezTo>
                      <a:cubicBezTo>
                        <a:pt x="285" y="46"/>
                        <a:pt x="263" y="27"/>
                        <a:pt x="242" y="9"/>
                      </a:cubicBezTo>
                    </a:path>
                  </a:pathLst>
                </a:custGeom>
                <a:noFill/>
                <a:ln w="12700">
                  <a:solidFill>
                    <a:schemeClr val="tx1"/>
                  </a:solidFill>
                  <a:miter lim="800000"/>
                  <a:headEnd/>
                  <a:tailEnd type="triangl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2" name="Text Box 42"/>
                <p:cNvSpPr txBox="1">
                  <a:spLocks noChangeArrowheads="1"/>
                </p:cNvSpPr>
                <p:nvPr/>
              </p:nvSpPr>
              <p:spPr bwMode="auto">
                <a:xfrm>
                  <a:off x="1421" y="3272"/>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dirty="0">
                      <a:latin typeface="Times New Roman" panose="02020603050405020304" pitchFamily="18" charset="0"/>
                      <a:ea typeface="宋体" panose="02010600030101010101" pitchFamily="2" charset="-122"/>
                    </a:rPr>
                    <a:t>M</a:t>
                  </a:r>
                  <a:r>
                    <a:rPr lang="en-US" altLang="zh-CN" sz="1800" baseline="-25000" dirty="0">
                      <a:latin typeface="Times New Roman" panose="02020603050405020304" pitchFamily="18" charset="0"/>
                      <a:ea typeface="宋体" panose="02010600030101010101" pitchFamily="2" charset="-122"/>
                    </a:rPr>
                    <a:t>1</a:t>
                  </a:r>
                  <a:endParaRPr lang="en-US" altLang="zh-CN" sz="1800" dirty="0">
                    <a:latin typeface="Times New Roman" panose="02020603050405020304" pitchFamily="18" charset="0"/>
                    <a:ea typeface="宋体" panose="02010600030101010101" pitchFamily="2" charset="-122"/>
                  </a:endParaRPr>
                </a:p>
              </p:txBody>
            </p:sp>
          </p:grpSp>
        </p:grpSp>
      </p:grpSp>
      <p:grpSp>
        <p:nvGrpSpPr>
          <p:cNvPr id="50" name="Group 123"/>
          <p:cNvGrpSpPr>
            <a:grpSpLocks/>
          </p:cNvGrpSpPr>
          <p:nvPr/>
        </p:nvGrpSpPr>
        <p:grpSpPr bwMode="auto">
          <a:xfrm>
            <a:off x="3641608" y="1536482"/>
            <a:ext cx="2249488" cy="2362200"/>
            <a:chOff x="2496" y="1152"/>
            <a:chExt cx="1417" cy="1488"/>
          </a:xfrm>
        </p:grpSpPr>
        <p:grpSp>
          <p:nvGrpSpPr>
            <p:cNvPr id="51" name="Group 121"/>
            <p:cNvGrpSpPr>
              <a:grpSpLocks/>
            </p:cNvGrpSpPr>
            <p:nvPr/>
          </p:nvGrpSpPr>
          <p:grpSpPr bwMode="auto">
            <a:xfrm>
              <a:off x="2640" y="1152"/>
              <a:ext cx="1273" cy="1488"/>
              <a:chOff x="2640" y="1152"/>
              <a:chExt cx="1273" cy="1488"/>
            </a:xfrm>
          </p:grpSpPr>
          <p:sp>
            <p:nvSpPr>
              <p:cNvPr id="75" name="Line 117"/>
              <p:cNvSpPr>
                <a:spLocks noChangeShapeType="1"/>
              </p:cNvSpPr>
              <p:nvPr/>
            </p:nvSpPr>
            <p:spPr bwMode="auto">
              <a:xfrm rot="11400000" flipH="1">
                <a:off x="2752" y="2129"/>
                <a:ext cx="356" cy="511"/>
              </a:xfrm>
              <a:prstGeom prst="line">
                <a:avLst/>
              </a:prstGeom>
              <a:noFill/>
              <a:ln w="9525">
                <a:solidFill>
                  <a:srgbClr val="FF0000"/>
                </a:solidFill>
                <a:miter lim="800000"/>
                <a:headEnd type="triangle" w="sm"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 name="Line 116"/>
              <p:cNvSpPr>
                <a:spLocks noChangeShapeType="1"/>
              </p:cNvSpPr>
              <p:nvPr/>
            </p:nvSpPr>
            <p:spPr bwMode="auto">
              <a:xfrm rot="5400000">
                <a:off x="3537" y="1746"/>
                <a:ext cx="0" cy="753"/>
              </a:xfrm>
              <a:prstGeom prst="line">
                <a:avLst/>
              </a:prstGeom>
              <a:noFill/>
              <a:ln w="9525">
                <a:solidFill>
                  <a:srgbClr val="FF0000"/>
                </a:solidFill>
                <a:miter lim="800000"/>
                <a:headEnd type="triangle" w="sm"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 name="Line 115"/>
              <p:cNvSpPr>
                <a:spLocks noChangeShapeType="1"/>
              </p:cNvSpPr>
              <p:nvPr/>
            </p:nvSpPr>
            <p:spPr bwMode="auto">
              <a:xfrm>
                <a:off x="3180" y="1200"/>
                <a:ext cx="0" cy="912"/>
              </a:xfrm>
              <a:prstGeom prst="line">
                <a:avLst/>
              </a:prstGeom>
              <a:noFill/>
              <a:ln w="9525">
                <a:solidFill>
                  <a:srgbClr val="FF0000"/>
                </a:solidFill>
                <a:miter lim="800000"/>
                <a:headEnd type="triangle" w="sm" len="lg"/>
                <a:tailEnd/>
              </a:ln>
              <a:extLst>
                <a:ext uri="{909E8E84-426E-40DD-AFC4-6F175D3DCCD1}">
                  <a14:hiddenFill xmlns:a14="http://schemas.microsoft.com/office/drawing/2010/main">
                    <a:noFill/>
                  </a14:hiddenFill>
                </a:ext>
              </a:extLst>
            </p:spPr>
            <p:txBody>
              <a:bodyPr wrap="none"/>
              <a:lstStyle/>
              <a:p>
                <a:endParaRPr lang="zh-CN" altLang="en-US"/>
              </a:p>
            </p:txBody>
          </p:sp>
          <p:sp>
            <p:nvSpPr>
              <p:cNvPr id="78" name="Text Box 118"/>
              <p:cNvSpPr txBox="1">
                <a:spLocks noChangeArrowheads="1"/>
              </p:cNvSpPr>
              <p:nvPr/>
            </p:nvSpPr>
            <p:spPr bwMode="auto">
              <a:xfrm>
                <a:off x="2640" y="2400"/>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a:solidFill>
                      <a:srgbClr val="C81204"/>
                    </a:solidFill>
                    <a:latin typeface="Times New Roman" panose="02020603050405020304" pitchFamily="18" charset="0"/>
                    <a:ea typeface="宋体" panose="02010600030101010101" pitchFamily="2" charset="-122"/>
                  </a:rPr>
                  <a:t>x</a:t>
                </a:r>
              </a:p>
            </p:txBody>
          </p:sp>
          <p:sp>
            <p:nvSpPr>
              <p:cNvPr id="79" name="Text Box 119"/>
              <p:cNvSpPr txBox="1">
                <a:spLocks noChangeArrowheads="1"/>
              </p:cNvSpPr>
              <p:nvPr/>
            </p:nvSpPr>
            <p:spPr bwMode="auto">
              <a:xfrm>
                <a:off x="3840" y="1920"/>
                <a:ext cx="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a:solidFill>
                      <a:srgbClr val="C81204"/>
                    </a:solidFill>
                    <a:latin typeface="Times New Roman" panose="02020603050405020304" pitchFamily="18" charset="0"/>
                    <a:ea typeface="宋体" panose="02010600030101010101" pitchFamily="2" charset="-122"/>
                  </a:rPr>
                  <a:t>y</a:t>
                </a:r>
              </a:p>
            </p:txBody>
          </p:sp>
          <p:sp>
            <p:nvSpPr>
              <p:cNvPr id="80" name="Text Box 120"/>
              <p:cNvSpPr txBox="1">
                <a:spLocks noChangeArrowheads="1"/>
              </p:cNvSpPr>
              <p:nvPr/>
            </p:nvSpPr>
            <p:spPr bwMode="auto">
              <a:xfrm>
                <a:off x="3216" y="1152"/>
                <a:ext cx="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a:solidFill>
                      <a:srgbClr val="C81204"/>
                    </a:solidFill>
                    <a:latin typeface="Times New Roman" panose="02020603050405020304" pitchFamily="18" charset="0"/>
                    <a:ea typeface="宋体" panose="02010600030101010101" pitchFamily="2" charset="-122"/>
                  </a:rPr>
                  <a:t>z</a:t>
                </a:r>
              </a:p>
            </p:txBody>
          </p:sp>
        </p:grpSp>
        <p:grpSp>
          <p:nvGrpSpPr>
            <p:cNvPr id="52" name="Group 110"/>
            <p:cNvGrpSpPr>
              <a:grpSpLocks/>
            </p:cNvGrpSpPr>
            <p:nvPr/>
          </p:nvGrpSpPr>
          <p:grpSpPr bwMode="auto">
            <a:xfrm>
              <a:off x="2496" y="1389"/>
              <a:ext cx="1274" cy="1174"/>
              <a:chOff x="2496" y="1440"/>
              <a:chExt cx="1274" cy="1174"/>
            </a:xfrm>
          </p:grpSpPr>
          <p:grpSp>
            <p:nvGrpSpPr>
              <p:cNvPr id="53" name="Group 102"/>
              <p:cNvGrpSpPr>
                <a:grpSpLocks/>
              </p:cNvGrpSpPr>
              <p:nvPr/>
            </p:nvGrpSpPr>
            <p:grpSpPr bwMode="auto">
              <a:xfrm>
                <a:off x="2688" y="1440"/>
                <a:ext cx="1082" cy="1174"/>
                <a:chOff x="2688" y="1440"/>
                <a:chExt cx="1082" cy="1174"/>
              </a:xfrm>
            </p:grpSpPr>
            <p:grpSp>
              <p:nvGrpSpPr>
                <p:cNvPr id="57" name="Group 97"/>
                <p:cNvGrpSpPr>
                  <a:grpSpLocks/>
                </p:cNvGrpSpPr>
                <p:nvPr/>
              </p:nvGrpSpPr>
              <p:grpSpPr bwMode="auto">
                <a:xfrm>
                  <a:off x="2688" y="1440"/>
                  <a:ext cx="1082" cy="1059"/>
                  <a:chOff x="2688" y="1440"/>
                  <a:chExt cx="1082" cy="1059"/>
                </a:xfrm>
              </p:grpSpPr>
              <p:grpSp>
                <p:nvGrpSpPr>
                  <p:cNvPr id="60" name="Group 59"/>
                  <p:cNvGrpSpPr>
                    <a:grpSpLocks/>
                  </p:cNvGrpSpPr>
                  <p:nvPr/>
                </p:nvGrpSpPr>
                <p:grpSpPr bwMode="auto">
                  <a:xfrm>
                    <a:off x="3072" y="1440"/>
                    <a:ext cx="314" cy="722"/>
                    <a:chOff x="1254" y="3168"/>
                    <a:chExt cx="314" cy="722"/>
                  </a:xfrm>
                </p:grpSpPr>
                <p:sp>
                  <p:nvSpPr>
                    <p:cNvPr id="72" name="AutoShape 60"/>
                    <p:cNvSpPr>
                      <a:spLocks noChangeArrowheads="1"/>
                    </p:cNvSpPr>
                    <p:nvPr/>
                  </p:nvSpPr>
                  <p:spPr bwMode="auto">
                    <a:xfrm>
                      <a:off x="1344" y="3312"/>
                      <a:ext cx="41" cy="578"/>
                    </a:xfrm>
                    <a:prstGeom prst="upArrow">
                      <a:avLst>
                        <a:gd name="adj1" fmla="val 50000"/>
                        <a:gd name="adj2" fmla="val 352439"/>
                      </a:avLst>
                    </a:prstGeom>
                    <a:solidFill>
                      <a:schemeClr val="tx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73" name="Freeform 61"/>
                    <p:cNvSpPr>
                      <a:spLocks/>
                    </p:cNvSpPr>
                    <p:nvPr/>
                  </p:nvSpPr>
                  <p:spPr bwMode="auto">
                    <a:xfrm>
                      <a:off x="1254" y="3504"/>
                      <a:ext cx="195" cy="104"/>
                    </a:xfrm>
                    <a:custGeom>
                      <a:avLst/>
                      <a:gdLst>
                        <a:gd name="T0" fmla="*/ 1 w 285"/>
                        <a:gd name="T1" fmla="*/ 0 h 127"/>
                        <a:gd name="T2" fmla="*/ 1 w 285"/>
                        <a:gd name="T3" fmla="*/ 2 h 127"/>
                        <a:gd name="T4" fmla="*/ 1 w 285"/>
                        <a:gd name="T5" fmla="*/ 2 h 127"/>
                        <a:gd name="T6" fmla="*/ 1 w 285"/>
                        <a:gd name="T7" fmla="*/ 2 h 127"/>
                        <a:gd name="T8" fmla="*/ 1 w 285"/>
                        <a:gd name="T9" fmla="*/ 2 h 127"/>
                        <a:gd name="T10" fmla="*/ 1 w 285"/>
                        <a:gd name="T11" fmla="*/ 2 h 127"/>
                        <a:gd name="T12" fmla="*/ 1 w 285"/>
                        <a:gd name="T13" fmla="*/ 2 h 127"/>
                        <a:gd name="T14" fmla="*/ 0 60000 65536"/>
                        <a:gd name="T15" fmla="*/ 0 60000 65536"/>
                        <a:gd name="T16" fmla="*/ 0 60000 65536"/>
                        <a:gd name="T17" fmla="*/ 0 60000 65536"/>
                        <a:gd name="T18" fmla="*/ 0 60000 65536"/>
                        <a:gd name="T19" fmla="*/ 0 60000 65536"/>
                        <a:gd name="T20" fmla="*/ 0 60000 65536"/>
                        <a:gd name="T21" fmla="*/ 0 w 285"/>
                        <a:gd name="T22" fmla="*/ 0 h 127"/>
                        <a:gd name="T23" fmla="*/ 285 w 285"/>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127">
                          <a:moveTo>
                            <a:pt x="87" y="0"/>
                          </a:moveTo>
                          <a:cubicBezTo>
                            <a:pt x="56" y="6"/>
                            <a:pt x="26" y="13"/>
                            <a:pt x="14" y="27"/>
                          </a:cubicBezTo>
                          <a:cubicBezTo>
                            <a:pt x="2" y="41"/>
                            <a:pt x="0" y="68"/>
                            <a:pt x="14" y="82"/>
                          </a:cubicBezTo>
                          <a:cubicBezTo>
                            <a:pt x="28" y="96"/>
                            <a:pt x="64" y="104"/>
                            <a:pt x="96" y="110"/>
                          </a:cubicBezTo>
                          <a:cubicBezTo>
                            <a:pt x="128" y="116"/>
                            <a:pt x="175" y="127"/>
                            <a:pt x="206" y="119"/>
                          </a:cubicBezTo>
                          <a:cubicBezTo>
                            <a:pt x="237" y="111"/>
                            <a:pt x="273" y="82"/>
                            <a:pt x="279" y="64"/>
                          </a:cubicBezTo>
                          <a:cubicBezTo>
                            <a:pt x="285" y="46"/>
                            <a:pt x="263" y="27"/>
                            <a:pt x="242" y="9"/>
                          </a:cubicBezTo>
                        </a:path>
                      </a:pathLst>
                    </a:custGeom>
                    <a:noFill/>
                    <a:ln w="12700">
                      <a:solidFill>
                        <a:schemeClr val="tx1"/>
                      </a:solidFill>
                      <a:miter lim="800000"/>
                      <a:headEnd/>
                      <a:tailEnd type="triangl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4" name="Text Box 62"/>
                    <p:cNvSpPr txBox="1">
                      <a:spLocks noChangeArrowheads="1"/>
                    </p:cNvSpPr>
                    <p:nvPr/>
                  </p:nvSpPr>
                  <p:spPr bwMode="auto">
                    <a:xfrm>
                      <a:off x="1392" y="3168"/>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a:latin typeface="Times New Roman" panose="02020603050405020304" pitchFamily="18" charset="0"/>
                          <a:ea typeface="宋体" panose="02010600030101010101" pitchFamily="2" charset="-122"/>
                        </a:rPr>
                        <a:t>M</a:t>
                      </a:r>
                      <a:r>
                        <a:rPr lang="en-US" altLang="zh-CN" sz="1800" baseline="-25000">
                          <a:latin typeface="Times New Roman" panose="02020603050405020304" pitchFamily="18" charset="0"/>
                          <a:ea typeface="宋体" panose="02010600030101010101" pitchFamily="2" charset="-122"/>
                        </a:rPr>
                        <a:t>1</a:t>
                      </a:r>
                      <a:endParaRPr lang="en-US" altLang="zh-CN" sz="1800">
                        <a:latin typeface="Times New Roman" panose="02020603050405020304" pitchFamily="18" charset="0"/>
                        <a:ea typeface="宋体" panose="02010600030101010101" pitchFamily="2" charset="-122"/>
                      </a:endParaRPr>
                    </a:p>
                  </p:txBody>
                </p:sp>
              </p:grpSp>
              <p:grpSp>
                <p:nvGrpSpPr>
                  <p:cNvPr id="61" name="Group 63"/>
                  <p:cNvGrpSpPr>
                    <a:grpSpLocks/>
                  </p:cNvGrpSpPr>
                  <p:nvPr/>
                </p:nvGrpSpPr>
                <p:grpSpPr bwMode="auto">
                  <a:xfrm rot="5400000">
                    <a:off x="3383" y="1864"/>
                    <a:ext cx="195" cy="578"/>
                    <a:chOff x="3696" y="2550"/>
                    <a:chExt cx="195" cy="578"/>
                  </a:xfrm>
                </p:grpSpPr>
                <p:sp>
                  <p:nvSpPr>
                    <p:cNvPr id="70" name="AutoShape 64"/>
                    <p:cNvSpPr>
                      <a:spLocks noChangeArrowheads="1"/>
                    </p:cNvSpPr>
                    <p:nvPr/>
                  </p:nvSpPr>
                  <p:spPr bwMode="auto">
                    <a:xfrm>
                      <a:off x="3792" y="2550"/>
                      <a:ext cx="41" cy="578"/>
                    </a:xfrm>
                    <a:prstGeom prst="upArrow">
                      <a:avLst>
                        <a:gd name="adj1" fmla="val 50000"/>
                        <a:gd name="adj2" fmla="val 352439"/>
                      </a:avLst>
                    </a:prstGeom>
                    <a:solidFill>
                      <a:schemeClr val="tx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71" name="Freeform 65"/>
                    <p:cNvSpPr>
                      <a:spLocks/>
                    </p:cNvSpPr>
                    <p:nvPr/>
                  </p:nvSpPr>
                  <p:spPr bwMode="auto">
                    <a:xfrm>
                      <a:off x="3696" y="2736"/>
                      <a:ext cx="195" cy="104"/>
                    </a:xfrm>
                    <a:custGeom>
                      <a:avLst/>
                      <a:gdLst>
                        <a:gd name="T0" fmla="*/ 1 w 285"/>
                        <a:gd name="T1" fmla="*/ 0 h 127"/>
                        <a:gd name="T2" fmla="*/ 1 w 285"/>
                        <a:gd name="T3" fmla="*/ 2 h 127"/>
                        <a:gd name="T4" fmla="*/ 1 w 285"/>
                        <a:gd name="T5" fmla="*/ 2 h 127"/>
                        <a:gd name="T6" fmla="*/ 1 w 285"/>
                        <a:gd name="T7" fmla="*/ 2 h 127"/>
                        <a:gd name="T8" fmla="*/ 1 w 285"/>
                        <a:gd name="T9" fmla="*/ 2 h 127"/>
                        <a:gd name="T10" fmla="*/ 1 w 285"/>
                        <a:gd name="T11" fmla="*/ 2 h 127"/>
                        <a:gd name="T12" fmla="*/ 1 w 285"/>
                        <a:gd name="T13" fmla="*/ 2 h 127"/>
                        <a:gd name="T14" fmla="*/ 0 60000 65536"/>
                        <a:gd name="T15" fmla="*/ 0 60000 65536"/>
                        <a:gd name="T16" fmla="*/ 0 60000 65536"/>
                        <a:gd name="T17" fmla="*/ 0 60000 65536"/>
                        <a:gd name="T18" fmla="*/ 0 60000 65536"/>
                        <a:gd name="T19" fmla="*/ 0 60000 65536"/>
                        <a:gd name="T20" fmla="*/ 0 60000 65536"/>
                        <a:gd name="T21" fmla="*/ 0 w 285"/>
                        <a:gd name="T22" fmla="*/ 0 h 127"/>
                        <a:gd name="T23" fmla="*/ 285 w 285"/>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127">
                          <a:moveTo>
                            <a:pt x="87" y="0"/>
                          </a:moveTo>
                          <a:cubicBezTo>
                            <a:pt x="56" y="6"/>
                            <a:pt x="26" y="13"/>
                            <a:pt x="14" y="27"/>
                          </a:cubicBezTo>
                          <a:cubicBezTo>
                            <a:pt x="2" y="41"/>
                            <a:pt x="0" y="68"/>
                            <a:pt x="14" y="82"/>
                          </a:cubicBezTo>
                          <a:cubicBezTo>
                            <a:pt x="28" y="96"/>
                            <a:pt x="64" y="104"/>
                            <a:pt x="96" y="110"/>
                          </a:cubicBezTo>
                          <a:cubicBezTo>
                            <a:pt x="128" y="116"/>
                            <a:pt x="175" y="127"/>
                            <a:pt x="206" y="119"/>
                          </a:cubicBezTo>
                          <a:cubicBezTo>
                            <a:pt x="237" y="111"/>
                            <a:pt x="273" y="82"/>
                            <a:pt x="279" y="64"/>
                          </a:cubicBezTo>
                          <a:cubicBezTo>
                            <a:pt x="285" y="46"/>
                            <a:pt x="263" y="27"/>
                            <a:pt x="242" y="9"/>
                          </a:cubicBezTo>
                        </a:path>
                      </a:pathLst>
                    </a:custGeom>
                    <a:noFill/>
                    <a:ln w="12700">
                      <a:solidFill>
                        <a:schemeClr val="tx1"/>
                      </a:solidFill>
                      <a:miter lim="800000"/>
                      <a:headEnd/>
                      <a:tailEnd type="triangl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62" name="Group 66"/>
                  <p:cNvGrpSpPr>
                    <a:grpSpLocks/>
                  </p:cNvGrpSpPr>
                  <p:nvPr/>
                </p:nvGrpSpPr>
                <p:grpSpPr bwMode="auto">
                  <a:xfrm rot="-1200000">
                    <a:off x="2925" y="1455"/>
                    <a:ext cx="314" cy="722"/>
                    <a:chOff x="1254" y="3168"/>
                    <a:chExt cx="314" cy="722"/>
                  </a:xfrm>
                </p:grpSpPr>
                <p:sp>
                  <p:nvSpPr>
                    <p:cNvPr id="67" name="AutoShape 67"/>
                    <p:cNvSpPr>
                      <a:spLocks noChangeArrowheads="1"/>
                    </p:cNvSpPr>
                    <p:nvPr/>
                  </p:nvSpPr>
                  <p:spPr bwMode="auto">
                    <a:xfrm>
                      <a:off x="1344" y="3312"/>
                      <a:ext cx="41" cy="578"/>
                    </a:xfrm>
                    <a:prstGeom prst="upArrow">
                      <a:avLst>
                        <a:gd name="adj1" fmla="val 50000"/>
                        <a:gd name="adj2" fmla="val 352439"/>
                      </a:avLst>
                    </a:prstGeom>
                    <a:solidFill>
                      <a:schemeClr val="tx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68" name="Freeform 68"/>
                    <p:cNvSpPr>
                      <a:spLocks/>
                    </p:cNvSpPr>
                    <p:nvPr/>
                  </p:nvSpPr>
                  <p:spPr bwMode="auto">
                    <a:xfrm>
                      <a:off x="1254" y="3504"/>
                      <a:ext cx="195" cy="104"/>
                    </a:xfrm>
                    <a:custGeom>
                      <a:avLst/>
                      <a:gdLst>
                        <a:gd name="T0" fmla="*/ 1 w 285"/>
                        <a:gd name="T1" fmla="*/ 0 h 127"/>
                        <a:gd name="T2" fmla="*/ 1 w 285"/>
                        <a:gd name="T3" fmla="*/ 2 h 127"/>
                        <a:gd name="T4" fmla="*/ 1 w 285"/>
                        <a:gd name="T5" fmla="*/ 2 h 127"/>
                        <a:gd name="T6" fmla="*/ 1 w 285"/>
                        <a:gd name="T7" fmla="*/ 2 h 127"/>
                        <a:gd name="T8" fmla="*/ 1 w 285"/>
                        <a:gd name="T9" fmla="*/ 2 h 127"/>
                        <a:gd name="T10" fmla="*/ 1 w 285"/>
                        <a:gd name="T11" fmla="*/ 2 h 127"/>
                        <a:gd name="T12" fmla="*/ 1 w 285"/>
                        <a:gd name="T13" fmla="*/ 2 h 127"/>
                        <a:gd name="T14" fmla="*/ 0 60000 65536"/>
                        <a:gd name="T15" fmla="*/ 0 60000 65536"/>
                        <a:gd name="T16" fmla="*/ 0 60000 65536"/>
                        <a:gd name="T17" fmla="*/ 0 60000 65536"/>
                        <a:gd name="T18" fmla="*/ 0 60000 65536"/>
                        <a:gd name="T19" fmla="*/ 0 60000 65536"/>
                        <a:gd name="T20" fmla="*/ 0 60000 65536"/>
                        <a:gd name="T21" fmla="*/ 0 w 285"/>
                        <a:gd name="T22" fmla="*/ 0 h 127"/>
                        <a:gd name="T23" fmla="*/ 285 w 285"/>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127">
                          <a:moveTo>
                            <a:pt x="87" y="0"/>
                          </a:moveTo>
                          <a:cubicBezTo>
                            <a:pt x="56" y="6"/>
                            <a:pt x="26" y="13"/>
                            <a:pt x="14" y="27"/>
                          </a:cubicBezTo>
                          <a:cubicBezTo>
                            <a:pt x="2" y="41"/>
                            <a:pt x="0" y="68"/>
                            <a:pt x="14" y="82"/>
                          </a:cubicBezTo>
                          <a:cubicBezTo>
                            <a:pt x="28" y="96"/>
                            <a:pt x="64" y="104"/>
                            <a:pt x="96" y="110"/>
                          </a:cubicBezTo>
                          <a:cubicBezTo>
                            <a:pt x="128" y="116"/>
                            <a:pt x="175" y="127"/>
                            <a:pt x="206" y="119"/>
                          </a:cubicBezTo>
                          <a:cubicBezTo>
                            <a:pt x="237" y="111"/>
                            <a:pt x="273" y="82"/>
                            <a:pt x="279" y="64"/>
                          </a:cubicBezTo>
                          <a:cubicBezTo>
                            <a:pt x="285" y="46"/>
                            <a:pt x="263" y="27"/>
                            <a:pt x="242" y="9"/>
                          </a:cubicBezTo>
                        </a:path>
                      </a:pathLst>
                    </a:custGeom>
                    <a:noFill/>
                    <a:ln w="12700">
                      <a:solidFill>
                        <a:schemeClr val="tx1"/>
                      </a:solidFill>
                      <a:miter lim="800000"/>
                      <a:headEnd/>
                      <a:tailEnd type="triangl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9" name="Text Box 69"/>
                    <p:cNvSpPr txBox="1">
                      <a:spLocks noChangeArrowheads="1"/>
                    </p:cNvSpPr>
                    <p:nvPr/>
                  </p:nvSpPr>
                  <p:spPr bwMode="auto">
                    <a:xfrm>
                      <a:off x="1392" y="3168"/>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a:latin typeface="Times New Roman" panose="02020603050405020304" pitchFamily="18" charset="0"/>
                          <a:ea typeface="宋体" panose="02010600030101010101" pitchFamily="2" charset="-122"/>
                        </a:rPr>
                        <a:t>M</a:t>
                      </a:r>
                      <a:r>
                        <a:rPr lang="en-US" altLang="zh-CN" sz="1800" baseline="-25000">
                          <a:latin typeface="Times New Roman" panose="02020603050405020304" pitchFamily="18" charset="0"/>
                          <a:ea typeface="宋体" panose="02010600030101010101" pitchFamily="2" charset="-122"/>
                        </a:rPr>
                        <a:t>2</a:t>
                      </a:r>
                      <a:endParaRPr lang="en-US" altLang="zh-CN" sz="1800">
                        <a:latin typeface="Times New Roman" panose="02020603050405020304" pitchFamily="18" charset="0"/>
                        <a:ea typeface="宋体" panose="02010600030101010101" pitchFamily="2" charset="-122"/>
                      </a:endParaRPr>
                    </a:p>
                  </p:txBody>
                </p:sp>
              </p:grpSp>
              <p:grpSp>
                <p:nvGrpSpPr>
                  <p:cNvPr id="63" name="Group 70"/>
                  <p:cNvGrpSpPr>
                    <a:grpSpLocks/>
                  </p:cNvGrpSpPr>
                  <p:nvPr/>
                </p:nvGrpSpPr>
                <p:grpSpPr bwMode="auto">
                  <a:xfrm rot="-8100000">
                    <a:off x="2879" y="2113"/>
                    <a:ext cx="195" cy="578"/>
                    <a:chOff x="3696" y="2544"/>
                    <a:chExt cx="195" cy="578"/>
                  </a:xfrm>
                </p:grpSpPr>
                <p:sp>
                  <p:nvSpPr>
                    <p:cNvPr id="65" name="AutoShape 71"/>
                    <p:cNvSpPr>
                      <a:spLocks noChangeArrowheads="1"/>
                    </p:cNvSpPr>
                    <p:nvPr/>
                  </p:nvSpPr>
                  <p:spPr bwMode="auto">
                    <a:xfrm>
                      <a:off x="3786" y="2544"/>
                      <a:ext cx="41" cy="578"/>
                    </a:xfrm>
                    <a:prstGeom prst="upArrow">
                      <a:avLst>
                        <a:gd name="adj1" fmla="val 50000"/>
                        <a:gd name="adj2" fmla="val 352439"/>
                      </a:avLst>
                    </a:prstGeom>
                    <a:solidFill>
                      <a:schemeClr val="tx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66" name="Freeform 72"/>
                    <p:cNvSpPr>
                      <a:spLocks/>
                    </p:cNvSpPr>
                    <p:nvPr/>
                  </p:nvSpPr>
                  <p:spPr bwMode="auto">
                    <a:xfrm>
                      <a:off x="3696" y="2736"/>
                      <a:ext cx="195" cy="104"/>
                    </a:xfrm>
                    <a:custGeom>
                      <a:avLst/>
                      <a:gdLst>
                        <a:gd name="T0" fmla="*/ 1 w 285"/>
                        <a:gd name="T1" fmla="*/ 0 h 127"/>
                        <a:gd name="T2" fmla="*/ 1 w 285"/>
                        <a:gd name="T3" fmla="*/ 2 h 127"/>
                        <a:gd name="T4" fmla="*/ 1 w 285"/>
                        <a:gd name="T5" fmla="*/ 2 h 127"/>
                        <a:gd name="T6" fmla="*/ 1 w 285"/>
                        <a:gd name="T7" fmla="*/ 2 h 127"/>
                        <a:gd name="T8" fmla="*/ 1 w 285"/>
                        <a:gd name="T9" fmla="*/ 2 h 127"/>
                        <a:gd name="T10" fmla="*/ 1 w 285"/>
                        <a:gd name="T11" fmla="*/ 2 h 127"/>
                        <a:gd name="T12" fmla="*/ 1 w 285"/>
                        <a:gd name="T13" fmla="*/ 2 h 127"/>
                        <a:gd name="T14" fmla="*/ 0 60000 65536"/>
                        <a:gd name="T15" fmla="*/ 0 60000 65536"/>
                        <a:gd name="T16" fmla="*/ 0 60000 65536"/>
                        <a:gd name="T17" fmla="*/ 0 60000 65536"/>
                        <a:gd name="T18" fmla="*/ 0 60000 65536"/>
                        <a:gd name="T19" fmla="*/ 0 60000 65536"/>
                        <a:gd name="T20" fmla="*/ 0 60000 65536"/>
                        <a:gd name="T21" fmla="*/ 0 w 285"/>
                        <a:gd name="T22" fmla="*/ 0 h 127"/>
                        <a:gd name="T23" fmla="*/ 285 w 285"/>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127">
                          <a:moveTo>
                            <a:pt x="87" y="0"/>
                          </a:moveTo>
                          <a:cubicBezTo>
                            <a:pt x="56" y="6"/>
                            <a:pt x="26" y="13"/>
                            <a:pt x="14" y="27"/>
                          </a:cubicBezTo>
                          <a:cubicBezTo>
                            <a:pt x="2" y="41"/>
                            <a:pt x="0" y="68"/>
                            <a:pt x="14" y="82"/>
                          </a:cubicBezTo>
                          <a:cubicBezTo>
                            <a:pt x="28" y="96"/>
                            <a:pt x="64" y="104"/>
                            <a:pt x="96" y="110"/>
                          </a:cubicBezTo>
                          <a:cubicBezTo>
                            <a:pt x="128" y="116"/>
                            <a:pt x="175" y="127"/>
                            <a:pt x="206" y="119"/>
                          </a:cubicBezTo>
                          <a:cubicBezTo>
                            <a:pt x="237" y="111"/>
                            <a:pt x="273" y="82"/>
                            <a:pt x="279" y="64"/>
                          </a:cubicBezTo>
                          <a:cubicBezTo>
                            <a:pt x="285" y="46"/>
                            <a:pt x="263" y="27"/>
                            <a:pt x="242" y="9"/>
                          </a:cubicBezTo>
                        </a:path>
                      </a:pathLst>
                    </a:custGeom>
                    <a:noFill/>
                    <a:ln w="12700">
                      <a:solidFill>
                        <a:schemeClr val="tx1"/>
                      </a:solidFill>
                      <a:miter lim="800000"/>
                      <a:headEnd/>
                      <a:tailEnd type="triangl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64" name="Oval 73"/>
                  <p:cNvSpPr>
                    <a:spLocks noChangeArrowheads="1"/>
                  </p:cNvSpPr>
                  <p:nvPr/>
                </p:nvSpPr>
                <p:spPr bwMode="auto">
                  <a:xfrm>
                    <a:off x="3141" y="2148"/>
                    <a:ext cx="48" cy="48"/>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sp>
              <p:nvSpPr>
                <p:cNvPr id="58" name="Text Box 98"/>
                <p:cNvSpPr txBox="1">
                  <a:spLocks noChangeArrowheads="1"/>
                </p:cNvSpPr>
                <p:nvPr/>
              </p:nvSpPr>
              <p:spPr bwMode="auto">
                <a:xfrm>
                  <a:off x="3563" y="1903"/>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dirty="0">
                      <a:latin typeface="Times New Roman" panose="02020603050405020304" pitchFamily="18" charset="0"/>
                      <a:ea typeface="宋体" panose="02010600030101010101" pitchFamily="2" charset="-122"/>
                    </a:rPr>
                    <a:t>M</a:t>
                  </a:r>
                  <a:r>
                    <a:rPr lang="en-US" altLang="zh-CN" sz="1800" baseline="-25000" dirty="0">
                      <a:latin typeface="Times New Roman" panose="02020603050405020304" pitchFamily="18" charset="0"/>
                      <a:ea typeface="宋体" panose="02010600030101010101" pitchFamily="2" charset="-122"/>
                    </a:rPr>
                    <a:t>3</a:t>
                  </a:r>
                  <a:endParaRPr lang="en-US" altLang="zh-CN" sz="1800" dirty="0">
                    <a:latin typeface="Times New Roman" panose="02020603050405020304" pitchFamily="18" charset="0"/>
                    <a:ea typeface="宋体" panose="02010600030101010101" pitchFamily="2" charset="-122"/>
                  </a:endParaRPr>
                </a:p>
              </p:txBody>
            </p:sp>
            <p:sp>
              <p:nvSpPr>
                <p:cNvPr id="59" name="Text Box 99"/>
                <p:cNvSpPr txBox="1">
                  <a:spLocks noChangeArrowheads="1"/>
                </p:cNvSpPr>
                <p:nvPr/>
              </p:nvSpPr>
              <p:spPr bwMode="auto">
                <a:xfrm>
                  <a:off x="3027" y="2440"/>
                  <a:ext cx="18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dirty="0" err="1">
                      <a:latin typeface="Times New Roman" panose="02020603050405020304" pitchFamily="18" charset="0"/>
                      <a:ea typeface="宋体" panose="02010600030101010101" pitchFamily="2" charset="-122"/>
                    </a:rPr>
                    <a:t>M</a:t>
                  </a:r>
                  <a:r>
                    <a:rPr lang="en-US" altLang="zh-CN" sz="1800" b="1" i="1" baseline="-25000" dirty="0" err="1">
                      <a:latin typeface="Times New Roman" panose="02020603050405020304" pitchFamily="18" charset="0"/>
                      <a:ea typeface="宋体" panose="02010600030101010101" pitchFamily="2" charset="-122"/>
                    </a:rPr>
                    <a:t>n</a:t>
                  </a:r>
                  <a:endParaRPr lang="en-US" altLang="zh-CN" sz="1800" b="1" i="1" dirty="0">
                    <a:latin typeface="Times New Roman" panose="02020603050405020304" pitchFamily="18" charset="0"/>
                    <a:ea typeface="宋体" panose="02010600030101010101" pitchFamily="2" charset="-122"/>
                  </a:endParaRPr>
                </a:p>
              </p:txBody>
            </p:sp>
          </p:grpSp>
          <p:grpSp>
            <p:nvGrpSpPr>
              <p:cNvPr id="54" name="Group 106"/>
              <p:cNvGrpSpPr>
                <a:grpSpLocks/>
              </p:cNvGrpSpPr>
              <p:nvPr/>
            </p:nvGrpSpPr>
            <p:grpSpPr bwMode="auto">
              <a:xfrm>
                <a:off x="2496" y="2160"/>
                <a:ext cx="243" cy="60"/>
                <a:chOff x="2109" y="3264"/>
                <a:chExt cx="243" cy="60"/>
              </a:xfrm>
            </p:grpSpPr>
            <p:sp>
              <p:nvSpPr>
                <p:cNvPr id="55" name="Line 104"/>
                <p:cNvSpPr>
                  <a:spLocks noChangeShapeType="1"/>
                </p:cNvSpPr>
                <p:nvPr/>
              </p:nvSpPr>
              <p:spPr bwMode="auto">
                <a:xfrm>
                  <a:off x="2112" y="3264"/>
                  <a:ext cx="24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 name="Line 105"/>
                <p:cNvSpPr>
                  <a:spLocks noChangeShapeType="1"/>
                </p:cNvSpPr>
                <p:nvPr/>
              </p:nvSpPr>
              <p:spPr bwMode="auto">
                <a:xfrm>
                  <a:off x="2109" y="3324"/>
                  <a:ext cx="24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grpSp>
        <p:nvGrpSpPr>
          <p:cNvPr id="81" name="Group 111"/>
          <p:cNvGrpSpPr>
            <a:grpSpLocks/>
          </p:cNvGrpSpPr>
          <p:nvPr/>
        </p:nvGrpSpPr>
        <p:grpSpPr bwMode="auto">
          <a:xfrm>
            <a:off x="5987913" y="1871537"/>
            <a:ext cx="1905000" cy="2098675"/>
            <a:chOff x="3840" y="1414"/>
            <a:chExt cx="1200" cy="1322"/>
          </a:xfrm>
        </p:grpSpPr>
        <p:grpSp>
          <p:nvGrpSpPr>
            <p:cNvPr id="82" name="Group 103"/>
            <p:cNvGrpSpPr>
              <a:grpSpLocks/>
            </p:cNvGrpSpPr>
            <p:nvPr/>
          </p:nvGrpSpPr>
          <p:grpSpPr bwMode="auto">
            <a:xfrm>
              <a:off x="4080" y="1414"/>
              <a:ext cx="960" cy="1322"/>
              <a:chOff x="4080" y="1414"/>
              <a:chExt cx="960" cy="1322"/>
            </a:xfrm>
          </p:grpSpPr>
          <p:grpSp>
            <p:nvGrpSpPr>
              <p:cNvPr id="86" name="Group 94"/>
              <p:cNvGrpSpPr>
                <a:grpSpLocks/>
              </p:cNvGrpSpPr>
              <p:nvPr/>
            </p:nvGrpSpPr>
            <p:grpSpPr bwMode="auto">
              <a:xfrm>
                <a:off x="4080" y="1776"/>
                <a:ext cx="960" cy="960"/>
                <a:chOff x="4080" y="1776"/>
                <a:chExt cx="960" cy="960"/>
              </a:xfrm>
            </p:grpSpPr>
            <p:sp>
              <p:nvSpPr>
                <p:cNvPr id="91" name="Freeform 76"/>
                <p:cNvSpPr>
                  <a:spLocks/>
                </p:cNvSpPr>
                <p:nvPr/>
              </p:nvSpPr>
              <p:spPr bwMode="auto">
                <a:xfrm>
                  <a:off x="4080" y="1776"/>
                  <a:ext cx="960" cy="960"/>
                </a:xfrm>
                <a:custGeom>
                  <a:avLst/>
                  <a:gdLst>
                    <a:gd name="T0" fmla="*/ 384 w 960"/>
                    <a:gd name="T1" fmla="*/ 0 h 960"/>
                    <a:gd name="T2" fmla="*/ 960 w 960"/>
                    <a:gd name="T3" fmla="*/ 0 h 960"/>
                    <a:gd name="T4" fmla="*/ 768 w 960"/>
                    <a:gd name="T5" fmla="*/ 192 h 960"/>
                    <a:gd name="T6" fmla="*/ 192 w 960"/>
                    <a:gd name="T7" fmla="*/ 192 h 960"/>
                    <a:gd name="T8" fmla="*/ 0 w 960"/>
                    <a:gd name="T9" fmla="*/ 576 h 960"/>
                    <a:gd name="T10" fmla="*/ 0 w 960"/>
                    <a:gd name="T11" fmla="*/ 960 h 960"/>
                    <a:gd name="T12" fmla="*/ 768 w 960"/>
                    <a:gd name="T13" fmla="*/ 960 h 960"/>
                    <a:gd name="T14" fmla="*/ 576 w 960"/>
                    <a:gd name="T15" fmla="*/ 960 h 960"/>
                    <a:gd name="T16" fmla="*/ 576 w 960"/>
                    <a:gd name="T17" fmla="*/ 576 h 960"/>
                    <a:gd name="T18" fmla="*/ 768 w 960"/>
                    <a:gd name="T19" fmla="*/ 192 h 960"/>
                    <a:gd name="T20" fmla="*/ 960 w 960"/>
                    <a:gd name="T21" fmla="*/ 0 h 960"/>
                    <a:gd name="T22" fmla="*/ 960 w 960"/>
                    <a:gd name="T23" fmla="*/ 576 h 960"/>
                    <a:gd name="T24" fmla="*/ 576 w 960"/>
                    <a:gd name="T25" fmla="*/ 960 h 9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60"/>
                    <a:gd name="T40" fmla="*/ 0 h 960"/>
                    <a:gd name="T41" fmla="*/ 960 w 960"/>
                    <a:gd name="T42" fmla="*/ 960 h 96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60" h="960">
                      <a:moveTo>
                        <a:pt x="384" y="0"/>
                      </a:moveTo>
                      <a:lnTo>
                        <a:pt x="960" y="0"/>
                      </a:lnTo>
                      <a:lnTo>
                        <a:pt x="768" y="192"/>
                      </a:lnTo>
                      <a:lnTo>
                        <a:pt x="192" y="192"/>
                      </a:lnTo>
                      <a:lnTo>
                        <a:pt x="0" y="576"/>
                      </a:lnTo>
                      <a:lnTo>
                        <a:pt x="0" y="960"/>
                      </a:lnTo>
                      <a:lnTo>
                        <a:pt x="768" y="960"/>
                      </a:lnTo>
                      <a:lnTo>
                        <a:pt x="576" y="960"/>
                      </a:lnTo>
                      <a:lnTo>
                        <a:pt x="576" y="576"/>
                      </a:lnTo>
                      <a:lnTo>
                        <a:pt x="768" y="192"/>
                      </a:lnTo>
                      <a:lnTo>
                        <a:pt x="960" y="0"/>
                      </a:lnTo>
                      <a:lnTo>
                        <a:pt x="960" y="576"/>
                      </a:lnTo>
                      <a:lnTo>
                        <a:pt x="576" y="960"/>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2" name="Line 77"/>
                <p:cNvSpPr>
                  <a:spLocks noChangeShapeType="1"/>
                </p:cNvSpPr>
                <p:nvPr/>
              </p:nvSpPr>
              <p:spPr bwMode="auto">
                <a:xfrm>
                  <a:off x="4080" y="2352"/>
                  <a:ext cx="576"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3" name="Line 78"/>
                <p:cNvSpPr>
                  <a:spLocks noChangeShapeType="1"/>
                </p:cNvSpPr>
                <p:nvPr/>
              </p:nvSpPr>
              <p:spPr bwMode="auto">
                <a:xfrm flipH="1">
                  <a:off x="4272" y="1776"/>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94" name="Group 79"/>
                <p:cNvGrpSpPr>
                  <a:grpSpLocks/>
                </p:cNvGrpSpPr>
                <p:nvPr/>
              </p:nvGrpSpPr>
              <p:grpSpPr bwMode="auto">
                <a:xfrm>
                  <a:off x="4899" y="2076"/>
                  <a:ext cx="96" cy="192"/>
                  <a:chOff x="1728" y="3168"/>
                  <a:chExt cx="96" cy="192"/>
                </a:xfrm>
              </p:grpSpPr>
              <p:sp>
                <p:nvSpPr>
                  <p:cNvPr id="103" name="Oval 80"/>
                  <p:cNvSpPr>
                    <a:spLocks noChangeArrowheads="1"/>
                  </p:cNvSpPr>
                  <p:nvPr/>
                </p:nvSpPr>
                <p:spPr bwMode="auto">
                  <a:xfrm>
                    <a:off x="1728" y="3168"/>
                    <a:ext cx="96" cy="192"/>
                  </a:xfrm>
                  <a:prstGeom prst="ellipse">
                    <a:avLst/>
                  </a:prstGeom>
                  <a:solidFill>
                    <a:srgbClr val="C0C0C0"/>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104" name="Oval 81"/>
                  <p:cNvSpPr>
                    <a:spLocks noChangeArrowheads="1"/>
                  </p:cNvSpPr>
                  <p:nvPr/>
                </p:nvSpPr>
                <p:spPr bwMode="auto">
                  <a:xfrm>
                    <a:off x="1737" y="3186"/>
                    <a:ext cx="48" cy="170"/>
                  </a:xfrm>
                  <a:prstGeom prst="ellipse">
                    <a:avLst/>
                  </a:prstGeom>
                  <a:solidFill>
                    <a:srgbClr val="FFFFFF"/>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sp>
              <p:nvSpPr>
                <p:cNvPr id="95" name="Oval 82"/>
                <p:cNvSpPr>
                  <a:spLocks noChangeArrowheads="1"/>
                </p:cNvSpPr>
                <p:nvPr/>
              </p:nvSpPr>
              <p:spPr bwMode="auto">
                <a:xfrm rot="-5400000">
                  <a:off x="4590" y="1773"/>
                  <a:ext cx="96" cy="192"/>
                </a:xfrm>
                <a:prstGeom prst="ellipse">
                  <a:avLst/>
                </a:prstGeom>
                <a:solidFill>
                  <a:srgbClr val="C0C0C0"/>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96" name="Oval 83"/>
                <p:cNvSpPr>
                  <a:spLocks noChangeArrowheads="1"/>
                </p:cNvSpPr>
                <p:nvPr/>
              </p:nvSpPr>
              <p:spPr bwMode="auto">
                <a:xfrm rot="-5400000">
                  <a:off x="4620" y="1798"/>
                  <a:ext cx="48" cy="170"/>
                </a:xfrm>
                <a:prstGeom prst="ellipse">
                  <a:avLst/>
                </a:prstGeom>
                <a:solidFill>
                  <a:srgbClr val="FFFFFF"/>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nvGrpSpPr>
                <p:cNvPr id="97" name="Group 84"/>
                <p:cNvGrpSpPr>
                  <a:grpSpLocks/>
                </p:cNvGrpSpPr>
                <p:nvPr/>
              </p:nvGrpSpPr>
              <p:grpSpPr bwMode="auto">
                <a:xfrm rot="-2700000">
                  <a:off x="4368" y="2094"/>
                  <a:ext cx="192" cy="141"/>
                  <a:chOff x="1632" y="1662"/>
                  <a:chExt cx="192" cy="141"/>
                </a:xfrm>
              </p:grpSpPr>
              <p:sp>
                <p:nvSpPr>
                  <p:cNvPr id="101" name="Oval 85"/>
                  <p:cNvSpPr>
                    <a:spLocks noChangeArrowheads="1"/>
                  </p:cNvSpPr>
                  <p:nvPr/>
                </p:nvSpPr>
                <p:spPr bwMode="auto">
                  <a:xfrm rot="-5400000">
                    <a:off x="1657" y="1637"/>
                    <a:ext cx="141" cy="192"/>
                  </a:xfrm>
                  <a:prstGeom prst="ellipse">
                    <a:avLst/>
                  </a:prstGeom>
                  <a:solidFill>
                    <a:srgbClr val="C0C0C0"/>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102" name="Oval 86"/>
                  <p:cNvSpPr>
                    <a:spLocks noChangeArrowheads="1"/>
                  </p:cNvSpPr>
                  <p:nvPr/>
                </p:nvSpPr>
                <p:spPr bwMode="auto">
                  <a:xfrm rot="-5400000">
                    <a:off x="1677" y="1666"/>
                    <a:ext cx="93" cy="170"/>
                  </a:xfrm>
                  <a:prstGeom prst="ellipse">
                    <a:avLst/>
                  </a:prstGeom>
                  <a:solidFill>
                    <a:srgbClr val="FFFFFF"/>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grpSp>
              <p:nvGrpSpPr>
                <p:cNvPr id="98" name="Group 87"/>
                <p:cNvGrpSpPr>
                  <a:grpSpLocks/>
                </p:cNvGrpSpPr>
                <p:nvPr/>
              </p:nvGrpSpPr>
              <p:grpSpPr bwMode="auto">
                <a:xfrm rot="-5400000">
                  <a:off x="4285" y="2436"/>
                  <a:ext cx="192" cy="163"/>
                  <a:chOff x="1632" y="1662"/>
                  <a:chExt cx="192" cy="141"/>
                </a:xfrm>
              </p:grpSpPr>
              <p:sp>
                <p:nvSpPr>
                  <p:cNvPr id="99" name="Oval 88"/>
                  <p:cNvSpPr>
                    <a:spLocks noChangeArrowheads="1"/>
                  </p:cNvSpPr>
                  <p:nvPr/>
                </p:nvSpPr>
                <p:spPr bwMode="auto">
                  <a:xfrm rot="-5400000">
                    <a:off x="1657" y="1637"/>
                    <a:ext cx="141" cy="192"/>
                  </a:xfrm>
                  <a:prstGeom prst="ellipse">
                    <a:avLst/>
                  </a:prstGeom>
                  <a:solidFill>
                    <a:srgbClr val="C0C0C0"/>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100" name="Oval 89"/>
                  <p:cNvSpPr>
                    <a:spLocks noChangeArrowheads="1"/>
                  </p:cNvSpPr>
                  <p:nvPr/>
                </p:nvSpPr>
                <p:spPr bwMode="auto">
                  <a:xfrm rot="-5400000">
                    <a:off x="1677" y="1666"/>
                    <a:ext cx="93" cy="170"/>
                  </a:xfrm>
                  <a:prstGeom prst="ellipse">
                    <a:avLst/>
                  </a:prstGeom>
                  <a:solidFill>
                    <a:srgbClr val="FFFFFF"/>
                  </a:solidFill>
                  <a:ln w="9525">
                    <a:solidFill>
                      <a:schemeClr val="tx1"/>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grpSp>
          <p:grpSp>
            <p:nvGrpSpPr>
              <p:cNvPr id="87" name="Group 90"/>
              <p:cNvGrpSpPr>
                <a:grpSpLocks/>
              </p:cNvGrpSpPr>
              <p:nvPr/>
            </p:nvGrpSpPr>
            <p:grpSpPr bwMode="auto">
              <a:xfrm rot="-900000">
                <a:off x="4262" y="1584"/>
                <a:ext cx="195" cy="578"/>
                <a:chOff x="3595" y="2518"/>
                <a:chExt cx="195" cy="578"/>
              </a:xfrm>
            </p:grpSpPr>
            <p:sp>
              <p:nvSpPr>
                <p:cNvPr id="89" name="AutoShape 91"/>
                <p:cNvSpPr>
                  <a:spLocks noChangeArrowheads="1"/>
                </p:cNvSpPr>
                <p:nvPr/>
              </p:nvSpPr>
              <p:spPr bwMode="auto">
                <a:xfrm>
                  <a:off x="3692" y="2518"/>
                  <a:ext cx="41" cy="578"/>
                </a:xfrm>
                <a:prstGeom prst="upArrow">
                  <a:avLst>
                    <a:gd name="adj1" fmla="val 50000"/>
                    <a:gd name="adj2" fmla="val 352439"/>
                  </a:avLst>
                </a:prstGeom>
                <a:solidFill>
                  <a:schemeClr val="tx1"/>
                </a:solidFill>
                <a:ln w="9525">
                  <a:solidFill>
                    <a:srgbClr val="FF0000"/>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90" name="Freeform 92"/>
                <p:cNvSpPr>
                  <a:spLocks/>
                </p:cNvSpPr>
                <p:nvPr/>
              </p:nvSpPr>
              <p:spPr bwMode="auto">
                <a:xfrm>
                  <a:off x="3595" y="2708"/>
                  <a:ext cx="195" cy="104"/>
                </a:xfrm>
                <a:custGeom>
                  <a:avLst/>
                  <a:gdLst>
                    <a:gd name="T0" fmla="*/ 1 w 285"/>
                    <a:gd name="T1" fmla="*/ 0 h 127"/>
                    <a:gd name="T2" fmla="*/ 1 w 285"/>
                    <a:gd name="T3" fmla="*/ 2 h 127"/>
                    <a:gd name="T4" fmla="*/ 1 w 285"/>
                    <a:gd name="T5" fmla="*/ 2 h 127"/>
                    <a:gd name="T6" fmla="*/ 1 w 285"/>
                    <a:gd name="T7" fmla="*/ 2 h 127"/>
                    <a:gd name="T8" fmla="*/ 1 w 285"/>
                    <a:gd name="T9" fmla="*/ 2 h 127"/>
                    <a:gd name="T10" fmla="*/ 1 w 285"/>
                    <a:gd name="T11" fmla="*/ 2 h 127"/>
                    <a:gd name="T12" fmla="*/ 1 w 285"/>
                    <a:gd name="T13" fmla="*/ 2 h 127"/>
                    <a:gd name="T14" fmla="*/ 0 60000 65536"/>
                    <a:gd name="T15" fmla="*/ 0 60000 65536"/>
                    <a:gd name="T16" fmla="*/ 0 60000 65536"/>
                    <a:gd name="T17" fmla="*/ 0 60000 65536"/>
                    <a:gd name="T18" fmla="*/ 0 60000 65536"/>
                    <a:gd name="T19" fmla="*/ 0 60000 65536"/>
                    <a:gd name="T20" fmla="*/ 0 60000 65536"/>
                    <a:gd name="T21" fmla="*/ 0 w 285"/>
                    <a:gd name="T22" fmla="*/ 0 h 127"/>
                    <a:gd name="T23" fmla="*/ 285 w 285"/>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127">
                      <a:moveTo>
                        <a:pt x="87" y="0"/>
                      </a:moveTo>
                      <a:cubicBezTo>
                        <a:pt x="56" y="6"/>
                        <a:pt x="26" y="13"/>
                        <a:pt x="14" y="27"/>
                      </a:cubicBezTo>
                      <a:cubicBezTo>
                        <a:pt x="2" y="41"/>
                        <a:pt x="0" y="68"/>
                        <a:pt x="14" y="82"/>
                      </a:cubicBezTo>
                      <a:cubicBezTo>
                        <a:pt x="28" y="96"/>
                        <a:pt x="64" y="104"/>
                        <a:pt x="96" y="110"/>
                      </a:cubicBezTo>
                      <a:cubicBezTo>
                        <a:pt x="128" y="116"/>
                        <a:pt x="175" y="127"/>
                        <a:pt x="206" y="119"/>
                      </a:cubicBezTo>
                      <a:cubicBezTo>
                        <a:pt x="237" y="111"/>
                        <a:pt x="273" y="82"/>
                        <a:pt x="279" y="64"/>
                      </a:cubicBezTo>
                      <a:cubicBezTo>
                        <a:pt x="285" y="46"/>
                        <a:pt x="263" y="27"/>
                        <a:pt x="242" y="9"/>
                      </a:cubicBezTo>
                    </a:path>
                  </a:pathLst>
                </a:custGeom>
                <a:noFill/>
                <a:ln w="12700">
                  <a:solidFill>
                    <a:srgbClr val="FF0000"/>
                  </a:solidFill>
                  <a:miter lim="800000"/>
                  <a:headEnd/>
                  <a:tailEnd type="triangl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88" name="Text Box 100"/>
              <p:cNvSpPr txBox="1">
                <a:spLocks noChangeArrowheads="1"/>
              </p:cNvSpPr>
              <p:nvPr/>
            </p:nvSpPr>
            <p:spPr bwMode="auto">
              <a:xfrm>
                <a:off x="4379" y="1414"/>
                <a:ext cx="1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1800" b="1" i="1">
                    <a:solidFill>
                      <a:srgbClr val="C81204"/>
                    </a:solidFill>
                    <a:latin typeface="Times New Roman" panose="02020603050405020304" pitchFamily="18" charset="0"/>
                    <a:ea typeface="宋体" panose="02010600030101010101" pitchFamily="2" charset="-122"/>
                  </a:rPr>
                  <a:t>M</a:t>
                </a:r>
                <a:endParaRPr lang="en-US" altLang="zh-CN" sz="1800" i="1">
                  <a:solidFill>
                    <a:srgbClr val="C81204"/>
                  </a:solidFill>
                  <a:latin typeface="Times New Roman" panose="02020603050405020304" pitchFamily="18" charset="0"/>
                  <a:ea typeface="宋体" panose="02010600030101010101" pitchFamily="2" charset="-122"/>
                </a:endParaRPr>
              </a:p>
            </p:txBody>
          </p:sp>
        </p:grpSp>
        <p:grpSp>
          <p:nvGrpSpPr>
            <p:cNvPr id="83" name="Group 107"/>
            <p:cNvGrpSpPr>
              <a:grpSpLocks/>
            </p:cNvGrpSpPr>
            <p:nvPr/>
          </p:nvGrpSpPr>
          <p:grpSpPr bwMode="auto">
            <a:xfrm>
              <a:off x="3840" y="2160"/>
              <a:ext cx="243" cy="60"/>
              <a:chOff x="2109" y="3264"/>
              <a:chExt cx="243" cy="60"/>
            </a:xfrm>
          </p:grpSpPr>
          <p:sp>
            <p:nvSpPr>
              <p:cNvPr id="84" name="Line 108"/>
              <p:cNvSpPr>
                <a:spLocks noChangeShapeType="1"/>
              </p:cNvSpPr>
              <p:nvPr/>
            </p:nvSpPr>
            <p:spPr bwMode="auto">
              <a:xfrm>
                <a:off x="2112" y="3264"/>
                <a:ext cx="24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 name="Line 109"/>
              <p:cNvSpPr>
                <a:spLocks noChangeShapeType="1"/>
              </p:cNvSpPr>
              <p:nvPr/>
            </p:nvSpPr>
            <p:spPr bwMode="auto">
              <a:xfrm>
                <a:off x="2109" y="3324"/>
                <a:ext cx="24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Tree>
    <p:extLst>
      <p:ext uri="{BB962C8B-B14F-4D97-AF65-F5344CB8AC3E}">
        <p14:creationId xmlns:p14="http://schemas.microsoft.com/office/powerpoint/2010/main" val="209502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box(out)">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470">
                                            <p:txEl>
                                              <p:pRg st="0" end="0"/>
                                            </p:txEl>
                                          </p:spTgt>
                                        </p:tgtEl>
                                        <p:attrNameLst>
                                          <p:attrName>style.visibility</p:attrName>
                                        </p:attrNameLst>
                                      </p:cBhvr>
                                      <p:to>
                                        <p:strVal val="visible"/>
                                      </p:to>
                                    </p:set>
                                    <p:animEffect transition="in" filter="box(out)">
                                      <p:cBhvr>
                                        <p:cTn id="22" dur="500"/>
                                        <p:tgtEl>
                                          <p:spTgt spid="1947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box(out)">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box(out)">
                                      <p:cBhvr>
                                        <p:cTn id="32" dur="500"/>
                                        <p:tgtEl>
                                          <p:spTgt spid="8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9471"/>
                                        </p:tgtEl>
                                        <p:attrNameLst>
                                          <p:attrName>style.visibility</p:attrName>
                                        </p:attrNameLst>
                                      </p:cBhvr>
                                      <p:to>
                                        <p:strVal val="visible"/>
                                      </p:to>
                                    </p:set>
                                    <p:animEffect transition="in" filter="box(out)">
                                      <p:cBhvr>
                                        <p:cTn id="37" dur="500"/>
                                        <p:tgtEl>
                                          <p:spTgt spid="19471"/>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9472"/>
                                        </p:tgtEl>
                                        <p:attrNameLst>
                                          <p:attrName>style.visibility</p:attrName>
                                        </p:attrNameLst>
                                      </p:cBhvr>
                                      <p:to>
                                        <p:strVal val="visible"/>
                                      </p:to>
                                    </p:set>
                                    <p:animEffect transition="in" filter="slide(fromBottom)">
                                      <p:cBhvr>
                                        <p:cTn id="42" dur="500"/>
                                        <p:tgtEl>
                                          <p:spTgt spid="19472"/>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9473">
                                            <p:txEl>
                                              <p:pRg st="0" end="0"/>
                                            </p:txEl>
                                          </p:spTgt>
                                        </p:tgtEl>
                                        <p:attrNameLst>
                                          <p:attrName>style.visibility</p:attrName>
                                        </p:attrNameLst>
                                      </p:cBhvr>
                                      <p:to>
                                        <p:strVal val="visible"/>
                                      </p:to>
                                    </p:set>
                                    <p:animEffect transition="in" filter="box(out)">
                                      <p:cBhvr>
                                        <p:cTn id="47" dur="500"/>
                                        <p:tgtEl>
                                          <p:spTgt spid="1947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19474"/>
                                        </p:tgtEl>
                                        <p:attrNameLst>
                                          <p:attrName>style.visibility</p:attrName>
                                        </p:attrNameLst>
                                      </p:cBhvr>
                                      <p:to>
                                        <p:strVal val="visible"/>
                                      </p:to>
                                    </p:set>
                                    <p:animEffect transition="in" filter="box(out)">
                                      <p:cBhvr>
                                        <p:cTn id="52" dur="500"/>
                                        <p:tgtEl>
                                          <p:spTgt spid="19474"/>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19475"/>
                                        </p:tgtEl>
                                        <p:attrNameLst>
                                          <p:attrName>style.visibility</p:attrName>
                                        </p:attrNameLst>
                                      </p:cBhvr>
                                      <p:to>
                                        <p:strVal val="visible"/>
                                      </p:to>
                                    </p:set>
                                    <p:animEffect transition="in" filter="slide(fromBottom)">
                                      <p:cBhvr>
                                        <p:cTn id="57" dur="500"/>
                                        <p:tgtEl>
                                          <p:spTgt spid="19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0" grpId="0" build="p" autoUpdateAnimBg="0"/>
      <p:bldP spid="19472" grpId="0"/>
      <p:bldP spid="19473" grpId="0" build="p" autoUpdateAnimBg="0"/>
      <p:bldP spid="19475" grpId="0"/>
      <p:bldP spid="16"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602457" y="413941"/>
            <a:ext cx="7928768"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400" b="1" dirty="0">
                <a:solidFill>
                  <a:srgbClr val="FF0000"/>
                </a:solidFill>
                <a:latin typeface="楷体" panose="02010609060101010101" pitchFamily="49" charset="-122"/>
                <a:ea typeface="楷体" panose="02010609060101010101" pitchFamily="49" charset="-122"/>
              </a:rPr>
              <a:t>例</a:t>
            </a:r>
            <a:r>
              <a:rPr lang="zh-CN" altLang="en-US" sz="2400" b="1" dirty="0">
                <a:solidFill>
                  <a:srgbClr val="003399"/>
                </a:solidFill>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图示的三角柱刚体是正方体的一半。在其中三个侧面各自作用着一个力偶。已知力偶</a:t>
            </a:r>
            <a:r>
              <a:rPr lang="zh-CN" altLang="en-US" sz="2400" b="1" dirty="0">
                <a:latin typeface="+mn-lt"/>
                <a:ea typeface="楷体" panose="02010609060101010101" pitchFamily="49" charset="-122"/>
              </a:rPr>
              <a:t>（</a:t>
            </a:r>
            <a:r>
              <a:rPr lang="en-US" altLang="zh-CN" sz="2400" b="1" i="1" dirty="0">
                <a:latin typeface="+mn-lt"/>
                <a:ea typeface="楷体" panose="02010609060101010101" pitchFamily="49" charset="-122"/>
              </a:rPr>
              <a:t>F</a:t>
            </a:r>
            <a:r>
              <a:rPr lang="en-US" altLang="zh-CN" sz="2400" b="1" baseline="-25000" dirty="0">
                <a:latin typeface="+mn-lt"/>
                <a:ea typeface="楷体" panose="02010609060101010101" pitchFamily="49" charset="-122"/>
              </a:rPr>
              <a:t>1</a:t>
            </a:r>
            <a:r>
              <a:rPr lang="zh-CN" altLang="en-US" sz="2400" b="1" dirty="0">
                <a:latin typeface="+mn-lt"/>
                <a:ea typeface="楷体" panose="02010609060101010101" pitchFamily="49" charset="-122"/>
              </a:rPr>
              <a:t>，</a:t>
            </a:r>
            <a:r>
              <a:rPr lang="en-US" altLang="zh-CN" sz="2400" b="1" i="1" dirty="0">
                <a:latin typeface="+mn-lt"/>
                <a:ea typeface="楷体" panose="02010609060101010101" pitchFamily="49" charset="-122"/>
              </a:rPr>
              <a:t>F</a:t>
            </a:r>
            <a:r>
              <a:rPr lang="en-US" altLang="zh-CN" sz="2400" b="1" i="1" dirty="0">
                <a:latin typeface="+mn-lt"/>
                <a:ea typeface="楷体" panose="02010609060101010101" pitchFamily="49" charset="-122"/>
                <a:cs typeface="Times New Roman" panose="02020603050405020304" pitchFamily="18" charset="0"/>
              </a:rPr>
              <a:t>′</a:t>
            </a:r>
            <a:r>
              <a:rPr lang="en-US" altLang="zh-CN" sz="2400" b="1" baseline="-25000" dirty="0">
                <a:latin typeface="+mn-lt"/>
                <a:ea typeface="楷体" panose="02010609060101010101" pitchFamily="49" charset="-122"/>
                <a:sym typeface="Symbol" panose="05050102010706020507" pitchFamily="18" charset="2"/>
              </a:rPr>
              <a:t>1</a:t>
            </a:r>
            <a:r>
              <a:rPr lang="zh-CN" altLang="en-US" sz="2400" b="1" dirty="0">
                <a:latin typeface="+mn-lt"/>
                <a:ea typeface="楷体" panose="02010609060101010101" pitchFamily="49" charset="-122"/>
                <a:sym typeface="Symbol" panose="05050102010706020507" pitchFamily="18" charset="2"/>
              </a:rPr>
              <a:t>）</a:t>
            </a:r>
            <a:r>
              <a:rPr lang="zh-CN" altLang="en-US" sz="2400" b="1" dirty="0">
                <a:latin typeface="楷体" panose="02010609060101010101" pitchFamily="49" charset="-122"/>
                <a:ea typeface="楷体" panose="02010609060101010101" pitchFamily="49" charset="-122"/>
                <a:sym typeface="Symbol" panose="05050102010706020507" pitchFamily="18" charset="2"/>
              </a:rPr>
              <a:t>的矩</a:t>
            </a:r>
            <a:r>
              <a:rPr lang="en-US" altLang="zh-CN" sz="2400" i="1" dirty="0">
                <a:latin typeface="+mn-lt"/>
                <a:ea typeface="楷体" panose="02010609060101010101" pitchFamily="49" charset="-122"/>
                <a:sym typeface="Symbol" panose="05050102010706020507" pitchFamily="18" charset="2"/>
              </a:rPr>
              <a:t>M</a:t>
            </a:r>
            <a:r>
              <a:rPr lang="en-US" altLang="zh-CN" sz="2400" baseline="-25000" dirty="0">
                <a:latin typeface="+mn-lt"/>
                <a:ea typeface="楷体" panose="02010609060101010101" pitchFamily="49" charset="-122"/>
                <a:sym typeface="Symbol" panose="05050102010706020507" pitchFamily="18" charset="2"/>
              </a:rPr>
              <a:t>1</a:t>
            </a:r>
            <a:r>
              <a:rPr lang="en-US" altLang="zh-CN" sz="2400" b="1" dirty="0">
                <a:latin typeface="+mn-lt"/>
                <a:ea typeface="楷体" panose="02010609060101010101" pitchFamily="49" charset="-122"/>
                <a:sym typeface="Symbol" panose="05050102010706020507" pitchFamily="18" charset="2"/>
              </a:rPr>
              <a:t>=</a:t>
            </a:r>
            <a:r>
              <a:rPr lang="en-US" altLang="zh-CN" sz="2400" dirty="0">
                <a:latin typeface="+mn-lt"/>
                <a:ea typeface="楷体" panose="02010609060101010101" pitchFamily="49" charset="-122"/>
                <a:sym typeface="Symbol" panose="05050102010706020507" pitchFamily="18" charset="2"/>
              </a:rPr>
              <a:t>20N·m</a:t>
            </a:r>
            <a:r>
              <a:rPr lang="zh-CN" altLang="en-US" sz="2400" b="1" dirty="0">
                <a:latin typeface="楷体" panose="02010609060101010101" pitchFamily="49" charset="-122"/>
                <a:ea typeface="楷体" panose="02010609060101010101" pitchFamily="49" charset="-122"/>
                <a:sym typeface="Symbol" panose="05050102010706020507" pitchFamily="18" charset="2"/>
              </a:rPr>
              <a:t>；</a:t>
            </a:r>
            <a:r>
              <a:rPr lang="zh-CN" altLang="en-US" sz="2400" b="1" dirty="0">
                <a:latin typeface="楷体" panose="02010609060101010101" pitchFamily="49" charset="-122"/>
                <a:ea typeface="楷体" panose="02010609060101010101" pitchFamily="49" charset="-122"/>
              </a:rPr>
              <a:t>力偶</a:t>
            </a:r>
            <a:r>
              <a:rPr lang="zh-CN" altLang="en-US" sz="2400" b="1" dirty="0">
                <a:latin typeface="+mn-lt"/>
                <a:ea typeface="楷体" panose="02010609060101010101" pitchFamily="49" charset="-122"/>
              </a:rPr>
              <a:t>（</a:t>
            </a:r>
            <a:r>
              <a:rPr lang="en-US" altLang="zh-CN" sz="2400" b="1" i="1" dirty="0">
                <a:latin typeface="+mn-lt"/>
                <a:ea typeface="楷体" panose="02010609060101010101" pitchFamily="49" charset="-122"/>
              </a:rPr>
              <a:t>F</a:t>
            </a:r>
            <a:r>
              <a:rPr lang="en-US" altLang="zh-CN" sz="2400" b="1" baseline="-25000" dirty="0">
                <a:latin typeface="+mn-lt"/>
                <a:ea typeface="楷体" panose="02010609060101010101" pitchFamily="49" charset="-122"/>
              </a:rPr>
              <a:t>2</a:t>
            </a:r>
            <a:r>
              <a:rPr lang="zh-CN" altLang="en-US" sz="2400" b="1" baseline="-25000" dirty="0">
                <a:latin typeface="+mn-lt"/>
                <a:ea typeface="楷体" panose="02010609060101010101" pitchFamily="49" charset="-122"/>
              </a:rPr>
              <a:t>，</a:t>
            </a:r>
            <a:r>
              <a:rPr lang="en-US" altLang="zh-CN" sz="2400" b="1" i="1" dirty="0">
                <a:latin typeface="+mn-lt"/>
                <a:ea typeface="楷体" panose="02010609060101010101" pitchFamily="49" charset="-122"/>
              </a:rPr>
              <a:t>F′</a:t>
            </a:r>
            <a:r>
              <a:rPr lang="en-US" altLang="zh-CN" sz="2400" b="1" baseline="-25000" dirty="0">
                <a:latin typeface="+mn-lt"/>
                <a:ea typeface="楷体" panose="02010609060101010101" pitchFamily="49" charset="-122"/>
                <a:sym typeface="Symbol" panose="05050102010706020507" pitchFamily="18" charset="2"/>
              </a:rPr>
              <a:t>2</a:t>
            </a:r>
            <a:r>
              <a:rPr lang="zh-CN" altLang="en-US" sz="2400" b="1" dirty="0">
                <a:latin typeface="+mn-lt"/>
                <a:ea typeface="楷体" panose="02010609060101010101" pitchFamily="49" charset="-122"/>
                <a:sym typeface="Symbol" panose="05050102010706020507" pitchFamily="18" charset="2"/>
              </a:rPr>
              <a:t>）</a:t>
            </a:r>
            <a:r>
              <a:rPr lang="zh-CN" altLang="en-US" sz="2400" b="1" dirty="0">
                <a:latin typeface="楷体" panose="02010609060101010101" pitchFamily="49" charset="-122"/>
                <a:ea typeface="楷体" panose="02010609060101010101" pitchFamily="49" charset="-122"/>
                <a:sym typeface="Symbol" panose="05050102010706020507" pitchFamily="18" charset="2"/>
              </a:rPr>
              <a:t>的矩</a:t>
            </a:r>
            <a:r>
              <a:rPr lang="en-US" altLang="zh-CN" sz="2400" i="1" dirty="0">
                <a:latin typeface="+mn-lt"/>
                <a:ea typeface="楷体" panose="02010609060101010101" pitchFamily="49" charset="-122"/>
                <a:sym typeface="Symbol" panose="05050102010706020507" pitchFamily="18" charset="2"/>
              </a:rPr>
              <a:t>M</a:t>
            </a:r>
            <a:r>
              <a:rPr lang="en-US" altLang="zh-CN" sz="2400" baseline="-25000" dirty="0">
                <a:latin typeface="+mn-lt"/>
                <a:ea typeface="楷体" panose="02010609060101010101" pitchFamily="49" charset="-122"/>
                <a:sym typeface="Symbol" panose="05050102010706020507" pitchFamily="18" charset="2"/>
              </a:rPr>
              <a:t>2</a:t>
            </a:r>
            <a:r>
              <a:rPr lang="en-US" altLang="zh-CN" sz="2400" dirty="0">
                <a:latin typeface="+mn-lt"/>
                <a:ea typeface="楷体" panose="02010609060101010101" pitchFamily="49" charset="-122"/>
                <a:sym typeface="Symbol" panose="05050102010706020507" pitchFamily="18" charset="2"/>
              </a:rPr>
              <a:t>=20N·m</a:t>
            </a:r>
            <a:r>
              <a:rPr lang="zh-CN" altLang="en-US" sz="2400" b="1" dirty="0">
                <a:latin typeface="楷体" panose="02010609060101010101" pitchFamily="49" charset="-122"/>
                <a:ea typeface="楷体" panose="02010609060101010101" pitchFamily="49" charset="-122"/>
                <a:sym typeface="Symbol" panose="05050102010706020507" pitchFamily="18" charset="2"/>
              </a:rPr>
              <a:t>；</a:t>
            </a:r>
            <a:r>
              <a:rPr lang="zh-CN" altLang="en-US" sz="2400" b="1" dirty="0">
                <a:latin typeface="楷体" panose="02010609060101010101" pitchFamily="49" charset="-122"/>
                <a:ea typeface="楷体" panose="02010609060101010101" pitchFamily="49" charset="-122"/>
              </a:rPr>
              <a:t>力偶</a:t>
            </a:r>
            <a:r>
              <a:rPr lang="zh-CN" altLang="en-US" sz="2400" b="1" dirty="0">
                <a:latin typeface="+mn-lt"/>
                <a:ea typeface="楷体" panose="02010609060101010101" pitchFamily="49" charset="-122"/>
              </a:rPr>
              <a:t>（</a:t>
            </a:r>
            <a:r>
              <a:rPr lang="en-US" altLang="zh-CN" sz="2400" b="1" i="1" dirty="0">
                <a:latin typeface="+mn-lt"/>
                <a:ea typeface="楷体" panose="02010609060101010101" pitchFamily="49" charset="-122"/>
              </a:rPr>
              <a:t>F</a:t>
            </a:r>
            <a:r>
              <a:rPr lang="en-US" altLang="zh-CN" sz="2400" b="1" baseline="-25000" dirty="0">
                <a:latin typeface="+mn-lt"/>
                <a:ea typeface="楷体" panose="02010609060101010101" pitchFamily="49" charset="-122"/>
              </a:rPr>
              <a:t>3</a:t>
            </a:r>
            <a:r>
              <a:rPr lang="en-US" altLang="zh-CN" sz="2400" b="1" dirty="0">
                <a:latin typeface="+mn-lt"/>
                <a:ea typeface="楷体" panose="02010609060101010101" pitchFamily="49" charset="-122"/>
              </a:rPr>
              <a:t> </a:t>
            </a:r>
            <a:r>
              <a:rPr lang="zh-CN" altLang="en-US" sz="2400" b="1" dirty="0">
                <a:latin typeface="+mn-lt"/>
                <a:ea typeface="楷体" panose="02010609060101010101" pitchFamily="49" charset="-122"/>
              </a:rPr>
              <a:t>，</a:t>
            </a:r>
            <a:r>
              <a:rPr lang="en-US" altLang="zh-CN" sz="2400" b="1" i="1" dirty="0">
                <a:latin typeface="+mn-lt"/>
                <a:ea typeface="楷体" panose="02010609060101010101" pitchFamily="49" charset="-122"/>
              </a:rPr>
              <a:t> F′</a:t>
            </a:r>
            <a:r>
              <a:rPr lang="en-US" altLang="zh-CN" sz="2400" b="1" baseline="-25000" dirty="0">
                <a:latin typeface="+mn-lt"/>
                <a:ea typeface="楷体" panose="02010609060101010101" pitchFamily="49" charset="-122"/>
                <a:sym typeface="Symbol" panose="05050102010706020507" pitchFamily="18" charset="2"/>
              </a:rPr>
              <a:t>3</a:t>
            </a:r>
            <a:r>
              <a:rPr lang="zh-CN" altLang="en-US" sz="2400" b="1" dirty="0">
                <a:latin typeface="+mn-lt"/>
                <a:ea typeface="楷体" panose="02010609060101010101" pitchFamily="49" charset="-122"/>
                <a:sym typeface="Symbol" panose="05050102010706020507" pitchFamily="18" charset="2"/>
              </a:rPr>
              <a:t>）</a:t>
            </a:r>
            <a:r>
              <a:rPr lang="zh-CN" altLang="en-US" sz="2400" b="1" dirty="0">
                <a:latin typeface="楷体" panose="02010609060101010101" pitchFamily="49" charset="-122"/>
                <a:ea typeface="楷体" panose="02010609060101010101" pitchFamily="49" charset="-122"/>
                <a:sym typeface="Symbol" panose="05050102010706020507" pitchFamily="18" charset="2"/>
              </a:rPr>
              <a:t>的矩</a:t>
            </a:r>
            <a:r>
              <a:rPr lang="en-US" altLang="zh-CN" sz="2400" i="1" dirty="0">
                <a:latin typeface="+mn-lt"/>
                <a:ea typeface="楷体" panose="02010609060101010101" pitchFamily="49" charset="-122"/>
                <a:sym typeface="Symbol" panose="05050102010706020507" pitchFamily="18" charset="2"/>
              </a:rPr>
              <a:t>M</a:t>
            </a:r>
            <a:r>
              <a:rPr lang="en-US" altLang="zh-CN" sz="2400" baseline="-25000" dirty="0">
                <a:latin typeface="+mn-lt"/>
                <a:ea typeface="楷体" panose="02010609060101010101" pitchFamily="49" charset="-122"/>
                <a:sym typeface="Symbol" panose="05050102010706020507" pitchFamily="18" charset="2"/>
              </a:rPr>
              <a:t>3</a:t>
            </a:r>
            <a:r>
              <a:rPr lang="en-US" altLang="zh-CN" sz="2400" dirty="0">
                <a:latin typeface="+mn-lt"/>
                <a:ea typeface="楷体" panose="02010609060101010101" pitchFamily="49" charset="-122"/>
                <a:sym typeface="Symbol" panose="05050102010706020507" pitchFamily="18" charset="2"/>
              </a:rPr>
              <a:t>=20N·m</a:t>
            </a:r>
            <a:r>
              <a:rPr lang="zh-CN" altLang="en-US" sz="2400" b="1" dirty="0">
                <a:latin typeface="楷体" panose="02010609060101010101" pitchFamily="49" charset="-122"/>
                <a:ea typeface="楷体" panose="02010609060101010101" pitchFamily="49" charset="-122"/>
                <a:sym typeface="Symbol" panose="05050102010706020507" pitchFamily="18" charset="2"/>
              </a:rPr>
              <a:t>。试求合力偶矩矢</a:t>
            </a:r>
            <a:r>
              <a:rPr lang="en-US" altLang="zh-CN" sz="2400" b="1" i="1" dirty="0">
                <a:latin typeface="+mn-lt"/>
                <a:ea typeface="楷体" panose="02010609060101010101" pitchFamily="49" charset="-122"/>
                <a:sym typeface="Symbol" panose="05050102010706020507" pitchFamily="18" charset="2"/>
              </a:rPr>
              <a:t>M</a:t>
            </a:r>
            <a:r>
              <a:rPr lang="zh-CN" altLang="en-US" sz="2400" b="1" dirty="0">
                <a:latin typeface="楷体" panose="02010609060101010101" pitchFamily="49" charset="-122"/>
                <a:ea typeface="楷体" panose="02010609060101010101" pitchFamily="49" charset="-122"/>
                <a:sym typeface="Symbol" panose="05050102010706020507" pitchFamily="18" charset="2"/>
              </a:rPr>
              <a:t>。</a:t>
            </a:r>
          </a:p>
        </p:txBody>
      </p:sp>
      <p:grpSp>
        <p:nvGrpSpPr>
          <p:cNvPr id="29699" name="Group 5"/>
          <p:cNvGrpSpPr>
            <a:grpSpLocks/>
          </p:cNvGrpSpPr>
          <p:nvPr/>
        </p:nvGrpSpPr>
        <p:grpSpPr bwMode="auto">
          <a:xfrm>
            <a:off x="950913" y="2276872"/>
            <a:ext cx="3282950" cy="3798887"/>
            <a:chOff x="197" y="1181"/>
            <a:chExt cx="2068" cy="2393"/>
          </a:xfrm>
        </p:grpSpPr>
        <p:sp>
          <p:nvSpPr>
            <p:cNvPr id="29718" name="AutoShape 6"/>
            <p:cNvSpPr>
              <a:spLocks noChangeArrowheads="1"/>
            </p:cNvSpPr>
            <p:nvPr/>
          </p:nvSpPr>
          <p:spPr bwMode="auto">
            <a:xfrm>
              <a:off x="658" y="2343"/>
              <a:ext cx="693" cy="727"/>
            </a:xfrm>
            <a:prstGeom prst="rtTriangle">
              <a:avLst/>
            </a:prstGeom>
            <a:noFill/>
            <a:ln w="19050">
              <a:solidFill>
                <a:schemeClr val="tx1"/>
              </a:solidFill>
              <a:miter lim="800000"/>
              <a:headEnd/>
              <a:tailEnd type="none" w="sm" len="lg"/>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endParaRPr lang="zh-CN" altLang="en-US"/>
            </a:p>
          </p:txBody>
        </p:sp>
        <p:sp>
          <p:nvSpPr>
            <p:cNvPr id="29719" name="Line 7"/>
            <p:cNvSpPr>
              <a:spLocks noChangeShapeType="1"/>
            </p:cNvSpPr>
            <p:nvPr/>
          </p:nvSpPr>
          <p:spPr bwMode="auto">
            <a:xfrm flipH="1">
              <a:off x="658" y="1895"/>
              <a:ext cx="320" cy="448"/>
            </a:xfrm>
            <a:prstGeom prst="line">
              <a:avLst/>
            </a:prstGeom>
            <a:noFill/>
            <a:ln w="1905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0" name="Line 8"/>
            <p:cNvSpPr>
              <a:spLocks noChangeShapeType="1"/>
            </p:cNvSpPr>
            <p:nvPr/>
          </p:nvSpPr>
          <p:spPr bwMode="auto">
            <a:xfrm flipH="1">
              <a:off x="1351" y="2622"/>
              <a:ext cx="320" cy="448"/>
            </a:xfrm>
            <a:prstGeom prst="line">
              <a:avLst/>
            </a:prstGeom>
            <a:noFill/>
            <a:ln w="1905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1" name="Line 9"/>
            <p:cNvSpPr>
              <a:spLocks noChangeShapeType="1"/>
            </p:cNvSpPr>
            <p:nvPr/>
          </p:nvSpPr>
          <p:spPr bwMode="auto">
            <a:xfrm>
              <a:off x="978" y="1895"/>
              <a:ext cx="693" cy="727"/>
            </a:xfrm>
            <a:prstGeom prst="line">
              <a:avLst/>
            </a:prstGeom>
            <a:noFill/>
            <a:ln w="19050">
              <a:solidFill>
                <a:schemeClr val="tx1"/>
              </a:solidFill>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2" name="Line 10"/>
            <p:cNvSpPr>
              <a:spLocks noChangeShapeType="1"/>
            </p:cNvSpPr>
            <p:nvPr/>
          </p:nvSpPr>
          <p:spPr bwMode="auto">
            <a:xfrm flipH="1">
              <a:off x="658" y="2622"/>
              <a:ext cx="320" cy="448"/>
            </a:xfrm>
            <a:prstGeom prst="line">
              <a:avLst/>
            </a:prstGeom>
            <a:noFill/>
            <a:ln w="1905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3" name="Line 11"/>
            <p:cNvSpPr>
              <a:spLocks noChangeShapeType="1"/>
            </p:cNvSpPr>
            <p:nvPr/>
          </p:nvSpPr>
          <p:spPr bwMode="auto">
            <a:xfrm>
              <a:off x="978" y="1895"/>
              <a:ext cx="0" cy="727"/>
            </a:xfrm>
            <a:prstGeom prst="line">
              <a:avLst/>
            </a:prstGeom>
            <a:noFill/>
            <a:ln w="1905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4" name="Line 12"/>
            <p:cNvSpPr>
              <a:spLocks noChangeShapeType="1"/>
            </p:cNvSpPr>
            <p:nvPr/>
          </p:nvSpPr>
          <p:spPr bwMode="auto">
            <a:xfrm>
              <a:off x="978" y="2622"/>
              <a:ext cx="693" cy="0"/>
            </a:xfrm>
            <a:prstGeom prst="line">
              <a:avLst/>
            </a:prstGeom>
            <a:noFill/>
            <a:ln w="19050">
              <a:solidFill>
                <a:schemeClr val="tx1"/>
              </a:solidFill>
              <a:prstDash val="lgDash"/>
              <a:round/>
              <a:headEnd/>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5" name="Text Box 13"/>
            <p:cNvSpPr txBox="1">
              <a:spLocks noChangeArrowheads="1"/>
            </p:cNvSpPr>
            <p:nvPr/>
          </p:nvSpPr>
          <p:spPr bwMode="auto">
            <a:xfrm>
              <a:off x="197" y="3216"/>
              <a:ext cx="1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2000" i="1">
                  <a:latin typeface="Times New Roman" panose="02020603050405020304" pitchFamily="18" charset="0"/>
                  <a:ea typeface="楷体_GB2312" pitchFamily="49" charset="-122"/>
                </a:rPr>
                <a:t>x</a:t>
              </a:r>
              <a:endParaRPr kumimoji="1" lang="en-US" altLang="zh-CN" sz="2000" i="1">
                <a:latin typeface="楷体_GB2312" pitchFamily="49" charset="-122"/>
                <a:ea typeface="楷体_GB2312" pitchFamily="49" charset="-122"/>
              </a:endParaRPr>
            </a:p>
          </p:txBody>
        </p:sp>
        <p:sp>
          <p:nvSpPr>
            <p:cNvPr id="29726" name="Text Box 14"/>
            <p:cNvSpPr txBox="1">
              <a:spLocks noChangeArrowheads="1"/>
            </p:cNvSpPr>
            <p:nvPr/>
          </p:nvSpPr>
          <p:spPr bwMode="auto">
            <a:xfrm>
              <a:off x="975" y="1181"/>
              <a:ext cx="17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2000" i="1">
                  <a:latin typeface="Times New Roman" panose="02020603050405020304" pitchFamily="18" charset="0"/>
                  <a:ea typeface="楷体_GB2312" pitchFamily="49" charset="-122"/>
                </a:rPr>
                <a:t>z</a:t>
              </a:r>
              <a:endParaRPr kumimoji="1" lang="en-US" altLang="zh-CN" sz="2000" i="1">
                <a:latin typeface="楷体_GB2312" pitchFamily="49" charset="-122"/>
                <a:ea typeface="楷体_GB2312" pitchFamily="49" charset="-122"/>
              </a:endParaRPr>
            </a:p>
          </p:txBody>
        </p:sp>
        <p:sp>
          <p:nvSpPr>
            <p:cNvPr id="29727" name="Text Box 15"/>
            <p:cNvSpPr txBox="1">
              <a:spLocks noChangeArrowheads="1"/>
            </p:cNvSpPr>
            <p:nvPr/>
          </p:nvSpPr>
          <p:spPr bwMode="auto">
            <a:xfrm>
              <a:off x="2078" y="2278"/>
              <a:ext cx="1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2000" i="1">
                  <a:latin typeface="Times New Roman" panose="02020603050405020304" pitchFamily="18" charset="0"/>
                  <a:ea typeface="楷体_GB2312" pitchFamily="49" charset="-122"/>
                </a:rPr>
                <a:t>y</a:t>
              </a:r>
              <a:endParaRPr kumimoji="1" lang="en-US" altLang="zh-CN" sz="2000" i="1">
                <a:latin typeface="楷体_GB2312" pitchFamily="49" charset="-122"/>
                <a:ea typeface="楷体_GB2312" pitchFamily="49" charset="-122"/>
              </a:endParaRPr>
            </a:p>
          </p:txBody>
        </p:sp>
        <p:sp>
          <p:nvSpPr>
            <p:cNvPr id="28688" name="Text Box 16"/>
            <p:cNvSpPr txBox="1">
              <a:spLocks noChangeArrowheads="1"/>
            </p:cNvSpPr>
            <p:nvPr/>
          </p:nvSpPr>
          <p:spPr bwMode="auto">
            <a:xfrm>
              <a:off x="951" y="2327"/>
              <a:ext cx="257" cy="337"/>
            </a:xfrm>
            <a:prstGeom prst="rect">
              <a:avLst/>
            </a:prstGeom>
            <a:noFill/>
            <a:ln w="31750">
              <a:noFill/>
              <a:miter lim="800000"/>
              <a:headEnd/>
              <a:tailEnd type="none" w="sm" len="lg"/>
            </a:ln>
            <a:effectLst/>
          </p:spPr>
          <p:txBody>
            <a:bodyPr wrap="none">
              <a:spAutoFit/>
            </a:bodyPr>
            <a:lstStyle/>
            <a:p>
              <a:pPr algn="ctr" eaLnBrk="1" hangingPunct="1">
                <a:lnSpc>
                  <a:spcPct val="135000"/>
                </a:lnSpc>
                <a:defRPr/>
              </a:pPr>
              <a:r>
                <a:rPr kumimoji="1" lang="en-US" altLang="zh-CN" b="1" i="1" dirty="0">
                  <a:ea typeface="楷体_GB2312" pitchFamily="49" charset="-122"/>
                </a:rPr>
                <a:t>O</a:t>
              </a:r>
              <a:endParaRPr kumimoji="1" lang="en-US" altLang="zh-CN" b="1" i="1" dirty="0">
                <a:latin typeface="楷体_GB2312" pitchFamily="49" charset="-122"/>
                <a:ea typeface="楷体_GB2312" pitchFamily="49" charset="-122"/>
              </a:endParaRPr>
            </a:p>
          </p:txBody>
        </p:sp>
        <p:sp>
          <p:nvSpPr>
            <p:cNvPr id="29729" name="Text Box 17"/>
            <p:cNvSpPr txBox="1">
              <a:spLocks noChangeArrowheads="1"/>
            </p:cNvSpPr>
            <p:nvPr/>
          </p:nvSpPr>
          <p:spPr bwMode="auto">
            <a:xfrm>
              <a:off x="368" y="2846"/>
              <a:ext cx="26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b="1" i="1" dirty="0">
                  <a:solidFill>
                    <a:srgbClr val="CC0000"/>
                  </a:solidFill>
                  <a:latin typeface="Times New Roman" panose="02020603050405020304" pitchFamily="18" charset="0"/>
                  <a:ea typeface="楷体_GB2312" pitchFamily="49" charset="-122"/>
                </a:rPr>
                <a:t>F</a:t>
              </a:r>
              <a:r>
                <a:rPr kumimoji="1" lang="en-US" altLang="zh-CN" baseline="-25000" dirty="0">
                  <a:solidFill>
                    <a:srgbClr val="CC0000"/>
                  </a:solidFill>
                  <a:latin typeface="Times New Roman" panose="02020603050405020304" pitchFamily="18" charset="0"/>
                  <a:ea typeface="楷体_GB2312" pitchFamily="49" charset="-122"/>
                </a:rPr>
                <a:t>1</a:t>
              </a:r>
              <a:endParaRPr kumimoji="1" lang="en-US" altLang="zh-CN" dirty="0">
                <a:solidFill>
                  <a:srgbClr val="CC0000"/>
                </a:solidFill>
                <a:latin typeface="楷体_GB2312" pitchFamily="49" charset="-122"/>
                <a:ea typeface="楷体_GB2312" pitchFamily="49" charset="-122"/>
              </a:endParaRPr>
            </a:p>
          </p:txBody>
        </p:sp>
        <p:sp>
          <p:nvSpPr>
            <p:cNvPr id="29730" name="Text Box 18"/>
            <p:cNvSpPr txBox="1">
              <a:spLocks noChangeArrowheads="1"/>
            </p:cNvSpPr>
            <p:nvPr/>
          </p:nvSpPr>
          <p:spPr bwMode="auto">
            <a:xfrm>
              <a:off x="411" y="1873"/>
              <a:ext cx="26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b="1" i="1">
                  <a:solidFill>
                    <a:srgbClr val="CC0000"/>
                  </a:solidFill>
                  <a:latin typeface="Times New Roman" panose="02020603050405020304" pitchFamily="18" charset="0"/>
                  <a:ea typeface="楷体_GB2312" pitchFamily="49" charset="-122"/>
                </a:rPr>
                <a:t>F</a:t>
              </a:r>
              <a:r>
                <a:rPr kumimoji="1" lang="en-US" altLang="zh-CN" baseline="-25000">
                  <a:solidFill>
                    <a:srgbClr val="CC0000"/>
                  </a:solidFill>
                  <a:latin typeface="Times New Roman" panose="02020603050405020304" pitchFamily="18" charset="0"/>
                  <a:ea typeface="楷体_GB2312" pitchFamily="49" charset="-122"/>
                </a:rPr>
                <a:t>2</a:t>
              </a:r>
              <a:endParaRPr kumimoji="1" lang="en-US" altLang="zh-CN">
                <a:solidFill>
                  <a:srgbClr val="CC0000"/>
                </a:solidFill>
                <a:latin typeface="楷体_GB2312" pitchFamily="49" charset="-122"/>
                <a:ea typeface="楷体_GB2312" pitchFamily="49" charset="-122"/>
              </a:endParaRPr>
            </a:p>
          </p:txBody>
        </p:sp>
        <p:sp>
          <p:nvSpPr>
            <p:cNvPr id="29731" name="Text Box 19"/>
            <p:cNvSpPr txBox="1">
              <a:spLocks noChangeArrowheads="1"/>
            </p:cNvSpPr>
            <p:nvPr/>
          </p:nvSpPr>
          <p:spPr bwMode="auto">
            <a:xfrm>
              <a:off x="1456" y="2163"/>
              <a:ext cx="26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b="1" i="1" dirty="0">
                  <a:solidFill>
                    <a:srgbClr val="CC0000"/>
                  </a:solidFill>
                  <a:latin typeface="Times New Roman" panose="02020603050405020304" pitchFamily="18" charset="0"/>
                  <a:ea typeface="楷体_GB2312" pitchFamily="49" charset="-122"/>
                </a:rPr>
                <a:t>F</a:t>
              </a:r>
              <a:r>
                <a:rPr kumimoji="1" lang="en-US" altLang="zh-CN" baseline="-25000" dirty="0">
                  <a:solidFill>
                    <a:srgbClr val="CC0000"/>
                  </a:solidFill>
                  <a:latin typeface="Times New Roman" panose="02020603050405020304" pitchFamily="18" charset="0"/>
                  <a:ea typeface="楷体_GB2312" pitchFamily="49" charset="-122"/>
                </a:rPr>
                <a:t>3</a:t>
              </a:r>
              <a:endParaRPr kumimoji="1" lang="en-US" altLang="zh-CN" dirty="0">
                <a:solidFill>
                  <a:srgbClr val="CC0000"/>
                </a:solidFill>
                <a:latin typeface="楷体_GB2312" pitchFamily="49" charset="-122"/>
                <a:ea typeface="楷体_GB2312" pitchFamily="49" charset="-122"/>
              </a:endParaRPr>
            </a:p>
          </p:txBody>
        </p:sp>
        <p:sp>
          <p:nvSpPr>
            <p:cNvPr id="29732" name="Line 20"/>
            <p:cNvSpPr>
              <a:spLocks noChangeShapeType="1"/>
            </p:cNvSpPr>
            <p:nvPr/>
          </p:nvSpPr>
          <p:spPr bwMode="auto">
            <a:xfrm>
              <a:off x="1671" y="2622"/>
              <a:ext cx="587" cy="0"/>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3" name="Line 21"/>
            <p:cNvSpPr>
              <a:spLocks noChangeShapeType="1"/>
            </p:cNvSpPr>
            <p:nvPr/>
          </p:nvSpPr>
          <p:spPr bwMode="auto">
            <a:xfrm flipH="1">
              <a:off x="285" y="3070"/>
              <a:ext cx="373" cy="504"/>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4" name="Line 22"/>
            <p:cNvSpPr>
              <a:spLocks noChangeShapeType="1"/>
            </p:cNvSpPr>
            <p:nvPr/>
          </p:nvSpPr>
          <p:spPr bwMode="auto">
            <a:xfrm flipV="1">
              <a:off x="978" y="1335"/>
              <a:ext cx="0" cy="560"/>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5" name="Line 23"/>
            <p:cNvSpPr>
              <a:spLocks noChangeShapeType="1"/>
            </p:cNvSpPr>
            <p:nvPr/>
          </p:nvSpPr>
          <p:spPr bwMode="auto">
            <a:xfrm flipH="1" flipV="1">
              <a:off x="1405" y="2343"/>
              <a:ext cx="266" cy="279"/>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6" name="Line 24"/>
            <p:cNvSpPr>
              <a:spLocks noChangeShapeType="1"/>
            </p:cNvSpPr>
            <p:nvPr/>
          </p:nvSpPr>
          <p:spPr bwMode="auto">
            <a:xfrm>
              <a:off x="1085" y="2790"/>
              <a:ext cx="266" cy="280"/>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7" name="Line 25"/>
            <p:cNvSpPr>
              <a:spLocks noChangeShapeType="1"/>
            </p:cNvSpPr>
            <p:nvPr/>
          </p:nvSpPr>
          <p:spPr bwMode="auto">
            <a:xfrm flipH="1">
              <a:off x="445" y="3070"/>
              <a:ext cx="213" cy="280"/>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8" name="Line 26"/>
            <p:cNvSpPr>
              <a:spLocks noChangeShapeType="1"/>
            </p:cNvSpPr>
            <p:nvPr/>
          </p:nvSpPr>
          <p:spPr bwMode="auto">
            <a:xfrm rot="10800000" flipH="1">
              <a:off x="1138" y="3070"/>
              <a:ext cx="213" cy="280"/>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9" name="Line 27"/>
            <p:cNvSpPr>
              <a:spLocks noChangeShapeType="1"/>
            </p:cNvSpPr>
            <p:nvPr/>
          </p:nvSpPr>
          <p:spPr bwMode="auto">
            <a:xfrm flipV="1">
              <a:off x="658" y="1951"/>
              <a:ext cx="0" cy="392"/>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40" name="Line 28"/>
            <p:cNvSpPr>
              <a:spLocks noChangeShapeType="1"/>
            </p:cNvSpPr>
            <p:nvPr/>
          </p:nvSpPr>
          <p:spPr bwMode="auto">
            <a:xfrm>
              <a:off x="978" y="1503"/>
              <a:ext cx="0" cy="392"/>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741" name="Object 29"/>
            <p:cNvGraphicFramePr>
              <a:graphicFrameLocks noChangeAspect="1"/>
            </p:cNvGraphicFramePr>
            <p:nvPr>
              <p:extLst>
                <p:ext uri="{D42A27DB-BD31-4B8C-83A1-F6EECF244321}">
                  <p14:modId xmlns:p14="http://schemas.microsoft.com/office/powerpoint/2010/main" val="2033542072"/>
                </p:ext>
              </p:extLst>
            </p:nvPr>
          </p:nvGraphicFramePr>
          <p:xfrm>
            <a:off x="1245" y="3182"/>
            <a:ext cx="211" cy="232"/>
          </p:xfrm>
          <a:graphic>
            <a:graphicData uri="http://schemas.openxmlformats.org/presentationml/2006/ole">
              <mc:AlternateContent xmlns:mc="http://schemas.openxmlformats.org/markup-compatibility/2006">
                <mc:Choice xmlns:v="urn:schemas-microsoft-com:vml" Requires="v">
                  <p:oleObj spid="_x0000_s18446" name="公式" r:id="rId3" imgW="257175" imgH="276225" progId="Equation.3">
                    <p:embed/>
                  </p:oleObj>
                </mc:Choice>
                <mc:Fallback>
                  <p:oleObj name="公式" r:id="rId3" imgW="257175" imgH="27622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5" y="3182"/>
                          <a:ext cx="211" cy="232"/>
                        </a:xfrm>
                        <a:prstGeom prst="rect">
                          <a:avLst/>
                        </a:prstGeom>
                        <a:noFill/>
                        <a:ln>
                          <a:noFill/>
                        </a:ln>
                        <a:effectLst/>
                      </p:spPr>
                    </p:pic>
                  </p:oleObj>
                </mc:Fallback>
              </mc:AlternateContent>
            </a:graphicData>
          </a:graphic>
        </p:graphicFrame>
        <p:graphicFrame>
          <p:nvGraphicFramePr>
            <p:cNvPr id="29742" name="Object 30"/>
            <p:cNvGraphicFramePr>
              <a:graphicFrameLocks noChangeAspect="1"/>
            </p:cNvGraphicFramePr>
            <p:nvPr>
              <p:extLst>
                <p:ext uri="{D42A27DB-BD31-4B8C-83A1-F6EECF244321}">
                  <p14:modId xmlns:p14="http://schemas.microsoft.com/office/powerpoint/2010/main" val="82895033"/>
                </p:ext>
              </p:extLst>
            </p:nvPr>
          </p:nvGraphicFramePr>
          <p:xfrm>
            <a:off x="1191" y="2727"/>
            <a:ext cx="218" cy="238"/>
          </p:xfrm>
          <a:graphic>
            <a:graphicData uri="http://schemas.openxmlformats.org/presentationml/2006/ole">
              <mc:AlternateContent xmlns:mc="http://schemas.openxmlformats.org/markup-compatibility/2006">
                <mc:Choice xmlns:v="urn:schemas-microsoft-com:vml" Requires="v">
                  <p:oleObj spid="_x0000_s18447" name="公式" r:id="rId5" imgW="257175" imgH="276225" progId="Equation.3">
                    <p:embed/>
                  </p:oleObj>
                </mc:Choice>
                <mc:Fallback>
                  <p:oleObj name="公式" r:id="rId5" imgW="257175" imgH="27622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1" y="2727"/>
                          <a:ext cx="218" cy="238"/>
                        </a:xfrm>
                        <a:prstGeom prst="rect">
                          <a:avLst/>
                        </a:prstGeom>
                        <a:noFill/>
                        <a:ln>
                          <a:noFill/>
                        </a:ln>
                        <a:effectLst/>
                      </p:spPr>
                    </p:pic>
                  </p:oleObj>
                </mc:Fallback>
              </mc:AlternateContent>
            </a:graphicData>
          </a:graphic>
        </p:graphicFrame>
        <p:graphicFrame>
          <p:nvGraphicFramePr>
            <p:cNvPr id="29743" name="Object 31"/>
            <p:cNvGraphicFramePr>
              <a:graphicFrameLocks noChangeAspect="1"/>
            </p:cNvGraphicFramePr>
            <p:nvPr>
              <p:extLst>
                <p:ext uri="{D42A27DB-BD31-4B8C-83A1-F6EECF244321}">
                  <p14:modId xmlns:p14="http://schemas.microsoft.com/office/powerpoint/2010/main" val="3373076542"/>
                </p:ext>
              </p:extLst>
            </p:nvPr>
          </p:nvGraphicFramePr>
          <p:xfrm>
            <a:off x="716" y="1643"/>
            <a:ext cx="270" cy="274"/>
          </p:xfrm>
          <a:graphic>
            <a:graphicData uri="http://schemas.openxmlformats.org/presentationml/2006/ole">
              <mc:AlternateContent xmlns:mc="http://schemas.openxmlformats.org/markup-compatibility/2006">
                <mc:Choice xmlns:v="urn:schemas-microsoft-com:vml" Requires="v">
                  <p:oleObj spid="_x0000_s18448" name="Equation" r:id="rId7" imgW="180975" imgH="200025" progId="Equation.3">
                    <p:embed/>
                  </p:oleObj>
                </mc:Choice>
                <mc:Fallback>
                  <p:oleObj name="Equation" r:id="rId7" imgW="180975" imgH="20002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 y="1643"/>
                          <a:ext cx="270" cy="274"/>
                        </a:xfrm>
                        <a:prstGeom prst="rect">
                          <a:avLst/>
                        </a:prstGeom>
                        <a:noFill/>
                        <a:ln>
                          <a:noFill/>
                        </a:ln>
                        <a:effectLst/>
                      </p:spPr>
                    </p:pic>
                  </p:oleObj>
                </mc:Fallback>
              </mc:AlternateContent>
            </a:graphicData>
          </a:graphic>
        </p:graphicFrame>
      </p:grpSp>
      <p:sp>
        <p:nvSpPr>
          <p:cNvPr id="28705" name="Text Box 33"/>
          <p:cNvSpPr txBox="1">
            <a:spLocks noChangeArrowheads="1"/>
          </p:cNvSpPr>
          <p:nvPr/>
        </p:nvSpPr>
        <p:spPr bwMode="auto">
          <a:xfrm>
            <a:off x="4355976" y="2436503"/>
            <a:ext cx="3779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cap="sq">
                <a:solidFill>
                  <a:srgbClr val="000000"/>
                </a:solidFill>
                <a:miter lim="800000"/>
                <a:headEnd/>
                <a:tailEnd type="none" w="sm" len="lg"/>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dirty="0">
                <a:solidFill>
                  <a:srgbClr val="0000FF"/>
                </a:solidFill>
                <a:latin typeface="楷体" panose="02010609060101010101" pitchFamily="49" charset="-122"/>
                <a:ea typeface="楷体" panose="02010609060101010101" pitchFamily="49" charset="-122"/>
              </a:rPr>
              <a:t>解：</a:t>
            </a:r>
            <a:r>
              <a:rPr kumimoji="1" lang="zh-CN" altLang="en-US" sz="2400" b="1" dirty="0">
                <a:latin typeface="楷体" panose="02010609060101010101" pitchFamily="49" charset="-122"/>
                <a:ea typeface="楷体" panose="02010609060101010101" pitchFamily="49" charset="-122"/>
              </a:rPr>
              <a:t> </a:t>
            </a:r>
            <a:r>
              <a:rPr kumimoji="1" lang="en-US" altLang="zh-CN" sz="2400" b="1" dirty="0">
                <a:latin typeface="楷体" panose="02010609060101010101" pitchFamily="49" charset="-122"/>
                <a:ea typeface="楷体" panose="02010609060101010101" pitchFamily="49" charset="-122"/>
              </a:rPr>
              <a:t>1.</a:t>
            </a:r>
            <a:r>
              <a:rPr kumimoji="1" lang="zh-CN" altLang="en-US" sz="2400" b="1" dirty="0">
                <a:latin typeface="楷体" panose="02010609060101010101" pitchFamily="49" charset="-122"/>
                <a:ea typeface="楷体" panose="02010609060101010101" pitchFamily="49" charset="-122"/>
              </a:rPr>
              <a:t>画出各力偶矩矢</a:t>
            </a:r>
          </a:p>
        </p:txBody>
      </p:sp>
      <p:grpSp>
        <p:nvGrpSpPr>
          <p:cNvPr id="3" name="Group 34"/>
          <p:cNvGrpSpPr>
            <a:grpSpLocks/>
          </p:cNvGrpSpPr>
          <p:nvPr/>
        </p:nvGrpSpPr>
        <p:grpSpPr bwMode="auto">
          <a:xfrm>
            <a:off x="5263845" y="2903933"/>
            <a:ext cx="2962275" cy="2944813"/>
            <a:chOff x="3629" y="1202"/>
            <a:chExt cx="1866" cy="1855"/>
          </a:xfrm>
        </p:grpSpPr>
        <p:sp>
          <p:nvSpPr>
            <p:cNvPr id="29702" name="Arc 35"/>
            <p:cNvSpPr>
              <a:spLocks/>
            </p:cNvSpPr>
            <p:nvPr/>
          </p:nvSpPr>
          <p:spPr bwMode="auto">
            <a:xfrm>
              <a:off x="4286" y="2295"/>
              <a:ext cx="132" cy="16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703" name="Text Box 36"/>
            <p:cNvSpPr txBox="1">
              <a:spLocks noChangeArrowheads="1"/>
            </p:cNvSpPr>
            <p:nvPr/>
          </p:nvSpPr>
          <p:spPr bwMode="auto">
            <a:xfrm>
              <a:off x="3711" y="2740"/>
              <a:ext cx="1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2000" i="1" dirty="0">
                  <a:latin typeface="Times New Roman" panose="02020603050405020304" pitchFamily="18" charset="0"/>
                  <a:ea typeface="楷体_GB2312" pitchFamily="49" charset="-122"/>
                </a:rPr>
                <a:t>x</a:t>
              </a:r>
              <a:endParaRPr kumimoji="1" lang="en-US" altLang="zh-CN" sz="2000" i="1" dirty="0">
                <a:latin typeface="楷体_GB2312" pitchFamily="49" charset="-122"/>
                <a:ea typeface="楷体_GB2312" pitchFamily="49" charset="-122"/>
              </a:endParaRPr>
            </a:p>
          </p:txBody>
        </p:sp>
        <p:sp>
          <p:nvSpPr>
            <p:cNvPr id="29704" name="Text Box 37"/>
            <p:cNvSpPr txBox="1">
              <a:spLocks noChangeArrowheads="1"/>
            </p:cNvSpPr>
            <p:nvPr/>
          </p:nvSpPr>
          <p:spPr bwMode="auto">
            <a:xfrm>
              <a:off x="4282" y="1202"/>
              <a:ext cx="17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2000" i="1" dirty="0">
                  <a:latin typeface="Times New Roman" panose="02020603050405020304" pitchFamily="18" charset="0"/>
                  <a:ea typeface="楷体_GB2312" pitchFamily="49" charset="-122"/>
                </a:rPr>
                <a:t>z</a:t>
              </a:r>
              <a:endParaRPr kumimoji="1" lang="en-US" altLang="zh-CN" sz="2000" i="1" dirty="0">
                <a:latin typeface="楷体_GB2312" pitchFamily="49" charset="-122"/>
                <a:ea typeface="楷体_GB2312" pitchFamily="49" charset="-122"/>
              </a:endParaRPr>
            </a:p>
          </p:txBody>
        </p:sp>
        <p:sp>
          <p:nvSpPr>
            <p:cNvPr id="29705" name="Text Box 38"/>
            <p:cNvSpPr txBox="1">
              <a:spLocks noChangeArrowheads="1"/>
            </p:cNvSpPr>
            <p:nvPr/>
          </p:nvSpPr>
          <p:spPr bwMode="auto">
            <a:xfrm>
              <a:off x="5308" y="2132"/>
              <a:ext cx="1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2000" i="1" dirty="0">
                  <a:latin typeface="Times New Roman" panose="02020603050405020304" pitchFamily="18" charset="0"/>
                  <a:ea typeface="楷体_GB2312" pitchFamily="49" charset="-122"/>
                </a:rPr>
                <a:t>y</a:t>
              </a:r>
              <a:endParaRPr kumimoji="1" lang="en-US" altLang="zh-CN" sz="2000" i="1" dirty="0">
                <a:latin typeface="楷体_GB2312" pitchFamily="49" charset="-122"/>
                <a:ea typeface="楷体_GB2312" pitchFamily="49" charset="-122"/>
              </a:endParaRPr>
            </a:p>
          </p:txBody>
        </p:sp>
        <p:sp>
          <p:nvSpPr>
            <p:cNvPr id="29706" name="Text Box 39"/>
            <p:cNvSpPr txBox="1">
              <a:spLocks noChangeArrowheads="1"/>
            </p:cNvSpPr>
            <p:nvPr/>
          </p:nvSpPr>
          <p:spPr bwMode="auto">
            <a:xfrm>
              <a:off x="4257" y="2029"/>
              <a:ext cx="372"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1600" b="1" dirty="0">
                  <a:solidFill>
                    <a:srgbClr val="003399"/>
                  </a:solidFill>
                  <a:latin typeface="Times New Roman" panose="02020603050405020304" pitchFamily="18" charset="0"/>
                  <a:ea typeface="楷体_GB2312" pitchFamily="49" charset="-122"/>
                </a:rPr>
                <a:t>45°</a:t>
              </a:r>
              <a:endParaRPr kumimoji="1" lang="en-US" altLang="zh-CN" sz="1600" b="1" dirty="0">
                <a:solidFill>
                  <a:srgbClr val="003399"/>
                </a:solidFill>
                <a:latin typeface="楷体_GB2312" pitchFamily="49" charset="-122"/>
                <a:ea typeface="楷体_GB2312" pitchFamily="49" charset="-122"/>
              </a:endParaRPr>
            </a:p>
          </p:txBody>
        </p:sp>
        <p:sp>
          <p:nvSpPr>
            <p:cNvPr id="28712" name="Text Box 40"/>
            <p:cNvSpPr txBox="1">
              <a:spLocks noChangeArrowheads="1"/>
            </p:cNvSpPr>
            <p:nvPr/>
          </p:nvSpPr>
          <p:spPr bwMode="auto">
            <a:xfrm>
              <a:off x="4244" y="2413"/>
              <a:ext cx="257" cy="337"/>
            </a:xfrm>
            <a:prstGeom prst="rect">
              <a:avLst/>
            </a:prstGeom>
            <a:noFill/>
            <a:ln w="31750">
              <a:noFill/>
              <a:miter lim="800000"/>
              <a:headEnd/>
              <a:tailEnd type="none" w="sm" len="lg"/>
            </a:ln>
            <a:effectLst/>
          </p:spPr>
          <p:txBody>
            <a:bodyPr wrap="none">
              <a:spAutoFit/>
            </a:bodyPr>
            <a:lstStyle/>
            <a:p>
              <a:pPr algn="ctr" eaLnBrk="1" hangingPunct="1">
                <a:lnSpc>
                  <a:spcPct val="135000"/>
                </a:lnSpc>
                <a:defRPr/>
              </a:pPr>
              <a:r>
                <a:rPr kumimoji="1" lang="en-US" altLang="zh-CN" b="1" i="1" dirty="0">
                  <a:ea typeface="楷体_GB2312" pitchFamily="49" charset="-122"/>
                </a:rPr>
                <a:t>O</a:t>
              </a:r>
              <a:endParaRPr kumimoji="1" lang="en-US" altLang="zh-CN" b="1" i="1" dirty="0">
                <a:latin typeface="楷体_GB2312" pitchFamily="49" charset="-122"/>
                <a:ea typeface="楷体_GB2312" pitchFamily="49" charset="-122"/>
              </a:endParaRPr>
            </a:p>
          </p:txBody>
        </p:sp>
        <p:sp>
          <p:nvSpPr>
            <p:cNvPr id="29708" name="Text Box 41"/>
            <p:cNvSpPr txBox="1">
              <a:spLocks noChangeArrowheads="1"/>
            </p:cNvSpPr>
            <p:nvPr/>
          </p:nvSpPr>
          <p:spPr bwMode="auto">
            <a:xfrm>
              <a:off x="3990" y="1663"/>
              <a:ext cx="29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b="1" i="1">
                  <a:solidFill>
                    <a:srgbClr val="CC0000"/>
                  </a:solidFill>
                  <a:latin typeface="Times New Roman" panose="02020603050405020304" pitchFamily="18" charset="0"/>
                  <a:ea typeface="楷体_GB2312" pitchFamily="49" charset="-122"/>
                </a:rPr>
                <a:t>M</a:t>
              </a:r>
              <a:r>
                <a:rPr kumimoji="1" lang="en-US" altLang="zh-CN" baseline="-25000">
                  <a:solidFill>
                    <a:srgbClr val="CC0000"/>
                  </a:solidFill>
                  <a:latin typeface="Times New Roman" panose="02020603050405020304" pitchFamily="18" charset="0"/>
                  <a:ea typeface="楷体_GB2312" pitchFamily="49" charset="-122"/>
                </a:rPr>
                <a:t>1</a:t>
              </a:r>
              <a:endParaRPr kumimoji="1" lang="en-US" altLang="zh-CN">
                <a:solidFill>
                  <a:srgbClr val="CC0000"/>
                </a:solidFill>
                <a:latin typeface="楷体_GB2312" pitchFamily="49" charset="-122"/>
                <a:ea typeface="楷体_GB2312" pitchFamily="49" charset="-122"/>
              </a:endParaRPr>
            </a:p>
          </p:txBody>
        </p:sp>
        <p:sp>
          <p:nvSpPr>
            <p:cNvPr id="29709" name="Line 42"/>
            <p:cNvSpPr>
              <a:spLocks noChangeShapeType="1"/>
            </p:cNvSpPr>
            <p:nvPr/>
          </p:nvSpPr>
          <p:spPr bwMode="auto">
            <a:xfrm flipV="1">
              <a:off x="4286" y="1304"/>
              <a:ext cx="0" cy="1652"/>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0" name="Line 43"/>
            <p:cNvSpPr>
              <a:spLocks noChangeShapeType="1"/>
            </p:cNvSpPr>
            <p:nvPr/>
          </p:nvSpPr>
          <p:spPr bwMode="auto">
            <a:xfrm>
              <a:off x="4286" y="2461"/>
              <a:ext cx="1183" cy="0"/>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1" name="Line 44"/>
            <p:cNvSpPr>
              <a:spLocks noChangeAspect="1" noChangeShapeType="1"/>
            </p:cNvSpPr>
            <p:nvPr/>
          </p:nvSpPr>
          <p:spPr bwMode="auto">
            <a:xfrm rot="21240000" flipH="1">
              <a:off x="3860" y="2490"/>
              <a:ext cx="448" cy="451"/>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2" name="Line 45"/>
            <p:cNvSpPr>
              <a:spLocks noChangeShapeType="1"/>
            </p:cNvSpPr>
            <p:nvPr/>
          </p:nvSpPr>
          <p:spPr bwMode="auto">
            <a:xfrm rot="240000" flipV="1">
              <a:off x="4314" y="1738"/>
              <a:ext cx="592" cy="744"/>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3" name="Line 46"/>
            <p:cNvSpPr>
              <a:spLocks noChangeShapeType="1"/>
            </p:cNvSpPr>
            <p:nvPr/>
          </p:nvSpPr>
          <p:spPr bwMode="auto">
            <a:xfrm flipV="1">
              <a:off x="4286" y="1800"/>
              <a:ext cx="0" cy="661"/>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4" name="Line 47"/>
            <p:cNvSpPr>
              <a:spLocks noChangeShapeType="1"/>
            </p:cNvSpPr>
            <p:nvPr/>
          </p:nvSpPr>
          <p:spPr bwMode="auto">
            <a:xfrm flipH="1">
              <a:off x="3629" y="2461"/>
              <a:ext cx="657" cy="0"/>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5" name="Text Box 48"/>
            <p:cNvSpPr txBox="1">
              <a:spLocks noChangeArrowheads="1"/>
            </p:cNvSpPr>
            <p:nvPr/>
          </p:nvSpPr>
          <p:spPr bwMode="auto">
            <a:xfrm>
              <a:off x="4380" y="2226"/>
              <a:ext cx="372"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1600" b="1">
                  <a:solidFill>
                    <a:srgbClr val="003399"/>
                  </a:solidFill>
                  <a:latin typeface="Times New Roman" panose="02020603050405020304" pitchFamily="18" charset="0"/>
                  <a:ea typeface="楷体_GB2312" pitchFamily="49" charset="-122"/>
                </a:rPr>
                <a:t>45°</a:t>
              </a:r>
              <a:endParaRPr kumimoji="1" lang="en-US" altLang="zh-CN" sz="1600" b="1">
                <a:solidFill>
                  <a:srgbClr val="003399"/>
                </a:solidFill>
                <a:latin typeface="楷体_GB2312" pitchFamily="49" charset="-122"/>
                <a:ea typeface="楷体_GB2312" pitchFamily="49" charset="-122"/>
              </a:endParaRPr>
            </a:p>
          </p:txBody>
        </p:sp>
        <p:sp>
          <p:nvSpPr>
            <p:cNvPr id="29716" name="Text Box 49"/>
            <p:cNvSpPr txBox="1">
              <a:spLocks noChangeArrowheads="1"/>
            </p:cNvSpPr>
            <p:nvPr/>
          </p:nvSpPr>
          <p:spPr bwMode="auto">
            <a:xfrm>
              <a:off x="3711" y="2125"/>
              <a:ext cx="29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b="1" i="1" dirty="0">
                  <a:solidFill>
                    <a:srgbClr val="CC0000"/>
                  </a:solidFill>
                  <a:latin typeface="Times New Roman" panose="02020603050405020304" pitchFamily="18" charset="0"/>
                  <a:ea typeface="楷体_GB2312" pitchFamily="49" charset="-122"/>
                </a:rPr>
                <a:t>M</a:t>
              </a:r>
              <a:r>
                <a:rPr kumimoji="1" lang="en-US" altLang="zh-CN" baseline="-25000" dirty="0">
                  <a:solidFill>
                    <a:srgbClr val="CC0000"/>
                  </a:solidFill>
                  <a:latin typeface="Times New Roman" panose="02020603050405020304" pitchFamily="18" charset="0"/>
                  <a:ea typeface="楷体_GB2312" pitchFamily="49" charset="-122"/>
                </a:rPr>
                <a:t>2</a:t>
              </a:r>
              <a:endParaRPr kumimoji="1" lang="en-US" altLang="zh-CN" dirty="0">
                <a:solidFill>
                  <a:srgbClr val="CC0000"/>
                </a:solidFill>
                <a:latin typeface="楷体_GB2312" pitchFamily="49" charset="-122"/>
                <a:ea typeface="楷体_GB2312" pitchFamily="49" charset="-122"/>
              </a:endParaRPr>
            </a:p>
          </p:txBody>
        </p:sp>
        <p:sp>
          <p:nvSpPr>
            <p:cNvPr id="29717" name="Text Box 50"/>
            <p:cNvSpPr txBox="1">
              <a:spLocks noChangeArrowheads="1"/>
            </p:cNvSpPr>
            <p:nvPr/>
          </p:nvSpPr>
          <p:spPr bwMode="auto">
            <a:xfrm>
              <a:off x="4878" y="1672"/>
              <a:ext cx="29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b="1" i="1" dirty="0">
                  <a:solidFill>
                    <a:srgbClr val="CC0000"/>
                  </a:solidFill>
                  <a:latin typeface="Times New Roman" panose="02020603050405020304" pitchFamily="18" charset="0"/>
                  <a:ea typeface="楷体_GB2312" pitchFamily="49" charset="-122"/>
                </a:rPr>
                <a:t>M</a:t>
              </a:r>
              <a:r>
                <a:rPr kumimoji="1" lang="en-US" altLang="zh-CN" baseline="-25000" dirty="0">
                  <a:solidFill>
                    <a:srgbClr val="CC0000"/>
                  </a:solidFill>
                  <a:latin typeface="Times New Roman" panose="02020603050405020304" pitchFamily="18" charset="0"/>
                  <a:ea typeface="楷体_GB2312" pitchFamily="49" charset="-122"/>
                </a:rPr>
                <a:t>3</a:t>
              </a:r>
              <a:endParaRPr kumimoji="1" lang="en-US" altLang="zh-CN" dirty="0">
                <a:solidFill>
                  <a:srgbClr val="CC0000"/>
                </a:solidFill>
                <a:latin typeface="楷体_GB2312" pitchFamily="49" charset="-122"/>
                <a:ea typeface="楷体_GB2312" pitchFamily="49" charset="-122"/>
              </a:endParaRPr>
            </a:p>
          </p:txBody>
        </p:sp>
      </p:grpSp>
    </p:spTree>
    <p:extLst>
      <p:ext uri="{BB962C8B-B14F-4D97-AF65-F5344CB8AC3E}">
        <p14:creationId xmlns:p14="http://schemas.microsoft.com/office/powerpoint/2010/main" val="37562630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8705"/>
                                        </p:tgtEl>
                                        <p:attrNameLst>
                                          <p:attrName>style.visibility</p:attrName>
                                        </p:attrNameLst>
                                      </p:cBhvr>
                                      <p:to>
                                        <p:strVal val="visible"/>
                                      </p:to>
                                    </p:set>
                                    <p:animEffect transition="in" filter="box(out)">
                                      <p:cBhvr>
                                        <p:cTn id="7" dur="500"/>
                                        <p:tgtEl>
                                          <p:spTgt spid="287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0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4"/>
          <p:cNvGrpSpPr>
            <a:grpSpLocks/>
          </p:cNvGrpSpPr>
          <p:nvPr/>
        </p:nvGrpSpPr>
        <p:grpSpPr bwMode="auto">
          <a:xfrm>
            <a:off x="5436394" y="1488500"/>
            <a:ext cx="2921000" cy="2933700"/>
            <a:chOff x="3629" y="1242"/>
            <a:chExt cx="1840" cy="1848"/>
          </a:xfrm>
        </p:grpSpPr>
        <p:sp>
          <p:nvSpPr>
            <p:cNvPr id="30731" name="Arc 5"/>
            <p:cNvSpPr>
              <a:spLocks/>
            </p:cNvSpPr>
            <p:nvPr/>
          </p:nvSpPr>
          <p:spPr bwMode="auto">
            <a:xfrm>
              <a:off x="4286" y="2295"/>
              <a:ext cx="132" cy="16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732" name="Text Box 6"/>
            <p:cNvSpPr txBox="1">
              <a:spLocks noChangeArrowheads="1"/>
            </p:cNvSpPr>
            <p:nvPr/>
          </p:nvSpPr>
          <p:spPr bwMode="auto">
            <a:xfrm>
              <a:off x="3846" y="2773"/>
              <a:ext cx="1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2000" i="1">
                  <a:latin typeface="Times New Roman" panose="02020603050405020304" pitchFamily="18" charset="0"/>
                  <a:ea typeface="楷体_GB2312" pitchFamily="49" charset="-122"/>
                </a:rPr>
                <a:t>x</a:t>
              </a:r>
              <a:endParaRPr kumimoji="1" lang="en-US" altLang="zh-CN" sz="2000" i="1">
                <a:latin typeface="楷体_GB2312" pitchFamily="49" charset="-122"/>
                <a:ea typeface="楷体_GB2312" pitchFamily="49" charset="-122"/>
              </a:endParaRPr>
            </a:p>
          </p:txBody>
        </p:sp>
        <p:sp>
          <p:nvSpPr>
            <p:cNvPr id="30733" name="Text Box 7"/>
            <p:cNvSpPr txBox="1">
              <a:spLocks noChangeArrowheads="1"/>
            </p:cNvSpPr>
            <p:nvPr/>
          </p:nvSpPr>
          <p:spPr bwMode="auto">
            <a:xfrm>
              <a:off x="4290" y="1242"/>
              <a:ext cx="17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2000" i="1" dirty="0">
                  <a:latin typeface="Times New Roman" panose="02020603050405020304" pitchFamily="18" charset="0"/>
                  <a:ea typeface="楷体_GB2312" pitchFamily="49" charset="-122"/>
                </a:rPr>
                <a:t>z</a:t>
              </a:r>
              <a:endParaRPr kumimoji="1" lang="en-US" altLang="zh-CN" sz="2000" i="1" dirty="0">
                <a:latin typeface="楷体_GB2312" pitchFamily="49" charset="-122"/>
                <a:ea typeface="楷体_GB2312" pitchFamily="49" charset="-122"/>
              </a:endParaRPr>
            </a:p>
          </p:txBody>
        </p:sp>
        <p:sp>
          <p:nvSpPr>
            <p:cNvPr id="30734" name="Text Box 8"/>
            <p:cNvSpPr txBox="1">
              <a:spLocks noChangeArrowheads="1"/>
            </p:cNvSpPr>
            <p:nvPr/>
          </p:nvSpPr>
          <p:spPr bwMode="auto">
            <a:xfrm>
              <a:off x="5238" y="2153"/>
              <a:ext cx="18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2000" i="1" dirty="0">
                  <a:latin typeface="Times New Roman" panose="02020603050405020304" pitchFamily="18" charset="0"/>
                  <a:ea typeface="楷体_GB2312" pitchFamily="49" charset="-122"/>
                </a:rPr>
                <a:t>y</a:t>
              </a:r>
              <a:endParaRPr kumimoji="1" lang="en-US" altLang="zh-CN" sz="2000" i="1" dirty="0">
                <a:latin typeface="楷体_GB2312" pitchFamily="49" charset="-122"/>
                <a:ea typeface="楷体_GB2312" pitchFamily="49" charset="-122"/>
              </a:endParaRPr>
            </a:p>
          </p:txBody>
        </p:sp>
        <p:sp>
          <p:nvSpPr>
            <p:cNvPr id="30735" name="Text Box 9"/>
            <p:cNvSpPr txBox="1">
              <a:spLocks noChangeArrowheads="1"/>
            </p:cNvSpPr>
            <p:nvPr/>
          </p:nvSpPr>
          <p:spPr bwMode="auto">
            <a:xfrm>
              <a:off x="4239" y="2018"/>
              <a:ext cx="372"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1600" b="1">
                  <a:solidFill>
                    <a:srgbClr val="003399"/>
                  </a:solidFill>
                  <a:latin typeface="Times New Roman" panose="02020603050405020304" pitchFamily="18" charset="0"/>
                  <a:ea typeface="楷体_GB2312" pitchFamily="49" charset="-122"/>
                </a:rPr>
                <a:t>45°</a:t>
              </a:r>
              <a:endParaRPr kumimoji="1" lang="en-US" altLang="zh-CN" sz="1600" b="1">
                <a:solidFill>
                  <a:srgbClr val="003399"/>
                </a:solidFill>
                <a:latin typeface="楷体_GB2312" pitchFamily="49" charset="-122"/>
                <a:ea typeface="楷体_GB2312" pitchFamily="49" charset="-122"/>
              </a:endParaRPr>
            </a:p>
          </p:txBody>
        </p:sp>
        <p:sp>
          <p:nvSpPr>
            <p:cNvPr id="41994" name="Text Box 10"/>
            <p:cNvSpPr txBox="1">
              <a:spLocks noChangeArrowheads="1"/>
            </p:cNvSpPr>
            <p:nvPr/>
          </p:nvSpPr>
          <p:spPr bwMode="auto">
            <a:xfrm>
              <a:off x="4254" y="2378"/>
              <a:ext cx="257" cy="337"/>
            </a:xfrm>
            <a:prstGeom prst="rect">
              <a:avLst/>
            </a:prstGeom>
            <a:noFill/>
            <a:ln w="31750">
              <a:noFill/>
              <a:miter lim="800000"/>
              <a:headEnd/>
              <a:tailEnd type="none" w="sm" len="lg"/>
            </a:ln>
            <a:effectLst/>
          </p:spPr>
          <p:txBody>
            <a:bodyPr wrap="none">
              <a:spAutoFit/>
            </a:bodyPr>
            <a:lstStyle/>
            <a:p>
              <a:pPr algn="ctr" eaLnBrk="1" hangingPunct="1">
                <a:lnSpc>
                  <a:spcPct val="135000"/>
                </a:lnSpc>
                <a:defRPr/>
              </a:pPr>
              <a:r>
                <a:rPr kumimoji="1" lang="en-US" altLang="zh-CN" b="1" i="1" dirty="0">
                  <a:ea typeface="楷体_GB2312" pitchFamily="49" charset="-122"/>
                </a:rPr>
                <a:t>O</a:t>
              </a:r>
              <a:endParaRPr kumimoji="1" lang="en-US" altLang="zh-CN" b="1" i="1" dirty="0">
                <a:latin typeface="楷体_GB2312" pitchFamily="49" charset="-122"/>
                <a:ea typeface="楷体_GB2312" pitchFamily="49" charset="-122"/>
              </a:endParaRPr>
            </a:p>
          </p:txBody>
        </p:sp>
        <p:sp>
          <p:nvSpPr>
            <p:cNvPr id="30737" name="Text Box 11"/>
            <p:cNvSpPr txBox="1">
              <a:spLocks noChangeArrowheads="1"/>
            </p:cNvSpPr>
            <p:nvPr/>
          </p:nvSpPr>
          <p:spPr bwMode="auto">
            <a:xfrm>
              <a:off x="3990" y="1663"/>
              <a:ext cx="29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b="1" i="1" dirty="0">
                  <a:solidFill>
                    <a:srgbClr val="CC0000"/>
                  </a:solidFill>
                  <a:latin typeface="Times New Roman" panose="02020603050405020304" pitchFamily="18" charset="0"/>
                  <a:ea typeface="楷体_GB2312" pitchFamily="49" charset="-122"/>
                </a:rPr>
                <a:t>M</a:t>
              </a:r>
              <a:r>
                <a:rPr kumimoji="1" lang="en-US" altLang="zh-CN" baseline="-25000" dirty="0">
                  <a:solidFill>
                    <a:srgbClr val="CC0000"/>
                  </a:solidFill>
                  <a:latin typeface="Times New Roman" panose="02020603050405020304" pitchFamily="18" charset="0"/>
                  <a:ea typeface="楷体_GB2312" pitchFamily="49" charset="-122"/>
                </a:rPr>
                <a:t>1</a:t>
              </a:r>
              <a:endParaRPr kumimoji="1" lang="en-US" altLang="zh-CN" dirty="0">
                <a:solidFill>
                  <a:srgbClr val="CC0000"/>
                </a:solidFill>
                <a:latin typeface="楷体_GB2312" pitchFamily="49" charset="-122"/>
                <a:ea typeface="楷体_GB2312" pitchFamily="49" charset="-122"/>
              </a:endParaRPr>
            </a:p>
          </p:txBody>
        </p:sp>
        <p:sp>
          <p:nvSpPr>
            <p:cNvPr id="30738" name="Line 12"/>
            <p:cNvSpPr>
              <a:spLocks noChangeShapeType="1"/>
            </p:cNvSpPr>
            <p:nvPr/>
          </p:nvSpPr>
          <p:spPr bwMode="auto">
            <a:xfrm flipV="1">
              <a:off x="4286" y="1429"/>
              <a:ext cx="0" cy="1652"/>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9" name="Line 13"/>
            <p:cNvSpPr>
              <a:spLocks noChangeShapeType="1"/>
            </p:cNvSpPr>
            <p:nvPr/>
          </p:nvSpPr>
          <p:spPr bwMode="auto">
            <a:xfrm>
              <a:off x="4286" y="2461"/>
              <a:ext cx="1183" cy="0"/>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0" name="Line 14"/>
            <p:cNvSpPr>
              <a:spLocks noChangeAspect="1" noChangeShapeType="1"/>
            </p:cNvSpPr>
            <p:nvPr/>
          </p:nvSpPr>
          <p:spPr bwMode="auto">
            <a:xfrm flipH="1">
              <a:off x="3839" y="2466"/>
              <a:ext cx="448" cy="450"/>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1" name="Line 15"/>
            <p:cNvSpPr>
              <a:spLocks noChangeShapeType="1"/>
            </p:cNvSpPr>
            <p:nvPr/>
          </p:nvSpPr>
          <p:spPr bwMode="auto">
            <a:xfrm rot="240000" flipV="1">
              <a:off x="4314" y="1740"/>
              <a:ext cx="592" cy="744"/>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2" name="Line 16"/>
            <p:cNvSpPr>
              <a:spLocks noChangeShapeType="1"/>
            </p:cNvSpPr>
            <p:nvPr/>
          </p:nvSpPr>
          <p:spPr bwMode="auto">
            <a:xfrm flipV="1">
              <a:off x="4286" y="1800"/>
              <a:ext cx="0" cy="661"/>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3" name="Line 17"/>
            <p:cNvSpPr>
              <a:spLocks noChangeShapeType="1"/>
            </p:cNvSpPr>
            <p:nvPr/>
          </p:nvSpPr>
          <p:spPr bwMode="auto">
            <a:xfrm flipH="1">
              <a:off x="3629" y="2461"/>
              <a:ext cx="657" cy="0"/>
            </a:xfrm>
            <a:prstGeom prst="line">
              <a:avLst/>
            </a:prstGeom>
            <a:noFill/>
            <a:ln w="317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4" name="Text Box 18"/>
            <p:cNvSpPr txBox="1">
              <a:spLocks noChangeArrowheads="1"/>
            </p:cNvSpPr>
            <p:nvPr/>
          </p:nvSpPr>
          <p:spPr bwMode="auto">
            <a:xfrm>
              <a:off x="4380" y="2226"/>
              <a:ext cx="372"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sz="1600" b="1" dirty="0">
                  <a:solidFill>
                    <a:srgbClr val="003399"/>
                  </a:solidFill>
                  <a:latin typeface="Times New Roman" panose="02020603050405020304" pitchFamily="18" charset="0"/>
                  <a:ea typeface="楷体_GB2312" pitchFamily="49" charset="-122"/>
                </a:rPr>
                <a:t>45°</a:t>
              </a:r>
              <a:endParaRPr kumimoji="1" lang="en-US" altLang="zh-CN" sz="1600" b="1" dirty="0">
                <a:solidFill>
                  <a:srgbClr val="003399"/>
                </a:solidFill>
                <a:latin typeface="楷体_GB2312" pitchFamily="49" charset="-122"/>
                <a:ea typeface="楷体_GB2312" pitchFamily="49" charset="-122"/>
              </a:endParaRPr>
            </a:p>
          </p:txBody>
        </p:sp>
        <p:sp>
          <p:nvSpPr>
            <p:cNvPr id="30745" name="Text Box 19"/>
            <p:cNvSpPr txBox="1">
              <a:spLocks noChangeArrowheads="1"/>
            </p:cNvSpPr>
            <p:nvPr/>
          </p:nvSpPr>
          <p:spPr bwMode="auto">
            <a:xfrm>
              <a:off x="3651" y="2101"/>
              <a:ext cx="29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b="1" i="1">
                  <a:solidFill>
                    <a:srgbClr val="CC0000"/>
                  </a:solidFill>
                  <a:latin typeface="Times New Roman" panose="02020603050405020304" pitchFamily="18" charset="0"/>
                  <a:ea typeface="楷体_GB2312" pitchFamily="49" charset="-122"/>
                </a:rPr>
                <a:t>M</a:t>
              </a:r>
              <a:r>
                <a:rPr kumimoji="1" lang="en-US" altLang="zh-CN" baseline="-25000">
                  <a:solidFill>
                    <a:srgbClr val="CC0000"/>
                  </a:solidFill>
                  <a:latin typeface="Times New Roman" panose="02020603050405020304" pitchFamily="18" charset="0"/>
                  <a:ea typeface="楷体_GB2312" pitchFamily="49" charset="-122"/>
                </a:rPr>
                <a:t>2</a:t>
              </a:r>
              <a:endParaRPr kumimoji="1" lang="en-US" altLang="zh-CN">
                <a:solidFill>
                  <a:srgbClr val="CC0000"/>
                </a:solidFill>
                <a:latin typeface="楷体_GB2312" pitchFamily="49" charset="-122"/>
                <a:ea typeface="楷体_GB2312" pitchFamily="49" charset="-122"/>
              </a:endParaRPr>
            </a:p>
          </p:txBody>
        </p:sp>
        <p:sp>
          <p:nvSpPr>
            <p:cNvPr id="30746" name="Text Box 20"/>
            <p:cNvSpPr txBox="1">
              <a:spLocks noChangeArrowheads="1"/>
            </p:cNvSpPr>
            <p:nvPr/>
          </p:nvSpPr>
          <p:spPr bwMode="auto">
            <a:xfrm>
              <a:off x="4848" y="1726"/>
              <a:ext cx="29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type="none" w="sm" len="lg"/>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pPr>
              <a:r>
                <a:rPr kumimoji="1" lang="en-US" altLang="zh-CN" b="1" i="1" dirty="0">
                  <a:solidFill>
                    <a:srgbClr val="CC0000"/>
                  </a:solidFill>
                  <a:latin typeface="Times New Roman" panose="02020603050405020304" pitchFamily="18" charset="0"/>
                  <a:ea typeface="楷体_GB2312" pitchFamily="49" charset="-122"/>
                </a:rPr>
                <a:t>M</a:t>
              </a:r>
              <a:r>
                <a:rPr kumimoji="1" lang="en-US" altLang="zh-CN" baseline="-25000" dirty="0">
                  <a:solidFill>
                    <a:srgbClr val="CC0000"/>
                  </a:solidFill>
                  <a:latin typeface="Times New Roman" panose="02020603050405020304" pitchFamily="18" charset="0"/>
                  <a:ea typeface="楷体_GB2312" pitchFamily="49" charset="-122"/>
                </a:rPr>
                <a:t>3</a:t>
              </a:r>
              <a:endParaRPr kumimoji="1" lang="en-US" altLang="zh-CN" dirty="0">
                <a:solidFill>
                  <a:srgbClr val="CC0000"/>
                </a:solidFill>
                <a:latin typeface="楷体_GB2312" pitchFamily="49" charset="-122"/>
                <a:ea typeface="楷体_GB2312" pitchFamily="49" charset="-122"/>
              </a:endParaRPr>
            </a:p>
          </p:txBody>
        </p:sp>
      </p:grpSp>
      <p:graphicFrame>
        <p:nvGraphicFramePr>
          <p:cNvPr id="42005" name="Object 21"/>
          <p:cNvGraphicFramePr>
            <a:graphicFrameLocks noChangeAspect="1"/>
          </p:cNvGraphicFramePr>
          <p:nvPr>
            <p:extLst>
              <p:ext uri="{D42A27DB-BD31-4B8C-83A1-F6EECF244321}">
                <p14:modId xmlns:p14="http://schemas.microsoft.com/office/powerpoint/2010/main" val="4088255719"/>
              </p:ext>
            </p:extLst>
          </p:nvPr>
        </p:nvGraphicFramePr>
        <p:xfrm>
          <a:off x="1269207" y="687388"/>
          <a:ext cx="3049587" cy="422275"/>
        </p:xfrm>
        <a:graphic>
          <a:graphicData uri="http://schemas.openxmlformats.org/presentationml/2006/ole">
            <mc:AlternateContent xmlns:mc="http://schemas.openxmlformats.org/markup-compatibility/2006">
              <mc:Choice xmlns:v="urn:schemas-microsoft-com:vml" Requires="v">
                <p:oleObj spid="_x0000_s19490" name="Equation" r:id="rId3" imgW="1638300" imgH="219075" progId="Equation.DSMT4">
                  <p:embed/>
                </p:oleObj>
              </mc:Choice>
              <mc:Fallback>
                <p:oleObj name="Equation" r:id="rId3" imgW="1638300" imgH="21907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9207" y="687388"/>
                        <a:ext cx="3049587"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pic>
                </p:oleObj>
              </mc:Fallback>
            </mc:AlternateContent>
          </a:graphicData>
        </a:graphic>
      </p:graphicFrame>
      <p:graphicFrame>
        <p:nvGraphicFramePr>
          <p:cNvPr id="42009" name="Object 25"/>
          <p:cNvGraphicFramePr>
            <a:graphicFrameLocks noChangeAspect="1"/>
          </p:cNvGraphicFramePr>
          <p:nvPr>
            <p:extLst>
              <p:ext uri="{D42A27DB-BD31-4B8C-83A1-F6EECF244321}">
                <p14:modId xmlns:p14="http://schemas.microsoft.com/office/powerpoint/2010/main" val="1863949241"/>
              </p:ext>
            </p:extLst>
          </p:nvPr>
        </p:nvGraphicFramePr>
        <p:xfrm>
          <a:off x="1109663" y="3321050"/>
          <a:ext cx="4016375" cy="568325"/>
        </p:xfrm>
        <a:graphic>
          <a:graphicData uri="http://schemas.openxmlformats.org/presentationml/2006/ole">
            <mc:AlternateContent xmlns:mc="http://schemas.openxmlformats.org/markup-compatibility/2006">
              <mc:Choice xmlns:v="urn:schemas-microsoft-com:vml" Requires="v">
                <p:oleObj spid="_x0000_s19491" name="Equation" r:id="rId5" imgW="2209680" imgH="304560" progId="Equation.DSMT4">
                  <p:embed/>
                </p:oleObj>
              </mc:Choice>
              <mc:Fallback>
                <p:oleObj name="Equation" r:id="rId5" imgW="2209680" imgH="304560" progId="Equation.DSMT4">
                  <p:embed/>
                  <p:pic>
                    <p:nvPicPr>
                      <p:cNvPr id="0" name=""/>
                      <p:cNvPicPr>
                        <a:picLocks noChangeAspect="1" noChangeArrowheads="1"/>
                      </p:cNvPicPr>
                      <p:nvPr/>
                    </p:nvPicPr>
                    <p:blipFill>
                      <a:blip r:embed="rId6"/>
                      <a:srcRect/>
                      <a:stretch>
                        <a:fillRect/>
                      </a:stretch>
                    </p:blipFill>
                    <p:spPr bwMode="auto">
                      <a:xfrm>
                        <a:off x="1109663" y="3321050"/>
                        <a:ext cx="401637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pic>
                </p:oleObj>
              </mc:Fallback>
            </mc:AlternateContent>
          </a:graphicData>
        </a:graphic>
      </p:graphicFrame>
      <p:grpSp>
        <p:nvGrpSpPr>
          <p:cNvPr id="4" name="组合 3"/>
          <p:cNvGrpSpPr/>
          <p:nvPr/>
        </p:nvGrpSpPr>
        <p:grpSpPr>
          <a:xfrm>
            <a:off x="1018381" y="3971492"/>
            <a:ext cx="5013325" cy="2212975"/>
            <a:chOff x="1018381" y="3971492"/>
            <a:chExt cx="5013325" cy="2212975"/>
          </a:xfrm>
        </p:grpSpPr>
        <p:graphicFrame>
          <p:nvGraphicFramePr>
            <p:cNvPr id="42010" name="Object 26"/>
            <p:cNvGraphicFramePr>
              <a:graphicFrameLocks noChangeAspect="1"/>
            </p:cNvGraphicFramePr>
            <p:nvPr>
              <p:extLst>
                <p:ext uri="{D42A27DB-BD31-4B8C-83A1-F6EECF244321}">
                  <p14:modId xmlns:p14="http://schemas.microsoft.com/office/powerpoint/2010/main" val="1511339895"/>
                </p:ext>
              </p:extLst>
            </p:nvPr>
          </p:nvGraphicFramePr>
          <p:xfrm>
            <a:off x="1046956" y="3971492"/>
            <a:ext cx="3829050" cy="673100"/>
          </p:xfrm>
          <a:graphic>
            <a:graphicData uri="http://schemas.openxmlformats.org/presentationml/2006/ole">
              <mc:AlternateContent xmlns:mc="http://schemas.openxmlformats.org/markup-compatibility/2006">
                <mc:Choice xmlns:v="urn:schemas-microsoft-com:vml" Requires="v">
                  <p:oleObj spid="_x0000_s19492" name="Equation" r:id="rId7" imgW="2219325" imgH="371475" progId="Equation.DSMT4">
                    <p:embed/>
                  </p:oleObj>
                </mc:Choice>
                <mc:Fallback>
                  <p:oleObj name="Equation" r:id="rId7" imgW="2219325" imgH="37147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6956" y="3971492"/>
                          <a:ext cx="3829050"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pic>
                  </p:oleObj>
                </mc:Fallback>
              </mc:AlternateContent>
            </a:graphicData>
          </a:graphic>
        </p:graphicFrame>
        <p:graphicFrame>
          <p:nvGraphicFramePr>
            <p:cNvPr id="42011" name="Object 27"/>
            <p:cNvGraphicFramePr>
              <a:graphicFrameLocks noChangeAspect="1"/>
            </p:cNvGraphicFramePr>
            <p:nvPr>
              <p:extLst>
                <p:ext uri="{D42A27DB-BD31-4B8C-83A1-F6EECF244321}">
                  <p14:modId xmlns:p14="http://schemas.microsoft.com/office/powerpoint/2010/main" val="4234048046"/>
                </p:ext>
              </p:extLst>
            </p:nvPr>
          </p:nvGraphicFramePr>
          <p:xfrm>
            <a:off x="1046956" y="4685867"/>
            <a:ext cx="4984750" cy="755650"/>
          </p:xfrm>
          <a:graphic>
            <a:graphicData uri="http://schemas.openxmlformats.org/presentationml/2006/ole">
              <mc:AlternateContent xmlns:mc="http://schemas.openxmlformats.org/markup-compatibility/2006">
                <mc:Choice xmlns:v="urn:schemas-microsoft-com:vml" Requires="v">
                  <p:oleObj spid="_x0000_s19493" name="Equation" r:id="rId9" imgW="2800350" imgH="409575" progId="Equation.DSMT4">
                    <p:embed/>
                  </p:oleObj>
                </mc:Choice>
                <mc:Fallback>
                  <p:oleObj name="Equation" r:id="rId9" imgW="2800350" imgH="409575"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6956" y="4685867"/>
                          <a:ext cx="4984750"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pic>
                  </p:oleObj>
                </mc:Fallback>
              </mc:AlternateContent>
            </a:graphicData>
          </a:graphic>
        </p:graphicFrame>
        <p:graphicFrame>
          <p:nvGraphicFramePr>
            <p:cNvPr id="42012" name="Object 28"/>
            <p:cNvGraphicFramePr>
              <a:graphicFrameLocks noChangeAspect="1"/>
            </p:cNvGraphicFramePr>
            <p:nvPr>
              <p:extLst>
                <p:ext uri="{D42A27DB-BD31-4B8C-83A1-F6EECF244321}">
                  <p14:modId xmlns:p14="http://schemas.microsoft.com/office/powerpoint/2010/main" val="3386405315"/>
                </p:ext>
              </p:extLst>
            </p:nvPr>
          </p:nvGraphicFramePr>
          <p:xfrm>
            <a:off x="1018381" y="5465329"/>
            <a:ext cx="4911725" cy="719138"/>
          </p:xfrm>
          <a:graphic>
            <a:graphicData uri="http://schemas.openxmlformats.org/presentationml/2006/ole">
              <mc:AlternateContent xmlns:mc="http://schemas.openxmlformats.org/markup-compatibility/2006">
                <mc:Choice xmlns:v="urn:schemas-microsoft-com:vml" Requires="v">
                  <p:oleObj spid="_x0000_s19494" name="Equation" r:id="rId11" imgW="2838450" imgH="400050" progId="Equation.DSMT4">
                    <p:embed/>
                  </p:oleObj>
                </mc:Choice>
                <mc:Fallback>
                  <p:oleObj name="Equation" r:id="rId11" imgW="2838450" imgH="40005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8381" y="5465329"/>
                          <a:ext cx="4911725"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pic>
                  </p:oleObj>
                </mc:Fallback>
              </mc:AlternateContent>
            </a:graphicData>
          </a:graphic>
        </p:graphicFrame>
      </p:grpSp>
      <p:graphicFrame>
        <p:nvGraphicFramePr>
          <p:cNvPr id="2" name="Object 7"/>
          <p:cNvGraphicFramePr>
            <a:graphicFrameLocks noChangeAspect="1"/>
          </p:cNvGraphicFramePr>
          <p:nvPr>
            <p:extLst>
              <p:ext uri="{D42A27DB-BD31-4B8C-83A1-F6EECF244321}">
                <p14:modId xmlns:p14="http://schemas.microsoft.com/office/powerpoint/2010/main" val="2036788391"/>
              </p:ext>
            </p:extLst>
          </p:nvPr>
        </p:nvGraphicFramePr>
        <p:xfrm>
          <a:off x="1231900" y="1236663"/>
          <a:ext cx="4211638" cy="469900"/>
        </p:xfrm>
        <a:graphic>
          <a:graphicData uri="http://schemas.openxmlformats.org/presentationml/2006/ole">
            <mc:AlternateContent xmlns:mc="http://schemas.openxmlformats.org/markup-compatibility/2006">
              <mc:Choice xmlns:v="urn:schemas-microsoft-com:vml" Requires="v">
                <p:oleObj spid="_x0000_s19495" name="Equation" r:id="rId13" imgW="2273040" imgH="241200" progId="Equation.DSMT4">
                  <p:embed/>
                </p:oleObj>
              </mc:Choice>
              <mc:Fallback>
                <p:oleObj name="Equation" r:id="rId13" imgW="2273040" imgH="241200" progId="Equation.DSMT4">
                  <p:embed/>
                  <p:pic>
                    <p:nvPicPr>
                      <p:cNvPr id="0" name=""/>
                      <p:cNvPicPr>
                        <a:picLocks noChangeAspect="1" noChangeArrowheads="1"/>
                      </p:cNvPicPr>
                      <p:nvPr/>
                    </p:nvPicPr>
                    <p:blipFill>
                      <a:blip r:embed="rId14"/>
                      <a:srcRect/>
                      <a:stretch>
                        <a:fillRect/>
                      </a:stretch>
                    </p:blipFill>
                    <p:spPr bwMode="auto">
                      <a:xfrm>
                        <a:off x="1231900" y="1236663"/>
                        <a:ext cx="4211638"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pic>
                </p:oleObj>
              </mc:Fallback>
            </mc:AlternateContent>
          </a:graphicData>
        </a:graphic>
      </p:graphicFrame>
      <p:graphicFrame>
        <p:nvGraphicFramePr>
          <p:cNvPr id="3" name="Object 8"/>
          <p:cNvGraphicFramePr>
            <a:graphicFrameLocks noChangeAspect="1"/>
          </p:cNvGraphicFramePr>
          <p:nvPr>
            <p:extLst>
              <p:ext uri="{D42A27DB-BD31-4B8C-83A1-F6EECF244321}">
                <p14:modId xmlns:p14="http://schemas.microsoft.com/office/powerpoint/2010/main" val="206238675"/>
              </p:ext>
            </p:extLst>
          </p:nvPr>
        </p:nvGraphicFramePr>
        <p:xfrm>
          <a:off x="1227138" y="1822450"/>
          <a:ext cx="4129087" cy="441325"/>
        </p:xfrm>
        <a:graphic>
          <a:graphicData uri="http://schemas.openxmlformats.org/presentationml/2006/ole">
            <mc:AlternateContent xmlns:mc="http://schemas.openxmlformats.org/markup-compatibility/2006">
              <mc:Choice xmlns:v="urn:schemas-microsoft-com:vml" Requires="v">
                <p:oleObj spid="_x0000_s19496" name="Equation" r:id="rId15" imgW="2222280" imgH="228600" progId="Equation.DSMT4">
                  <p:embed/>
                </p:oleObj>
              </mc:Choice>
              <mc:Fallback>
                <p:oleObj name="Equation" r:id="rId15" imgW="2222280" imgH="228600" progId="Equation.DSMT4">
                  <p:embed/>
                  <p:pic>
                    <p:nvPicPr>
                      <p:cNvPr id="0" name=""/>
                      <p:cNvPicPr>
                        <a:picLocks noChangeAspect="1" noChangeArrowheads="1"/>
                      </p:cNvPicPr>
                      <p:nvPr/>
                    </p:nvPicPr>
                    <p:blipFill>
                      <a:blip r:embed="rId16"/>
                      <a:srcRect/>
                      <a:stretch>
                        <a:fillRect/>
                      </a:stretch>
                    </p:blipFill>
                    <p:spPr bwMode="auto">
                      <a:xfrm>
                        <a:off x="1227138" y="1822450"/>
                        <a:ext cx="4129087"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28398" dir="1593903" algn="ctr" rotWithShape="0">
                                <a:schemeClr val="bg2"/>
                              </a:outerShdw>
                            </a:effectLst>
                          </a14:hiddenEffects>
                        </a:ext>
                      </a:extLst>
                    </p:spPr>
                  </p:pic>
                </p:oleObj>
              </mc:Fallback>
            </mc:AlternateContent>
          </a:graphicData>
        </a:graphic>
      </p:graphicFrame>
      <p:graphicFrame>
        <p:nvGraphicFramePr>
          <p:cNvPr id="19471" name="Object 15"/>
          <p:cNvGraphicFramePr>
            <a:graphicFrameLocks noChangeAspect="1"/>
          </p:cNvGraphicFramePr>
          <p:nvPr>
            <p:extLst>
              <p:ext uri="{D42A27DB-BD31-4B8C-83A1-F6EECF244321}">
                <p14:modId xmlns:p14="http://schemas.microsoft.com/office/powerpoint/2010/main" val="282917803"/>
              </p:ext>
            </p:extLst>
          </p:nvPr>
        </p:nvGraphicFramePr>
        <p:xfrm>
          <a:off x="1228725" y="2555875"/>
          <a:ext cx="3748088" cy="428625"/>
        </p:xfrm>
        <a:graphic>
          <a:graphicData uri="http://schemas.openxmlformats.org/presentationml/2006/ole">
            <mc:AlternateContent xmlns:mc="http://schemas.openxmlformats.org/markup-compatibility/2006">
              <mc:Choice xmlns:v="urn:schemas-microsoft-com:vml" Requires="v">
                <p:oleObj spid="_x0000_s19497" name="Equation" r:id="rId17" imgW="1765080" imgH="203040" progId="Equation.DSMT4">
                  <p:embed/>
                </p:oleObj>
              </mc:Choice>
              <mc:Fallback>
                <p:oleObj name="Equation" r:id="rId17" imgW="1765080" imgH="203040" progId="Equation.DSMT4">
                  <p:embed/>
                  <p:pic>
                    <p:nvPicPr>
                      <p:cNvPr id="0" name=""/>
                      <p:cNvPicPr>
                        <a:picLocks noChangeAspect="1" noChangeArrowheads="1"/>
                      </p:cNvPicPr>
                      <p:nvPr/>
                    </p:nvPicPr>
                    <p:blipFill>
                      <a:blip r:embed="rId18"/>
                      <a:srcRect/>
                      <a:stretch>
                        <a:fillRect/>
                      </a:stretch>
                    </p:blipFill>
                    <p:spPr bwMode="auto">
                      <a:xfrm>
                        <a:off x="1228725" y="2555875"/>
                        <a:ext cx="3748088"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2265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2005"/>
                                        </p:tgtEl>
                                        <p:attrNameLst>
                                          <p:attrName>style.visibility</p:attrName>
                                        </p:attrNameLst>
                                      </p:cBhvr>
                                      <p:to>
                                        <p:strVal val="visible"/>
                                      </p:to>
                                    </p:set>
                                    <p:animEffect transition="in" filter="wipe(left)">
                                      <p:cBhvr>
                                        <p:cTn id="7" dur="500"/>
                                        <p:tgtEl>
                                          <p:spTgt spid="420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9471"/>
                                        </p:tgtEl>
                                        <p:attrNameLst>
                                          <p:attrName>style.visibility</p:attrName>
                                        </p:attrNameLst>
                                      </p:cBhvr>
                                      <p:to>
                                        <p:strVal val="visible"/>
                                      </p:to>
                                    </p:set>
                                    <p:animEffect transition="in" filter="box(out)">
                                      <p:cBhvr>
                                        <p:cTn id="22" dur="500"/>
                                        <p:tgtEl>
                                          <p:spTgt spid="194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2009"/>
                                        </p:tgtEl>
                                        <p:attrNameLst>
                                          <p:attrName>style.visibility</p:attrName>
                                        </p:attrNameLst>
                                      </p:cBhvr>
                                      <p:to>
                                        <p:strVal val="visible"/>
                                      </p:to>
                                    </p:set>
                                    <p:animEffect transition="in" filter="wipe(left)">
                                      <p:cBhvr>
                                        <p:cTn id="27" dur="500"/>
                                        <p:tgtEl>
                                          <p:spTgt spid="420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1" name="Text Box 3"/>
          <p:cNvSpPr txBox="1">
            <a:spLocks noChangeArrowheads="1"/>
          </p:cNvSpPr>
          <p:nvPr/>
        </p:nvSpPr>
        <p:spPr bwMode="auto">
          <a:xfrm>
            <a:off x="484199" y="2425383"/>
            <a:ext cx="7926871" cy="1261884"/>
          </a:xfrm>
          <a:prstGeom prst="rect">
            <a:avLst/>
          </a:prstGeom>
          <a:noFill/>
          <a:ln w="9525">
            <a:noFill/>
            <a:miter lim="800000"/>
            <a:headEnd/>
            <a:tailEnd/>
          </a:ln>
          <a:effectLst/>
        </p:spPr>
        <p:txBody>
          <a:bodyPr wrap="square">
            <a:spAutoFit/>
          </a:bodyPr>
          <a:lstStyle/>
          <a:p>
            <a:pPr eaLnBrk="1" hangingPunct="1">
              <a:defRPr/>
            </a:pPr>
            <a:r>
              <a:rPr lang="zh-CN" altLang="en-US" b="1" dirty="0">
                <a:solidFill>
                  <a:srgbClr val="0000FF"/>
                </a:solidFill>
                <a:latin typeface="黑体" panose="02010609060101010101" pitchFamily="49" charset="-122"/>
                <a:ea typeface="黑体" panose="02010609060101010101" pitchFamily="49" charset="-122"/>
              </a:rPr>
              <a:t>力的平移定理</a:t>
            </a:r>
            <a:r>
              <a:rPr lang="en-US" altLang="zh-CN" b="1" dirty="0">
                <a:solidFill>
                  <a:srgbClr val="0000FF"/>
                </a:solidFill>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作用在</a:t>
            </a:r>
            <a:r>
              <a:rPr lang="zh-CN" altLang="en-US" b="1" dirty="0">
                <a:solidFill>
                  <a:srgbClr val="FF0000"/>
                </a:solidFill>
                <a:latin typeface="黑体" panose="02010609060101010101" pitchFamily="49" charset="-122"/>
                <a:ea typeface="黑体" panose="02010609060101010101" pitchFamily="49" charset="-122"/>
              </a:rPr>
              <a:t>刚体</a:t>
            </a:r>
            <a:r>
              <a:rPr lang="zh-CN" altLang="en-US" b="1" dirty="0">
                <a:latin typeface="黑体" panose="02010609060101010101" pitchFamily="49" charset="-122"/>
                <a:ea typeface="黑体" panose="02010609060101010101" pitchFamily="49" charset="-122"/>
              </a:rPr>
              <a:t>上某点</a:t>
            </a:r>
            <a:r>
              <a:rPr lang="en-US" altLang="zh-CN" i="1" dirty="0">
                <a:latin typeface="+mn-lt"/>
                <a:ea typeface="黑体" panose="02010609060101010101" pitchFamily="49" charset="-122"/>
              </a:rPr>
              <a:t>A</a:t>
            </a:r>
            <a:r>
              <a:rPr lang="zh-CN" altLang="en-US" b="1" dirty="0">
                <a:latin typeface="黑体" panose="02010609060101010101" pitchFamily="49" charset="-122"/>
                <a:ea typeface="黑体" panose="02010609060101010101" pitchFamily="49" charset="-122"/>
              </a:rPr>
              <a:t>的力</a:t>
            </a:r>
            <a:r>
              <a:rPr lang="en-US" altLang="zh-CN" b="1" i="1" dirty="0">
                <a:latin typeface="+mn-lt"/>
                <a:ea typeface="黑体" panose="02010609060101010101" pitchFamily="49" charset="-122"/>
              </a:rPr>
              <a:t>F</a:t>
            </a:r>
            <a:r>
              <a:rPr lang="zh-CN" altLang="en-US" b="1" dirty="0">
                <a:latin typeface="黑体" panose="02010609060101010101" pitchFamily="49" charset="-122"/>
                <a:ea typeface="黑体" panose="02010609060101010101" pitchFamily="49" charset="-122"/>
              </a:rPr>
              <a:t>可平行移到刚体内任一指定点</a:t>
            </a:r>
            <a:r>
              <a:rPr lang="en-US" altLang="zh-CN" i="1" dirty="0">
                <a:latin typeface="+mn-lt"/>
                <a:ea typeface="黑体" panose="02010609060101010101" pitchFamily="49" charset="-122"/>
              </a:rPr>
              <a:t>B</a:t>
            </a:r>
            <a:r>
              <a:rPr lang="zh-CN" altLang="en-US" b="1" i="1" dirty="0">
                <a:latin typeface="黑体" panose="02010609060101010101" pitchFamily="49" charset="-122"/>
                <a:ea typeface="黑体" panose="02010609060101010101" pitchFamily="49" charset="-122"/>
              </a:rPr>
              <a:t> </a:t>
            </a:r>
            <a:r>
              <a:rPr lang="zh-CN" altLang="en-US" sz="2800" b="1" dirty="0">
                <a:solidFill>
                  <a:srgbClr val="FF3300"/>
                </a:solidFill>
                <a:latin typeface="黑体" panose="02010609060101010101" pitchFamily="49" charset="-122"/>
                <a:ea typeface="黑体" panose="02010609060101010101" pitchFamily="49" charset="-122"/>
                <a:sym typeface="Symbol" pitchFamily="18" charset="2"/>
              </a:rPr>
              <a:t></a:t>
            </a:r>
            <a:r>
              <a:rPr lang="zh-CN" altLang="en-US" sz="2800" b="1" dirty="0">
                <a:solidFill>
                  <a:srgbClr val="FF3300"/>
                </a:solidFill>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等值</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同向的力和一个附加力偶（力与指定点确定的面内），其力偶矩等于力</a:t>
            </a:r>
            <a:r>
              <a:rPr lang="en-US" altLang="zh-CN" b="1" i="1" dirty="0">
                <a:latin typeface="+mn-lt"/>
                <a:ea typeface="黑体" panose="02010609060101010101" pitchFamily="49" charset="-122"/>
              </a:rPr>
              <a:t>F</a:t>
            </a:r>
            <a:r>
              <a:rPr lang="zh-CN" altLang="en-US" b="1" dirty="0">
                <a:latin typeface="黑体" panose="02010609060101010101" pitchFamily="49" charset="-122"/>
                <a:ea typeface="黑体" panose="02010609060101010101" pitchFamily="49" charset="-122"/>
              </a:rPr>
              <a:t>对平移点</a:t>
            </a:r>
            <a:r>
              <a:rPr lang="en-US" altLang="zh-CN" i="1" dirty="0">
                <a:latin typeface="+mn-lt"/>
                <a:ea typeface="黑体" panose="02010609060101010101" pitchFamily="49" charset="-122"/>
              </a:rPr>
              <a:t>B</a:t>
            </a:r>
            <a:r>
              <a:rPr lang="zh-CN" altLang="en-US" b="1" dirty="0">
                <a:latin typeface="黑体" panose="02010609060101010101" pitchFamily="49" charset="-122"/>
                <a:ea typeface="黑体" panose="02010609060101010101" pitchFamily="49" charset="-122"/>
              </a:rPr>
              <a:t>的矩。</a:t>
            </a:r>
          </a:p>
        </p:txBody>
      </p:sp>
      <p:sp>
        <p:nvSpPr>
          <p:cNvPr id="15367" name="Rectangle 26"/>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 name="矩形 10"/>
          <p:cNvSpPr/>
          <p:nvPr/>
        </p:nvSpPr>
        <p:spPr>
          <a:xfrm>
            <a:off x="154038" y="441143"/>
            <a:ext cx="7677102" cy="584775"/>
          </a:xfrm>
          <a:prstGeom prst="rect">
            <a:avLst/>
          </a:prstGeom>
        </p:spPr>
        <p:txBody>
          <a:bodyPr wrap="none">
            <a:spAutoFit/>
          </a:bodyPr>
          <a:lstStyle/>
          <a:p>
            <a:pPr eaLnBrk="1" hangingPunct="1"/>
            <a:r>
              <a:rPr lang="en-US" altLang="zh-CN" sz="3200" b="1" dirty="0">
                <a:latin typeface="宋体" panose="02010600030101010101" pitchFamily="2" charset="-122"/>
              </a:rPr>
              <a:t>§</a:t>
            </a:r>
            <a:r>
              <a:rPr lang="en-US" altLang="zh-CN" sz="3200" b="1" dirty="0"/>
              <a:t>2-3  </a:t>
            </a:r>
            <a:r>
              <a:rPr lang="zh-CN" altLang="en-US" sz="3200" b="1" dirty="0">
                <a:solidFill>
                  <a:srgbClr val="FF0000"/>
                </a:solidFill>
                <a:latin typeface="黑体" panose="02010609060101010101" pitchFamily="49" charset="-122"/>
                <a:ea typeface="黑体" panose="02010609060101010101" pitchFamily="49" charset="-122"/>
              </a:rPr>
              <a:t>空间任意力系的简化</a:t>
            </a:r>
            <a:r>
              <a:rPr lang="zh-CN" altLang="en-US" b="1" dirty="0">
                <a:ea typeface="华文中宋" panose="02010600040101010101" pitchFamily="2" charset="-122"/>
              </a:rPr>
              <a:t>（书</a:t>
            </a:r>
            <a:r>
              <a:rPr lang="en-US" altLang="zh-CN" b="1" dirty="0">
                <a:latin typeface="宋体" panose="02010600030101010101" pitchFamily="2" charset="-122"/>
              </a:rPr>
              <a:t>§</a:t>
            </a:r>
            <a:r>
              <a:rPr lang="en-US" altLang="zh-CN" b="1" dirty="0"/>
              <a:t>3.4</a:t>
            </a:r>
            <a:r>
              <a:rPr lang="zh-CN" altLang="en-US" b="1" dirty="0"/>
              <a:t>和</a:t>
            </a:r>
            <a:r>
              <a:rPr lang="en-US" altLang="zh-CN" b="1" dirty="0">
                <a:latin typeface="宋体" panose="02010600030101010101" pitchFamily="2" charset="-122"/>
              </a:rPr>
              <a:t>§</a:t>
            </a:r>
            <a:r>
              <a:rPr lang="en-US" altLang="zh-CN" b="1" dirty="0"/>
              <a:t>2.3</a:t>
            </a:r>
            <a:r>
              <a:rPr lang="zh-CN" altLang="en-US" b="1" dirty="0">
                <a:ea typeface="华文中宋" panose="02010600040101010101" pitchFamily="2" charset="-122"/>
              </a:rPr>
              <a:t>）</a:t>
            </a:r>
          </a:p>
        </p:txBody>
      </p:sp>
      <p:sp>
        <p:nvSpPr>
          <p:cNvPr id="12" name="Text Box 5"/>
          <p:cNvSpPr txBox="1">
            <a:spLocks noChangeArrowheads="1"/>
          </p:cNvSpPr>
          <p:nvPr/>
        </p:nvSpPr>
        <p:spPr bwMode="auto">
          <a:xfrm>
            <a:off x="484199" y="1610827"/>
            <a:ext cx="5673702"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1</a:t>
            </a:r>
            <a:r>
              <a:rPr kumimoji="1" lang="zh-CN" altLang="en-US" sz="2800" b="1" dirty="0">
                <a:solidFill>
                  <a:srgbClr val="0000FF"/>
                </a:solidFill>
                <a:latin typeface="黑体" panose="02010609060101010101" pitchFamily="49" charset="-122"/>
                <a:ea typeface="黑体" panose="02010609060101010101" pitchFamily="49" charset="-122"/>
              </a:rPr>
              <a:t>．力的平移定理</a:t>
            </a:r>
            <a:endParaRPr kumimoji="1" lang="en-US" altLang="zh-CN" sz="2800" b="1" dirty="0">
              <a:solidFill>
                <a:srgbClr val="0000FF"/>
              </a:solidFill>
              <a:latin typeface="黑体" panose="02010609060101010101" pitchFamily="49" charset="-122"/>
              <a:ea typeface="黑体" panose="02010609060101010101" pitchFamily="49" charset="-122"/>
            </a:endParaRPr>
          </a:p>
          <a:p>
            <a:pPr eaLnBrk="1" hangingPunct="1"/>
            <a:r>
              <a:rPr kumimoji="0" lang="en-US" altLang="zh-CN" sz="1800" dirty="0">
                <a:latin typeface="+mn-lt"/>
              </a:rPr>
              <a:t>The theorem of translation of a force to a parallel position</a:t>
            </a:r>
            <a:endParaRPr lang="en-US" altLang="zh-CN" sz="1800" b="1" dirty="0">
              <a:latin typeface="+mn-lt"/>
              <a:ea typeface="华文中宋" panose="02010600040101010101" pitchFamily="2" charset="-122"/>
            </a:endParaRPr>
          </a:p>
        </p:txBody>
      </p:sp>
      <p:sp>
        <p:nvSpPr>
          <p:cNvPr id="13" name="Text Box 40"/>
          <p:cNvSpPr txBox="1">
            <a:spLocks noChangeArrowheads="1"/>
          </p:cNvSpPr>
          <p:nvPr/>
        </p:nvSpPr>
        <p:spPr bwMode="auto">
          <a:xfrm>
            <a:off x="1903207" y="1052382"/>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spcBef>
                <a:spcPct val="50000"/>
              </a:spcBef>
            </a:pPr>
            <a:r>
              <a:rPr lang="zh-CN" altLang="en-US" b="1" dirty="0">
                <a:latin typeface="黑体" panose="02010609060101010101" pitchFamily="49" charset="-122"/>
                <a:ea typeface="黑体" panose="02010609060101010101" pitchFamily="49" charset="-122"/>
              </a:rPr>
              <a:t>复杂力系</a:t>
            </a:r>
          </a:p>
        </p:txBody>
      </p:sp>
      <p:sp>
        <p:nvSpPr>
          <p:cNvPr id="14" name="AutoShape 41"/>
          <p:cNvSpPr>
            <a:spLocks noChangeArrowheads="1"/>
          </p:cNvSpPr>
          <p:nvPr/>
        </p:nvSpPr>
        <p:spPr bwMode="auto">
          <a:xfrm>
            <a:off x="3732007" y="1204782"/>
            <a:ext cx="1219200" cy="152400"/>
          </a:xfrm>
          <a:prstGeom prst="rightArrow">
            <a:avLst>
              <a:gd name="adj1" fmla="val 50000"/>
              <a:gd name="adj2" fmla="val 200000"/>
            </a:avLst>
          </a:prstGeom>
          <a:solidFill>
            <a:schemeClr val="tx2"/>
          </a:solidFill>
          <a:ln w="9525">
            <a:solidFill>
              <a:srgbClr val="FF0000"/>
            </a:solidFill>
            <a:miter lim="800000"/>
            <a:headEnd/>
            <a:tailEnd type="none" w="sm" len="sm"/>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15" name="Text Box 42"/>
          <p:cNvSpPr txBox="1">
            <a:spLocks noChangeArrowheads="1"/>
          </p:cNvSpPr>
          <p:nvPr/>
        </p:nvSpPr>
        <p:spPr bwMode="auto">
          <a:xfrm>
            <a:off x="5027407" y="1033856"/>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spcBef>
                <a:spcPct val="50000"/>
              </a:spcBef>
            </a:pPr>
            <a:r>
              <a:rPr lang="zh-CN" altLang="en-US" b="1" dirty="0">
                <a:latin typeface="黑体" panose="02010609060101010101" pitchFamily="49" charset="-122"/>
                <a:ea typeface="黑体" panose="02010609060101010101" pitchFamily="49" charset="-122"/>
              </a:rPr>
              <a:t>简单力系</a:t>
            </a:r>
          </a:p>
        </p:txBody>
      </p:sp>
      <p:sp>
        <p:nvSpPr>
          <p:cNvPr id="16" name="Text Box 43"/>
          <p:cNvSpPr txBox="1">
            <a:spLocks noChangeArrowheads="1"/>
          </p:cNvSpPr>
          <p:nvPr/>
        </p:nvSpPr>
        <p:spPr bwMode="auto">
          <a:xfrm>
            <a:off x="3582782" y="1250920"/>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spcBef>
                <a:spcPct val="50000"/>
              </a:spcBef>
            </a:pPr>
            <a:r>
              <a:rPr lang="zh-CN" altLang="en-US" b="1" dirty="0">
                <a:solidFill>
                  <a:srgbClr val="FF0000"/>
                </a:solidFill>
                <a:latin typeface="楷体" panose="02010609060101010101" pitchFamily="49" charset="-122"/>
                <a:ea typeface="楷体" panose="02010609060101010101" pitchFamily="49" charset="-122"/>
              </a:rPr>
              <a:t>等效</a:t>
            </a:r>
          </a:p>
        </p:txBody>
      </p:sp>
      <p:graphicFrame>
        <p:nvGraphicFramePr>
          <p:cNvPr id="17" name="Object 25"/>
          <p:cNvGraphicFramePr>
            <a:graphicFrameLocks noChangeAspect="1"/>
          </p:cNvGraphicFramePr>
          <p:nvPr>
            <p:extLst>
              <p:ext uri="{D42A27DB-BD31-4B8C-83A1-F6EECF244321}">
                <p14:modId xmlns:p14="http://schemas.microsoft.com/office/powerpoint/2010/main" val="684277473"/>
              </p:ext>
            </p:extLst>
          </p:nvPr>
        </p:nvGraphicFramePr>
        <p:xfrm>
          <a:off x="1808163" y="5856288"/>
          <a:ext cx="1614487" cy="555625"/>
        </p:xfrm>
        <a:graphic>
          <a:graphicData uri="http://schemas.openxmlformats.org/presentationml/2006/ole">
            <mc:AlternateContent xmlns:mc="http://schemas.openxmlformats.org/markup-compatibility/2006">
              <mc:Choice xmlns:v="urn:schemas-microsoft-com:vml" Requires="v">
                <p:oleObj spid="_x0000_s20490" name="Equation" r:id="rId3" imgW="825480" imgH="228600" progId="Equation.DSMT4">
                  <p:embed/>
                </p:oleObj>
              </mc:Choice>
              <mc:Fallback>
                <p:oleObj name="Equation" r:id="rId3" imgW="825480" imgH="228600" progId="Equation.DSMT4">
                  <p:embed/>
                  <p:pic>
                    <p:nvPicPr>
                      <p:cNvPr id="0" name=""/>
                      <p:cNvPicPr>
                        <a:picLocks noChangeAspect="1" noChangeArrowheads="1"/>
                      </p:cNvPicPr>
                      <p:nvPr/>
                    </p:nvPicPr>
                    <p:blipFill>
                      <a:blip r:embed="rId4"/>
                      <a:srcRect/>
                      <a:stretch>
                        <a:fillRect/>
                      </a:stretch>
                    </p:blipFill>
                    <p:spPr bwMode="auto">
                      <a:xfrm>
                        <a:off x="1808163" y="5856288"/>
                        <a:ext cx="1614487" cy="555625"/>
                      </a:xfrm>
                      <a:prstGeom prst="rect">
                        <a:avLst/>
                      </a:prstGeom>
                      <a:noFill/>
                      <a:ln>
                        <a:noFill/>
                      </a:ln>
                    </p:spPr>
                  </p:pic>
                </p:oleObj>
              </mc:Fallback>
            </mc:AlternateContent>
          </a:graphicData>
        </a:graphic>
      </p:graphicFrame>
      <p:grpSp>
        <p:nvGrpSpPr>
          <p:cNvPr id="18" name="Group 5"/>
          <p:cNvGrpSpPr>
            <a:grpSpLocks/>
          </p:cNvGrpSpPr>
          <p:nvPr/>
        </p:nvGrpSpPr>
        <p:grpSpPr bwMode="auto">
          <a:xfrm>
            <a:off x="501239" y="4129808"/>
            <a:ext cx="2211388" cy="1447800"/>
            <a:chOff x="856" y="672"/>
            <a:chExt cx="1393" cy="912"/>
          </a:xfrm>
        </p:grpSpPr>
        <p:sp>
          <p:nvSpPr>
            <p:cNvPr id="19" name="Oval 6"/>
            <p:cNvSpPr>
              <a:spLocks noChangeArrowheads="1"/>
            </p:cNvSpPr>
            <p:nvPr/>
          </p:nvSpPr>
          <p:spPr bwMode="auto">
            <a:xfrm rot="-1112442">
              <a:off x="856" y="672"/>
              <a:ext cx="1393" cy="912"/>
            </a:xfrm>
            <a:prstGeom prst="ellipse">
              <a:avLst/>
            </a:prstGeom>
            <a:solidFill>
              <a:srgbClr val="00CC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8"/>
            <p:cNvSpPr>
              <a:spLocks noChangeAspect="1" noChangeShapeType="1"/>
            </p:cNvSpPr>
            <p:nvPr/>
          </p:nvSpPr>
          <p:spPr bwMode="auto">
            <a:xfrm flipV="1">
              <a:off x="1133" y="800"/>
              <a:ext cx="128" cy="5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9"/>
            <p:cNvSpPr>
              <a:spLocks noChangeArrowheads="1"/>
            </p:cNvSpPr>
            <p:nvPr/>
          </p:nvSpPr>
          <p:spPr bwMode="auto">
            <a:xfrm>
              <a:off x="1095" y="1344"/>
              <a:ext cx="79"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10"/>
            <p:cNvSpPr txBox="1">
              <a:spLocks noChangeArrowheads="1"/>
            </p:cNvSpPr>
            <p:nvPr/>
          </p:nvSpPr>
          <p:spPr bwMode="auto">
            <a:xfrm>
              <a:off x="1274" y="706"/>
              <a:ext cx="3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i="1" dirty="0">
                  <a:solidFill>
                    <a:srgbClr val="FF0000"/>
                  </a:solidFill>
                  <a:latin typeface="Times New Roman" panose="02020603050405020304" pitchFamily="18" charset="0"/>
                </a:rPr>
                <a:t>F</a:t>
              </a:r>
              <a:endParaRPr kumimoji="1" lang="en-US" altLang="zh-CN" dirty="0">
                <a:solidFill>
                  <a:srgbClr val="FF0000"/>
                </a:solidFill>
                <a:latin typeface="Times New Roman" panose="02020603050405020304" pitchFamily="18" charset="0"/>
              </a:endParaRPr>
            </a:p>
          </p:txBody>
        </p:sp>
        <p:sp>
          <p:nvSpPr>
            <p:cNvPr id="24" name="Text Box 11"/>
            <p:cNvSpPr txBox="1">
              <a:spLocks noChangeArrowheads="1"/>
            </p:cNvSpPr>
            <p:nvPr/>
          </p:nvSpPr>
          <p:spPr bwMode="auto">
            <a:xfrm>
              <a:off x="936" y="1128"/>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A</a:t>
              </a:r>
            </a:p>
          </p:txBody>
        </p:sp>
        <p:sp>
          <p:nvSpPr>
            <p:cNvPr id="25" name="Oval 12"/>
            <p:cNvSpPr>
              <a:spLocks noChangeArrowheads="1"/>
            </p:cNvSpPr>
            <p:nvPr/>
          </p:nvSpPr>
          <p:spPr bwMode="auto">
            <a:xfrm>
              <a:off x="1970" y="816"/>
              <a:ext cx="80"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Text Box 13"/>
            <p:cNvSpPr txBox="1">
              <a:spLocks noChangeArrowheads="1"/>
            </p:cNvSpPr>
            <p:nvPr/>
          </p:nvSpPr>
          <p:spPr bwMode="auto">
            <a:xfrm>
              <a:off x="1975" y="864"/>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B</a:t>
              </a:r>
            </a:p>
          </p:txBody>
        </p:sp>
      </p:grpSp>
      <p:sp>
        <p:nvSpPr>
          <p:cNvPr id="27" name="Text Box 37"/>
          <p:cNvSpPr txBox="1">
            <a:spLocks noChangeArrowheads="1"/>
          </p:cNvSpPr>
          <p:nvPr/>
        </p:nvSpPr>
        <p:spPr bwMode="auto">
          <a:xfrm>
            <a:off x="2747942" y="4485659"/>
            <a:ext cx="7096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dirty="0">
                <a:solidFill>
                  <a:schemeClr val="accent2"/>
                </a:solidFill>
                <a:latin typeface="Times New Roman" panose="02020603050405020304" pitchFamily="18" charset="0"/>
                <a:sym typeface="Symbol" panose="05050102010706020507" pitchFamily="18" charset="2"/>
              </a:rPr>
              <a:t></a:t>
            </a:r>
            <a:r>
              <a:rPr kumimoji="1" lang="en-US" altLang="zh-CN" sz="3200" b="1" dirty="0">
                <a:solidFill>
                  <a:schemeClr val="accent2"/>
                </a:solidFill>
                <a:effectLst>
                  <a:outerShdw blurRad="38100" dist="38100" dir="2700000" algn="tl">
                    <a:srgbClr val="C0C0C0"/>
                  </a:outerShdw>
                </a:effectLst>
                <a:latin typeface="Times New Roman" panose="02020603050405020304" pitchFamily="18" charset="0"/>
                <a:sym typeface="Symbol" panose="05050102010706020507" pitchFamily="18" charset="2"/>
              </a:rPr>
              <a:t> </a:t>
            </a:r>
            <a:endParaRPr kumimoji="1" lang="en-US" altLang="zh-CN" sz="3200" dirty="0">
              <a:effectLst>
                <a:outerShdw blurRad="38100" dist="38100" dir="2700000" algn="tl">
                  <a:srgbClr val="C0C0C0"/>
                </a:outerShdw>
              </a:effectLst>
              <a:latin typeface="Times New Roman" panose="02020603050405020304" pitchFamily="18" charset="0"/>
            </a:endParaRPr>
          </a:p>
        </p:txBody>
      </p:sp>
      <p:grpSp>
        <p:nvGrpSpPr>
          <p:cNvPr id="28" name="Group 56"/>
          <p:cNvGrpSpPr>
            <a:grpSpLocks/>
          </p:cNvGrpSpPr>
          <p:nvPr/>
        </p:nvGrpSpPr>
        <p:grpSpPr bwMode="auto">
          <a:xfrm>
            <a:off x="3395997" y="3629482"/>
            <a:ext cx="2578100" cy="2257426"/>
            <a:chOff x="1268" y="2319"/>
            <a:chExt cx="1624" cy="1422"/>
          </a:xfrm>
        </p:grpSpPr>
        <p:sp>
          <p:nvSpPr>
            <p:cNvPr id="29" name="Oval 25"/>
            <p:cNvSpPr>
              <a:spLocks noChangeArrowheads="1"/>
            </p:cNvSpPr>
            <p:nvPr/>
          </p:nvSpPr>
          <p:spPr bwMode="auto">
            <a:xfrm rot="-1112442">
              <a:off x="1268" y="2706"/>
              <a:ext cx="1393" cy="912"/>
            </a:xfrm>
            <a:prstGeom prst="ellipse">
              <a:avLst/>
            </a:prstGeom>
            <a:solidFill>
              <a:srgbClr val="00CC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7"/>
            <p:cNvSpPr>
              <a:spLocks noChangeAspect="1" noChangeShapeType="1"/>
            </p:cNvSpPr>
            <p:nvPr/>
          </p:nvSpPr>
          <p:spPr bwMode="auto">
            <a:xfrm flipV="1">
              <a:off x="1545" y="2820"/>
              <a:ext cx="128" cy="5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Oval 28"/>
            <p:cNvSpPr>
              <a:spLocks noChangeArrowheads="1"/>
            </p:cNvSpPr>
            <p:nvPr/>
          </p:nvSpPr>
          <p:spPr bwMode="auto">
            <a:xfrm>
              <a:off x="1507" y="3378"/>
              <a:ext cx="79"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29"/>
            <p:cNvSpPr txBox="1">
              <a:spLocks noChangeArrowheads="1"/>
            </p:cNvSpPr>
            <p:nvPr/>
          </p:nvSpPr>
          <p:spPr bwMode="auto">
            <a:xfrm>
              <a:off x="1669" y="2790"/>
              <a:ext cx="3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i="1" dirty="0">
                  <a:solidFill>
                    <a:srgbClr val="FF0000"/>
                  </a:solidFill>
                  <a:latin typeface="Times New Roman" panose="02020603050405020304" pitchFamily="18" charset="0"/>
                </a:rPr>
                <a:t>F</a:t>
              </a:r>
              <a:endParaRPr kumimoji="1" lang="en-US" altLang="zh-CN" dirty="0">
                <a:solidFill>
                  <a:srgbClr val="FF0000"/>
                </a:solidFill>
                <a:latin typeface="Times New Roman" panose="02020603050405020304" pitchFamily="18" charset="0"/>
              </a:endParaRPr>
            </a:p>
          </p:txBody>
        </p:sp>
        <p:sp>
          <p:nvSpPr>
            <p:cNvPr id="34" name="Text Box 30"/>
            <p:cNvSpPr txBox="1">
              <a:spLocks noChangeArrowheads="1"/>
            </p:cNvSpPr>
            <p:nvPr/>
          </p:nvSpPr>
          <p:spPr bwMode="auto">
            <a:xfrm>
              <a:off x="1330" y="3168"/>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A</a:t>
              </a:r>
            </a:p>
          </p:txBody>
        </p:sp>
        <p:sp>
          <p:nvSpPr>
            <p:cNvPr id="35" name="Oval 31"/>
            <p:cNvSpPr>
              <a:spLocks noChangeArrowheads="1"/>
            </p:cNvSpPr>
            <p:nvPr/>
          </p:nvSpPr>
          <p:spPr bwMode="auto">
            <a:xfrm>
              <a:off x="2382" y="2850"/>
              <a:ext cx="80"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Text Box 32"/>
            <p:cNvSpPr txBox="1">
              <a:spLocks noChangeArrowheads="1"/>
            </p:cNvSpPr>
            <p:nvPr/>
          </p:nvSpPr>
          <p:spPr bwMode="auto">
            <a:xfrm>
              <a:off x="2385" y="2895"/>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B</a:t>
              </a:r>
            </a:p>
          </p:txBody>
        </p:sp>
        <p:sp>
          <p:nvSpPr>
            <p:cNvPr id="37" name="Line 33"/>
            <p:cNvSpPr>
              <a:spLocks noChangeAspect="1" noChangeShapeType="1"/>
            </p:cNvSpPr>
            <p:nvPr/>
          </p:nvSpPr>
          <p:spPr bwMode="auto">
            <a:xfrm flipV="1">
              <a:off x="2422" y="2322"/>
              <a:ext cx="126" cy="573"/>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4"/>
            <p:cNvSpPr>
              <a:spLocks noChangeAspect="1" noChangeShapeType="1"/>
            </p:cNvSpPr>
            <p:nvPr/>
          </p:nvSpPr>
          <p:spPr bwMode="auto">
            <a:xfrm flipV="1">
              <a:off x="2284" y="2923"/>
              <a:ext cx="128" cy="580"/>
            </a:xfrm>
            <a:prstGeom prst="line">
              <a:avLst/>
            </a:prstGeom>
            <a:noFill/>
            <a:ln w="3810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35"/>
            <p:cNvSpPr txBox="1">
              <a:spLocks noChangeArrowheads="1"/>
            </p:cNvSpPr>
            <p:nvPr/>
          </p:nvSpPr>
          <p:spPr bwMode="auto">
            <a:xfrm>
              <a:off x="2508" y="2319"/>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i="1" dirty="0">
                  <a:solidFill>
                    <a:schemeClr val="accent2"/>
                  </a:solidFill>
                  <a:latin typeface="Times New Roman" panose="02020603050405020304" pitchFamily="18" charset="0"/>
                </a:rPr>
                <a:t>F</a:t>
              </a:r>
              <a:r>
                <a:rPr kumimoji="1" lang="en-US" altLang="zh-CN" b="1" i="1" dirty="0">
                  <a:solidFill>
                    <a:schemeClr val="accent2"/>
                  </a:solidFill>
                  <a:latin typeface="Times New Roman" panose="02020603050405020304" pitchFamily="18" charset="0"/>
                  <a:sym typeface="Symbol" panose="05050102010706020507" pitchFamily="18" charset="2"/>
                </a:rPr>
                <a:t></a:t>
              </a:r>
              <a:endParaRPr kumimoji="1" lang="en-US" altLang="zh-CN" dirty="0">
                <a:solidFill>
                  <a:schemeClr val="accent2"/>
                </a:solidFill>
                <a:latin typeface="Times New Roman" panose="02020603050405020304" pitchFamily="18" charset="0"/>
              </a:endParaRPr>
            </a:p>
          </p:txBody>
        </p:sp>
        <p:sp>
          <p:nvSpPr>
            <p:cNvPr id="40" name="Text Box 36"/>
            <p:cNvSpPr txBox="1">
              <a:spLocks noChangeArrowheads="1"/>
            </p:cNvSpPr>
            <p:nvPr/>
          </p:nvSpPr>
          <p:spPr bwMode="auto">
            <a:xfrm>
              <a:off x="2308" y="3450"/>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i="1" dirty="0">
                  <a:solidFill>
                    <a:schemeClr val="accent2"/>
                  </a:solidFill>
                  <a:latin typeface="Times New Roman" panose="02020603050405020304" pitchFamily="18" charset="0"/>
                </a:rPr>
                <a:t>F</a:t>
              </a:r>
              <a:r>
                <a:rPr kumimoji="1" lang="en-US" altLang="zh-CN" b="1" i="1" dirty="0">
                  <a:solidFill>
                    <a:schemeClr val="accent2"/>
                  </a:solidFill>
                  <a:latin typeface="Times New Roman" panose="02020603050405020304" pitchFamily="18" charset="0"/>
                  <a:sym typeface="Symbol" panose="05050102010706020507" pitchFamily="18" charset="2"/>
                </a:rPr>
                <a:t></a:t>
              </a:r>
              <a:endParaRPr kumimoji="1" lang="en-US" altLang="zh-CN" dirty="0">
                <a:solidFill>
                  <a:schemeClr val="accent2"/>
                </a:solidFill>
                <a:latin typeface="Times New Roman" panose="02020603050405020304" pitchFamily="18" charset="0"/>
              </a:endParaRPr>
            </a:p>
          </p:txBody>
        </p:sp>
      </p:grpSp>
      <p:sp>
        <p:nvSpPr>
          <p:cNvPr id="42" name="Text Box 37"/>
          <p:cNvSpPr txBox="1">
            <a:spLocks noChangeArrowheads="1"/>
          </p:cNvSpPr>
          <p:nvPr/>
        </p:nvSpPr>
        <p:spPr bwMode="auto">
          <a:xfrm>
            <a:off x="5651745" y="4529246"/>
            <a:ext cx="7096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dirty="0">
                <a:solidFill>
                  <a:schemeClr val="accent2"/>
                </a:solidFill>
                <a:latin typeface="Times New Roman" panose="02020603050405020304" pitchFamily="18" charset="0"/>
                <a:sym typeface="Symbol" panose="05050102010706020507" pitchFamily="18" charset="2"/>
              </a:rPr>
              <a:t></a:t>
            </a:r>
            <a:r>
              <a:rPr kumimoji="1" lang="en-US" altLang="zh-CN" sz="3200" b="1" dirty="0">
                <a:solidFill>
                  <a:schemeClr val="accent2"/>
                </a:solidFill>
                <a:effectLst>
                  <a:outerShdw blurRad="38100" dist="38100" dir="2700000" algn="tl">
                    <a:srgbClr val="C0C0C0"/>
                  </a:outerShdw>
                </a:effectLst>
                <a:latin typeface="Times New Roman" panose="02020603050405020304" pitchFamily="18" charset="0"/>
                <a:sym typeface="Symbol" panose="05050102010706020507" pitchFamily="18" charset="2"/>
              </a:rPr>
              <a:t> </a:t>
            </a:r>
            <a:endParaRPr kumimoji="1" lang="en-US" altLang="zh-CN" sz="3200" dirty="0">
              <a:effectLst>
                <a:outerShdw blurRad="38100" dist="38100" dir="2700000" algn="tl">
                  <a:srgbClr val="C0C0C0"/>
                </a:outerShdw>
              </a:effectLst>
              <a:latin typeface="Times New Roman" panose="02020603050405020304" pitchFamily="18" charset="0"/>
            </a:endParaRPr>
          </a:p>
        </p:txBody>
      </p:sp>
      <p:grpSp>
        <p:nvGrpSpPr>
          <p:cNvPr id="43" name="Group 41"/>
          <p:cNvGrpSpPr>
            <a:grpSpLocks/>
          </p:cNvGrpSpPr>
          <p:nvPr/>
        </p:nvGrpSpPr>
        <p:grpSpPr bwMode="auto">
          <a:xfrm>
            <a:off x="6222477" y="3647781"/>
            <a:ext cx="2727325" cy="2071688"/>
            <a:chOff x="3684" y="1959"/>
            <a:chExt cx="1718" cy="1305"/>
          </a:xfrm>
        </p:grpSpPr>
        <p:sp>
          <p:nvSpPr>
            <p:cNvPr id="44" name="Oval 42"/>
            <p:cNvSpPr>
              <a:spLocks noChangeArrowheads="1"/>
            </p:cNvSpPr>
            <p:nvPr/>
          </p:nvSpPr>
          <p:spPr bwMode="auto">
            <a:xfrm rot="-1112442">
              <a:off x="3724" y="2352"/>
              <a:ext cx="1393" cy="912"/>
            </a:xfrm>
            <a:prstGeom prst="ellipse">
              <a:avLst/>
            </a:prstGeom>
            <a:solidFill>
              <a:srgbClr val="00CC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p:nvSpPr>
          <p:spPr bwMode="auto">
            <a:xfrm flipV="1">
              <a:off x="3684" y="2304"/>
              <a:ext cx="1632" cy="96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Aspect="1" noChangeShapeType="1"/>
            </p:cNvSpPr>
            <p:nvPr/>
          </p:nvSpPr>
          <p:spPr bwMode="auto">
            <a:xfrm flipV="1">
              <a:off x="4878" y="1959"/>
              <a:ext cx="128" cy="58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Oval 45"/>
            <p:cNvSpPr>
              <a:spLocks noChangeArrowheads="1"/>
            </p:cNvSpPr>
            <p:nvPr/>
          </p:nvSpPr>
          <p:spPr bwMode="auto">
            <a:xfrm>
              <a:off x="3963" y="3024"/>
              <a:ext cx="79"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46"/>
            <p:cNvSpPr txBox="1">
              <a:spLocks noChangeArrowheads="1"/>
            </p:cNvSpPr>
            <p:nvPr/>
          </p:nvSpPr>
          <p:spPr bwMode="auto">
            <a:xfrm>
              <a:off x="4988" y="1992"/>
              <a:ext cx="4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i="1" dirty="0">
                  <a:solidFill>
                    <a:schemeClr val="accent2"/>
                  </a:solidFill>
                  <a:latin typeface="Times New Roman" panose="02020603050405020304" pitchFamily="18" charset="0"/>
                </a:rPr>
                <a:t>F</a:t>
              </a:r>
              <a:r>
                <a:rPr kumimoji="1" lang="en-US" altLang="zh-CN" b="1" i="1" dirty="0">
                  <a:solidFill>
                    <a:schemeClr val="accent2"/>
                  </a:solidFill>
                  <a:latin typeface="Times New Roman" panose="02020603050405020304" pitchFamily="18" charset="0"/>
                  <a:sym typeface="Symbol" panose="05050102010706020507" pitchFamily="18" charset="2"/>
                </a:rPr>
                <a:t></a:t>
              </a:r>
              <a:endParaRPr kumimoji="1" lang="en-US" altLang="zh-CN" dirty="0">
                <a:solidFill>
                  <a:schemeClr val="accent2"/>
                </a:solidFill>
                <a:latin typeface="Times New Roman" panose="02020603050405020304" pitchFamily="18" charset="0"/>
              </a:endParaRPr>
            </a:p>
          </p:txBody>
        </p:sp>
        <p:sp>
          <p:nvSpPr>
            <p:cNvPr id="49" name="Text Box 47"/>
            <p:cNvSpPr txBox="1">
              <a:spLocks noChangeArrowheads="1"/>
            </p:cNvSpPr>
            <p:nvPr/>
          </p:nvSpPr>
          <p:spPr bwMode="auto">
            <a:xfrm>
              <a:off x="3786" y="2804"/>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A</a:t>
              </a:r>
            </a:p>
          </p:txBody>
        </p:sp>
        <p:sp>
          <p:nvSpPr>
            <p:cNvPr id="50" name="Oval 48"/>
            <p:cNvSpPr>
              <a:spLocks noChangeArrowheads="1"/>
            </p:cNvSpPr>
            <p:nvPr/>
          </p:nvSpPr>
          <p:spPr bwMode="auto">
            <a:xfrm>
              <a:off x="4838" y="2496"/>
              <a:ext cx="80"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49"/>
            <p:cNvSpPr txBox="1">
              <a:spLocks noChangeArrowheads="1"/>
            </p:cNvSpPr>
            <p:nvPr/>
          </p:nvSpPr>
          <p:spPr bwMode="auto">
            <a:xfrm>
              <a:off x="4799" y="2623"/>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B</a:t>
              </a:r>
            </a:p>
          </p:txBody>
        </p:sp>
        <p:sp>
          <p:nvSpPr>
            <p:cNvPr id="53" name="Text Box 51"/>
            <p:cNvSpPr txBox="1">
              <a:spLocks noChangeArrowheads="1"/>
            </p:cNvSpPr>
            <p:nvPr/>
          </p:nvSpPr>
          <p:spPr bwMode="auto">
            <a:xfrm>
              <a:off x="4540" y="2304"/>
              <a:ext cx="27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solidFill>
                    <a:srgbClr val="0000FF"/>
                  </a:solidFill>
                  <a:latin typeface="Times New Roman" panose="02020603050405020304" pitchFamily="18" charset="0"/>
                </a:rPr>
                <a:t>M</a:t>
              </a:r>
              <a:endParaRPr kumimoji="1" lang="en-US" altLang="zh-CN" b="1" i="1" dirty="0">
                <a:solidFill>
                  <a:srgbClr val="0000FF"/>
                </a:solidFill>
                <a:latin typeface="Times New Roman" panose="02020603050405020304" pitchFamily="18" charset="0"/>
              </a:endParaRPr>
            </a:p>
          </p:txBody>
        </p:sp>
        <p:sp>
          <p:nvSpPr>
            <p:cNvPr id="54" name="Line 52"/>
            <p:cNvSpPr>
              <a:spLocks noChangeShapeType="1"/>
            </p:cNvSpPr>
            <p:nvPr/>
          </p:nvSpPr>
          <p:spPr bwMode="auto">
            <a:xfrm flipH="1">
              <a:off x="4032" y="2544"/>
              <a:ext cx="864" cy="528"/>
            </a:xfrm>
            <a:prstGeom prst="line">
              <a:avLst/>
            </a:prstGeom>
            <a:noFill/>
            <a:ln w="349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Text Box 53"/>
            <p:cNvSpPr txBox="1">
              <a:spLocks noChangeArrowheads="1"/>
            </p:cNvSpPr>
            <p:nvPr/>
          </p:nvSpPr>
          <p:spPr bwMode="auto">
            <a:xfrm>
              <a:off x="4068" y="2563"/>
              <a:ext cx="36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i="1" dirty="0" err="1">
                  <a:solidFill>
                    <a:srgbClr val="FF0000"/>
                  </a:solidFill>
                  <a:latin typeface="Times New Roman" panose="02020603050405020304" pitchFamily="18" charset="0"/>
                </a:rPr>
                <a:t>r</a:t>
              </a:r>
              <a:r>
                <a:rPr kumimoji="1" lang="en-US" altLang="zh-CN" sz="1400" b="1" i="1" dirty="0" err="1">
                  <a:solidFill>
                    <a:srgbClr val="FF0000"/>
                  </a:solidFill>
                  <a:latin typeface="Times New Roman" panose="02020603050405020304" pitchFamily="18" charset="0"/>
                </a:rPr>
                <a:t>BA</a:t>
              </a:r>
              <a:endParaRPr kumimoji="1" lang="en-US" altLang="zh-CN" sz="3200" b="1" i="1" dirty="0">
                <a:latin typeface="Times New Roman" panose="02020603050405020304" pitchFamily="18" charset="0"/>
              </a:endParaRPr>
            </a:p>
          </p:txBody>
        </p:sp>
        <p:sp>
          <p:nvSpPr>
            <p:cNvPr id="52" name="Arc 50"/>
            <p:cNvSpPr>
              <a:spLocks/>
            </p:cNvSpPr>
            <p:nvPr/>
          </p:nvSpPr>
          <p:spPr bwMode="auto">
            <a:xfrm flipH="1" flipV="1">
              <a:off x="4530" y="2448"/>
              <a:ext cx="288" cy="4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1750">
              <a:solidFill>
                <a:srgbClr val="0000FF"/>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56" name="Object 25"/>
          <p:cNvGraphicFramePr>
            <a:graphicFrameLocks noChangeAspect="1"/>
          </p:cNvGraphicFramePr>
          <p:nvPr>
            <p:extLst>
              <p:ext uri="{D42A27DB-BD31-4B8C-83A1-F6EECF244321}">
                <p14:modId xmlns:p14="http://schemas.microsoft.com/office/powerpoint/2010/main" val="837280006"/>
              </p:ext>
            </p:extLst>
          </p:nvPr>
        </p:nvGraphicFramePr>
        <p:xfrm>
          <a:off x="3418077" y="5854700"/>
          <a:ext cx="1292225" cy="557213"/>
        </p:xfrm>
        <a:graphic>
          <a:graphicData uri="http://schemas.openxmlformats.org/presentationml/2006/ole">
            <mc:AlternateContent xmlns:mc="http://schemas.openxmlformats.org/markup-compatibility/2006">
              <mc:Choice xmlns:v="urn:schemas-microsoft-com:vml" Requires="v">
                <p:oleObj spid="_x0000_s20491" name="Equation" r:id="rId5" imgW="660240" imgH="228600" progId="Equation.DSMT4">
                  <p:embed/>
                </p:oleObj>
              </mc:Choice>
              <mc:Fallback>
                <p:oleObj name="Equation" r:id="rId5" imgW="660240" imgH="228600" progId="Equation.DSMT4">
                  <p:embed/>
                  <p:pic>
                    <p:nvPicPr>
                      <p:cNvPr id="0" name=""/>
                      <p:cNvPicPr>
                        <a:picLocks noChangeAspect="1" noChangeArrowheads="1"/>
                      </p:cNvPicPr>
                      <p:nvPr/>
                    </p:nvPicPr>
                    <p:blipFill>
                      <a:blip r:embed="rId6"/>
                      <a:srcRect/>
                      <a:stretch>
                        <a:fillRect/>
                      </a:stretch>
                    </p:blipFill>
                    <p:spPr bwMode="auto">
                      <a:xfrm>
                        <a:off x="3418077" y="5854700"/>
                        <a:ext cx="1292225" cy="557213"/>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slide(fromBottom)">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32"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circle(out)">
                                      <p:cBhvr>
                                        <p:cTn id="27" dur="500"/>
                                        <p:tgtEl>
                                          <p:spTgt spid="12">
                                            <p:txEl>
                                              <p:pRg st="0" end="0"/>
                                            </p:txEl>
                                          </p:spTgt>
                                        </p:tgtEl>
                                      </p:cBhvr>
                                    </p:animEffect>
                                  </p:childTnLst>
                                </p:cTn>
                              </p:par>
                              <p:par>
                                <p:cTn id="28" presetID="6" presetClass="entr" presetSubtype="32" fill="hold" nodeType="withEffect">
                                  <p:stCondLst>
                                    <p:cond delay="0"/>
                                  </p:stCondLst>
                                  <p:childTnLst>
                                    <p:set>
                                      <p:cBhvr>
                                        <p:cTn id="29" dur="1" fill="hold">
                                          <p:stCondLst>
                                            <p:cond delay="0"/>
                                          </p:stCondLst>
                                        </p:cTn>
                                        <p:tgtEl>
                                          <p:spTgt spid="12">
                                            <p:txEl>
                                              <p:pRg st="1" end="1"/>
                                            </p:txEl>
                                          </p:spTgt>
                                        </p:tgtEl>
                                        <p:attrNameLst>
                                          <p:attrName>style.visibility</p:attrName>
                                        </p:attrNameLst>
                                      </p:cBhvr>
                                      <p:to>
                                        <p:strVal val="visible"/>
                                      </p:to>
                                    </p:set>
                                    <p:animEffect transition="in" filter="circle(out)">
                                      <p:cBhvr>
                                        <p:cTn id="30" dur="500"/>
                                        <p:tgtEl>
                                          <p:spTgt spid="1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ox(out)">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box(out)">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32"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circle(out)">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box(out)">
                                      <p:cBhvr>
                                        <p:cTn id="50" dur="500"/>
                                        <p:tgtEl>
                                          <p:spTgt spid="42"/>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32" fill="hold" nodeType="click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box(out)">
                                      <p:cBhvr>
                                        <p:cTn id="55" dur="500"/>
                                        <p:tgtEl>
                                          <p:spTgt spid="43"/>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32"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box(out)">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32" fill="hold" nodeType="click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box(out)">
                                      <p:cBhvr>
                                        <p:cTn id="65" dur="500"/>
                                        <p:tgtEl>
                                          <p:spTgt spid="56"/>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22531">
                                            <p:txEl>
                                              <p:pRg st="0" end="0"/>
                                            </p:txEl>
                                          </p:spTgt>
                                        </p:tgtEl>
                                        <p:attrNameLst>
                                          <p:attrName>style.visibility</p:attrName>
                                        </p:attrNameLst>
                                      </p:cBhvr>
                                      <p:to>
                                        <p:strVal val="visible"/>
                                      </p:to>
                                    </p:set>
                                    <p:animEffect transition="in" filter="box(out)">
                                      <p:cBhvr>
                                        <p:cTn id="70" dur="500"/>
                                        <p:tgtEl>
                                          <p:spTgt spid="225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P spid="13" grpId="0"/>
      <p:bldP spid="14" grpId="0" animBg="1"/>
      <p:bldP spid="15" grpId="0"/>
      <p:bldP spid="16" grpId="0"/>
      <p:bldP spid="27" grpId="0" autoUpdateAnimBg="0"/>
      <p:bldP spid="4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3555" name="Object 3"/>
          <p:cNvGraphicFramePr>
            <a:graphicFrameLocks noChangeAspect="1"/>
          </p:cNvGraphicFramePr>
          <p:nvPr>
            <p:extLst>
              <p:ext uri="{D42A27DB-BD31-4B8C-83A1-F6EECF244321}">
                <p14:modId xmlns:p14="http://schemas.microsoft.com/office/powerpoint/2010/main" val="1580353705"/>
              </p:ext>
            </p:extLst>
          </p:nvPr>
        </p:nvGraphicFramePr>
        <p:xfrm>
          <a:off x="1431032" y="4516262"/>
          <a:ext cx="6858000" cy="1947862"/>
        </p:xfrm>
        <a:graphic>
          <a:graphicData uri="http://schemas.openxmlformats.org/presentationml/2006/ole">
            <mc:AlternateContent xmlns:mc="http://schemas.openxmlformats.org/markup-compatibility/2006">
              <mc:Choice xmlns:v="urn:schemas-microsoft-com:vml" Requires="v">
                <p:oleObj spid="_x0000_s21510" name="BMP 图像" r:id="rId5" imgW="3285714" imgH="933580" progId="Paint.Picture">
                  <p:embed/>
                </p:oleObj>
              </mc:Choice>
              <mc:Fallback>
                <p:oleObj name="BMP 图像" r:id="rId5" imgW="3285714" imgH="933580" progId="Paint.Picture">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1032" y="4516262"/>
                        <a:ext cx="6858000" cy="194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5"/>
          <p:cNvSpPr txBox="1">
            <a:spLocks noChangeArrowheads="1"/>
          </p:cNvSpPr>
          <p:nvPr/>
        </p:nvSpPr>
        <p:spPr bwMode="auto">
          <a:xfrm>
            <a:off x="755576" y="692696"/>
            <a:ext cx="56737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1</a:t>
            </a:r>
            <a:r>
              <a:rPr kumimoji="1" lang="zh-CN" altLang="en-US" sz="2800" b="1" dirty="0">
                <a:solidFill>
                  <a:srgbClr val="0000FF"/>
                </a:solidFill>
                <a:latin typeface="黑体" panose="02010609060101010101" pitchFamily="49" charset="-122"/>
                <a:ea typeface="黑体" panose="02010609060101010101" pitchFamily="49" charset="-122"/>
              </a:rPr>
              <a:t>．力的平移定理</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pic>
        <p:nvPicPr>
          <p:cNvPr id="2" name="攻丝（断）">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598860" y="1327764"/>
            <a:ext cx="3960440" cy="2970330"/>
          </a:xfrm>
          <a:prstGeom prst="rect">
            <a:avLst/>
          </a:prstGeom>
        </p:spPr>
      </p:pic>
      <p:grpSp>
        <p:nvGrpSpPr>
          <p:cNvPr id="7" name="Group 5"/>
          <p:cNvGrpSpPr>
            <a:grpSpLocks/>
          </p:cNvGrpSpPr>
          <p:nvPr/>
        </p:nvGrpSpPr>
        <p:grpSpPr bwMode="auto">
          <a:xfrm>
            <a:off x="4786242" y="1136190"/>
            <a:ext cx="1916113" cy="209550"/>
            <a:chOff x="1113" y="2976"/>
            <a:chExt cx="1207" cy="132"/>
          </a:xfrm>
        </p:grpSpPr>
        <p:grpSp>
          <p:nvGrpSpPr>
            <p:cNvPr id="8" name="Group 6"/>
            <p:cNvGrpSpPr>
              <a:grpSpLocks/>
            </p:cNvGrpSpPr>
            <p:nvPr/>
          </p:nvGrpSpPr>
          <p:grpSpPr bwMode="auto">
            <a:xfrm rot="-1200000">
              <a:off x="1113" y="3009"/>
              <a:ext cx="1207" cy="99"/>
              <a:chOff x="672" y="2784"/>
              <a:chExt cx="1207" cy="99"/>
            </a:xfrm>
          </p:grpSpPr>
          <p:sp>
            <p:nvSpPr>
              <p:cNvPr id="10" name="Rectangle 7"/>
              <p:cNvSpPr>
                <a:spLocks noChangeArrowheads="1"/>
              </p:cNvSpPr>
              <p:nvPr/>
            </p:nvSpPr>
            <p:spPr bwMode="auto">
              <a:xfrm>
                <a:off x="672" y="2784"/>
                <a:ext cx="1200" cy="48"/>
              </a:xfrm>
              <a:prstGeom prst="rect">
                <a:avLst/>
              </a:prstGeom>
              <a:solidFill>
                <a:srgbClr val="FF6600"/>
              </a:solidFill>
              <a:ln w="9525">
                <a:solidFill>
                  <a:srgbClr val="FF6600"/>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11" name="Rectangle 8"/>
              <p:cNvSpPr>
                <a:spLocks noChangeArrowheads="1"/>
              </p:cNvSpPr>
              <p:nvPr/>
            </p:nvSpPr>
            <p:spPr bwMode="auto">
              <a:xfrm>
                <a:off x="1020" y="2835"/>
                <a:ext cx="859" cy="48"/>
              </a:xfrm>
              <a:prstGeom prst="rect">
                <a:avLst/>
              </a:prstGeom>
              <a:solidFill>
                <a:srgbClr val="FF0000"/>
              </a:solidFill>
              <a:ln w="9525">
                <a:solidFill>
                  <a:srgbClr val="FF0000"/>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sp>
          <p:nvSpPr>
            <p:cNvPr id="9" name="AutoShape 9"/>
            <p:cNvSpPr>
              <a:spLocks noChangeArrowheads="1"/>
            </p:cNvSpPr>
            <p:nvPr/>
          </p:nvSpPr>
          <p:spPr bwMode="auto">
            <a:xfrm rot="600000">
              <a:off x="1296" y="2976"/>
              <a:ext cx="624" cy="48"/>
            </a:xfrm>
            <a:prstGeom prst="rightArrow">
              <a:avLst>
                <a:gd name="adj1" fmla="val 50000"/>
                <a:gd name="adj2" fmla="val 325000"/>
              </a:avLst>
            </a:prstGeom>
            <a:solidFill>
              <a:srgbClr val="0000FF"/>
            </a:solidFill>
            <a:ln w="9525">
              <a:solidFill>
                <a:srgbClr val="0000FF"/>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grpSp>
      <p:grpSp>
        <p:nvGrpSpPr>
          <p:cNvPr id="12" name="Group 10"/>
          <p:cNvGrpSpPr>
            <a:grpSpLocks/>
          </p:cNvGrpSpPr>
          <p:nvPr/>
        </p:nvGrpSpPr>
        <p:grpSpPr bwMode="auto">
          <a:xfrm>
            <a:off x="7286555" y="1207628"/>
            <a:ext cx="1079500" cy="1079500"/>
            <a:chOff x="3552" y="3024"/>
            <a:chExt cx="680" cy="680"/>
          </a:xfrm>
        </p:grpSpPr>
        <p:sp>
          <p:nvSpPr>
            <p:cNvPr id="13" name="Oval 11"/>
            <p:cNvSpPr>
              <a:spLocks noChangeArrowheads="1"/>
            </p:cNvSpPr>
            <p:nvPr/>
          </p:nvSpPr>
          <p:spPr bwMode="auto">
            <a:xfrm>
              <a:off x="3552" y="3024"/>
              <a:ext cx="680" cy="680"/>
            </a:xfrm>
            <a:prstGeom prst="ellipse">
              <a:avLst/>
            </a:prstGeom>
            <a:solidFill>
              <a:srgbClr val="FF9900"/>
            </a:solidFill>
            <a:ln w="9525">
              <a:solidFill>
                <a:srgbClr val="FF6600"/>
              </a:solidFill>
              <a:round/>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14" name="Text Box 12"/>
            <p:cNvSpPr txBox="1">
              <a:spLocks noChangeArrowheads="1"/>
            </p:cNvSpPr>
            <p:nvPr/>
          </p:nvSpPr>
          <p:spPr bwMode="auto">
            <a:xfrm>
              <a:off x="3851" y="3350"/>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r>
                <a:rPr lang="en-US" altLang="zh-CN" sz="1600" b="1" i="1" dirty="0">
                  <a:latin typeface="Times New Roman" panose="02020603050405020304" pitchFamily="18" charset="0"/>
                  <a:ea typeface="宋体" panose="02010600030101010101" pitchFamily="2" charset="-122"/>
                </a:rPr>
                <a:t>C</a:t>
              </a:r>
            </a:p>
          </p:txBody>
        </p:sp>
      </p:grpSp>
      <p:sp>
        <p:nvSpPr>
          <p:cNvPr id="15" name="AutoShape 13"/>
          <p:cNvSpPr>
            <a:spLocks noChangeArrowheads="1"/>
          </p:cNvSpPr>
          <p:nvPr/>
        </p:nvSpPr>
        <p:spPr bwMode="auto">
          <a:xfrm>
            <a:off x="7558017" y="1474328"/>
            <a:ext cx="533400" cy="5334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324" y="8738"/>
                </a:moveTo>
                <a:cubicBezTo>
                  <a:pt x="19353" y="4254"/>
                  <a:pt x="15387" y="1055"/>
                  <a:pt x="10800" y="1055"/>
                </a:cubicBezTo>
                <a:cubicBezTo>
                  <a:pt x="5417" y="1055"/>
                  <a:pt x="1055" y="5417"/>
                  <a:pt x="1055" y="10800"/>
                </a:cubicBezTo>
                <a:cubicBezTo>
                  <a:pt x="1055" y="16182"/>
                  <a:pt x="5417" y="20545"/>
                  <a:pt x="10800" y="20545"/>
                </a:cubicBezTo>
                <a:cubicBezTo>
                  <a:pt x="12761" y="20545"/>
                  <a:pt x="14676" y="19953"/>
                  <a:pt x="16296" y="18847"/>
                </a:cubicBezTo>
                <a:lnTo>
                  <a:pt x="16891" y="19718"/>
                </a:lnTo>
                <a:cubicBezTo>
                  <a:pt x="15096" y="20944"/>
                  <a:pt x="12973" y="21599"/>
                  <a:pt x="10800" y="21600"/>
                </a:cubicBezTo>
                <a:cubicBezTo>
                  <a:pt x="4835" y="21600"/>
                  <a:pt x="0" y="16764"/>
                  <a:pt x="0" y="10800"/>
                </a:cubicBezTo>
                <a:cubicBezTo>
                  <a:pt x="0" y="4835"/>
                  <a:pt x="4835" y="0"/>
                  <a:pt x="10800" y="0"/>
                </a:cubicBezTo>
                <a:cubicBezTo>
                  <a:pt x="15884" y="-1"/>
                  <a:pt x="20279" y="3545"/>
                  <a:pt x="21355" y="8514"/>
                </a:cubicBezTo>
                <a:lnTo>
                  <a:pt x="23994" y="7943"/>
                </a:lnTo>
                <a:lnTo>
                  <a:pt x="21523" y="11781"/>
                </a:lnTo>
                <a:lnTo>
                  <a:pt x="17685" y="9309"/>
                </a:lnTo>
                <a:lnTo>
                  <a:pt x="20324" y="8738"/>
                </a:lnTo>
                <a:close/>
              </a:path>
            </a:pathLst>
          </a:custGeom>
          <a:solidFill>
            <a:schemeClr val="bg1"/>
          </a:solidFill>
          <a:ln w="9525">
            <a:solidFill>
              <a:schemeClr val="bg1"/>
            </a:solidFill>
            <a:miter lim="800000"/>
            <a:headEnd/>
            <a:tailEnd/>
          </a:ln>
        </p:spPr>
        <p:txBody>
          <a:bodyPr wrap="none" anchor="ctr"/>
          <a:lstStyle/>
          <a:p>
            <a:endParaRPr lang="zh-CN" altLang="en-US"/>
          </a:p>
        </p:txBody>
      </p:sp>
      <p:grpSp>
        <p:nvGrpSpPr>
          <p:cNvPr id="16" name="Group 14"/>
          <p:cNvGrpSpPr>
            <a:grpSpLocks/>
          </p:cNvGrpSpPr>
          <p:nvPr/>
        </p:nvGrpSpPr>
        <p:grpSpPr bwMode="auto">
          <a:xfrm>
            <a:off x="5686355" y="1212390"/>
            <a:ext cx="1079500" cy="1079500"/>
            <a:chOff x="1680" y="3024"/>
            <a:chExt cx="680" cy="680"/>
          </a:xfrm>
        </p:grpSpPr>
        <p:sp>
          <p:nvSpPr>
            <p:cNvPr id="17" name="Oval 15"/>
            <p:cNvSpPr>
              <a:spLocks noChangeArrowheads="1"/>
            </p:cNvSpPr>
            <p:nvPr/>
          </p:nvSpPr>
          <p:spPr bwMode="auto">
            <a:xfrm>
              <a:off x="1680" y="3024"/>
              <a:ext cx="680" cy="680"/>
            </a:xfrm>
            <a:prstGeom prst="ellipse">
              <a:avLst/>
            </a:prstGeom>
            <a:solidFill>
              <a:srgbClr val="FF9900"/>
            </a:solidFill>
            <a:ln w="9525">
              <a:solidFill>
                <a:srgbClr val="FF6600"/>
              </a:solidFill>
              <a:round/>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18" name="Text Box 16"/>
            <p:cNvSpPr txBox="1">
              <a:spLocks noChangeArrowheads="1"/>
            </p:cNvSpPr>
            <p:nvPr/>
          </p:nvSpPr>
          <p:spPr bwMode="auto">
            <a:xfrm>
              <a:off x="1968" y="3312"/>
              <a:ext cx="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r>
                <a:rPr lang="en-US" altLang="zh-CN" sz="1600" b="1" i="1" dirty="0">
                  <a:latin typeface="Times New Roman" panose="02020603050405020304" pitchFamily="18" charset="0"/>
                  <a:ea typeface="宋体" panose="02010600030101010101" pitchFamily="2" charset="-122"/>
                </a:rPr>
                <a:t>C</a:t>
              </a:r>
            </a:p>
          </p:txBody>
        </p:sp>
      </p:grpSp>
      <p:sp>
        <p:nvSpPr>
          <p:cNvPr id="19" name="AutoShape 17"/>
          <p:cNvSpPr>
            <a:spLocks noChangeArrowheads="1"/>
          </p:cNvSpPr>
          <p:nvPr/>
        </p:nvSpPr>
        <p:spPr bwMode="auto">
          <a:xfrm rot="600000">
            <a:off x="6900792" y="1617203"/>
            <a:ext cx="990600" cy="76200"/>
          </a:xfrm>
          <a:prstGeom prst="rightArrow">
            <a:avLst>
              <a:gd name="adj1" fmla="val 50000"/>
              <a:gd name="adj2" fmla="val 325000"/>
            </a:avLst>
          </a:prstGeom>
          <a:solidFill>
            <a:schemeClr val="bg1"/>
          </a:solidFill>
          <a:ln w="9525">
            <a:solidFill>
              <a:srgbClr val="0000FF"/>
            </a:solidFill>
            <a:miter lim="800000"/>
            <a:headEnd/>
            <a:tailEnd/>
          </a:ln>
        </p:spPr>
        <p:txBody>
          <a:bodyPr wrap="none" anchor="ct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algn="ctr" eaLnBrk="1" hangingPunct="1"/>
            <a:endParaRPr lang="zh-CN" altLang="en-US"/>
          </a:p>
        </p:txBody>
      </p:sp>
      <p:sp>
        <p:nvSpPr>
          <p:cNvPr id="20" name="Text Box 4"/>
          <p:cNvSpPr txBox="1">
            <a:spLocks noChangeArrowheads="1"/>
          </p:cNvSpPr>
          <p:nvPr/>
        </p:nvSpPr>
        <p:spPr bwMode="auto">
          <a:xfrm>
            <a:off x="4771232" y="3140130"/>
            <a:ext cx="39639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buFontTx/>
              <a:buBlip>
                <a:blip r:embed="rId8"/>
              </a:buBlip>
            </a:pPr>
            <a:r>
              <a:rPr lang="zh-CN" altLang="en-US" b="1" dirty="0">
                <a:latin typeface="楷体" panose="02010609060101010101" pitchFamily="49" charset="-122"/>
                <a:ea typeface="楷体" panose="02010609060101010101" pitchFamily="49" charset="-122"/>
              </a:rPr>
              <a:t>力的平移定理说明一个力和一个力偶可以进一步合成为一个力。	</a:t>
            </a:r>
          </a:p>
        </p:txBody>
      </p:sp>
      <p:sp>
        <p:nvSpPr>
          <p:cNvPr id="21" name="Text Box 15"/>
          <p:cNvSpPr txBox="1">
            <a:spLocks noChangeArrowheads="1"/>
          </p:cNvSpPr>
          <p:nvPr/>
        </p:nvSpPr>
        <p:spPr bwMode="auto">
          <a:xfrm>
            <a:off x="4742657" y="2333613"/>
            <a:ext cx="37861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华文中宋" panose="02010600040101010101" pitchFamily="2" charset="-122"/>
              </a:defRPr>
            </a:lvl1pPr>
            <a:lvl2pPr marL="742950" indent="-285750">
              <a:defRPr kumimoji="1" sz="2400">
                <a:solidFill>
                  <a:schemeClr val="tx1"/>
                </a:solidFill>
                <a:latin typeface="Tahoma" panose="020B0604030504040204" pitchFamily="34" charset="0"/>
                <a:ea typeface="华文中宋" panose="02010600040101010101" pitchFamily="2" charset="-122"/>
              </a:defRPr>
            </a:lvl2pPr>
            <a:lvl3pPr marL="1143000" indent="-228600">
              <a:defRPr kumimoji="1" sz="2400">
                <a:solidFill>
                  <a:schemeClr val="tx1"/>
                </a:solidFill>
                <a:latin typeface="Tahoma" panose="020B0604030504040204" pitchFamily="34" charset="0"/>
                <a:ea typeface="华文中宋" panose="02010600040101010101" pitchFamily="2" charset="-122"/>
              </a:defRPr>
            </a:lvl3pPr>
            <a:lvl4pPr marL="1600200" indent="-228600">
              <a:defRPr kumimoji="1" sz="2400">
                <a:solidFill>
                  <a:schemeClr val="tx1"/>
                </a:solidFill>
                <a:latin typeface="Tahoma" panose="020B0604030504040204" pitchFamily="34" charset="0"/>
                <a:ea typeface="华文中宋" panose="02010600040101010101" pitchFamily="2" charset="-122"/>
              </a:defRPr>
            </a:lvl4pPr>
            <a:lvl5pPr marL="2057400" indent="-228600">
              <a:defRPr kumimoji="1" sz="24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华文中宋" panose="02010600040101010101" pitchFamily="2" charset="-122"/>
              </a:defRPr>
            </a:lvl9pPr>
          </a:lstStyle>
          <a:p>
            <a:pPr eaLnBrk="1" hangingPunct="1">
              <a:buFontTx/>
              <a:buBlip>
                <a:blip r:embed="rId8"/>
              </a:buBlip>
            </a:pPr>
            <a:r>
              <a:rPr lang="zh-CN" altLang="en-US" b="1" dirty="0">
                <a:solidFill>
                  <a:srgbClr val="800000"/>
                </a:solidFill>
                <a:latin typeface="楷体" panose="02010609060101010101" pitchFamily="49" charset="-122"/>
                <a:ea typeface="楷体" panose="02010609060101010101" pitchFamily="49" charset="-122"/>
              </a:rPr>
              <a:t>物理含义</a:t>
            </a:r>
            <a:r>
              <a:rPr lang="en-US" altLang="zh-CN" b="1" dirty="0">
                <a:solidFill>
                  <a:srgbClr val="800000"/>
                </a:solidFill>
                <a:latin typeface="楷体" panose="02010609060101010101" pitchFamily="49" charset="-122"/>
                <a:ea typeface="楷体" panose="02010609060101010101" pitchFamily="49" charset="-122"/>
              </a:rPr>
              <a:t>:</a:t>
            </a:r>
            <a:r>
              <a:rPr lang="en-US" altLang="zh-CN" b="1" dirty="0">
                <a:latin typeface="楷体" panose="02010609060101010101" pitchFamily="49" charset="-122"/>
                <a:ea typeface="楷体" panose="02010609060101010101" pitchFamily="49" charset="-122"/>
              </a:rPr>
              <a:t>	</a:t>
            </a:r>
          </a:p>
          <a:p>
            <a:pPr eaLnBrk="1" hangingPunct="1"/>
            <a:r>
              <a:rPr lang="zh-CN" altLang="en-US" b="1" dirty="0">
                <a:latin typeface="楷体" panose="02010609060101010101" pitchFamily="49" charset="-122"/>
                <a:ea typeface="楷体" panose="02010609060101010101" pitchFamily="49" charset="-122"/>
              </a:rPr>
              <a:t>力可使物体移动和转动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box(out)">
                                      <p:cBhvr>
                                        <p:cTn id="7" dur="500"/>
                                        <p:tgtEl>
                                          <p:spTgt spid="235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ox(ou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lide(from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ox(out)">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ox(in)">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21">
                                            <p:txEl>
                                              <p:pRg st="0" end="0"/>
                                            </p:txEl>
                                          </p:spTgt>
                                        </p:tgtEl>
                                        <p:attrNameLst>
                                          <p:attrName>style.visibility</p:attrName>
                                        </p:attrNameLst>
                                      </p:cBhvr>
                                      <p:to>
                                        <p:strVal val="visible"/>
                                      </p:to>
                                    </p:set>
                                    <p:animEffect transition="in" filter="box(out)">
                                      <p:cBhvr>
                                        <p:cTn id="36" dur="500"/>
                                        <p:tgtEl>
                                          <p:spTgt spid="21">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21">
                                            <p:txEl>
                                              <p:pRg st="1" end="1"/>
                                            </p:txEl>
                                          </p:spTgt>
                                        </p:tgtEl>
                                        <p:attrNameLst>
                                          <p:attrName>style.visibility</p:attrName>
                                        </p:attrNameLst>
                                      </p:cBhvr>
                                      <p:to>
                                        <p:strVal val="visible"/>
                                      </p:to>
                                    </p:set>
                                    <p:animEffect transition="in" filter="box(out)">
                                      <p:cBhvr>
                                        <p:cTn id="41" dur="500"/>
                                        <p:tgtEl>
                                          <p:spTgt spid="21">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blinds(horizontal)">
                                      <p:cBhvr>
                                        <p:cTn id="4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7" restart="whenNotActive" fill="hold" evtFilter="cancelBubble" nodeType="interactiveSeq">
                <p:stCondLst>
                  <p:cond evt="onClick" delay="0">
                    <p:tgtEl>
                      <p:spTgt spid="2"/>
                    </p:tgtEl>
                  </p:cond>
                </p:stCondLst>
                <p:endSync evt="end" delay="0">
                  <p:rtn val="all"/>
                </p:endSync>
                <p:childTnLst>
                  <p:par>
                    <p:cTn id="48" fill="hold">
                      <p:stCondLst>
                        <p:cond delay="0"/>
                      </p:stCondLst>
                      <p:childTnLst>
                        <p:par>
                          <p:cTn id="49" fill="hold">
                            <p:stCondLst>
                              <p:cond delay="0"/>
                            </p:stCondLst>
                            <p:childTnLst>
                              <p:par>
                                <p:cTn id="50" presetID="2" presetClass="mediacall" presetSubtype="0" fill="hold" nodeType="clickEffect">
                                  <p:stCondLst>
                                    <p:cond delay="0"/>
                                  </p:stCondLst>
                                  <p:childTnLst>
                                    <p:cmd type="call" cmd="togglePause">
                                      <p:cBhvr>
                                        <p:cTn id="51" dur="1" fill="hold"/>
                                        <p:tgtEl>
                                          <p:spTgt spid="2"/>
                                        </p:tgtEl>
                                      </p:cBhvr>
                                    </p:cmd>
                                  </p:childTnLst>
                                </p:cTn>
                              </p:par>
                            </p:childTnLst>
                          </p:cTn>
                        </p:par>
                      </p:childTnLst>
                    </p:cTn>
                  </p:par>
                </p:childTnLst>
              </p:cTn>
              <p:nextCondLst>
                <p:cond evt="onClick" delay="0">
                  <p:tgtEl>
                    <p:spTgt spid="2"/>
                  </p:tgtEl>
                </p:cond>
              </p:nextCondLst>
            </p:seq>
            <p:video>
              <p:cMediaNode vol="80000">
                <p:cTn id="52" fill="hold" display="0">
                  <p:stCondLst>
                    <p:cond delay="indefinite"/>
                  </p:stCondLst>
                </p:cTn>
                <p:tgtEl>
                  <p:spTgt spid="2"/>
                </p:tgtEl>
              </p:cMediaNode>
            </p:video>
          </p:childTnLst>
        </p:cTn>
      </p:par>
    </p:tnLst>
    <p:bldLst>
      <p:bldP spid="15" grpId="0" animBg="1"/>
      <p:bldP spid="19" grpId="0" animBg="1"/>
      <p:bldP spid="20" grpId="0"/>
      <p:bldP spid="21"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1" name="AutoShape 10"/>
          <p:cNvSpPr>
            <a:spLocks noChangeArrowheads="1"/>
          </p:cNvSpPr>
          <p:nvPr/>
        </p:nvSpPr>
        <p:spPr bwMode="auto">
          <a:xfrm>
            <a:off x="4860032" y="387155"/>
            <a:ext cx="3024187" cy="647700"/>
          </a:xfrm>
          <a:prstGeom prst="wedgeEllipseCallout">
            <a:avLst>
              <a:gd name="adj1" fmla="val 26324"/>
              <a:gd name="adj2" fmla="val 134315"/>
            </a:avLst>
          </a:prstGeom>
          <a:solidFill>
            <a:srgbClr val="FFFF00"/>
          </a:solidFill>
          <a:ln w="952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latin typeface="黑体" panose="02010609060101010101" pitchFamily="49" charset="-122"/>
                <a:ea typeface="黑体" panose="02010609060101010101" pitchFamily="49" charset="-122"/>
              </a:rPr>
              <a:t>思考空间</a:t>
            </a:r>
          </a:p>
        </p:txBody>
      </p:sp>
      <p:sp>
        <p:nvSpPr>
          <p:cNvPr id="50187" name="Text Box 11"/>
          <p:cNvSpPr txBox="1">
            <a:spLocks noChangeArrowheads="1"/>
          </p:cNvSpPr>
          <p:nvPr/>
        </p:nvSpPr>
        <p:spPr bwMode="auto">
          <a:xfrm>
            <a:off x="755576" y="1628800"/>
            <a:ext cx="7344816" cy="12003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Q1.</a:t>
            </a:r>
            <a:r>
              <a:rPr lang="zh-CN" altLang="en-US" b="1" dirty="0">
                <a:latin typeface="楷体" panose="02010609060101010101" pitchFamily="49" charset="-122"/>
                <a:ea typeface="楷体" panose="02010609060101010101" pitchFamily="49" charset="-122"/>
              </a:rPr>
              <a:t>力在平移过程中产生的附加力偶矩等于力对平移点之矩，然而力矩是与矩心有关的定位矢量，力偶矩矢量是不涉及矩心的自由矢量？</a:t>
            </a:r>
          </a:p>
        </p:txBody>
      </p:sp>
      <p:sp>
        <p:nvSpPr>
          <p:cNvPr id="50188" name="Text Box 12"/>
          <p:cNvSpPr txBox="1">
            <a:spLocks noChangeArrowheads="1"/>
          </p:cNvSpPr>
          <p:nvPr/>
        </p:nvSpPr>
        <p:spPr bwMode="auto">
          <a:xfrm>
            <a:off x="775544" y="2829129"/>
            <a:ext cx="604837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t>Q2.</a:t>
            </a:r>
            <a:r>
              <a:rPr lang="zh-CN" altLang="en-US" b="1" dirty="0">
                <a:latin typeface="楷体" panose="02010609060101010101" pitchFamily="49" charset="-122"/>
                <a:ea typeface="楷体" panose="02010609060101010101" pitchFamily="49" charset="-122"/>
              </a:rPr>
              <a:t>力的平移定理应用于变形体如何？</a:t>
            </a:r>
          </a:p>
        </p:txBody>
      </p:sp>
      <p:sp>
        <p:nvSpPr>
          <p:cNvPr id="6" name="Text Box 5"/>
          <p:cNvSpPr txBox="1">
            <a:spLocks noChangeArrowheads="1"/>
          </p:cNvSpPr>
          <p:nvPr/>
        </p:nvSpPr>
        <p:spPr bwMode="auto">
          <a:xfrm>
            <a:off x="577129" y="415591"/>
            <a:ext cx="56737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1</a:t>
            </a:r>
            <a:r>
              <a:rPr kumimoji="1" lang="zh-CN" altLang="en-US" sz="2800" b="1" dirty="0">
                <a:solidFill>
                  <a:srgbClr val="0000FF"/>
                </a:solidFill>
                <a:latin typeface="黑体" panose="02010609060101010101" pitchFamily="49" charset="-122"/>
                <a:ea typeface="黑体" panose="02010609060101010101" pitchFamily="49" charset="-122"/>
              </a:rPr>
              <a:t>．力的平移定理</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grpSp>
        <p:nvGrpSpPr>
          <p:cNvPr id="2" name="组合 1"/>
          <p:cNvGrpSpPr/>
          <p:nvPr/>
        </p:nvGrpSpPr>
        <p:grpSpPr>
          <a:xfrm>
            <a:off x="780067" y="3311196"/>
            <a:ext cx="7416824" cy="2582724"/>
            <a:chOff x="780067" y="3311196"/>
            <a:chExt cx="7416824" cy="2582724"/>
          </a:xfrm>
        </p:grpSpPr>
        <p:sp>
          <p:nvSpPr>
            <p:cNvPr id="7" name="Text Box 12"/>
            <p:cNvSpPr txBox="1">
              <a:spLocks noChangeArrowheads="1"/>
            </p:cNvSpPr>
            <p:nvPr/>
          </p:nvSpPr>
          <p:spPr bwMode="auto">
            <a:xfrm>
              <a:off x="780067" y="3311196"/>
              <a:ext cx="7416824"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t>Q3.</a:t>
              </a:r>
              <a:r>
                <a:rPr lang="zh-CN" altLang="en-US" b="1" dirty="0">
                  <a:latin typeface="楷体" panose="02010609060101010101" pitchFamily="49" charset="-122"/>
                  <a:ea typeface="楷体" panose="02010609060101010101" pitchFamily="49" charset="-122"/>
                </a:rPr>
                <a:t>一个力和一个力偶可以进一步合成为一个力？</a:t>
              </a:r>
            </a:p>
          </p:txBody>
        </p:sp>
        <p:grpSp>
          <p:nvGrpSpPr>
            <p:cNvPr id="8" name="Group 5"/>
            <p:cNvGrpSpPr>
              <a:grpSpLocks/>
            </p:cNvGrpSpPr>
            <p:nvPr/>
          </p:nvGrpSpPr>
          <p:grpSpPr bwMode="auto">
            <a:xfrm>
              <a:off x="1312196" y="4418929"/>
              <a:ext cx="2211388" cy="1447800"/>
              <a:chOff x="856" y="672"/>
              <a:chExt cx="1393" cy="912"/>
            </a:xfrm>
          </p:grpSpPr>
          <p:sp>
            <p:nvSpPr>
              <p:cNvPr id="9" name="Oval 6"/>
              <p:cNvSpPr>
                <a:spLocks noChangeArrowheads="1"/>
              </p:cNvSpPr>
              <p:nvPr/>
            </p:nvSpPr>
            <p:spPr bwMode="auto">
              <a:xfrm rot="-1112442">
                <a:off x="856" y="672"/>
                <a:ext cx="1393" cy="912"/>
              </a:xfrm>
              <a:prstGeom prst="ellipse">
                <a:avLst/>
              </a:prstGeom>
              <a:solidFill>
                <a:srgbClr val="00CC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Aspect="1" noChangeShapeType="1"/>
              </p:cNvSpPr>
              <p:nvPr/>
            </p:nvSpPr>
            <p:spPr bwMode="auto">
              <a:xfrm flipV="1">
                <a:off x="1133" y="800"/>
                <a:ext cx="128" cy="58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9"/>
              <p:cNvSpPr>
                <a:spLocks noChangeArrowheads="1"/>
              </p:cNvSpPr>
              <p:nvPr/>
            </p:nvSpPr>
            <p:spPr bwMode="auto">
              <a:xfrm>
                <a:off x="1095" y="1344"/>
                <a:ext cx="79"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10"/>
              <p:cNvSpPr txBox="1">
                <a:spLocks noChangeArrowheads="1"/>
              </p:cNvSpPr>
              <p:nvPr/>
            </p:nvSpPr>
            <p:spPr bwMode="auto">
              <a:xfrm>
                <a:off x="1274" y="706"/>
                <a:ext cx="3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i="1" dirty="0">
                    <a:solidFill>
                      <a:srgbClr val="FF0000"/>
                    </a:solidFill>
                    <a:latin typeface="Times New Roman" panose="02020603050405020304" pitchFamily="18" charset="0"/>
                  </a:rPr>
                  <a:t>F</a:t>
                </a:r>
                <a:endParaRPr kumimoji="1" lang="en-US" altLang="zh-CN" dirty="0">
                  <a:solidFill>
                    <a:srgbClr val="FF0000"/>
                  </a:solidFill>
                  <a:latin typeface="Times New Roman" panose="02020603050405020304" pitchFamily="18" charset="0"/>
                </a:endParaRPr>
              </a:p>
            </p:txBody>
          </p:sp>
          <p:sp>
            <p:nvSpPr>
              <p:cNvPr id="13" name="Text Box 11"/>
              <p:cNvSpPr txBox="1">
                <a:spLocks noChangeArrowheads="1"/>
              </p:cNvSpPr>
              <p:nvPr/>
            </p:nvSpPr>
            <p:spPr bwMode="auto">
              <a:xfrm>
                <a:off x="936" y="1128"/>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A</a:t>
                </a:r>
              </a:p>
            </p:txBody>
          </p:sp>
          <p:sp>
            <p:nvSpPr>
              <p:cNvPr id="14" name="Oval 12"/>
              <p:cNvSpPr>
                <a:spLocks noChangeArrowheads="1"/>
              </p:cNvSpPr>
              <p:nvPr/>
            </p:nvSpPr>
            <p:spPr bwMode="auto">
              <a:xfrm>
                <a:off x="1970" y="816"/>
                <a:ext cx="80"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13"/>
              <p:cNvSpPr txBox="1">
                <a:spLocks noChangeArrowheads="1"/>
              </p:cNvSpPr>
              <p:nvPr/>
            </p:nvSpPr>
            <p:spPr bwMode="auto">
              <a:xfrm>
                <a:off x="1975" y="864"/>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B</a:t>
                </a:r>
              </a:p>
            </p:txBody>
          </p:sp>
        </p:grpSp>
        <p:grpSp>
          <p:nvGrpSpPr>
            <p:cNvPr id="16" name="Group 41"/>
            <p:cNvGrpSpPr>
              <a:grpSpLocks/>
            </p:cNvGrpSpPr>
            <p:nvPr/>
          </p:nvGrpSpPr>
          <p:grpSpPr bwMode="auto">
            <a:xfrm>
              <a:off x="4788024" y="3822232"/>
              <a:ext cx="2727325" cy="2071688"/>
              <a:chOff x="3684" y="1959"/>
              <a:chExt cx="1718" cy="1305"/>
            </a:xfrm>
          </p:grpSpPr>
          <p:sp>
            <p:nvSpPr>
              <p:cNvPr id="17" name="Oval 42"/>
              <p:cNvSpPr>
                <a:spLocks noChangeArrowheads="1"/>
              </p:cNvSpPr>
              <p:nvPr/>
            </p:nvSpPr>
            <p:spPr bwMode="auto">
              <a:xfrm rot="-1112442">
                <a:off x="3724" y="2352"/>
                <a:ext cx="1393" cy="912"/>
              </a:xfrm>
              <a:prstGeom prst="ellipse">
                <a:avLst/>
              </a:prstGeom>
              <a:solidFill>
                <a:srgbClr val="00CC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43"/>
              <p:cNvSpPr>
                <a:spLocks noChangeShapeType="1"/>
              </p:cNvSpPr>
              <p:nvPr/>
            </p:nvSpPr>
            <p:spPr bwMode="auto">
              <a:xfrm flipV="1">
                <a:off x="3684" y="2304"/>
                <a:ext cx="1632" cy="96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44"/>
              <p:cNvSpPr>
                <a:spLocks noChangeAspect="1" noChangeShapeType="1"/>
              </p:cNvSpPr>
              <p:nvPr/>
            </p:nvSpPr>
            <p:spPr bwMode="auto">
              <a:xfrm flipV="1">
                <a:off x="4878" y="1959"/>
                <a:ext cx="128" cy="58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Oval 45"/>
              <p:cNvSpPr>
                <a:spLocks noChangeArrowheads="1"/>
              </p:cNvSpPr>
              <p:nvPr/>
            </p:nvSpPr>
            <p:spPr bwMode="auto">
              <a:xfrm>
                <a:off x="3963" y="3024"/>
                <a:ext cx="79"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Text Box 46"/>
              <p:cNvSpPr txBox="1">
                <a:spLocks noChangeArrowheads="1"/>
              </p:cNvSpPr>
              <p:nvPr/>
            </p:nvSpPr>
            <p:spPr bwMode="auto">
              <a:xfrm>
                <a:off x="4988" y="1992"/>
                <a:ext cx="4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i="1" dirty="0">
                    <a:solidFill>
                      <a:schemeClr val="accent2"/>
                    </a:solidFill>
                    <a:latin typeface="Times New Roman" panose="02020603050405020304" pitchFamily="18" charset="0"/>
                  </a:rPr>
                  <a:t>F</a:t>
                </a:r>
                <a:r>
                  <a:rPr kumimoji="1" lang="en-US" altLang="zh-CN" b="1" i="1" dirty="0">
                    <a:solidFill>
                      <a:schemeClr val="accent2"/>
                    </a:solidFill>
                    <a:latin typeface="Times New Roman" panose="02020603050405020304" pitchFamily="18" charset="0"/>
                    <a:sym typeface="Symbol" panose="05050102010706020507" pitchFamily="18" charset="2"/>
                  </a:rPr>
                  <a:t></a:t>
                </a:r>
                <a:endParaRPr kumimoji="1" lang="en-US" altLang="zh-CN" dirty="0">
                  <a:solidFill>
                    <a:schemeClr val="accent2"/>
                  </a:solidFill>
                  <a:latin typeface="Times New Roman" panose="02020603050405020304" pitchFamily="18" charset="0"/>
                </a:endParaRPr>
              </a:p>
            </p:txBody>
          </p:sp>
          <p:sp>
            <p:nvSpPr>
              <p:cNvPr id="22" name="Text Box 47"/>
              <p:cNvSpPr txBox="1">
                <a:spLocks noChangeArrowheads="1"/>
              </p:cNvSpPr>
              <p:nvPr/>
            </p:nvSpPr>
            <p:spPr bwMode="auto">
              <a:xfrm>
                <a:off x="3786" y="2804"/>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A</a:t>
                </a:r>
              </a:p>
            </p:txBody>
          </p:sp>
          <p:sp>
            <p:nvSpPr>
              <p:cNvPr id="23" name="Oval 48"/>
              <p:cNvSpPr>
                <a:spLocks noChangeArrowheads="1"/>
              </p:cNvSpPr>
              <p:nvPr/>
            </p:nvSpPr>
            <p:spPr bwMode="auto">
              <a:xfrm>
                <a:off x="4838" y="2496"/>
                <a:ext cx="80"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49"/>
              <p:cNvSpPr txBox="1">
                <a:spLocks noChangeArrowheads="1"/>
              </p:cNvSpPr>
              <p:nvPr/>
            </p:nvSpPr>
            <p:spPr bwMode="auto">
              <a:xfrm>
                <a:off x="4799" y="2623"/>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B</a:t>
                </a:r>
              </a:p>
            </p:txBody>
          </p:sp>
          <p:sp>
            <p:nvSpPr>
              <p:cNvPr id="25" name="Text Box 51"/>
              <p:cNvSpPr txBox="1">
                <a:spLocks noChangeArrowheads="1"/>
              </p:cNvSpPr>
              <p:nvPr/>
            </p:nvSpPr>
            <p:spPr bwMode="auto">
              <a:xfrm>
                <a:off x="4540" y="2304"/>
                <a:ext cx="27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dirty="0">
                    <a:solidFill>
                      <a:srgbClr val="0000FF"/>
                    </a:solidFill>
                    <a:latin typeface="Times New Roman" panose="02020603050405020304" pitchFamily="18" charset="0"/>
                  </a:rPr>
                  <a:t>M</a:t>
                </a:r>
                <a:endParaRPr kumimoji="1" lang="en-US" altLang="zh-CN" b="1" i="1" dirty="0">
                  <a:solidFill>
                    <a:srgbClr val="0000FF"/>
                  </a:solidFill>
                  <a:latin typeface="Times New Roman" panose="02020603050405020304" pitchFamily="18" charset="0"/>
                </a:endParaRPr>
              </a:p>
            </p:txBody>
          </p:sp>
          <p:sp>
            <p:nvSpPr>
              <p:cNvPr id="28" name="Arc 50"/>
              <p:cNvSpPr>
                <a:spLocks/>
              </p:cNvSpPr>
              <p:nvPr/>
            </p:nvSpPr>
            <p:spPr bwMode="auto">
              <a:xfrm flipH="1" flipV="1">
                <a:off x="4530" y="2448"/>
                <a:ext cx="288" cy="4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1750">
                <a:solidFill>
                  <a:srgbClr val="0000FF"/>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0187"/>
                                        </p:tgtEl>
                                        <p:attrNameLst>
                                          <p:attrName>style.visibility</p:attrName>
                                        </p:attrNameLst>
                                      </p:cBhvr>
                                      <p:to>
                                        <p:strVal val="visible"/>
                                      </p:to>
                                    </p:set>
                                    <p:anim calcmode="lin" valueType="num">
                                      <p:cBhvr>
                                        <p:cTn id="7" dur="1000" fill="hold"/>
                                        <p:tgtEl>
                                          <p:spTgt spid="50187"/>
                                        </p:tgtEl>
                                        <p:attrNameLst>
                                          <p:attrName>ppt_w</p:attrName>
                                        </p:attrNameLst>
                                      </p:cBhvr>
                                      <p:tavLst>
                                        <p:tav tm="0">
                                          <p:val>
                                            <p:strVal val="#ppt_w*0.70"/>
                                          </p:val>
                                        </p:tav>
                                        <p:tav tm="100000">
                                          <p:val>
                                            <p:strVal val="#ppt_w"/>
                                          </p:val>
                                        </p:tav>
                                      </p:tavLst>
                                    </p:anim>
                                    <p:anim calcmode="lin" valueType="num">
                                      <p:cBhvr>
                                        <p:cTn id="8" dur="1000" fill="hold"/>
                                        <p:tgtEl>
                                          <p:spTgt spid="50187"/>
                                        </p:tgtEl>
                                        <p:attrNameLst>
                                          <p:attrName>ppt_h</p:attrName>
                                        </p:attrNameLst>
                                      </p:cBhvr>
                                      <p:tavLst>
                                        <p:tav tm="0">
                                          <p:val>
                                            <p:strVal val="#ppt_h"/>
                                          </p:val>
                                        </p:tav>
                                        <p:tav tm="100000">
                                          <p:val>
                                            <p:strVal val="#ppt_h"/>
                                          </p:val>
                                        </p:tav>
                                      </p:tavLst>
                                    </p:anim>
                                    <p:animEffect transition="in" filter="fade">
                                      <p:cBhvr>
                                        <p:cTn id="9" dur="1000"/>
                                        <p:tgtEl>
                                          <p:spTgt spid="5018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50188"/>
                                        </p:tgtEl>
                                        <p:attrNameLst>
                                          <p:attrName>style.visibility</p:attrName>
                                        </p:attrNameLst>
                                      </p:cBhvr>
                                      <p:to>
                                        <p:strVal val="visible"/>
                                      </p:to>
                                    </p:set>
                                    <p:anim calcmode="lin" valueType="num">
                                      <p:cBhvr>
                                        <p:cTn id="14" dur="1000" fill="hold"/>
                                        <p:tgtEl>
                                          <p:spTgt spid="50188"/>
                                        </p:tgtEl>
                                        <p:attrNameLst>
                                          <p:attrName>ppt_w</p:attrName>
                                        </p:attrNameLst>
                                      </p:cBhvr>
                                      <p:tavLst>
                                        <p:tav tm="0">
                                          <p:val>
                                            <p:strVal val="#ppt_w*0.70"/>
                                          </p:val>
                                        </p:tav>
                                        <p:tav tm="100000">
                                          <p:val>
                                            <p:strVal val="#ppt_w"/>
                                          </p:val>
                                        </p:tav>
                                      </p:tavLst>
                                    </p:anim>
                                    <p:anim calcmode="lin" valueType="num">
                                      <p:cBhvr>
                                        <p:cTn id="15" dur="1000" fill="hold"/>
                                        <p:tgtEl>
                                          <p:spTgt spid="50188"/>
                                        </p:tgtEl>
                                        <p:attrNameLst>
                                          <p:attrName>ppt_h</p:attrName>
                                        </p:attrNameLst>
                                      </p:cBhvr>
                                      <p:tavLst>
                                        <p:tav tm="0">
                                          <p:val>
                                            <p:strVal val="#ppt_h"/>
                                          </p:val>
                                        </p:tav>
                                        <p:tav tm="100000">
                                          <p:val>
                                            <p:strVal val="#ppt_h"/>
                                          </p:val>
                                        </p:tav>
                                      </p:tavLst>
                                    </p:anim>
                                    <p:animEffect transition="in" filter="fade">
                                      <p:cBhvr>
                                        <p:cTn id="16" dur="1000"/>
                                        <p:tgtEl>
                                          <p:spTgt spid="5018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7" grpId="0" animBg="1"/>
      <p:bldP spid="50188"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93" name="AutoShape 9"/>
          <p:cNvSpPr>
            <a:spLocks noChangeArrowheads="1"/>
          </p:cNvSpPr>
          <p:nvPr/>
        </p:nvSpPr>
        <p:spPr bwMode="auto">
          <a:xfrm>
            <a:off x="3033464" y="2648481"/>
            <a:ext cx="609600" cy="303212"/>
          </a:xfrm>
          <a:prstGeom prst="notchedRightArrow">
            <a:avLst>
              <a:gd name="adj1" fmla="val 50000"/>
              <a:gd name="adj2" fmla="val 50262"/>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394" name="AutoShape 10"/>
          <p:cNvSpPr>
            <a:spLocks noChangeArrowheads="1"/>
          </p:cNvSpPr>
          <p:nvPr/>
        </p:nvSpPr>
        <p:spPr bwMode="auto">
          <a:xfrm>
            <a:off x="5870327" y="2648481"/>
            <a:ext cx="609600" cy="303212"/>
          </a:xfrm>
          <a:prstGeom prst="notchedRightArrow">
            <a:avLst>
              <a:gd name="adj1" fmla="val 50000"/>
              <a:gd name="adj2" fmla="val 50262"/>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506" name="Freeform 30"/>
          <p:cNvSpPr>
            <a:spLocks/>
          </p:cNvSpPr>
          <p:nvPr/>
        </p:nvSpPr>
        <p:spPr bwMode="auto">
          <a:xfrm>
            <a:off x="1334839" y="2216681"/>
            <a:ext cx="1562100" cy="1409700"/>
          </a:xfrm>
          <a:custGeom>
            <a:avLst/>
            <a:gdLst>
              <a:gd name="T0" fmla="*/ 624 w 984"/>
              <a:gd name="T1" fmla="*/ 8 h 888"/>
              <a:gd name="T2" fmla="*/ 192 w 984"/>
              <a:gd name="T3" fmla="*/ 56 h 888"/>
              <a:gd name="T4" fmla="*/ 0 w 984"/>
              <a:gd name="T5" fmla="*/ 344 h 888"/>
              <a:gd name="T6" fmla="*/ 192 w 984"/>
              <a:gd name="T7" fmla="*/ 728 h 888"/>
              <a:gd name="T8" fmla="*/ 576 w 984"/>
              <a:gd name="T9" fmla="*/ 872 h 888"/>
              <a:gd name="T10" fmla="*/ 864 w 984"/>
              <a:gd name="T11" fmla="*/ 632 h 888"/>
              <a:gd name="T12" fmla="*/ 960 w 984"/>
              <a:gd name="T13" fmla="*/ 296 h 888"/>
              <a:gd name="T14" fmla="*/ 720 w 984"/>
              <a:gd name="T15" fmla="*/ 56 h 888"/>
              <a:gd name="T16" fmla="*/ 624 w 984"/>
              <a:gd name="T17" fmla="*/ 8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solidFill>
            <a:srgbClr val="FFCC99"/>
          </a:solidFill>
          <a:ln w="22225">
            <a:solidFill>
              <a:srgbClr val="99CCFF"/>
            </a:solidFill>
            <a:miter lim="800000"/>
            <a:headEnd/>
            <a:tailEnd/>
          </a:ln>
        </p:spPr>
        <p:txBody>
          <a:bodyPr wrap="none"/>
          <a:lstStyle/>
          <a:p>
            <a:endParaRPr lang="zh-CN" altLang="en-US"/>
          </a:p>
        </p:txBody>
      </p:sp>
      <p:grpSp>
        <p:nvGrpSpPr>
          <p:cNvPr id="3" name="Group 33"/>
          <p:cNvGrpSpPr>
            <a:grpSpLocks/>
          </p:cNvGrpSpPr>
          <p:nvPr/>
        </p:nvGrpSpPr>
        <p:grpSpPr bwMode="auto">
          <a:xfrm>
            <a:off x="530100" y="1642490"/>
            <a:ext cx="3119436" cy="3813175"/>
            <a:chOff x="779" y="1001"/>
            <a:chExt cx="1965" cy="2402"/>
          </a:xfrm>
        </p:grpSpPr>
        <p:grpSp>
          <p:nvGrpSpPr>
            <p:cNvPr id="18492" name="Group 15"/>
            <p:cNvGrpSpPr>
              <a:grpSpLocks/>
            </p:cNvGrpSpPr>
            <p:nvPr/>
          </p:nvGrpSpPr>
          <p:grpSpPr bwMode="auto">
            <a:xfrm>
              <a:off x="1164" y="1001"/>
              <a:ext cx="1580" cy="1735"/>
              <a:chOff x="770" y="1071"/>
              <a:chExt cx="1580" cy="1735"/>
            </a:xfrm>
          </p:grpSpPr>
          <p:grpSp>
            <p:nvGrpSpPr>
              <p:cNvPr id="18494" name="Group 16"/>
              <p:cNvGrpSpPr>
                <a:grpSpLocks/>
              </p:cNvGrpSpPr>
              <p:nvPr/>
            </p:nvGrpSpPr>
            <p:grpSpPr bwMode="auto">
              <a:xfrm>
                <a:off x="1351" y="1071"/>
                <a:ext cx="298" cy="588"/>
                <a:chOff x="1157" y="1263"/>
                <a:chExt cx="298" cy="588"/>
              </a:xfrm>
            </p:grpSpPr>
            <p:sp>
              <p:nvSpPr>
                <p:cNvPr id="18504" name="AutoShape 17"/>
                <p:cNvSpPr>
                  <a:spLocks noChangeArrowheads="1"/>
                </p:cNvSpPr>
                <p:nvPr/>
              </p:nvSpPr>
              <p:spPr bwMode="auto">
                <a:xfrm rot="13800000">
                  <a:off x="1017" y="1587"/>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505" name="Text Box 18"/>
                <p:cNvSpPr txBox="1">
                  <a:spLocks noChangeArrowheads="1"/>
                </p:cNvSpPr>
                <p:nvPr/>
              </p:nvSpPr>
              <p:spPr bwMode="auto">
                <a:xfrm>
                  <a:off x="1157" y="1263"/>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dirty="0">
                      <a:cs typeface="Times New Roman" panose="02020603050405020304" pitchFamily="18" charset="0"/>
                    </a:rPr>
                    <a:t>F</a:t>
                  </a:r>
                  <a:r>
                    <a:rPr lang="en-US" altLang="zh-CN" sz="1800" baseline="-25000" dirty="0">
                      <a:latin typeface="Tahoma" panose="020B0604030504040204" pitchFamily="34" charset="0"/>
                    </a:rPr>
                    <a:t>1</a:t>
                  </a:r>
                  <a:endParaRPr lang="en-US" altLang="zh-CN" sz="1800" dirty="0">
                    <a:latin typeface="Tahoma" panose="020B0604030504040204" pitchFamily="34" charset="0"/>
                  </a:endParaRPr>
                </a:p>
              </p:txBody>
            </p:sp>
          </p:grpSp>
          <p:grpSp>
            <p:nvGrpSpPr>
              <p:cNvPr id="18495" name="Group 19"/>
              <p:cNvGrpSpPr>
                <a:grpSpLocks/>
              </p:cNvGrpSpPr>
              <p:nvPr/>
            </p:nvGrpSpPr>
            <p:grpSpPr bwMode="auto">
              <a:xfrm>
                <a:off x="1344" y="2148"/>
                <a:ext cx="480" cy="302"/>
                <a:chOff x="1344" y="2148"/>
                <a:chExt cx="480" cy="302"/>
              </a:xfrm>
            </p:grpSpPr>
            <p:sp>
              <p:nvSpPr>
                <p:cNvPr id="18502" name="AutoShape 20"/>
                <p:cNvSpPr>
                  <a:spLocks noChangeArrowheads="1"/>
                </p:cNvSpPr>
                <p:nvPr/>
              </p:nvSpPr>
              <p:spPr bwMode="auto">
                <a:xfrm>
                  <a:off x="1344" y="2148"/>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503" name="Text Box 21"/>
                <p:cNvSpPr txBox="1">
                  <a:spLocks noChangeArrowheads="1"/>
                </p:cNvSpPr>
                <p:nvPr/>
              </p:nvSpPr>
              <p:spPr bwMode="auto">
                <a:xfrm>
                  <a:off x="1535" y="2276"/>
                  <a:ext cx="18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cs typeface="Times New Roman" panose="02020603050405020304" pitchFamily="18" charset="0"/>
                    </a:rPr>
                    <a:t>F</a:t>
                  </a:r>
                  <a:r>
                    <a:rPr lang="en-US" altLang="zh-CN" sz="1800" baseline="-25000">
                      <a:cs typeface="Times New Roman" panose="02020603050405020304" pitchFamily="18" charset="0"/>
                    </a:rPr>
                    <a:t>3</a:t>
                  </a:r>
                  <a:endParaRPr lang="en-US" altLang="zh-CN" sz="1800">
                    <a:cs typeface="Times New Roman" panose="02020603050405020304" pitchFamily="18" charset="0"/>
                  </a:endParaRPr>
                </a:p>
              </p:txBody>
            </p:sp>
          </p:grpSp>
          <p:grpSp>
            <p:nvGrpSpPr>
              <p:cNvPr id="18496" name="Group 22"/>
              <p:cNvGrpSpPr>
                <a:grpSpLocks/>
              </p:cNvGrpSpPr>
              <p:nvPr/>
            </p:nvGrpSpPr>
            <p:grpSpPr bwMode="auto">
              <a:xfrm>
                <a:off x="1632" y="2016"/>
                <a:ext cx="718" cy="267"/>
                <a:chOff x="1494" y="1803"/>
                <a:chExt cx="718" cy="267"/>
              </a:xfrm>
            </p:grpSpPr>
            <p:sp>
              <p:nvSpPr>
                <p:cNvPr id="18500" name="AutoShape 23"/>
                <p:cNvSpPr>
                  <a:spLocks noChangeArrowheads="1"/>
                </p:cNvSpPr>
                <p:nvPr/>
              </p:nvSpPr>
              <p:spPr bwMode="auto">
                <a:xfrm rot="1200000">
                  <a:off x="1494" y="1803"/>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501" name="Text Box 24"/>
                <p:cNvSpPr txBox="1">
                  <a:spLocks noChangeArrowheads="1"/>
                </p:cNvSpPr>
                <p:nvPr/>
              </p:nvSpPr>
              <p:spPr bwMode="auto">
                <a:xfrm>
                  <a:off x="1914" y="1839"/>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cs typeface="Times New Roman" panose="02020603050405020304" pitchFamily="18" charset="0"/>
                    </a:rPr>
                    <a:t>F</a:t>
                  </a:r>
                  <a:r>
                    <a:rPr lang="en-US" altLang="zh-CN" sz="1800" baseline="-25000">
                      <a:cs typeface="Times New Roman" panose="02020603050405020304" pitchFamily="18" charset="0"/>
                    </a:rPr>
                    <a:t>2</a:t>
                  </a:r>
                  <a:endParaRPr lang="en-US" altLang="zh-CN" sz="1800">
                    <a:cs typeface="Times New Roman" panose="02020603050405020304" pitchFamily="18" charset="0"/>
                  </a:endParaRPr>
                </a:p>
              </p:txBody>
            </p:sp>
          </p:grpSp>
          <p:grpSp>
            <p:nvGrpSpPr>
              <p:cNvPr id="18497" name="Group 25"/>
              <p:cNvGrpSpPr>
                <a:grpSpLocks/>
              </p:cNvGrpSpPr>
              <p:nvPr/>
            </p:nvGrpSpPr>
            <p:grpSpPr bwMode="auto">
              <a:xfrm>
                <a:off x="770" y="1668"/>
                <a:ext cx="298" cy="1138"/>
                <a:chOff x="1020" y="1668"/>
                <a:chExt cx="298" cy="1138"/>
              </a:xfrm>
            </p:grpSpPr>
            <p:sp>
              <p:nvSpPr>
                <p:cNvPr id="18498" name="Text Box 26"/>
                <p:cNvSpPr txBox="1">
                  <a:spLocks noChangeArrowheads="1"/>
                </p:cNvSpPr>
                <p:nvPr/>
              </p:nvSpPr>
              <p:spPr bwMode="auto">
                <a:xfrm>
                  <a:off x="1020" y="1961"/>
                  <a:ext cx="2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cs typeface="Times New Roman" panose="02020603050405020304" pitchFamily="18" charset="0"/>
                    </a:rPr>
                    <a:t>F</a:t>
                  </a:r>
                  <a:r>
                    <a:rPr lang="en-US" altLang="zh-CN" sz="1800" i="1" baseline="-25000">
                      <a:cs typeface="Times New Roman" panose="02020603050405020304" pitchFamily="18" charset="0"/>
                    </a:rPr>
                    <a:t>n</a:t>
                  </a:r>
                  <a:endParaRPr lang="en-US" altLang="zh-CN" sz="1800" i="1">
                    <a:cs typeface="Times New Roman" panose="02020603050405020304" pitchFamily="18" charset="0"/>
                  </a:endParaRPr>
                </a:p>
              </p:txBody>
            </p:sp>
            <p:sp>
              <p:nvSpPr>
                <p:cNvPr id="18499" name="AutoShape 27"/>
                <p:cNvSpPr>
                  <a:spLocks noChangeArrowheads="1"/>
                </p:cNvSpPr>
                <p:nvPr/>
              </p:nvSpPr>
              <p:spPr bwMode="auto">
                <a:xfrm rot="7200000">
                  <a:off x="643" y="2213"/>
                  <a:ext cx="1138" cy="48"/>
                </a:xfrm>
                <a:prstGeom prst="rightArrow">
                  <a:avLst>
                    <a:gd name="adj1" fmla="val 50000"/>
                    <a:gd name="adj2" fmla="val 592708"/>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18493" name="Text Box 28"/>
            <p:cNvSpPr txBox="1">
              <a:spLocks noChangeArrowheads="1"/>
            </p:cNvSpPr>
            <p:nvPr/>
          </p:nvSpPr>
          <p:spPr bwMode="auto">
            <a:xfrm>
              <a:off x="779" y="2976"/>
              <a:ext cx="127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rgbClr val="040408"/>
                  </a:solidFill>
                  <a:latin typeface="黑体" panose="02010609060101010101" pitchFamily="49" charset="-122"/>
                  <a:ea typeface="黑体" panose="02010609060101010101" pitchFamily="49" charset="-122"/>
                </a:rPr>
                <a:t>空间力系</a:t>
              </a:r>
            </a:p>
            <a:p>
              <a:pPr algn="ctr" eaLnBrk="1" hangingPunct="1"/>
              <a:r>
                <a:rPr lang="en-US" altLang="zh-CN" sz="2000" b="1" dirty="0">
                  <a:solidFill>
                    <a:srgbClr val="040408"/>
                  </a:solidFill>
                </a:rPr>
                <a:t>(</a:t>
              </a:r>
              <a:r>
                <a:rPr lang="en-US" altLang="zh-CN" sz="2000" b="1" i="1" dirty="0">
                  <a:solidFill>
                    <a:srgbClr val="040408"/>
                  </a:solidFill>
                </a:rPr>
                <a:t>F</a:t>
              </a:r>
              <a:r>
                <a:rPr lang="en-US" altLang="zh-CN" sz="2000" b="1" baseline="-25000" dirty="0">
                  <a:solidFill>
                    <a:srgbClr val="040408"/>
                  </a:solidFill>
                </a:rPr>
                <a:t>1</a:t>
              </a:r>
              <a:r>
                <a:rPr lang="zh-CN" altLang="en-US" sz="2000" b="1" baseline="-25000" dirty="0">
                  <a:solidFill>
                    <a:srgbClr val="040408"/>
                  </a:solidFill>
                </a:rPr>
                <a:t>，</a:t>
              </a:r>
              <a:r>
                <a:rPr lang="en-US" altLang="zh-CN" sz="2000" b="1" i="1" dirty="0">
                  <a:solidFill>
                    <a:srgbClr val="040408"/>
                  </a:solidFill>
                </a:rPr>
                <a:t>F</a:t>
              </a:r>
              <a:r>
                <a:rPr lang="en-US" altLang="zh-CN" sz="2000" b="1" baseline="-25000" dirty="0">
                  <a:solidFill>
                    <a:srgbClr val="040408"/>
                  </a:solidFill>
                </a:rPr>
                <a:t>2 </a:t>
              </a:r>
              <a:r>
                <a:rPr lang="zh-CN" altLang="en-US" sz="2000" b="1" baseline="-25000" dirty="0">
                  <a:solidFill>
                    <a:srgbClr val="040408"/>
                  </a:solidFill>
                </a:rPr>
                <a:t>，</a:t>
              </a:r>
              <a:r>
                <a:rPr lang="en-US" altLang="zh-CN" sz="2000" b="1" dirty="0">
                  <a:solidFill>
                    <a:srgbClr val="040408"/>
                  </a:solidFill>
                </a:rPr>
                <a:t>… </a:t>
              </a:r>
              <a:r>
                <a:rPr lang="en-US" altLang="zh-CN" sz="2000" b="1" i="1" dirty="0" err="1">
                  <a:solidFill>
                    <a:srgbClr val="040408"/>
                  </a:solidFill>
                </a:rPr>
                <a:t>F</a:t>
              </a:r>
              <a:r>
                <a:rPr lang="en-US" altLang="zh-CN" sz="2000" b="1" i="1" baseline="-25000" dirty="0" err="1">
                  <a:solidFill>
                    <a:srgbClr val="040408"/>
                  </a:solidFill>
                </a:rPr>
                <a:t>n</a:t>
              </a:r>
              <a:r>
                <a:rPr lang="en-US" altLang="zh-CN" sz="2000" b="1" baseline="-25000" dirty="0">
                  <a:solidFill>
                    <a:srgbClr val="2113DD"/>
                  </a:solidFill>
                </a:rPr>
                <a:t> </a:t>
              </a:r>
              <a:r>
                <a:rPr lang="en-US" altLang="zh-CN" sz="2000" b="1" dirty="0"/>
                <a:t>)</a:t>
              </a:r>
              <a:endParaRPr lang="en-US" altLang="zh-CN" sz="2000" b="1" baseline="-25000" dirty="0"/>
            </a:p>
          </p:txBody>
        </p:sp>
      </p:grpSp>
      <p:grpSp>
        <p:nvGrpSpPr>
          <p:cNvPr id="9" name="Group 34"/>
          <p:cNvGrpSpPr>
            <a:grpSpLocks/>
          </p:cNvGrpSpPr>
          <p:nvPr/>
        </p:nvGrpSpPr>
        <p:grpSpPr bwMode="auto">
          <a:xfrm>
            <a:off x="3889127" y="2072218"/>
            <a:ext cx="1562100" cy="1409700"/>
            <a:chOff x="996" y="1368"/>
            <a:chExt cx="984" cy="888"/>
          </a:xfrm>
        </p:grpSpPr>
        <p:sp>
          <p:nvSpPr>
            <p:cNvPr id="18489" name="Freeform 35"/>
            <p:cNvSpPr>
              <a:spLocks/>
            </p:cNvSpPr>
            <p:nvPr/>
          </p:nvSpPr>
          <p:spPr bwMode="auto">
            <a:xfrm>
              <a:off x="996" y="1368"/>
              <a:ext cx="984" cy="888"/>
            </a:xfrm>
            <a:custGeom>
              <a:avLst/>
              <a:gdLst>
                <a:gd name="T0" fmla="*/ 624 w 984"/>
                <a:gd name="T1" fmla="*/ 8 h 888"/>
                <a:gd name="T2" fmla="*/ 192 w 984"/>
                <a:gd name="T3" fmla="*/ 56 h 888"/>
                <a:gd name="T4" fmla="*/ 0 w 984"/>
                <a:gd name="T5" fmla="*/ 344 h 888"/>
                <a:gd name="T6" fmla="*/ 192 w 984"/>
                <a:gd name="T7" fmla="*/ 728 h 888"/>
                <a:gd name="T8" fmla="*/ 576 w 984"/>
                <a:gd name="T9" fmla="*/ 872 h 888"/>
                <a:gd name="T10" fmla="*/ 864 w 984"/>
                <a:gd name="T11" fmla="*/ 632 h 888"/>
                <a:gd name="T12" fmla="*/ 960 w 984"/>
                <a:gd name="T13" fmla="*/ 296 h 888"/>
                <a:gd name="T14" fmla="*/ 720 w 984"/>
                <a:gd name="T15" fmla="*/ 56 h 888"/>
                <a:gd name="T16" fmla="*/ 624 w 984"/>
                <a:gd name="T17" fmla="*/ 8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solidFill>
              <a:srgbClr val="FFCC99"/>
            </a:solidFill>
            <a:ln w="22225">
              <a:solidFill>
                <a:srgbClr val="99CCFF"/>
              </a:solidFill>
              <a:miter lim="800000"/>
              <a:headEnd/>
              <a:tailEnd/>
            </a:ln>
          </p:spPr>
          <p:txBody>
            <a:bodyPr wrap="none"/>
            <a:lstStyle/>
            <a:p>
              <a:endParaRPr lang="zh-CN" altLang="en-US"/>
            </a:p>
          </p:txBody>
        </p:sp>
        <p:sp>
          <p:nvSpPr>
            <p:cNvPr id="18490" name="Oval 36"/>
            <p:cNvSpPr>
              <a:spLocks noChangeArrowheads="1"/>
            </p:cNvSpPr>
            <p:nvPr/>
          </p:nvSpPr>
          <p:spPr bwMode="auto">
            <a:xfrm>
              <a:off x="1491" y="1709"/>
              <a:ext cx="45" cy="45"/>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491" name="Text Box 37"/>
            <p:cNvSpPr txBox="1">
              <a:spLocks noChangeArrowheads="1"/>
            </p:cNvSpPr>
            <p:nvPr/>
          </p:nvSpPr>
          <p:spPr bwMode="auto">
            <a:xfrm>
              <a:off x="1194" y="1613"/>
              <a:ext cx="2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a:solidFill>
                    <a:srgbClr val="FF3300"/>
                  </a:solidFill>
                  <a:cs typeface="Times New Roman" panose="02020603050405020304" pitchFamily="18" charset="0"/>
                </a:rPr>
                <a:t>O</a:t>
              </a:r>
            </a:p>
          </p:txBody>
        </p:sp>
      </p:grpSp>
      <p:grpSp>
        <p:nvGrpSpPr>
          <p:cNvPr id="10" name="Group 38"/>
          <p:cNvGrpSpPr>
            <a:grpSpLocks/>
          </p:cNvGrpSpPr>
          <p:nvPr/>
        </p:nvGrpSpPr>
        <p:grpSpPr bwMode="auto">
          <a:xfrm>
            <a:off x="4139952" y="1724556"/>
            <a:ext cx="1838325" cy="2625725"/>
            <a:chOff x="2867" y="1152"/>
            <a:chExt cx="1158" cy="1654"/>
          </a:xfrm>
        </p:grpSpPr>
        <p:grpSp>
          <p:nvGrpSpPr>
            <p:cNvPr id="18478" name="Group 39"/>
            <p:cNvGrpSpPr>
              <a:grpSpLocks/>
            </p:cNvGrpSpPr>
            <p:nvPr/>
          </p:nvGrpSpPr>
          <p:grpSpPr bwMode="auto">
            <a:xfrm>
              <a:off x="2867" y="1152"/>
              <a:ext cx="450" cy="618"/>
              <a:chOff x="1140" y="1152"/>
              <a:chExt cx="450" cy="618"/>
            </a:xfrm>
          </p:grpSpPr>
          <p:sp>
            <p:nvSpPr>
              <p:cNvPr id="18487" name="AutoShape 40"/>
              <p:cNvSpPr>
                <a:spLocks noChangeArrowheads="1"/>
              </p:cNvSpPr>
              <p:nvPr/>
            </p:nvSpPr>
            <p:spPr bwMode="auto">
              <a:xfrm rot="-7800000">
                <a:off x="1107" y="1506"/>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488" name="Text Box 41"/>
              <p:cNvSpPr txBox="1">
                <a:spLocks noChangeArrowheads="1"/>
              </p:cNvSpPr>
              <p:nvPr/>
            </p:nvSpPr>
            <p:spPr bwMode="auto">
              <a:xfrm>
                <a:off x="1140" y="1152"/>
                <a:ext cx="45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cs typeface="Times New Roman" panose="02020603050405020304" pitchFamily="18" charset="0"/>
                  </a:rPr>
                  <a:t>F'</a:t>
                </a:r>
                <a:r>
                  <a:rPr lang="en-US" altLang="zh-CN" sz="1800" baseline="-25000">
                    <a:cs typeface="Times New Roman" panose="02020603050405020304" pitchFamily="18" charset="0"/>
                  </a:rPr>
                  <a:t>1</a:t>
                </a:r>
                <a:endParaRPr lang="en-US" altLang="zh-CN" sz="1800">
                  <a:cs typeface="Times New Roman" panose="02020603050405020304" pitchFamily="18" charset="0"/>
                </a:endParaRPr>
              </a:p>
            </p:txBody>
          </p:sp>
        </p:grpSp>
        <p:sp>
          <p:nvSpPr>
            <p:cNvPr id="18479" name="AutoShape 42"/>
            <p:cNvSpPr>
              <a:spLocks noChangeArrowheads="1"/>
            </p:cNvSpPr>
            <p:nvPr/>
          </p:nvSpPr>
          <p:spPr bwMode="auto">
            <a:xfrm>
              <a:off x="3251" y="1704"/>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480" name="Text Box 43"/>
            <p:cNvSpPr txBox="1">
              <a:spLocks noChangeArrowheads="1"/>
            </p:cNvSpPr>
            <p:nvPr/>
          </p:nvSpPr>
          <p:spPr bwMode="auto">
            <a:xfrm>
              <a:off x="3677" y="1514"/>
              <a:ext cx="3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cs typeface="Times New Roman" panose="02020603050405020304" pitchFamily="18" charset="0"/>
                </a:rPr>
                <a:t>F'</a:t>
              </a:r>
              <a:r>
                <a:rPr lang="en-US" altLang="zh-CN" sz="1800" baseline="-25000">
                  <a:cs typeface="Times New Roman" panose="02020603050405020304" pitchFamily="18" charset="0"/>
                </a:rPr>
                <a:t>2</a:t>
              </a:r>
              <a:endParaRPr lang="en-US" altLang="zh-CN" sz="1800">
                <a:cs typeface="Times New Roman" panose="02020603050405020304" pitchFamily="18" charset="0"/>
              </a:endParaRPr>
            </a:p>
          </p:txBody>
        </p:sp>
        <p:grpSp>
          <p:nvGrpSpPr>
            <p:cNvPr id="18481" name="Group 44"/>
            <p:cNvGrpSpPr>
              <a:grpSpLocks/>
            </p:cNvGrpSpPr>
            <p:nvPr/>
          </p:nvGrpSpPr>
          <p:grpSpPr bwMode="auto">
            <a:xfrm>
              <a:off x="3221" y="1803"/>
              <a:ext cx="771" cy="269"/>
              <a:chOff x="1494" y="1803"/>
              <a:chExt cx="771" cy="269"/>
            </a:xfrm>
          </p:grpSpPr>
          <p:sp>
            <p:nvSpPr>
              <p:cNvPr id="18485" name="AutoShape 45"/>
              <p:cNvSpPr>
                <a:spLocks noChangeArrowheads="1"/>
              </p:cNvSpPr>
              <p:nvPr/>
            </p:nvSpPr>
            <p:spPr bwMode="auto">
              <a:xfrm rot="1200000">
                <a:off x="1494" y="1803"/>
                <a:ext cx="480" cy="48"/>
              </a:xfrm>
              <a:prstGeom prst="rightArrow">
                <a:avLst>
                  <a:gd name="adj1" fmla="val 50000"/>
                  <a:gd name="adj2" fmla="val 250000"/>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486" name="Text Box 46"/>
              <p:cNvSpPr txBox="1">
                <a:spLocks noChangeArrowheads="1"/>
              </p:cNvSpPr>
              <p:nvPr/>
            </p:nvSpPr>
            <p:spPr bwMode="auto">
              <a:xfrm>
                <a:off x="1914" y="1839"/>
                <a:ext cx="35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cs typeface="Times New Roman" panose="02020603050405020304" pitchFamily="18" charset="0"/>
                  </a:rPr>
                  <a:t>F'</a:t>
                </a:r>
                <a:r>
                  <a:rPr lang="en-US" altLang="zh-CN" sz="1800" baseline="-25000">
                    <a:cs typeface="Times New Roman" panose="02020603050405020304" pitchFamily="18" charset="0"/>
                  </a:rPr>
                  <a:t>3</a:t>
                </a:r>
                <a:endParaRPr lang="en-US" altLang="zh-CN" sz="1800">
                  <a:cs typeface="Times New Roman" panose="02020603050405020304" pitchFamily="18" charset="0"/>
                </a:endParaRPr>
              </a:p>
            </p:txBody>
          </p:sp>
        </p:grpSp>
        <p:grpSp>
          <p:nvGrpSpPr>
            <p:cNvPr id="18482" name="Group 47"/>
            <p:cNvGrpSpPr>
              <a:grpSpLocks/>
            </p:cNvGrpSpPr>
            <p:nvPr/>
          </p:nvGrpSpPr>
          <p:grpSpPr bwMode="auto">
            <a:xfrm>
              <a:off x="2867" y="1668"/>
              <a:ext cx="315" cy="1138"/>
              <a:chOff x="1140" y="1668"/>
              <a:chExt cx="315" cy="1138"/>
            </a:xfrm>
          </p:grpSpPr>
          <p:sp>
            <p:nvSpPr>
              <p:cNvPr id="18483" name="Text Box 48"/>
              <p:cNvSpPr txBox="1">
                <a:spLocks noChangeArrowheads="1"/>
              </p:cNvSpPr>
              <p:nvPr/>
            </p:nvSpPr>
            <p:spPr bwMode="auto">
              <a:xfrm>
                <a:off x="1140" y="2279"/>
                <a:ext cx="3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cs typeface="Times New Roman" panose="02020603050405020304" pitchFamily="18" charset="0"/>
                  </a:rPr>
                  <a:t>F'</a:t>
                </a:r>
                <a:r>
                  <a:rPr lang="en-US" altLang="zh-CN" sz="1800" i="1" baseline="-25000">
                    <a:cs typeface="Times New Roman" panose="02020603050405020304" pitchFamily="18" charset="0"/>
                  </a:rPr>
                  <a:t>n</a:t>
                </a:r>
                <a:endParaRPr lang="en-US" altLang="zh-CN" sz="1800" i="1">
                  <a:cs typeface="Times New Roman" panose="02020603050405020304" pitchFamily="18" charset="0"/>
                </a:endParaRPr>
              </a:p>
            </p:txBody>
          </p:sp>
          <p:sp>
            <p:nvSpPr>
              <p:cNvPr id="18484" name="AutoShape 49"/>
              <p:cNvSpPr>
                <a:spLocks noChangeArrowheads="1"/>
              </p:cNvSpPr>
              <p:nvPr/>
            </p:nvSpPr>
            <p:spPr bwMode="auto">
              <a:xfrm rot="7200000">
                <a:off x="643" y="2213"/>
                <a:ext cx="1138" cy="48"/>
              </a:xfrm>
              <a:prstGeom prst="rightArrow">
                <a:avLst>
                  <a:gd name="adj1" fmla="val 50000"/>
                  <a:gd name="adj2" fmla="val 592708"/>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14" name="Group 50"/>
          <p:cNvGrpSpPr>
            <a:grpSpLocks/>
          </p:cNvGrpSpPr>
          <p:nvPr/>
        </p:nvGrpSpPr>
        <p:grpSpPr bwMode="auto">
          <a:xfrm>
            <a:off x="6519614" y="2194456"/>
            <a:ext cx="1562100" cy="1409700"/>
            <a:chOff x="996" y="1368"/>
            <a:chExt cx="984" cy="888"/>
          </a:xfrm>
        </p:grpSpPr>
        <p:sp>
          <p:nvSpPr>
            <p:cNvPr id="18475" name="Freeform 51"/>
            <p:cNvSpPr>
              <a:spLocks/>
            </p:cNvSpPr>
            <p:nvPr/>
          </p:nvSpPr>
          <p:spPr bwMode="auto">
            <a:xfrm>
              <a:off x="996" y="1368"/>
              <a:ext cx="984" cy="888"/>
            </a:xfrm>
            <a:custGeom>
              <a:avLst/>
              <a:gdLst>
                <a:gd name="T0" fmla="*/ 624 w 984"/>
                <a:gd name="T1" fmla="*/ 8 h 888"/>
                <a:gd name="T2" fmla="*/ 192 w 984"/>
                <a:gd name="T3" fmla="*/ 56 h 888"/>
                <a:gd name="T4" fmla="*/ 0 w 984"/>
                <a:gd name="T5" fmla="*/ 344 h 888"/>
                <a:gd name="T6" fmla="*/ 192 w 984"/>
                <a:gd name="T7" fmla="*/ 728 h 888"/>
                <a:gd name="T8" fmla="*/ 576 w 984"/>
                <a:gd name="T9" fmla="*/ 872 h 888"/>
                <a:gd name="T10" fmla="*/ 864 w 984"/>
                <a:gd name="T11" fmla="*/ 632 h 888"/>
                <a:gd name="T12" fmla="*/ 960 w 984"/>
                <a:gd name="T13" fmla="*/ 296 h 888"/>
                <a:gd name="T14" fmla="*/ 720 w 984"/>
                <a:gd name="T15" fmla="*/ 56 h 888"/>
                <a:gd name="T16" fmla="*/ 624 w 984"/>
                <a:gd name="T17" fmla="*/ 8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solidFill>
              <a:srgbClr val="FFCC99"/>
            </a:solidFill>
            <a:ln w="22225">
              <a:solidFill>
                <a:srgbClr val="99CCFF"/>
              </a:solidFill>
              <a:miter lim="800000"/>
              <a:headEnd/>
              <a:tailEnd/>
            </a:ln>
          </p:spPr>
          <p:txBody>
            <a:bodyPr wrap="none"/>
            <a:lstStyle/>
            <a:p>
              <a:endParaRPr lang="zh-CN" altLang="en-US"/>
            </a:p>
          </p:txBody>
        </p:sp>
        <p:sp>
          <p:nvSpPr>
            <p:cNvPr id="18476" name="Oval 52"/>
            <p:cNvSpPr>
              <a:spLocks noChangeArrowheads="1"/>
            </p:cNvSpPr>
            <p:nvPr/>
          </p:nvSpPr>
          <p:spPr bwMode="auto">
            <a:xfrm>
              <a:off x="1491" y="1709"/>
              <a:ext cx="45" cy="45"/>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477" name="Text Box 53"/>
            <p:cNvSpPr txBox="1">
              <a:spLocks noChangeArrowheads="1"/>
            </p:cNvSpPr>
            <p:nvPr/>
          </p:nvSpPr>
          <p:spPr bwMode="auto">
            <a:xfrm>
              <a:off x="1275" y="1619"/>
              <a:ext cx="2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a:solidFill>
                    <a:srgbClr val="FF3300"/>
                  </a:solidFill>
                  <a:cs typeface="Times New Roman" panose="02020603050405020304" pitchFamily="18" charset="0"/>
                </a:rPr>
                <a:t>O</a:t>
              </a:r>
            </a:p>
          </p:txBody>
        </p:sp>
      </p:grpSp>
      <p:grpSp>
        <p:nvGrpSpPr>
          <p:cNvPr id="15" name="Group 54"/>
          <p:cNvGrpSpPr>
            <a:grpSpLocks/>
          </p:cNvGrpSpPr>
          <p:nvPr/>
        </p:nvGrpSpPr>
        <p:grpSpPr bwMode="auto">
          <a:xfrm>
            <a:off x="3465264" y="1797581"/>
            <a:ext cx="2270125" cy="1606550"/>
            <a:chOff x="2448" y="1200"/>
            <a:chExt cx="1430" cy="1012"/>
          </a:xfrm>
        </p:grpSpPr>
        <p:sp>
          <p:nvSpPr>
            <p:cNvPr id="18467" name="AutoShape 55"/>
            <p:cNvSpPr>
              <a:spLocks noChangeArrowheads="1"/>
            </p:cNvSpPr>
            <p:nvPr/>
          </p:nvSpPr>
          <p:spPr bwMode="auto">
            <a:xfrm rot="3000000">
              <a:off x="3144" y="1896"/>
              <a:ext cx="480" cy="48"/>
            </a:xfrm>
            <a:prstGeom prst="rightArrow">
              <a:avLst>
                <a:gd name="adj1" fmla="val 50000"/>
                <a:gd name="adj2" fmla="val 250000"/>
              </a:avLst>
            </a:prstGeom>
            <a:solidFill>
              <a:srgbClr val="FFFF00"/>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468" name="AutoShape 56"/>
            <p:cNvSpPr>
              <a:spLocks noChangeArrowheads="1"/>
            </p:cNvSpPr>
            <p:nvPr/>
          </p:nvSpPr>
          <p:spPr bwMode="auto">
            <a:xfrm rot="-9000000">
              <a:off x="2650" y="1556"/>
              <a:ext cx="594" cy="48"/>
            </a:xfrm>
            <a:prstGeom prst="rightArrow">
              <a:avLst>
                <a:gd name="adj1" fmla="val 50000"/>
                <a:gd name="adj2" fmla="val 309375"/>
              </a:avLst>
            </a:prstGeom>
            <a:solidFill>
              <a:srgbClr val="FFFF99"/>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469" name="Text Box 57"/>
            <p:cNvSpPr txBox="1">
              <a:spLocks noChangeArrowheads="1"/>
            </p:cNvSpPr>
            <p:nvPr/>
          </p:nvSpPr>
          <p:spPr bwMode="auto">
            <a:xfrm>
              <a:off x="2448" y="1296"/>
              <a:ext cx="19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solidFill>
                    <a:srgbClr val="FF3300"/>
                  </a:solidFill>
                  <a:cs typeface="Times New Roman" panose="02020603050405020304" pitchFamily="18" charset="0"/>
                </a:rPr>
                <a:t>M</a:t>
              </a:r>
              <a:r>
                <a:rPr lang="en-US" altLang="zh-CN" sz="1800" baseline="-25000">
                  <a:solidFill>
                    <a:srgbClr val="FF3300"/>
                  </a:solidFill>
                  <a:cs typeface="Times New Roman" panose="02020603050405020304" pitchFamily="18" charset="0"/>
                </a:rPr>
                <a:t>1</a:t>
              </a:r>
              <a:endParaRPr lang="en-US" altLang="zh-CN" sz="1800">
                <a:solidFill>
                  <a:srgbClr val="FF3300"/>
                </a:solidFill>
                <a:cs typeface="Times New Roman" panose="02020603050405020304" pitchFamily="18" charset="0"/>
              </a:endParaRPr>
            </a:p>
          </p:txBody>
        </p:sp>
        <p:sp>
          <p:nvSpPr>
            <p:cNvPr id="18470" name="Text Box 58"/>
            <p:cNvSpPr txBox="1">
              <a:spLocks noChangeArrowheads="1"/>
            </p:cNvSpPr>
            <p:nvPr/>
          </p:nvSpPr>
          <p:spPr bwMode="auto">
            <a:xfrm>
              <a:off x="3552" y="2016"/>
              <a:ext cx="19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solidFill>
                    <a:srgbClr val="FF3300"/>
                  </a:solidFill>
                  <a:cs typeface="Times New Roman" panose="02020603050405020304" pitchFamily="18" charset="0"/>
                </a:rPr>
                <a:t>M</a:t>
              </a:r>
              <a:r>
                <a:rPr lang="en-US" altLang="zh-CN" sz="1800" baseline="-25000">
                  <a:solidFill>
                    <a:srgbClr val="FF3300"/>
                  </a:solidFill>
                  <a:cs typeface="Times New Roman" panose="02020603050405020304" pitchFamily="18" charset="0"/>
                </a:rPr>
                <a:t>3</a:t>
              </a:r>
              <a:endParaRPr lang="en-US" altLang="zh-CN" sz="1800">
                <a:solidFill>
                  <a:srgbClr val="FF3300"/>
                </a:solidFill>
                <a:cs typeface="Times New Roman" panose="02020603050405020304" pitchFamily="18" charset="0"/>
              </a:endParaRPr>
            </a:p>
          </p:txBody>
        </p:sp>
        <p:sp>
          <p:nvSpPr>
            <p:cNvPr id="18471" name="AutoShape 59"/>
            <p:cNvSpPr>
              <a:spLocks noChangeArrowheads="1"/>
            </p:cNvSpPr>
            <p:nvPr/>
          </p:nvSpPr>
          <p:spPr bwMode="auto">
            <a:xfrm rot="-1800000">
              <a:off x="3216" y="1527"/>
              <a:ext cx="662" cy="48"/>
            </a:xfrm>
            <a:prstGeom prst="rightArrow">
              <a:avLst>
                <a:gd name="adj1" fmla="val 50000"/>
                <a:gd name="adj2" fmla="val 344792"/>
              </a:avLst>
            </a:prstGeom>
            <a:solidFill>
              <a:srgbClr val="FFFF99"/>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472" name="Text Box 60"/>
            <p:cNvSpPr txBox="1">
              <a:spLocks noChangeArrowheads="1"/>
            </p:cNvSpPr>
            <p:nvPr/>
          </p:nvSpPr>
          <p:spPr bwMode="auto">
            <a:xfrm>
              <a:off x="3600" y="1200"/>
              <a:ext cx="19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solidFill>
                    <a:srgbClr val="FF3300"/>
                  </a:solidFill>
                  <a:cs typeface="Times New Roman" panose="02020603050405020304" pitchFamily="18" charset="0"/>
                </a:rPr>
                <a:t>M</a:t>
              </a:r>
              <a:r>
                <a:rPr lang="en-US" altLang="zh-CN" sz="1800" baseline="-25000">
                  <a:solidFill>
                    <a:srgbClr val="FF3300"/>
                  </a:solidFill>
                  <a:cs typeface="Times New Roman" panose="02020603050405020304" pitchFamily="18" charset="0"/>
                </a:rPr>
                <a:t>2</a:t>
              </a:r>
              <a:endParaRPr lang="en-US" altLang="zh-CN" sz="1800">
                <a:solidFill>
                  <a:srgbClr val="FF3300"/>
                </a:solidFill>
                <a:cs typeface="Times New Roman" panose="02020603050405020304" pitchFamily="18" charset="0"/>
              </a:endParaRPr>
            </a:p>
          </p:txBody>
        </p:sp>
        <p:sp>
          <p:nvSpPr>
            <p:cNvPr id="18473" name="AutoShape 61"/>
            <p:cNvSpPr>
              <a:spLocks noChangeArrowheads="1"/>
            </p:cNvSpPr>
            <p:nvPr/>
          </p:nvSpPr>
          <p:spPr bwMode="auto">
            <a:xfrm rot="8400000">
              <a:off x="2538" y="1958"/>
              <a:ext cx="753" cy="48"/>
            </a:xfrm>
            <a:prstGeom prst="rightArrow">
              <a:avLst>
                <a:gd name="adj1" fmla="val 50000"/>
                <a:gd name="adj2" fmla="val 392188"/>
              </a:avLst>
            </a:prstGeom>
            <a:solidFill>
              <a:srgbClr val="FFFF00"/>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78" name="Text Box 62"/>
            <p:cNvSpPr txBox="1">
              <a:spLocks noChangeArrowheads="1"/>
            </p:cNvSpPr>
            <p:nvPr/>
          </p:nvSpPr>
          <p:spPr bwMode="auto">
            <a:xfrm>
              <a:off x="2496" y="1923"/>
              <a:ext cx="240" cy="196"/>
            </a:xfrm>
            <a:prstGeom prst="rect">
              <a:avLst/>
            </a:prstGeom>
            <a:noFill/>
            <a:ln w="9525">
              <a:noFill/>
              <a:miter lim="800000"/>
              <a:headEnd/>
              <a:tailEnd/>
            </a:ln>
          </p:spPr>
          <p:txBody>
            <a:bodyPr lIns="0" tIns="0" rIns="0" bIns="36000">
              <a:spAutoFit/>
            </a:bodyPr>
            <a:lstStyle/>
            <a:p>
              <a:pPr eaLnBrk="1" hangingPunct="1">
                <a:defRPr/>
              </a:pPr>
              <a:r>
                <a:rPr lang="en-US" altLang="zh-CN" sz="1800" b="1" i="1" dirty="0" err="1">
                  <a:solidFill>
                    <a:srgbClr val="FF3300"/>
                  </a:solidFill>
                  <a:latin typeface="+mn-lt"/>
                </a:rPr>
                <a:t>M</a:t>
              </a:r>
              <a:r>
                <a:rPr lang="en-US" altLang="zh-CN" sz="1800" i="1" baseline="-25000" dirty="0" err="1">
                  <a:solidFill>
                    <a:srgbClr val="FF3300"/>
                  </a:solidFill>
                  <a:latin typeface="+mn-lt"/>
                </a:rPr>
                <a:t>n</a:t>
              </a:r>
              <a:endParaRPr lang="en-US" altLang="zh-CN" sz="1800" i="1" dirty="0">
                <a:solidFill>
                  <a:srgbClr val="FF3300"/>
                </a:solidFill>
                <a:latin typeface="+mn-lt"/>
              </a:endParaRPr>
            </a:p>
          </p:txBody>
        </p:sp>
      </p:grpSp>
      <p:grpSp>
        <p:nvGrpSpPr>
          <p:cNvPr id="16" name="Group 90"/>
          <p:cNvGrpSpPr>
            <a:grpSpLocks/>
          </p:cNvGrpSpPr>
          <p:nvPr/>
        </p:nvGrpSpPr>
        <p:grpSpPr bwMode="auto">
          <a:xfrm>
            <a:off x="7527677" y="1737256"/>
            <a:ext cx="401637" cy="1173162"/>
            <a:chOff x="5239" y="931"/>
            <a:chExt cx="253" cy="739"/>
          </a:xfrm>
        </p:grpSpPr>
        <p:sp>
          <p:nvSpPr>
            <p:cNvPr id="18465" name="Text Box 66"/>
            <p:cNvSpPr txBox="1">
              <a:spLocks noChangeArrowheads="1"/>
            </p:cNvSpPr>
            <p:nvPr/>
          </p:nvSpPr>
          <p:spPr bwMode="auto">
            <a:xfrm>
              <a:off x="5239" y="1026"/>
              <a:ext cx="2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FF3300"/>
                  </a:solidFill>
                  <a:cs typeface="Times New Roman" panose="02020603050405020304" pitchFamily="18" charset="0"/>
                </a:rPr>
                <a:t>M</a:t>
              </a:r>
              <a:r>
                <a:rPr lang="en-US" altLang="zh-CN" sz="1800" b="1" i="1" baseline="-25000" dirty="0">
                  <a:solidFill>
                    <a:srgbClr val="FF3300"/>
                  </a:solidFill>
                  <a:cs typeface="Times New Roman" panose="02020603050405020304" pitchFamily="18" charset="0"/>
                </a:rPr>
                <a:t>O</a:t>
              </a:r>
              <a:endParaRPr lang="en-US" altLang="zh-CN" sz="1800" b="1" i="1" dirty="0">
                <a:solidFill>
                  <a:srgbClr val="FF3300"/>
                </a:solidFill>
                <a:cs typeface="Times New Roman" panose="02020603050405020304" pitchFamily="18" charset="0"/>
              </a:endParaRPr>
            </a:p>
          </p:txBody>
        </p:sp>
        <p:sp>
          <p:nvSpPr>
            <p:cNvPr id="18466" name="AutoShape 67"/>
            <p:cNvSpPr>
              <a:spLocks noChangeArrowheads="1"/>
            </p:cNvSpPr>
            <p:nvPr/>
          </p:nvSpPr>
          <p:spPr bwMode="auto">
            <a:xfrm rot="13445185" flipV="1">
              <a:off x="5375" y="931"/>
              <a:ext cx="48" cy="739"/>
            </a:xfrm>
            <a:prstGeom prst="upArrow">
              <a:avLst>
                <a:gd name="adj1" fmla="val 50000"/>
                <a:gd name="adj2" fmla="val 384896"/>
              </a:avLst>
            </a:prstGeom>
            <a:solidFill>
              <a:srgbClr val="FF6600"/>
            </a:solidFill>
            <a:ln w="9525">
              <a:solidFill>
                <a:srgbClr val="993300"/>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7" name="Group 70"/>
          <p:cNvGrpSpPr>
            <a:grpSpLocks/>
          </p:cNvGrpSpPr>
          <p:nvPr/>
        </p:nvGrpSpPr>
        <p:grpSpPr bwMode="auto">
          <a:xfrm>
            <a:off x="6703765" y="1441981"/>
            <a:ext cx="557213" cy="1303337"/>
            <a:chOff x="4380" y="912"/>
            <a:chExt cx="351" cy="821"/>
          </a:xfrm>
        </p:grpSpPr>
        <p:sp>
          <p:nvSpPr>
            <p:cNvPr id="14367" name="Text Box 71"/>
            <p:cNvSpPr txBox="1">
              <a:spLocks noChangeArrowheads="1"/>
            </p:cNvSpPr>
            <p:nvPr/>
          </p:nvSpPr>
          <p:spPr bwMode="auto">
            <a:xfrm>
              <a:off x="4380" y="1012"/>
              <a:ext cx="269" cy="181"/>
            </a:xfrm>
            <a:prstGeom prst="rect">
              <a:avLst/>
            </a:prstGeom>
            <a:noFill/>
            <a:ln w="9525">
              <a:noFill/>
              <a:miter lim="800000"/>
              <a:headEnd/>
              <a:tailEnd/>
            </a:ln>
          </p:spPr>
          <p:txBody>
            <a:bodyPr lIns="0" tIns="0" rIns="0" bIns="10800">
              <a:spAutoFit/>
            </a:bodyPr>
            <a:lstStyle/>
            <a:p>
              <a:pPr eaLnBrk="1" hangingPunct="1">
                <a:defRPr/>
              </a:pPr>
              <a:r>
                <a:rPr lang="en-US" altLang="zh-CN" sz="1800" b="1" i="1" dirty="0">
                  <a:latin typeface="+mj-lt"/>
                </a:rPr>
                <a:t>F</a:t>
              </a:r>
              <a:r>
                <a:rPr lang="en-US" altLang="zh-CN" sz="1800" b="1" i="1" dirty="0">
                  <a:latin typeface="+mj-lt"/>
                  <a:cs typeface="Tahoma" pitchFamily="34" charset="0"/>
                </a:rPr>
                <a:t>'</a:t>
              </a:r>
              <a:r>
                <a:rPr lang="en-US" altLang="zh-CN" sz="1800" b="1" i="1" baseline="-25000" dirty="0">
                  <a:latin typeface="+mj-lt"/>
                </a:rPr>
                <a:t>R</a:t>
              </a:r>
              <a:endParaRPr lang="en-US" altLang="zh-CN" sz="1800" b="1" i="1" dirty="0">
                <a:latin typeface="+mj-lt"/>
              </a:endParaRPr>
            </a:p>
          </p:txBody>
        </p:sp>
        <p:sp>
          <p:nvSpPr>
            <p:cNvPr id="18464" name="AutoShape 72"/>
            <p:cNvSpPr>
              <a:spLocks noChangeArrowheads="1"/>
            </p:cNvSpPr>
            <p:nvPr/>
          </p:nvSpPr>
          <p:spPr bwMode="auto">
            <a:xfrm rot="-6000000">
              <a:off x="4296" y="1299"/>
              <a:ext cx="821" cy="48"/>
            </a:xfrm>
            <a:prstGeom prst="rightArrow">
              <a:avLst>
                <a:gd name="adj1" fmla="val 50000"/>
                <a:gd name="adj2" fmla="val 427604"/>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6458" name="AutoShape 74"/>
          <p:cNvSpPr>
            <a:spLocks/>
          </p:cNvSpPr>
          <p:nvPr/>
        </p:nvSpPr>
        <p:spPr bwMode="auto">
          <a:xfrm>
            <a:off x="2493446" y="4468812"/>
            <a:ext cx="71438" cy="1368425"/>
          </a:xfrm>
          <a:prstGeom prst="leftBrace">
            <a:avLst>
              <a:gd name="adj1" fmla="val 15962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8" name="Group 77"/>
          <p:cNvGrpSpPr>
            <a:grpSpLocks/>
          </p:cNvGrpSpPr>
          <p:nvPr/>
        </p:nvGrpSpPr>
        <p:grpSpPr bwMode="auto">
          <a:xfrm>
            <a:off x="2564885" y="4545000"/>
            <a:ext cx="3005139" cy="477838"/>
            <a:chOff x="2405" y="2721"/>
            <a:chExt cx="1893" cy="301"/>
          </a:xfrm>
        </p:grpSpPr>
        <p:sp>
          <p:nvSpPr>
            <p:cNvPr id="18461" name="Text Box 75"/>
            <p:cNvSpPr txBox="1">
              <a:spLocks noChangeArrowheads="1"/>
            </p:cNvSpPr>
            <p:nvPr/>
          </p:nvSpPr>
          <p:spPr bwMode="auto">
            <a:xfrm>
              <a:off x="2405" y="2721"/>
              <a:ext cx="90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99"/>
                  </a:solidFill>
                  <a:latin typeface="黑体" panose="02010609060101010101" pitchFamily="49" charset="-122"/>
                  <a:ea typeface="黑体" panose="02010609060101010101" pitchFamily="49" charset="-122"/>
                </a:rPr>
                <a:t>汇交力系</a:t>
              </a:r>
            </a:p>
          </p:txBody>
        </p:sp>
        <p:graphicFrame>
          <p:nvGraphicFramePr>
            <p:cNvPr id="18462" name="Object 76"/>
            <p:cNvGraphicFramePr>
              <a:graphicFrameLocks noChangeAspect="1"/>
            </p:cNvGraphicFramePr>
            <p:nvPr>
              <p:extLst>
                <p:ext uri="{D42A27DB-BD31-4B8C-83A1-F6EECF244321}">
                  <p14:modId xmlns:p14="http://schemas.microsoft.com/office/powerpoint/2010/main" val="3676282891"/>
                </p:ext>
              </p:extLst>
            </p:nvPr>
          </p:nvGraphicFramePr>
          <p:xfrm>
            <a:off x="3270" y="2750"/>
            <a:ext cx="1028" cy="272"/>
          </p:xfrm>
          <a:graphic>
            <a:graphicData uri="http://schemas.openxmlformats.org/presentationml/2006/ole">
              <mc:AlternateContent xmlns:mc="http://schemas.openxmlformats.org/markup-compatibility/2006">
                <mc:Choice xmlns:v="urn:schemas-microsoft-com:vml" Requires="v">
                  <p:oleObj spid="_x0000_s22546" name="Equation" r:id="rId3" imgW="863280" imgH="228600" progId="Equation.DSMT4">
                    <p:embed/>
                  </p:oleObj>
                </mc:Choice>
                <mc:Fallback>
                  <p:oleObj name="Equation" r:id="rId3" imgW="863280" imgH="228600" progId="Equation.DSMT4">
                    <p:embed/>
                    <p:pic>
                      <p:nvPicPr>
                        <p:cNvPr id="0" name="Object 76"/>
                        <p:cNvPicPr>
                          <a:picLocks noChangeAspect="1" noChangeArrowheads="1"/>
                        </p:cNvPicPr>
                        <p:nvPr/>
                      </p:nvPicPr>
                      <p:blipFill>
                        <a:blip r:embed="rId4"/>
                        <a:srcRect/>
                        <a:stretch>
                          <a:fillRect/>
                        </a:stretch>
                      </p:blipFill>
                      <p:spPr bwMode="auto">
                        <a:xfrm>
                          <a:off x="3270" y="2750"/>
                          <a:ext cx="102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 name="Group 82"/>
          <p:cNvGrpSpPr>
            <a:grpSpLocks/>
          </p:cNvGrpSpPr>
          <p:nvPr/>
        </p:nvGrpSpPr>
        <p:grpSpPr bwMode="auto">
          <a:xfrm>
            <a:off x="2609728" y="5290536"/>
            <a:ext cx="3084514" cy="461963"/>
            <a:chOff x="2472" y="3294"/>
            <a:chExt cx="1943" cy="291"/>
          </a:xfrm>
        </p:grpSpPr>
        <p:graphicFrame>
          <p:nvGraphicFramePr>
            <p:cNvPr id="18459" name="Object 80"/>
            <p:cNvGraphicFramePr>
              <a:graphicFrameLocks noChangeAspect="1"/>
            </p:cNvGraphicFramePr>
            <p:nvPr>
              <p:extLst>
                <p:ext uri="{D42A27DB-BD31-4B8C-83A1-F6EECF244321}">
                  <p14:modId xmlns:p14="http://schemas.microsoft.com/office/powerpoint/2010/main" val="84423459"/>
                </p:ext>
              </p:extLst>
            </p:nvPr>
          </p:nvGraphicFramePr>
          <p:xfrm>
            <a:off x="3175" y="3307"/>
            <a:ext cx="1240" cy="272"/>
          </p:xfrm>
          <a:graphic>
            <a:graphicData uri="http://schemas.openxmlformats.org/presentationml/2006/ole">
              <mc:AlternateContent xmlns:mc="http://schemas.openxmlformats.org/markup-compatibility/2006">
                <mc:Choice xmlns:v="urn:schemas-microsoft-com:vml" Requires="v">
                  <p:oleObj spid="_x0000_s22547" name="Equation" r:id="rId5" imgW="1041120" imgH="228600" progId="Equation.DSMT4">
                    <p:embed/>
                  </p:oleObj>
                </mc:Choice>
                <mc:Fallback>
                  <p:oleObj name="Equation" r:id="rId5" imgW="1041120" imgH="228600" progId="Equation.DSMT4">
                    <p:embed/>
                    <p:pic>
                      <p:nvPicPr>
                        <p:cNvPr id="0" name="Object 80"/>
                        <p:cNvPicPr>
                          <a:picLocks noChangeAspect="1" noChangeArrowheads="1"/>
                        </p:cNvPicPr>
                        <p:nvPr/>
                      </p:nvPicPr>
                      <p:blipFill>
                        <a:blip r:embed="rId6"/>
                        <a:srcRect/>
                        <a:stretch>
                          <a:fillRect/>
                        </a:stretch>
                      </p:blipFill>
                      <p:spPr bwMode="auto">
                        <a:xfrm>
                          <a:off x="3175" y="3307"/>
                          <a:ext cx="1240"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60" name="Text Box 81"/>
            <p:cNvSpPr txBox="1">
              <a:spLocks noChangeArrowheads="1"/>
            </p:cNvSpPr>
            <p:nvPr/>
          </p:nvSpPr>
          <p:spPr bwMode="auto">
            <a:xfrm>
              <a:off x="2472" y="3294"/>
              <a:ext cx="7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99"/>
                  </a:solidFill>
                  <a:latin typeface="黑体" panose="02010609060101010101" pitchFamily="49" charset="-122"/>
                  <a:ea typeface="黑体" panose="02010609060101010101" pitchFamily="49" charset="-122"/>
                </a:rPr>
                <a:t>力偶系</a:t>
              </a:r>
            </a:p>
          </p:txBody>
        </p:sp>
      </p:grpSp>
      <p:sp>
        <p:nvSpPr>
          <p:cNvPr id="16467" name="AutoShape 83"/>
          <p:cNvSpPr>
            <a:spLocks noChangeArrowheads="1"/>
          </p:cNvSpPr>
          <p:nvPr/>
        </p:nvSpPr>
        <p:spPr bwMode="auto">
          <a:xfrm>
            <a:off x="5748814" y="4634135"/>
            <a:ext cx="609600" cy="303212"/>
          </a:xfrm>
          <a:prstGeom prst="notchedRightArrow">
            <a:avLst>
              <a:gd name="adj1" fmla="val 50000"/>
              <a:gd name="adj2" fmla="val 50262"/>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0" name="Group 86"/>
          <p:cNvGrpSpPr>
            <a:grpSpLocks/>
          </p:cNvGrpSpPr>
          <p:nvPr/>
        </p:nvGrpSpPr>
        <p:grpSpPr bwMode="auto">
          <a:xfrm>
            <a:off x="6537205" y="4079875"/>
            <a:ext cx="1285875" cy="1057275"/>
            <a:chOff x="4679" y="2471"/>
            <a:chExt cx="810" cy="666"/>
          </a:xfrm>
        </p:grpSpPr>
        <p:graphicFrame>
          <p:nvGraphicFramePr>
            <p:cNvPr id="18457" name="Object 4"/>
            <p:cNvGraphicFramePr>
              <a:graphicFrameLocks noChangeAspect="1"/>
            </p:cNvGraphicFramePr>
            <p:nvPr>
              <p:extLst>
                <p:ext uri="{D42A27DB-BD31-4B8C-83A1-F6EECF244321}">
                  <p14:modId xmlns:p14="http://schemas.microsoft.com/office/powerpoint/2010/main" val="3748753649"/>
                </p:ext>
              </p:extLst>
            </p:nvPr>
          </p:nvGraphicFramePr>
          <p:xfrm>
            <a:off x="4679" y="2839"/>
            <a:ext cx="810" cy="298"/>
          </p:xfrm>
          <a:graphic>
            <a:graphicData uri="http://schemas.openxmlformats.org/presentationml/2006/ole">
              <mc:AlternateContent xmlns:mc="http://schemas.openxmlformats.org/markup-compatibility/2006">
                <mc:Choice xmlns:v="urn:schemas-microsoft-com:vml" Requires="v">
                  <p:oleObj spid="_x0000_s22548" name="Equation" r:id="rId7" imgW="622080" imgH="228600" progId="Equation.DSMT4">
                    <p:embed/>
                  </p:oleObj>
                </mc:Choice>
                <mc:Fallback>
                  <p:oleObj name="Equation" r:id="rId7" imgW="622080" imgH="228600" progId="Equation.DSMT4">
                    <p:embed/>
                    <p:pic>
                      <p:nvPicPr>
                        <p:cNvPr id="0" name="Object 4"/>
                        <p:cNvPicPr>
                          <a:picLocks noChangeAspect="1" noChangeArrowheads="1"/>
                        </p:cNvPicPr>
                        <p:nvPr/>
                      </p:nvPicPr>
                      <p:blipFill>
                        <a:blip r:embed="rId8"/>
                        <a:srcRect/>
                        <a:stretch>
                          <a:fillRect/>
                        </a:stretch>
                      </p:blipFill>
                      <p:spPr bwMode="auto">
                        <a:xfrm>
                          <a:off x="4679" y="2839"/>
                          <a:ext cx="810" cy="298"/>
                        </a:xfrm>
                        <a:prstGeom prst="rect">
                          <a:avLst/>
                        </a:prstGeom>
                        <a:noFill/>
                        <a:ln>
                          <a:noFill/>
                        </a:ln>
                        <a:effectLst/>
                      </p:spPr>
                    </p:pic>
                  </p:oleObj>
                </mc:Fallback>
              </mc:AlternateContent>
            </a:graphicData>
          </a:graphic>
        </p:graphicFrame>
        <p:sp>
          <p:nvSpPr>
            <p:cNvPr id="18458" name="Text Box 84"/>
            <p:cNvSpPr txBox="1">
              <a:spLocks noChangeArrowheads="1"/>
            </p:cNvSpPr>
            <p:nvPr/>
          </p:nvSpPr>
          <p:spPr bwMode="auto">
            <a:xfrm>
              <a:off x="4769" y="2471"/>
              <a:ext cx="6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FF0000"/>
                  </a:solidFill>
                  <a:latin typeface="黑体" panose="02010609060101010101" pitchFamily="49" charset="-122"/>
                  <a:ea typeface="黑体" panose="02010609060101010101" pitchFamily="49" charset="-122"/>
                </a:rPr>
                <a:t>合力</a:t>
              </a:r>
            </a:p>
          </p:txBody>
        </p:sp>
      </p:grpSp>
      <p:grpSp>
        <p:nvGrpSpPr>
          <p:cNvPr id="21" name="Group 89"/>
          <p:cNvGrpSpPr>
            <a:grpSpLocks/>
          </p:cNvGrpSpPr>
          <p:nvPr/>
        </p:nvGrpSpPr>
        <p:grpSpPr bwMode="auto">
          <a:xfrm>
            <a:off x="5686425" y="5186360"/>
            <a:ext cx="2982913" cy="946150"/>
            <a:chOff x="3734" y="3451"/>
            <a:chExt cx="1879" cy="596"/>
          </a:xfrm>
        </p:grpSpPr>
        <p:graphicFrame>
          <p:nvGraphicFramePr>
            <p:cNvPr id="18455" name="Object 5"/>
            <p:cNvGraphicFramePr>
              <a:graphicFrameLocks noChangeAspect="1"/>
            </p:cNvGraphicFramePr>
            <p:nvPr>
              <p:extLst>
                <p:ext uri="{D42A27DB-BD31-4B8C-83A1-F6EECF244321}">
                  <p14:modId xmlns:p14="http://schemas.microsoft.com/office/powerpoint/2010/main" val="2006688406"/>
                </p:ext>
              </p:extLst>
            </p:nvPr>
          </p:nvGraphicFramePr>
          <p:xfrm>
            <a:off x="3734" y="3807"/>
            <a:ext cx="1879" cy="240"/>
          </p:xfrm>
          <a:graphic>
            <a:graphicData uri="http://schemas.openxmlformats.org/presentationml/2006/ole">
              <mc:AlternateContent xmlns:mc="http://schemas.openxmlformats.org/markup-compatibility/2006">
                <mc:Choice xmlns:v="urn:schemas-microsoft-com:vml" Requires="v">
                  <p:oleObj spid="_x0000_s22549" name="Equation" r:id="rId9" imgW="2984500" imgH="381000" progId="Equation.3">
                    <p:embed/>
                  </p:oleObj>
                </mc:Choice>
                <mc:Fallback>
                  <p:oleObj name="Equation" r:id="rId9" imgW="2984500" imgH="3810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34" y="3807"/>
                          <a:ext cx="1879"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56" name="Text Box 85"/>
            <p:cNvSpPr txBox="1">
              <a:spLocks noChangeArrowheads="1"/>
            </p:cNvSpPr>
            <p:nvPr/>
          </p:nvSpPr>
          <p:spPr bwMode="auto">
            <a:xfrm>
              <a:off x="4337" y="3451"/>
              <a:ext cx="77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FF0000"/>
                  </a:solidFill>
                  <a:latin typeface="黑体" panose="02010609060101010101" pitchFamily="49" charset="-122"/>
                  <a:ea typeface="黑体" panose="02010609060101010101" pitchFamily="49" charset="-122"/>
                </a:rPr>
                <a:t>合力偶</a:t>
              </a:r>
            </a:p>
          </p:txBody>
        </p:sp>
      </p:grpSp>
      <p:sp>
        <p:nvSpPr>
          <p:cNvPr id="16472" name="AutoShape 88"/>
          <p:cNvSpPr>
            <a:spLocks noChangeArrowheads="1"/>
          </p:cNvSpPr>
          <p:nvPr/>
        </p:nvSpPr>
        <p:spPr bwMode="auto">
          <a:xfrm>
            <a:off x="5741215" y="5345546"/>
            <a:ext cx="609600" cy="303212"/>
          </a:xfrm>
          <a:prstGeom prst="notchedRightArrow">
            <a:avLst>
              <a:gd name="adj1" fmla="val 50000"/>
              <a:gd name="adj2" fmla="val 50262"/>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2" name="Group 91"/>
          <p:cNvGrpSpPr>
            <a:grpSpLocks/>
          </p:cNvGrpSpPr>
          <p:nvPr/>
        </p:nvGrpSpPr>
        <p:grpSpPr bwMode="auto">
          <a:xfrm>
            <a:off x="7259389" y="2254781"/>
            <a:ext cx="373063" cy="390525"/>
            <a:chOff x="4607" y="1253"/>
            <a:chExt cx="235" cy="246"/>
          </a:xfrm>
        </p:grpSpPr>
        <p:sp>
          <p:nvSpPr>
            <p:cNvPr id="18453" name="Arc 92"/>
            <p:cNvSpPr>
              <a:spLocks/>
            </p:cNvSpPr>
            <p:nvPr/>
          </p:nvSpPr>
          <p:spPr bwMode="auto">
            <a:xfrm rot="-2790934">
              <a:off x="4673" y="1399"/>
              <a:ext cx="58"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454" name="Text Box 93"/>
            <p:cNvSpPr txBox="1">
              <a:spLocks noChangeArrowheads="1"/>
            </p:cNvSpPr>
            <p:nvPr/>
          </p:nvSpPr>
          <p:spPr bwMode="auto">
            <a:xfrm>
              <a:off x="4607" y="1253"/>
              <a:ext cx="23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en-US" altLang="zh-CN" sz="1600" b="1" i="1">
                  <a:sym typeface="Symbol" panose="05050102010706020507" pitchFamily="18" charset="2"/>
                </a:rPr>
                <a:t></a:t>
              </a:r>
              <a:endParaRPr kumimoji="0" lang="en-US" altLang="zh-CN" sz="1800">
                <a:latin typeface="Arial" panose="020B0604020202020204" pitchFamily="34" charset="0"/>
              </a:endParaRPr>
            </a:p>
          </p:txBody>
        </p:sp>
      </p:grpSp>
      <p:sp>
        <p:nvSpPr>
          <p:cNvPr id="77" name="Text Box 5"/>
          <p:cNvSpPr txBox="1">
            <a:spLocks noChangeArrowheads="1"/>
          </p:cNvSpPr>
          <p:nvPr/>
        </p:nvSpPr>
        <p:spPr bwMode="auto">
          <a:xfrm>
            <a:off x="698523" y="471811"/>
            <a:ext cx="5673702"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2</a:t>
            </a:r>
            <a:r>
              <a:rPr kumimoji="1" lang="zh-CN" altLang="en-US" sz="2800" b="1" dirty="0">
                <a:solidFill>
                  <a:srgbClr val="0000FF"/>
                </a:solidFill>
                <a:latin typeface="黑体" panose="02010609060101010101" pitchFamily="49" charset="-122"/>
                <a:ea typeface="黑体" panose="02010609060101010101" pitchFamily="49" charset="-122"/>
              </a:rPr>
              <a:t>．空间任意力系的简化</a:t>
            </a:r>
            <a:endParaRPr kumimoji="1" lang="en-US" altLang="zh-CN" sz="2800" b="1" dirty="0">
              <a:solidFill>
                <a:srgbClr val="0000FF"/>
              </a:solidFill>
              <a:latin typeface="黑体" panose="02010609060101010101" pitchFamily="49" charset="-122"/>
              <a:ea typeface="黑体" panose="02010609060101010101" pitchFamily="49" charset="-122"/>
            </a:endParaRPr>
          </a:p>
          <a:p>
            <a:pPr eaLnBrk="1" hangingPunct="1"/>
            <a:r>
              <a:rPr kumimoji="0" lang="en-US" altLang="zh-CN" sz="1800" dirty="0">
                <a:solidFill>
                  <a:schemeClr val="tx2"/>
                </a:solidFill>
                <a:latin typeface="+mn-lt"/>
              </a:rPr>
              <a:t>Reduction of a force system to a given point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out)">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393"/>
                                        </p:tgtEl>
                                        <p:attrNameLst>
                                          <p:attrName>style.visibility</p:attrName>
                                        </p:attrNameLst>
                                      </p:cBhvr>
                                      <p:to>
                                        <p:strVal val="visible"/>
                                      </p:to>
                                    </p:set>
                                    <p:animEffect transition="in" filter="box(out)">
                                      <p:cBhvr>
                                        <p:cTn id="12" dur="500"/>
                                        <p:tgtEl>
                                          <p:spTgt spid="163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ox(ou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3" presetClass="entr" presetSubtype="16" fill="hold" grpId="0" nodeType="clickEffect">
                                  <p:stCondLst>
                                    <p:cond delay="0"/>
                                  </p:stCondLst>
                                  <p:childTnLst>
                                    <p:set>
                                      <p:cBhvr>
                                        <p:cTn id="21" dur="1" fill="hold">
                                          <p:stCondLst>
                                            <p:cond delay="0"/>
                                          </p:stCondLst>
                                        </p:cTn>
                                        <p:tgtEl>
                                          <p:spTgt spid="16458"/>
                                        </p:tgtEl>
                                        <p:attrNameLst>
                                          <p:attrName>style.visibility</p:attrName>
                                        </p:attrNameLst>
                                      </p:cBhvr>
                                      <p:to>
                                        <p:strVal val="visible"/>
                                      </p:to>
                                    </p:set>
                                    <p:animEffect transition="in" filter="plus(in)">
                                      <p:cBhvr>
                                        <p:cTn id="22" dur="500"/>
                                        <p:tgtEl>
                                          <p:spTgt spid="164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ox(out)">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strips(downRight)">
                                      <p:cBhvr>
                                        <p:cTn id="32" dur="500"/>
                                        <p:tgtEl>
                                          <p:spTgt spid="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ox(out)">
                                      <p:cBhvr>
                                        <p:cTn id="37" dur="500"/>
                                        <p:tgtEl>
                                          <p:spTgt spid="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ox(out)">
                                      <p:cBhvr>
                                        <p:cTn id="42" dur="500"/>
                                        <p:tgtEl>
                                          <p:spTgt spid="1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6394"/>
                                        </p:tgtEl>
                                        <p:attrNameLst>
                                          <p:attrName>style.visibility</p:attrName>
                                        </p:attrNameLst>
                                      </p:cBhvr>
                                      <p:to>
                                        <p:strVal val="visible"/>
                                      </p:to>
                                    </p:set>
                                    <p:animEffect transition="in" filter="box(out)">
                                      <p:cBhvr>
                                        <p:cTn id="47" dur="500"/>
                                        <p:tgtEl>
                                          <p:spTgt spid="163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box(out)">
                                      <p:cBhvr>
                                        <p:cTn id="52" dur="500"/>
                                        <p:tgtEl>
                                          <p:spTgt spid="1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16467"/>
                                        </p:tgtEl>
                                        <p:attrNameLst>
                                          <p:attrName>style.visibility</p:attrName>
                                        </p:attrNameLst>
                                      </p:cBhvr>
                                      <p:to>
                                        <p:strVal val="visible"/>
                                      </p:to>
                                    </p:set>
                                    <p:animEffect transition="in" filter="box(out)">
                                      <p:cBhvr>
                                        <p:cTn id="57" dur="500"/>
                                        <p:tgtEl>
                                          <p:spTgt spid="1646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8" presetClass="entr" presetSubtype="6"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strips(downRight)">
                                      <p:cBhvr>
                                        <p:cTn id="62" dur="500"/>
                                        <p:tgtEl>
                                          <p:spTgt spid="2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slide(fromBottom)">
                                      <p:cBhvr>
                                        <p:cTn id="67" dur="500"/>
                                        <p:tgtEl>
                                          <p:spTgt spid="1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6472"/>
                                        </p:tgtEl>
                                        <p:attrNameLst>
                                          <p:attrName>style.visibility</p:attrName>
                                        </p:attrNameLst>
                                      </p:cBhvr>
                                      <p:to>
                                        <p:strVal val="visible"/>
                                      </p:to>
                                    </p:set>
                                    <p:animEffect transition="in" filter="box(out)">
                                      <p:cBhvr>
                                        <p:cTn id="72" dur="500"/>
                                        <p:tgtEl>
                                          <p:spTgt spid="1647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32"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box(out)">
                                      <p:cBhvr>
                                        <p:cTn id="77" dur="500"/>
                                        <p:tgtEl>
                                          <p:spTgt spid="2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2" presetClass="entr" presetSubtype="4" fill="hold"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slide(fromBottom)">
                                      <p:cBhvr>
                                        <p:cTn id="82" dur="500"/>
                                        <p:tgtEl>
                                          <p:spTgt spid="1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2" presetClass="entr" presetSubtype="4" fill="hold" nodeType="click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slide(fromBottom)">
                                      <p:cBhvr>
                                        <p:cTn id="8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 grpId="0" animBg="1"/>
      <p:bldP spid="16394" grpId="0" animBg="1"/>
      <p:bldP spid="16458" grpId="0" animBg="1"/>
      <p:bldP spid="16467" grpId="0" animBg="1"/>
      <p:bldP spid="16472"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80" name="Text Box 8"/>
          <p:cNvSpPr txBox="1">
            <a:spLocks noChangeArrowheads="1"/>
          </p:cNvSpPr>
          <p:nvPr/>
        </p:nvSpPr>
        <p:spPr bwMode="auto">
          <a:xfrm>
            <a:off x="933769" y="1278585"/>
            <a:ext cx="6858000" cy="457200"/>
          </a:xfrm>
          <a:prstGeom prst="rect">
            <a:avLst/>
          </a:prstGeom>
          <a:noFill/>
          <a:ln w="9525">
            <a:noFill/>
            <a:miter lim="800000"/>
            <a:headEnd/>
            <a:tailEnd/>
          </a:ln>
          <a:effectLst/>
        </p:spPr>
        <p:txBody>
          <a:bodyPr>
            <a:spAutoFit/>
          </a:bodyPr>
          <a:lstStyle/>
          <a:p>
            <a:pPr eaLnBrk="1" hangingPunct="1">
              <a:defRPr/>
            </a:pPr>
            <a:r>
              <a:rPr lang="en-US" altLang="zh-CN" b="1" dirty="0">
                <a:solidFill>
                  <a:srgbClr val="000099"/>
                </a:solidFill>
                <a:effectLst>
                  <a:outerShdw blurRad="38100" dist="38100" dir="2700000" algn="tl">
                    <a:srgbClr val="C0C0C0"/>
                  </a:outerShdw>
                </a:effectLst>
                <a:ea typeface="华文中宋" pitchFamily="2" charset="-122"/>
              </a:rPr>
              <a:t> </a:t>
            </a:r>
            <a:r>
              <a:rPr lang="zh-CN" altLang="en-US" b="1" dirty="0">
                <a:solidFill>
                  <a:srgbClr val="0000FF"/>
                </a:solidFill>
                <a:latin typeface="黑体" panose="02010609060101010101" pitchFamily="49" charset="-122"/>
                <a:ea typeface="黑体" panose="02010609060101010101" pitchFamily="49" charset="-122"/>
              </a:rPr>
              <a:t>主矢</a:t>
            </a:r>
            <a:r>
              <a:rPr lang="zh-CN" altLang="en-US" dirty="0"/>
              <a:t>    </a:t>
            </a:r>
            <a:r>
              <a:rPr lang="zh-CN" altLang="en-US" b="1" dirty="0">
                <a:latin typeface="黑体" panose="02010609060101010101" pitchFamily="49" charset="-122"/>
                <a:ea typeface="黑体" panose="02010609060101010101" pitchFamily="49" charset="-122"/>
              </a:rPr>
              <a:t>力系中各力的矢量和称为力系的</a:t>
            </a:r>
            <a:r>
              <a:rPr lang="zh-CN" altLang="en-US" b="1" dirty="0">
                <a:solidFill>
                  <a:srgbClr val="FE020E"/>
                </a:solidFill>
                <a:latin typeface="黑体" panose="02010609060101010101" pitchFamily="49" charset="-122"/>
                <a:ea typeface="黑体" panose="02010609060101010101" pitchFamily="49" charset="-122"/>
              </a:rPr>
              <a:t>主矢</a:t>
            </a:r>
            <a:r>
              <a:rPr lang="zh-CN" altLang="en-US" b="1" dirty="0">
                <a:latin typeface="黑体" panose="02010609060101010101" pitchFamily="49" charset="-122"/>
                <a:ea typeface="黑体" panose="02010609060101010101" pitchFamily="49" charset="-122"/>
              </a:rPr>
              <a:t>。</a:t>
            </a:r>
            <a:endParaRPr lang="zh-CN" altLang="en-US" b="1" dirty="0">
              <a:solidFill>
                <a:srgbClr val="800000"/>
              </a:solidFill>
              <a:latin typeface="黑体" panose="02010609060101010101" pitchFamily="49" charset="-122"/>
              <a:ea typeface="黑体" panose="02010609060101010101" pitchFamily="49" charset="-122"/>
            </a:endParaRPr>
          </a:p>
        </p:txBody>
      </p:sp>
      <p:graphicFrame>
        <p:nvGraphicFramePr>
          <p:cNvPr id="28681" name="Object 9"/>
          <p:cNvGraphicFramePr>
            <a:graphicFrameLocks noChangeAspect="1"/>
          </p:cNvGraphicFramePr>
          <p:nvPr>
            <p:extLst>
              <p:ext uri="{D42A27DB-BD31-4B8C-83A1-F6EECF244321}">
                <p14:modId xmlns:p14="http://schemas.microsoft.com/office/powerpoint/2010/main" val="1386129551"/>
              </p:ext>
            </p:extLst>
          </p:nvPr>
        </p:nvGraphicFramePr>
        <p:xfrm>
          <a:off x="3467893" y="1784652"/>
          <a:ext cx="1425869" cy="436260"/>
        </p:xfrm>
        <a:graphic>
          <a:graphicData uri="http://schemas.openxmlformats.org/presentationml/2006/ole">
            <mc:AlternateContent xmlns:mc="http://schemas.openxmlformats.org/markup-compatibility/2006">
              <mc:Choice xmlns:v="urn:schemas-microsoft-com:vml" Requires="v">
                <p:oleObj spid="_x0000_s23562" name="Equation" r:id="rId3" imgW="1193800" imgH="368300" progId="Equation.3">
                  <p:embed/>
                </p:oleObj>
              </mc:Choice>
              <mc:Fallback>
                <p:oleObj name="Equation" r:id="rId3" imgW="1193800" imgH="3683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893" y="1784652"/>
                        <a:ext cx="1425869" cy="436260"/>
                      </a:xfrm>
                      <a:prstGeom prst="rect">
                        <a:avLst/>
                      </a:prstGeom>
                      <a:noFill/>
                      <a:ln>
                        <a:noFill/>
                      </a:ln>
                      <a:effectLst/>
                    </p:spPr>
                  </p:pic>
                </p:oleObj>
              </mc:Fallback>
            </mc:AlternateContent>
          </a:graphicData>
        </a:graphic>
      </p:graphicFrame>
      <p:sp>
        <p:nvSpPr>
          <p:cNvPr id="28682" name="Rectangle 10"/>
          <p:cNvSpPr>
            <a:spLocks noChangeArrowheads="1"/>
          </p:cNvSpPr>
          <p:nvPr/>
        </p:nvSpPr>
        <p:spPr bwMode="auto">
          <a:xfrm>
            <a:off x="961053" y="3639777"/>
            <a:ext cx="7284422" cy="830997"/>
          </a:xfrm>
          <a:prstGeom prst="rect">
            <a:avLst/>
          </a:prstGeom>
          <a:noFill/>
          <a:ln w="9525">
            <a:noFill/>
            <a:miter lim="800000"/>
            <a:headEnd/>
            <a:tailEnd/>
          </a:ln>
          <a:effectLst/>
        </p:spPr>
        <p:txBody>
          <a:bodyPr wrap="square">
            <a:spAutoFit/>
          </a:bodyPr>
          <a:lstStyle/>
          <a:p>
            <a:pPr eaLnBrk="1" hangingPunct="1">
              <a:defRPr/>
            </a:pPr>
            <a:r>
              <a:rPr lang="zh-CN" altLang="en-US" b="1" dirty="0">
                <a:solidFill>
                  <a:srgbClr val="0000FF"/>
                </a:solidFill>
                <a:latin typeface="黑体" panose="02010609060101010101" pitchFamily="49" charset="-122"/>
                <a:ea typeface="黑体" panose="02010609060101010101" pitchFamily="49" charset="-122"/>
              </a:rPr>
              <a:t>主矩</a:t>
            </a:r>
            <a:r>
              <a:rPr lang="zh-CN" altLang="en-US" dirty="0"/>
              <a:t>    </a:t>
            </a:r>
            <a:r>
              <a:rPr lang="zh-CN" altLang="en-US" b="1" dirty="0">
                <a:latin typeface="黑体" panose="02010609060101010101" pitchFamily="49" charset="-122"/>
                <a:ea typeface="黑体" panose="02010609060101010101" pitchFamily="49" charset="-122"/>
              </a:rPr>
              <a:t>力系中各力对简化中心之矩的矢量和称为力系</a:t>
            </a:r>
            <a:r>
              <a:rPr lang="zh-CN" altLang="en-US" b="1" dirty="0">
                <a:solidFill>
                  <a:srgbClr val="FF0000"/>
                </a:solidFill>
                <a:latin typeface="黑体" panose="02010609060101010101" pitchFamily="49" charset="-122"/>
                <a:ea typeface="黑体" panose="02010609060101010101" pitchFamily="49" charset="-122"/>
              </a:rPr>
              <a:t>对简化中心的主矩</a:t>
            </a:r>
            <a:r>
              <a:rPr lang="zh-CN" altLang="en-US" b="1" dirty="0">
                <a:latin typeface="黑体" panose="02010609060101010101" pitchFamily="49" charset="-122"/>
                <a:ea typeface="黑体" panose="02010609060101010101" pitchFamily="49" charset="-122"/>
              </a:rPr>
              <a:t>。</a:t>
            </a:r>
          </a:p>
        </p:txBody>
      </p:sp>
      <p:sp>
        <p:nvSpPr>
          <p:cNvPr id="28684" name="Rectangle 12"/>
          <p:cNvSpPr>
            <a:spLocks noChangeArrowheads="1"/>
          </p:cNvSpPr>
          <p:nvPr/>
        </p:nvSpPr>
        <p:spPr bwMode="auto">
          <a:xfrm>
            <a:off x="1563212" y="5422440"/>
            <a:ext cx="5761037" cy="830997"/>
          </a:xfrm>
          <a:prstGeom prst="rect">
            <a:avLst/>
          </a:prstGeom>
          <a:solidFill>
            <a:srgbClr val="CCFFCC"/>
          </a:solidFill>
          <a:ln w="9525">
            <a:noFill/>
            <a:miter lim="800000"/>
            <a:headEnd/>
            <a:tailEnd/>
          </a:ln>
          <a:effectLst/>
        </p:spPr>
        <p:txBody>
          <a:bodyPr wrap="square">
            <a:spAutoFit/>
          </a:bodyPr>
          <a:lstStyle/>
          <a:p>
            <a:pPr eaLnBrk="1" hangingPunct="1">
              <a:defRPr/>
            </a:pPr>
            <a:r>
              <a:rPr lang="zh-CN" altLang="en-US" b="1" dirty="0">
                <a:latin typeface="楷体" panose="02010609060101010101" pitchFamily="49" charset="-122"/>
                <a:ea typeface="楷体" panose="02010609060101010101" pitchFamily="49" charset="-122"/>
              </a:rPr>
              <a:t>力系的</a:t>
            </a:r>
            <a:r>
              <a:rPr lang="zh-CN" altLang="en-US" b="1" dirty="0">
                <a:solidFill>
                  <a:srgbClr val="FF0000"/>
                </a:solidFill>
                <a:latin typeface="楷体" panose="02010609060101010101" pitchFamily="49" charset="-122"/>
                <a:ea typeface="楷体" panose="02010609060101010101" pitchFamily="49" charset="-122"/>
              </a:rPr>
              <a:t>主矢</a:t>
            </a:r>
            <a:r>
              <a:rPr lang="zh-CN" altLang="en-US" b="1" dirty="0">
                <a:latin typeface="楷体" panose="02010609060101010101" pitchFamily="49" charset="-122"/>
                <a:ea typeface="楷体" panose="02010609060101010101" pitchFamily="49" charset="-122"/>
              </a:rPr>
              <a:t>和</a:t>
            </a:r>
            <a:r>
              <a:rPr lang="zh-CN" altLang="en-US" b="1" dirty="0">
                <a:solidFill>
                  <a:srgbClr val="FF0000"/>
                </a:solidFill>
                <a:latin typeface="楷体" panose="02010609060101010101" pitchFamily="49" charset="-122"/>
                <a:ea typeface="楷体" panose="02010609060101010101" pitchFamily="49" charset="-122"/>
              </a:rPr>
              <a:t>主矩</a:t>
            </a:r>
            <a:r>
              <a:rPr lang="zh-CN" altLang="en-US" b="1" dirty="0">
                <a:latin typeface="楷体" panose="02010609060101010101" pitchFamily="49" charset="-122"/>
                <a:ea typeface="楷体" panose="02010609060101010101" pitchFamily="49" charset="-122"/>
              </a:rPr>
              <a:t>是决定力系对刚体作用效应（移动和转动）的两个基本特征量。</a:t>
            </a:r>
          </a:p>
        </p:txBody>
      </p:sp>
      <p:sp>
        <p:nvSpPr>
          <p:cNvPr id="28685" name="Text Box 13"/>
          <p:cNvSpPr txBox="1">
            <a:spLocks noChangeArrowheads="1"/>
          </p:cNvSpPr>
          <p:nvPr/>
        </p:nvSpPr>
        <p:spPr bwMode="auto">
          <a:xfrm>
            <a:off x="1031994" y="2243570"/>
            <a:ext cx="66615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1" dirty="0">
                <a:latin typeface="楷体" panose="02010609060101010101" pitchFamily="49" charset="-122"/>
                <a:ea typeface="楷体" panose="02010609060101010101" pitchFamily="49" charset="-122"/>
              </a:rPr>
              <a:t>主矢与简化中心选择及各力的作用点无关。只有大小和方向</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没有作用点概念</a:t>
            </a:r>
            <a:r>
              <a:rPr lang="en-US" altLang="zh-CN" b="1" dirty="0">
                <a:latin typeface="楷体" panose="02010609060101010101" pitchFamily="49" charset="-122"/>
                <a:ea typeface="楷体" panose="02010609060101010101" pitchFamily="49" charset="-122"/>
              </a:rPr>
              <a:t>.</a:t>
            </a:r>
          </a:p>
        </p:txBody>
      </p:sp>
      <p:sp>
        <p:nvSpPr>
          <p:cNvPr id="28686" name="Text Box 14"/>
          <p:cNvSpPr txBox="1">
            <a:spLocks noChangeArrowheads="1"/>
          </p:cNvSpPr>
          <p:nvPr/>
        </p:nvSpPr>
        <p:spPr bwMode="auto">
          <a:xfrm>
            <a:off x="1095694" y="4801404"/>
            <a:ext cx="6696075" cy="457200"/>
          </a:xfrm>
          <a:prstGeom prst="rect">
            <a:avLst/>
          </a:prstGeom>
          <a:noFill/>
          <a:ln w="9525">
            <a:noFill/>
            <a:miter lim="800000"/>
            <a:headEnd/>
            <a:tailEnd/>
          </a:ln>
          <a:effectLst/>
        </p:spPr>
        <p:txBody>
          <a:bodyPr>
            <a:spAutoFit/>
          </a:bodyPr>
          <a:lstStyle/>
          <a:p>
            <a:pPr eaLnBrk="1" hangingPunct="1">
              <a:spcBef>
                <a:spcPct val="50000"/>
              </a:spcBef>
              <a:defRPr/>
            </a:pPr>
            <a:r>
              <a:rPr lang="zh-CN" altLang="en-US" b="1" dirty="0">
                <a:latin typeface="楷体" panose="02010609060101010101" pitchFamily="49" charset="-122"/>
                <a:ea typeface="楷体" panose="02010609060101010101" pitchFamily="49" charset="-122"/>
              </a:rPr>
              <a:t>力系对简化中心的主矩和简化中心的选择有关。</a:t>
            </a:r>
          </a:p>
        </p:txBody>
      </p:sp>
      <p:sp>
        <p:nvSpPr>
          <p:cNvPr id="28687" name="Text Box 15"/>
          <p:cNvSpPr txBox="1">
            <a:spLocks noChangeArrowheads="1"/>
          </p:cNvSpPr>
          <p:nvPr/>
        </p:nvSpPr>
        <p:spPr bwMode="auto">
          <a:xfrm>
            <a:off x="1698148" y="3074567"/>
            <a:ext cx="5329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1" dirty="0">
                <a:solidFill>
                  <a:srgbClr val="800000"/>
                </a:solidFill>
                <a:latin typeface="楷体" panose="02010609060101010101" pitchFamily="49" charset="-122"/>
                <a:ea typeface="楷体" panose="02010609060101010101" pitchFamily="49" charset="-122"/>
              </a:rPr>
              <a:t>思考</a:t>
            </a:r>
            <a:r>
              <a:rPr lang="en-US" altLang="zh-CN" b="1" dirty="0">
                <a:solidFill>
                  <a:srgbClr val="800000"/>
                </a:solidFill>
                <a:latin typeface="楷体" panose="02010609060101010101" pitchFamily="49" charset="-122"/>
                <a:ea typeface="楷体" panose="02010609060101010101" pitchFamily="49" charset="-122"/>
              </a:rPr>
              <a:t>:</a:t>
            </a:r>
            <a:r>
              <a:rPr lang="zh-CN" altLang="en-US" b="1" dirty="0">
                <a:solidFill>
                  <a:srgbClr val="800000"/>
                </a:solidFill>
                <a:latin typeface="楷体" panose="02010609060101010101" pitchFamily="49" charset="-122"/>
                <a:ea typeface="楷体" panose="02010609060101010101" pitchFamily="49" charset="-122"/>
              </a:rPr>
              <a:t>力系的主矢与合力的区别</a:t>
            </a:r>
            <a:r>
              <a:rPr lang="en-US" altLang="zh-CN" b="1" dirty="0">
                <a:solidFill>
                  <a:srgbClr val="800000"/>
                </a:solidFill>
                <a:latin typeface="楷体" panose="02010609060101010101" pitchFamily="49" charset="-122"/>
                <a:ea typeface="楷体" panose="02010609060101010101" pitchFamily="49" charset="-122"/>
              </a:rPr>
              <a:t>?</a:t>
            </a:r>
          </a:p>
        </p:txBody>
      </p:sp>
      <p:sp>
        <p:nvSpPr>
          <p:cNvPr id="11" name="Text Box 5"/>
          <p:cNvSpPr txBox="1">
            <a:spLocks noChangeArrowheads="1"/>
          </p:cNvSpPr>
          <p:nvPr/>
        </p:nvSpPr>
        <p:spPr bwMode="auto">
          <a:xfrm>
            <a:off x="755576" y="524419"/>
            <a:ext cx="5673702"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3</a:t>
            </a:r>
            <a:r>
              <a:rPr kumimoji="1" lang="zh-CN" altLang="en-US" sz="2800" b="1" dirty="0">
                <a:solidFill>
                  <a:srgbClr val="0000FF"/>
                </a:solidFill>
                <a:latin typeface="黑体" panose="02010609060101010101" pitchFamily="49" charset="-122"/>
                <a:ea typeface="黑体" panose="02010609060101010101" pitchFamily="49" charset="-122"/>
              </a:rPr>
              <a:t>．力系的主矢和主矩</a:t>
            </a:r>
            <a:endParaRPr kumimoji="1" lang="en-US" altLang="zh-CN" sz="2800" b="1" dirty="0">
              <a:solidFill>
                <a:srgbClr val="0000FF"/>
              </a:solidFill>
              <a:latin typeface="黑体" panose="02010609060101010101" pitchFamily="49" charset="-122"/>
              <a:ea typeface="黑体" panose="02010609060101010101" pitchFamily="49" charset="-122"/>
            </a:endParaRPr>
          </a:p>
          <a:p>
            <a:pPr eaLnBrk="1" hangingPunct="1"/>
            <a:r>
              <a:rPr lang="en-US" altLang="zh-CN" sz="1800" dirty="0">
                <a:latin typeface="+mn-lt"/>
              </a:rPr>
              <a:t>Principal vector  &amp; Principal moment</a:t>
            </a:r>
            <a:endParaRPr kumimoji="0" lang="en-US" altLang="zh-CN" sz="1800" dirty="0">
              <a:solidFill>
                <a:schemeClr val="tx2"/>
              </a:solidFill>
              <a:latin typeface="+mn-lt"/>
            </a:endParaRPr>
          </a:p>
        </p:txBody>
      </p:sp>
      <p:graphicFrame>
        <p:nvGraphicFramePr>
          <p:cNvPr id="12" name="Object 6"/>
          <p:cNvGraphicFramePr>
            <a:graphicFrameLocks noChangeAspect="1"/>
          </p:cNvGraphicFramePr>
          <p:nvPr>
            <p:extLst>
              <p:ext uri="{D42A27DB-BD31-4B8C-83A1-F6EECF244321}">
                <p14:modId xmlns:p14="http://schemas.microsoft.com/office/powerpoint/2010/main" val="2453575930"/>
              </p:ext>
            </p:extLst>
          </p:nvPr>
        </p:nvGraphicFramePr>
        <p:xfrm>
          <a:off x="4067944" y="4199007"/>
          <a:ext cx="2276880" cy="525434"/>
        </p:xfrm>
        <a:graphic>
          <a:graphicData uri="http://schemas.openxmlformats.org/presentationml/2006/ole">
            <mc:AlternateContent xmlns:mc="http://schemas.openxmlformats.org/markup-compatibility/2006">
              <mc:Choice xmlns:v="urn:schemas-microsoft-com:vml" Requires="v">
                <p:oleObj spid="_x0000_s23563" name="Equation" r:id="rId5" imgW="990360" imgH="228600" progId="Equation.DSMT4">
                  <p:embed/>
                </p:oleObj>
              </mc:Choice>
              <mc:Fallback>
                <p:oleObj name="Equation" r:id="rId5" imgW="990360" imgH="228600" progId="Equation.DSMT4">
                  <p:embed/>
                  <p:pic>
                    <p:nvPicPr>
                      <p:cNvPr id="0" name=""/>
                      <p:cNvPicPr>
                        <a:picLocks noChangeAspect="1" noChangeArrowheads="1"/>
                      </p:cNvPicPr>
                      <p:nvPr/>
                    </p:nvPicPr>
                    <p:blipFill>
                      <a:blip r:embed="rId6"/>
                      <a:srcRect/>
                      <a:stretch>
                        <a:fillRect/>
                      </a:stretch>
                    </p:blipFill>
                    <p:spPr bwMode="auto">
                      <a:xfrm>
                        <a:off x="4067944" y="4199007"/>
                        <a:ext cx="2276880" cy="525434"/>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8680">
                                            <p:txEl>
                                              <p:pRg st="0" end="0"/>
                                            </p:txEl>
                                          </p:spTgt>
                                        </p:tgtEl>
                                        <p:attrNameLst>
                                          <p:attrName>style.visibility</p:attrName>
                                        </p:attrNameLst>
                                      </p:cBhvr>
                                      <p:to>
                                        <p:strVal val="visible"/>
                                      </p:to>
                                    </p:set>
                                    <p:animEffect transition="in" filter="box(out)">
                                      <p:cBhvr>
                                        <p:cTn id="7" dur="500"/>
                                        <p:tgtEl>
                                          <p:spTgt spid="2868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8681"/>
                                        </p:tgtEl>
                                        <p:attrNameLst>
                                          <p:attrName>style.visibility</p:attrName>
                                        </p:attrNameLst>
                                      </p:cBhvr>
                                      <p:to>
                                        <p:strVal val="visible"/>
                                      </p:to>
                                    </p:set>
                                    <p:animEffect transition="in" filter="box(out)">
                                      <p:cBhvr>
                                        <p:cTn id="12" dur="500"/>
                                        <p:tgtEl>
                                          <p:spTgt spid="286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8685"/>
                                        </p:tgtEl>
                                        <p:attrNameLst>
                                          <p:attrName>style.visibility</p:attrName>
                                        </p:attrNameLst>
                                      </p:cBhvr>
                                      <p:to>
                                        <p:strVal val="visible"/>
                                      </p:to>
                                    </p:set>
                                    <p:animEffect transition="in" filter="checkerboard(across)">
                                      <p:cBhvr>
                                        <p:cTn id="17" dur="500"/>
                                        <p:tgtEl>
                                          <p:spTgt spid="286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8687"/>
                                        </p:tgtEl>
                                        <p:attrNameLst>
                                          <p:attrName>style.visibility</p:attrName>
                                        </p:attrNameLst>
                                      </p:cBhvr>
                                      <p:to>
                                        <p:strVal val="visible"/>
                                      </p:to>
                                    </p:set>
                                    <p:anim calcmode="lin" valueType="num">
                                      <p:cBhvr additive="base">
                                        <p:cTn id="22" dur="500" fill="hold"/>
                                        <p:tgtEl>
                                          <p:spTgt spid="28687"/>
                                        </p:tgtEl>
                                        <p:attrNameLst>
                                          <p:attrName>ppt_x</p:attrName>
                                        </p:attrNameLst>
                                      </p:cBhvr>
                                      <p:tavLst>
                                        <p:tav tm="0">
                                          <p:val>
                                            <p:strVal val="0-#ppt_w/2"/>
                                          </p:val>
                                        </p:tav>
                                        <p:tav tm="100000">
                                          <p:val>
                                            <p:strVal val="#ppt_x"/>
                                          </p:val>
                                        </p:tav>
                                      </p:tavLst>
                                    </p:anim>
                                    <p:anim calcmode="lin" valueType="num">
                                      <p:cBhvr additive="base">
                                        <p:cTn id="23" dur="500" fill="hold"/>
                                        <p:tgtEl>
                                          <p:spTgt spid="28687"/>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28682">
                                            <p:txEl>
                                              <p:pRg st="0" end="0"/>
                                            </p:txEl>
                                          </p:spTgt>
                                        </p:tgtEl>
                                        <p:attrNameLst>
                                          <p:attrName>style.visibility</p:attrName>
                                        </p:attrNameLst>
                                      </p:cBhvr>
                                      <p:to>
                                        <p:strVal val="visible"/>
                                      </p:to>
                                    </p:set>
                                    <p:animEffect transition="in" filter="box(out)">
                                      <p:cBhvr>
                                        <p:cTn id="28" dur="500"/>
                                        <p:tgtEl>
                                          <p:spTgt spid="28682">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ox(out)">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28686"/>
                                        </p:tgtEl>
                                        <p:attrNameLst>
                                          <p:attrName>style.visibility</p:attrName>
                                        </p:attrNameLst>
                                      </p:cBhvr>
                                      <p:to>
                                        <p:strVal val="visible"/>
                                      </p:to>
                                    </p:set>
                                    <p:animEffect transition="in" filter="checkerboard(across)">
                                      <p:cBhvr>
                                        <p:cTn id="38" dur="500"/>
                                        <p:tgtEl>
                                          <p:spTgt spid="28686"/>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28684"/>
                                        </p:tgtEl>
                                        <p:attrNameLst>
                                          <p:attrName>style.visibility</p:attrName>
                                        </p:attrNameLst>
                                      </p:cBhvr>
                                      <p:to>
                                        <p:strVal val="visible"/>
                                      </p:to>
                                    </p:set>
                                    <p:animEffect transition="in" filter="checkerboard(across)">
                                      <p:cBhvr>
                                        <p:cTn id="43" dur="500"/>
                                        <p:tgtEl>
                                          <p:spTgt spid="28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0" grpId="0" build="p" autoUpdateAnimBg="0"/>
      <p:bldP spid="28682" grpId="0" build="p" autoUpdateAnimBg="0"/>
      <p:bldP spid="28684" grpId="0" animBg="1"/>
      <p:bldP spid="28685" grpId="0"/>
      <p:bldP spid="28686" grpId="0"/>
      <p:bldP spid="28687"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701" name="Text Box 5"/>
          <p:cNvSpPr txBox="1">
            <a:spLocks noChangeArrowheads="1"/>
          </p:cNvSpPr>
          <p:nvPr/>
        </p:nvSpPr>
        <p:spPr bwMode="auto">
          <a:xfrm>
            <a:off x="713636" y="1000777"/>
            <a:ext cx="3509963" cy="53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19050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lnSpc>
                <a:spcPct val="140000"/>
              </a:lnSpc>
              <a:spcBef>
                <a:spcPct val="20000"/>
              </a:spcBef>
              <a:buClr>
                <a:srgbClr val="0000FF"/>
              </a:buClr>
              <a:buSzPct val="120000"/>
            </a:pPr>
            <a:r>
              <a:rPr kumimoji="0" lang="en-US" altLang="zh-CN" b="1" dirty="0">
                <a:solidFill>
                  <a:srgbClr val="990000"/>
                </a:solidFill>
                <a:latin typeface="黑体" panose="02010609060101010101" pitchFamily="49" charset="-122"/>
                <a:ea typeface="黑体" panose="02010609060101010101" pitchFamily="49" charset="-122"/>
              </a:rPr>
              <a:t>(1)</a:t>
            </a:r>
            <a:r>
              <a:rPr kumimoji="0" lang="en-US" altLang="zh-CN" dirty="0">
                <a:solidFill>
                  <a:srgbClr val="990000"/>
                </a:solidFill>
                <a:latin typeface="黑体" panose="02010609060101010101" pitchFamily="49" charset="-122"/>
                <a:ea typeface="黑体" panose="02010609060101010101" pitchFamily="49" charset="-122"/>
              </a:rPr>
              <a:t> </a:t>
            </a:r>
            <a:r>
              <a:rPr kumimoji="0" lang="zh-CN" altLang="en-US" b="1" dirty="0">
                <a:solidFill>
                  <a:srgbClr val="990000"/>
                </a:solidFill>
                <a:latin typeface="黑体" panose="02010609060101010101" pitchFamily="49" charset="-122"/>
                <a:ea typeface="黑体" panose="02010609060101010101" pitchFamily="49" charset="-122"/>
              </a:rPr>
              <a:t>力系合成为合力偶</a:t>
            </a:r>
            <a:r>
              <a:rPr kumimoji="0" lang="zh-CN" altLang="en-US" i="1" dirty="0">
                <a:solidFill>
                  <a:srgbClr val="990000"/>
                </a:solidFill>
                <a:latin typeface="黑体" panose="02010609060101010101" pitchFamily="49" charset="-122"/>
                <a:ea typeface="黑体" panose="02010609060101010101" pitchFamily="49" charset="-122"/>
              </a:rPr>
              <a:t>   </a:t>
            </a:r>
            <a:endParaRPr kumimoji="0" lang="zh-CN" altLang="en-US" b="1" dirty="0">
              <a:solidFill>
                <a:srgbClr val="990000"/>
              </a:solidFill>
              <a:latin typeface="黑体" panose="02010609060101010101" pitchFamily="49" charset="-122"/>
              <a:ea typeface="黑体" panose="02010609060101010101" pitchFamily="49" charset="-122"/>
            </a:endParaRPr>
          </a:p>
        </p:txBody>
      </p:sp>
      <p:sp>
        <p:nvSpPr>
          <p:cNvPr id="29702" name="Rectangle 6"/>
          <p:cNvSpPr>
            <a:spLocks noChangeArrowheads="1"/>
          </p:cNvSpPr>
          <p:nvPr/>
        </p:nvSpPr>
        <p:spPr bwMode="auto">
          <a:xfrm>
            <a:off x="1042987" y="1544740"/>
            <a:ext cx="26638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b="1" i="1" dirty="0">
                <a:solidFill>
                  <a:srgbClr val="0000CC"/>
                </a:solidFill>
              </a:rPr>
              <a:t>F</a:t>
            </a:r>
            <a:r>
              <a:rPr kumimoji="0" lang="en-US" altLang="zh-CN" i="1" baseline="-25000" dirty="0">
                <a:solidFill>
                  <a:srgbClr val="0000CC"/>
                </a:solidFill>
              </a:rPr>
              <a:t>R</a:t>
            </a:r>
            <a:r>
              <a:rPr kumimoji="0" lang="en-US" altLang="zh-CN" b="1" dirty="0">
                <a:solidFill>
                  <a:srgbClr val="0000CC"/>
                </a:solidFill>
              </a:rPr>
              <a:t>′=</a:t>
            </a:r>
            <a:r>
              <a:rPr kumimoji="0" lang="en-US" altLang="zh-CN" dirty="0">
                <a:solidFill>
                  <a:srgbClr val="0000CC"/>
                </a:solidFill>
              </a:rPr>
              <a:t>0</a:t>
            </a:r>
            <a:r>
              <a:rPr kumimoji="0" lang="zh-CN" altLang="en-US" b="1" dirty="0">
                <a:solidFill>
                  <a:srgbClr val="0000CC"/>
                </a:solidFill>
              </a:rPr>
              <a:t>，</a:t>
            </a:r>
            <a:r>
              <a:rPr kumimoji="0" lang="en-US" altLang="zh-CN" b="1" i="1" dirty="0">
                <a:solidFill>
                  <a:srgbClr val="0000CC"/>
                </a:solidFill>
              </a:rPr>
              <a:t>M</a:t>
            </a:r>
            <a:r>
              <a:rPr kumimoji="0" lang="en-US" altLang="zh-CN" i="1" baseline="-25000" dirty="0">
                <a:solidFill>
                  <a:srgbClr val="0000CC"/>
                </a:solidFill>
              </a:rPr>
              <a:t>O</a:t>
            </a:r>
            <a:r>
              <a:rPr kumimoji="0" lang="en-US" altLang="zh-CN" b="1" baseline="-25000" dirty="0">
                <a:solidFill>
                  <a:srgbClr val="0000CC"/>
                </a:solidFill>
              </a:rPr>
              <a:t> </a:t>
            </a:r>
            <a:r>
              <a:rPr kumimoji="0" lang="en-US" altLang="zh-CN" b="1" dirty="0">
                <a:solidFill>
                  <a:srgbClr val="0000CC"/>
                </a:solidFill>
              </a:rPr>
              <a:t>≠</a:t>
            </a:r>
            <a:r>
              <a:rPr kumimoji="0" lang="en-US" altLang="zh-CN" b="1" baseline="-25000" dirty="0">
                <a:solidFill>
                  <a:srgbClr val="0000CC"/>
                </a:solidFill>
              </a:rPr>
              <a:t> </a:t>
            </a:r>
            <a:r>
              <a:rPr kumimoji="0" lang="en-US" altLang="zh-CN" dirty="0">
                <a:solidFill>
                  <a:srgbClr val="0000CC"/>
                </a:solidFill>
              </a:rPr>
              <a:t>0</a:t>
            </a:r>
            <a:endParaRPr kumimoji="0" lang="en-US" altLang="zh-CN" i="1" dirty="0">
              <a:solidFill>
                <a:schemeClr val="tx2"/>
              </a:solidFill>
            </a:endParaRPr>
          </a:p>
        </p:txBody>
      </p:sp>
      <p:sp>
        <p:nvSpPr>
          <p:cNvPr id="29714" name="AutoShape 18"/>
          <p:cNvSpPr>
            <a:spLocks noChangeArrowheads="1"/>
          </p:cNvSpPr>
          <p:nvPr/>
        </p:nvSpPr>
        <p:spPr bwMode="auto">
          <a:xfrm>
            <a:off x="3386214" y="1722518"/>
            <a:ext cx="792162" cy="217488"/>
          </a:xfrm>
          <a:prstGeom prst="rightArrow">
            <a:avLst>
              <a:gd name="adj1" fmla="val 50000"/>
              <a:gd name="adj2" fmla="val 91058"/>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715" name="Text Box 19"/>
          <p:cNvSpPr txBox="1">
            <a:spLocks noChangeArrowheads="1"/>
          </p:cNvSpPr>
          <p:nvPr/>
        </p:nvSpPr>
        <p:spPr bwMode="auto">
          <a:xfrm>
            <a:off x="4410643" y="1588352"/>
            <a:ext cx="1223963" cy="4572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黑体" panose="02010609060101010101" pitchFamily="49" charset="-122"/>
                <a:ea typeface="黑体" panose="02010609060101010101" pitchFamily="49" charset="-122"/>
              </a:rPr>
              <a:t>合力偶</a:t>
            </a:r>
          </a:p>
        </p:txBody>
      </p:sp>
      <p:sp>
        <p:nvSpPr>
          <p:cNvPr id="29716" name="Text Box 20"/>
          <p:cNvSpPr txBox="1">
            <a:spLocks noChangeArrowheads="1"/>
          </p:cNvSpPr>
          <p:nvPr/>
        </p:nvSpPr>
        <p:spPr bwMode="auto">
          <a:xfrm>
            <a:off x="956093" y="2128395"/>
            <a:ext cx="5976938"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spcBef>
                <a:spcPct val="50000"/>
              </a:spcBef>
            </a:pPr>
            <a:r>
              <a:rPr lang="zh-CN" altLang="en-US" b="1" dirty="0">
                <a:latin typeface="楷体" panose="02010609060101010101" pitchFamily="49" charset="-122"/>
                <a:ea typeface="楷体" panose="02010609060101010101" pitchFamily="49" charset="-122"/>
              </a:rPr>
              <a:t>此时主矩与简化中心选择无关。</a:t>
            </a:r>
          </a:p>
        </p:txBody>
      </p:sp>
      <p:sp>
        <p:nvSpPr>
          <p:cNvPr id="29717" name="Rectangle 21"/>
          <p:cNvSpPr>
            <a:spLocks noChangeArrowheads="1"/>
          </p:cNvSpPr>
          <p:nvPr/>
        </p:nvSpPr>
        <p:spPr bwMode="auto">
          <a:xfrm>
            <a:off x="903823" y="2701218"/>
            <a:ext cx="3122612" cy="518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b="1" dirty="0">
                <a:solidFill>
                  <a:srgbClr val="990000"/>
                </a:solidFill>
                <a:latin typeface="黑体" panose="02010609060101010101" pitchFamily="49" charset="-122"/>
                <a:ea typeface="黑体" panose="02010609060101010101" pitchFamily="49" charset="-122"/>
              </a:rPr>
              <a:t>(2) </a:t>
            </a:r>
            <a:r>
              <a:rPr kumimoji="0" lang="zh-CN" altLang="en-US" b="1" dirty="0">
                <a:solidFill>
                  <a:srgbClr val="990000"/>
                </a:solidFill>
                <a:latin typeface="黑体" panose="02010609060101010101" pitchFamily="49" charset="-122"/>
                <a:ea typeface="黑体" panose="02010609060101010101" pitchFamily="49" charset="-122"/>
              </a:rPr>
              <a:t>力系合成为合力</a:t>
            </a:r>
          </a:p>
        </p:txBody>
      </p:sp>
      <p:sp>
        <p:nvSpPr>
          <p:cNvPr id="29718" name="Text Box 22"/>
          <p:cNvSpPr txBox="1">
            <a:spLocks noChangeArrowheads="1"/>
          </p:cNvSpPr>
          <p:nvPr/>
        </p:nvSpPr>
        <p:spPr bwMode="auto">
          <a:xfrm>
            <a:off x="673672" y="3157886"/>
            <a:ext cx="3313113" cy="631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674688" indent="-484188">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lnSpc>
                <a:spcPct val="140000"/>
              </a:lnSpc>
              <a:spcBef>
                <a:spcPct val="20000"/>
              </a:spcBef>
              <a:buClr>
                <a:srgbClr val="0000FF"/>
              </a:buClr>
              <a:buSzPct val="120000"/>
            </a:pPr>
            <a:r>
              <a:rPr lang="en-US" altLang="zh-CN" sz="2800" b="1" dirty="0">
                <a:solidFill>
                  <a:srgbClr val="CC0000"/>
                </a:solidFill>
                <a:sym typeface="Webdings" panose="05030102010509060703" pitchFamily="18" charset="2"/>
              </a:rPr>
              <a:t></a:t>
            </a:r>
            <a:r>
              <a:rPr kumimoji="0" lang="en-US" altLang="zh-CN" b="1" dirty="0"/>
              <a:t> </a:t>
            </a:r>
            <a:r>
              <a:rPr kumimoji="0" lang="en-US" altLang="zh-CN" b="1" i="1" dirty="0">
                <a:solidFill>
                  <a:srgbClr val="0000CC"/>
                </a:solidFill>
              </a:rPr>
              <a:t>F</a:t>
            </a:r>
            <a:r>
              <a:rPr kumimoji="0" lang="en-US" altLang="zh-CN" i="1" baseline="-25000" dirty="0">
                <a:solidFill>
                  <a:srgbClr val="0000CC"/>
                </a:solidFill>
              </a:rPr>
              <a:t>R</a:t>
            </a:r>
            <a:r>
              <a:rPr kumimoji="0" lang="en-US" altLang="zh-CN" dirty="0">
                <a:solidFill>
                  <a:srgbClr val="0000CC"/>
                </a:solidFill>
              </a:rPr>
              <a:t>′</a:t>
            </a:r>
            <a:r>
              <a:rPr kumimoji="0" lang="en-US" altLang="zh-CN" b="1" dirty="0">
                <a:solidFill>
                  <a:srgbClr val="0000CC"/>
                </a:solidFill>
              </a:rPr>
              <a:t>≠</a:t>
            </a:r>
            <a:r>
              <a:rPr kumimoji="0" lang="en-US" altLang="zh-CN" dirty="0">
                <a:solidFill>
                  <a:srgbClr val="0000CC"/>
                </a:solidFill>
              </a:rPr>
              <a:t>0</a:t>
            </a:r>
            <a:r>
              <a:rPr kumimoji="0" lang="zh-CN" altLang="en-US" b="1" dirty="0">
                <a:solidFill>
                  <a:srgbClr val="0000CC"/>
                </a:solidFill>
              </a:rPr>
              <a:t>，</a:t>
            </a:r>
            <a:r>
              <a:rPr kumimoji="0" lang="en-US" altLang="zh-CN" b="1" i="1" dirty="0">
                <a:solidFill>
                  <a:srgbClr val="0000CC"/>
                </a:solidFill>
              </a:rPr>
              <a:t>M</a:t>
            </a:r>
            <a:r>
              <a:rPr kumimoji="0" lang="en-US" altLang="zh-CN" i="1" baseline="-25000" dirty="0">
                <a:solidFill>
                  <a:srgbClr val="0000CC"/>
                </a:solidFill>
              </a:rPr>
              <a:t>O</a:t>
            </a:r>
            <a:r>
              <a:rPr kumimoji="0" lang="en-US" altLang="zh-CN" b="1" dirty="0">
                <a:solidFill>
                  <a:srgbClr val="0000CC"/>
                </a:solidFill>
              </a:rPr>
              <a:t>=</a:t>
            </a:r>
            <a:r>
              <a:rPr kumimoji="0" lang="en-US" altLang="zh-CN" dirty="0">
                <a:solidFill>
                  <a:srgbClr val="0000CC"/>
                </a:solidFill>
              </a:rPr>
              <a:t>0</a:t>
            </a:r>
            <a:endParaRPr kumimoji="0" lang="en-US" altLang="zh-CN" b="1" dirty="0">
              <a:solidFill>
                <a:srgbClr val="0000CC"/>
              </a:solidFill>
            </a:endParaRPr>
          </a:p>
        </p:txBody>
      </p:sp>
      <p:sp>
        <p:nvSpPr>
          <p:cNvPr id="29719" name="AutoShape 23"/>
          <p:cNvSpPr>
            <a:spLocks noChangeArrowheads="1"/>
          </p:cNvSpPr>
          <p:nvPr/>
        </p:nvSpPr>
        <p:spPr bwMode="auto">
          <a:xfrm>
            <a:off x="3842322" y="3445224"/>
            <a:ext cx="792163" cy="217487"/>
          </a:xfrm>
          <a:prstGeom prst="rightArrow">
            <a:avLst>
              <a:gd name="adj1" fmla="val 50000"/>
              <a:gd name="adj2" fmla="val 91059"/>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720" name="Text Box 24"/>
          <p:cNvSpPr txBox="1">
            <a:spLocks noChangeArrowheads="1"/>
          </p:cNvSpPr>
          <p:nvPr/>
        </p:nvSpPr>
        <p:spPr bwMode="auto">
          <a:xfrm>
            <a:off x="4850384" y="3302349"/>
            <a:ext cx="2304103" cy="46166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黑体" panose="02010609060101010101" pitchFamily="49" charset="-122"/>
                <a:ea typeface="黑体" panose="02010609060101010101" pitchFamily="49" charset="-122"/>
              </a:rPr>
              <a:t>合力（过</a:t>
            </a:r>
            <a:r>
              <a:rPr lang="en-US" altLang="zh-CN" i="1" dirty="0">
                <a:latin typeface="+mn-lt"/>
                <a:ea typeface="黑体" panose="02010609060101010101" pitchFamily="49" charset="-122"/>
              </a:rPr>
              <a:t>O</a:t>
            </a:r>
            <a:r>
              <a:rPr lang="zh-CN" altLang="en-US" b="1" dirty="0">
                <a:latin typeface="黑体" panose="02010609060101010101" pitchFamily="49" charset="-122"/>
                <a:ea typeface="黑体" panose="02010609060101010101" pitchFamily="49" charset="-122"/>
              </a:rPr>
              <a:t>点）</a:t>
            </a:r>
          </a:p>
        </p:txBody>
      </p:sp>
      <p:sp>
        <p:nvSpPr>
          <p:cNvPr id="29721" name="Text Box 25"/>
          <p:cNvSpPr txBox="1">
            <a:spLocks noChangeArrowheads="1"/>
          </p:cNvSpPr>
          <p:nvPr/>
        </p:nvSpPr>
        <p:spPr bwMode="auto">
          <a:xfrm>
            <a:off x="518720" y="3864412"/>
            <a:ext cx="59293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865188" indent="-506413">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a:spcBef>
                <a:spcPct val="20000"/>
              </a:spcBef>
              <a:buClr>
                <a:srgbClr val="0000FF"/>
              </a:buClr>
              <a:buSzPct val="100000"/>
            </a:pPr>
            <a:r>
              <a:rPr lang="en-US" altLang="zh-CN" sz="2800" b="1" dirty="0">
                <a:solidFill>
                  <a:srgbClr val="CC0000"/>
                </a:solidFill>
                <a:sym typeface="Webdings" panose="05030102010509060703" pitchFamily="18" charset="2"/>
              </a:rPr>
              <a:t></a:t>
            </a:r>
            <a:r>
              <a:rPr kumimoji="0" lang="en-US" altLang="zh-CN" b="1" dirty="0"/>
              <a:t> </a:t>
            </a:r>
            <a:r>
              <a:rPr kumimoji="0" lang="en-US" altLang="zh-CN" b="1" i="1" dirty="0">
                <a:solidFill>
                  <a:srgbClr val="0000CC"/>
                </a:solidFill>
              </a:rPr>
              <a:t>F</a:t>
            </a:r>
            <a:r>
              <a:rPr kumimoji="0" lang="en-US" altLang="zh-CN" i="1" baseline="-25000" dirty="0">
                <a:solidFill>
                  <a:srgbClr val="0000FF"/>
                </a:solidFill>
              </a:rPr>
              <a:t>R</a:t>
            </a:r>
            <a:r>
              <a:rPr kumimoji="0" lang="en-US" altLang="zh-CN" dirty="0">
                <a:solidFill>
                  <a:srgbClr val="0000CC"/>
                </a:solidFill>
              </a:rPr>
              <a:t>′</a:t>
            </a:r>
            <a:r>
              <a:rPr kumimoji="0" lang="en-US" altLang="zh-CN" b="1" dirty="0">
                <a:solidFill>
                  <a:srgbClr val="0000CC"/>
                </a:solidFill>
              </a:rPr>
              <a:t>≠</a:t>
            </a:r>
            <a:r>
              <a:rPr kumimoji="0" lang="en-US" altLang="zh-CN" dirty="0">
                <a:solidFill>
                  <a:srgbClr val="0000CC"/>
                </a:solidFill>
              </a:rPr>
              <a:t>0</a:t>
            </a:r>
            <a:r>
              <a:rPr kumimoji="0" lang="zh-CN" altLang="en-US" b="1" dirty="0">
                <a:solidFill>
                  <a:srgbClr val="0000CC"/>
                </a:solidFill>
              </a:rPr>
              <a:t>，</a:t>
            </a:r>
            <a:r>
              <a:rPr kumimoji="0" lang="en-US" altLang="zh-CN" b="1" i="1" dirty="0">
                <a:solidFill>
                  <a:srgbClr val="0000CC"/>
                </a:solidFill>
              </a:rPr>
              <a:t>M</a:t>
            </a:r>
            <a:r>
              <a:rPr kumimoji="0" lang="en-US" altLang="zh-CN" i="1" baseline="-25000" dirty="0">
                <a:solidFill>
                  <a:srgbClr val="0000CC"/>
                </a:solidFill>
              </a:rPr>
              <a:t>O</a:t>
            </a:r>
            <a:r>
              <a:rPr kumimoji="0" lang="en-US" altLang="zh-CN" b="1" dirty="0">
                <a:solidFill>
                  <a:srgbClr val="0000CC"/>
                </a:solidFill>
              </a:rPr>
              <a:t>≠</a:t>
            </a:r>
            <a:r>
              <a:rPr kumimoji="0" lang="en-US" altLang="zh-CN" dirty="0">
                <a:solidFill>
                  <a:srgbClr val="0000CC"/>
                </a:solidFill>
              </a:rPr>
              <a:t>0</a:t>
            </a:r>
            <a:r>
              <a:rPr kumimoji="0" lang="zh-CN" altLang="en-US" b="1" dirty="0">
                <a:solidFill>
                  <a:srgbClr val="0000CC"/>
                </a:solidFill>
              </a:rPr>
              <a:t>，    且</a:t>
            </a:r>
            <a:r>
              <a:rPr kumimoji="0" lang="en-US" altLang="zh-CN" b="1" i="1" dirty="0">
                <a:solidFill>
                  <a:srgbClr val="0000CC"/>
                </a:solidFill>
              </a:rPr>
              <a:t>F</a:t>
            </a:r>
            <a:r>
              <a:rPr kumimoji="0" lang="en-US" altLang="zh-CN" i="1" baseline="-25000" dirty="0">
                <a:solidFill>
                  <a:srgbClr val="0000CC"/>
                </a:solidFill>
              </a:rPr>
              <a:t>R</a:t>
            </a:r>
            <a:r>
              <a:rPr kumimoji="0" lang="en-US" altLang="zh-CN" dirty="0">
                <a:solidFill>
                  <a:srgbClr val="0000CC"/>
                </a:solidFill>
              </a:rPr>
              <a:t>′⊥</a:t>
            </a:r>
            <a:r>
              <a:rPr kumimoji="0" lang="en-US" altLang="zh-CN" i="1" dirty="0">
                <a:solidFill>
                  <a:srgbClr val="0000CC"/>
                </a:solidFill>
              </a:rPr>
              <a:t> </a:t>
            </a:r>
            <a:r>
              <a:rPr kumimoji="0" lang="en-US" altLang="zh-CN" b="1" i="1" dirty="0">
                <a:solidFill>
                  <a:srgbClr val="0000CC"/>
                </a:solidFill>
              </a:rPr>
              <a:t>M</a:t>
            </a:r>
            <a:r>
              <a:rPr kumimoji="0" lang="en-US" altLang="zh-CN" i="1" baseline="-25000" dirty="0">
                <a:solidFill>
                  <a:srgbClr val="0000CC"/>
                </a:solidFill>
              </a:rPr>
              <a:t>O</a:t>
            </a:r>
            <a:r>
              <a:rPr kumimoji="0" lang="en-US" altLang="zh-CN" i="1" dirty="0">
                <a:solidFill>
                  <a:srgbClr val="0000CC"/>
                </a:solidFill>
              </a:rPr>
              <a:t> </a:t>
            </a:r>
            <a:endParaRPr kumimoji="0" lang="en-US" altLang="zh-CN" b="1" dirty="0">
              <a:solidFill>
                <a:srgbClr val="0000CC"/>
              </a:solidFill>
            </a:endParaRPr>
          </a:p>
        </p:txBody>
      </p:sp>
      <p:grpSp>
        <p:nvGrpSpPr>
          <p:cNvPr id="2" name="Group 26"/>
          <p:cNvGrpSpPr>
            <a:grpSpLocks/>
          </p:cNvGrpSpPr>
          <p:nvPr/>
        </p:nvGrpSpPr>
        <p:grpSpPr bwMode="auto">
          <a:xfrm>
            <a:off x="466725" y="4275813"/>
            <a:ext cx="3240087" cy="1882775"/>
            <a:chOff x="322" y="2291"/>
            <a:chExt cx="2374" cy="1350"/>
          </a:xfrm>
        </p:grpSpPr>
        <p:sp>
          <p:nvSpPr>
            <p:cNvPr id="20532" name="AutoShape 27"/>
            <p:cNvSpPr>
              <a:spLocks noChangeArrowheads="1"/>
            </p:cNvSpPr>
            <p:nvPr/>
          </p:nvSpPr>
          <p:spPr bwMode="auto">
            <a:xfrm>
              <a:off x="322" y="2721"/>
              <a:ext cx="2374" cy="920"/>
            </a:xfrm>
            <a:prstGeom prst="parallelogram">
              <a:avLst>
                <a:gd name="adj" fmla="val 64511"/>
              </a:avLst>
            </a:prstGeom>
            <a:solidFill>
              <a:srgbClr val="66CCFF"/>
            </a:solidFill>
            <a:ln w="19050">
              <a:solidFill>
                <a:schemeClr val="tx1"/>
              </a:solidFill>
              <a:miter lim="800000"/>
              <a:headEnd/>
              <a:tailEnd type="none" w="sm" len="lg"/>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533" name="Rectangle 28"/>
            <p:cNvSpPr>
              <a:spLocks noChangeArrowheads="1"/>
            </p:cNvSpPr>
            <p:nvPr/>
          </p:nvSpPr>
          <p:spPr bwMode="auto">
            <a:xfrm>
              <a:off x="1173" y="2790"/>
              <a:ext cx="270"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i="1"/>
                <a:t>O</a:t>
              </a:r>
            </a:p>
          </p:txBody>
        </p:sp>
        <p:sp>
          <p:nvSpPr>
            <p:cNvPr id="20534" name="Rectangle 29"/>
            <p:cNvSpPr>
              <a:spLocks noChangeArrowheads="1"/>
            </p:cNvSpPr>
            <p:nvPr/>
          </p:nvSpPr>
          <p:spPr bwMode="auto">
            <a:xfrm>
              <a:off x="1993" y="2643"/>
              <a:ext cx="385"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t>F</a:t>
              </a:r>
              <a:r>
                <a:rPr kumimoji="0" lang="en-US" altLang="zh-CN" sz="2000" b="1" i="1" baseline="-25000" dirty="0"/>
                <a:t>R</a:t>
              </a:r>
              <a:r>
                <a:rPr kumimoji="0" lang="en-US" altLang="zh-CN" sz="2000" dirty="0"/>
                <a:t>′</a:t>
              </a:r>
            </a:p>
          </p:txBody>
        </p:sp>
        <p:grpSp>
          <p:nvGrpSpPr>
            <p:cNvPr id="20535" name="Group 30"/>
            <p:cNvGrpSpPr>
              <a:grpSpLocks/>
            </p:cNvGrpSpPr>
            <p:nvPr/>
          </p:nvGrpSpPr>
          <p:grpSpPr bwMode="auto">
            <a:xfrm>
              <a:off x="1018" y="2291"/>
              <a:ext cx="397" cy="746"/>
              <a:chOff x="1018" y="2291"/>
              <a:chExt cx="397" cy="746"/>
            </a:xfrm>
          </p:grpSpPr>
          <p:sp>
            <p:nvSpPr>
              <p:cNvPr id="20538" name="Line 31"/>
              <p:cNvSpPr>
                <a:spLocks noChangeShapeType="1"/>
              </p:cNvSpPr>
              <p:nvPr/>
            </p:nvSpPr>
            <p:spPr bwMode="auto">
              <a:xfrm flipV="1">
                <a:off x="1415" y="2408"/>
                <a:ext cx="0" cy="629"/>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0539" name="Rectangle 32"/>
              <p:cNvSpPr>
                <a:spLocks noChangeArrowheads="1"/>
              </p:cNvSpPr>
              <p:nvPr/>
            </p:nvSpPr>
            <p:spPr bwMode="auto">
              <a:xfrm>
                <a:off x="1018" y="2291"/>
                <a:ext cx="387"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a:solidFill>
                      <a:srgbClr val="0000CC"/>
                    </a:solidFill>
                    <a:ea typeface="黑体" panose="02010609060101010101" pitchFamily="49" charset="-122"/>
                  </a:rPr>
                  <a:t>M</a:t>
                </a:r>
                <a:r>
                  <a:rPr kumimoji="0" lang="en-US" altLang="zh-CN" sz="2000" i="1" baseline="-25000">
                    <a:solidFill>
                      <a:srgbClr val="0000CC"/>
                    </a:solidFill>
                    <a:ea typeface="黑体" panose="02010609060101010101" pitchFamily="49" charset="-122"/>
                  </a:rPr>
                  <a:t>O</a:t>
                </a:r>
              </a:p>
            </p:txBody>
          </p:sp>
        </p:grpSp>
        <p:sp>
          <p:nvSpPr>
            <p:cNvPr id="20536" name="Line 33"/>
            <p:cNvSpPr>
              <a:spLocks noChangeShapeType="1"/>
            </p:cNvSpPr>
            <p:nvPr/>
          </p:nvSpPr>
          <p:spPr bwMode="auto">
            <a:xfrm flipV="1">
              <a:off x="1396" y="2857"/>
              <a:ext cx="576" cy="186"/>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0537" name="Oval 34"/>
            <p:cNvSpPr>
              <a:spLocks noChangeArrowheads="1"/>
            </p:cNvSpPr>
            <p:nvPr/>
          </p:nvSpPr>
          <p:spPr bwMode="auto">
            <a:xfrm>
              <a:off x="1388" y="3010"/>
              <a:ext cx="56" cy="56"/>
            </a:xfrm>
            <a:prstGeom prst="ellipse">
              <a:avLst/>
            </a:prstGeom>
            <a:solidFill>
              <a:schemeClr val="accent1"/>
            </a:solidFill>
            <a:ln w="1905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9731" name="AutoShape 35"/>
          <p:cNvSpPr>
            <a:spLocks noChangeArrowheads="1"/>
          </p:cNvSpPr>
          <p:nvPr/>
        </p:nvSpPr>
        <p:spPr bwMode="auto">
          <a:xfrm>
            <a:off x="3571875" y="5374363"/>
            <a:ext cx="620712" cy="168275"/>
          </a:xfrm>
          <a:prstGeom prst="rightArrow">
            <a:avLst>
              <a:gd name="adj1" fmla="val 50000"/>
              <a:gd name="adj2" fmla="val 92217"/>
            </a:avLst>
          </a:prstGeom>
          <a:solidFill>
            <a:srgbClr val="008000"/>
          </a:solidFill>
          <a:ln w="1270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4" name="Group 36"/>
          <p:cNvGrpSpPr>
            <a:grpSpLocks/>
          </p:cNvGrpSpPr>
          <p:nvPr/>
        </p:nvGrpSpPr>
        <p:grpSpPr bwMode="auto">
          <a:xfrm>
            <a:off x="3995737" y="4769525"/>
            <a:ext cx="3444875" cy="1295400"/>
            <a:chOff x="2861" y="2732"/>
            <a:chExt cx="2374" cy="920"/>
          </a:xfrm>
        </p:grpSpPr>
        <p:sp>
          <p:nvSpPr>
            <p:cNvPr id="20523" name="AutoShape 37"/>
            <p:cNvSpPr>
              <a:spLocks noChangeArrowheads="1"/>
            </p:cNvSpPr>
            <p:nvPr/>
          </p:nvSpPr>
          <p:spPr bwMode="auto">
            <a:xfrm>
              <a:off x="2861" y="2732"/>
              <a:ext cx="2374" cy="920"/>
            </a:xfrm>
            <a:prstGeom prst="parallelogram">
              <a:avLst>
                <a:gd name="adj" fmla="val 64511"/>
              </a:avLst>
            </a:prstGeom>
            <a:solidFill>
              <a:srgbClr val="66CCFF"/>
            </a:solidFill>
            <a:ln w="19050">
              <a:solidFill>
                <a:schemeClr val="tx1"/>
              </a:solidFill>
              <a:miter lim="800000"/>
              <a:headEnd/>
              <a:tailEnd type="none" w="sm" len="lg"/>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524" name="Line 38"/>
            <p:cNvSpPr>
              <a:spLocks noChangeShapeType="1"/>
            </p:cNvSpPr>
            <p:nvPr/>
          </p:nvSpPr>
          <p:spPr bwMode="auto">
            <a:xfrm flipV="1">
              <a:off x="3835" y="3142"/>
              <a:ext cx="576" cy="186"/>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0525" name="Line 39"/>
            <p:cNvSpPr>
              <a:spLocks noChangeShapeType="1"/>
            </p:cNvSpPr>
            <p:nvPr/>
          </p:nvSpPr>
          <p:spPr bwMode="auto">
            <a:xfrm>
              <a:off x="3715" y="3029"/>
              <a:ext cx="116" cy="31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26" name="Oval 40"/>
            <p:cNvSpPr>
              <a:spLocks noChangeArrowheads="1"/>
            </p:cNvSpPr>
            <p:nvPr/>
          </p:nvSpPr>
          <p:spPr bwMode="auto">
            <a:xfrm>
              <a:off x="3700" y="3026"/>
              <a:ext cx="56" cy="56"/>
            </a:xfrm>
            <a:prstGeom prst="ellipse">
              <a:avLst/>
            </a:prstGeom>
            <a:solidFill>
              <a:schemeClr val="accent1"/>
            </a:solidFill>
            <a:ln w="1905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527" name="Oval 41"/>
            <p:cNvSpPr>
              <a:spLocks noChangeArrowheads="1"/>
            </p:cNvSpPr>
            <p:nvPr/>
          </p:nvSpPr>
          <p:spPr bwMode="auto">
            <a:xfrm>
              <a:off x="3821" y="3303"/>
              <a:ext cx="56" cy="56"/>
            </a:xfrm>
            <a:prstGeom prst="ellipse">
              <a:avLst/>
            </a:prstGeom>
            <a:solidFill>
              <a:schemeClr val="accent1"/>
            </a:solidFill>
            <a:ln w="1905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528" name="Rectangle 42"/>
            <p:cNvSpPr>
              <a:spLocks noChangeArrowheads="1"/>
            </p:cNvSpPr>
            <p:nvPr/>
          </p:nvSpPr>
          <p:spPr bwMode="auto">
            <a:xfrm>
              <a:off x="3571" y="2758"/>
              <a:ext cx="25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i="1" dirty="0"/>
                <a:t>O</a:t>
              </a:r>
            </a:p>
          </p:txBody>
        </p:sp>
        <p:sp>
          <p:nvSpPr>
            <p:cNvPr id="20529" name="Rectangle 43"/>
            <p:cNvSpPr>
              <a:spLocks noChangeArrowheads="1"/>
            </p:cNvSpPr>
            <p:nvPr/>
          </p:nvSpPr>
          <p:spPr bwMode="auto">
            <a:xfrm>
              <a:off x="3791" y="3270"/>
              <a:ext cx="29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i="1"/>
                <a:t>O</a:t>
              </a:r>
              <a:r>
                <a:rPr kumimoji="0" lang="en-US" altLang="zh-CN" sz="2000" i="1">
                  <a:cs typeface="Times New Roman" panose="02020603050405020304" pitchFamily="18" charset="0"/>
                </a:rPr>
                <a:t>'</a:t>
              </a:r>
              <a:endParaRPr kumimoji="0" lang="en-US" altLang="en-US" sz="2000" i="1">
                <a:cs typeface="Times New Roman" panose="02020603050405020304" pitchFamily="18" charset="0"/>
              </a:endParaRPr>
            </a:p>
          </p:txBody>
        </p:sp>
        <p:sp>
          <p:nvSpPr>
            <p:cNvPr id="20530" name="Rectangle 44"/>
            <p:cNvSpPr>
              <a:spLocks noChangeArrowheads="1"/>
            </p:cNvSpPr>
            <p:nvPr/>
          </p:nvSpPr>
          <p:spPr bwMode="auto">
            <a:xfrm>
              <a:off x="3522" y="3010"/>
              <a:ext cx="232"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i="1" dirty="0"/>
                <a:t>d</a:t>
              </a:r>
            </a:p>
          </p:txBody>
        </p:sp>
        <p:sp>
          <p:nvSpPr>
            <p:cNvPr id="20531" name="Rectangle 45"/>
            <p:cNvSpPr>
              <a:spLocks noChangeArrowheads="1"/>
            </p:cNvSpPr>
            <p:nvPr/>
          </p:nvSpPr>
          <p:spPr bwMode="auto">
            <a:xfrm>
              <a:off x="4338" y="3082"/>
              <a:ext cx="3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t>F</a:t>
              </a:r>
              <a:r>
                <a:rPr kumimoji="0" lang="en-US" altLang="zh-CN" sz="2000" b="1" i="1" baseline="-25000" dirty="0"/>
                <a:t>R</a:t>
              </a:r>
              <a:r>
                <a:rPr kumimoji="0" lang="en-US" altLang="zh-CN" sz="2000" dirty="0"/>
                <a:t>′</a:t>
              </a:r>
            </a:p>
          </p:txBody>
        </p:sp>
      </p:grpSp>
      <p:sp>
        <p:nvSpPr>
          <p:cNvPr id="29742" name="AutoShape 46"/>
          <p:cNvSpPr>
            <a:spLocks noChangeArrowheads="1"/>
          </p:cNvSpPr>
          <p:nvPr/>
        </p:nvSpPr>
        <p:spPr bwMode="auto">
          <a:xfrm>
            <a:off x="5619100" y="4028864"/>
            <a:ext cx="792163" cy="217488"/>
          </a:xfrm>
          <a:prstGeom prst="rightArrow">
            <a:avLst>
              <a:gd name="adj1" fmla="val 50000"/>
              <a:gd name="adj2" fmla="val 91058"/>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743" name="Text Box 47"/>
          <p:cNvSpPr txBox="1">
            <a:spLocks noChangeArrowheads="1"/>
          </p:cNvSpPr>
          <p:nvPr/>
        </p:nvSpPr>
        <p:spPr bwMode="auto">
          <a:xfrm>
            <a:off x="6533971" y="3879089"/>
            <a:ext cx="2358509" cy="46166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黑体" panose="02010609060101010101" pitchFamily="49" charset="-122"/>
                <a:ea typeface="黑体" panose="02010609060101010101" pitchFamily="49" charset="-122"/>
              </a:rPr>
              <a:t>合力（过</a:t>
            </a:r>
            <a:r>
              <a:rPr lang="en-US" altLang="zh-CN" i="1" dirty="0">
                <a:ea typeface="黑体" panose="02010609060101010101" pitchFamily="49" charset="-122"/>
              </a:rPr>
              <a:t>O</a:t>
            </a:r>
            <a:r>
              <a:rPr lang="en-US" altLang="zh-CN" i="1" dirty="0">
                <a:ea typeface="黑体" panose="02010609060101010101" pitchFamily="49" charset="-122"/>
                <a:sym typeface="Symbol" panose="05050102010706020507" pitchFamily="18" charset="2"/>
              </a:rPr>
              <a:t></a:t>
            </a:r>
            <a:r>
              <a:rPr lang="zh-CN" altLang="en-US" b="1" dirty="0">
                <a:latin typeface="黑体" panose="02010609060101010101" pitchFamily="49" charset="-122"/>
                <a:ea typeface="黑体" panose="02010609060101010101" pitchFamily="49" charset="-122"/>
              </a:rPr>
              <a:t>点）</a:t>
            </a:r>
          </a:p>
        </p:txBody>
      </p:sp>
      <p:grpSp>
        <p:nvGrpSpPr>
          <p:cNvPr id="5" name="Group 48"/>
          <p:cNvGrpSpPr>
            <a:grpSpLocks/>
          </p:cNvGrpSpPr>
          <p:nvPr/>
        </p:nvGrpSpPr>
        <p:grpSpPr bwMode="auto">
          <a:xfrm>
            <a:off x="974725" y="4990188"/>
            <a:ext cx="2181225" cy="1238250"/>
            <a:chOff x="796" y="2832"/>
            <a:chExt cx="1374" cy="780"/>
          </a:xfrm>
        </p:grpSpPr>
        <p:sp>
          <p:nvSpPr>
            <p:cNvPr id="20514" name="Oval 49"/>
            <p:cNvSpPr>
              <a:spLocks noChangeArrowheads="1"/>
            </p:cNvSpPr>
            <p:nvPr/>
          </p:nvSpPr>
          <p:spPr bwMode="auto">
            <a:xfrm>
              <a:off x="1521" y="3335"/>
              <a:ext cx="56" cy="56"/>
            </a:xfrm>
            <a:prstGeom prst="ellipse">
              <a:avLst/>
            </a:prstGeom>
            <a:solidFill>
              <a:schemeClr val="accent1"/>
            </a:solidFill>
            <a:ln w="1905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0515" name="Group 50"/>
            <p:cNvGrpSpPr>
              <a:grpSpLocks/>
            </p:cNvGrpSpPr>
            <p:nvPr/>
          </p:nvGrpSpPr>
          <p:grpSpPr bwMode="auto">
            <a:xfrm>
              <a:off x="796" y="2832"/>
              <a:ext cx="1374" cy="780"/>
              <a:chOff x="796" y="2832"/>
              <a:chExt cx="1374" cy="780"/>
            </a:xfrm>
          </p:grpSpPr>
          <p:sp>
            <p:nvSpPr>
              <p:cNvPr id="20516" name="Line 51"/>
              <p:cNvSpPr>
                <a:spLocks noChangeShapeType="1"/>
              </p:cNvSpPr>
              <p:nvPr/>
            </p:nvSpPr>
            <p:spPr bwMode="auto">
              <a:xfrm flipH="1">
                <a:off x="796" y="3054"/>
                <a:ext cx="585" cy="176"/>
              </a:xfrm>
              <a:prstGeom prst="line">
                <a:avLst/>
              </a:prstGeom>
              <a:noFill/>
              <a:ln w="38100">
                <a:solidFill>
                  <a:srgbClr val="FF33CC"/>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0517" name="Line 52"/>
              <p:cNvSpPr>
                <a:spLocks noChangeShapeType="1"/>
              </p:cNvSpPr>
              <p:nvPr/>
            </p:nvSpPr>
            <p:spPr bwMode="auto">
              <a:xfrm flipV="1">
                <a:off x="1535" y="3174"/>
                <a:ext cx="576" cy="186"/>
              </a:xfrm>
              <a:prstGeom prst="line">
                <a:avLst/>
              </a:prstGeom>
              <a:noFill/>
              <a:ln w="38100">
                <a:solidFill>
                  <a:srgbClr val="FF33CC"/>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0518" name="Line 53"/>
              <p:cNvSpPr>
                <a:spLocks noChangeShapeType="1"/>
              </p:cNvSpPr>
              <p:nvPr/>
            </p:nvSpPr>
            <p:spPr bwMode="auto">
              <a:xfrm>
                <a:off x="1415" y="3061"/>
                <a:ext cx="116" cy="31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9" name="Rectangle 54"/>
              <p:cNvSpPr>
                <a:spLocks noChangeArrowheads="1"/>
              </p:cNvSpPr>
              <p:nvPr/>
            </p:nvSpPr>
            <p:spPr bwMode="auto">
              <a:xfrm>
                <a:off x="1311" y="3295"/>
                <a:ext cx="26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i="1" dirty="0"/>
                  <a:t>O</a:t>
                </a:r>
                <a:r>
                  <a:rPr kumimoji="0" lang="en-US" altLang="zh-CN" sz="2000" i="1" dirty="0">
                    <a:cs typeface="Times New Roman" panose="02020603050405020304" pitchFamily="18" charset="0"/>
                  </a:rPr>
                  <a:t>'</a:t>
                </a:r>
                <a:endParaRPr kumimoji="0" lang="en-US" altLang="en-US" sz="2000" i="1" dirty="0">
                  <a:cs typeface="Times New Roman" panose="02020603050405020304" pitchFamily="18" charset="0"/>
                </a:endParaRPr>
              </a:p>
            </p:txBody>
          </p:sp>
          <p:sp>
            <p:nvSpPr>
              <p:cNvPr id="20520" name="Rectangle 55"/>
              <p:cNvSpPr>
                <a:spLocks noChangeArrowheads="1"/>
              </p:cNvSpPr>
              <p:nvPr/>
            </p:nvSpPr>
            <p:spPr bwMode="auto">
              <a:xfrm>
                <a:off x="1247" y="3013"/>
                <a:ext cx="212"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i="1" dirty="0"/>
                  <a:t>d</a:t>
                </a:r>
              </a:p>
            </p:txBody>
          </p:sp>
          <p:sp>
            <p:nvSpPr>
              <p:cNvPr id="20521" name="Rectangle 56"/>
              <p:cNvSpPr>
                <a:spLocks noChangeArrowheads="1"/>
              </p:cNvSpPr>
              <p:nvPr/>
            </p:nvSpPr>
            <p:spPr bwMode="auto">
              <a:xfrm>
                <a:off x="1839" y="3192"/>
                <a:ext cx="33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t>F</a:t>
                </a:r>
                <a:r>
                  <a:rPr kumimoji="0" lang="en-US" altLang="zh-CN" sz="2000" b="1" i="1" baseline="-25000" dirty="0"/>
                  <a:t>R</a:t>
                </a:r>
                <a:r>
                  <a:rPr kumimoji="0" lang="en-US" altLang="zh-CN" sz="2000" dirty="0"/>
                  <a:t>′</a:t>
                </a:r>
              </a:p>
            </p:txBody>
          </p:sp>
          <p:sp>
            <p:nvSpPr>
              <p:cNvPr id="20522" name="Rectangle 57"/>
              <p:cNvSpPr>
                <a:spLocks noChangeArrowheads="1"/>
              </p:cNvSpPr>
              <p:nvPr/>
            </p:nvSpPr>
            <p:spPr bwMode="auto">
              <a:xfrm>
                <a:off x="849" y="2832"/>
                <a:ext cx="296"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t>F</a:t>
                </a:r>
                <a:r>
                  <a:rPr kumimoji="0" lang="en-US" altLang="zh-CN" sz="2000" b="1" i="1" baseline="-25000" dirty="0"/>
                  <a:t>R</a:t>
                </a:r>
                <a:endParaRPr kumimoji="0" lang="en-US" altLang="zh-CN" sz="2000" dirty="0"/>
              </a:p>
            </p:txBody>
          </p:sp>
        </p:grpSp>
      </p:grpSp>
      <p:grpSp>
        <p:nvGrpSpPr>
          <p:cNvPr id="20499" name="Group 58"/>
          <p:cNvGrpSpPr>
            <a:grpSpLocks/>
          </p:cNvGrpSpPr>
          <p:nvPr/>
        </p:nvGrpSpPr>
        <p:grpSpPr bwMode="auto">
          <a:xfrm>
            <a:off x="6711574" y="609600"/>
            <a:ext cx="1562100" cy="2162175"/>
            <a:chOff x="4377" y="935"/>
            <a:chExt cx="984" cy="1362"/>
          </a:xfrm>
        </p:grpSpPr>
        <p:grpSp>
          <p:nvGrpSpPr>
            <p:cNvPr id="20500" name="Group 59"/>
            <p:cNvGrpSpPr>
              <a:grpSpLocks/>
            </p:cNvGrpSpPr>
            <p:nvPr/>
          </p:nvGrpSpPr>
          <p:grpSpPr bwMode="auto">
            <a:xfrm>
              <a:off x="4377" y="935"/>
              <a:ext cx="984" cy="1362"/>
              <a:chOff x="4604" y="733"/>
              <a:chExt cx="984" cy="1362"/>
            </a:xfrm>
          </p:grpSpPr>
          <p:grpSp>
            <p:nvGrpSpPr>
              <p:cNvPr id="20504" name="Group 60"/>
              <p:cNvGrpSpPr>
                <a:grpSpLocks/>
              </p:cNvGrpSpPr>
              <p:nvPr/>
            </p:nvGrpSpPr>
            <p:grpSpPr bwMode="auto">
              <a:xfrm>
                <a:off x="4604" y="1207"/>
                <a:ext cx="984" cy="888"/>
                <a:chOff x="996" y="1368"/>
                <a:chExt cx="984" cy="888"/>
              </a:xfrm>
            </p:grpSpPr>
            <p:sp>
              <p:nvSpPr>
                <p:cNvPr id="20511" name="Freeform 61" descr="小纸屑"/>
                <p:cNvSpPr>
                  <a:spLocks/>
                </p:cNvSpPr>
                <p:nvPr/>
              </p:nvSpPr>
              <p:spPr bwMode="auto">
                <a:xfrm>
                  <a:off x="996" y="1368"/>
                  <a:ext cx="984" cy="888"/>
                </a:xfrm>
                <a:custGeom>
                  <a:avLst/>
                  <a:gdLst>
                    <a:gd name="T0" fmla="*/ 624 w 984"/>
                    <a:gd name="T1" fmla="*/ 8 h 888"/>
                    <a:gd name="T2" fmla="*/ 192 w 984"/>
                    <a:gd name="T3" fmla="*/ 56 h 888"/>
                    <a:gd name="T4" fmla="*/ 0 w 984"/>
                    <a:gd name="T5" fmla="*/ 344 h 888"/>
                    <a:gd name="T6" fmla="*/ 192 w 984"/>
                    <a:gd name="T7" fmla="*/ 728 h 888"/>
                    <a:gd name="T8" fmla="*/ 576 w 984"/>
                    <a:gd name="T9" fmla="*/ 872 h 888"/>
                    <a:gd name="T10" fmla="*/ 864 w 984"/>
                    <a:gd name="T11" fmla="*/ 632 h 888"/>
                    <a:gd name="T12" fmla="*/ 960 w 984"/>
                    <a:gd name="T13" fmla="*/ 296 h 888"/>
                    <a:gd name="T14" fmla="*/ 720 w 984"/>
                    <a:gd name="T15" fmla="*/ 56 h 888"/>
                    <a:gd name="T16" fmla="*/ 624 w 984"/>
                    <a:gd name="T17" fmla="*/ 8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pattFill prst="smConfetti">
                  <a:fgClr>
                    <a:schemeClr val="folHlink"/>
                  </a:fgClr>
                  <a:bgClr>
                    <a:srgbClr val="FFFFFF"/>
                  </a:bgClr>
                </a:pattFill>
                <a:ln w="22225">
                  <a:solidFill>
                    <a:srgbClr val="99CCFF"/>
                  </a:solidFill>
                  <a:miter lim="800000"/>
                  <a:headEnd/>
                  <a:tailEnd/>
                </a:ln>
              </p:spPr>
              <p:txBody>
                <a:bodyPr wrap="none"/>
                <a:lstStyle/>
                <a:p>
                  <a:endParaRPr lang="zh-CN" altLang="en-US"/>
                </a:p>
              </p:txBody>
            </p:sp>
            <p:sp>
              <p:nvSpPr>
                <p:cNvPr id="20512" name="Oval 62"/>
                <p:cNvSpPr>
                  <a:spLocks noChangeArrowheads="1"/>
                </p:cNvSpPr>
                <p:nvPr/>
              </p:nvSpPr>
              <p:spPr bwMode="auto">
                <a:xfrm>
                  <a:off x="1491" y="1709"/>
                  <a:ext cx="45" cy="45"/>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513" name="Text Box 63"/>
                <p:cNvSpPr txBox="1">
                  <a:spLocks noChangeArrowheads="1"/>
                </p:cNvSpPr>
                <p:nvPr/>
              </p:nvSpPr>
              <p:spPr bwMode="auto">
                <a:xfrm>
                  <a:off x="1275" y="1619"/>
                  <a:ext cx="2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i="1">
                      <a:solidFill>
                        <a:srgbClr val="FF3300"/>
                      </a:solidFill>
                      <a:cs typeface="Times New Roman" panose="02020603050405020304" pitchFamily="18" charset="0"/>
                    </a:rPr>
                    <a:t>O</a:t>
                  </a:r>
                </a:p>
              </p:txBody>
            </p:sp>
          </p:grpSp>
          <p:grpSp>
            <p:nvGrpSpPr>
              <p:cNvPr id="20505" name="Group 64"/>
              <p:cNvGrpSpPr>
                <a:grpSpLocks/>
              </p:cNvGrpSpPr>
              <p:nvPr/>
            </p:nvGrpSpPr>
            <p:grpSpPr bwMode="auto">
              <a:xfrm>
                <a:off x="4760" y="733"/>
                <a:ext cx="311" cy="821"/>
                <a:chOff x="4420" y="912"/>
                <a:chExt cx="311" cy="821"/>
              </a:xfrm>
            </p:grpSpPr>
            <p:sp>
              <p:nvSpPr>
                <p:cNvPr id="23581" name="Text Box 65"/>
                <p:cNvSpPr txBox="1">
                  <a:spLocks noChangeArrowheads="1"/>
                </p:cNvSpPr>
                <p:nvPr/>
              </p:nvSpPr>
              <p:spPr bwMode="auto">
                <a:xfrm>
                  <a:off x="4420" y="1051"/>
                  <a:ext cx="267" cy="181"/>
                </a:xfrm>
                <a:prstGeom prst="rect">
                  <a:avLst/>
                </a:prstGeom>
                <a:noFill/>
                <a:ln w="9525">
                  <a:noFill/>
                  <a:miter lim="800000"/>
                  <a:headEnd/>
                  <a:tailEnd/>
                </a:ln>
              </p:spPr>
              <p:txBody>
                <a:bodyPr lIns="0" tIns="0" rIns="0" bIns="10800">
                  <a:spAutoFit/>
                </a:bodyPr>
                <a:lstStyle/>
                <a:p>
                  <a:pPr eaLnBrk="1" hangingPunct="1">
                    <a:defRPr/>
                  </a:pPr>
                  <a:r>
                    <a:rPr lang="en-US" altLang="zh-CN" sz="1800" b="1" i="1" dirty="0">
                      <a:latin typeface="+mj-lt"/>
                    </a:rPr>
                    <a:t>F</a:t>
                  </a:r>
                  <a:r>
                    <a:rPr lang="en-US" altLang="zh-CN" sz="1800" b="1" i="1" dirty="0">
                      <a:latin typeface="+mj-lt"/>
                      <a:cs typeface="Tahoma" pitchFamily="34" charset="0"/>
                    </a:rPr>
                    <a:t>'</a:t>
                  </a:r>
                  <a:r>
                    <a:rPr lang="en-US" altLang="zh-CN" sz="1800" b="1" i="1" baseline="-25000" dirty="0">
                      <a:latin typeface="+mj-lt"/>
                    </a:rPr>
                    <a:t>R</a:t>
                  </a:r>
                  <a:endParaRPr lang="en-US" altLang="zh-CN" sz="1800" b="1" i="1" dirty="0">
                    <a:latin typeface="+mj-lt"/>
                  </a:endParaRPr>
                </a:p>
              </p:txBody>
            </p:sp>
            <p:sp>
              <p:nvSpPr>
                <p:cNvPr id="20510" name="AutoShape 66"/>
                <p:cNvSpPr>
                  <a:spLocks noChangeArrowheads="1"/>
                </p:cNvSpPr>
                <p:nvPr/>
              </p:nvSpPr>
              <p:spPr bwMode="auto">
                <a:xfrm rot="-6000000">
                  <a:off x="4296" y="1299"/>
                  <a:ext cx="821" cy="48"/>
                </a:xfrm>
                <a:prstGeom prst="rightArrow">
                  <a:avLst>
                    <a:gd name="adj1" fmla="val 50000"/>
                    <a:gd name="adj2" fmla="val 427604"/>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0506" name="Group 67"/>
              <p:cNvGrpSpPr>
                <a:grpSpLocks/>
              </p:cNvGrpSpPr>
              <p:nvPr/>
            </p:nvGrpSpPr>
            <p:grpSpPr bwMode="auto">
              <a:xfrm>
                <a:off x="5239" y="919"/>
                <a:ext cx="253" cy="739"/>
                <a:chOff x="5239" y="931"/>
                <a:chExt cx="253" cy="739"/>
              </a:xfrm>
            </p:grpSpPr>
            <p:sp>
              <p:nvSpPr>
                <p:cNvPr id="20507" name="Text Box 68"/>
                <p:cNvSpPr txBox="1">
                  <a:spLocks noChangeArrowheads="1"/>
                </p:cNvSpPr>
                <p:nvPr/>
              </p:nvSpPr>
              <p:spPr bwMode="auto">
                <a:xfrm>
                  <a:off x="5239" y="1026"/>
                  <a:ext cx="2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FF3300"/>
                      </a:solidFill>
                      <a:cs typeface="Times New Roman" panose="02020603050405020304" pitchFamily="18" charset="0"/>
                    </a:rPr>
                    <a:t>M</a:t>
                  </a:r>
                  <a:r>
                    <a:rPr lang="en-US" altLang="zh-CN" sz="1800" b="1" i="1" baseline="-25000" dirty="0">
                      <a:solidFill>
                        <a:srgbClr val="FF3300"/>
                      </a:solidFill>
                      <a:cs typeface="Times New Roman" panose="02020603050405020304" pitchFamily="18" charset="0"/>
                    </a:rPr>
                    <a:t>O</a:t>
                  </a:r>
                  <a:endParaRPr lang="en-US" altLang="zh-CN" sz="1800" b="1" i="1" dirty="0">
                    <a:solidFill>
                      <a:srgbClr val="FF3300"/>
                    </a:solidFill>
                    <a:cs typeface="Times New Roman" panose="02020603050405020304" pitchFamily="18" charset="0"/>
                  </a:endParaRPr>
                </a:p>
              </p:txBody>
            </p:sp>
            <p:sp>
              <p:nvSpPr>
                <p:cNvPr id="20508" name="AutoShape 69"/>
                <p:cNvSpPr>
                  <a:spLocks noChangeArrowheads="1"/>
                </p:cNvSpPr>
                <p:nvPr/>
              </p:nvSpPr>
              <p:spPr bwMode="auto">
                <a:xfrm rot="13445185" flipV="1">
                  <a:off x="5375" y="931"/>
                  <a:ext cx="48" cy="739"/>
                </a:xfrm>
                <a:prstGeom prst="upArrow">
                  <a:avLst>
                    <a:gd name="adj1" fmla="val 50000"/>
                    <a:gd name="adj2" fmla="val 384896"/>
                  </a:avLst>
                </a:prstGeom>
                <a:solidFill>
                  <a:srgbClr val="FF6600"/>
                </a:solidFill>
                <a:ln w="9525">
                  <a:solidFill>
                    <a:srgbClr val="993300"/>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20501" name="Group 70"/>
            <p:cNvGrpSpPr>
              <a:grpSpLocks/>
            </p:cNvGrpSpPr>
            <p:nvPr/>
          </p:nvGrpSpPr>
          <p:grpSpPr bwMode="auto">
            <a:xfrm>
              <a:off x="4844" y="1469"/>
              <a:ext cx="235" cy="246"/>
              <a:chOff x="4607" y="1253"/>
              <a:chExt cx="235" cy="246"/>
            </a:xfrm>
          </p:grpSpPr>
          <p:sp>
            <p:nvSpPr>
              <p:cNvPr id="20502" name="Arc 71"/>
              <p:cNvSpPr>
                <a:spLocks/>
              </p:cNvSpPr>
              <p:nvPr/>
            </p:nvSpPr>
            <p:spPr bwMode="auto">
              <a:xfrm rot="-2790934">
                <a:off x="4673" y="1399"/>
                <a:ext cx="58"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03" name="Text Box 72"/>
              <p:cNvSpPr txBox="1">
                <a:spLocks noChangeArrowheads="1"/>
              </p:cNvSpPr>
              <p:nvPr/>
            </p:nvSpPr>
            <p:spPr bwMode="auto">
              <a:xfrm>
                <a:off x="4607" y="1253"/>
                <a:ext cx="23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en-US" altLang="zh-CN" sz="1600" b="1" i="1">
                    <a:sym typeface="Symbol" panose="05050102010706020507" pitchFamily="18" charset="2"/>
                  </a:rPr>
                  <a:t></a:t>
                </a:r>
                <a:endParaRPr kumimoji="0" lang="en-US" altLang="zh-CN" sz="1800">
                  <a:latin typeface="Arial" panose="020B0604020202020204" pitchFamily="34" charset="0"/>
                </a:endParaRPr>
              </a:p>
            </p:txBody>
          </p:sp>
        </p:grpSp>
      </p:grpSp>
      <p:sp>
        <p:nvSpPr>
          <p:cNvPr id="60" name="Text Box 5"/>
          <p:cNvSpPr txBox="1">
            <a:spLocks noChangeArrowheads="1"/>
          </p:cNvSpPr>
          <p:nvPr/>
        </p:nvSpPr>
        <p:spPr bwMode="auto">
          <a:xfrm>
            <a:off x="713273" y="516266"/>
            <a:ext cx="56737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4</a:t>
            </a:r>
            <a:r>
              <a:rPr kumimoji="1" lang="zh-CN" altLang="en-US" sz="2800" b="1" dirty="0">
                <a:solidFill>
                  <a:srgbClr val="0000FF"/>
                </a:solidFill>
                <a:latin typeface="黑体" panose="02010609060101010101" pitchFamily="49" charset="-122"/>
                <a:ea typeface="黑体" panose="02010609060101010101" pitchFamily="49" charset="-122"/>
              </a:rPr>
              <a:t>．空间任意力系的合成结果</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graphicFrame>
        <p:nvGraphicFramePr>
          <p:cNvPr id="61" name="Object 29"/>
          <p:cNvGraphicFramePr>
            <a:graphicFrameLocks noChangeAspect="1"/>
          </p:cNvGraphicFramePr>
          <p:nvPr>
            <p:extLst>
              <p:ext uri="{D42A27DB-BD31-4B8C-83A1-F6EECF244321}">
                <p14:modId xmlns:p14="http://schemas.microsoft.com/office/powerpoint/2010/main" val="451075196"/>
              </p:ext>
            </p:extLst>
          </p:nvPr>
        </p:nvGraphicFramePr>
        <p:xfrm>
          <a:off x="7283074" y="4934626"/>
          <a:ext cx="1274763" cy="854075"/>
        </p:xfrm>
        <a:graphic>
          <a:graphicData uri="http://schemas.openxmlformats.org/presentationml/2006/ole">
            <mc:AlternateContent xmlns:mc="http://schemas.openxmlformats.org/markup-compatibility/2006">
              <mc:Choice xmlns:v="urn:schemas-microsoft-com:vml" Requires="v">
                <p:oleObj spid="_x0000_s24582" name="Equation" r:id="rId3" imgW="660240" imgH="444240" progId="Equation.DSMT4">
                  <p:embed/>
                </p:oleObj>
              </mc:Choice>
              <mc:Fallback>
                <p:oleObj name="Equation" r:id="rId3" imgW="660240" imgH="444240" progId="Equation.DSMT4">
                  <p:embed/>
                  <p:pic>
                    <p:nvPicPr>
                      <p:cNvPr id="0" name=""/>
                      <p:cNvPicPr>
                        <a:picLocks noChangeAspect="1" noChangeArrowheads="1"/>
                      </p:cNvPicPr>
                      <p:nvPr/>
                    </p:nvPicPr>
                    <p:blipFill>
                      <a:blip r:embed="rId4"/>
                      <a:srcRect/>
                      <a:stretch>
                        <a:fillRect/>
                      </a:stretch>
                    </p:blipFill>
                    <p:spPr bwMode="auto">
                      <a:xfrm>
                        <a:off x="7283074" y="4934626"/>
                        <a:ext cx="1274763"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5199346" y="2111266"/>
            <a:ext cx="1422184" cy="590931"/>
          </a:xfrm>
          <a:prstGeom prst="rect">
            <a:avLst/>
          </a:prstGeom>
        </p:spPr>
        <p:txBody>
          <a:bodyPr wrap="none">
            <a:spAutoFit/>
          </a:bodyPr>
          <a:lstStyle/>
          <a:p>
            <a:pPr eaLnBrk="1" hangingPunct="1">
              <a:lnSpc>
                <a:spcPct val="135000"/>
              </a:lnSpc>
              <a:spcBef>
                <a:spcPct val="50000"/>
              </a:spcBef>
            </a:pPr>
            <a:r>
              <a:rPr lang="zh-CN" altLang="en-US" b="1" dirty="0">
                <a:latin typeface="楷体" panose="02010609060101010101" pitchFamily="49" charset="-122"/>
                <a:ea typeface="楷体" panose="02010609060101010101" pitchFamily="49" charset="-122"/>
              </a:rPr>
              <a:t>例如力偶</a:t>
            </a:r>
          </a:p>
        </p:txBody>
      </p:sp>
      <p:sp>
        <p:nvSpPr>
          <p:cNvPr id="62" name="Text Box 47"/>
          <p:cNvSpPr txBox="1">
            <a:spLocks noChangeArrowheads="1"/>
          </p:cNvSpPr>
          <p:nvPr/>
        </p:nvSpPr>
        <p:spPr bwMode="auto">
          <a:xfrm>
            <a:off x="7031777" y="5863314"/>
            <a:ext cx="1588446" cy="46166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dirty="0">
                <a:ea typeface="黑体" panose="02010609060101010101" pitchFamily="49" charset="-122"/>
              </a:rPr>
              <a:t>O</a:t>
            </a:r>
            <a:r>
              <a:rPr lang="en-US" altLang="zh-CN" i="1" dirty="0">
                <a:ea typeface="黑体" panose="02010609060101010101" pitchFamily="49" charset="-122"/>
                <a:sym typeface="Symbol" panose="05050102010706020507" pitchFamily="18" charset="2"/>
              </a:rPr>
              <a:t></a:t>
            </a:r>
            <a:r>
              <a:rPr lang="zh-CN" altLang="en-US" b="1" dirty="0">
                <a:latin typeface="楷体" panose="02010609060101010101" pitchFamily="49" charset="-122"/>
                <a:ea typeface="楷体" panose="02010609060101010101" pitchFamily="49" charset="-122"/>
              </a:rPr>
              <a:t>点位置？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1"/>
                                        </p:tgtEl>
                                        <p:attrNameLst>
                                          <p:attrName>style.visibility</p:attrName>
                                        </p:attrNameLst>
                                      </p:cBhvr>
                                      <p:to>
                                        <p:strVal val="visible"/>
                                      </p:to>
                                    </p:set>
                                    <p:animEffect transition="in" filter="wipe(left)">
                                      <p:cBhvr>
                                        <p:cTn id="7" dur="500"/>
                                        <p:tgtEl>
                                          <p:spTgt spid="297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9702"/>
                                        </p:tgtEl>
                                        <p:attrNameLst>
                                          <p:attrName>style.visibility</p:attrName>
                                        </p:attrNameLst>
                                      </p:cBhvr>
                                      <p:to>
                                        <p:strVal val="visible"/>
                                      </p:to>
                                    </p:set>
                                    <p:animEffect transition="in" filter="wipe(up)">
                                      <p:cBhvr>
                                        <p:cTn id="12" dur="500"/>
                                        <p:tgtEl>
                                          <p:spTgt spid="297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9714"/>
                                        </p:tgtEl>
                                        <p:attrNameLst>
                                          <p:attrName>style.visibility</p:attrName>
                                        </p:attrNameLst>
                                      </p:cBhvr>
                                      <p:to>
                                        <p:strVal val="visible"/>
                                      </p:to>
                                    </p:set>
                                    <p:animEffect transition="in" filter="slide(fromBottom)">
                                      <p:cBhvr>
                                        <p:cTn id="17" dur="500"/>
                                        <p:tgtEl>
                                          <p:spTgt spid="297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29715"/>
                                        </p:tgtEl>
                                        <p:attrNameLst>
                                          <p:attrName>style.visibility</p:attrName>
                                        </p:attrNameLst>
                                      </p:cBhvr>
                                      <p:to>
                                        <p:strVal val="visible"/>
                                      </p:to>
                                    </p:set>
                                    <p:anim calcmode="lin" valueType="num">
                                      <p:cBhvr>
                                        <p:cTn id="22" dur="500" fill="hold"/>
                                        <p:tgtEl>
                                          <p:spTgt spid="29715"/>
                                        </p:tgtEl>
                                        <p:attrNameLst>
                                          <p:attrName>ppt_w</p:attrName>
                                        </p:attrNameLst>
                                      </p:cBhvr>
                                      <p:tavLst>
                                        <p:tav tm="0">
                                          <p:val>
                                            <p:fltVal val="0"/>
                                          </p:val>
                                        </p:tav>
                                        <p:tav tm="100000">
                                          <p:val>
                                            <p:strVal val="#ppt_w"/>
                                          </p:val>
                                        </p:tav>
                                      </p:tavLst>
                                    </p:anim>
                                    <p:anim calcmode="lin" valueType="num">
                                      <p:cBhvr>
                                        <p:cTn id="23" dur="500" fill="hold"/>
                                        <p:tgtEl>
                                          <p:spTgt spid="29715"/>
                                        </p:tgtEl>
                                        <p:attrNameLst>
                                          <p:attrName>ppt_h</p:attrName>
                                        </p:attrNameLst>
                                      </p:cBhvr>
                                      <p:tavLst>
                                        <p:tav tm="0">
                                          <p:val>
                                            <p:fltVal val="0"/>
                                          </p:val>
                                        </p:tav>
                                        <p:tav tm="100000">
                                          <p:val>
                                            <p:strVal val="#ppt_h"/>
                                          </p:val>
                                        </p:tav>
                                      </p:tavLst>
                                    </p:anim>
                                    <p:animEffect transition="in" filter="fade">
                                      <p:cBhvr>
                                        <p:cTn id="24" dur="500"/>
                                        <p:tgtEl>
                                          <p:spTgt spid="2971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9716"/>
                                        </p:tgtEl>
                                        <p:attrNameLst>
                                          <p:attrName>style.visibility</p:attrName>
                                        </p:attrNameLst>
                                      </p:cBhvr>
                                      <p:to>
                                        <p:strVal val="visible"/>
                                      </p:to>
                                    </p:set>
                                    <p:animEffect transition="in" filter="wipe(up)">
                                      <p:cBhvr>
                                        <p:cTn id="29" dur="500"/>
                                        <p:tgtEl>
                                          <p:spTgt spid="2971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500" fill="hold"/>
                                        <p:tgtEl>
                                          <p:spTgt spid="3"/>
                                        </p:tgtEl>
                                        <p:attrNameLst>
                                          <p:attrName>ppt_w</p:attrName>
                                        </p:attrNameLst>
                                      </p:cBhvr>
                                      <p:tavLst>
                                        <p:tav tm="0">
                                          <p:val>
                                            <p:fltVal val="0"/>
                                          </p:val>
                                        </p:tav>
                                        <p:tav tm="100000">
                                          <p:val>
                                            <p:strVal val="#ppt_w"/>
                                          </p:val>
                                        </p:tav>
                                      </p:tavLst>
                                    </p:anim>
                                    <p:anim calcmode="lin" valueType="num">
                                      <p:cBhvr>
                                        <p:cTn id="35" dur="500" fill="hold"/>
                                        <p:tgtEl>
                                          <p:spTgt spid="3"/>
                                        </p:tgtEl>
                                        <p:attrNameLst>
                                          <p:attrName>ppt_h</p:attrName>
                                        </p:attrNameLst>
                                      </p:cBhvr>
                                      <p:tavLst>
                                        <p:tav tm="0">
                                          <p:val>
                                            <p:fltVal val="0"/>
                                          </p:val>
                                        </p:tav>
                                        <p:tav tm="100000">
                                          <p:val>
                                            <p:strVal val="#ppt_h"/>
                                          </p:val>
                                        </p:tav>
                                      </p:tavLst>
                                    </p:anim>
                                    <p:animEffect transition="in" filter="fade">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29717"/>
                                        </p:tgtEl>
                                        <p:attrNameLst>
                                          <p:attrName>style.visibility</p:attrName>
                                        </p:attrNameLst>
                                      </p:cBhvr>
                                      <p:to>
                                        <p:strVal val="visible"/>
                                      </p:to>
                                    </p:set>
                                    <p:animEffect transition="in" filter="box(out)">
                                      <p:cBhvr>
                                        <p:cTn id="41" dur="500"/>
                                        <p:tgtEl>
                                          <p:spTgt spid="297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29718"/>
                                        </p:tgtEl>
                                        <p:attrNameLst>
                                          <p:attrName>style.visibility</p:attrName>
                                        </p:attrNameLst>
                                      </p:cBhvr>
                                      <p:to>
                                        <p:strVal val="visible"/>
                                      </p:to>
                                    </p:set>
                                    <p:animEffect transition="in" filter="wipe(up)">
                                      <p:cBhvr>
                                        <p:cTn id="46" dur="500"/>
                                        <p:tgtEl>
                                          <p:spTgt spid="29718"/>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29719"/>
                                        </p:tgtEl>
                                        <p:attrNameLst>
                                          <p:attrName>style.visibility</p:attrName>
                                        </p:attrNameLst>
                                      </p:cBhvr>
                                      <p:to>
                                        <p:strVal val="visible"/>
                                      </p:to>
                                    </p:set>
                                    <p:animEffect transition="in" filter="slide(fromBottom)">
                                      <p:cBhvr>
                                        <p:cTn id="51" dur="500"/>
                                        <p:tgtEl>
                                          <p:spTgt spid="29719"/>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29720"/>
                                        </p:tgtEl>
                                        <p:attrNameLst>
                                          <p:attrName>style.visibility</p:attrName>
                                        </p:attrNameLst>
                                      </p:cBhvr>
                                      <p:to>
                                        <p:strVal val="visible"/>
                                      </p:to>
                                    </p:set>
                                    <p:anim calcmode="lin" valueType="num">
                                      <p:cBhvr>
                                        <p:cTn id="56" dur="500" fill="hold"/>
                                        <p:tgtEl>
                                          <p:spTgt spid="29720"/>
                                        </p:tgtEl>
                                        <p:attrNameLst>
                                          <p:attrName>ppt_w</p:attrName>
                                        </p:attrNameLst>
                                      </p:cBhvr>
                                      <p:tavLst>
                                        <p:tav tm="0">
                                          <p:val>
                                            <p:fltVal val="0"/>
                                          </p:val>
                                        </p:tav>
                                        <p:tav tm="100000">
                                          <p:val>
                                            <p:strVal val="#ppt_w"/>
                                          </p:val>
                                        </p:tav>
                                      </p:tavLst>
                                    </p:anim>
                                    <p:anim calcmode="lin" valueType="num">
                                      <p:cBhvr>
                                        <p:cTn id="57" dur="500" fill="hold"/>
                                        <p:tgtEl>
                                          <p:spTgt spid="29720"/>
                                        </p:tgtEl>
                                        <p:attrNameLst>
                                          <p:attrName>ppt_h</p:attrName>
                                        </p:attrNameLst>
                                      </p:cBhvr>
                                      <p:tavLst>
                                        <p:tav tm="0">
                                          <p:val>
                                            <p:fltVal val="0"/>
                                          </p:val>
                                        </p:tav>
                                        <p:tav tm="100000">
                                          <p:val>
                                            <p:strVal val="#ppt_h"/>
                                          </p:val>
                                        </p:tav>
                                      </p:tavLst>
                                    </p:anim>
                                    <p:animEffect transition="in" filter="fade">
                                      <p:cBhvr>
                                        <p:cTn id="58" dur="500"/>
                                        <p:tgtEl>
                                          <p:spTgt spid="2972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29721"/>
                                        </p:tgtEl>
                                        <p:attrNameLst>
                                          <p:attrName>style.visibility</p:attrName>
                                        </p:attrNameLst>
                                      </p:cBhvr>
                                      <p:to>
                                        <p:strVal val="visible"/>
                                      </p:to>
                                    </p:set>
                                    <p:animEffect transition="in" filter="wipe(up)">
                                      <p:cBhvr>
                                        <p:cTn id="63" dur="500"/>
                                        <p:tgtEl>
                                          <p:spTgt spid="2972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wipe(left)">
                                      <p:cBhvr>
                                        <p:cTn id="68" dur="500"/>
                                        <p:tgtEl>
                                          <p:spTgt spid="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wipe(down)">
                                      <p:cBhvr>
                                        <p:cTn id="73" dur="500"/>
                                        <p:tgtEl>
                                          <p:spTgt spid="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9731"/>
                                        </p:tgtEl>
                                        <p:attrNameLst>
                                          <p:attrName>style.visibility</p:attrName>
                                        </p:attrNameLst>
                                      </p:cBhvr>
                                      <p:to>
                                        <p:strVal val="visible"/>
                                      </p:to>
                                    </p:set>
                                    <p:animEffect transition="in" filter="wipe(left)">
                                      <p:cBhvr>
                                        <p:cTn id="78" dur="500"/>
                                        <p:tgtEl>
                                          <p:spTgt spid="29731"/>
                                        </p:tgtEl>
                                      </p:cBhvr>
                                    </p:animEffect>
                                  </p:childTnLst>
                                </p:cTn>
                              </p:par>
                            </p:childTnLst>
                          </p:cTn>
                        </p:par>
                        <p:par>
                          <p:cTn id="79" fill="hold">
                            <p:stCondLst>
                              <p:cond delay="500"/>
                            </p:stCondLst>
                            <p:childTnLst>
                              <p:par>
                                <p:cTn id="80" presetID="22" presetClass="entr" presetSubtype="8" fill="hold" nodeType="after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wipe(left)">
                                      <p:cBhvr>
                                        <p:cTn id="82" dur="500"/>
                                        <p:tgtEl>
                                          <p:spTgt spid="4"/>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29742"/>
                                        </p:tgtEl>
                                        <p:attrNameLst>
                                          <p:attrName>style.visibility</p:attrName>
                                        </p:attrNameLst>
                                      </p:cBhvr>
                                      <p:to>
                                        <p:strVal val="visible"/>
                                      </p:to>
                                    </p:set>
                                    <p:animEffect transition="in" filter="slide(fromBottom)">
                                      <p:cBhvr>
                                        <p:cTn id="87" dur="500"/>
                                        <p:tgtEl>
                                          <p:spTgt spid="29742"/>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29743"/>
                                        </p:tgtEl>
                                        <p:attrNameLst>
                                          <p:attrName>style.visibility</p:attrName>
                                        </p:attrNameLst>
                                      </p:cBhvr>
                                      <p:to>
                                        <p:strVal val="visible"/>
                                      </p:to>
                                    </p:set>
                                    <p:anim calcmode="lin" valueType="num">
                                      <p:cBhvr>
                                        <p:cTn id="92" dur="500" fill="hold"/>
                                        <p:tgtEl>
                                          <p:spTgt spid="29743"/>
                                        </p:tgtEl>
                                        <p:attrNameLst>
                                          <p:attrName>ppt_w</p:attrName>
                                        </p:attrNameLst>
                                      </p:cBhvr>
                                      <p:tavLst>
                                        <p:tav tm="0">
                                          <p:val>
                                            <p:fltVal val="0"/>
                                          </p:val>
                                        </p:tav>
                                        <p:tav tm="100000">
                                          <p:val>
                                            <p:strVal val="#ppt_w"/>
                                          </p:val>
                                        </p:tav>
                                      </p:tavLst>
                                    </p:anim>
                                    <p:anim calcmode="lin" valueType="num">
                                      <p:cBhvr>
                                        <p:cTn id="93" dur="500" fill="hold"/>
                                        <p:tgtEl>
                                          <p:spTgt spid="29743"/>
                                        </p:tgtEl>
                                        <p:attrNameLst>
                                          <p:attrName>ppt_h</p:attrName>
                                        </p:attrNameLst>
                                      </p:cBhvr>
                                      <p:tavLst>
                                        <p:tav tm="0">
                                          <p:val>
                                            <p:fltVal val="0"/>
                                          </p:val>
                                        </p:tav>
                                        <p:tav tm="100000">
                                          <p:val>
                                            <p:strVal val="#ppt_h"/>
                                          </p:val>
                                        </p:tav>
                                      </p:tavLst>
                                    </p:anim>
                                    <p:animEffect transition="in" filter="fade">
                                      <p:cBhvr>
                                        <p:cTn id="94" dur="500"/>
                                        <p:tgtEl>
                                          <p:spTgt spid="29743"/>
                                        </p:tgtEl>
                                      </p:cBhvr>
                                    </p:animEffect>
                                  </p:childTnLst>
                                </p:cTn>
                              </p:par>
                            </p:childTnLst>
                          </p:cTn>
                        </p:par>
                      </p:childTnLst>
                    </p:cTn>
                  </p:par>
                  <p:par>
                    <p:cTn id="95" fill="hold">
                      <p:stCondLst>
                        <p:cond delay="indefinite"/>
                      </p:stCondLst>
                      <p:childTnLst>
                        <p:par>
                          <p:cTn id="96" fill="hold">
                            <p:stCondLst>
                              <p:cond delay="0"/>
                            </p:stCondLst>
                            <p:childTnLst>
                              <p:par>
                                <p:cTn id="97" presetID="4" presetClass="entr" presetSubtype="32" fill="hold" nodeType="clickEffect">
                                  <p:stCondLst>
                                    <p:cond delay="0"/>
                                  </p:stCondLst>
                                  <p:childTnLst>
                                    <p:set>
                                      <p:cBhvr>
                                        <p:cTn id="98" dur="1" fill="hold">
                                          <p:stCondLst>
                                            <p:cond delay="0"/>
                                          </p:stCondLst>
                                        </p:cTn>
                                        <p:tgtEl>
                                          <p:spTgt spid="61"/>
                                        </p:tgtEl>
                                        <p:attrNameLst>
                                          <p:attrName>style.visibility</p:attrName>
                                        </p:attrNameLst>
                                      </p:cBhvr>
                                      <p:to>
                                        <p:strVal val="visible"/>
                                      </p:to>
                                    </p:set>
                                    <p:animEffect transition="in" filter="box(out)">
                                      <p:cBhvr>
                                        <p:cTn id="99" dur="500"/>
                                        <p:tgtEl>
                                          <p:spTgt spid="61"/>
                                        </p:tgtEl>
                                      </p:cBhvr>
                                    </p:animEffect>
                                  </p:childTnLst>
                                </p:cTn>
                              </p:par>
                            </p:childTnLst>
                          </p:cTn>
                        </p:par>
                      </p:childTnLst>
                    </p:cTn>
                  </p:par>
                  <p:par>
                    <p:cTn id="100" fill="hold">
                      <p:stCondLst>
                        <p:cond delay="indefinite"/>
                      </p:stCondLst>
                      <p:childTnLst>
                        <p:par>
                          <p:cTn id="101" fill="hold">
                            <p:stCondLst>
                              <p:cond delay="0"/>
                            </p:stCondLst>
                            <p:childTnLst>
                              <p:par>
                                <p:cTn id="102" presetID="51" presetClass="entr" presetSubtype="0" fill="hold" grpId="0" nodeType="clickEffect">
                                  <p:stCondLst>
                                    <p:cond delay="0"/>
                                  </p:stCondLst>
                                  <p:childTnLst>
                                    <p:set>
                                      <p:cBhvr>
                                        <p:cTn id="103" dur="1" fill="hold">
                                          <p:stCondLst>
                                            <p:cond delay="0"/>
                                          </p:stCondLst>
                                        </p:cTn>
                                        <p:tgtEl>
                                          <p:spTgt spid="62"/>
                                        </p:tgtEl>
                                        <p:attrNameLst>
                                          <p:attrName>style.visibility</p:attrName>
                                        </p:attrNameLst>
                                      </p:cBhvr>
                                      <p:to>
                                        <p:strVal val="visible"/>
                                      </p:to>
                                    </p:set>
                                    <p:animEffect transition="in" filter="fade">
                                      <p:cBhvr>
                                        <p:cTn id="104" dur="289" decel="100000"/>
                                        <p:tgtEl>
                                          <p:spTgt spid="62"/>
                                        </p:tgtEl>
                                      </p:cBhvr>
                                    </p:animEffect>
                                    <p:animScale>
                                      <p:cBhvr>
                                        <p:cTn id="105" dur="289" decel="100000"/>
                                        <p:tgtEl>
                                          <p:spTgt spid="62"/>
                                        </p:tgtEl>
                                      </p:cBhvr>
                                      <p:from x="10000" y="10000"/>
                                      <p:to x="200000" y="450000"/>
                                    </p:animScale>
                                    <p:animScale>
                                      <p:cBhvr>
                                        <p:cTn id="106" dur="461" accel="100000" fill="hold">
                                          <p:stCondLst>
                                            <p:cond delay="289"/>
                                          </p:stCondLst>
                                        </p:cTn>
                                        <p:tgtEl>
                                          <p:spTgt spid="62"/>
                                        </p:tgtEl>
                                      </p:cBhvr>
                                      <p:from x="200000" y="450000"/>
                                      <p:to x="100000" y="100000"/>
                                    </p:animScale>
                                    <p:set>
                                      <p:cBhvr>
                                        <p:cTn id="107" dur="289" fill="hold"/>
                                        <p:tgtEl>
                                          <p:spTgt spid="62"/>
                                        </p:tgtEl>
                                        <p:attrNameLst>
                                          <p:attrName>ppt_x</p:attrName>
                                        </p:attrNameLst>
                                      </p:cBhvr>
                                      <p:to>
                                        <p:strVal val="(0.5)"/>
                                      </p:to>
                                    </p:set>
                                    <p:anim from="(0.5)" to="(#ppt_x)" calcmode="lin" valueType="num">
                                      <p:cBhvr>
                                        <p:cTn id="108" dur="461" accel="100000" fill="hold">
                                          <p:stCondLst>
                                            <p:cond delay="289"/>
                                          </p:stCondLst>
                                        </p:cTn>
                                        <p:tgtEl>
                                          <p:spTgt spid="62"/>
                                        </p:tgtEl>
                                        <p:attrNameLst>
                                          <p:attrName>ppt_x</p:attrName>
                                        </p:attrNameLst>
                                      </p:cBhvr>
                                    </p:anim>
                                    <p:set>
                                      <p:cBhvr>
                                        <p:cTn id="109" dur="289" fill="hold"/>
                                        <p:tgtEl>
                                          <p:spTgt spid="62"/>
                                        </p:tgtEl>
                                        <p:attrNameLst>
                                          <p:attrName>ppt_y</p:attrName>
                                        </p:attrNameLst>
                                      </p:cBhvr>
                                      <p:to>
                                        <p:strVal val="(#ppt_y+0.4)"/>
                                      </p:to>
                                    </p:set>
                                    <p:anim from="(#ppt_y+0.4)" to="(#ppt_y)" calcmode="lin" valueType="num">
                                      <p:cBhvr>
                                        <p:cTn id="110" dur="461" accel="100000" fill="hold">
                                          <p:stCondLst>
                                            <p:cond delay="289"/>
                                          </p:stCondLst>
                                        </p:cTn>
                                        <p:tgtEl>
                                          <p:spTgt spid="62"/>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autoUpdateAnimBg="0"/>
      <p:bldP spid="29702" grpId="0" autoUpdateAnimBg="0"/>
      <p:bldP spid="29714" grpId="0" animBg="1"/>
      <p:bldP spid="29715" grpId="0" animBg="1"/>
      <p:bldP spid="29716" grpId="0" autoUpdateAnimBg="0"/>
      <p:bldP spid="29717" grpId="0"/>
      <p:bldP spid="29718" grpId="0" autoUpdateAnimBg="0"/>
      <p:bldP spid="29719" grpId="0" animBg="1"/>
      <p:bldP spid="29720" grpId="0" animBg="1"/>
      <p:bldP spid="29721" grpId="0" autoUpdateAnimBg="0"/>
      <p:bldP spid="29731" grpId="0" animBg="1"/>
      <p:bldP spid="29742" grpId="0" animBg="1"/>
      <p:bldP spid="29743" grpId="0" animBg="1"/>
      <p:bldP spid="3" grpId="0"/>
      <p:bldP spid="62"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545481" y="1000137"/>
            <a:ext cx="3557588" cy="53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19050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lnSpc>
                <a:spcPct val="140000"/>
              </a:lnSpc>
              <a:spcBef>
                <a:spcPct val="20000"/>
              </a:spcBef>
              <a:buClr>
                <a:srgbClr val="0000FF"/>
              </a:buClr>
              <a:buSzPct val="120000"/>
            </a:pPr>
            <a:r>
              <a:rPr kumimoji="0" lang="en-US" altLang="zh-CN" b="1" dirty="0">
                <a:solidFill>
                  <a:srgbClr val="990000"/>
                </a:solidFill>
                <a:latin typeface="黑体" panose="02010609060101010101" pitchFamily="49" charset="-122"/>
                <a:ea typeface="黑体" panose="02010609060101010101" pitchFamily="49" charset="-122"/>
              </a:rPr>
              <a:t>(3) </a:t>
            </a:r>
            <a:r>
              <a:rPr kumimoji="0" lang="zh-CN" altLang="en-US" b="1" dirty="0">
                <a:solidFill>
                  <a:srgbClr val="990000"/>
                </a:solidFill>
                <a:latin typeface="黑体" panose="02010609060101010101" pitchFamily="49" charset="-122"/>
                <a:ea typeface="黑体" panose="02010609060101010101" pitchFamily="49" charset="-122"/>
              </a:rPr>
              <a:t>力系合成为力螺旋</a:t>
            </a:r>
          </a:p>
        </p:txBody>
      </p:sp>
      <p:sp>
        <p:nvSpPr>
          <p:cNvPr id="32784" name="Text Box 16"/>
          <p:cNvSpPr txBox="1">
            <a:spLocks noChangeArrowheads="1"/>
          </p:cNvSpPr>
          <p:nvPr/>
        </p:nvSpPr>
        <p:spPr bwMode="auto">
          <a:xfrm>
            <a:off x="309563" y="1486757"/>
            <a:ext cx="64801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952500" indent="-5715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a:lnSpc>
                <a:spcPct val="130000"/>
              </a:lnSpc>
              <a:spcBef>
                <a:spcPct val="20000"/>
              </a:spcBef>
              <a:buClr>
                <a:srgbClr val="0000FF"/>
              </a:buClr>
              <a:buSzPct val="100000"/>
            </a:pPr>
            <a:r>
              <a:rPr lang="en-US" altLang="zh-CN" sz="2800" b="1" dirty="0">
                <a:solidFill>
                  <a:srgbClr val="CC0000"/>
                </a:solidFill>
                <a:sym typeface="Webdings" panose="05030102010509060703" pitchFamily="18" charset="2"/>
              </a:rPr>
              <a:t></a:t>
            </a:r>
            <a:r>
              <a:rPr kumimoji="0" lang="en-US" altLang="zh-CN" b="1" dirty="0">
                <a:latin typeface="Arial" panose="020B0604020202020204" pitchFamily="34" charset="0"/>
              </a:rPr>
              <a:t> </a:t>
            </a:r>
            <a:r>
              <a:rPr kumimoji="0" lang="en-US" altLang="zh-CN" b="1" i="1" dirty="0">
                <a:solidFill>
                  <a:srgbClr val="0000CC"/>
                </a:solidFill>
              </a:rPr>
              <a:t>F</a:t>
            </a:r>
            <a:r>
              <a:rPr kumimoji="0" lang="en-US" altLang="zh-CN" b="1" i="1" baseline="-25000" dirty="0">
                <a:solidFill>
                  <a:srgbClr val="0000FF"/>
                </a:solidFill>
              </a:rPr>
              <a:t>R</a:t>
            </a:r>
            <a:r>
              <a:rPr kumimoji="0" lang="en-US" altLang="zh-CN" dirty="0">
                <a:solidFill>
                  <a:srgbClr val="0000CC"/>
                </a:solidFill>
              </a:rPr>
              <a:t>′</a:t>
            </a:r>
            <a:r>
              <a:rPr kumimoji="0" lang="en-US" altLang="zh-CN" b="1" dirty="0">
                <a:solidFill>
                  <a:srgbClr val="0000CC"/>
                </a:solidFill>
              </a:rPr>
              <a:t>≠</a:t>
            </a:r>
            <a:r>
              <a:rPr kumimoji="0" lang="en-US" altLang="zh-CN" dirty="0">
                <a:solidFill>
                  <a:srgbClr val="0000CC"/>
                </a:solidFill>
              </a:rPr>
              <a:t>0</a:t>
            </a:r>
            <a:r>
              <a:rPr kumimoji="0" lang="zh-CN" altLang="en-US" b="1" dirty="0">
                <a:solidFill>
                  <a:srgbClr val="0000CC"/>
                </a:solidFill>
              </a:rPr>
              <a:t>，</a:t>
            </a:r>
            <a:r>
              <a:rPr kumimoji="0" lang="en-US" altLang="zh-CN" b="1" i="1" dirty="0">
                <a:solidFill>
                  <a:srgbClr val="0000CC"/>
                </a:solidFill>
              </a:rPr>
              <a:t>M</a:t>
            </a:r>
            <a:r>
              <a:rPr kumimoji="0" lang="en-US" altLang="zh-CN" i="1" baseline="-25000" dirty="0">
                <a:solidFill>
                  <a:srgbClr val="0000CC"/>
                </a:solidFill>
              </a:rPr>
              <a:t>O </a:t>
            </a:r>
            <a:r>
              <a:rPr kumimoji="0" lang="en-US" altLang="zh-CN" b="1" dirty="0">
                <a:solidFill>
                  <a:srgbClr val="0000CC"/>
                </a:solidFill>
              </a:rPr>
              <a:t>≠</a:t>
            </a:r>
            <a:r>
              <a:rPr kumimoji="0" lang="en-US" altLang="zh-CN" dirty="0">
                <a:solidFill>
                  <a:srgbClr val="0000CC"/>
                </a:solidFill>
              </a:rPr>
              <a:t>0</a:t>
            </a:r>
            <a:r>
              <a:rPr kumimoji="0" lang="zh-CN" altLang="en-US" b="1" dirty="0"/>
              <a:t>，</a:t>
            </a:r>
            <a:r>
              <a:rPr kumimoji="0" lang="zh-CN" altLang="en-US" b="1" dirty="0">
                <a:ea typeface="华文中宋" panose="02010600040101010101" pitchFamily="2" charset="-122"/>
              </a:rPr>
              <a:t>且</a:t>
            </a:r>
            <a:r>
              <a:rPr kumimoji="0" lang="en-US" altLang="zh-CN" b="1" i="1" dirty="0">
                <a:solidFill>
                  <a:srgbClr val="0000CC"/>
                </a:solidFill>
              </a:rPr>
              <a:t>F</a:t>
            </a:r>
            <a:r>
              <a:rPr kumimoji="0" lang="en-US" altLang="zh-CN" b="1" i="1" baseline="-25000" dirty="0">
                <a:solidFill>
                  <a:srgbClr val="0000FF"/>
                </a:solidFill>
              </a:rPr>
              <a:t>R</a:t>
            </a:r>
            <a:r>
              <a:rPr kumimoji="0" lang="en-US" altLang="zh-CN" dirty="0">
                <a:solidFill>
                  <a:srgbClr val="0000CC"/>
                </a:solidFill>
              </a:rPr>
              <a:t>′</a:t>
            </a:r>
            <a:r>
              <a:rPr kumimoji="0" lang="zh-CN" altLang="en-US" b="1" dirty="0">
                <a:ea typeface="华文中宋" panose="02010600040101010101" pitchFamily="2" charset="-122"/>
              </a:rPr>
              <a:t>与</a:t>
            </a:r>
            <a:r>
              <a:rPr kumimoji="0" lang="zh-CN" altLang="en-US" dirty="0"/>
              <a:t> </a:t>
            </a:r>
            <a:r>
              <a:rPr kumimoji="0" lang="en-US" altLang="zh-CN" b="1" i="1" dirty="0">
                <a:solidFill>
                  <a:srgbClr val="0000CC"/>
                </a:solidFill>
              </a:rPr>
              <a:t>M</a:t>
            </a:r>
            <a:r>
              <a:rPr kumimoji="0" lang="en-US" altLang="zh-CN" i="1" baseline="-25000" dirty="0">
                <a:solidFill>
                  <a:srgbClr val="0000CC"/>
                </a:solidFill>
              </a:rPr>
              <a:t>O </a:t>
            </a:r>
            <a:r>
              <a:rPr kumimoji="0" lang="zh-CN" altLang="en-US" b="1" dirty="0">
                <a:latin typeface="华文中宋" panose="02010600040101010101" pitchFamily="2" charset="-122"/>
                <a:ea typeface="华文中宋" panose="02010600040101010101" pitchFamily="2" charset="-122"/>
              </a:rPr>
              <a:t>不垂直</a:t>
            </a:r>
          </a:p>
        </p:txBody>
      </p:sp>
      <p:sp>
        <p:nvSpPr>
          <p:cNvPr id="32785" name="AutoShape 17"/>
          <p:cNvSpPr>
            <a:spLocks noChangeArrowheads="1"/>
          </p:cNvSpPr>
          <p:nvPr/>
        </p:nvSpPr>
        <p:spPr bwMode="auto">
          <a:xfrm>
            <a:off x="1405142" y="2353116"/>
            <a:ext cx="792162" cy="217487"/>
          </a:xfrm>
          <a:prstGeom prst="rightArrow">
            <a:avLst>
              <a:gd name="adj1" fmla="val 50000"/>
              <a:gd name="adj2" fmla="val 91059"/>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786" name="Text Box 18"/>
          <p:cNvSpPr txBox="1">
            <a:spLocks noChangeArrowheads="1"/>
          </p:cNvSpPr>
          <p:nvPr/>
        </p:nvSpPr>
        <p:spPr bwMode="auto">
          <a:xfrm>
            <a:off x="2411413" y="2231047"/>
            <a:ext cx="1223963" cy="4572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黑体" panose="02010609060101010101" pitchFamily="49" charset="-122"/>
                <a:ea typeface="黑体" panose="02010609060101010101" pitchFamily="49" charset="-122"/>
              </a:rPr>
              <a:t>力螺旋</a:t>
            </a:r>
          </a:p>
        </p:txBody>
      </p:sp>
      <p:sp>
        <p:nvSpPr>
          <p:cNvPr id="32787" name="Rectangle 19"/>
          <p:cNvSpPr>
            <a:spLocks noChangeArrowheads="1"/>
          </p:cNvSpPr>
          <p:nvPr/>
        </p:nvSpPr>
        <p:spPr bwMode="auto">
          <a:xfrm>
            <a:off x="976746" y="2851759"/>
            <a:ext cx="6337300" cy="869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ts val="0"/>
              </a:spcBef>
              <a:buClr>
                <a:srgbClr val="0000FF"/>
              </a:buClr>
              <a:buFont typeface="Symbol" panose="05050102010706020507" pitchFamily="18" charset="2"/>
              <a:buNone/>
            </a:pPr>
            <a:r>
              <a:rPr kumimoji="0" lang="zh-CN" altLang="en-US" b="1" dirty="0">
                <a:solidFill>
                  <a:schemeClr val="tx2"/>
                </a:solidFill>
                <a:latin typeface="楷体" panose="02010609060101010101" pitchFamily="49" charset="-122"/>
                <a:ea typeface="楷体" panose="02010609060101010101" pitchFamily="49" charset="-122"/>
              </a:rPr>
              <a:t>一个力和一个力偶组成的力系，且这个力垂直于力偶的作用面。这样的力系称为</a:t>
            </a:r>
            <a:r>
              <a:rPr kumimoji="0" lang="zh-CN" altLang="en-US" b="1" dirty="0">
                <a:solidFill>
                  <a:srgbClr val="FF0000"/>
                </a:solidFill>
                <a:latin typeface="楷体" panose="02010609060101010101" pitchFamily="49" charset="-122"/>
                <a:ea typeface="楷体" panose="02010609060101010101" pitchFamily="49" charset="-122"/>
              </a:rPr>
              <a:t>力螺旋</a:t>
            </a:r>
            <a:r>
              <a:rPr kumimoji="0" lang="zh-CN" altLang="en-US" b="1" dirty="0">
                <a:solidFill>
                  <a:schemeClr val="tx2"/>
                </a:solidFill>
                <a:latin typeface="楷体" panose="02010609060101010101" pitchFamily="49" charset="-122"/>
                <a:ea typeface="楷体" panose="02010609060101010101" pitchFamily="49" charset="-122"/>
              </a:rPr>
              <a:t>。</a:t>
            </a:r>
            <a:endParaRPr kumimoji="0" lang="en-US" altLang="zh-CN" b="1" dirty="0">
              <a:solidFill>
                <a:schemeClr val="tx2"/>
              </a:solidFill>
              <a:latin typeface="楷体" panose="02010609060101010101" pitchFamily="49" charset="-122"/>
              <a:ea typeface="楷体" panose="02010609060101010101" pitchFamily="49" charset="-122"/>
            </a:endParaRPr>
          </a:p>
        </p:txBody>
      </p:sp>
      <p:grpSp>
        <p:nvGrpSpPr>
          <p:cNvPr id="2" name="Group 42"/>
          <p:cNvGrpSpPr>
            <a:grpSpLocks/>
          </p:cNvGrpSpPr>
          <p:nvPr/>
        </p:nvGrpSpPr>
        <p:grpSpPr bwMode="auto">
          <a:xfrm>
            <a:off x="1739195" y="3785359"/>
            <a:ext cx="2520950" cy="1474788"/>
            <a:chOff x="1564" y="2704"/>
            <a:chExt cx="1588" cy="929"/>
          </a:xfrm>
        </p:grpSpPr>
        <p:sp>
          <p:nvSpPr>
            <p:cNvPr id="21535" name="AutoShape 35"/>
            <p:cNvSpPr>
              <a:spLocks noChangeArrowheads="1"/>
            </p:cNvSpPr>
            <p:nvPr/>
          </p:nvSpPr>
          <p:spPr bwMode="auto">
            <a:xfrm>
              <a:off x="1564" y="3158"/>
              <a:ext cx="1406" cy="454"/>
            </a:xfrm>
            <a:prstGeom prst="flowChartInputOutput">
              <a:avLst/>
            </a:prstGeom>
            <a:solidFill>
              <a:srgbClr val="CCFF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36" name="AutoShape 36"/>
            <p:cNvSpPr>
              <a:spLocks noChangeArrowheads="1"/>
            </p:cNvSpPr>
            <p:nvPr/>
          </p:nvSpPr>
          <p:spPr bwMode="auto">
            <a:xfrm rot="21026395" flipH="1">
              <a:off x="2154" y="3249"/>
              <a:ext cx="384" cy="38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290" y="11576"/>
                  </a:moveTo>
                  <a:cubicBezTo>
                    <a:pt x="20311" y="11318"/>
                    <a:pt x="20322" y="11059"/>
                    <a:pt x="20322" y="10800"/>
                  </a:cubicBezTo>
                  <a:cubicBezTo>
                    <a:pt x="20322" y="5541"/>
                    <a:pt x="16058" y="1278"/>
                    <a:pt x="10800" y="1278"/>
                  </a:cubicBezTo>
                  <a:cubicBezTo>
                    <a:pt x="5541" y="1278"/>
                    <a:pt x="1278" y="5541"/>
                    <a:pt x="1278" y="10800"/>
                  </a:cubicBezTo>
                  <a:lnTo>
                    <a:pt x="0" y="10800"/>
                  </a:lnTo>
                  <a:cubicBezTo>
                    <a:pt x="0" y="4835"/>
                    <a:pt x="4835" y="0"/>
                    <a:pt x="10800" y="0"/>
                  </a:cubicBezTo>
                  <a:cubicBezTo>
                    <a:pt x="16764" y="0"/>
                    <a:pt x="21600" y="4835"/>
                    <a:pt x="21600" y="10800"/>
                  </a:cubicBezTo>
                  <a:cubicBezTo>
                    <a:pt x="21600" y="11094"/>
                    <a:pt x="21587" y="11388"/>
                    <a:pt x="21563" y="11681"/>
                  </a:cubicBezTo>
                  <a:lnTo>
                    <a:pt x="24254" y="11901"/>
                  </a:lnTo>
                  <a:lnTo>
                    <a:pt x="20654" y="14957"/>
                  </a:lnTo>
                  <a:lnTo>
                    <a:pt x="17599" y="11356"/>
                  </a:lnTo>
                  <a:lnTo>
                    <a:pt x="20290" y="11576"/>
                  </a:lnTo>
                  <a:close/>
                </a:path>
              </a:pathLst>
            </a:custGeom>
            <a:solidFill>
              <a:srgbClr val="333399"/>
            </a:solidFill>
            <a:ln w="9525">
              <a:solidFill>
                <a:schemeClr val="tx1"/>
              </a:solidFill>
              <a:miter lim="800000"/>
              <a:headEnd/>
              <a:tailEnd/>
            </a:ln>
          </p:spPr>
          <p:txBody>
            <a:bodyPr wrap="none" anchor="ctr"/>
            <a:lstStyle/>
            <a:p>
              <a:endParaRPr lang="zh-CN" altLang="en-US"/>
            </a:p>
          </p:txBody>
        </p:sp>
        <p:sp>
          <p:nvSpPr>
            <p:cNvPr id="21537" name="Text Box 37"/>
            <p:cNvSpPr txBox="1">
              <a:spLocks noChangeArrowheads="1"/>
            </p:cNvSpPr>
            <p:nvPr/>
          </p:nvSpPr>
          <p:spPr bwMode="auto">
            <a:xfrm>
              <a:off x="1810" y="3312"/>
              <a:ext cx="63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dirty="0"/>
                <a:t>M</a:t>
              </a:r>
              <a:r>
                <a:rPr lang="en-US" altLang="zh-CN" i="1" baseline="-25000" dirty="0"/>
                <a:t>O</a:t>
              </a:r>
            </a:p>
          </p:txBody>
        </p:sp>
        <p:sp>
          <p:nvSpPr>
            <p:cNvPr id="21538" name="Line 22"/>
            <p:cNvSpPr>
              <a:spLocks noChangeShapeType="1"/>
            </p:cNvSpPr>
            <p:nvPr/>
          </p:nvSpPr>
          <p:spPr bwMode="auto">
            <a:xfrm flipV="1">
              <a:off x="2336" y="2798"/>
              <a:ext cx="0" cy="567"/>
            </a:xfrm>
            <a:prstGeom prst="line">
              <a:avLst/>
            </a:prstGeom>
            <a:noFill/>
            <a:ln w="25400">
              <a:solidFill>
                <a:srgbClr val="FF33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39" name="Text Box 40"/>
            <p:cNvSpPr txBox="1">
              <a:spLocks noChangeArrowheads="1"/>
            </p:cNvSpPr>
            <p:nvPr/>
          </p:nvSpPr>
          <p:spPr bwMode="auto">
            <a:xfrm>
              <a:off x="2381" y="2704"/>
              <a:ext cx="7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i="1" dirty="0">
                  <a:solidFill>
                    <a:srgbClr val="FF3300"/>
                  </a:solidFill>
                </a:rPr>
                <a:t>F</a:t>
              </a:r>
              <a:r>
                <a:rPr kumimoji="0" lang="en-US" altLang="zh-CN" b="1" i="1" baseline="-25000" dirty="0">
                  <a:solidFill>
                    <a:srgbClr val="FF3300"/>
                  </a:solidFill>
                </a:rPr>
                <a:t>R</a:t>
              </a:r>
              <a:r>
                <a:rPr kumimoji="0" lang="en-US" altLang="zh-CN" dirty="0">
                  <a:solidFill>
                    <a:srgbClr val="FF3300"/>
                  </a:solidFill>
                </a:rPr>
                <a:t>′</a:t>
              </a:r>
            </a:p>
          </p:txBody>
        </p:sp>
      </p:grpSp>
      <p:grpSp>
        <p:nvGrpSpPr>
          <p:cNvPr id="3" name="Group 43"/>
          <p:cNvGrpSpPr>
            <a:grpSpLocks/>
          </p:cNvGrpSpPr>
          <p:nvPr/>
        </p:nvGrpSpPr>
        <p:grpSpPr bwMode="auto">
          <a:xfrm>
            <a:off x="4620507" y="3712333"/>
            <a:ext cx="2481263" cy="1512888"/>
            <a:chOff x="3560" y="2886"/>
            <a:chExt cx="1563" cy="953"/>
          </a:xfrm>
        </p:grpSpPr>
        <p:sp>
          <p:nvSpPr>
            <p:cNvPr id="21530" name="Text Box 38"/>
            <p:cNvSpPr txBox="1">
              <a:spLocks noChangeArrowheads="1"/>
            </p:cNvSpPr>
            <p:nvPr/>
          </p:nvSpPr>
          <p:spPr bwMode="auto">
            <a:xfrm>
              <a:off x="3944" y="2927"/>
              <a:ext cx="4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a:t>M</a:t>
              </a:r>
              <a:r>
                <a:rPr lang="en-US" altLang="zh-CN" i="1" baseline="-25000" dirty="0"/>
                <a:t>O</a:t>
              </a:r>
            </a:p>
          </p:txBody>
        </p:sp>
        <p:sp>
          <p:nvSpPr>
            <p:cNvPr id="21531" name="AutoShape 39"/>
            <p:cNvSpPr>
              <a:spLocks noChangeArrowheads="1"/>
            </p:cNvSpPr>
            <p:nvPr/>
          </p:nvSpPr>
          <p:spPr bwMode="auto">
            <a:xfrm>
              <a:off x="3560" y="3385"/>
              <a:ext cx="1406" cy="454"/>
            </a:xfrm>
            <a:prstGeom prst="flowChartInputOutput">
              <a:avLst/>
            </a:prstGeom>
            <a:solidFill>
              <a:srgbClr val="CCFF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32" name="Line 23"/>
            <p:cNvSpPr>
              <a:spLocks noChangeShapeType="1"/>
            </p:cNvSpPr>
            <p:nvPr/>
          </p:nvSpPr>
          <p:spPr bwMode="auto">
            <a:xfrm flipV="1">
              <a:off x="4286" y="3022"/>
              <a:ext cx="0" cy="567"/>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33" name="Line 24"/>
            <p:cNvSpPr>
              <a:spLocks noChangeShapeType="1"/>
            </p:cNvSpPr>
            <p:nvPr/>
          </p:nvSpPr>
          <p:spPr bwMode="auto">
            <a:xfrm flipV="1">
              <a:off x="4332" y="3022"/>
              <a:ext cx="0" cy="567"/>
            </a:xfrm>
            <a:prstGeom prst="line">
              <a:avLst/>
            </a:prstGeom>
            <a:noFill/>
            <a:ln w="254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534" name="Text Box 41"/>
            <p:cNvSpPr txBox="1">
              <a:spLocks noChangeArrowheads="1"/>
            </p:cNvSpPr>
            <p:nvPr/>
          </p:nvSpPr>
          <p:spPr bwMode="auto">
            <a:xfrm>
              <a:off x="4352" y="2886"/>
              <a:ext cx="7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b="1" i="1" dirty="0">
                  <a:solidFill>
                    <a:srgbClr val="FF3300"/>
                  </a:solidFill>
                </a:rPr>
                <a:t>F</a:t>
              </a:r>
              <a:r>
                <a:rPr kumimoji="0" lang="en-US" altLang="zh-CN" b="1" i="1" baseline="-25000" dirty="0">
                  <a:solidFill>
                    <a:srgbClr val="FF3300"/>
                  </a:solidFill>
                </a:rPr>
                <a:t>R</a:t>
              </a:r>
              <a:r>
                <a:rPr kumimoji="0" lang="en-US" altLang="zh-CN" dirty="0">
                  <a:solidFill>
                    <a:srgbClr val="FF3300"/>
                  </a:solidFill>
                </a:rPr>
                <a:t>′</a:t>
              </a:r>
            </a:p>
          </p:txBody>
        </p:sp>
      </p:grpSp>
      <p:sp>
        <p:nvSpPr>
          <p:cNvPr id="32812" name="Rectangle 44"/>
          <p:cNvSpPr>
            <a:spLocks noChangeArrowheads="1"/>
          </p:cNvSpPr>
          <p:nvPr/>
        </p:nvSpPr>
        <p:spPr bwMode="auto">
          <a:xfrm>
            <a:off x="632619" y="5520627"/>
            <a:ext cx="3557587" cy="53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19050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lnSpc>
                <a:spcPct val="140000"/>
              </a:lnSpc>
              <a:spcBef>
                <a:spcPct val="20000"/>
              </a:spcBef>
              <a:buClr>
                <a:srgbClr val="0000FF"/>
              </a:buClr>
              <a:buSzPct val="120000"/>
            </a:pPr>
            <a:r>
              <a:rPr kumimoji="0" lang="en-US" altLang="zh-CN" b="1" dirty="0">
                <a:solidFill>
                  <a:srgbClr val="990000"/>
                </a:solidFill>
                <a:latin typeface="黑体" panose="02010609060101010101" pitchFamily="49" charset="-122"/>
                <a:ea typeface="黑体" panose="02010609060101010101" pitchFamily="49" charset="-122"/>
              </a:rPr>
              <a:t>(4) </a:t>
            </a:r>
            <a:r>
              <a:rPr kumimoji="0" lang="zh-CN" altLang="en-US" b="1" dirty="0">
                <a:solidFill>
                  <a:srgbClr val="990000"/>
                </a:solidFill>
                <a:latin typeface="黑体" panose="02010609060101010101" pitchFamily="49" charset="-122"/>
                <a:ea typeface="黑体" panose="02010609060101010101" pitchFamily="49" charset="-122"/>
              </a:rPr>
              <a:t>力系平衡</a:t>
            </a:r>
          </a:p>
        </p:txBody>
      </p:sp>
      <p:sp>
        <p:nvSpPr>
          <p:cNvPr id="32813" name="Rectangle 45"/>
          <p:cNvSpPr>
            <a:spLocks noChangeArrowheads="1"/>
          </p:cNvSpPr>
          <p:nvPr/>
        </p:nvSpPr>
        <p:spPr bwMode="auto">
          <a:xfrm>
            <a:off x="3635376" y="5531413"/>
            <a:ext cx="2663825"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b="1" i="1" dirty="0">
                <a:solidFill>
                  <a:srgbClr val="0000CC"/>
                </a:solidFill>
              </a:rPr>
              <a:t>F</a:t>
            </a:r>
            <a:r>
              <a:rPr kumimoji="0" lang="en-US" altLang="zh-CN" b="1" i="1" baseline="-25000" dirty="0">
                <a:solidFill>
                  <a:srgbClr val="0000CC"/>
                </a:solidFill>
              </a:rPr>
              <a:t>R</a:t>
            </a:r>
            <a:r>
              <a:rPr kumimoji="0" lang="en-US" altLang="zh-CN" b="1" dirty="0">
                <a:solidFill>
                  <a:srgbClr val="0000CC"/>
                </a:solidFill>
              </a:rPr>
              <a:t>′=</a:t>
            </a:r>
            <a:r>
              <a:rPr kumimoji="0" lang="en-US" altLang="zh-CN" dirty="0">
                <a:solidFill>
                  <a:srgbClr val="0000CC"/>
                </a:solidFill>
              </a:rPr>
              <a:t>0</a:t>
            </a:r>
            <a:r>
              <a:rPr kumimoji="0" lang="zh-CN" altLang="en-US" b="1" dirty="0">
                <a:solidFill>
                  <a:srgbClr val="0000CC"/>
                </a:solidFill>
              </a:rPr>
              <a:t>，</a:t>
            </a:r>
            <a:r>
              <a:rPr kumimoji="0" lang="en-US" altLang="zh-CN" b="1" i="1" dirty="0">
                <a:solidFill>
                  <a:srgbClr val="0000CC"/>
                </a:solidFill>
              </a:rPr>
              <a:t>M</a:t>
            </a:r>
            <a:r>
              <a:rPr kumimoji="0" lang="en-US" altLang="zh-CN" i="1" baseline="-25000" dirty="0">
                <a:solidFill>
                  <a:srgbClr val="0000CC"/>
                </a:solidFill>
              </a:rPr>
              <a:t>O</a:t>
            </a:r>
            <a:r>
              <a:rPr kumimoji="0" lang="en-US" altLang="zh-CN" b="1" baseline="-25000" dirty="0">
                <a:solidFill>
                  <a:srgbClr val="0000CC"/>
                </a:solidFill>
              </a:rPr>
              <a:t> </a:t>
            </a:r>
            <a:r>
              <a:rPr kumimoji="0" lang="en-US" altLang="zh-CN" b="1" dirty="0">
                <a:solidFill>
                  <a:srgbClr val="0000CC"/>
                </a:solidFill>
              </a:rPr>
              <a:t>=</a:t>
            </a:r>
            <a:r>
              <a:rPr kumimoji="0" lang="en-US" altLang="zh-CN" b="1" baseline="-25000" dirty="0">
                <a:solidFill>
                  <a:srgbClr val="0000CC"/>
                </a:solidFill>
              </a:rPr>
              <a:t> </a:t>
            </a:r>
            <a:r>
              <a:rPr kumimoji="0" lang="en-US" altLang="zh-CN" dirty="0">
                <a:solidFill>
                  <a:srgbClr val="0000CC"/>
                </a:solidFill>
              </a:rPr>
              <a:t>0</a:t>
            </a:r>
            <a:endParaRPr kumimoji="0" lang="en-US" altLang="zh-CN" i="1" dirty="0">
              <a:solidFill>
                <a:schemeClr val="tx2"/>
              </a:solidFill>
            </a:endParaRPr>
          </a:p>
        </p:txBody>
      </p:sp>
      <p:grpSp>
        <p:nvGrpSpPr>
          <p:cNvPr id="21515" name="Group 57"/>
          <p:cNvGrpSpPr>
            <a:grpSpLocks/>
          </p:cNvGrpSpPr>
          <p:nvPr/>
        </p:nvGrpSpPr>
        <p:grpSpPr bwMode="auto">
          <a:xfrm>
            <a:off x="6357619" y="633439"/>
            <a:ext cx="1562100" cy="2162175"/>
            <a:chOff x="4377" y="935"/>
            <a:chExt cx="984" cy="1362"/>
          </a:xfrm>
        </p:grpSpPr>
        <p:grpSp>
          <p:nvGrpSpPr>
            <p:cNvPr id="21516" name="Group 58"/>
            <p:cNvGrpSpPr>
              <a:grpSpLocks/>
            </p:cNvGrpSpPr>
            <p:nvPr/>
          </p:nvGrpSpPr>
          <p:grpSpPr bwMode="auto">
            <a:xfrm>
              <a:off x="4377" y="935"/>
              <a:ext cx="984" cy="1362"/>
              <a:chOff x="4604" y="733"/>
              <a:chExt cx="984" cy="1362"/>
            </a:xfrm>
          </p:grpSpPr>
          <p:grpSp>
            <p:nvGrpSpPr>
              <p:cNvPr id="21520" name="Group 59"/>
              <p:cNvGrpSpPr>
                <a:grpSpLocks/>
              </p:cNvGrpSpPr>
              <p:nvPr/>
            </p:nvGrpSpPr>
            <p:grpSpPr bwMode="auto">
              <a:xfrm>
                <a:off x="4604" y="1207"/>
                <a:ext cx="984" cy="888"/>
                <a:chOff x="996" y="1368"/>
                <a:chExt cx="984" cy="888"/>
              </a:xfrm>
            </p:grpSpPr>
            <p:sp>
              <p:nvSpPr>
                <p:cNvPr id="21527" name="Freeform 60" descr="小纸屑"/>
                <p:cNvSpPr>
                  <a:spLocks/>
                </p:cNvSpPr>
                <p:nvPr/>
              </p:nvSpPr>
              <p:spPr bwMode="auto">
                <a:xfrm>
                  <a:off x="996" y="1368"/>
                  <a:ext cx="984" cy="888"/>
                </a:xfrm>
                <a:custGeom>
                  <a:avLst/>
                  <a:gdLst>
                    <a:gd name="T0" fmla="*/ 624 w 984"/>
                    <a:gd name="T1" fmla="*/ 8 h 888"/>
                    <a:gd name="T2" fmla="*/ 192 w 984"/>
                    <a:gd name="T3" fmla="*/ 56 h 888"/>
                    <a:gd name="T4" fmla="*/ 0 w 984"/>
                    <a:gd name="T5" fmla="*/ 344 h 888"/>
                    <a:gd name="T6" fmla="*/ 192 w 984"/>
                    <a:gd name="T7" fmla="*/ 728 h 888"/>
                    <a:gd name="T8" fmla="*/ 576 w 984"/>
                    <a:gd name="T9" fmla="*/ 872 h 888"/>
                    <a:gd name="T10" fmla="*/ 864 w 984"/>
                    <a:gd name="T11" fmla="*/ 632 h 888"/>
                    <a:gd name="T12" fmla="*/ 960 w 984"/>
                    <a:gd name="T13" fmla="*/ 296 h 888"/>
                    <a:gd name="T14" fmla="*/ 720 w 984"/>
                    <a:gd name="T15" fmla="*/ 56 h 888"/>
                    <a:gd name="T16" fmla="*/ 624 w 984"/>
                    <a:gd name="T17" fmla="*/ 8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pattFill prst="smConfetti">
                  <a:fgClr>
                    <a:schemeClr val="folHlink"/>
                  </a:fgClr>
                  <a:bgClr>
                    <a:srgbClr val="FFFFFF"/>
                  </a:bgClr>
                </a:pattFill>
                <a:ln w="22225">
                  <a:solidFill>
                    <a:srgbClr val="99CCFF"/>
                  </a:solidFill>
                  <a:miter lim="800000"/>
                  <a:headEnd/>
                  <a:tailEnd/>
                </a:ln>
              </p:spPr>
              <p:txBody>
                <a:bodyPr wrap="none"/>
                <a:lstStyle/>
                <a:p>
                  <a:endParaRPr lang="zh-CN" altLang="en-US"/>
                </a:p>
              </p:txBody>
            </p:sp>
            <p:sp>
              <p:nvSpPr>
                <p:cNvPr id="21528" name="Oval 61"/>
                <p:cNvSpPr>
                  <a:spLocks noChangeArrowheads="1"/>
                </p:cNvSpPr>
                <p:nvPr/>
              </p:nvSpPr>
              <p:spPr bwMode="auto">
                <a:xfrm>
                  <a:off x="1491" y="1709"/>
                  <a:ext cx="45" cy="45"/>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29" name="Text Box 62"/>
                <p:cNvSpPr txBox="1">
                  <a:spLocks noChangeArrowheads="1"/>
                </p:cNvSpPr>
                <p:nvPr/>
              </p:nvSpPr>
              <p:spPr bwMode="auto">
                <a:xfrm>
                  <a:off x="1258" y="1625"/>
                  <a:ext cx="2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i="1" dirty="0">
                      <a:solidFill>
                        <a:srgbClr val="FF3300"/>
                      </a:solidFill>
                      <a:latin typeface="+mn-lt"/>
                    </a:rPr>
                    <a:t>O</a:t>
                  </a:r>
                </a:p>
              </p:txBody>
            </p:sp>
          </p:grpSp>
          <p:grpSp>
            <p:nvGrpSpPr>
              <p:cNvPr id="21521" name="Group 63"/>
              <p:cNvGrpSpPr>
                <a:grpSpLocks/>
              </p:cNvGrpSpPr>
              <p:nvPr/>
            </p:nvGrpSpPr>
            <p:grpSpPr bwMode="auto">
              <a:xfrm>
                <a:off x="4734" y="733"/>
                <a:ext cx="337" cy="821"/>
                <a:chOff x="4394" y="912"/>
                <a:chExt cx="337" cy="821"/>
              </a:xfrm>
            </p:grpSpPr>
            <p:sp>
              <p:nvSpPr>
                <p:cNvPr id="24597" name="Text Box 64"/>
                <p:cNvSpPr txBox="1">
                  <a:spLocks noChangeArrowheads="1"/>
                </p:cNvSpPr>
                <p:nvPr/>
              </p:nvSpPr>
              <p:spPr bwMode="auto">
                <a:xfrm>
                  <a:off x="4394" y="1024"/>
                  <a:ext cx="269" cy="181"/>
                </a:xfrm>
                <a:prstGeom prst="rect">
                  <a:avLst/>
                </a:prstGeom>
                <a:noFill/>
                <a:ln w="9525">
                  <a:noFill/>
                  <a:miter lim="800000"/>
                  <a:headEnd/>
                  <a:tailEnd/>
                </a:ln>
              </p:spPr>
              <p:txBody>
                <a:bodyPr lIns="0" tIns="0" rIns="0" bIns="10800">
                  <a:spAutoFit/>
                </a:bodyPr>
                <a:lstStyle/>
                <a:p>
                  <a:pPr eaLnBrk="1" hangingPunct="1">
                    <a:defRPr/>
                  </a:pPr>
                  <a:r>
                    <a:rPr lang="en-US" altLang="zh-CN" sz="1800" b="1" i="1" dirty="0">
                      <a:latin typeface="+mj-lt"/>
                    </a:rPr>
                    <a:t>F</a:t>
                  </a:r>
                  <a:r>
                    <a:rPr lang="en-US" altLang="zh-CN" sz="1800" b="1" i="1" dirty="0">
                      <a:latin typeface="+mj-lt"/>
                      <a:cs typeface="Tahoma" pitchFamily="34" charset="0"/>
                    </a:rPr>
                    <a:t>'</a:t>
                  </a:r>
                  <a:r>
                    <a:rPr lang="en-US" altLang="zh-CN" sz="1800" b="1" i="1" baseline="-25000" dirty="0">
                      <a:latin typeface="+mj-lt"/>
                    </a:rPr>
                    <a:t>R</a:t>
                  </a:r>
                  <a:endParaRPr lang="en-US" altLang="zh-CN" sz="1800" b="1" i="1" dirty="0">
                    <a:latin typeface="+mj-lt"/>
                  </a:endParaRPr>
                </a:p>
              </p:txBody>
            </p:sp>
            <p:sp>
              <p:nvSpPr>
                <p:cNvPr id="21526" name="AutoShape 65"/>
                <p:cNvSpPr>
                  <a:spLocks noChangeArrowheads="1"/>
                </p:cNvSpPr>
                <p:nvPr/>
              </p:nvSpPr>
              <p:spPr bwMode="auto">
                <a:xfrm rot="-6000000">
                  <a:off x="4296" y="1299"/>
                  <a:ext cx="821" cy="48"/>
                </a:xfrm>
                <a:prstGeom prst="rightArrow">
                  <a:avLst>
                    <a:gd name="adj1" fmla="val 50000"/>
                    <a:gd name="adj2" fmla="val 427604"/>
                  </a:avLst>
                </a:prstGeom>
                <a:solidFill>
                  <a:srgbClr val="0000FF"/>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1522" name="Group 66"/>
              <p:cNvGrpSpPr>
                <a:grpSpLocks/>
              </p:cNvGrpSpPr>
              <p:nvPr/>
            </p:nvGrpSpPr>
            <p:grpSpPr bwMode="auto">
              <a:xfrm>
                <a:off x="5239" y="919"/>
                <a:ext cx="253" cy="739"/>
                <a:chOff x="5239" y="931"/>
                <a:chExt cx="253" cy="739"/>
              </a:xfrm>
            </p:grpSpPr>
            <p:sp>
              <p:nvSpPr>
                <p:cNvPr id="21523" name="Text Box 67"/>
                <p:cNvSpPr txBox="1">
                  <a:spLocks noChangeArrowheads="1"/>
                </p:cNvSpPr>
                <p:nvPr/>
              </p:nvSpPr>
              <p:spPr bwMode="auto">
                <a:xfrm>
                  <a:off x="5239" y="1026"/>
                  <a:ext cx="2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1" i="1">
                      <a:solidFill>
                        <a:srgbClr val="FF3300"/>
                      </a:solidFill>
                      <a:cs typeface="Times New Roman" panose="02020603050405020304" pitchFamily="18" charset="0"/>
                    </a:rPr>
                    <a:t>M</a:t>
                  </a:r>
                  <a:r>
                    <a:rPr lang="en-US" altLang="zh-CN" sz="1800" i="1" baseline="-25000">
                      <a:solidFill>
                        <a:srgbClr val="FF3300"/>
                      </a:solidFill>
                      <a:cs typeface="Times New Roman" panose="02020603050405020304" pitchFamily="18" charset="0"/>
                    </a:rPr>
                    <a:t>O</a:t>
                  </a:r>
                  <a:endParaRPr lang="en-US" altLang="zh-CN" sz="1800" i="1">
                    <a:solidFill>
                      <a:srgbClr val="FF3300"/>
                    </a:solidFill>
                    <a:cs typeface="Times New Roman" panose="02020603050405020304" pitchFamily="18" charset="0"/>
                  </a:endParaRPr>
                </a:p>
              </p:txBody>
            </p:sp>
            <p:sp>
              <p:nvSpPr>
                <p:cNvPr id="21524" name="AutoShape 68"/>
                <p:cNvSpPr>
                  <a:spLocks noChangeArrowheads="1"/>
                </p:cNvSpPr>
                <p:nvPr/>
              </p:nvSpPr>
              <p:spPr bwMode="auto">
                <a:xfrm rot="13445185" flipV="1">
                  <a:off x="5375" y="931"/>
                  <a:ext cx="48" cy="739"/>
                </a:xfrm>
                <a:prstGeom prst="upArrow">
                  <a:avLst>
                    <a:gd name="adj1" fmla="val 50000"/>
                    <a:gd name="adj2" fmla="val 384896"/>
                  </a:avLst>
                </a:prstGeom>
                <a:solidFill>
                  <a:srgbClr val="FF6600"/>
                </a:solidFill>
                <a:ln w="9525">
                  <a:solidFill>
                    <a:srgbClr val="993300"/>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21517" name="Group 69"/>
            <p:cNvGrpSpPr>
              <a:grpSpLocks/>
            </p:cNvGrpSpPr>
            <p:nvPr/>
          </p:nvGrpSpPr>
          <p:grpSpPr bwMode="auto">
            <a:xfrm>
              <a:off x="4844" y="1469"/>
              <a:ext cx="235" cy="246"/>
              <a:chOff x="4607" y="1253"/>
              <a:chExt cx="235" cy="246"/>
            </a:xfrm>
          </p:grpSpPr>
          <p:sp>
            <p:nvSpPr>
              <p:cNvPr id="21518" name="Arc 70"/>
              <p:cNvSpPr>
                <a:spLocks/>
              </p:cNvSpPr>
              <p:nvPr/>
            </p:nvSpPr>
            <p:spPr bwMode="auto">
              <a:xfrm rot="-2790934">
                <a:off x="4673" y="1399"/>
                <a:ext cx="58"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19" name="Text Box 71"/>
              <p:cNvSpPr txBox="1">
                <a:spLocks noChangeArrowheads="1"/>
              </p:cNvSpPr>
              <p:nvPr/>
            </p:nvSpPr>
            <p:spPr bwMode="auto">
              <a:xfrm>
                <a:off x="4607" y="1253"/>
                <a:ext cx="23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kumimoji="0" lang="en-US" altLang="zh-CN" sz="1600" b="1" i="1">
                    <a:sym typeface="Symbol" panose="05050102010706020507" pitchFamily="18" charset="2"/>
                  </a:rPr>
                  <a:t></a:t>
                </a:r>
                <a:endParaRPr kumimoji="0" lang="en-US" altLang="zh-CN" sz="1800">
                  <a:latin typeface="Arial" panose="020B0604020202020204" pitchFamily="34" charset="0"/>
                </a:endParaRPr>
              </a:p>
            </p:txBody>
          </p:sp>
        </p:grpSp>
      </p:grpSp>
      <p:sp>
        <p:nvSpPr>
          <p:cNvPr id="36" name="Text Box 5"/>
          <p:cNvSpPr txBox="1">
            <a:spLocks noChangeArrowheads="1"/>
          </p:cNvSpPr>
          <p:nvPr/>
        </p:nvSpPr>
        <p:spPr bwMode="auto">
          <a:xfrm>
            <a:off x="689330" y="496900"/>
            <a:ext cx="56737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4</a:t>
            </a:r>
            <a:r>
              <a:rPr kumimoji="1" lang="zh-CN" altLang="en-US" sz="2800" b="1" dirty="0">
                <a:solidFill>
                  <a:srgbClr val="0000FF"/>
                </a:solidFill>
                <a:latin typeface="黑体" panose="02010609060101010101" pitchFamily="49" charset="-122"/>
                <a:ea typeface="黑体" panose="02010609060101010101" pitchFamily="49" charset="-122"/>
              </a:rPr>
              <a:t>．空间任意力系的合成结果</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wipe(left)">
                                      <p:cBhvr>
                                        <p:cTn id="7" dur="500"/>
                                        <p:tgtEl>
                                          <p:spTgt spid="2150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2784"/>
                                        </p:tgtEl>
                                        <p:attrNameLst>
                                          <p:attrName>style.visibility</p:attrName>
                                        </p:attrNameLst>
                                      </p:cBhvr>
                                      <p:to>
                                        <p:strVal val="visible"/>
                                      </p:to>
                                    </p:set>
                                    <p:animEffect transition="in" filter="strips(downRight)">
                                      <p:cBhvr>
                                        <p:cTn id="12" dur="500"/>
                                        <p:tgtEl>
                                          <p:spTgt spid="3278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2785"/>
                                        </p:tgtEl>
                                        <p:attrNameLst>
                                          <p:attrName>style.visibility</p:attrName>
                                        </p:attrNameLst>
                                      </p:cBhvr>
                                      <p:to>
                                        <p:strVal val="visible"/>
                                      </p:to>
                                    </p:set>
                                    <p:animEffect transition="in" filter="slide(fromBottom)">
                                      <p:cBhvr>
                                        <p:cTn id="17" dur="500"/>
                                        <p:tgtEl>
                                          <p:spTgt spid="32785"/>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32786"/>
                                        </p:tgtEl>
                                        <p:attrNameLst>
                                          <p:attrName>style.visibility</p:attrName>
                                        </p:attrNameLst>
                                      </p:cBhvr>
                                      <p:to>
                                        <p:strVal val="visible"/>
                                      </p:to>
                                    </p:set>
                                    <p:anim calcmode="lin" valueType="num">
                                      <p:cBhvr>
                                        <p:cTn id="22" dur="500" fill="hold"/>
                                        <p:tgtEl>
                                          <p:spTgt spid="32786"/>
                                        </p:tgtEl>
                                        <p:attrNameLst>
                                          <p:attrName>ppt_w</p:attrName>
                                        </p:attrNameLst>
                                      </p:cBhvr>
                                      <p:tavLst>
                                        <p:tav tm="0">
                                          <p:val>
                                            <p:fltVal val="0"/>
                                          </p:val>
                                        </p:tav>
                                        <p:tav tm="100000">
                                          <p:val>
                                            <p:strVal val="#ppt_w"/>
                                          </p:val>
                                        </p:tav>
                                      </p:tavLst>
                                    </p:anim>
                                    <p:anim calcmode="lin" valueType="num">
                                      <p:cBhvr>
                                        <p:cTn id="23" dur="500" fill="hold"/>
                                        <p:tgtEl>
                                          <p:spTgt spid="32786"/>
                                        </p:tgtEl>
                                        <p:attrNameLst>
                                          <p:attrName>ppt_h</p:attrName>
                                        </p:attrNameLst>
                                      </p:cBhvr>
                                      <p:tavLst>
                                        <p:tav tm="0">
                                          <p:val>
                                            <p:fltVal val="0"/>
                                          </p:val>
                                        </p:tav>
                                        <p:tav tm="100000">
                                          <p:val>
                                            <p:strVal val="#ppt_h"/>
                                          </p:val>
                                        </p:tav>
                                      </p:tavLst>
                                    </p:anim>
                                    <p:animEffect transition="in" filter="fade">
                                      <p:cBhvr>
                                        <p:cTn id="24" dur="500"/>
                                        <p:tgtEl>
                                          <p:spTgt spid="3278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2787">
                                            <p:txEl>
                                              <p:pRg st="0" end="0"/>
                                            </p:txEl>
                                          </p:spTgt>
                                        </p:tgtEl>
                                        <p:attrNameLst>
                                          <p:attrName>style.visibility</p:attrName>
                                        </p:attrNameLst>
                                      </p:cBhvr>
                                      <p:to>
                                        <p:strVal val="visible"/>
                                      </p:to>
                                    </p:set>
                                    <p:anim calcmode="lin" valueType="num">
                                      <p:cBhvr additive="base">
                                        <p:cTn id="29" dur="500" fill="hold"/>
                                        <p:tgtEl>
                                          <p:spTgt spid="32787">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27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3" presetClass="entr" presetSubtype="32"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plus(out)">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3" presetClass="entr" presetSubtype="32"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plus(out)">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32812"/>
                                        </p:tgtEl>
                                        <p:attrNameLst>
                                          <p:attrName>style.visibility</p:attrName>
                                        </p:attrNameLst>
                                      </p:cBhvr>
                                      <p:to>
                                        <p:strVal val="visible"/>
                                      </p:to>
                                    </p:set>
                                    <p:animEffect transition="in" filter="checkerboard(across)">
                                      <p:cBhvr>
                                        <p:cTn id="45" dur="500"/>
                                        <p:tgtEl>
                                          <p:spTgt spid="328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32813"/>
                                        </p:tgtEl>
                                        <p:attrNameLst>
                                          <p:attrName>style.visibility</p:attrName>
                                        </p:attrNameLst>
                                      </p:cBhvr>
                                      <p:to>
                                        <p:strVal val="visible"/>
                                      </p:to>
                                    </p:set>
                                    <p:animEffect transition="in" filter="wipe(up)">
                                      <p:cBhvr>
                                        <p:cTn id="50" dur="500"/>
                                        <p:tgtEl>
                                          <p:spTgt spid="32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32784" grpId="0"/>
      <p:bldP spid="32785" grpId="0" animBg="1"/>
      <p:bldP spid="32786" grpId="0" animBg="1"/>
      <p:bldP spid="32787" grpId="0" build="p" bldLvl="4" autoUpdateAnimBg="0"/>
      <p:bldP spid="32812" grpId="0"/>
      <p:bldP spid="3281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689330" y="496900"/>
            <a:ext cx="56737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4</a:t>
            </a:r>
            <a:r>
              <a:rPr kumimoji="1" lang="zh-CN" altLang="en-US" sz="2800" b="1" dirty="0">
                <a:solidFill>
                  <a:srgbClr val="0000FF"/>
                </a:solidFill>
                <a:latin typeface="黑体" panose="02010609060101010101" pitchFamily="49" charset="-122"/>
                <a:ea typeface="黑体" panose="02010609060101010101" pitchFamily="49" charset="-122"/>
              </a:rPr>
              <a:t>．空间任意力系的合成结果</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sp>
        <p:nvSpPr>
          <p:cNvPr id="3" name="Text Box 25"/>
          <p:cNvSpPr txBox="1">
            <a:spLocks noChangeArrowheads="1"/>
          </p:cNvSpPr>
          <p:nvPr/>
        </p:nvSpPr>
        <p:spPr bwMode="auto">
          <a:xfrm>
            <a:off x="525781" y="1187454"/>
            <a:ext cx="44782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865188" indent="-506413">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lvl="2" indent="0">
              <a:spcBef>
                <a:spcPts val="0"/>
              </a:spcBef>
              <a:buClr>
                <a:srgbClr val="0000FF"/>
              </a:buClr>
              <a:buSzPct val="100000"/>
            </a:pPr>
            <a:r>
              <a:rPr lang="en-US" altLang="zh-CN" b="1" dirty="0">
                <a:solidFill>
                  <a:srgbClr val="CC0000"/>
                </a:solidFill>
                <a:sym typeface="Webdings" panose="05030102010509060703" pitchFamily="18" charset="2"/>
              </a:rPr>
              <a:t> </a:t>
            </a:r>
            <a:r>
              <a:rPr kumimoji="0" lang="en-US" altLang="zh-CN" b="1" i="1" dirty="0">
                <a:solidFill>
                  <a:srgbClr val="0000CC"/>
                </a:solidFill>
              </a:rPr>
              <a:t>F</a:t>
            </a:r>
            <a:r>
              <a:rPr kumimoji="0" lang="en-US" altLang="zh-CN" i="1" baseline="-25000" dirty="0">
                <a:solidFill>
                  <a:srgbClr val="0000FF"/>
                </a:solidFill>
              </a:rPr>
              <a:t>R</a:t>
            </a:r>
            <a:r>
              <a:rPr kumimoji="0" lang="en-US" altLang="zh-CN" dirty="0">
                <a:solidFill>
                  <a:srgbClr val="0000CC"/>
                </a:solidFill>
              </a:rPr>
              <a:t>′</a:t>
            </a:r>
            <a:r>
              <a:rPr kumimoji="0" lang="en-US" altLang="zh-CN" b="1" dirty="0">
                <a:solidFill>
                  <a:srgbClr val="0000CC"/>
                </a:solidFill>
              </a:rPr>
              <a:t>≠</a:t>
            </a:r>
            <a:r>
              <a:rPr kumimoji="0" lang="en-US" altLang="zh-CN" dirty="0">
                <a:solidFill>
                  <a:srgbClr val="0000CC"/>
                </a:solidFill>
              </a:rPr>
              <a:t>0</a:t>
            </a:r>
            <a:r>
              <a:rPr kumimoji="0" lang="zh-CN" altLang="en-US" b="1" dirty="0">
                <a:solidFill>
                  <a:srgbClr val="0000CC"/>
                </a:solidFill>
              </a:rPr>
              <a:t>，</a:t>
            </a:r>
            <a:r>
              <a:rPr kumimoji="0" lang="en-US" altLang="zh-CN" b="1" i="1" dirty="0">
                <a:solidFill>
                  <a:srgbClr val="0000CC"/>
                </a:solidFill>
              </a:rPr>
              <a:t>M</a:t>
            </a:r>
            <a:r>
              <a:rPr kumimoji="0" lang="en-US" altLang="zh-CN" i="1" baseline="-25000" dirty="0">
                <a:solidFill>
                  <a:srgbClr val="0000CC"/>
                </a:solidFill>
              </a:rPr>
              <a:t>O</a:t>
            </a:r>
            <a:r>
              <a:rPr kumimoji="0" lang="en-US" altLang="zh-CN" b="1" dirty="0">
                <a:solidFill>
                  <a:srgbClr val="0000CC"/>
                </a:solidFill>
              </a:rPr>
              <a:t>≠</a:t>
            </a:r>
            <a:r>
              <a:rPr kumimoji="0" lang="en-US" altLang="zh-CN" dirty="0">
                <a:solidFill>
                  <a:srgbClr val="0000CC"/>
                </a:solidFill>
              </a:rPr>
              <a:t>0</a:t>
            </a:r>
            <a:r>
              <a:rPr kumimoji="0" lang="zh-CN" altLang="en-US" b="1" dirty="0">
                <a:solidFill>
                  <a:srgbClr val="0000CC"/>
                </a:solidFill>
              </a:rPr>
              <a:t>， 且</a:t>
            </a:r>
            <a:r>
              <a:rPr kumimoji="0" lang="en-US" altLang="zh-CN" b="1" i="1" dirty="0">
                <a:solidFill>
                  <a:srgbClr val="0000CC"/>
                </a:solidFill>
              </a:rPr>
              <a:t>F</a:t>
            </a:r>
            <a:r>
              <a:rPr kumimoji="0" lang="en-US" altLang="zh-CN" i="1" baseline="-25000" dirty="0">
                <a:solidFill>
                  <a:srgbClr val="0000CC"/>
                </a:solidFill>
              </a:rPr>
              <a:t>R</a:t>
            </a:r>
            <a:r>
              <a:rPr kumimoji="0" lang="en-US" altLang="zh-CN" dirty="0">
                <a:solidFill>
                  <a:srgbClr val="0000CC"/>
                </a:solidFill>
              </a:rPr>
              <a:t>′⊥</a:t>
            </a:r>
            <a:r>
              <a:rPr kumimoji="0" lang="en-US" altLang="zh-CN" i="1" dirty="0">
                <a:solidFill>
                  <a:srgbClr val="0000CC"/>
                </a:solidFill>
              </a:rPr>
              <a:t> </a:t>
            </a:r>
            <a:r>
              <a:rPr kumimoji="0" lang="en-US" altLang="zh-CN" b="1" i="1" dirty="0">
                <a:solidFill>
                  <a:srgbClr val="0000CC"/>
                </a:solidFill>
              </a:rPr>
              <a:t>M</a:t>
            </a:r>
            <a:r>
              <a:rPr kumimoji="0" lang="en-US" altLang="zh-CN" i="1" baseline="-25000" dirty="0">
                <a:solidFill>
                  <a:srgbClr val="0000CC"/>
                </a:solidFill>
              </a:rPr>
              <a:t>O</a:t>
            </a:r>
            <a:r>
              <a:rPr kumimoji="0" lang="en-US" altLang="zh-CN" i="1" dirty="0">
                <a:solidFill>
                  <a:srgbClr val="0000CC"/>
                </a:solidFill>
              </a:rPr>
              <a:t> </a:t>
            </a:r>
            <a:endParaRPr kumimoji="0" lang="en-US" altLang="zh-CN" b="1" dirty="0">
              <a:solidFill>
                <a:srgbClr val="0000CC"/>
              </a:solidFill>
            </a:endParaRPr>
          </a:p>
        </p:txBody>
      </p:sp>
      <p:grpSp>
        <p:nvGrpSpPr>
          <p:cNvPr id="4" name="Group 26"/>
          <p:cNvGrpSpPr>
            <a:grpSpLocks/>
          </p:cNvGrpSpPr>
          <p:nvPr/>
        </p:nvGrpSpPr>
        <p:grpSpPr bwMode="auto">
          <a:xfrm>
            <a:off x="707788" y="1647384"/>
            <a:ext cx="3240087" cy="1882775"/>
            <a:chOff x="322" y="2291"/>
            <a:chExt cx="2374" cy="1350"/>
          </a:xfrm>
        </p:grpSpPr>
        <p:sp>
          <p:nvSpPr>
            <p:cNvPr id="5" name="AutoShape 27"/>
            <p:cNvSpPr>
              <a:spLocks noChangeArrowheads="1"/>
            </p:cNvSpPr>
            <p:nvPr/>
          </p:nvSpPr>
          <p:spPr bwMode="auto">
            <a:xfrm>
              <a:off x="322" y="2721"/>
              <a:ext cx="2374" cy="920"/>
            </a:xfrm>
            <a:prstGeom prst="parallelogram">
              <a:avLst>
                <a:gd name="adj" fmla="val 64511"/>
              </a:avLst>
            </a:prstGeom>
            <a:solidFill>
              <a:srgbClr val="66CCFF"/>
            </a:solidFill>
            <a:ln w="19050">
              <a:solidFill>
                <a:schemeClr val="tx1"/>
              </a:solidFill>
              <a:miter lim="800000"/>
              <a:headEnd/>
              <a:tailEnd type="none" w="sm" len="lg"/>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 name="Rectangle 28"/>
            <p:cNvSpPr>
              <a:spLocks noChangeArrowheads="1"/>
            </p:cNvSpPr>
            <p:nvPr/>
          </p:nvSpPr>
          <p:spPr bwMode="auto">
            <a:xfrm>
              <a:off x="1173" y="2790"/>
              <a:ext cx="270"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i="1"/>
                <a:t>O</a:t>
              </a:r>
            </a:p>
          </p:txBody>
        </p:sp>
        <p:sp>
          <p:nvSpPr>
            <p:cNvPr id="7" name="Rectangle 29"/>
            <p:cNvSpPr>
              <a:spLocks noChangeArrowheads="1"/>
            </p:cNvSpPr>
            <p:nvPr/>
          </p:nvSpPr>
          <p:spPr bwMode="auto">
            <a:xfrm>
              <a:off x="1993" y="2643"/>
              <a:ext cx="385"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t>F</a:t>
              </a:r>
              <a:r>
                <a:rPr kumimoji="0" lang="en-US" altLang="zh-CN" sz="2000" b="1" i="1" baseline="-25000" dirty="0"/>
                <a:t>R</a:t>
              </a:r>
              <a:r>
                <a:rPr kumimoji="0" lang="en-US" altLang="zh-CN" sz="2000" dirty="0"/>
                <a:t>′</a:t>
              </a:r>
            </a:p>
          </p:txBody>
        </p:sp>
        <p:grpSp>
          <p:nvGrpSpPr>
            <p:cNvPr id="8" name="Group 30"/>
            <p:cNvGrpSpPr>
              <a:grpSpLocks/>
            </p:cNvGrpSpPr>
            <p:nvPr/>
          </p:nvGrpSpPr>
          <p:grpSpPr bwMode="auto">
            <a:xfrm>
              <a:off x="1018" y="2291"/>
              <a:ext cx="397" cy="746"/>
              <a:chOff x="1018" y="2291"/>
              <a:chExt cx="397" cy="746"/>
            </a:xfrm>
          </p:grpSpPr>
          <p:sp>
            <p:nvSpPr>
              <p:cNvPr id="11" name="Line 31"/>
              <p:cNvSpPr>
                <a:spLocks noChangeShapeType="1"/>
              </p:cNvSpPr>
              <p:nvPr/>
            </p:nvSpPr>
            <p:spPr bwMode="auto">
              <a:xfrm flipV="1">
                <a:off x="1415" y="2408"/>
                <a:ext cx="0" cy="629"/>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 name="Rectangle 32"/>
              <p:cNvSpPr>
                <a:spLocks noChangeArrowheads="1"/>
              </p:cNvSpPr>
              <p:nvPr/>
            </p:nvSpPr>
            <p:spPr bwMode="auto">
              <a:xfrm>
                <a:off x="1018" y="2291"/>
                <a:ext cx="387"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a:solidFill>
                      <a:srgbClr val="0000CC"/>
                    </a:solidFill>
                    <a:ea typeface="黑体" panose="02010609060101010101" pitchFamily="49" charset="-122"/>
                  </a:rPr>
                  <a:t>M</a:t>
                </a:r>
                <a:r>
                  <a:rPr kumimoji="0" lang="en-US" altLang="zh-CN" sz="2000" i="1" baseline="-25000">
                    <a:solidFill>
                      <a:srgbClr val="0000CC"/>
                    </a:solidFill>
                    <a:ea typeface="黑体" panose="02010609060101010101" pitchFamily="49" charset="-122"/>
                  </a:rPr>
                  <a:t>O</a:t>
                </a:r>
              </a:p>
            </p:txBody>
          </p:sp>
        </p:grpSp>
        <p:sp>
          <p:nvSpPr>
            <p:cNvPr id="9" name="Line 33"/>
            <p:cNvSpPr>
              <a:spLocks noChangeShapeType="1"/>
            </p:cNvSpPr>
            <p:nvPr/>
          </p:nvSpPr>
          <p:spPr bwMode="auto">
            <a:xfrm flipV="1">
              <a:off x="1396" y="2857"/>
              <a:ext cx="576" cy="186"/>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 name="Oval 34"/>
            <p:cNvSpPr>
              <a:spLocks noChangeArrowheads="1"/>
            </p:cNvSpPr>
            <p:nvPr/>
          </p:nvSpPr>
          <p:spPr bwMode="auto">
            <a:xfrm>
              <a:off x="1388" y="3010"/>
              <a:ext cx="56" cy="56"/>
            </a:xfrm>
            <a:prstGeom prst="ellipse">
              <a:avLst/>
            </a:prstGeom>
            <a:solidFill>
              <a:schemeClr val="accent1"/>
            </a:solidFill>
            <a:ln w="1905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3" name="AutoShape 35"/>
          <p:cNvSpPr>
            <a:spLocks noChangeArrowheads="1"/>
          </p:cNvSpPr>
          <p:nvPr/>
        </p:nvSpPr>
        <p:spPr bwMode="auto">
          <a:xfrm>
            <a:off x="3812938" y="2745934"/>
            <a:ext cx="620712" cy="168275"/>
          </a:xfrm>
          <a:prstGeom prst="rightArrow">
            <a:avLst>
              <a:gd name="adj1" fmla="val 50000"/>
              <a:gd name="adj2" fmla="val 92217"/>
            </a:avLst>
          </a:prstGeom>
          <a:solidFill>
            <a:srgbClr val="008000"/>
          </a:solidFill>
          <a:ln w="1270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4" name="Group 36"/>
          <p:cNvGrpSpPr>
            <a:grpSpLocks/>
          </p:cNvGrpSpPr>
          <p:nvPr/>
        </p:nvGrpSpPr>
        <p:grpSpPr bwMode="auto">
          <a:xfrm>
            <a:off x="4213700" y="2167509"/>
            <a:ext cx="3444875" cy="1295400"/>
            <a:chOff x="2861" y="2732"/>
            <a:chExt cx="2374" cy="920"/>
          </a:xfrm>
        </p:grpSpPr>
        <p:sp>
          <p:nvSpPr>
            <p:cNvPr id="15" name="AutoShape 37"/>
            <p:cNvSpPr>
              <a:spLocks noChangeArrowheads="1"/>
            </p:cNvSpPr>
            <p:nvPr/>
          </p:nvSpPr>
          <p:spPr bwMode="auto">
            <a:xfrm>
              <a:off x="2861" y="2732"/>
              <a:ext cx="2374" cy="920"/>
            </a:xfrm>
            <a:prstGeom prst="parallelogram">
              <a:avLst>
                <a:gd name="adj" fmla="val 64511"/>
              </a:avLst>
            </a:prstGeom>
            <a:solidFill>
              <a:srgbClr val="66CCFF"/>
            </a:solidFill>
            <a:ln w="19050">
              <a:solidFill>
                <a:schemeClr val="tx1"/>
              </a:solidFill>
              <a:miter lim="800000"/>
              <a:headEnd/>
              <a:tailEnd type="none" w="sm" len="lg"/>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 name="Line 38"/>
            <p:cNvSpPr>
              <a:spLocks noChangeShapeType="1"/>
            </p:cNvSpPr>
            <p:nvPr/>
          </p:nvSpPr>
          <p:spPr bwMode="auto">
            <a:xfrm flipV="1">
              <a:off x="3835" y="3142"/>
              <a:ext cx="576" cy="186"/>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7" name="Line 39"/>
            <p:cNvSpPr>
              <a:spLocks noChangeShapeType="1"/>
            </p:cNvSpPr>
            <p:nvPr/>
          </p:nvSpPr>
          <p:spPr bwMode="auto">
            <a:xfrm>
              <a:off x="3715" y="3029"/>
              <a:ext cx="116" cy="31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Oval 40"/>
            <p:cNvSpPr>
              <a:spLocks noChangeArrowheads="1"/>
            </p:cNvSpPr>
            <p:nvPr/>
          </p:nvSpPr>
          <p:spPr bwMode="auto">
            <a:xfrm>
              <a:off x="3700" y="3026"/>
              <a:ext cx="56" cy="56"/>
            </a:xfrm>
            <a:prstGeom prst="ellipse">
              <a:avLst/>
            </a:prstGeom>
            <a:solidFill>
              <a:schemeClr val="accent1"/>
            </a:solidFill>
            <a:ln w="1905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 name="Oval 41"/>
            <p:cNvSpPr>
              <a:spLocks noChangeArrowheads="1"/>
            </p:cNvSpPr>
            <p:nvPr/>
          </p:nvSpPr>
          <p:spPr bwMode="auto">
            <a:xfrm>
              <a:off x="3821" y="3303"/>
              <a:ext cx="56" cy="56"/>
            </a:xfrm>
            <a:prstGeom prst="ellipse">
              <a:avLst/>
            </a:prstGeom>
            <a:solidFill>
              <a:schemeClr val="accent1"/>
            </a:solidFill>
            <a:ln w="1905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 name="Rectangle 42"/>
            <p:cNvSpPr>
              <a:spLocks noChangeArrowheads="1"/>
            </p:cNvSpPr>
            <p:nvPr/>
          </p:nvSpPr>
          <p:spPr bwMode="auto">
            <a:xfrm>
              <a:off x="3519" y="2761"/>
              <a:ext cx="25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i="1" dirty="0"/>
                <a:t>O</a:t>
              </a:r>
            </a:p>
          </p:txBody>
        </p:sp>
        <p:sp>
          <p:nvSpPr>
            <p:cNvPr id="21" name="Rectangle 43"/>
            <p:cNvSpPr>
              <a:spLocks noChangeArrowheads="1"/>
            </p:cNvSpPr>
            <p:nvPr/>
          </p:nvSpPr>
          <p:spPr bwMode="auto">
            <a:xfrm>
              <a:off x="3791" y="3270"/>
              <a:ext cx="291"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i="1"/>
                <a:t>O</a:t>
              </a:r>
              <a:r>
                <a:rPr kumimoji="0" lang="en-US" altLang="zh-CN" sz="2000" i="1">
                  <a:cs typeface="Times New Roman" panose="02020603050405020304" pitchFamily="18" charset="0"/>
                </a:rPr>
                <a:t>'</a:t>
              </a:r>
              <a:endParaRPr kumimoji="0" lang="en-US" altLang="en-US" sz="2000" i="1">
                <a:cs typeface="Times New Roman" panose="02020603050405020304" pitchFamily="18" charset="0"/>
              </a:endParaRPr>
            </a:p>
          </p:txBody>
        </p:sp>
        <p:sp>
          <p:nvSpPr>
            <p:cNvPr id="22" name="Rectangle 44"/>
            <p:cNvSpPr>
              <a:spLocks noChangeArrowheads="1"/>
            </p:cNvSpPr>
            <p:nvPr/>
          </p:nvSpPr>
          <p:spPr bwMode="auto">
            <a:xfrm>
              <a:off x="3522" y="3010"/>
              <a:ext cx="232"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i="1" dirty="0"/>
                <a:t>d</a:t>
              </a:r>
            </a:p>
          </p:txBody>
        </p:sp>
        <p:sp>
          <p:nvSpPr>
            <p:cNvPr id="23" name="Rectangle 45"/>
            <p:cNvSpPr>
              <a:spLocks noChangeArrowheads="1"/>
            </p:cNvSpPr>
            <p:nvPr/>
          </p:nvSpPr>
          <p:spPr bwMode="auto">
            <a:xfrm>
              <a:off x="4338" y="3082"/>
              <a:ext cx="3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t>F</a:t>
              </a:r>
              <a:r>
                <a:rPr kumimoji="0" lang="en-US" altLang="zh-CN" sz="2000" b="1" i="1" baseline="-25000" dirty="0"/>
                <a:t>R</a:t>
              </a:r>
              <a:r>
                <a:rPr kumimoji="0" lang="en-US" altLang="zh-CN" sz="2000" dirty="0"/>
                <a:t>′</a:t>
              </a:r>
            </a:p>
          </p:txBody>
        </p:sp>
      </p:grpSp>
      <p:sp>
        <p:nvSpPr>
          <p:cNvPr id="24" name="AutoShape 46"/>
          <p:cNvSpPr>
            <a:spLocks noChangeArrowheads="1"/>
          </p:cNvSpPr>
          <p:nvPr/>
        </p:nvSpPr>
        <p:spPr bwMode="auto">
          <a:xfrm>
            <a:off x="4917581" y="1335494"/>
            <a:ext cx="792163" cy="217488"/>
          </a:xfrm>
          <a:prstGeom prst="rightArrow">
            <a:avLst>
              <a:gd name="adj1" fmla="val 50000"/>
              <a:gd name="adj2" fmla="val 91058"/>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 name="Text Box 47"/>
          <p:cNvSpPr txBox="1">
            <a:spLocks noChangeArrowheads="1"/>
          </p:cNvSpPr>
          <p:nvPr/>
        </p:nvSpPr>
        <p:spPr bwMode="auto">
          <a:xfrm>
            <a:off x="5832453" y="1185719"/>
            <a:ext cx="2142483" cy="46166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黑体" panose="02010609060101010101" pitchFamily="49" charset="-122"/>
                <a:ea typeface="黑体" panose="02010609060101010101" pitchFamily="49" charset="-122"/>
              </a:rPr>
              <a:t>合力（过</a:t>
            </a:r>
            <a:r>
              <a:rPr lang="en-US" altLang="zh-CN" i="1" dirty="0">
                <a:ea typeface="黑体" panose="02010609060101010101" pitchFamily="49" charset="-122"/>
              </a:rPr>
              <a:t>O</a:t>
            </a:r>
            <a:r>
              <a:rPr lang="en-US" altLang="zh-CN" i="1" dirty="0">
                <a:ea typeface="黑体" panose="02010609060101010101" pitchFamily="49" charset="-122"/>
                <a:sym typeface="Symbol" panose="05050102010706020507" pitchFamily="18" charset="2"/>
              </a:rPr>
              <a:t></a:t>
            </a:r>
            <a:r>
              <a:rPr lang="zh-CN" altLang="en-US" b="1" dirty="0">
                <a:latin typeface="黑体" panose="02010609060101010101" pitchFamily="49" charset="-122"/>
                <a:ea typeface="黑体" panose="02010609060101010101" pitchFamily="49" charset="-122"/>
              </a:rPr>
              <a:t>点）</a:t>
            </a:r>
          </a:p>
        </p:txBody>
      </p:sp>
      <p:grpSp>
        <p:nvGrpSpPr>
          <p:cNvPr id="26" name="Group 48"/>
          <p:cNvGrpSpPr>
            <a:grpSpLocks/>
          </p:cNvGrpSpPr>
          <p:nvPr/>
        </p:nvGrpSpPr>
        <p:grpSpPr bwMode="auto">
          <a:xfrm>
            <a:off x="1215788" y="2361761"/>
            <a:ext cx="2181225" cy="1217613"/>
            <a:chOff x="796" y="2832"/>
            <a:chExt cx="1374" cy="767"/>
          </a:xfrm>
        </p:grpSpPr>
        <p:sp>
          <p:nvSpPr>
            <p:cNvPr id="27" name="Oval 49"/>
            <p:cNvSpPr>
              <a:spLocks noChangeArrowheads="1"/>
            </p:cNvSpPr>
            <p:nvPr/>
          </p:nvSpPr>
          <p:spPr bwMode="auto">
            <a:xfrm>
              <a:off x="1521" y="3335"/>
              <a:ext cx="56" cy="56"/>
            </a:xfrm>
            <a:prstGeom prst="ellipse">
              <a:avLst/>
            </a:prstGeom>
            <a:solidFill>
              <a:schemeClr val="accent1"/>
            </a:solidFill>
            <a:ln w="1905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8" name="Group 50"/>
            <p:cNvGrpSpPr>
              <a:grpSpLocks/>
            </p:cNvGrpSpPr>
            <p:nvPr/>
          </p:nvGrpSpPr>
          <p:grpSpPr bwMode="auto">
            <a:xfrm>
              <a:off x="796" y="2832"/>
              <a:ext cx="1374" cy="767"/>
              <a:chOff x="796" y="2832"/>
              <a:chExt cx="1374" cy="767"/>
            </a:xfrm>
          </p:grpSpPr>
          <p:sp>
            <p:nvSpPr>
              <p:cNvPr id="29" name="Line 51"/>
              <p:cNvSpPr>
                <a:spLocks noChangeShapeType="1"/>
              </p:cNvSpPr>
              <p:nvPr/>
            </p:nvSpPr>
            <p:spPr bwMode="auto">
              <a:xfrm flipH="1">
                <a:off x="796" y="3054"/>
                <a:ext cx="585" cy="176"/>
              </a:xfrm>
              <a:prstGeom prst="line">
                <a:avLst/>
              </a:prstGeom>
              <a:noFill/>
              <a:ln w="38100">
                <a:solidFill>
                  <a:srgbClr val="FF33CC"/>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0" name="Line 52"/>
              <p:cNvSpPr>
                <a:spLocks noChangeShapeType="1"/>
              </p:cNvSpPr>
              <p:nvPr/>
            </p:nvSpPr>
            <p:spPr bwMode="auto">
              <a:xfrm flipV="1">
                <a:off x="1555" y="3168"/>
                <a:ext cx="576" cy="186"/>
              </a:xfrm>
              <a:prstGeom prst="line">
                <a:avLst/>
              </a:prstGeom>
              <a:noFill/>
              <a:ln w="38100">
                <a:solidFill>
                  <a:srgbClr val="FF33CC"/>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 name="Line 53"/>
              <p:cNvSpPr>
                <a:spLocks noChangeShapeType="1"/>
              </p:cNvSpPr>
              <p:nvPr/>
            </p:nvSpPr>
            <p:spPr bwMode="auto">
              <a:xfrm>
                <a:off x="1415" y="3061"/>
                <a:ext cx="116" cy="31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Rectangle 54"/>
              <p:cNvSpPr>
                <a:spLocks noChangeArrowheads="1"/>
              </p:cNvSpPr>
              <p:nvPr/>
            </p:nvSpPr>
            <p:spPr bwMode="auto">
              <a:xfrm>
                <a:off x="1265" y="3282"/>
                <a:ext cx="26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i="1" dirty="0"/>
                  <a:t>O</a:t>
                </a:r>
                <a:r>
                  <a:rPr kumimoji="0" lang="en-US" altLang="zh-CN" sz="2000" i="1" dirty="0">
                    <a:cs typeface="Times New Roman" panose="02020603050405020304" pitchFamily="18" charset="0"/>
                  </a:rPr>
                  <a:t>'</a:t>
                </a:r>
                <a:endParaRPr kumimoji="0" lang="en-US" altLang="en-US" sz="2000" i="1" dirty="0">
                  <a:cs typeface="Times New Roman" panose="02020603050405020304" pitchFamily="18" charset="0"/>
                </a:endParaRPr>
              </a:p>
            </p:txBody>
          </p:sp>
          <p:sp>
            <p:nvSpPr>
              <p:cNvPr id="33" name="Rectangle 55"/>
              <p:cNvSpPr>
                <a:spLocks noChangeArrowheads="1"/>
              </p:cNvSpPr>
              <p:nvPr/>
            </p:nvSpPr>
            <p:spPr bwMode="auto">
              <a:xfrm>
                <a:off x="1247" y="3013"/>
                <a:ext cx="212"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i="1" dirty="0"/>
                  <a:t>d</a:t>
                </a:r>
              </a:p>
            </p:txBody>
          </p:sp>
          <p:sp>
            <p:nvSpPr>
              <p:cNvPr id="34" name="Rectangle 56"/>
              <p:cNvSpPr>
                <a:spLocks noChangeArrowheads="1"/>
              </p:cNvSpPr>
              <p:nvPr/>
            </p:nvSpPr>
            <p:spPr bwMode="auto">
              <a:xfrm>
                <a:off x="1839" y="3192"/>
                <a:ext cx="33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t>F</a:t>
                </a:r>
                <a:r>
                  <a:rPr kumimoji="0" lang="en-US" altLang="zh-CN" sz="2000" b="1" i="1" baseline="-25000" dirty="0"/>
                  <a:t>R</a:t>
                </a:r>
                <a:r>
                  <a:rPr kumimoji="0" lang="en-US" altLang="zh-CN" sz="2000" dirty="0"/>
                  <a:t>′</a:t>
                </a:r>
              </a:p>
            </p:txBody>
          </p:sp>
          <p:sp>
            <p:nvSpPr>
              <p:cNvPr id="35" name="Rectangle 57"/>
              <p:cNvSpPr>
                <a:spLocks noChangeArrowheads="1"/>
              </p:cNvSpPr>
              <p:nvPr/>
            </p:nvSpPr>
            <p:spPr bwMode="auto">
              <a:xfrm>
                <a:off x="849" y="2832"/>
                <a:ext cx="296"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t>F</a:t>
                </a:r>
                <a:r>
                  <a:rPr kumimoji="0" lang="en-US" altLang="zh-CN" sz="2000" b="1" i="1" baseline="-25000" dirty="0"/>
                  <a:t>R</a:t>
                </a:r>
                <a:endParaRPr kumimoji="0" lang="en-US" altLang="zh-CN" sz="2000" dirty="0"/>
              </a:p>
            </p:txBody>
          </p:sp>
        </p:grpSp>
      </p:grpSp>
      <p:graphicFrame>
        <p:nvGraphicFramePr>
          <p:cNvPr id="36" name="Object 29"/>
          <p:cNvGraphicFramePr>
            <a:graphicFrameLocks noChangeAspect="1"/>
          </p:cNvGraphicFramePr>
          <p:nvPr>
            <p:extLst>
              <p:ext uri="{D42A27DB-BD31-4B8C-83A1-F6EECF244321}">
                <p14:modId xmlns:p14="http://schemas.microsoft.com/office/powerpoint/2010/main" val="3631044042"/>
              </p:ext>
            </p:extLst>
          </p:nvPr>
        </p:nvGraphicFramePr>
        <p:xfrm>
          <a:off x="7197882" y="2610067"/>
          <a:ext cx="1274763" cy="854075"/>
        </p:xfrm>
        <a:graphic>
          <a:graphicData uri="http://schemas.openxmlformats.org/presentationml/2006/ole">
            <mc:AlternateContent xmlns:mc="http://schemas.openxmlformats.org/markup-compatibility/2006">
              <mc:Choice xmlns:v="urn:schemas-microsoft-com:vml" Requires="v">
                <p:oleObj spid="_x0000_s25618" name="Equation" r:id="rId3" imgW="660240" imgH="444240" progId="Equation.DSMT4">
                  <p:embed/>
                </p:oleObj>
              </mc:Choice>
              <mc:Fallback>
                <p:oleObj name="Equation" r:id="rId3" imgW="660240" imgH="444240" progId="Equation.DSMT4">
                  <p:embed/>
                  <p:pic>
                    <p:nvPicPr>
                      <p:cNvPr id="0" name=""/>
                      <p:cNvPicPr>
                        <a:picLocks noChangeAspect="1" noChangeArrowheads="1"/>
                      </p:cNvPicPr>
                      <p:nvPr/>
                    </p:nvPicPr>
                    <p:blipFill>
                      <a:blip r:embed="rId4"/>
                      <a:srcRect/>
                      <a:stretch>
                        <a:fillRect/>
                      </a:stretch>
                    </p:blipFill>
                    <p:spPr bwMode="auto">
                      <a:xfrm>
                        <a:off x="7197882" y="2610067"/>
                        <a:ext cx="1274763"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7" name="Group 31"/>
          <p:cNvGrpSpPr>
            <a:grpSpLocks/>
          </p:cNvGrpSpPr>
          <p:nvPr/>
        </p:nvGrpSpPr>
        <p:grpSpPr bwMode="auto">
          <a:xfrm>
            <a:off x="4745723" y="1607045"/>
            <a:ext cx="2270126" cy="1543050"/>
            <a:chOff x="3787" y="2704"/>
            <a:chExt cx="1430" cy="972"/>
          </a:xfrm>
        </p:grpSpPr>
        <p:sp>
          <p:nvSpPr>
            <p:cNvPr id="38" name="Line 32"/>
            <p:cNvSpPr>
              <a:spLocks noChangeShapeType="1"/>
            </p:cNvSpPr>
            <p:nvPr/>
          </p:nvSpPr>
          <p:spPr bwMode="auto">
            <a:xfrm flipV="1">
              <a:off x="4241" y="2758"/>
              <a:ext cx="0" cy="567"/>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9" name="Line 33"/>
            <p:cNvSpPr>
              <a:spLocks noChangeAspect="1" noChangeShapeType="1"/>
            </p:cNvSpPr>
            <p:nvPr/>
          </p:nvSpPr>
          <p:spPr bwMode="auto">
            <a:xfrm rot="317549" flipH="1">
              <a:off x="3901" y="3313"/>
              <a:ext cx="331" cy="363"/>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0" name="Line 34"/>
            <p:cNvSpPr>
              <a:spLocks noChangeShapeType="1"/>
            </p:cNvSpPr>
            <p:nvPr/>
          </p:nvSpPr>
          <p:spPr bwMode="auto">
            <a:xfrm>
              <a:off x="4241" y="3339"/>
              <a:ext cx="589"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1" name="Text Box 35"/>
            <p:cNvSpPr txBox="1">
              <a:spLocks noChangeArrowheads="1"/>
            </p:cNvSpPr>
            <p:nvPr/>
          </p:nvSpPr>
          <p:spPr bwMode="auto">
            <a:xfrm>
              <a:off x="3787" y="3339"/>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a:t>x</a:t>
              </a:r>
            </a:p>
          </p:txBody>
        </p:sp>
        <p:sp>
          <p:nvSpPr>
            <p:cNvPr id="42" name="Text Box 36"/>
            <p:cNvSpPr txBox="1">
              <a:spLocks noChangeArrowheads="1"/>
            </p:cNvSpPr>
            <p:nvPr/>
          </p:nvSpPr>
          <p:spPr bwMode="auto">
            <a:xfrm>
              <a:off x="4286" y="2704"/>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a:t>z</a:t>
              </a:r>
            </a:p>
          </p:txBody>
        </p:sp>
        <p:sp>
          <p:nvSpPr>
            <p:cNvPr id="43" name="Text Box 37"/>
            <p:cNvSpPr txBox="1">
              <a:spLocks noChangeArrowheads="1"/>
            </p:cNvSpPr>
            <p:nvPr/>
          </p:nvSpPr>
          <p:spPr bwMode="auto">
            <a:xfrm>
              <a:off x="4809" y="3107"/>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dirty="0"/>
                <a:t>y</a:t>
              </a:r>
            </a:p>
          </p:txBody>
        </p:sp>
      </p:grpSp>
      <p:sp>
        <p:nvSpPr>
          <p:cNvPr id="44" name="文本框 43"/>
          <p:cNvSpPr txBox="1"/>
          <p:nvPr/>
        </p:nvSpPr>
        <p:spPr>
          <a:xfrm>
            <a:off x="851652" y="3832125"/>
            <a:ext cx="2160198" cy="461665"/>
          </a:xfrm>
          <a:prstGeom prst="rect">
            <a:avLst/>
          </a:prstGeom>
          <a:noFill/>
        </p:spPr>
        <p:txBody>
          <a:bodyPr wrap="square" rtlCol="0">
            <a:spAutoFit/>
          </a:bodyPr>
          <a:lstStyle/>
          <a:p>
            <a:r>
              <a:rPr lang="en-US" altLang="zh-CN" i="1" dirty="0"/>
              <a:t>O</a:t>
            </a:r>
            <a:r>
              <a:rPr lang="en-US" altLang="zh-CN" dirty="0">
                <a:sym typeface="Symbol" panose="05050102010706020507" pitchFamily="18" charset="2"/>
              </a:rPr>
              <a:t></a:t>
            </a:r>
            <a:r>
              <a:rPr lang="zh-CN" altLang="en-US" b="1" dirty="0">
                <a:latin typeface="楷体" panose="02010609060101010101" pitchFamily="49" charset="-122"/>
                <a:ea typeface="楷体" panose="02010609060101010101" pitchFamily="49" charset="-122"/>
              </a:rPr>
              <a:t>点的位置</a:t>
            </a:r>
          </a:p>
        </p:txBody>
      </p:sp>
      <p:graphicFrame>
        <p:nvGraphicFramePr>
          <p:cNvPr id="46" name="Object 29"/>
          <p:cNvGraphicFramePr>
            <a:graphicFrameLocks noChangeAspect="1"/>
          </p:cNvGraphicFramePr>
          <p:nvPr>
            <p:extLst>
              <p:ext uri="{D42A27DB-BD31-4B8C-83A1-F6EECF244321}">
                <p14:modId xmlns:p14="http://schemas.microsoft.com/office/powerpoint/2010/main" val="4095743009"/>
              </p:ext>
            </p:extLst>
          </p:nvPr>
        </p:nvGraphicFramePr>
        <p:xfrm>
          <a:off x="3062521" y="4466149"/>
          <a:ext cx="2892425" cy="439738"/>
        </p:xfrm>
        <a:graphic>
          <a:graphicData uri="http://schemas.openxmlformats.org/presentationml/2006/ole">
            <mc:AlternateContent xmlns:mc="http://schemas.openxmlformats.org/markup-compatibility/2006">
              <mc:Choice xmlns:v="urn:schemas-microsoft-com:vml" Requires="v">
                <p:oleObj spid="_x0000_s25619" name="Equation" r:id="rId5" imgW="1498320" imgH="228600" progId="Equation.DSMT4">
                  <p:embed/>
                </p:oleObj>
              </mc:Choice>
              <mc:Fallback>
                <p:oleObj name="Equation" r:id="rId5" imgW="1498320" imgH="228600" progId="Equation.DSMT4">
                  <p:embed/>
                  <p:pic>
                    <p:nvPicPr>
                      <p:cNvPr id="0" name=""/>
                      <p:cNvPicPr>
                        <a:picLocks noChangeAspect="1" noChangeArrowheads="1"/>
                      </p:cNvPicPr>
                      <p:nvPr/>
                    </p:nvPicPr>
                    <p:blipFill>
                      <a:blip r:embed="rId6"/>
                      <a:srcRect/>
                      <a:stretch>
                        <a:fillRect/>
                      </a:stretch>
                    </p:blipFill>
                    <p:spPr bwMode="auto">
                      <a:xfrm>
                        <a:off x="3062521" y="4466149"/>
                        <a:ext cx="289242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矩形 46"/>
          <p:cNvSpPr/>
          <p:nvPr/>
        </p:nvSpPr>
        <p:spPr>
          <a:xfrm>
            <a:off x="3251133" y="3793450"/>
            <a:ext cx="1596912" cy="461665"/>
          </a:xfrm>
          <a:prstGeom prst="rect">
            <a:avLst/>
          </a:prstGeom>
        </p:spPr>
        <p:txBody>
          <a:bodyPr wrap="none">
            <a:spAutoFit/>
          </a:bodyPr>
          <a:lstStyle/>
          <a:p>
            <a:r>
              <a:rPr kumimoji="0" lang="en-US" altLang="zh-CN" b="1" i="1" dirty="0"/>
              <a:t>F</a:t>
            </a:r>
            <a:r>
              <a:rPr kumimoji="0" lang="en-US" altLang="zh-CN" i="1" baseline="-25000" dirty="0"/>
              <a:t>R</a:t>
            </a:r>
            <a:r>
              <a:rPr kumimoji="0" lang="en-US" altLang="zh-CN" dirty="0"/>
              <a:t>′</a:t>
            </a:r>
            <a:r>
              <a:rPr kumimoji="0" lang="en-US" altLang="zh-CN" dirty="0">
                <a:sym typeface="Symbol" panose="05050102010706020507" pitchFamily="18" charset="2"/>
              </a:rPr>
              <a:t></a:t>
            </a:r>
            <a:r>
              <a:rPr kumimoji="0" lang="en-US" altLang="zh-CN" i="1" dirty="0"/>
              <a:t> </a:t>
            </a:r>
            <a:r>
              <a:rPr kumimoji="0" lang="en-US" altLang="zh-CN" b="1" i="1" dirty="0"/>
              <a:t>M</a:t>
            </a:r>
            <a:r>
              <a:rPr kumimoji="0" lang="en-US" altLang="zh-CN" i="1" baseline="-25000" dirty="0"/>
              <a:t>O</a:t>
            </a:r>
            <a:r>
              <a:rPr kumimoji="0" lang="en-US" altLang="zh-CN" i="1" dirty="0"/>
              <a:t> </a:t>
            </a:r>
            <a:r>
              <a:rPr kumimoji="0" lang="en-US" altLang="zh-CN" b="1" i="1" dirty="0"/>
              <a:t>=</a:t>
            </a:r>
            <a:r>
              <a:rPr kumimoji="0" lang="en-US" altLang="zh-CN" dirty="0"/>
              <a:t>0</a:t>
            </a:r>
            <a:endParaRPr lang="zh-CN" altLang="en-US" dirty="0"/>
          </a:p>
        </p:txBody>
      </p:sp>
      <p:sp>
        <p:nvSpPr>
          <p:cNvPr id="48" name="文本框 47"/>
          <p:cNvSpPr txBox="1"/>
          <p:nvPr/>
        </p:nvSpPr>
        <p:spPr>
          <a:xfrm>
            <a:off x="632393" y="4432189"/>
            <a:ext cx="2598716" cy="461665"/>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力作用线的方程</a:t>
            </a:r>
          </a:p>
        </p:txBody>
      </p:sp>
      <p:graphicFrame>
        <p:nvGraphicFramePr>
          <p:cNvPr id="49" name="Object 29"/>
          <p:cNvGraphicFramePr>
            <a:graphicFrameLocks noChangeAspect="1"/>
          </p:cNvGraphicFramePr>
          <p:nvPr>
            <p:extLst>
              <p:ext uri="{D42A27DB-BD31-4B8C-83A1-F6EECF244321}">
                <p14:modId xmlns:p14="http://schemas.microsoft.com/office/powerpoint/2010/main" val="1903366003"/>
              </p:ext>
            </p:extLst>
          </p:nvPr>
        </p:nvGraphicFramePr>
        <p:xfrm>
          <a:off x="5563209" y="3643138"/>
          <a:ext cx="1863725" cy="854075"/>
        </p:xfrm>
        <a:graphic>
          <a:graphicData uri="http://schemas.openxmlformats.org/presentationml/2006/ole">
            <mc:AlternateContent xmlns:mc="http://schemas.openxmlformats.org/markup-compatibility/2006">
              <mc:Choice xmlns:v="urn:schemas-microsoft-com:vml" Requires="v">
                <p:oleObj spid="_x0000_s25620" name="Equation" r:id="rId7" imgW="965160" imgH="444240" progId="Equation.DSMT4">
                  <p:embed/>
                </p:oleObj>
              </mc:Choice>
              <mc:Fallback>
                <p:oleObj name="Equation" r:id="rId7" imgW="965160" imgH="444240" progId="Equation.DSMT4">
                  <p:embed/>
                  <p:pic>
                    <p:nvPicPr>
                      <p:cNvPr id="0" name=""/>
                      <p:cNvPicPr>
                        <a:picLocks noChangeAspect="1" noChangeArrowheads="1"/>
                      </p:cNvPicPr>
                      <p:nvPr/>
                    </p:nvPicPr>
                    <p:blipFill>
                      <a:blip r:embed="rId8"/>
                      <a:srcRect/>
                      <a:stretch>
                        <a:fillRect/>
                      </a:stretch>
                    </p:blipFill>
                    <p:spPr bwMode="auto">
                      <a:xfrm>
                        <a:off x="5563209" y="3643138"/>
                        <a:ext cx="1863725"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29"/>
          <p:cNvGraphicFramePr>
            <a:graphicFrameLocks noChangeAspect="1"/>
          </p:cNvGraphicFramePr>
          <p:nvPr>
            <p:extLst>
              <p:ext uri="{D42A27DB-BD31-4B8C-83A1-F6EECF244321}">
                <p14:modId xmlns:p14="http://schemas.microsoft.com/office/powerpoint/2010/main" val="2677628290"/>
              </p:ext>
            </p:extLst>
          </p:nvPr>
        </p:nvGraphicFramePr>
        <p:xfrm>
          <a:off x="815026" y="4974868"/>
          <a:ext cx="4705350" cy="928688"/>
        </p:xfrm>
        <a:graphic>
          <a:graphicData uri="http://schemas.openxmlformats.org/presentationml/2006/ole">
            <mc:AlternateContent xmlns:mc="http://schemas.openxmlformats.org/markup-compatibility/2006">
              <mc:Choice xmlns:v="urn:schemas-microsoft-com:vml" Requires="v">
                <p:oleObj spid="_x0000_s25621" name="Equation" r:id="rId9" imgW="2438280" imgH="482400" progId="Equation.DSMT4">
                  <p:embed/>
                </p:oleObj>
              </mc:Choice>
              <mc:Fallback>
                <p:oleObj name="Equation" r:id="rId9" imgW="2438280" imgH="482400" progId="Equation.DSMT4">
                  <p:embed/>
                  <p:pic>
                    <p:nvPicPr>
                      <p:cNvPr id="0" name=""/>
                      <p:cNvPicPr>
                        <a:picLocks noChangeAspect="1" noChangeArrowheads="1"/>
                      </p:cNvPicPr>
                      <p:nvPr/>
                    </p:nvPicPr>
                    <p:blipFill>
                      <a:blip r:embed="rId10"/>
                      <a:srcRect/>
                      <a:stretch>
                        <a:fillRect/>
                      </a:stretch>
                    </p:blipFill>
                    <p:spPr bwMode="auto">
                      <a:xfrm>
                        <a:off x="815026" y="4974868"/>
                        <a:ext cx="4705350"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3" name="组合 62"/>
          <p:cNvGrpSpPr/>
          <p:nvPr/>
        </p:nvGrpSpPr>
        <p:grpSpPr>
          <a:xfrm>
            <a:off x="6160873" y="4244862"/>
            <a:ext cx="2727325" cy="2081941"/>
            <a:chOff x="6160873" y="4244862"/>
            <a:chExt cx="2727325" cy="2081941"/>
          </a:xfrm>
        </p:grpSpPr>
        <p:grpSp>
          <p:nvGrpSpPr>
            <p:cNvPr id="45" name="组合 44"/>
            <p:cNvGrpSpPr/>
            <p:nvPr/>
          </p:nvGrpSpPr>
          <p:grpSpPr>
            <a:xfrm>
              <a:off x="6160873" y="4244862"/>
              <a:ext cx="2727325" cy="2081941"/>
              <a:chOff x="6160873" y="4244862"/>
              <a:chExt cx="2727325" cy="2081941"/>
            </a:xfrm>
          </p:grpSpPr>
          <p:grpSp>
            <p:nvGrpSpPr>
              <p:cNvPr id="51" name="Group 41"/>
              <p:cNvGrpSpPr>
                <a:grpSpLocks/>
              </p:cNvGrpSpPr>
              <p:nvPr/>
            </p:nvGrpSpPr>
            <p:grpSpPr bwMode="auto">
              <a:xfrm>
                <a:off x="6160873" y="4255115"/>
                <a:ext cx="2727325" cy="2071688"/>
                <a:chOff x="3684" y="1959"/>
                <a:chExt cx="1718" cy="1305"/>
              </a:xfrm>
            </p:grpSpPr>
            <p:sp>
              <p:nvSpPr>
                <p:cNvPr id="52" name="Oval 42"/>
                <p:cNvSpPr>
                  <a:spLocks noChangeArrowheads="1"/>
                </p:cNvSpPr>
                <p:nvPr/>
              </p:nvSpPr>
              <p:spPr bwMode="auto">
                <a:xfrm rot="-1112442">
                  <a:off x="3724" y="2352"/>
                  <a:ext cx="1393" cy="912"/>
                </a:xfrm>
                <a:prstGeom prst="ellipse">
                  <a:avLst/>
                </a:prstGeom>
                <a:solidFill>
                  <a:srgbClr val="00CC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43"/>
                <p:cNvSpPr>
                  <a:spLocks noChangeShapeType="1"/>
                </p:cNvSpPr>
                <p:nvPr/>
              </p:nvSpPr>
              <p:spPr bwMode="auto">
                <a:xfrm flipV="1">
                  <a:off x="3684" y="2304"/>
                  <a:ext cx="1632" cy="96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44"/>
                <p:cNvSpPr>
                  <a:spLocks noChangeAspect="1" noChangeShapeType="1"/>
                </p:cNvSpPr>
                <p:nvPr/>
              </p:nvSpPr>
              <p:spPr bwMode="auto">
                <a:xfrm flipV="1">
                  <a:off x="4878" y="1959"/>
                  <a:ext cx="128" cy="58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Oval 45"/>
                <p:cNvSpPr>
                  <a:spLocks noChangeArrowheads="1"/>
                </p:cNvSpPr>
                <p:nvPr/>
              </p:nvSpPr>
              <p:spPr bwMode="auto">
                <a:xfrm>
                  <a:off x="3963" y="3024"/>
                  <a:ext cx="79"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46"/>
                <p:cNvSpPr txBox="1">
                  <a:spLocks noChangeArrowheads="1"/>
                </p:cNvSpPr>
                <p:nvPr/>
              </p:nvSpPr>
              <p:spPr bwMode="auto">
                <a:xfrm>
                  <a:off x="4988" y="1992"/>
                  <a:ext cx="4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i="1" dirty="0">
                      <a:solidFill>
                        <a:schemeClr val="accent2"/>
                      </a:solidFill>
                      <a:latin typeface="Times New Roman" panose="02020603050405020304" pitchFamily="18" charset="0"/>
                    </a:rPr>
                    <a:t>F</a:t>
                  </a:r>
                  <a:r>
                    <a:rPr kumimoji="1" lang="en-US" altLang="zh-CN" b="1" i="1" dirty="0">
                      <a:solidFill>
                        <a:schemeClr val="accent2"/>
                      </a:solidFill>
                      <a:latin typeface="Times New Roman" panose="02020603050405020304" pitchFamily="18" charset="0"/>
                      <a:sym typeface="Symbol" panose="05050102010706020507" pitchFamily="18" charset="2"/>
                    </a:rPr>
                    <a:t></a:t>
                  </a:r>
                  <a:endParaRPr kumimoji="1" lang="en-US" altLang="zh-CN" dirty="0">
                    <a:solidFill>
                      <a:schemeClr val="accent2"/>
                    </a:solidFill>
                    <a:latin typeface="Times New Roman" panose="02020603050405020304" pitchFamily="18" charset="0"/>
                  </a:endParaRPr>
                </a:p>
              </p:txBody>
            </p:sp>
            <p:sp>
              <p:nvSpPr>
                <p:cNvPr id="57" name="Text Box 47"/>
                <p:cNvSpPr txBox="1">
                  <a:spLocks noChangeArrowheads="1"/>
                </p:cNvSpPr>
                <p:nvPr/>
              </p:nvSpPr>
              <p:spPr bwMode="auto">
                <a:xfrm>
                  <a:off x="3786" y="2804"/>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A</a:t>
                  </a:r>
                </a:p>
              </p:txBody>
            </p:sp>
            <p:sp>
              <p:nvSpPr>
                <p:cNvPr id="58" name="Oval 48"/>
                <p:cNvSpPr>
                  <a:spLocks noChangeArrowheads="1"/>
                </p:cNvSpPr>
                <p:nvPr/>
              </p:nvSpPr>
              <p:spPr bwMode="auto">
                <a:xfrm>
                  <a:off x="4838" y="2496"/>
                  <a:ext cx="80" cy="96"/>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Text Box 49"/>
                <p:cNvSpPr txBox="1">
                  <a:spLocks noChangeArrowheads="1"/>
                </p:cNvSpPr>
                <p:nvPr/>
              </p:nvSpPr>
              <p:spPr bwMode="auto">
                <a:xfrm>
                  <a:off x="4799" y="2623"/>
                  <a:ext cx="21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B</a:t>
                  </a:r>
                </a:p>
              </p:txBody>
            </p:sp>
            <p:sp>
              <p:nvSpPr>
                <p:cNvPr id="60" name="Text Box 51"/>
                <p:cNvSpPr txBox="1">
                  <a:spLocks noChangeArrowheads="1"/>
                </p:cNvSpPr>
                <p:nvPr/>
              </p:nvSpPr>
              <p:spPr bwMode="auto">
                <a:xfrm>
                  <a:off x="4426" y="2001"/>
                  <a:ext cx="37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i="1" dirty="0">
                      <a:solidFill>
                        <a:srgbClr val="0000FF"/>
                      </a:solidFill>
                      <a:latin typeface="Times New Roman" panose="02020603050405020304" pitchFamily="18" charset="0"/>
                    </a:rPr>
                    <a:t>M</a:t>
                  </a:r>
                  <a:r>
                    <a:rPr kumimoji="1" lang="en-US" altLang="zh-CN" b="1" i="1" baseline="-25000" dirty="0">
                      <a:solidFill>
                        <a:srgbClr val="0000FF"/>
                      </a:solidFill>
                      <a:latin typeface="Times New Roman" panose="02020603050405020304" pitchFamily="18" charset="0"/>
                    </a:rPr>
                    <a:t>B</a:t>
                  </a:r>
                </a:p>
              </p:txBody>
            </p:sp>
            <p:sp>
              <p:nvSpPr>
                <p:cNvPr id="61" name="Line 52"/>
                <p:cNvSpPr>
                  <a:spLocks noChangeShapeType="1"/>
                </p:cNvSpPr>
                <p:nvPr/>
              </p:nvSpPr>
              <p:spPr bwMode="auto">
                <a:xfrm flipH="1">
                  <a:off x="4032" y="2544"/>
                  <a:ext cx="864" cy="528"/>
                </a:xfrm>
                <a:prstGeom prst="line">
                  <a:avLst/>
                </a:prstGeom>
                <a:noFill/>
                <a:ln w="349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Text Box 53"/>
                <p:cNvSpPr txBox="1">
                  <a:spLocks noChangeArrowheads="1"/>
                </p:cNvSpPr>
                <p:nvPr/>
              </p:nvSpPr>
              <p:spPr bwMode="auto">
                <a:xfrm>
                  <a:off x="4068" y="2563"/>
                  <a:ext cx="36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i="1" dirty="0" err="1">
                      <a:solidFill>
                        <a:srgbClr val="FF0000"/>
                      </a:solidFill>
                      <a:latin typeface="Times New Roman" panose="02020603050405020304" pitchFamily="18" charset="0"/>
                    </a:rPr>
                    <a:t>r</a:t>
                  </a:r>
                  <a:r>
                    <a:rPr kumimoji="1" lang="en-US" altLang="zh-CN" sz="1400" b="1" i="1" dirty="0" err="1">
                      <a:solidFill>
                        <a:srgbClr val="FF0000"/>
                      </a:solidFill>
                      <a:latin typeface="Times New Roman" panose="02020603050405020304" pitchFamily="18" charset="0"/>
                    </a:rPr>
                    <a:t>BA</a:t>
                  </a:r>
                  <a:endParaRPr kumimoji="1" lang="en-US" altLang="zh-CN" sz="3200" b="1" i="1" dirty="0">
                    <a:latin typeface="Times New Roman" panose="02020603050405020304" pitchFamily="18" charset="0"/>
                  </a:endParaRPr>
                </a:p>
              </p:txBody>
            </p:sp>
          </p:grpSp>
          <p:sp>
            <p:nvSpPr>
              <p:cNvPr id="64" name="Line 44"/>
              <p:cNvSpPr>
                <a:spLocks noChangeAspect="1" noChangeShapeType="1"/>
              </p:cNvSpPr>
              <p:nvPr/>
            </p:nvSpPr>
            <p:spPr bwMode="auto">
              <a:xfrm flipV="1">
                <a:off x="6626329" y="4686018"/>
                <a:ext cx="345440" cy="1565275"/>
              </a:xfrm>
              <a:prstGeom prst="line">
                <a:avLst/>
              </a:prstGeom>
              <a:noFill/>
              <a:ln w="28575">
                <a:solidFill>
                  <a:schemeClr val="accent2"/>
                </a:solidFill>
                <a:prstDash val="dash"/>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44"/>
              <p:cNvSpPr>
                <a:spLocks noChangeAspect="1" noChangeShapeType="1"/>
              </p:cNvSpPr>
              <p:nvPr/>
            </p:nvSpPr>
            <p:spPr bwMode="auto">
              <a:xfrm rot="5400000" flipV="1">
                <a:off x="7375524" y="4452761"/>
                <a:ext cx="262534" cy="1189603"/>
              </a:xfrm>
              <a:prstGeom prst="line">
                <a:avLst/>
              </a:prstGeom>
              <a:noFill/>
              <a:ln w="28575">
                <a:solidFill>
                  <a:schemeClr val="accent2"/>
                </a:solidFill>
                <a:prstDash val="dash"/>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44"/>
              <p:cNvSpPr>
                <a:spLocks noChangeAspect="1" noChangeShapeType="1"/>
              </p:cNvSpPr>
              <p:nvPr/>
            </p:nvSpPr>
            <p:spPr bwMode="auto">
              <a:xfrm rot="-1440000" flipV="1">
                <a:off x="7849733" y="4244862"/>
                <a:ext cx="203200" cy="92075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Rectangle 55"/>
              <p:cNvSpPr>
                <a:spLocks noChangeArrowheads="1"/>
              </p:cNvSpPr>
              <p:nvPr/>
            </p:nvSpPr>
            <p:spPr bwMode="auto">
              <a:xfrm>
                <a:off x="7200057" y="4917466"/>
                <a:ext cx="3365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i="1" dirty="0"/>
                  <a:t>d</a:t>
                </a:r>
              </a:p>
            </p:txBody>
          </p:sp>
        </p:grpSp>
        <p:sp>
          <p:nvSpPr>
            <p:cNvPr id="68" name="Text Box 49"/>
            <p:cNvSpPr txBox="1">
              <a:spLocks noChangeArrowheads="1"/>
            </p:cNvSpPr>
            <p:nvPr/>
          </p:nvSpPr>
          <p:spPr bwMode="auto">
            <a:xfrm>
              <a:off x="6552421" y="4692316"/>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O</a:t>
              </a:r>
            </a:p>
          </p:txBody>
        </p:sp>
      </p:grpSp>
      <p:sp>
        <p:nvSpPr>
          <p:cNvPr id="69" name="文本框 68"/>
          <p:cNvSpPr txBox="1"/>
          <p:nvPr/>
        </p:nvSpPr>
        <p:spPr>
          <a:xfrm>
            <a:off x="1700128" y="5945260"/>
            <a:ext cx="3339536" cy="461665"/>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力作用线与主矢平行</a:t>
            </a:r>
          </a:p>
        </p:txBody>
      </p:sp>
    </p:spTree>
    <p:extLst>
      <p:ext uri="{BB962C8B-B14F-4D97-AF65-F5344CB8AC3E}">
        <p14:creationId xmlns:p14="http://schemas.microsoft.com/office/powerpoint/2010/main" val="254567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ppt_x</p:attrName>
                                        </p:attrNameLst>
                                      </p:cBhvr>
                                      <p:tavLst>
                                        <p:tav tm="0">
                                          <p:val>
                                            <p:strVal val="#ppt_x-#ppt_w*1.125000"/>
                                          </p:val>
                                        </p:tav>
                                        <p:tav tm="100000">
                                          <p:val>
                                            <p:strVal val="#ppt_x"/>
                                          </p:val>
                                        </p:tav>
                                      </p:tavLst>
                                    </p:anim>
                                    <p:animEffect transition="in" filter="wipe(right)">
                                      <p:cBhvr>
                                        <p:cTn id="8" dur="500"/>
                                        <p:tgtEl>
                                          <p:spTgt spid="37"/>
                                        </p:tgtEl>
                                      </p:cBhvr>
                                    </p:animEffect>
                                  </p:childTnLst>
                                </p:cTn>
                              </p:par>
                            </p:childTnLst>
                          </p:cTn>
                        </p:par>
                      </p:childTnLst>
                    </p:cTn>
                  </p:par>
                  <p:par>
                    <p:cTn id="9" fill="hold">
                      <p:stCondLst>
                        <p:cond delay="indefinite"/>
                      </p:stCondLst>
                      <p:childTnLst>
                        <p:par>
                          <p:cTn id="10" fill="hold">
                            <p:stCondLst>
                              <p:cond delay="0"/>
                            </p:stCondLst>
                            <p:childTnLst>
                              <p:par>
                                <p:cTn id="11" presetID="6" presetClass="entr" presetSubtype="32"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circle(out)">
                                      <p:cBhvr>
                                        <p:cTn id="13" dur="5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wipe(left)">
                                      <p:cBhvr>
                                        <p:cTn id="18" dur="500"/>
                                        <p:tgtEl>
                                          <p:spTgt spid="4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wipe(left)">
                                      <p:cBhvr>
                                        <p:cTn id="23" dur="500"/>
                                        <p:tgtEl>
                                          <p:spTgt spid="49"/>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32" fill="hold" grpId="0" nodeType="click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circle(out)">
                                      <p:cBhvr>
                                        <p:cTn id="28" dur="500"/>
                                        <p:tgtEl>
                                          <p:spTgt spid="48"/>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box(out)">
                                      <p:cBhvr>
                                        <p:cTn id="33" dur="5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box(out)">
                                      <p:cBhvr>
                                        <p:cTn id="38" dur="500"/>
                                        <p:tgtEl>
                                          <p:spTgt spid="50"/>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32" fill="hold" grpId="0" nodeType="click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circle(out)">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3"/>
                                        </p:tgtEl>
                                        <p:attrNameLst>
                                          <p:attrName>style.visibility</p:attrName>
                                        </p:attrNameLst>
                                      </p:cBhvr>
                                      <p:to>
                                        <p:strVal val="visible"/>
                                      </p:to>
                                    </p:set>
                                    <p:animEffect transition="in" filter="fade">
                                      <p:cBhvr>
                                        <p:cTn id="4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7" grpId="0"/>
      <p:bldP spid="48" grpId="0"/>
      <p:bldP spid="69"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 name="TextBox 35"/>
          <p:cNvSpPr txBox="1">
            <a:spLocks noChangeArrowheads="1"/>
          </p:cNvSpPr>
          <p:nvPr/>
        </p:nvSpPr>
        <p:spPr bwMode="auto">
          <a:xfrm>
            <a:off x="1405874" y="5119925"/>
            <a:ext cx="3846305" cy="830997"/>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FF"/>
                </a:solidFill>
                <a:latin typeface="楷体" panose="02010609060101010101" pitchFamily="49" charset="-122"/>
                <a:ea typeface="楷体" panose="02010609060101010101" pitchFamily="49" charset="-122"/>
              </a:rPr>
              <a:t>力螺旋的作用线（中心轴）与简化中心无关，</a:t>
            </a:r>
            <a:r>
              <a:rPr lang="en-US" altLang="zh-CN" b="1" dirty="0">
                <a:solidFill>
                  <a:srgbClr val="0000FF"/>
                </a:solidFill>
                <a:latin typeface="楷体" panose="02010609060101010101" pitchFamily="49" charset="-122"/>
                <a:ea typeface="楷体" panose="02010609060101010101" pitchFamily="49" charset="-122"/>
              </a:rPr>
              <a:t>//</a:t>
            </a:r>
            <a:r>
              <a:rPr lang="zh-CN" altLang="en-US" b="1" dirty="0">
                <a:solidFill>
                  <a:srgbClr val="0000FF"/>
                </a:solidFill>
                <a:latin typeface="楷体" panose="02010609060101010101" pitchFamily="49" charset="-122"/>
                <a:ea typeface="楷体" panose="02010609060101010101" pitchFamily="49" charset="-122"/>
              </a:rPr>
              <a:t>主矢</a:t>
            </a:r>
          </a:p>
        </p:txBody>
      </p:sp>
      <p:sp>
        <p:nvSpPr>
          <p:cNvPr id="37" name="Text Box 5"/>
          <p:cNvSpPr txBox="1">
            <a:spLocks noChangeArrowheads="1"/>
          </p:cNvSpPr>
          <p:nvPr/>
        </p:nvSpPr>
        <p:spPr bwMode="auto">
          <a:xfrm>
            <a:off x="689330" y="496900"/>
            <a:ext cx="56737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4</a:t>
            </a:r>
            <a:r>
              <a:rPr kumimoji="1" lang="zh-CN" altLang="en-US" sz="2800" b="1" dirty="0">
                <a:solidFill>
                  <a:srgbClr val="0000FF"/>
                </a:solidFill>
                <a:latin typeface="黑体" panose="02010609060101010101" pitchFamily="49" charset="-122"/>
                <a:ea typeface="黑体" panose="02010609060101010101" pitchFamily="49" charset="-122"/>
              </a:rPr>
              <a:t>．空间任意力系的合成结果</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sp>
        <p:nvSpPr>
          <p:cNvPr id="38" name="Text Box 16"/>
          <p:cNvSpPr txBox="1">
            <a:spLocks noChangeArrowheads="1"/>
          </p:cNvSpPr>
          <p:nvPr/>
        </p:nvSpPr>
        <p:spPr bwMode="auto">
          <a:xfrm>
            <a:off x="111918" y="992837"/>
            <a:ext cx="64801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952500" indent="-5715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a:lnSpc>
                <a:spcPct val="130000"/>
              </a:lnSpc>
              <a:spcBef>
                <a:spcPct val="20000"/>
              </a:spcBef>
              <a:buClr>
                <a:srgbClr val="0000FF"/>
              </a:buClr>
              <a:buSzPct val="100000"/>
            </a:pPr>
            <a:r>
              <a:rPr lang="en-US" altLang="zh-CN" sz="2800" b="1" dirty="0">
                <a:solidFill>
                  <a:srgbClr val="CC0000"/>
                </a:solidFill>
                <a:sym typeface="Webdings" panose="05030102010509060703" pitchFamily="18" charset="2"/>
              </a:rPr>
              <a:t></a:t>
            </a:r>
            <a:r>
              <a:rPr kumimoji="0" lang="en-US" altLang="zh-CN" b="1" dirty="0">
                <a:latin typeface="Arial" panose="020B0604020202020204" pitchFamily="34" charset="0"/>
              </a:rPr>
              <a:t> </a:t>
            </a:r>
            <a:r>
              <a:rPr kumimoji="0" lang="en-US" altLang="zh-CN" b="1" i="1" dirty="0">
                <a:solidFill>
                  <a:srgbClr val="0000CC"/>
                </a:solidFill>
              </a:rPr>
              <a:t>F</a:t>
            </a:r>
            <a:r>
              <a:rPr kumimoji="0" lang="en-US" altLang="zh-CN" b="1" i="1" baseline="-25000" dirty="0">
                <a:solidFill>
                  <a:srgbClr val="0000FF"/>
                </a:solidFill>
              </a:rPr>
              <a:t>R</a:t>
            </a:r>
            <a:r>
              <a:rPr kumimoji="0" lang="en-US" altLang="zh-CN" dirty="0">
                <a:solidFill>
                  <a:srgbClr val="0000CC"/>
                </a:solidFill>
              </a:rPr>
              <a:t>′</a:t>
            </a:r>
            <a:r>
              <a:rPr kumimoji="0" lang="en-US" altLang="zh-CN" b="1" dirty="0">
                <a:solidFill>
                  <a:srgbClr val="0000CC"/>
                </a:solidFill>
              </a:rPr>
              <a:t>≠</a:t>
            </a:r>
            <a:r>
              <a:rPr kumimoji="0" lang="en-US" altLang="zh-CN" dirty="0">
                <a:solidFill>
                  <a:srgbClr val="0000CC"/>
                </a:solidFill>
              </a:rPr>
              <a:t>0</a:t>
            </a:r>
            <a:r>
              <a:rPr kumimoji="0" lang="zh-CN" altLang="en-US" b="1" dirty="0">
                <a:solidFill>
                  <a:srgbClr val="0000CC"/>
                </a:solidFill>
              </a:rPr>
              <a:t>，</a:t>
            </a:r>
            <a:r>
              <a:rPr kumimoji="0" lang="en-US" altLang="zh-CN" b="1" i="1" dirty="0">
                <a:solidFill>
                  <a:srgbClr val="0000CC"/>
                </a:solidFill>
              </a:rPr>
              <a:t>M</a:t>
            </a:r>
            <a:r>
              <a:rPr kumimoji="0" lang="en-US" altLang="zh-CN" i="1" baseline="-25000" dirty="0">
                <a:solidFill>
                  <a:srgbClr val="0000CC"/>
                </a:solidFill>
              </a:rPr>
              <a:t>O </a:t>
            </a:r>
            <a:r>
              <a:rPr kumimoji="0" lang="en-US" altLang="zh-CN" b="1" dirty="0">
                <a:solidFill>
                  <a:srgbClr val="0000CC"/>
                </a:solidFill>
              </a:rPr>
              <a:t>≠</a:t>
            </a:r>
            <a:r>
              <a:rPr kumimoji="0" lang="en-US" altLang="zh-CN" dirty="0">
                <a:solidFill>
                  <a:srgbClr val="0000CC"/>
                </a:solidFill>
              </a:rPr>
              <a:t>0</a:t>
            </a:r>
            <a:r>
              <a:rPr kumimoji="0" lang="zh-CN" altLang="en-US" b="1" dirty="0"/>
              <a:t>，</a:t>
            </a:r>
            <a:r>
              <a:rPr kumimoji="0" lang="zh-CN" altLang="en-US" b="1" dirty="0">
                <a:ea typeface="华文中宋" panose="02010600040101010101" pitchFamily="2" charset="-122"/>
              </a:rPr>
              <a:t>且</a:t>
            </a:r>
            <a:r>
              <a:rPr kumimoji="0" lang="en-US" altLang="zh-CN" b="1" i="1" dirty="0">
                <a:solidFill>
                  <a:srgbClr val="0000CC"/>
                </a:solidFill>
              </a:rPr>
              <a:t>F</a:t>
            </a:r>
            <a:r>
              <a:rPr kumimoji="0" lang="en-US" altLang="zh-CN" b="1" i="1" baseline="-25000" dirty="0">
                <a:solidFill>
                  <a:srgbClr val="0000FF"/>
                </a:solidFill>
              </a:rPr>
              <a:t>R</a:t>
            </a:r>
            <a:r>
              <a:rPr kumimoji="0" lang="en-US" altLang="zh-CN" dirty="0">
                <a:solidFill>
                  <a:srgbClr val="0000CC"/>
                </a:solidFill>
              </a:rPr>
              <a:t>′</a:t>
            </a:r>
            <a:r>
              <a:rPr kumimoji="0" lang="zh-CN" altLang="en-US" b="1" dirty="0">
                <a:ea typeface="华文中宋" panose="02010600040101010101" pitchFamily="2" charset="-122"/>
              </a:rPr>
              <a:t>与</a:t>
            </a:r>
            <a:r>
              <a:rPr kumimoji="0" lang="zh-CN" altLang="en-US" dirty="0"/>
              <a:t> </a:t>
            </a:r>
            <a:r>
              <a:rPr kumimoji="0" lang="en-US" altLang="zh-CN" b="1" i="1" dirty="0">
                <a:solidFill>
                  <a:srgbClr val="0000CC"/>
                </a:solidFill>
              </a:rPr>
              <a:t>M</a:t>
            </a:r>
            <a:r>
              <a:rPr kumimoji="0" lang="en-US" altLang="zh-CN" i="1" baseline="-25000" dirty="0">
                <a:solidFill>
                  <a:srgbClr val="0000CC"/>
                </a:solidFill>
              </a:rPr>
              <a:t>O </a:t>
            </a:r>
            <a:r>
              <a:rPr kumimoji="0" lang="zh-CN" altLang="en-US" b="1" dirty="0">
                <a:latin typeface="华文中宋" panose="02010600040101010101" pitchFamily="2" charset="-122"/>
                <a:ea typeface="华文中宋" panose="02010600040101010101" pitchFamily="2" charset="-122"/>
              </a:rPr>
              <a:t>不垂直</a:t>
            </a:r>
          </a:p>
        </p:txBody>
      </p:sp>
      <p:sp>
        <p:nvSpPr>
          <p:cNvPr id="39" name="AutoShape 17"/>
          <p:cNvSpPr>
            <a:spLocks noChangeArrowheads="1"/>
          </p:cNvSpPr>
          <p:nvPr/>
        </p:nvSpPr>
        <p:spPr bwMode="auto">
          <a:xfrm>
            <a:off x="5652120" y="1233390"/>
            <a:ext cx="792162" cy="217487"/>
          </a:xfrm>
          <a:prstGeom prst="rightArrow">
            <a:avLst>
              <a:gd name="adj1" fmla="val 50000"/>
              <a:gd name="adj2" fmla="val 91059"/>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0" name="Text Box 18"/>
          <p:cNvSpPr txBox="1">
            <a:spLocks noChangeArrowheads="1"/>
          </p:cNvSpPr>
          <p:nvPr/>
        </p:nvSpPr>
        <p:spPr bwMode="auto">
          <a:xfrm>
            <a:off x="6672264" y="908795"/>
            <a:ext cx="1223963" cy="83099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黑体" panose="02010609060101010101" pitchFamily="49" charset="-122"/>
                <a:ea typeface="黑体" panose="02010609060101010101" pitchFamily="49" charset="-122"/>
              </a:rPr>
              <a:t>力螺旋</a:t>
            </a:r>
            <a:r>
              <a:rPr lang="en-US" altLang="zh-CN" dirty="0"/>
              <a:t>wrench</a:t>
            </a:r>
            <a:endParaRPr lang="en-US" altLang="zh-CN" b="1" dirty="0">
              <a:ea typeface="华文中宋" panose="02010600040101010101" pitchFamily="2" charset="-122"/>
            </a:endParaRPr>
          </a:p>
        </p:txBody>
      </p:sp>
      <p:grpSp>
        <p:nvGrpSpPr>
          <p:cNvPr id="2" name="组合 1"/>
          <p:cNvGrpSpPr/>
          <p:nvPr/>
        </p:nvGrpSpPr>
        <p:grpSpPr>
          <a:xfrm>
            <a:off x="505560" y="1672566"/>
            <a:ext cx="2593975" cy="1835150"/>
            <a:chOff x="505560" y="1672566"/>
            <a:chExt cx="2593975" cy="1835150"/>
          </a:xfrm>
        </p:grpSpPr>
        <p:grpSp>
          <p:nvGrpSpPr>
            <p:cNvPr id="55" name="Group 95"/>
            <p:cNvGrpSpPr>
              <a:grpSpLocks/>
            </p:cNvGrpSpPr>
            <p:nvPr/>
          </p:nvGrpSpPr>
          <p:grpSpPr bwMode="auto">
            <a:xfrm>
              <a:off x="1035785" y="1672566"/>
              <a:ext cx="2063750" cy="1835150"/>
              <a:chOff x="669" y="1441"/>
              <a:chExt cx="1300" cy="1156"/>
            </a:xfrm>
          </p:grpSpPr>
          <p:sp>
            <p:nvSpPr>
              <p:cNvPr id="56" name="Line 11"/>
              <p:cNvSpPr>
                <a:spLocks noChangeShapeType="1"/>
              </p:cNvSpPr>
              <p:nvPr/>
            </p:nvSpPr>
            <p:spPr bwMode="auto">
              <a:xfrm flipV="1">
                <a:off x="1070" y="1441"/>
                <a:ext cx="0" cy="667"/>
              </a:xfrm>
              <a:prstGeom prst="line">
                <a:avLst/>
              </a:prstGeom>
              <a:noFill/>
              <a:ln w="9525">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12"/>
              <p:cNvSpPr>
                <a:spLocks noChangeArrowheads="1"/>
              </p:cNvSpPr>
              <p:nvPr/>
            </p:nvSpPr>
            <p:spPr bwMode="auto">
              <a:xfrm>
                <a:off x="771" y="1619"/>
                <a:ext cx="1198" cy="978"/>
              </a:xfrm>
              <a:prstGeom prst="rect">
                <a:avLst/>
              </a:prstGeom>
              <a:solidFill>
                <a:schemeClr val="accent1">
                  <a:alpha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14"/>
              <p:cNvSpPr>
                <a:spLocks noChangeShapeType="1"/>
              </p:cNvSpPr>
              <p:nvPr/>
            </p:nvSpPr>
            <p:spPr bwMode="auto">
              <a:xfrm flipH="1">
                <a:off x="685" y="2108"/>
                <a:ext cx="385" cy="40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15"/>
              <p:cNvSpPr>
                <a:spLocks noChangeShapeType="1"/>
              </p:cNvSpPr>
              <p:nvPr/>
            </p:nvSpPr>
            <p:spPr bwMode="auto">
              <a:xfrm flipH="1">
                <a:off x="985" y="1975"/>
                <a:ext cx="85"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16"/>
              <p:cNvSpPr>
                <a:spLocks noChangeShapeType="1"/>
              </p:cNvSpPr>
              <p:nvPr/>
            </p:nvSpPr>
            <p:spPr bwMode="auto">
              <a:xfrm flipH="1">
                <a:off x="985" y="2063"/>
                <a:ext cx="0" cy="13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Text Box 17"/>
              <p:cNvSpPr txBox="1">
                <a:spLocks noChangeArrowheads="1"/>
              </p:cNvSpPr>
              <p:nvPr/>
            </p:nvSpPr>
            <p:spPr bwMode="auto">
              <a:xfrm>
                <a:off x="1113" y="2010"/>
                <a:ext cx="23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O</a:t>
                </a:r>
              </a:p>
            </p:txBody>
          </p:sp>
          <p:sp>
            <p:nvSpPr>
              <p:cNvPr id="62" name="Line 18"/>
              <p:cNvSpPr>
                <a:spLocks noChangeShapeType="1"/>
              </p:cNvSpPr>
              <p:nvPr/>
            </p:nvSpPr>
            <p:spPr bwMode="auto">
              <a:xfrm flipH="1">
                <a:off x="685" y="1441"/>
                <a:ext cx="385" cy="40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19"/>
              <p:cNvSpPr>
                <a:spLocks noChangeShapeType="1"/>
              </p:cNvSpPr>
              <p:nvPr/>
            </p:nvSpPr>
            <p:spPr bwMode="auto">
              <a:xfrm>
                <a:off x="669" y="1844"/>
                <a:ext cx="0" cy="667"/>
              </a:xfrm>
              <a:prstGeom prst="line">
                <a:avLst/>
              </a:prstGeom>
              <a:noFill/>
              <a:ln w="9525">
                <a:solidFill>
                  <a:schemeClr val="accent2"/>
                </a:solidFill>
                <a:prstDash val="dash"/>
                <a:round/>
                <a:headEnd/>
                <a:tailEnd/>
              </a:ln>
              <a:effectLst/>
              <a:scene3d>
                <a:camera prst="legacyObliqueTopRight"/>
                <a:lightRig rig="legacyFlat4" dir="t"/>
              </a:scene3d>
              <a:sp3d extrusionH="1928800" prstMaterial="legacyMatte">
                <a:bevelT w="13500" h="13500" prst="angle"/>
                <a:bevelB w="13500" h="13500" prst="angle"/>
                <a:extrusionClr>
                  <a:srgbClr val="FFFF00"/>
                </a:extrusionClr>
                <a:contourClr>
                  <a:schemeClr val="accent2"/>
                </a:contourClr>
              </a:sp3d>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64" name="Line 20"/>
              <p:cNvSpPr>
                <a:spLocks noChangeShapeType="1"/>
              </p:cNvSpPr>
              <p:nvPr/>
            </p:nvSpPr>
            <p:spPr bwMode="auto">
              <a:xfrm flipH="1" flipV="1">
                <a:off x="685" y="1841"/>
                <a:ext cx="385" cy="267"/>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21"/>
              <p:cNvSpPr>
                <a:spLocks noChangeShapeType="1"/>
              </p:cNvSpPr>
              <p:nvPr/>
            </p:nvSpPr>
            <p:spPr bwMode="auto">
              <a:xfrm flipV="1">
                <a:off x="1070" y="1619"/>
                <a:ext cx="0" cy="489"/>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Oval 22"/>
              <p:cNvSpPr>
                <a:spLocks noChangeArrowheads="1"/>
              </p:cNvSpPr>
              <p:nvPr/>
            </p:nvSpPr>
            <p:spPr bwMode="auto">
              <a:xfrm>
                <a:off x="1027" y="2063"/>
                <a:ext cx="86" cy="89"/>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Arc 23"/>
              <p:cNvSpPr>
                <a:spLocks/>
              </p:cNvSpPr>
              <p:nvPr/>
            </p:nvSpPr>
            <p:spPr bwMode="auto">
              <a:xfrm flipH="1">
                <a:off x="942" y="1886"/>
                <a:ext cx="128" cy="1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Text Box 24"/>
              <p:cNvSpPr txBox="1">
                <a:spLocks noChangeArrowheads="1"/>
              </p:cNvSpPr>
              <p:nvPr/>
            </p:nvSpPr>
            <p:spPr bwMode="auto">
              <a:xfrm>
                <a:off x="812" y="1659"/>
                <a:ext cx="21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i="1" dirty="0">
                    <a:latin typeface="Times New Roman" panose="02020603050405020304" pitchFamily="18" charset="0"/>
                    <a:sym typeface="Symbol" panose="05050102010706020507" pitchFamily="18" charset="2"/>
                  </a:rPr>
                  <a:t></a:t>
                </a:r>
                <a:endParaRPr kumimoji="1" lang="en-US" altLang="zh-CN" sz="2400" dirty="0">
                  <a:latin typeface="Times New Roman" panose="02020603050405020304" pitchFamily="18" charset="0"/>
                </a:endParaRPr>
              </a:p>
            </p:txBody>
          </p:sp>
        </p:grpSp>
        <p:sp>
          <p:nvSpPr>
            <p:cNvPr id="69" name="Rectangle 7"/>
            <p:cNvSpPr>
              <a:spLocks noChangeArrowheads="1"/>
            </p:cNvSpPr>
            <p:nvPr/>
          </p:nvSpPr>
          <p:spPr bwMode="auto">
            <a:xfrm>
              <a:off x="1711267" y="1896404"/>
              <a:ext cx="7175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solidFill>
                    <a:srgbClr val="CC0000"/>
                  </a:solidFill>
                </a:rPr>
                <a:t>F</a:t>
              </a:r>
              <a:r>
                <a:rPr kumimoji="0" lang="en-US" altLang="zh-CN" sz="2000" b="1" i="1" baseline="-25000" dirty="0">
                  <a:solidFill>
                    <a:srgbClr val="CC0000"/>
                  </a:solidFill>
                </a:rPr>
                <a:t>R</a:t>
              </a:r>
              <a:r>
                <a:rPr kumimoji="0" lang="en-US" altLang="zh-CN" sz="2000" dirty="0">
                  <a:solidFill>
                    <a:srgbClr val="CC0000"/>
                  </a:solidFill>
                </a:rPr>
                <a:t>′</a:t>
              </a:r>
            </a:p>
          </p:txBody>
        </p:sp>
        <p:sp>
          <p:nvSpPr>
            <p:cNvPr id="70" name="Rectangle 12"/>
            <p:cNvSpPr>
              <a:spLocks noChangeArrowheads="1"/>
            </p:cNvSpPr>
            <p:nvPr/>
          </p:nvSpPr>
          <p:spPr bwMode="auto">
            <a:xfrm>
              <a:off x="505560" y="2148023"/>
              <a:ext cx="623888" cy="46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solidFill>
                    <a:srgbClr val="0000FF"/>
                  </a:solidFill>
                </a:rPr>
                <a:t>M</a:t>
              </a:r>
              <a:r>
                <a:rPr kumimoji="0" lang="en-US" altLang="zh-CN" sz="2000" b="1" i="1" baseline="-25000" dirty="0">
                  <a:solidFill>
                    <a:srgbClr val="0000FF"/>
                  </a:solidFill>
                </a:rPr>
                <a:t>O</a:t>
              </a:r>
              <a:endParaRPr kumimoji="0" lang="en-US" altLang="zh-CN" sz="2000" dirty="0">
                <a:solidFill>
                  <a:srgbClr val="0000FF"/>
                </a:solidFill>
                <a:latin typeface="宋体" panose="02010600030101010101" pitchFamily="2" charset="-122"/>
              </a:endParaRPr>
            </a:p>
          </p:txBody>
        </p:sp>
      </p:grpSp>
      <p:grpSp>
        <p:nvGrpSpPr>
          <p:cNvPr id="3" name="组合 2"/>
          <p:cNvGrpSpPr/>
          <p:nvPr/>
        </p:nvGrpSpPr>
        <p:grpSpPr>
          <a:xfrm>
            <a:off x="3150419" y="1556863"/>
            <a:ext cx="2660650" cy="1949734"/>
            <a:chOff x="3150419" y="1556863"/>
            <a:chExt cx="2660650" cy="1949734"/>
          </a:xfrm>
        </p:grpSpPr>
        <p:grpSp>
          <p:nvGrpSpPr>
            <p:cNvPr id="71" name="Group 96"/>
            <p:cNvGrpSpPr>
              <a:grpSpLocks/>
            </p:cNvGrpSpPr>
            <p:nvPr/>
          </p:nvGrpSpPr>
          <p:grpSpPr bwMode="auto">
            <a:xfrm>
              <a:off x="3150419" y="1760347"/>
              <a:ext cx="2660650" cy="1746250"/>
              <a:chOff x="2065" y="1473"/>
              <a:chExt cx="1676" cy="1100"/>
            </a:xfrm>
          </p:grpSpPr>
          <p:sp>
            <p:nvSpPr>
              <p:cNvPr id="72" name="Rectangle 26"/>
              <p:cNvSpPr>
                <a:spLocks noChangeArrowheads="1"/>
              </p:cNvSpPr>
              <p:nvPr/>
            </p:nvSpPr>
            <p:spPr bwMode="auto">
              <a:xfrm>
                <a:off x="2509" y="1605"/>
                <a:ext cx="1232" cy="968"/>
              </a:xfrm>
              <a:prstGeom prst="rect">
                <a:avLst/>
              </a:prstGeom>
              <a:solidFill>
                <a:schemeClr val="accent1">
                  <a:alpha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29"/>
              <p:cNvSpPr>
                <a:spLocks noChangeShapeType="1"/>
              </p:cNvSpPr>
              <p:nvPr/>
            </p:nvSpPr>
            <p:spPr bwMode="auto">
              <a:xfrm flipH="1">
                <a:off x="2729" y="1957"/>
                <a:ext cx="88"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30"/>
              <p:cNvSpPr>
                <a:spLocks noChangeShapeType="1"/>
              </p:cNvSpPr>
              <p:nvPr/>
            </p:nvSpPr>
            <p:spPr bwMode="auto">
              <a:xfrm flipH="1">
                <a:off x="2729" y="2045"/>
                <a:ext cx="0" cy="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Oval 31"/>
              <p:cNvSpPr>
                <a:spLocks noChangeArrowheads="1"/>
              </p:cNvSpPr>
              <p:nvPr/>
            </p:nvSpPr>
            <p:spPr bwMode="auto">
              <a:xfrm>
                <a:off x="2773" y="2045"/>
                <a:ext cx="88" cy="88"/>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Text Box 32"/>
              <p:cNvSpPr txBox="1">
                <a:spLocks noChangeArrowheads="1"/>
              </p:cNvSpPr>
              <p:nvPr/>
            </p:nvSpPr>
            <p:spPr bwMode="auto">
              <a:xfrm>
                <a:off x="2817" y="2063"/>
                <a:ext cx="23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O</a:t>
                </a:r>
              </a:p>
            </p:txBody>
          </p:sp>
          <p:sp>
            <p:nvSpPr>
              <p:cNvPr id="77" name="Line 34"/>
              <p:cNvSpPr>
                <a:spLocks noChangeShapeType="1"/>
              </p:cNvSpPr>
              <p:nvPr/>
            </p:nvSpPr>
            <p:spPr bwMode="auto">
              <a:xfrm>
                <a:off x="2421" y="1869"/>
                <a:ext cx="0" cy="616"/>
              </a:xfrm>
              <a:prstGeom prst="line">
                <a:avLst/>
              </a:prstGeom>
              <a:noFill/>
              <a:ln w="9525">
                <a:solidFill>
                  <a:schemeClr val="tx1"/>
                </a:solidFill>
                <a:round/>
                <a:headEnd/>
                <a:tailEnd/>
              </a:ln>
              <a:effectLst/>
              <a:scene3d>
                <a:camera prst="legacyObliqueTopRight"/>
                <a:lightRig rig="legacyFlat3" dir="b"/>
              </a:scene3d>
              <a:sp3d extrusionH="1928800" prstMaterial="legacyMatte">
                <a:bevelT w="13500" h="13500" prst="angle"/>
                <a:bevelB w="13500" h="13500" prst="angle"/>
                <a:extrusionClr>
                  <a:srgbClr val="FFFF00"/>
                </a:extrusionClr>
                <a:contourClr>
                  <a:schemeClr val="tx1"/>
                </a:contourClr>
              </a:sp3d>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78" name="Line 36"/>
              <p:cNvSpPr>
                <a:spLocks noChangeShapeType="1"/>
              </p:cNvSpPr>
              <p:nvPr/>
            </p:nvSpPr>
            <p:spPr bwMode="auto">
              <a:xfrm flipV="1">
                <a:off x="2817" y="1473"/>
                <a:ext cx="0" cy="616"/>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37"/>
              <p:cNvSpPr>
                <a:spLocks noChangeShapeType="1"/>
              </p:cNvSpPr>
              <p:nvPr/>
            </p:nvSpPr>
            <p:spPr bwMode="auto">
              <a:xfrm flipV="1">
                <a:off x="2817" y="1605"/>
                <a:ext cx="0" cy="44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38"/>
              <p:cNvSpPr>
                <a:spLocks noChangeShapeType="1"/>
              </p:cNvSpPr>
              <p:nvPr/>
            </p:nvSpPr>
            <p:spPr bwMode="auto">
              <a:xfrm flipH="1" flipV="1">
                <a:off x="2421" y="1869"/>
                <a:ext cx="396" cy="2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Arc 39"/>
              <p:cNvSpPr>
                <a:spLocks/>
              </p:cNvSpPr>
              <p:nvPr/>
            </p:nvSpPr>
            <p:spPr bwMode="auto">
              <a:xfrm flipH="1">
                <a:off x="2685" y="1913"/>
                <a:ext cx="132" cy="1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Text Box 40"/>
              <p:cNvSpPr txBox="1">
                <a:spLocks noChangeArrowheads="1"/>
              </p:cNvSpPr>
              <p:nvPr/>
            </p:nvSpPr>
            <p:spPr bwMode="auto">
              <a:xfrm>
                <a:off x="2553" y="1668"/>
                <a:ext cx="21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i="1" dirty="0">
                    <a:latin typeface="Times New Roman" panose="02020603050405020304" pitchFamily="18" charset="0"/>
                    <a:sym typeface="Symbol" panose="05050102010706020507" pitchFamily="18" charset="2"/>
                  </a:rPr>
                  <a:t></a:t>
                </a:r>
                <a:endParaRPr kumimoji="1" lang="en-US" altLang="zh-CN" sz="2400" dirty="0">
                  <a:latin typeface="Times New Roman" panose="02020603050405020304" pitchFamily="18" charset="0"/>
                </a:endParaRPr>
              </a:p>
            </p:txBody>
          </p:sp>
          <p:sp>
            <p:nvSpPr>
              <p:cNvPr id="83" name="AutoShape 53"/>
              <p:cNvSpPr>
                <a:spLocks noChangeArrowheads="1"/>
              </p:cNvSpPr>
              <p:nvPr/>
            </p:nvSpPr>
            <p:spPr bwMode="auto">
              <a:xfrm>
                <a:off x="2065" y="1973"/>
                <a:ext cx="240" cy="96"/>
              </a:xfrm>
              <a:prstGeom prst="lef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4" name="Line 35"/>
              <p:cNvSpPr>
                <a:spLocks noChangeShapeType="1"/>
              </p:cNvSpPr>
              <p:nvPr/>
            </p:nvSpPr>
            <p:spPr bwMode="auto">
              <a:xfrm flipH="1">
                <a:off x="2421" y="2089"/>
                <a:ext cx="396" cy="396"/>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5" name="Rectangle 12"/>
            <p:cNvSpPr>
              <a:spLocks noChangeArrowheads="1"/>
            </p:cNvSpPr>
            <p:nvPr/>
          </p:nvSpPr>
          <p:spPr bwMode="auto">
            <a:xfrm>
              <a:off x="4428286" y="1556863"/>
              <a:ext cx="623888" cy="46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solidFill>
                    <a:srgbClr val="0000FF"/>
                  </a:solidFill>
                </a:rPr>
                <a:t>M</a:t>
              </a:r>
              <a:r>
                <a:rPr kumimoji="0" lang="en-US" altLang="zh-CN" sz="2000" b="1" i="1" baseline="-25000" dirty="0">
                  <a:solidFill>
                    <a:srgbClr val="0000FF"/>
                  </a:solidFill>
                </a:rPr>
                <a:t>O</a:t>
              </a:r>
              <a:r>
                <a:rPr kumimoji="0" lang="en-US" altLang="zh-CN" sz="2000" b="1" baseline="-25000" dirty="0">
                  <a:solidFill>
                    <a:srgbClr val="0000FF"/>
                  </a:solidFill>
                </a:rPr>
                <a:t>1</a:t>
              </a:r>
              <a:endParaRPr kumimoji="0" lang="en-US" altLang="zh-CN" sz="2000" dirty="0">
                <a:solidFill>
                  <a:srgbClr val="0000FF"/>
                </a:solidFill>
                <a:latin typeface="宋体" panose="02010600030101010101" pitchFamily="2" charset="-122"/>
              </a:endParaRPr>
            </a:p>
          </p:txBody>
        </p:sp>
        <p:sp>
          <p:nvSpPr>
            <p:cNvPr id="86" name="Rectangle 7"/>
            <p:cNvSpPr>
              <a:spLocks noChangeArrowheads="1"/>
            </p:cNvSpPr>
            <p:nvPr/>
          </p:nvSpPr>
          <p:spPr bwMode="auto">
            <a:xfrm>
              <a:off x="4325964" y="2051430"/>
              <a:ext cx="7175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solidFill>
                    <a:srgbClr val="CC0000"/>
                  </a:solidFill>
                </a:rPr>
                <a:t>F</a:t>
              </a:r>
              <a:r>
                <a:rPr kumimoji="0" lang="en-US" altLang="zh-CN" sz="2000" b="1" i="1" baseline="-25000" dirty="0">
                  <a:solidFill>
                    <a:srgbClr val="CC0000"/>
                  </a:solidFill>
                </a:rPr>
                <a:t>R</a:t>
              </a:r>
              <a:r>
                <a:rPr kumimoji="0" lang="en-US" altLang="zh-CN" sz="2000" dirty="0">
                  <a:solidFill>
                    <a:srgbClr val="CC0000"/>
                  </a:solidFill>
                </a:rPr>
                <a:t>′</a:t>
              </a:r>
            </a:p>
          </p:txBody>
        </p:sp>
        <p:sp>
          <p:nvSpPr>
            <p:cNvPr id="88" name="Rectangle 12"/>
            <p:cNvSpPr>
              <a:spLocks noChangeArrowheads="1"/>
            </p:cNvSpPr>
            <p:nvPr/>
          </p:nvSpPr>
          <p:spPr bwMode="auto">
            <a:xfrm>
              <a:off x="3946632" y="2935781"/>
              <a:ext cx="623888" cy="46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solidFill>
                    <a:srgbClr val="0000FF"/>
                  </a:solidFill>
                </a:rPr>
                <a:t>M</a:t>
              </a:r>
              <a:r>
                <a:rPr kumimoji="0" lang="en-US" altLang="zh-CN" sz="2000" b="1" i="1" baseline="-25000" dirty="0">
                  <a:solidFill>
                    <a:srgbClr val="0000FF"/>
                  </a:solidFill>
                </a:rPr>
                <a:t>O</a:t>
              </a:r>
              <a:r>
                <a:rPr kumimoji="0" lang="en-US" altLang="zh-CN" sz="2000" b="1" baseline="-25000" dirty="0">
                  <a:solidFill>
                    <a:srgbClr val="0000FF"/>
                  </a:solidFill>
                </a:rPr>
                <a:t>2</a:t>
              </a:r>
              <a:endParaRPr kumimoji="0" lang="en-US" altLang="zh-CN" sz="2000" dirty="0">
                <a:solidFill>
                  <a:srgbClr val="0000FF"/>
                </a:solidFill>
                <a:latin typeface="宋体" panose="02010600030101010101" pitchFamily="2" charset="-122"/>
              </a:endParaRPr>
            </a:p>
          </p:txBody>
        </p:sp>
      </p:grpSp>
      <p:grpSp>
        <p:nvGrpSpPr>
          <p:cNvPr id="4" name="组合 3"/>
          <p:cNvGrpSpPr/>
          <p:nvPr/>
        </p:nvGrpSpPr>
        <p:grpSpPr>
          <a:xfrm>
            <a:off x="5903924" y="1718899"/>
            <a:ext cx="2580539" cy="1852613"/>
            <a:chOff x="5903924" y="1718899"/>
            <a:chExt cx="2580539" cy="1852613"/>
          </a:xfrm>
        </p:grpSpPr>
        <p:grpSp>
          <p:nvGrpSpPr>
            <p:cNvPr id="115" name="Group 98"/>
            <p:cNvGrpSpPr>
              <a:grpSpLocks/>
            </p:cNvGrpSpPr>
            <p:nvPr/>
          </p:nvGrpSpPr>
          <p:grpSpPr bwMode="auto">
            <a:xfrm>
              <a:off x="6392138" y="1718899"/>
              <a:ext cx="2057400" cy="1852613"/>
              <a:chOff x="4215" y="2989"/>
              <a:chExt cx="1296" cy="1167"/>
            </a:xfrm>
          </p:grpSpPr>
          <p:sp>
            <p:nvSpPr>
              <p:cNvPr id="116" name="Rectangle 42"/>
              <p:cNvSpPr>
                <a:spLocks noChangeArrowheads="1"/>
              </p:cNvSpPr>
              <p:nvPr/>
            </p:nvSpPr>
            <p:spPr bwMode="auto">
              <a:xfrm>
                <a:off x="4215" y="3168"/>
                <a:ext cx="1296" cy="988"/>
              </a:xfrm>
              <a:prstGeom prst="rect">
                <a:avLst/>
              </a:prstGeom>
              <a:solidFill>
                <a:schemeClr val="accent1">
                  <a:alpha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Oval 43"/>
              <p:cNvSpPr>
                <a:spLocks noChangeArrowheads="1"/>
              </p:cNvSpPr>
              <p:nvPr/>
            </p:nvSpPr>
            <p:spPr bwMode="auto">
              <a:xfrm>
                <a:off x="4455" y="3572"/>
                <a:ext cx="90" cy="90"/>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 name="Line 44"/>
              <p:cNvSpPr>
                <a:spLocks noChangeShapeType="1"/>
              </p:cNvSpPr>
              <p:nvPr/>
            </p:nvSpPr>
            <p:spPr bwMode="auto">
              <a:xfrm flipV="1">
                <a:off x="5081" y="3168"/>
                <a:ext cx="0" cy="449"/>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 name="Text Box 45"/>
              <p:cNvSpPr txBox="1">
                <a:spLocks noChangeArrowheads="1"/>
              </p:cNvSpPr>
              <p:nvPr/>
            </p:nvSpPr>
            <p:spPr bwMode="auto">
              <a:xfrm>
                <a:off x="4232" y="3589"/>
                <a:ext cx="23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O</a:t>
                </a:r>
              </a:p>
            </p:txBody>
          </p:sp>
          <p:sp>
            <p:nvSpPr>
              <p:cNvPr id="120" name="Line 46"/>
              <p:cNvSpPr>
                <a:spLocks noChangeShapeType="1"/>
              </p:cNvSpPr>
              <p:nvPr/>
            </p:nvSpPr>
            <p:spPr bwMode="auto">
              <a:xfrm>
                <a:off x="4500" y="3617"/>
                <a:ext cx="58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 name="Oval 48"/>
              <p:cNvSpPr>
                <a:spLocks noChangeArrowheads="1"/>
              </p:cNvSpPr>
              <p:nvPr/>
            </p:nvSpPr>
            <p:spPr bwMode="auto">
              <a:xfrm>
                <a:off x="5036" y="3572"/>
                <a:ext cx="90" cy="90"/>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Text Box 49"/>
              <p:cNvSpPr txBox="1">
                <a:spLocks noChangeArrowheads="1"/>
              </p:cNvSpPr>
              <p:nvPr/>
            </p:nvSpPr>
            <p:spPr bwMode="auto">
              <a:xfrm>
                <a:off x="5132" y="3544"/>
                <a:ext cx="27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O</a:t>
                </a:r>
                <a:r>
                  <a:rPr kumimoji="1" lang="en-US" altLang="zh-CN" sz="2000" i="1" dirty="0">
                    <a:latin typeface="Times New Roman" panose="02020603050405020304" pitchFamily="18" charset="0"/>
                    <a:sym typeface="Symbol" panose="05050102010706020507" pitchFamily="18" charset="2"/>
                  </a:rPr>
                  <a:t></a:t>
                </a:r>
                <a:endParaRPr kumimoji="1" lang="en-US" altLang="zh-CN" sz="2000" i="1" dirty="0">
                  <a:latin typeface="Times New Roman" panose="02020603050405020304" pitchFamily="18" charset="0"/>
                </a:endParaRPr>
              </a:p>
            </p:txBody>
          </p:sp>
          <p:sp>
            <p:nvSpPr>
              <p:cNvPr id="125" name="Line 51"/>
              <p:cNvSpPr>
                <a:spLocks noChangeShapeType="1"/>
              </p:cNvSpPr>
              <p:nvPr/>
            </p:nvSpPr>
            <p:spPr bwMode="auto">
              <a:xfrm flipV="1">
                <a:off x="4513" y="2989"/>
                <a:ext cx="0" cy="628"/>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6" name="Object 52"/>
              <p:cNvGraphicFramePr>
                <a:graphicFrameLocks noChangeAspect="1"/>
              </p:cNvGraphicFramePr>
              <p:nvPr>
                <p:extLst>
                  <p:ext uri="{D42A27DB-BD31-4B8C-83A1-F6EECF244321}">
                    <p14:modId xmlns:p14="http://schemas.microsoft.com/office/powerpoint/2010/main" val="2033652425"/>
                  </p:ext>
                </p:extLst>
              </p:nvPr>
            </p:nvGraphicFramePr>
            <p:xfrm>
              <a:off x="4563" y="3200"/>
              <a:ext cx="300" cy="222"/>
            </p:xfrm>
            <a:graphic>
              <a:graphicData uri="http://schemas.openxmlformats.org/presentationml/2006/ole">
                <mc:AlternateContent xmlns:mc="http://schemas.openxmlformats.org/markup-compatibility/2006">
                  <mc:Choice xmlns:v="urn:schemas-microsoft-com:vml" Requires="v">
                    <p:oleObj spid="_x0000_s26638" name="公式" r:id="rId3" imgW="558720" imgH="380880" progId="Equation.3">
                      <p:embed/>
                    </p:oleObj>
                  </mc:Choice>
                  <mc:Fallback>
                    <p:oleObj name="公式" r:id="rId3" imgW="558720" imgH="3808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3" y="3200"/>
                            <a:ext cx="300" cy="222"/>
                          </a:xfrm>
                          <a:prstGeom prst="rect">
                            <a:avLst/>
                          </a:prstGeom>
                          <a:noFill/>
                          <a:ln>
                            <a:noFill/>
                          </a:ln>
                          <a:effectLst/>
                        </p:spPr>
                      </p:pic>
                    </p:oleObj>
                  </mc:Fallback>
                </mc:AlternateContent>
              </a:graphicData>
            </a:graphic>
          </p:graphicFrame>
        </p:grpSp>
        <p:sp>
          <p:nvSpPr>
            <p:cNvPr id="127" name="Rectangle 7"/>
            <p:cNvSpPr>
              <a:spLocks noChangeArrowheads="1"/>
            </p:cNvSpPr>
            <p:nvPr/>
          </p:nvSpPr>
          <p:spPr bwMode="auto">
            <a:xfrm>
              <a:off x="7766913" y="1941943"/>
              <a:ext cx="7175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solidFill>
                    <a:srgbClr val="CC0000"/>
                  </a:solidFill>
                </a:rPr>
                <a:t>F</a:t>
              </a:r>
              <a:r>
                <a:rPr kumimoji="0" lang="en-US" altLang="zh-CN" sz="2000" b="1" i="1" baseline="-25000" dirty="0">
                  <a:solidFill>
                    <a:srgbClr val="CC0000"/>
                  </a:solidFill>
                </a:rPr>
                <a:t>R</a:t>
              </a:r>
              <a:r>
                <a:rPr kumimoji="0" lang="en-US" altLang="zh-CN" sz="2000" dirty="0">
                  <a:solidFill>
                    <a:srgbClr val="CC0000"/>
                  </a:solidFill>
                </a:rPr>
                <a:t>′</a:t>
              </a:r>
            </a:p>
          </p:txBody>
        </p:sp>
        <p:sp>
          <p:nvSpPr>
            <p:cNvPr id="128" name="AutoShape 53"/>
            <p:cNvSpPr>
              <a:spLocks noChangeArrowheads="1"/>
            </p:cNvSpPr>
            <p:nvPr/>
          </p:nvSpPr>
          <p:spPr bwMode="auto">
            <a:xfrm>
              <a:off x="5903924" y="2595199"/>
              <a:ext cx="381000" cy="152400"/>
            </a:xfrm>
            <a:prstGeom prst="lef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5" name="组合 4"/>
          <p:cNvGrpSpPr/>
          <p:nvPr/>
        </p:nvGrpSpPr>
        <p:grpSpPr>
          <a:xfrm>
            <a:off x="5979889" y="3884453"/>
            <a:ext cx="2103186" cy="2155826"/>
            <a:chOff x="5979889" y="3884453"/>
            <a:chExt cx="2103186" cy="2155826"/>
          </a:xfrm>
        </p:grpSpPr>
        <p:grpSp>
          <p:nvGrpSpPr>
            <p:cNvPr id="129" name="Group 99"/>
            <p:cNvGrpSpPr>
              <a:grpSpLocks/>
            </p:cNvGrpSpPr>
            <p:nvPr/>
          </p:nvGrpSpPr>
          <p:grpSpPr bwMode="auto">
            <a:xfrm>
              <a:off x="5979889" y="3884453"/>
              <a:ext cx="2057400" cy="2155826"/>
              <a:chOff x="2472" y="2700"/>
              <a:chExt cx="1296" cy="1358"/>
            </a:xfrm>
          </p:grpSpPr>
          <p:sp>
            <p:nvSpPr>
              <p:cNvPr id="130" name="Rectangle 56"/>
              <p:cNvSpPr>
                <a:spLocks noChangeArrowheads="1"/>
              </p:cNvSpPr>
              <p:nvPr/>
            </p:nvSpPr>
            <p:spPr bwMode="auto">
              <a:xfrm>
                <a:off x="2472" y="3104"/>
                <a:ext cx="1296" cy="954"/>
              </a:xfrm>
              <a:prstGeom prst="rect">
                <a:avLst/>
              </a:prstGeom>
              <a:solidFill>
                <a:schemeClr val="accent1">
                  <a:alpha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 name="Oval 57"/>
              <p:cNvSpPr>
                <a:spLocks noChangeArrowheads="1"/>
              </p:cNvSpPr>
              <p:nvPr/>
            </p:nvSpPr>
            <p:spPr bwMode="auto">
              <a:xfrm>
                <a:off x="2712" y="3494"/>
                <a:ext cx="90" cy="87"/>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 name="Text Box 58"/>
              <p:cNvSpPr txBox="1">
                <a:spLocks noChangeArrowheads="1"/>
              </p:cNvSpPr>
              <p:nvPr/>
            </p:nvSpPr>
            <p:spPr bwMode="auto">
              <a:xfrm>
                <a:off x="2500" y="3388"/>
                <a:ext cx="23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O</a:t>
                </a:r>
              </a:p>
            </p:txBody>
          </p:sp>
          <p:sp>
            <p:nvSpPr>
              <p:cNvPr id="134" name="Oval 60"/>
              <p:cNvSpPr>
                <a:spLocks noChangeArrowheads="1"/>
              </p:cNvSpPr>
              <p:nvPr/>
            </p:nvSpPr>
            <p:spPr bwMode="auto">
              <a:xfrm>
                <a:off x="3293" y="3494"/>
                <a:ext cx="90" cy="87"/>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 name="Line 63"/>
              <p:cNvSpPr>
                <a:spLocks noChangeShapeType="1"/>
              </p:cNvSpPr>
              <p:nvPr/>
            </p:nvSpPr>
            <p:spPr bwMode="auto">
              <a:xfrm flipV="1">
                <a:off x="3321" y="2931"/>
                <a:ext cx="0" cy="607"/>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8" name="Object 64"/>
              <p:cNvGraphicFramePr>
                <a:graphicFrameLocks noChangeAspect="1"/>
              </p:cNvGraphicFramePr>
              <p:nvPr>
                <p:extLst>
                  <p:ext uri="{D42A27DB-BD31-4B8C-83A1-F6EECF244321}">
                    <p14:modId xmlns:p14="http://schemas.microsoft.com/office/powerpoint/2010/main" val="2814348761"/>
                  </p:ext>
                </p:extLst>
              </p:nvPr>
            </p:nvGraphicFramePr>
            <p:xfrm>
              <a:off x="3375" y="2848"/>
              <a:ext cx="336" cy="241"/>
            </p:xfrm>
            <a:graphic>
              <a:graphicData uri="http://schemas.openxmlformats.org/presentationml/2006/ole">
                <mc:AlternateContent xmlns:mc="http://schemas.openxmlformats.org/markup-compatibility/2006">
                  <mc:Choice xmlns:v="urn:schemas-microsoft-com:vml" Requires="v">
                    <p:oleObj spid="_x0000_s26639" name="公式" r:id="rId5" imgW="558720" imgH="380880" progId="Equation.3">
                      <p:embed/>
                    </p:oleObj>
                  </mc:Choice>
                  <mc:Fallback>
                    <p:oleObj name="公式" r:id="rId5" imgW="558720" imgH="3808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5" y="2848"/>
                            <a:ext cx="336"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9" name="Line 65"/>
              <p:cNvSpPr>
                <a:spLocks noChangeShapeType="1"/>
              </p:cNvSpPr>
              <p:nvPr/>
            </p:nvSpPr>
            <p:spPr bwMode="auto">
              <a:xfrm flipV="1">
                <a:off x="3325" y="3104"/>
                <a:ext cx="0" cy="43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 name="Line 66"/>
              <p:cNvSpPr>
                <a:spLocks noChangeShapeType="1"/>
              </p:cNvSpPr>
              <p:nvPr/>
            </p:nvSpPr>
            <p:spPr bwMode="auto">
              <a:xfrm>
                <a:off x="2757" y="3538"/>
                <a:ext cx="58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 name="AutoShape 94"/>
              <p:cNvSpPr>
                <a:spLocks noChangeArrowheads="1"/>
              </p:cNvSpPr>
              <p:nvPr/>
            </p:nvSpPr>
            <p:spPr bwMode="auto">
              <a:xfrm rot="5400000">
                <a:off x="2949" y="2772"/>
                <a:ext cx="240" cy="96"/>
              </a:xfrm>
              <a:prstGeom prst="lef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42" name="Text Box 49"/>
            <p:cNvSpPr txBox="1">
              <a:spLocks noChangeArrowheads="1"/>
            </p:cNvSpPr>
            <p:nvPr/>
          </p:nvSpPr>
          <p:spPr bwMode="auto">
            <a:xfrm>
              <a:off x="7398980" y="5078783"/>
              <a:ext cx="4349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O</a:t>
              </a:r>
              <a:r>
                <a:rPr kumimoji="1" lang="en-US" altLang="zh-CN" sz="2000" i="1" dirty="0">
                  <a:latin typeface="Times New Roman" panose="02020603050405020304" pitchFamily="18" charset="0"/>
                  <a:sym typeface="Symbol" panose="05050102010706020507" pitchFamily="18" charset="2"/>
                </a:rPr>
                <a:t></a:t>
              </a:r>
              <a:endParaRPr kumimoji="1" lang="en-US" altLang="zh-CN" sz="2000" i="1" dirty="0">
                <a:latin typeface="Times New Roman" panose="02020603050405020304" pitchFamily="18" charset="0"/>
              </a:endParaRPr>
            </a:p>
          </p:txBody>
        </p:sp>
        <p:sp>
          <p:nvSpPr>
            <p:cNvPr id="143" name="Rectangle 7"/>
            <p:cNvSpPr>
              <a:spLocks noChangeArrowheads="1"/>
            </p:cNvSpPr>
            <p:nvPr/>
          </p:nvSpPr>
          <p:spPr bwMode="auto">
            <a:xfrm>
              <a:off x="7365525" y="4414150"/>
              <a:ext cx="7175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solidFill>
                    <a:srgbClr val="CC0000"/>
                  </a:solidFill>
                </a:rPr>
                <a:t>F</a:t>
              </a:r>
              <a:r>
                <a:rPr kumimoji="0" lang="en-US" altLang="zh-CN" sz="2000" b="1" i="1" baseline="-25000" dirty="0">
                  <a:solidFill>
                    <a:srgbClr val="CC0000"/>
                  </a:solidFill>
                </a:rPr>
                <a:t>R</a:t>
              </a:r>
              <a:r>
                <a:rPr kumimoji="0" lang="en-US" altLang="zh-CN" sz="2000" dirty="0">
                  <a:solidFill>
                    <a:srgbClr val="CC0000"/>
                  </a:solidFill>
                </a:rPr>
                <a:t>′</a:t>
              </a:r>
            </a:p>
          </p:txBody>
        </p:sp>
      </p:grpSp>
      <p:graphicFrame>
        <p:nvGraphicFramePr>
          <p:cNvPr id="144" name="Object 29"/>
          <p:cNvGraphicFramePr>
            <a:graphicFrameLocks noChangeAspect="1"/>
          </p:cNvGraphicFramePr>
          <p:nvPr>
            <p:extLst>
              <p:ext uri="{D42A27DB-BD31-4B8C-83A1-F6EECF244321}">
                <p14:modId xmlns:p14="http://schemas.microsoft.com/office/powerpoint/2010/main" val="3192425386"/>
              </p:ext>
            </p:extLst>
          </p:nvPr>
        </p:nvGraphicFramePr>
        <p:xfrm>
          <a:off x="2070042" y="4063118"/>
          <a:ext cx="2671763" cy="854075"/>
        </p:xfrm>
        <a:graphic>
          <a:graphicData uri="http://schemas.openxmlformats.org/presentationml/2006/ole">
            <mc:AlternateContent xmlns:mc="http://schemas.openxmlformats.org/markup-compatibility/2006">
              <mc:Choice xmlns:v="urn:schemas-microsoft-com:vml" Requires="v">
                <p:oleObj spid="_x0000_s26640" name="Equation" r:id="rId7" imgW="1384200" imgH="444240" progId="Equation.DSMT4">
                  <p:embed/>
                </p:oleObj>
              </mc:Choice>
              <mc:Fallback>
                <p:oleObj name="Equation" r:id="rId7" imgW="1384200" imgH="444240" progId="Equation.DSMT4">
                  <p:embed/>
                  <p:pic>
                    <p:nvPicPr>
                      <p:cNvPr id="0" name=""/>
                      <p:cNvPicPr>
                        <a:picLocks noChangeAspect="1" noChangeArrowheads="1"/>
                      </p:cNvPicPr>
                      <p:nvPr/>
                    </p:nvPicPr>
                    <p:blipFill>
                      <a:blip r:embed="rId8"/>
                      <a:srcRect/>
                      <a:stretch>
                        <a:fillRect/>
                      </a:stretch>
                    </p:blipFill>
                    <p:spPr bwMode="auto">
                      <a:xfrm>
                        <a:off x="2070042" y="4063118"/>
                        <a:ext cx="2671763"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44"/>
                                        </p:tgtEl>
                                        <p:attrNameLst>
                                          <p:attrName>style.visibility</p:attrName>
                                        </p:attrNameLst>
                                      </p:cBhvr>
                                      <p:to>
                                        <p:strVal val="visible"/>
                                      </p:to>
                                    </p:set>
                                    <p:animEffect transition="in" filter="box(out)">
                                      <p:cBhvr>
                                        <p:cTn id="22" dur="500"/>
                                        <p:tgtEl>
                                          <p:spTgt spid="14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additive="base">
                                        <p:cTn id="32" dur="500" fill="hold"/>
                                        <p:tgtEl>
                                          <p:spTgt spid="36"/>
                                        </p:tgtEl>
                                        <p:attrNameLst>
                                          <p:attrName>ppt_x</p:attrName>
                                        </p:attrNameLst>
                                      </p:cBhvr>
                                      <p:tavLst>
                                        <p:tav tm="0">
                                          <p:val>
                                            <p:strVal val="#ppt_x"/>
                                          </p:val>
                                        </p:tav>
                                        <p:tav tm="100000">
                                          <p:val>
                                            <p:strVal val="#ppt_x"/>
                                          </p:val>
                                        </p:tav>
                                      </p:tavLst>
                                    </p:anim>
                                    <p:anim calcmode="lin" valueType="num">
                                      <p:cBhvr additive="base">
                                        <p:cTn id="33"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 Box 5"/>
          <p:cNvSpPr txBox="1">
            <a:spLocks noChangeArrowheads="1"/>
          </p:cNvSpPr>
          <p:nvPr/>
        </p:nvSpPr>
        <p:spPr bwMode="auto">
          <a:xfrm>
            <a:off x="708325" y="533011"/>
            <a:ext cx="56737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4</a:t>
            </a:r>
            <a:r>
              <a:rPr kumimoji="1" lang="zh-CN" altLang="en-US" sz="2800" b="1" dirty="0">
                <a:solidFill>
                  <a:srgbClr val="0000FF"/>
                </a:solidFill>
                <a:latin typeface="黑体" panose="02010609060101010101" pitchFamily="49" charset="-122"/>
                <a:ea typeface="黑体" panose="02010609060101010101" pitchFamily="49" charset="-122"/>
              </a:rPr>
              <a:t>．空间任意力系的合成结果</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sp>
        <p:nvSpPr>
          <p:cNvPr id="93" name="Text Box 5"/>
          <p:cNvSpPr txBox="1">
            <a:spLocks noChangeArrowheads="1"/>
          </p:cNvSpPr>
          <p:nvPr/>
        </p:nvSpPr>
        <p:spPr bwMode="auto">
          <a:xfrm>
            <a:off x="5652120" y="1145610"/>
            <a:ext cx="1133184" cy="46166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黑体" panose="02010609060101010101" pitchFamily="49" charset="-122"/>
                <a:ea typeface="黑体" panose="02010609060101010101" pitchFamily="49" charset="-122"/>
              </a:rPr>
              <a:t>力螺旋</a:t>
            </a:r>
            <a:endParaRPr lang="en-US" altLang="zh-CN" b="1" dirty="0">
              <a:latin typeface="黑体" panose="02010609060101010101" pitchFamily="49" charset="-122"/>
              <a:ea typeface="黑体" panose="02010609060101010101" pitchFamily="49" charset="-122"/>
            </a:endParaRPr>
          </a:p>
        </p:txBody>
      </p:sp>
      <p:grpSp>
        <p:nvGrpSpPr>
          <p:cNvPr id="108" name="Group 99"/>
          <p:cNvGrpSpPr>
            <a:grpSpLocks/>
          </p:cNvGrpSpPr>
          <p:nvPr/>
        </p:nvGrpSpPr>
        <p:grpSpPr bwMode="auto">
          <a:xfrm>
            <a:off x="1291596" y="1316548"/>
            <a:ext cx="2057400" cy="1920876"/>
            <a:chOff x="2472" y="2848"/>
            <a:chExt cx="1296" cy="1210"/>
          </a:xfrm>
        </p:grpSpPr>
        <p:sp>
          <p:nvSpPr>
            <p:cNvPr id="109" name="Rectangle 56"/>
            <p:cNvSpPr>
              <a:spLocks noChangeArrowheads="1"/>
            </p:cNvSpPr>
            <p:nvPr/>
          </p:nvSpPr>
          <p:spPr bwMode="auto">
            <a:xfrm>
              <a:off x="2472" y="3104"/>
              <a:ext cx="1296" cy="954"/>
            </a:xfrm>
            <a:prstGeom prst="rect">
              <a:avLst/>
            </a:prstGeom>
            <a:solidFill>
              <a:schemeClr val="accent1">
                <a:alpha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 name="Oval 57"/>
            <p:cNvSpPr>
              <a:spLocks noChangeArrowheads="1"/>
            </p:cNvSpPr>
            <p:nvPr/>
          </p:nvSpPr>
          <p:spPr bwMode="auto">
            <a:xfrm>
              <a:off x="2712" y="3494"/>
              <a:ext cx="90" cy="87"/>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 name="Text Box 58"/>
            <p:cNvSpPr txBox="1">
              <a:spLocks noChangeArrowheads="1"/>
            </p:cNvSpPr>
            <p:nvPr/>
          </p:nvSpPr>
          <p:spPr bwMode="auto">
            <a:xfrm>
              <a:off x="2500" y="3388"/>
              <a:ext cx="23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O</a:t>
              </a:r>
            </a:p>
          </p:txBody>
        </p:sp>
        <p:sp>
          <p:nvSpPr>
            <p:cNvPr id="112" name="Oval 60"/>
            <p:cNvSpPr>
              <a:spLocks noChangeArrowheads="1"/>
            </p:cNvSpPr>
            <p:nvPr/>
          </p:nvSpPr>
          <p:spPr bwMode="auto">
            <a:xfrm>
              <a:off x="3293" y="3494"/>
              <a:ext cx="90" cy="87"/>
            </a:xfrm>
            <a:prstGeom prst="ellipse">
              <a:avLst/>
            </a:prstGeom>
            <a:solidFill>
              <a:srgbClr val="9966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 name="Line 63"/>
            <p:cNvSpPr>
              <a:spLocks noChangeShapeType="1"/>
            </p:cNvSpPr>
            <p:nvPr/>
          </p:nvSpPr>
          <p:spPr bwMode="auto">
            <a:xfrm flipV="1">
              <a:off x="3321" y="2931"/>
              <a:ext cx="0" cy="607"/>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4" name="Object 64"/>
            <p:cNvGraphicFramePr>
              <a:graphicFrameLocks noChangeAspect="1"/>
            </p:cNvGraphicFramePr>
            <p:nvPr>
              <p:extLst>
                <p:ext uri="{D42A27DB-BD31-4B8C-83A1-F6EECF244321}">
                  <p14:modId xmlns:p14="http://schemas.microsoft.com/office/powerpoint/2010/main" val="1644827208"/>
                </p:ext>
              </p:extLst>
            </p:nvPr>
          </p:nvGraphicFramePr>
          <p:xfrm>
            <a:off x="3375" y="2848"/>
            <a:ext cx="336" cy="241"/>
          </p:xfrm>
          <a:graphic>
            <a:graphicData uri="http://schemas.openxmlformats.org/presentationml/2006/ole">
              <mc:AlternateContent xmlns:mc="http://schemas.openxmlformats.org/markup-compatibility/2006">
                <mc:Choice xmlns:v="urn:schemas-microsoft-com:vml" Requires="v">
                  <p:oleObj spid="_x0000_s27670" name="公式" r:id="rId3" imgW="558720" imgH="380880" progId="Equation.3">
                    <p:embed/>
                  </p:oleObj>
                </mc:Choice>
                <mc:Fallback>
                  <p:oleObj name="公式" r:id="rId3" imgW="558720" imgH="3808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5" y="2848"/>
                          <a:ext cx="336"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 name="Line 65"/>
            <p:cNvSpPr>
              <a:spLocks noChangeShapeType="1"/>
            </p:cNvSpPr>
            <p:nvPr/>
          </p:nvSpPr>
          <p:spPr bwMode="auto">
            <a:xfrm flipV="1">
              <a:off x="3325" y="3104"/>
              <a:ext cx="0" cy="43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Line 66"/>
            <p:cNvSpPr>
              <a:spLocks noChangeShapeType="1"/>
            </p:cNvSpPr>
            <p:nvPr/>
          </p:nvSpPr>
          <p:spPr bwMode="auto">
            <a:xfrm>
              <a:off x="2757" y="3538"/>
              <a:ext cx="58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8" name="Text Box 49"/>
          <p:cNvSpPr txBox="1">
            <a:spLocks noChangeArrowheads="1"/>
          </p:cNvSpPr>
          <p:nvPr/>
        </p:nvSpPr>
        <p:spPr bwMode="auto">
          <a:xfrm>
            <a:off x="2710687" y="2275928"/>
            <a:ext cx="4349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i="1" dirty="0">
                <a:latin typeface="Times New Roman" panose="02020603050405020304" pitchFamily="18" charset="0"/>
              </a:rPr>
              <a:t>O</a:t>
            </a:r>
            <a:r>
              <a:rPr kumimoji="1" lang="en-US" altLang="zh-CN" sz="2000" i="1" dirty="0">
                <a:latin typeface="Times New Roman" panose="02020603050405020304" pitchFamily="18" charset="0"/>
                <a:sym typeface="Symbol" panose="05050102010706020507" pitchFamily="18" charset="2"/>
              </a:rPr>
              <a:t></a:t>
            </a:r>
            <a:endParaRPr kumimoji="1" lang="en-US" altLang="zh-CN" sz="2000" i="1" dirty="0">
              <a:latin typeface="Times New Roman" panose="02020603050405020304" pitchFamily="18" charset="0"/>
            </a:endParaRPr>
          </a:p>
        </p:txBody>
      </p:sp>
      <p:sp>
        <p:nvSpPr>
          <p:cNvPr id="119" name="Rectangle 7"/>
          <p:cNvSpPr>
            <a:spLocks noChangeArrowheads="1"/>
          </p:cNvSpPr>
          <p:nvPr/>
        </p:nvSpPr>
        <p:spPr bwMode="auto">
          <a:xfrm>
            <a:off x="2677232" y="1611295"/>
            <a:ext cx="7175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kumimoji="0" lang="en-US" altLang="zh-CN" sz="2000" b="1" i="1" dirty="0">
                <a:solidFill>
                  <a:srgbClr val="CC0000"/>
                </a:solidFill>
              </a:rPr>
              <a:t>F</a:t>
            </a:r>
            <a:r>
              <a:rPr kumimoji="0" lang="en-US" altLang="zh-CN" sz="2000" b="1" i="1" baseline="-25000" dirty="0">
                <a:solidFill>
                  <a:srgbClr val="CC0000"/>
                </a:solidFill>
              </a:rPr>
              <a:t>R</a:t>
            </a:r>
            <a:r>
              <a:rPr kumimoji="0" lang="en-US" altLang="zh-CN" sz="2000" dirty="0">
                <a:solidFill>
                  <a:srgbClr val="CC0000"/>
                </a:solidFill>
              </a:rPr>
              <a:t>′</a:t>
            </a:r>
          </a:p>
        </p:txBody>
      </p:sp>
      <p:grpSp>
        <p:nvGrpSpPr>
          <p:cNvPr id="91" name="Group 31"/>
          <p:cNvGrpSpPr>
            <a:grpSpLocks/>
          </p:cNvGrpSpPr>
          <p:nvPr/>
        </p:nvGrpSpPr>
        <p:grpSpPr bwMode="auto">
          <a:xfrm>
            <a:off x="1214690" y="1316579"/>
            <a:ext cx="1763713" cy="1774825"/>
            <a:chOff x="3901" y="2658"/>
            <a:chExt cx="1111" cy="1118"/>
          </a:xfrm>
        </p:grpSpPr>
        <p:sp>
          <p:nvSpPr>
            <p:cNvPr id="102" name="Line 32"/>
            <p:cNvSpPr>
              <a:spLocks noChangeShapeType="1"/>
            </p:cNvSpPr>
            <p:nvPr/>
          </p:nvSpPr>
          <p:spPr bwMode="auto">
            <a:xfrm flipV="1">
              <a:off x="4241" y="2758"/>
              <a:ext cx="0" cy="567"/>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3" name="Line 33"/>
            <p:cNvSpPr>
              <a:spLocks noChangeAspect="1" noChangeShapeType="1"/>
            </p:cNvSpPr>
            <p:nvPr/>
          </p:nvSpPr>
          <p:spPr bwMode="auto">
            <a:xfrm rot="317549" flipH="1">
              <a:off x="3901" y="3313"/>
              <a:ext cx="331" cy="363"/>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4" name="Line 34"/>
            <p:cNvSpPr>
              <a:spLocks noChangeShapeType="1"/>
            </p:cNvSpPr>
            <p:nvPr/>
          </p:nvSpPr>
          <p:spPr bwMode="auto">
            <a:xfrm>
              <a:off x="4241" y="3339"/>
              <a:ext cx="589"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5" name="Text Box 35"/>
            <p:cNvSpPr txBox="1">
              <a:spLocks noChangeArrowheads="1"/>
            </p:cNvSpPr>
            <p:nvPr/>
          </p:nvSpPr>
          <p:spPr bwMode="auto">
            <a:xfrm>
              <a:off x="3958" y="3488"/>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dirty="0"/>
                <a:t>x</a:t>
              </a:r>
            </a:p>
          </p:txBody>
        </p:sp>
        <p:sp>
          <p:nvSpPr>
            <p:cNvPr id="106" name="Text Box 36"/>
            <p:cNvSpPr txBox="1">
              <a:spLocks noChangeArrowheads="1"/>
            </p:cNvSpPr>
            <p:nvPr/>
          </p:nvSpPr>
          <p:spPr bwMode="auto">
            <a:xfrm>
              <a:off x="4269" y="2658"/>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dirty="0"/>
                <a:t>z</a:t>
              </a:r>
            </a:p>
          </p:txBody>
        </p:sp>
        <p:sp>
          <p:nvSpPr>
            <p:cNvPr id="107" name="Text Box 37"/>
            <p:cNvSpPr txBox="1">
              <a:spLocks noChangeArrowheads="1"/>
            </p:cNvSpPr>
            <p:nvPr/>
          </p:nvSpPr>
          <p:spPr bwMode="auto">
            <a:xfrm>
              <a:off x="4604" y="3294"/>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a:t>y</a:t>
              </a:r>
            </a:p>
          </p:txBody>
        </p:sp>
      </p:grpSp>
      <p:grpSp>
        <p:nvGrpSpPr>
          <p:cNvPr id="3" name="组合 2"/>
          <p:cNvGrpSpPr/>
          <p:nvPr/>
        </p:nvGrpSpPr>
        <p:grpSpPr>
          <a:xfrm>
            <a:off x="973561" y="3602295"/>
            <a:ext cx="5181430" cy="1016529"/>
            <a:chOff x="973561" y="3602295"/>
            <a:chExt cx="5181430" cy="1016529"/>
          </a:xfrm>
        </p:grpSpPr>
        <p:graphicFrame>
          <p:nvGraphicFramePr>
            <p:cNvPr id="121" name="Object 29"/>
            <p:cNvGraphicFramePr>
              <a:graphicFrameLocks noChangeAspect="1"/>
            </p:cNvGraphicFramePr>
            <p:nvPr>
              <p:extLst>
                <p:ext uri="{D42A27DB-BD31-4B8C-83A1-F6EECF244321}">
                  <p14:modId xmlns:p14="http://schemas.microsoft.com/office/powerpoint/2010/main" val="2002409693"/>
                </p:ext>
              </p:extLst>
            </p:nvPr>
          </p:nvGraphicFramePr>
          <p:xfrm>
            <a:off x="2330703" y="4179087"/>
            <a:ext cx="3824288" cy="439737"/>
          </p:xfrm>
          <a:graphic>
            <a:graphicData uri="http://schemas.openxmlformats.org/presentationml/2006/ole">
              <mc:AlternateContent xmlns:mc="http://schemas.openxmlformats.org/markup-compatibility/2006">
                <mc:Choice xmlns:v="urn:schemas-microsoft-com:vml" Requires="v">
                  <p:oleObj spid="_x0000_s27671" name="Equation" r:id="rId5" imgW="1981080" imgH="228600" progId="Equation.DSMT4">
                    <p:embed/>
                  </p:oleObj>
                </mc:Choice>
                <mc:Fallback>
                  <p:oleObj name="Equation" r:id="rId5" imgW="1981080" imgH="228600" progId="Equation.DSMT4">
                    <p:embed/>
                    <p:pic>
                      <p:nvPicPr>
                        <p:cNvPr id="0" name=""/>
                        <p:cNvPicPr>
                          <a:picLocks noChangeAspect="1" noChangeArrowheads="1"/>
                        </p:cNvPicPr>
                        <p:nvPr/>
                      </p:nvPicPr>
                      <p:blipFill>
                        <a:blip r:embed="rId6"/>
                        <a:srcRect/>
                        <a:stretch>
                          <a:fillRect/>
                        </a:stretch>
                      </p:blipFill>
                      <p:spPr bwMode="auto">
                        <a:xfrm>
                          <a:off x="2330703" y="4179087"/>
                          <a:ext cx="3824288"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 name="文本框 122"/>
            <p:cNvSpPr txBox="1"/>
            <p:nvPr/>
          </p:nvSpPr>
          <p:spPr>
            <a:xfrm>
              <a:off x="973561" y="3602295"/>
              <a:ext cx="3242746" cy="461665"/>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力螺旋作用线的方程</a:t>
              </a:r>
            </a:p>
          </p:txBody>
        </p:sp>
      </p:grpSp>
      <p:grpSp>
        <p:nvGrpSpPr>
          <p:cNvPr id="2" name="组合 1"/>
          <p:cNvGrpSpPr/>
          <p:nvPr/>
        </p:nvGrpSpPr>
        <p:grpSpPr>
          <a:xfrm>
            <a:off x="3706033" y="2759650"/>
            <a:ext cx="3693580" cy="854075"/>
            <a:chOff x="3706033" y="2759650"/>
            <a:chExt cx="3693580" cy="854075"/>
          </a:xfrm>
        </p:grpSpPr>
        <p:sp>
          <p:nvSpPr>
            <p:cNvPr id="120" name="文本框 119"/>
            <p:cNvSpPr txBox="1"/>
            <p:nvPr/>
          </p:nvSpPr>
          <p:spPr>
            <a:xfrm>
              <a:off x="3706033" y="2899316"/>
              <a:ext cx="2160198" cy="461665"/>
            </a:xfrm>
            <a:prstGeom prst="rect">
              <a:avLst/>
            </a:prstGeom>
            <a:noFill/>
          </p:spPr>
          <p:txBody>
            <a:bodyPr wrap="square" rtlCol="0">
              <a:spAutoFit/>
            </a:bodyPr>
            <a:lstStyle/>
            <a:p>
              <a:r>
                <a:rPr lang="en-US" altLang="zh-CN" i="1" dirty="0"/>
                <a:t>O</a:t>
              </a:r>
              <a:r>
                <a:rPr lang="en-US" altLang="zh-CN" dirty="0">
                  <a:sym typeface="Symbol" panose="05050102010706020507" pitchFamily="18" charset="2"/>
                </a:rPr>
                <a:t></a:t>
              </a:r>
              <a:r>
                <a:rPr lang="zh-CN" altLang="en-US" b="1" dirty="0">
                  <a:latin typeface="楷体" panose="02010609060101010101" pitchFamily="49" charset="-122"/>
                  <a:ea typeface="楷体" panose="02010609060101010101" pitchFamily="49" charset="-122"/>
                </a:rPr>
                <a:t>点的位置</a:t>
              </a:r>
            </a:p>
          </p:txBody>
        </p:sp>
        <p:graphicFrame>
          <p:nvGraphicFramePr>
            <p:cNvPr id="124" name="Object 29"/>
            <p:cNvGraphicFramePr>
              <a:graphicFrameLocks noChangeAspect="1"/>
            </p:cNvGraphicFramePr>
            <p:nvPr>
              <p:extLst>
                <p:ext uri="{D42A27DB-BD31-4B8C-83A1-F6EECF244321}">
                  <p14:modId xmlns:p14="http://schemas.microsoft.com/office/powerpoint/2010/main" val="769578190"/>
                </p:ext>
              </p:extLst>
            </p:nvPr>
          </p:nvGraphicFramePr>
          <p:xfrm>
            <a:off x="5535888" y="2759650"/>
            <a:ext cx="1863725" cy="854075"/>
          </p:xfrm>
          <a:graphic>
            <a:graphicData uri="http://schemas.openxmlformats.org/presentationml/2006/ole">
              <mc:AlternateContent xmlns:mc="http://schemas.openxmlformats.org/markup-compatibility/2006">
                <mc:Choice xmlns:v="urn:schemas-microsoft-com:vml" Requires="v">
                  <p:oleObj spid="_x0000_s27672" name="Equation" r:id="rId7" imgW="965160" imgH="444240" progId="Equation.DSMT4">
                    <p:embed/>
                  </p:oleObj>
                </mc:Choice>
                <mc:Fallback>
                  <p:oleObj name="Equation" r:id="rId7" imgW="965160" imgH="444240" progId="Equation.DSMT4">
                    <p:embed/>
                    <p:pic>
                      <p:nvPicPr>
                        <p:cNvPr id="0" name=""/>
                        <p:cNvPicPr>
                          <a:picLocks noChangeAspect="1" noChangeArrowheads="1"/>
                        </p:cNvPicPr>
                        <p:nvPr/>
                      </p:nvPicPr>
                      <p:blipFill>
                        <a:blip r:embed="rId8"/>
                        <a:srcRect/>
                        <a:stretch>
                          <a:fillRect/>
                        </a:stretch>
                      </p:blipFill>
                      <p:spPr bwMode="auto">
                        <a:xfrm>
                          <a:off x="5535888" y="2759650"/>
                          <a:ext cx="1863725"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25" name="Object 29"/>
          <p:cNvGraphicFramePr>
            <a:graphicFrameLocks noChangeAspect="1"/>
          </p:cNvGraphicFramePr>
          <p:nvPr>
            <p:extLst>
              <p:ext uri="{D42A27DB-BD31-4B8C-83A1-F6EECF244321}">
                <p14:modId xmlns:p14="http://schemas.microsoft.com/office/powerpoint/2010/main" val="951280536"/>
              </p:ext>
            </p:extLst>
          </p:nvPr>
        </p:nvGraphicFramePr>
        <p:xfrm>
          <a:off x="973561" y="4759126"/>
          <a:ext cx="7621587" cy="928688"/>
        </p:xfrm>
        <a:graphic>
          <a:graphicData uri="http://schemas.openxmlformats.org/presentationml/2006/ole">
            <mc:AlternateContent xmlns:mc="http://schemas.openxmlformats.org/markup-compatibility/2006">
              <mc:Choice xmlns:v="urn:schemas-microsoft-com:vml" Requires="v">
                <p:oleObj spid="_x0000_s27673" name="Equation" r:id="rId9" imgW="3949560" imgH="482400" progId="Equation.DSMT4">
                  <p:embed/>
                </p:oleObj>
              </mc:Choice>
              <mc:Fallback>
                <p:oleObj name="Equation" r:id="rId9" imgW="3949560" imgH="482400" progId="Equation.DSMT4">
                  <p:embed/>
                  <p:pic>
                    <p:nvPicPr>
                      <p:cNvPr id="0" name=""/>
                      <p:cNvPicPr>
                        <a:picLocks noChangeAspect="1" noChangeArrowheads="1"/>
                      </p:cNvPicPr>
                      <p:nvPr/>
                    </p:nvPicPr>
                    <p:blipFill>
                      <a:blip r:embed="rId10"/>
                      <a:srcRect/>
                      <a:stretch>
                        <a:fillRect/>
                      </a:stretch>
                    </p:blipFill>
                    <p:spPr bwMode="auto">
                      <a:xfrm>
                        <a:off x="973561" y="4759126"/>
                        <a:ext cx="7621587"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 name="Object 29"/>
          <p:cNvGraphicFramePr>
            <a:graphicFrameLocks noChangeAspect="1"/>
          </p:cNvGraphicFramePr>
          <p:nvPr>
            <p:extLst>
              <p:ext uri="{D42A27DB-BD31-4B8C-83A1-F6EECF244321}">
                <p14:modId xmlns:p14="http://schemas.microsoft.com/office/powerpoint/2010/main" val="902832483"/>
              </p:ext>
            </p:extLst>
          </p:nvPr>
        </p:nvGraphicFramePr>
        <p:xfrm>
          <a:off x="4965159" y="1790448"/>
          <a:ext cx="2379663" cy="854075"/>
        </p:xfrm>
        <a:graphic>
          <a:graphicData uri="http://schemas.openxmlformats.org/presentationml/2006/ole">
            <mc:AlternateContent xmlns:mc="http://schemas.openxmlformats.org/markup-compatibility/2006">
              <mc:Choice xmlns:v="urn:schemas-microsoft-com:vml" Requires="v">
                <p:oleObj spid="_x0000_s27674" name="Equation" r:id="rId11" imgW="1231560" imgH="444240" progId="Equation.DSMT4">
                  <p:embed/>
                </p:oleObj>
              </mc:Choice>
              <mc:Fallback>
                <p:oleObj name="Equation" r:id="rId11" imgW="1231560" imgH="444240" progId="Equation.DSMT4">
                  <p:embed/>
                  <p:pic>
                    <p:nvPicPr>
                      <p:cNvPr id="0" name=""/>
                      <p:cNvPicPr>
                        <a:picLocks noChangeAspect="1" noChangeArrowheads="1"/>
                      </p:cNvPicPr>
                      <p:nvPr/>
                    </p:nvPicPr>
                    <p:blipFill>
                      <a:blip r:embed="rId12"/>
                      <a:srcRect/>
                      <a:stretch>
                        <a:fillRect/>
                      </a:stretch>
                    </p:blipFill>
                    <p:spPr bwMode="auto">
                      <a:xfrm>
                        <a:off x="4965159" y="1790448"/>
                        <a:ext cx="2379663"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05079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additive="base">
                                        <p:cTn id="7" dur="500"/>
                                        <p:tgtEl>
                                          <p:spTgt spid="91"/>
                                        </p:tgtEl>
                                        <p:attrNameLst>
                                          <p:attrName>ppt_x</p:attrName>
                                        </p:attrNameLst>
                                      </p:cBhvr>
                                      <p:tavLst>
                                        <p:tav tm="0">
                                          <p:val>
                                            <p:strVal val="#ppt_x-#ppt_w*1.125000"/>
                                          </p:val>
                                        </p:tav>
                                        <p:tav tm="100000">
                                          <p:val>
                                            <p:strVal val="#ppt_x"/>
                                          </p:val>
                                        </p:tav>
                                      </p:tavLst>
                                    </p:anim>
                                    <p:animEffect transition="in" filter="wipe(right)">
                                      <p:cBhvr>
                                        <p:cTn id="8" dur="500"/>
                                        <p:tgtEl>
                                          <p:spTgt spid="91"/>
                                        </p:tgtEl>
                                      </p:cBhvr>
                                    </p:animEffect>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box(out)">
                                      <p:cBhvr>
                                        <p:cTn id="13" dur="500"/>
                                        <p:tgtEl>
                                          <p:spTgt spid="126"/>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32"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circle(ou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125"/>
                                        </p:tgtEl>
                                        <p:attrNameLst>
                                          <p:attrName>style.visibility</p:attrName>
                                        </p:attrNameLst>
                                      </p:cBhvr>
                                      <p:to>
                                        <p:strVal val="visible"/>
                                      </p:to>
                                    </p:set>
                                    <p:animEffect transition="in" filter="box(out)">
                                      <p:cBhvr>
                                        <p:cTn id="28"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ext Box 5"/>
          <p:cNvSpPr txBox="1">
            <a:spLocks noChangeArrowheads="1"/>
          </p:cNvSpPr>
          <p:nvPr/>
        </p:nvSpPr>
        <p:spPr bwMode="auto">
          <a:xfrm>
            <a:off x="898074" y="5315179"/>
            <a:ext cx="2519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FF3300"/>
                </a:solidFill>
                <a:latin typeface="楷体" panose="02010609060101010101" pitchFamily="49" charset="-122"/>
                <a:ea typeface="楷体" panose="02010609060101010101" pitchFamily="49" charset="-122"/>
              </a:rPr>
              <a:t>工程中的力螺旋</a:t>
            </a:r>
          </a:p>
        </p:txBody>
      </p:sp>
      <p:sp>
        <p:nvSpPr>
          <p:cNvPr id="4" name="Text Box 5"/>
          <p:cNvSpPr txBox="1">
            <a:spLocks noChangeArrowheads="1"/>
          </p:cNvSpPr>
          <p:nvPr/>
        </p:nvSpPr>
        <p:spPr bwMode="auto">
          <a:xfrm>
            <a:off x="689330" y="496900"/>
            <a:ext cx="56737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4</a:t>
            </a:r>
            <a:r>
              <a:rPr kumimoji="1" lang="zh-CN" altLang="en-US" sz="2800" b="1" dirty="0">
                <a:solidFill>
                  <a:srgbClr val="0000FF"/>
                </a:solidFill>
                <a:latin typeface="黑体" panose="02010609060101010101" pitchFamily="49" charset="-122"/>
                <a:ea typeface="黑体" panose="02010609060101010101" pitchFamily="49" charset="-122"/>
              </a:rPr>
              <a:t>．空间任意力系的合成结果</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pic>
        <p:nvPicPr>
          <p:cNvPr id="2" name="力螺旋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539552" y="1196752"/>
            <a:ext cx="4128120" cy="3096090"/>
          </a:xfrm>
          <a:prstGeom prst="rect">
            <a:avLst/>
          </a:prstGeom>
        </p:spPr>
      </p:pic>
      <p:pic>
        <p:nvPicPr>
          <p:cNvPr id="3" name="力螺旋2">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9"/>
          <a:stretch>
            <a:fillRect/>
          </a:stretch>
        </p:blipFill>
        <p:spPr>
          <a:xfrm>
            <a:off x="3419872" y="3573016"/>
            <a:ext cx="4176464" cy="3132348"/>
          </a:xfrm>
          <a:prstGeom prst="rect">
            <a:avLst/>
          </a:prstGeom>
        </p:spPr>
      </p:pic>
      <p:pic>
        <p:nvPicPr>
          <p:cNvPr id="5" name="力螺旋3">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10"/>
          <a:stretch>
            <a:fillRect/>
          </a:stretch>
        </p:blipFill>
        <p:spPr>
          <a:xfrm>
            <a:off x="4932040" y="1196752"/>
            <a:ext cx="3828256" cy="2871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plus(out)">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3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plus(out)">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3" restart="whenNotActive" fill="hold" evtFilter="cancelBubble" nodeType="interactiveSeq">
                <p:stCondLst>
                  <p:cond evt="onClick" delay="0">
                    <p:tgtEl>
                      <p:spTgt spid="2"/>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
                                        </p:tgtEl>
                                      </p:cBhvr>
                                    </p:cmd>
                                  </p:childTnLst>
                                </p:cTn>
                              </p:par>
                            </p:childTnLst>
                          </p:cTn>
                        </p:par>
                      </p:childTnLst>
                    </p:cTn>
                  </p:par>
                </p:childTnLst>
              </p:cTn>
              <p:nextCondLst>
                <p:cond evt="onClick" delay="0">
                  <p:tgtEl>
                    <p:spTgt spid="2"/>
                  </p:tgtEl>
                </p:cond>
              </p:nextCondLst>
            </p:seq>
            <p:video>
              <p:cMediaNode vol="80000">
                <p:cTn id="18" fill="hold" display="0">
                  <p:stCondLst>
                    <p:cond delay="indefinite"/>
                  </p:stCondLst>
                </p:cTn>
                <p:tgtEl>
                  <p:spTgt spid="2"/>
                </p:tgtEl>
              </p:cMediaNode>
            </p:video>
            <p:seq concurrent="1" nextAc="seek">
              <p:cTn id="19" restart="whenNotActive" fill="hold" evtFilter="cancelBubble" nodeType="interactiveSeq">
                <p:stCondLst>
                  <p:cond evt="onClick" delay="0">
                    <p:tgtEl>
                      <p:spTgt spid="3"/>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3"/>
                                        </p:tgtEl>
                                      </p:cBhvr>
                                    </p:cmd>
                                  </p:childTnLst>
                                </p:cTn>
                              </p:par>
                            </p:childTnLst>
                          </p:cTn>
                        </p:par>
                      </p:childTnLst>
                    </p:cTn>
                  </p:par>
                </p:childTnLst>
              </p:cTn>
              <p:nextCondLst>
                <p:cond evt="onClick" delay="0">
                  <p:tgtEl>
                    <p:spTgt spid="3"/>
                  </p:tgtEl>
                </p:cond>
              </p:nextCondLst>
            </p:seq>
            <p:video>
              <p:cMediaNode vol="80000">
                <p:cTn id="24" fill="hold" display="0">
                  <p:stCondLst>
                    <p:cond delay="indefinite"/>
                  </p:stCondLst>
                </p:cTn>
                <p:tgtEl>
                  <p:spTgt spid="3"/>
                </p:tgtEl>
              </p:cMediaNode>
            </p:video>
            <p:seq concurrent="1" nextAc="seek">
              <p:cTn id="25" restart="whenNotActive" fill="hold" evtFilter="cancelBubble" nodeType="interactiveSeq">
                <p:stCondLst>
                  <p:cond evt="onClick" delay="0">
                    <p:tgtEl>
                      <p:spTgt spid="5"/>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5"/>
                                        </p:tgtEl>
                                      </p:cBhvr>
                                    </p:cmd>
                                  </p:childTnLst>
                                </p:cTn>
                              </p:par>
                            </p:childTnLst>
                          </p:cTn>
                        </p:par>
                      </p:childTnLst>
                    </p:cTn>
                  </p:par>
                </p:childTnLst>
              </p:cTn>
              <p:nextCondLst>
                <p:cond evt="onClick" delay="0">
                  <p:tgtEl>
                    <p:spTgt spid="5"/>
                  </p:tgtEl>
                </p:cond>
              </p:nextCondLst>
            </p:seq>
            <p:video>
              <p:cMediaNode vol="80000">
                <p:cTn id="30" fill="hold" display="0">
                  <p:stCondLst>
                    <p:cond delay="indefinite"/>
                  </p:stCondLst>
                </p:cTn>
                <p:tgtEl>
                  <p:spTgt spid="5"/>
                </p:tgtEl>
              </p:cMediaNode>
            </p:vide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467544" y="579329"/>
            <a:ext cx="835292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zh-CN" altLang="en-US" sz="2000" b="1" i="0" u="none" strike="noStrike" cap="none" normalizeH="0" baseline="0" dirty="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例</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边长</a:t>
            </a:r>
            <a:r>
              <a:rPr kumimoji="0" lang="en-US" altLang="zh-CN" sz="200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1m</a:t>
            </a:r>
            <a:r>
              <a:rPr kumimoji="0" lang="zh-CN" altLang="en-US"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的正方体，受力如图所示。已知</a:t>
            </a:r>
            <a:r>
              <a:rPr kumimoji="0" lang="en-US" altLang="zh-CN" sz="200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i="0" u="none" strike="noStrike" cap="none" normalizeH="0" baseline="-3000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i="0" u="none" strike="noStrike" cap="none" normalizeH="0" baseline="-3000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i="0" u="none" strike="noStrike" cap="none" normalizeH="0" baseline="-3000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3kN</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i="0" u="none" strike="noStrike" cap="none" normalizeH="0" baseline="-3000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4</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i="1"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F</a:t>
            </a:r>
            <a:r>
              <a:rPr kumimoji="0" lang="en-US" altLang="zh-CN" sz="2000" i="0" u="none" strike="noStrike" cap="none" normalizeH="0" baseline="-3000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dirty="0" err="1">
                <a:latin typeface="Times New Roman" panose="02020603050405020304" pitchFamily="18" charset="0"/>
                <a:ea typeface="楷体" panose="02010609060101010101" pitchFamily="49" charset="-122"/>
                <a:cs typeface="Times New Roman" panose="02020603050405020304" pitchFamily="18" charset="0"/>
              </a:rPr>
              <a:t>kN</a:t>
            </a:r>
            <a:r>
              <a:rPr kumimoji="0"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1" dirty="0">
                <a:latin typeface="Times New Roman" panose="02020603050405020304" pitchFamily="18" charset="0"/>
                <a:ea typeface="楷体" panose="02010609060101010101" pitchFamily="49" charset="-122"/>
                <a:cs typeface="Times New Roman" panose="02020603050405020304" pitchFamily="18" charset="0"/>
              </a:rPr>
              <a:t>求</a:t>
            </a:r>
            <a:r>
              <a:rPr kumimoji="0" lang="en-US" altLang="zh-CN" sz="2000" dirty="0">
                <a:latin typeface="Times New Roman" panose="02020603050405020304" pitchFamily="18" charset="0"/>
                <a:ea typeface="楷体" panose="02010609060101010101" pitchFamily="49" charset="-122"/>
                <a:cs typeface="Times New Roman" panose="02020603050405020304" pitchFamily="18" charset="0"/>
              </a:rPr>
              <a:t>(1)</a:t>
            </a:r>
            <a:r>
              <a:rPr kumimoji="0" lang="zh-CN" altLang="en-US" sz="2000" b="1" dirty="0">
                <a:latin typeface="Times New Roman" panose="02020603050405020304" pitchFamily="18" charset="0"/>
                <a:ea typeface="楷体" panose="02010609060101010101" pitchFamily="49" charset="-122"/>
                <a:cs typeface="Times New Roman" panose="02020603050405020304" pitchFamily="18" charset="0"/>
              </a:rPr>
              <a:t>该力系向</a:t>
            </a:r>
            <a:r>
              <a:rPr kumimoji="0" lang="en-US" altLang="zh-CN" sz="2000" i="1" dirty="0">
                <a:latin typeface="Times New Roman" panose="02020603050405020304" pitchFamily="18" charset="0"/>
                <a:ea typeface="楷体" panose="02010609060101010101" pitchFamily="49" charset="-122"/>
                <a:cs typeface="Times New Roman" panose="02020603050405020304" pitchFamily="18" charset="0"/>
              </a:rPr>
              <a:t>A</a:t>
            </a:r>
            <a:r>
              <a:rPr kumimoji="0" lang="zh-CN" altLang="en-US" sz="2000" b="1" dirty="0">
                <a:latin typeface="Times New Roman" panose="02020603050405020304" pitchFamily="18" charset="0"/>
                <a:ea typeface="楷体" panose="02010609060101010101" pitchFamily="49" charset="-122"/>
                <a:cs typeface="Times New Roman" panose="02020603050405020304" pitchFamily="18" charset="0"/>
              </a:rPr>
              <a:t>点简化的结果；</a:t>
            </a:r>
            <a:r>
              <a:rPr kumimoji="0"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2000" b="1" dirty="0">
                <a:latin typeface="Times New Roman" panose="02020603050405020304" pitchFamily="18" charset="0"/>
                <a:ea typeface="楷体" panose="02010609060101010101" pitchFamily="49" charset="-122"/>
                <a:cs typeface="Times New Roman" panose="02020603050405020304" pitchFamily="18" charset="0"/>
              </a:rPr>
              <a:t>图示力系简化的最终结果。 </a:t>
            </a:r>
          </a:p>
        </p:txBody>
      </p:sp>
      <p:graphicFrame>
        <p:nvGraphicFramePr>
          <p:cNvPr id="3" name="对象 2"/>
          <p:cNvGraphicFramePr>
            <a:graphicFrameLocks noChangeAspect="1"/>
          </p:cNvGraphicFramePr>
          <p:nvPr/>
        </p:nvGraphicFramePr>
        <p:xfrm>
          <a:off x="8045016" y="587707"/>
          <a:ext cx="475388" cy="341685"/>
        </p:xfrm>
        <a:graphic>
          <a:graphicData uri="http://schemas.openxmlformats.org/presentationml/2006/ole">
            <mc:AlternateContent xmlns:mc="http://schemas.openxmlformats.org/markup-compatibility/2006">
              <mc:Choice xmlns:v="urn:schemas-microsoft-com:vml" Requires="v">
                <p:oleObj spid="_x0000_s28686" name="Equation" r:id="rId3" imgW="304536" imgH="215713" progId="Equation.DSMT4">
                  <p:embed/>
                </p:oleObj>
              </mc:Choice>
              <mc:Fallback>
                <p:oleObj name="Equation" r:id="rId3" imgW="304536" imgH="215713"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5016" y="587707"/>
                        <a:ext cx="475388" cy="341685"/>
                      </a:xfrm>
                      <a:prstGeom prst="rect">
                        <a:avLst/>
                      </a:prstGeom>
                      <a:noFill/>
                    </p:spPr>
                  </p:pic>
                </p:oleObj>
              </mc:Fallback>
            </mc:AlternateContent>
          </a:graphicData>
        </a:graphic>
      </p:graphicFrame>
      <p:grpSp>
        <p:nvGrpSpPr>
          <p:cNvPr id="66" name="Group 1486"/>
          <p:cNvGrpSpPr>
            <a:grpSpLocks noChangeAspect="1"/>
          </p:cNvGrpSpPr>
          <p:nvPr/>
        </p:nvGrpSpPr>
        <p:grpSpPr bwMode="auto">
          <a:xfrm>
            <a:off x="6356207" y="1194863"/>
            <a:ext cx="2267995" cy="2183543"/>
            <a:chOff x="2329" y="13314"/>
            <a:chExt cx="2686" cy="2601"/>
          </a:xfrm>
        </p:grpSpPr>
        <p:sp>
          <p:nvSpPr>
            <p:cNvPr id="68" name="Text Box 1463"/>
            <p:cNvSpPr txBox="1">
              <a:spLocks noChangeArrowheads="1"/>
            </p:cNvSpPr>
            <p:nvPr/>
          </p:nvSpPr>
          <p:spPr bwMode="auto">
            <a:xfrm>
              <a:off x="2706" y="13753"/>
              <a:ext cx="542"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F</a:t>
              </a:r>
              <a:r>
                <a:rPr lang="en-US" sz="1600" kern="100" baseline="-25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Text Box 1464"/>
            <p:cNvSpPr txBox="1">
              <a:spLocks noChangeArrowheads="1"/>
            </p:cNvSpPr>
            <p:nvPr/>
          </p:nvSpPr>
          <p:spPr bwMode="auto">
            <a:xfrm>
              <a:off x="2329" y="14848"/>
              <a:ext cx="542"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sz="1600" b="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endParaRPr lang="zh-CN" sz="1600" b="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0" name="AutoShape 1465"/>
            <p:cNvCxnSpPr>
              <a:cxnSpLocks noChangeAspect="1" noChangeShapeType="1"/>
            </p:cNvCxnSpPr>
            <p:nvPr/>
          </p:nvCxnSpPr>
          <p:spPr bwMode="auto">
            <a:xfrm rot="480000" flipV="1">
              <a:off x="2834" y="13744"/>
              <a:ext cx="1797" cy="794"/>
            </a:xfrm>
            <a:prstGeom prst="straightConnector1">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cxnSp>
        <p:cxnSp>
          <p:nvCxnSpPr>
            <p:cNvPr id="71" name="AutoShape 1466"/>
            <p:cNvCxnSpPr>
              <a:cxnSpLocks noChangeAspect="1" noChangeShapeType="1"/>
            </p:cNvCxnSpPr>
            <p:nvPr/>
          </p:nvCxnSpPr>
          <p:spPr bwMode="auto">
            <a:xfrm rot="480000" flipV="1">
              <a:off x="3479" y="13811"/>
              <a:ext cx="1106" cy="489"/>
            </a:xfrm>
            <a:prstGeom prst="straightConnector1">
              <a:avLst/>
            </a:prstGeom>
            <a:noFill/>
            <a:ln w="25400">
              <a:solidFill>
                <a:srgbClr val="FF0000"/>
              </a:solidFill>
              <a:round/>
              <a:headEnd type="triangle" w="sm" len="lg"/>
              <a:tailEnd type="none" w="sm" len="lg"/>
            </a:ln>
            <a:extLst>
              <a:ext uri="{909E8E84-426E-40DD-AFC4-6F175D3DCCD1}">
                <a14:hiddenFill xmlns:a14="http://schemas.microsoft.com/office/drawing/2010/main">
                  <a:noFill/>
                </a14:hiddenFill>
              </a:ext>
            </a:extLst>
          </p:spPr>
        </p:cxnSp>
        <p:grpSp>
          <p:nvGrpSpPr>
            <p:cNvPr id="72" name="Group 1470"/>
            <p:cNvGrpSpPr>
              <a:grpSpLocks/>
            </p:cNvGrpSpPr>
            <p:nvPr/>
          </p:nvGrpSpPr>
          <p:grpSpPr bwMode="auto">
            <a:xfrm>
              <a:off x="2781" y="13872"/>
              <a:ext cx="1858" cy="1627"/>
              <a:chOff x="2773" y="13456"/>
              <a:chExt cx="2161" cy="1857"/>
            </a:xfrm>
          </p:grpSpPr>
          <p:sp>
            <p:nvSpPr>
              <p:cNvPr id="95" name="Rectangle 1443"/>
              <p:cNvSpPr>
                <a:spLocks noChangeArrowheads="1"/>
              </p:cNvSpPr>
              <p:nvPr/>
            </p:nvSpPr>
            <p:spPr bwMode="auto">
              <a:xfrm>
                <a:off x="2781" y="14070"/>
                <a:ext cx="1345" cy="1243"/>
              </a:xfrm>
              <a:prstGeom prst="rect">
                <a:avLst/>
              </a:prstGeom>
              <a:solidFill>
                <a:srgbClr val="FFFFFF"/>
              </a:solidFill>
              <a:ln w="190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96" name="Line 1444"/>
              <p:cNvCxnSpPr>
                <a:cxnSpLocks noChangeShapeType="1"/>
              </p:cNvCxnSpPr>
              <p:nvPr/>
            </p:nvCxnSpPr>
            <p:spPr bwMode="auto">
              <a:xfrm flipV="1">
                <a:off x="2773" y="13465"/>
                <a:ext cx="803" cy="6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7" name="Line 1445"/>
              <p:cNvCxnSpPr>
                <a:cxnSpLocks noChangeShapeType="1"/>
              </p:cNvCxnSpPr>
              <p:nvPr/>
            </p:nvCxnSpPr>
            <p:spPr bwMode="auto">
              <a:xfrm flipV="1">
                <a:off x="2779" y="14672"/>
                <a:ext cx="810" cy="636"/>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98" name="Line 1446"/>
              <p:cNvCxnSpPr>
                <a:cxnSpLocks noChangeShapeType="1"/>
              </p:cNvCxnSpPr>
              <p:nvPr/>
            </p:nvCxnSpPr>
            <p:spPr bwMode="auto">
              <a:xfrm flipV="1">
                <a:off x="4118" y="13470"/>
                <a:ext cx="816" cy="6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9" name="Line 1447"/>
              <p:cNvCxnSpPr>
                <a:cxnSpLocks noChangeShapeType="1"/>
              </p:cNvCxnSpPr>
              <p:nvPr/>
            </p:nvCxnSpPr>
            <p:spPr bwMode="auto">
              <a:xfrm flipV="1">
                <a:off x="4124" y="14689"/>
                <a:ext cx="797" cy="6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0" name="Line 1448"/>
              <p:cNvCxnSpPr>
                <a:cxnSpLocks noChangeShapeType="1"/>
              </p:cNvCxnSpPr>
              <p:nvPr/>
            </p:nvCxnSpPr>
            <p:spPr bwMode="auto">
              <a:xfrm>
                <a:off x="3581" y="13456"/>
                <a:ext cx="0" cy="122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01" name="Line 1449"/>
              <p:cNvCxnSpPr>
                <a:cxnSpLocks noChangeShapeType="1"/>
              </p:cNvCxnSpPr>
              <p:nvPr/>
            </p:nvCxnSpPr>
            <p:spPr bwMode="auto">
              <a:xfrm>
                <a:off x="3589" y="14680"/>
                <a:ext cx="1337"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02" name="Line 1450"/>
              <p:cNvCxnSpPr>
                <a:cxnSpLocks noChangeShapeType="1"/>
              </p:cNvCxnSpPr>
              <p:nvPr/>
            </p:nvCxnSpPr>
            <p:spPr bwMode="auto">
              <a:xfrm>
                <a:off x="3581" y="13470"/>
                <a:ext cx="134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3" name="Line 1451"/>
              <p:cNvCxnSpPr>
                <a:cxnSpLocks noChangeShapeType="1"/>
              </p:cNvCxnSpPr>
              <p:nvPr/>
            </p:nvCxnSpPr>
            <p:spPr bwMode="auto">
              <a:xfrm flipH="1">
                <a:off x="4934" y="13470"/>
                <a:ext cx="0" cy="12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73" name="Line 1457"/>
            <p:cNvCxnSpPr>
              <a:cxnSpLocks noChangeShapeType="1"/>
            </p:cNvCxnSpPr>
            <p:nvPr/>
          </p:nvCxnSpPr>
          <p:spPr bwMode="auto">
            <a:xfrm>
              <a:off x="4555" y="14937"/>
              <a:ext cx="448" cy="0"/>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74" name="Line 1458"/>
            <p:cNvCxnSpPr>
              <a:cxnSpLocks noChangeShapeType="1"/>
            </p:cNvCxnSpPr>
            <p:nvPr/>
          </p:nvCxnSpPr>
          <p:spPr bwMode="auto">
            <a:xfrm flipV="1">
              <a:off x="3472" y="13485"/>
              <a:ext cx="0" cy="408"/>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75" name="Line 1459"/>
            <p:cNvCxnSpPr>
              <a:cxnSpLocks noChangeAspect="1" noChangeShapeType="1"/>
            </p:cNvCxnSpPr>
            <p:nvPr/>
          </p:nvCxnSpPr>
          <p:spPr bwMode="auto">
            <a:xfrm flipH="1">
              <a:off x="2495" y="15491"/>
              <a:ext cx="295" cy="261"/>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sp>
          <p:nvSpPr>
            <p:cNvPr id="76" name="Text Box 1460"/>
            <p:cNvSpPr txBox="1">
              <a:spLocks noChangeArrowheads="1"/>
            </p:cNvSpPr>
            <p:nvPr/>
          </p:nvSpPr>
          <p:spPr bwMode="auto">
            <a:xfrm>
              <a:off x="2578" y="15507"/>
              <a:ext cx="50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x</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7" name="Text Box 1461"/>
            <p:cNvSpPr txBox="1">
              <a:spLocks noChangeArrowheads="1"/>
            </p:cNvSpPr>
            <p:nvPr/>
          </p:nvSpPr>
          <p:spPr bwMode="auto">
            <a:xfrm>
              <a:off x="4614" y="14847"/>
              <a:ext cx="401"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y </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 name="Text Box 1462"/>
            <p:cNvSpPr txBox="1">
              <a:spLocks noChangeArrowheads="1"/>
            </p:cNvSpPr>
            <p:nvPr/>
          </p:nvSpPr>
          <p:spPr bwMode="auto">
            <a:xfrm>
              <a:off x="3435" y="13314"/>
              <a:ext cx="50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z</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9" name="Line 1215"/>
            <p:cNvCxnSpPr>
              <a:cxnSpLocks noChangeShapeType="1"/>
            </p:cNvCxnSpPr>
            <p:nvPr/>
          </p:nvCxnSpPr>
          <p:spPr bwMode="auto">
            <a:xfrm>
              <a:off x="3935" y="14422"/>
              <a:ext cx="1" cy="540"/>
            </a:xfrm>
            <a:prstGeom prst="line">
              <a:avLst/>
            </a:prstGeom>
            <a:noFill/>
            <a:ln w="2540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0" name="Text Box 1070"/>
            <p:cNvSpPr txBox="1">
              <a:spLocks noChangeArrowheads="1"/>
            </p:cNvSpPr>
            <p:nvPr/>
          </p:nvSpPr>
          <p:spPr bwMode="auto">
            <a:xfrm>
              <a:off x="3227" y="14685"/>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A</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Text Box 1172"/>
            <p:cNvSpPr txBox="1">
              <a:spLocks noChangeArrowheads="1"/>
            </p:cNvSpPr>
            <p:nvPr/>
          </p:nvSpPr>
          <p:spPr bwMode="auto">
            <a:xfrm>
              <a:off x="4643" y="14592"/>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B</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82" name="Line 1181"/>
            <p:cNvCxnSpPr>
              <a:cxnSpLocks noChangeShapeType="1"/>
            </p:cNvCxnSpPr>
            <p:nvPr/>
          </p:nvCxnSpPr>
          <p:spPr bwMode="auto">
            <a:xfrm rot="2940000">
              <a:off x="2996" y="13988"/>
              <a:ext cx="1" cy="502"/>
            </a:xfrm>
            <a:prstGeom prst="line">
              <a:avLst/>
            </a:prstGeom>
            <a:noFill/>
            <a:ln w="25400">
              <a:solidFill>
                <a:srgbClr val="FF0000"/>
              </a:solidFill>
              <a:round/>
              <a:headEnd type="triangle" w="sm" len="lg"/>
              <a:tailEnd type="none" w="sm" len="lg"/>
            </a:ln>
            <a:extLst>
              <a:ext uri="{909E8E84-426E-40DD-AFC4-6F175D3DCCD1}">
                <a14:hiddenFill xmlns:a14="http://schemas.microsoft.com/office/drawing/2010/main">
                  <a:noFill/>
                </a14:hiddenFill>
              </a:ext>
            </a:extLst>
          </p:spPr>
        </p:cxnSp>
        <p:cxnSp>
          <p:nvCxnSpPr>
            <p:cNvPr id="83" name="Line 1212"/>
            <p:cNvCxnSpPr>
              <a:cxnSpLocks noChangeShapeType="1"/>
            </p:cNvCxnSpPr>
            <p:nvPr/>
          </p:nvCxnSpPr>
          <p:spPr bwMode="auto">
            <a:xfrm>
              <a:off x="2779" y="14943"/>
              <a:ext cx="1" cy="540"/>
            </a:xfrm>
            <a:prstGeom prst="line">
              <a:avLst/>
            </a:prstGeom>
            <a:noFill/>
            <a:ln w="25400">
              <a:solidFill>
                <a:srgbClr val="FF00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4" name="Text Box 1203"/>
            <p:cNvSpPr txBox="1">
              <a:spLocks noChangeArrowheads="1"/>
            </p:cNvSpPr>
            <p:nvPr/>
          </p:nvSpPr>
          <p:spPr bwMode="auto">
            <a:xfrm>
              <a:off x="3936" y="14644"/>
              <a:ext cx="42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r>
                <a:rPr lang="en-US" sz="16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sz="1600" b="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endParaRPr lang="zh-CN" sz="1600" b="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5" name="Text Box 1071"/>
            <p:cNvSpPr txBox="1">
              <a:spLocks noChangeArrowheads="1"/>
            </p:cNvSpPr>
            <p:nvPr/>
          </p:nvSpPr>
          <p:spPr bwMode="auto">
            <a:xfrm>
              <a:off x="2551" y="14238"/>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E</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6" name="Text Box 1082"/>
            <p:cNvSpPr txBox="1">
              <a:spLocks noChangeArrowheads="1"/>
            </p:cNvSpPr>
            <p:nvPr/>
          </p:nvSpPr>
          <p:spPr bwMode="auto">
            <a:xfrm>
              <a:off x="2495" y="15227"/>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C</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7" name="Text Box 1083"/>
            <p:cNvSpPr txBox="1">
              <a:spLocks noChangeArrowheads="1"/>
            </p:cNvSpPr>
            <p:nvPr/>
          </p:nvSpPr>
          <p:spPr bwMode="auto">
            <a:xfrm>
              <a:off x="4643" y="13647"/>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H</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Text Box 1170"/>
            <p:cNvSpPr txBox="1">
              <a:spLocks noChangeArrowheads="1"/>
            </p:cNvSpPr>
            <p:nvPr/>
          </p:nvSpPr>
          <p:spPr bwMode="auto">
            <a:xfrm>
              <a:off x="3986" y="15347"/>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D</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Text Box 1471"/>
            <p:cNvSpPr txBox="1">
              <a:spLocks noChangeArrowheads="1"/>
            </p:cNvSpPr>
            <p:nvPr/>
          </p:nvSpPr>
          <p:spPr bwMode="auto">
            <a:xfrm>
              <a:off x="3179" y="13647"/>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latin typeface="Times New Roman" panose="02020603050405020304" pitchFamily="18" charset="0"/>
                  <a:ea typeface="宋体" panose="02010600030101010101" pitchFamily="2" charset="-122"/>
                  <a:cs typeface="Times New Roman" panose="02020603050405020304" pitchFamily="18" charset="0"/>
                </a:rPr>
                <a:t>G</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 name="Text Box 1472"/>
            <p:cNvSpPr txBox="1">
              <a:spLocks noChangeArrowheads="1"/>
            </p:cNvSpPr>
            <p:nvPr/>
          </p:nvSpPr>
          <p:spPr bwMode="auto">
            <a:xfrm>
              <a:off x="4011" y="14342"/>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F</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1" name="Text Box 1483"/>
            <p:cNvSpPr txBox="1">
              <a:spLocks noChangeArrowheads="1"/>
            </p:cNvSpPr>
            <p:nvPr/>
          </p:nvSpPr>
          <p:spPr bwMode="auto">
            <a:xfrm>
              <a:off x="3544" y="14057"/>
              <a:ext cx="542"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sz="1600" b="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endParaRPr lang="zh-CN" sz="1600" b="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2" name="Text Box 1484"/>
            <p:cNvSpPr txBox="1">
              <a:spLocks noChangeArrowheads="1"/>
            </p:cNvSpPr>
            <p:nvPr/>
          </p:nvSpPr>
          <p:spPr bwMode="auto">
            <a:xfrm>
              <a:off x="3266" y="15062"/>
              <a:ext cx="542"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sz="1600" b="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endParaRPr lang="zh-CN" sz="1600" b="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93" name="AutoShape 1467"/>
            <p:cNvCxnSpPr>
              <a:cxnSpLocks noChangeAspect="1" noChangeShapeType="1"/>
            </p:cNvCxnSpPr>
            <p:nvPr/>
          </p:nvCxnSpPr>
          <p:spPr bwMode="auto">
            <a:xfrm rot="12300000" flipH="1" flipV="1">
              <a:off x="3366" y="15054"/>
              <a:ext cx="680" cy="300"/>
            </a:xfrm>
            <a:prstGeom prst="straightConnector1">
              <a:avLst/>
            </a:prstGeom>
            <a:noFill/>
            <a:ln w="12700">
              <a:solidFill>
                <a:srgbClr val="000000"/>
              </a:solidFill>
              <a:prstDash val="dash"/>
              <a:round/>
              <a:headEnd/>
              <a:tailEnd type="none" w="sm" len="lg"/>
            </a:ln>
            <a:extLst>
              <a:ext uri="{909E8E84-426E-40DD-AFC4-6F175D3DCCD1}">
                <a14:hiddenFill xmlns:a14="http://schemas.microsoft.com/office/drawing/2010/main">
                  <a:noFill/>
                </a14:hiddenFill>
              </a:ext>
            </a:extLst>
          </p:spPr>
        </p:cxnSp>
        <p:cxnSp>
          <p:nvCxnSpPr>
            <p:cNvPr id="94" name="AutoShape 1485"/>
            <p:cNvCxnSpPr>
              <a:cxnSpLocks noChangeAspect="1" noChangeShapeType="1"/>
            </p:cNvCxnSpPr>
            <p:nvPr/>
          </p:nvCxnSpPr>
          <p:spPr bwMode="auto">
            <a:xfrm rot="12300000" flipH="1" flipV="1">
              <a:off x="3413" y="15026"/>
              <a:ext cx="448" cy="198"/>
            </a:xfrm>
            <a:prstGeom prst="straightConnector1">
              <a:avLst/>
            </a:prstGeom>
            <a:noFill/>
            <a:ln w="25400">
              <a:solidFill>
                <a:srgbClr val="FF0000"/>
              </a:solidFill>
              <a:round/>
              <a:headEnd/>
              <a:tailEnd type="triangle" w="sm" len="lg"/>
            </a:ln>
            <a:extLst>
              <a:ext uri="{909E8E84-426E-40DD-AFC4-6F175D3DCCD1}">
                <a14:hiddenFill xmlns:a14="http://schemas.microsoft.com/office/drawing/2010/main">
                  <a:noFill/>
                </a14:hiddenFill>
              </a:ext>
            </a:extLst>
          </p:spPr>
        </p:cxnSp>
      </p:grpSp>
      <p:sp>
        <p:nvSpPr>
          <p:cNvPr id="104" name="Rectangle 7"/>
          <p:cNvSpPr>
            <a:spLocks noChangeArrowheads="1"/>
          </p:cNvSpPr>
          <p:nvPr/>
        </p:nvSpPr>
        <p:spPr bwMode="auto">
          <a:xfrm>
            <a:off x="572622" y="1565797"/>
            <a:ext cx="450468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667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20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t>
            </a:r>
            <a:r>
              <a:rPr kumimoji="0" lang="en-US" altLang="zh-CN" sz="20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rPr>
              <a:t>Rx</a:t>
            </a:r>
            <a:r>
              <a:rPr kumimoji="0" lang="en-US" altLang="zh-CN" sz="2000" b="0" i="1"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1</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4</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cos45</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5</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cos45</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 </a:t>
            </a:r>
            <a:r>
              <a:rPr kumimoji="0" lang="en-US" altLang="zh-CN"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kN</a:t>
            </a:r>
            <a:endParaRPr kumimoji="0" lang="en-US" altLang="zh-CN" sz="2000" dirty="0">
              <a:sym typeface="Symbol" panose="05050102010706020507" pitchFamily="18" charset="2"/>
            </a:endParaRPr>
          </a:p>
          <a:p>
            <a:pPr lvl="0" indent="0">
              <a:lnSpc>
                <a:spcPct val="150000"/>
              </a:lnSpc>
            </a:pPr>
            <a:r>
              <a:rPr kumimoji="0" lang="en-US" altLang="zh-CN" sz="20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Ry</a:t>
            </a:r>
            <a:r>
              <a:rPr kumimoji="0" lang="en-US" altLang="zh-CN" sz="2000" b="0" i="1"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dirty="0">
                <a:latin typeface="Times New Roman" panose="02020603050405020304" pitchFamily="18" charset="0"/>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4</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cos45</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5</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cos45</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0 </a:t>
            </a:r>
            <a:r>
              <a:rPr kumimoji="0" lang="en-US" altLang="zh-CN"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kN</a:t>
            </a:r>
            <a:endParaRPr kumimoji="0" lang="en-US" altLang="zh-CN" sz="2000" dirty="0">
              <a:sym typeface="Symbol" panose="05050102010706020507" pitchFamily="18" charset="2"/>
            </a:endParaRPr>
          </a:p>
          <a:p>
            <a:pPr lvl="0" indent="0">
              <a:lnSpc>
                <a:spcPct val="150000"/>
              </a:lnSpc>
            </a:pPr>
            <a:r>
              <a:rPr kumimoji="0" lang="en-US" altLang="zh-CN" sz="20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Rz</a:t>
            </a:r>
            <a:r>
              <a:rPr kumimoji="0" lang="en-US" altLang="zh-CN" sz="2000" b="0" i="1"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2</a:t>
            </a:r>
            <a:r>
              <a:rPr kumimoji="0" lang="en-US" altLang="zh-CN" sz="2000" dirty="0">
                <a:latin typeface="Times New Roman" panose="02020603050405020304" pitchFamily="18" charset="0"/>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3</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0 </a:t>
            </a:r>
            <a:r>
              <a:rPr kumimoji="0" lang="en-US" altLang="zh-CN"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kN</a:t>
            </a:r>
            <a:endParaRPr kumimoji="0" lang="en-US" altLang="zh-CN" sz="2000" dirty="0">
              <a:sym typeface="Symbol" panose="05050102010706020507" pitchFamily="18" charset="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主矢</a:t>
            </a:r>
            <a:r>
              <a:rPr kumimoji="0" lang="zh-CN" altLang="en-US" sz="2000" b="0" i="0" u="none" strike="noStrike" cap="none" normalizeH="0" baseline="0" dirty="0">
                <a:ln>
                  <a:noFill/>
                </a:ln>
                <a:solidFill>
                  <a:schemeClr val="tx1"/>
                </a:solidFill>
                <a:effectLst/>
                <a:latin typeface="Calibri" panose="020F0502020204030204" pitchFamily="34" charset="0"/>
                <a:cs typeface="Times New Roman" panose="02020603050405020304" pitchFamily="18" charset="0"/>
                <a:sym typeface="Symbol" panose="05050102010706020507" pitchFamily="18" charset="2"/>
              </a:rPr>
              <a:t> </a:t>
            </a:r>
            <a:r>
              <a:rPr kumimoji="0" lang="en-US" altLang="zh-CN"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1"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R</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3</a:t>
            </a:r>
            <a:r>
              <a:rPr kumimoji="0" lang="en-US" altLang="zh-CN"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i</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kN</a:t>
            </a:r>
            <a:endPar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4" name="组合 3"/>
          <p:cNvGrpSpPr/>
          <p:nvPr/>
        </p:nvGrpSpPr>
        <p:grpSpPr>
          <a:xfrm>
            <a:off x="502723" y="1296115"/>
            <a:ext cx="4115427" cy="400111"/>
            <a:chOff x="828978" y="1781624"/>
            <a:chExt cx="4115427" cy="400111"/>
          </a:xfrm>
        </p:grpSpPr>
        <p:sp>
          <p:nvSpPr>
            <p:cNvPr id="107" name="矩形 106"/>
            <p:cNvSpPr/>
            <p:nvPr/>
          </p:nvSpPr>
          <p:spPr>
            <a:xfrm>
              <a:off x="828978" y="1781624"/>
              <a:ext cx="817853" cy="400110"/>
            </a:xfrm>
            <a:prstGeom prst="rect">
              <a:avLst/>
            </a:prstGeom>
          </p:spPr>
          <p:txBody>
            <a:bodyPr wrap="none">
              <a:spAutoFit/>
            </a:bodyPr>
            <a:lstStyle/>
            <a:p>
              <a:r>
                <a:rPr lang="zh-CN" altLang="en-US" sz="2000" b="1" dirty="0">
                  <a:solidFill>
                    <a:srgbClr val="0000FF"/>
                  </a:solidFill>
                  <a:latin typeface="楷体" panose="02010609060101010101" pitchFamily="49" charset="-122"/>
                  <a:ea typeface="楷体" panose="02010609060101010101" pitchFamily="49" charset="-122"/>
                </a:rPr>
                <a:t>解：</a:t>
              </a:r>
              <a:r>
                <a:rPr lang="zh-CN" altLang="en-US" b="1" dirty="0">
                  <a:latin typeface="楷体" panose="02010609060101010101" pitchFamily="49" charset="-122"/>
                  <a:ea typeface="楷体" panose="02010609060101010101" pitchFamily="49" charset="-122"/>
                </a:rPr>
                <a:t> </a:t>
              </a:r>
              <a:endParaRPr lang="zh-CN" altLang="en-US" dirty="0"/>
            </a:p>
          </p:txBody>
        </p:sp>
        <p:sp>
          <p:nvSpPr>
            <p:cNvPr id="109" name="矩形 108"/>
            <p:cNvSpPr/>
            <p:nvPr/>
          </p:nvSpPr>
          <p:spPr>
            <a:xfrm>
              <a:off x="1387521" y="1781625"/>
              <a:ext cx="3556884" cy="400110"/>
            </a:xfrm>
            <a:prstGeom prst="rect">
              <a:avLst/>
            </a:prstGeom>
          </p:spPr>
          <p:txBody>
            <a:bodyPr wrap="square">
              <a:spAutoFit/>
            </a:bodyPr>
            <a:lstStyle/>
            <a:p>
              <a:pPr lvl="0"/>
              <a:r>
                <a:rPr kumimoji="0" lang="zh-CN" altLang="en-US" sz="2000" dirty="0">
                  <a:cs typeface="Times New Roman" panose="02020603050405020304" pitchFamily="18" charset="0"/>
                  <a:sym typeface="Symbol" panose="05050102010706020507" pitchFamily="18" charset="2"/>
                </a:rPr>
                <a:t>（</a:t>
              </a:r>
              <a:r>
                <a:rPr kumimoji="0" lang="en-US" altLang="zh-CN" sz="2000" dirty="0">
                  <a:cs typeface="Times New Roman" panose="02020603050405020304" pitchFamily="18" charset="0"/>
                  <a:sym typeface="Symbol" panose="05050102010706020507" pitchFamily="18" charset="2"/>
                </a:rPr>
                <a:t>1</a:t>
              </a:r>
              <a:r>
                <a:rPr kumimoji="0" lang="zh-CN" altLang="en-US" sz="2000" dirty="0">
                  <a:cs typeface="Times New Roman" panose="02020603050405020304" pitchFamily="18" charset="0"/>
                  <a:sym typeface="Symbol" panose="05050102010706020507" pitchFamily="18" charset="2"/>
                </a:rPr>
                <a:t>）</a:t>
              </a:r>
              <a:r>
                <a:rPr kumimoji="0" lang="zh-CN" altLang="en-US" sz="2000" b="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计算主矢和主矩</a:t>
              </a:r>
              <a:endParaRPr kumimoji="0" lang="zh-CN" altLang="en-US" sz="2000" b="1" dirty="0">
                <a:latin typeface="楷体" panose="02010609060101010101" pitchFamily="49" charset="-122"/>
                <a:ea typeface="楷体" panose="02010609060101010101" pitchFamily="49" charset="-122"/>
                <a:sym typeface="Symbol" panose="05050102010706020507" pitchFamily="18" charset="2"/>
              </a:endParaRPr>
            </a:p>
          </p:txBody>
        </p:sp>
      </p:grpSp>
      <p:grpSp>
        <p:nvGrpSpPr>
          <p:cNvPr id="110" name="Group 1734"/>
          <p:cNvGrpSpPr>
            <a:grpSpLocks noChangeAspect="1"/>
          </p:cNvGrpSpPr>
          <p:nvPr/>
        </p:nvGrpSpPr>
        <p:grpSpPr bwMode="auto">
          <a:xfrm>
            <a:off x="4797153" y="3000943"/>
            <a:ext cx="2346381" cy="2325675"/>
            <a:chOff x="7442" y="1358"/>
            <a:chExt cx="2557" cy="2566"/>
          </a:xfrm>
        </p:grpSpPr>
        <p:grpSp>
          <p:nvGrpSpPr>
            <p:cNvPr id="111" name="Group 1701"/>
            <p:cNvGrpSpPr>
              <a:grpSpLocks/>
            </p:cNvGrpSpPr>
            <p:nvPr/>
          </p:nvGrpSpPr>
          <p:grpSpPr bwMode="auto">
            <a:xfrm>
              <a:off x="7728" y="1916"/>
              <a:ext cx="1858" cy="1627"/>
              <a:chOff x="2773" y="13456"/>
              <a:chExt cx="2161" cy="1857"/>
            </a:xfrm>
          </p:grpSpPr>
          <p:sp>
            <p:nvSpPr>
              <p:cNvPr id="130" name="Rectangle 1702"/>
              <p:cNvSpPr>
                <a:spLocks noChangeArrowheads="1"/>
              </p:cNvSpPr>
              <p:nvPr/>
            </p:nvSpPr>
            <p:spPr bwMode="auto">
              <a:xfrm>
                <a:off x="2781" y="14070"/>
                <a:ext cx="1345" cy="1243"/>
              </a:xfrm>
              <a:prstGeom prst="rect">
                <a:avLst/>
              </a:prstGeom>
              <a:solidFill>
                <a:srgbClr val="FFFFFF"/>
              </a:solidFill>
              <a:ln w="190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31" name="Line 1703"/>
              <p:cNvCxnSpPr>
                <a:cxnSpLocks noChangeShapeType="1"/>
              </p:cNvCxnSpPr>
              <p:nvPr/>
            </p:nvCxnSpPr>
            <p:spPr bwMode="auto">
              <a:xfrm flipV="1">
                <a:off x="2773" y="13465"/>
                <a:ext cx="803" cy="6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2" name="Line 1704"/>
              <p:cNvCxnSpPr>
                <a:cxnSpLocks noChangeShapeType="1"/>
              </p:cNvCxnSpPr>
              <p:nvPr/>
            </p:nvCxnSpPr>
            <p:spPr bwMode="auto">
              <a:xfrm flipV="1">
                <a:off x="2779" y="14672"/>
                <a:ext cx="810" cy="636"/>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33" name="Line 1705"/>
              <p:cNvCxnSpPr>
                <a:cxnSpLocks noChangeShapeType="1"/>
              </p:cNvCxnSpPr>
              <p:nvPr/>
            </p:nvCxnSpPr>
            <p:spPr bwMode="auto">
              <a:xfrm flipV="1">
                <a:off x="4118" y="13470"/>
                <a:ext cx="816" cy="6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4" name="Line 1706"/>
              <p:cNvCxnSpPr>
                <a:cxnSpLocks noChangeShapeType="1"/>
              </p:cNvCxnSpPr>
              <p:nvPr/>
            </p:nvCxnSpPr>
            <p:spPr bwMode="auto">
              <a:xfrm flipV="1">
                <a:off x="4124" y="14689"/>
                <a:ext cx="797" cy="6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5" name="Line 1707"/>
              <p:cNvCxnSpPr>
                <a:cxnSpLocks noChangeShapeType="1"/>
              </p:cNvCxnSpPr>
              <p:nvPr/>
            </p:nvCxnSpPr>
            <p:spPr bwMode="auto">
              <a:xfrm>
                <a:off x="3581" y="13456"/>
                <a:ext cx="0" cy="122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36" name="Line 1708"/>
              <p:cNvCxnSpPr>
                <a:cxnSpLocks noChangeShapeType="1"/>
              </p:cNvCxnSpPr>
              <p:nvPr/>
            </p:nvCxnSpPr>
            <p:spPr bwMode="auto">
              <a:xfrm>
                <a:off x="3589" y="14680"/>
                <a:ext cx="1337"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37" name="Line 1709"/>
              <p:cNvCxnSpPr>
                <a:cxnSpLocks noChangeShapeType="1"/>
              </p:cNvCxnSpPr>
              <p:nvPr/>
            </p:nvCxnSpPr>
            <p:spPr bwMode="auto">
              <a:xfrm>
                <a:off x="3581" y="13470"/>
                <a:ext cx="134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38" name="Line 1710"/>
              <p:cNvCxnSpPr>
                <a:cxnSpLocks noChangeShapeType="1"/>
              </p:cNvCxnSpPr>
              <p:nvPr/>
            </p:nvCxnSpPr>
            <p:spPr bwMode="auto">
              <a:xfrm flipH="1">
                <a:off x="4934" y="13470"/>
                <a:ext cx="0" cy="12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12" name="Line 1711"/>
            <p:cNvCxnSpPr>
              <a:cxnSpLocks noChangeShapeType="1"/>
            </p:cNvCxnSpPr>
            <p:nvPr/>
          </p:nvCxnSpPr>
          <p:spPr bwMode="auto">
            <a:xfrm>
              <a:off x="9551" y="2983"/>
              <a:ext cx="448" cy="0"/>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113" name="Line 1712"/>
            <p:cNvCxnSpPr>
              <a:cxnSpLocks noChangeShapeType="1"/>
            </p:cNvCxnSpPr>
            <p:nvPr/>
          </p:nvCxnSpPr>
          <p:spPr bwMode="auto">
            <a:xfrm flipV="1">
              <a:off x="8418" y="1529"/>
              <a:ext cx="0" cy="408"/>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114" name="Line 1713"/>
            <p:cNvCxnSpPr>
              <a:cxnSpLocks noChangeAspect="1" noChangeShapeType="1"/>
            </p:cNvCxnSpPr>
            <p:nvPr/>
          </p:nvCxnSpPr>
          <p:spPr bwMode="auto">
            <a:xfrm flipH="1">
              <a:off x="7442" y="3535"/>
              <a:ext cx="295" cy="261"/>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sp>
          <p:nvSpPr>
            <p:cNvPr id="115" name="Text Box 1714"/>
            <p:cNvSpPr txBox="1">
              <a:spLocks noChangeArrowheads="1"/>
            </p:cNvSpPr>
            <p:nvPr/>
          </p:nvSpPr>
          <p:spPr bwMode="auto">
            <a:xfrm>
              <a:off x="7577" y="3516"/>
              <a:ext cx="50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x</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6" name="Text Box 1715"/>
            <p:cNvSpPr txBox="1">
              <a:spLocks noChangeArrowheads="1"/>
            </p:cNvSpPr>
            <p:nvPr/>
          </p:nvSpPr>
          <p:spPr bwMode="auto">
            <a:xfrm>
              <a:off x="9504" y="2908"/>
              <a:ext cx="491"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y</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7" name="Text Box 1716"/>
            <p:cNvSpPr txBox="1">
              <a:spLocks noChangeArrowheads="1"/>
            </p:cNvSpPr>
            <p:nvPr/>
          </p:nvSpPr>
          <p:spPr bwMode="auto">
            <a:xfrm>
              <a:off x="8382" y="1358"/>
              <a:ext cx="50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z</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18" name="Line 1717"/>
            <p:cNvCxnSpPr>
              <a:cxnSpLocks noChangeShapeType="1"/>
            </p:cNvCxnSpPr>
            <p:nvPr/>
          </p:nvCxnSpPr>
          <p:spPr bwMode="auto">
            <a:xfrm>
              <a:off x="8428" y="2974"/>
              <a:ext cx="1" cy="540"/>
            </a:xfrm>
            <a:prstGeom prst="line">
              <a:avLst/>
            </a:prstGeom>
            <a:noFill/>
            <a:ln w="25400">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19" name="Text Box 1718"/>
            <p:cNvSpPr txBox="1">
              <a:spLocks noChangeArrowheads="1"/>
            </p:cNvSpPr>
            <p:nvPr/>
          </p:nvSpPr>
          <p:spPr bwMode="auto">
            <a:xfrm>
              <a:off x="8174" y="2729"/>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r>
                <a:rPr lang="en-US" sz="1600" i="1" kern="100" dirty="0">
                  <a:latin typeface="Times New Roman" panose="02020603050405020304" pitchFamily="18" charset="0"/>
                  <a:ea typeface="宋体" panose="02010600030101010101" pitchFamily="2" charset="-122"/>
                  <a:cs typeface="Times New Roman" panose="02020603050405020304" pitchFamily="18" charset="0"/>
                </a:rPr>
                <a:t>A</a:t>
              </a:r>
              <a:endParaRPr lang="zh-CN" sz="1600" i="1" kern="10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21" name="Line 1720"/>
            <p:cNvCxnSpPr>
              <a:cxnSpLocks noChangeShapeType="1"/>
            </p:cNvCxnSpPr>
            <p:nvPr/>
          </p:nvCxnSpPr>
          <p:spPr bwMode="auto">
            <a:xfrm rot="13740000">
              <a:off x="8244" y="2893"/>
              <a:ext cx="1" cy="502"/>
            </a:xfrm>
            <a:prstGeom prst="line">
              <a:avLst/>
            </a:prstGeom>
            <a:noFill/>
            <a:ln w="25400">
              <a:solidFill>
                <a:srgbClr val="FF0000"/>
              </a:solidFill>
              <a:round/>
              <a:headEnd type="triangle" w="sm" len="lg"/>
              <a:tailEnd type="none" w="sm" len="lg"/>
            </a:ln>
            <a:extLst>
              <a:ext uri="{909E8E84-426E-40DD-AFC4-6F175D3DCCD1}">
                <a14:hiddenFill xmlns:a14="http://schemas.microsoft.com/office/drawing/2010/main">
                  <a:noFill/>
                </a14:hiddenFill>
              </a:ext>
            </a:extLst>
          </p:spPr>
        </p:cxnSp>
        <p:sp>
          <p:nvSpPr>
            <p:cNvPr id="128" name="Text Box 1729"/>
            <p:cNvSpPr txBox="1">
              <a:spLocks noChangeArrowheads="1"/>
            </p:cNvSpPr>
            <p:nvPr/>
          </p:nvSpPr>
          <p:spPr bwMode="auto">
            <a:xfrm>
              <a:off x="7750" y="2856"/>
              <a:ext cx="585" cy="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sz="1600" b="1" i="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a:t>
              </a:r>
              <a:endParaRPr lang="zh-CN" sz="1600" b="1" i="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9" name="Text Box 1730"/>
            <p:cNvSpPr txBox="1">
              <a:spLocks noChangeArrowheads="1"/>
            </p:cNvSpPr>
            <p:nvPr/>
          </p:nvSpPr>
          <p:spPr bwMode="auto">
            <a:xfrm>
              <a:off x="8453" y="3030"/>
              <a:ext cx="688"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r>
                <a:rPr lang="en-US" sz="1600" b="1" i="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a:t>
              </a:r>
              <a:r>
                <a:rPr lang="en-US" sz="1600" b="1" i="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endParaRPr lang="zh-CN" sz="1600" b="1" i="1"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7" name="Rectangle 7"/>
          <p:cNvSpPr>
            <a:spLocks noChangeArrowheads="1"/>
          </p:cNvSpPr>
          <p:nvPr/>
        </p:nvSpPr>
        <p:spPr bwMode="auto">
          <a:xfrm>
            <a:off x="467544" y="3351350"/>
            <a:ext cx="4504681" cy="49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667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0">
              <a:lnSpc>
                <a:spcPct val="150000"/>
              </a:lnSpc>
            </a:pPr>
            <a:r>
              <a:rPr kumimoji="0" lang="en-US" altLang="zh-CN" sz="20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M</a:t>
            </a:r>
            <a:r>
              <a:rPr kumimoji="0" lang="en-US" altLang="zh-CN" sz="20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Ax</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4</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cos45</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zh-CN" sz="2000" dirty="0">
                <a:latin typeface="Times New Roman" panose="02020603050405020304" pitchFamily="18" charset="0"/>
                <a:cs typeface="Times New Roman" panose="02020603050405020304" pitchFamily="18" charset="0"/>
              </a:rPr>
              <a:t>a ̶ </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3</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 0 </a:t>
            </a:r>
            <a:r>
              <a:rPr kumimoji="0" lang="en-US" altLang="zh-CN"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kNm</a:t>
            </a:r>
            <a:endParaRPr kumimoji="0" lang="en-US" altLang="zh-CN" sz="2000" dirty="0">
              <a:sym typeface="Symbol" panose="05050102010706020507" pitchFamily="18" charset="2"/>
            </a:endParaRPr>
          </a:p>
        </p:txBody>
      </p:sp>
      <p:sp>
        <p:nvSpPr>
          <p:cNvPr id="105" name="矩形 104"/>
          <p:cNvSpPr/>
          <p:nvPr/>
        </p:nvSpPr>
        <p:spPr>
          <a:xfrm>
            <a:off x="368590" y="5299909"/>
            <a:ext cx="819034" cy="400110"/>
          </a:xfrm>
          <a:prstGeom prst="rect">
            <a:avLst/>
          </a:prstGeom>
        </p:spPr>
        <p:txBody>
          <a:bodyPr wrap="square">
            <a:spAutoFit/>
          </a:bodyPr>
          <a:lstStyle/>
          <a:p>
            <a:pPr lvl="0"/>
            <a:r>
              <a:rPr kumimoji="0" lang="zh-CN" altLang="en-US" sz="2000" dirty="0">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2</a:t>
            </a:r>
            <a:r>
              <a:rPr kumimoji="0" lang="zh-CN" altLang="en-US" sz="2000" dirty="0">
                <a:latin typeface="Times New Roman" panose="02020603050405020304" pitchFamily="18" charset="0"/>
                <a:cs typeface="Times New Roman" panose="02020603050405020304" pitchFamily="18" charset="0"/>
                <a:sym typeface="Symbol" panose="05050102010706020507" pitchFamily="18" charset="2"/>
              </a:rPr>
              <a:t>）</a:t>
            </a:r>
            <a:endParaRPr kumimoji="0" lang="zh-CN" altLang="en-US" sz="2000" b="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p:txBody>
      </p:sp>
      <p:sp>
        <p:nvSpPr>
          <p:cNvPr id="106" name="矩形 105"/>
          <p:cNvSpPr/>
          <p:nvPr/>
        </p:nvSpPr>
        <p:spPr>
          <a:xfrm>
            <a:off x="1215269" y="5299909"/>
            <a:ext cx="1277914" cy="400110"/>
          </a:xfrm>
          <a:prstGeom prst="rect">
            <a:avLst/>
          </a:prstGeom>
          <a:noFill/>
          <a:ln w="19050">
            <a:noFill/>
          </a:ln>
        </p:spPr>
        <p:txBody>
          <a:bodyPr wrap="none">
            <a:spAutoFit/>
          </a:bodyPr>
          <a:lstStyle/>
          <a:p>
            <a:r>
              <a:rPr kumimoji="0" lang="en-US" altLang="zh-CN" sz="2000" b="1" i="1" dirty="0">
                <a:latin typeface="Times New Roman" panose="02020603050405020304" pitchFamily="18" charset="0"/>
                <a:cs typeface="Times New Roman" panose="02020603050405020304" pitchFamily="18" charset="0"/>
              </a:rPr>
              <a:t>F</a:t>
            </a:r>
            <a:r>
              <a:rPr kumimoji="0" lang="en-US" altLang="zh-CN" sz="2000" i="1" baseline="-25000" dirty="0">
                <a:latin typeface="Times New Roman" panose="02020603050405020304" pitchFamily="18" charset="0"/>
                <a:cs typeface="Times New Roman" panose="02020603050405020304" pitchFamily="18" charset="0"/>
              </a:rPr>
              <a:t>R</a:t>
            </a:r>
            <a:r>
              <a:rPr kumimoji="0"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000" i="1" dirty="0">
                <a:latin typeface="Times New Roman" panose="02020603050405020304" pitchFamily="18" charset="0"/>
                <a:cs typeface="Times New Roman" panose="02020603050405020304" pitchFamily="18" charset="0"/>
              </a:rPr>
              <a:t> </a:t>
            </a:r>
            <a:r>
              <a:rPr kumimoji="0" lang="en-US" altLang="zh-CN" sz="2000" b="1" i="1" dirty="0">
                <a:latin typeface="Times New Roman" panose="02020603050405020304" pitchFamily="18" charset="0"/>
                <a:cs typeface="Times New Roman" panose="02020603050405020304" pitchFamily="18" charset="0"/>
              </a:rPr>
              <a:t>M</a:t>
            </a:r>
            <a:r>
              <a:rPr kumimoji="0" lang="en-US" altLang="zh-CN" sz="2000" i="1" baseline="-25000" dirty="0">
                <a:latin typeface="Times New Roman" panose="02020603050405020304" pitchFamily="18" charset="0"/>
                <a:cs typeface="Times New Roman" panose="02020603050405020304" pitchFamily="18" charset="0"/>
              </a:rPr>
              <a:t>O</a:t>
            </a:r>
            <a:r>
              <a:rPr kumimoji="0" lang="en-US" altLang="zh-CN" sz="2000" i="1" dirty="0">
                <a:latin typeface="Times New Roman" panose="02020603050405020304" pitchFamily="18" charset="0"/>
                <a:cs typeface="Times New Roman" panose="02020603050405020304" pitchFamily="18" charset="0"/>
              </a:rPr>
              <a:t> </a:t>
            </a:r>
            <a:r>
              <a:rPr kumimoji="0" lang="en-US" altLang="zh-CN" sz="2000" b="1" i="1" dirty="0">
                <a:latin typeface="Times New Roman" panose="02020603050405020304" pitchFamily="18" charset="0"/>
                <a:cs typeface="Times New Roman" panose="02020603050405020304" pitchFamily="18" charset="0"/>
              </a:rPr>
              <a:t>=</a:t>
            </a:r>
            <a:r>
              <a:rPr kumimoji="0" lang="en-US" altLang="zh-CN" sz="2000" dirty="0">
                <a:latin typeface="Times New Roman" panose="02020603050405020304" pitchFamily="18" charset="0"/>
                <a:cs typeface="Times New Roman" panose="02020603050405020304" pitchFamily="18" charset="0"/>
              </a:rPr>
              <a:t>0</a:t>
            </a:r>
            <a:endParaRPr lang="zh-CN" altLang="en-US" sz="2000" dirty="0">
              <a:latin typeface="Times New Roman" panose="02020603050405020304" pitchFamily="18" charset="0"/>
              <a:cs typeface="Times New Roman" panose="02020603050405020304" pitchFamily="18" charset="0"/>
            </a:endParaRPr>
          </a:p>
        </p:txBody>
      </p:sp>
      <p:graphicFrame>
        <p:nvGraphicFramePr>
          <p:cNvPr id="108" name="对象 107"/>
          <p:cNvGraphicFramePr>
            <a:graphicFrameLocks noChangeAspect="1"/>
          </p:cNvGraphicFramePr>
          <p:nvPr>
            <p:extLst>
              <p:ext uri="{D42A27DB-BD31-4B8C-83A1-F6EECF244321}">
                <p14:modId xmlns:p14="http://schemas.microsoft.com/office/powerpoint/2010/main" val="3358828364"/>
              </p:ext>
            </p:extLst>
          </p:nvPr>
        </p:nvGraphicFramePr>
        <p:xfrm>
          <a:off x="3021541" y="5073371"/>
          <a:ext cx="1656184" cy="853186"/>
        </p:xfrm>
        <a:graphic>
          <a:graphicData uri="http://schemas.openxmlformats.org/presentationml/2006/ole">
            <mc:AlternateContent xmlns:mc="http://schemas.openxmlformats.org/markup-compatibility/2006">
              <mc:Choice xmlns:v="urn:schemas-microsoft-com:vml" Requires="v">
                <p:oleObj spid="_x0000_s28687" name="Equation" r:id="rId5" imgW="939600" imgH="482400" progId="Equation.DSMT4">
                  <p:embed/>
                </p:oleObj>
              </mc:Choice>
              <mc:Fallback>
                <p:oleObj name="Equation" r:id="rId5" imgW="939600" imgH="482400" progId="Equation.DSMT4">
                  <p:embed/>
                  <p:pic>
                    <p:nvPicPr>
                      <p:cNvPr id="0" name=""/>
                      <p:cNvPicPr>
                        <a:picLocks noChangeAspect="1" noChangeArrowheads="1"/>
                      </p:cNvPicPr>
                      <p:nvPr/>
                    </p:nvPicPr>
                    <p:blipFill>
                      <a:blip r:embed="rId6"/>
                      <a:srcRect/>
                      <a:stretch>
                        <a:fillRect/>
                      </a:stretch>
                    </p:blipFill>
                    <p:spPr bwMode="auto">
                      <a:xfrm>
                        <a:off x="3021541" y="5073371"/>
                        <a:ext cx="1656184" cy="853186"/>
                      </a:xfrm>
                      <a:prstGeom prst="rect">
                        <a:avLst/>
                      </a:prstGeom>
                      <a:noFill/>
                    </p:spPr>
                  </p:pic>
                </p:oleObj>
              </mc:Fallback>
            </mc:AlternateContent>
          </a:graphicData>
        </a:graphic>
      </p:graphicFrame>
      <p:grpSp>
        <p:nvGrpSpPr>
          <p:cNvPr id="120" name="Group 1765"/>
          <p:cNvGrpSpPr>
            <a:grpSpLocks/>
          </p:cNvGrpSpPr>
          <p:nvPr/>
        </p:nvGrpSpPr>
        <p:grpSpPr bwMode="auto">
          <a:xfrm>
            <a:off x="6573756" y="4245965"/>
            <a:ext cx="2326458" cy="2206343"/>
            <a:chOff x="2220" y="4024"/>
            <a:chExt cx="2646" cy="2521"/>
          </a:xfrm>
        </p:grpSpPr>
        <p:grpSp>
          <p:nvGrpSpPr>
            <p:cNvPr id="122" name="Group 1737"/>
            <p:cNvGrpSpPr>
              <a:grpSpLocks/>
            </p:cNvGrpSpPr>
            <p:nvPr/>
          </p:nvGrpSpPr>
          <p:grpSpPr bwMode="auto">
            <a:xfrm>
              <a:off x="2516" y="4528"/>
              <a:ext cx="1858" cy="1627"/>
              <a:chOff x="2773" y="13456"/>
              <a:chExt cx="2161" cy="1857"/>
            </a:xfrm>
          </p:grpSpPr>
          <p:sp>
            <p:nvSpPr>
              <p:cNvPr id="144" name="Rectangle 1738"/>
              <p:cNvSpPr>
                <a:spLocks noChangeArrowheads="1"/>
              </p:cNvSpPr>
              <p:nvPr/>
            </p:nvSpPr>
            <p:spPr bwMode="auto">
              <a:xfrm>
                <a:off x="2781" y="14070"/>
                <a:ext cx="1345" cy="1243"/>
              </a:xfrm>
              <a:prstGeom prst="rect">
                <a:avLst/>
              </a:prstGeom>
              <a:solidFill>
                <a:srgbClr val="FFFFFF"/>
              </a:solidFill>
              <a:ln w="190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45" name="Line 1739"/>
              <p:cNvCxnSpPr>
                <a:cxnSpLocks noChangeShapeType="1"/>
              </p:cNvCxnSpPr>
              <p:nvPr/>
            </p:nvCxnSpPr>
            <p:spPr bwMode="auto">
              <a:xfrm flipV="1">
                <a:off x="2773" y="13465"/>
                <a:ext cx="803" cy="6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46" name="Line 1740"/>
              <p:cNvCxnSpPr>
                <a:cxnSpLocks noChangeShapeType="1"/>
              </p:cNvCxnSpPr>
              <p:nvPr/>
            </p:nvCxnSpPr>
            <p:spPr bwMode="auto">
              <a:xfrm flipV="1">
                <a:off x="2779" y="14672"/>
                <a:ext cx="810" cy="636"/>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47" name="Line 1741"/>
              <p:cNvCxnSpPr>
                <a:cxnSpLocks noChangeShapeType="1"/>
              </p:cNvCxnSpPr>
              <p:nvPr/>
            </p:nvCxnSpPr>
            <p:spPr bwMode="auto">
              <a:xfrm flipV="1">
                <a:off x="4118" y="13470"/>
                <a:ext cx="816" cy="6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48" name="Line 1742"/>
              <p:cNvCxnSpPr>
                <a:cxnSpLocks noChangeShapeType="1"/>
              </p:cNvCxnSpPr>
              <p:nvPr/>
            </p:nvCxnSpPr>
            <p:spPr bwMode="auto">
              <a:xfrm flipV="1">
                <a:off x="4124" y="14689"/>
                <a:ext cx="797" cy="6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49" name="Line 1743"/>
              <p:cNvCxnSpPr>
                <a:cxnSpLocks noChangeShapeType="1"/>
              </p:cNvCxnSpPr>
              <p:nvPr/>
            </p:nvCxnSpPr>
            <p:spPr bwMode="auto">
              <a:xfrm>
                <a:off x="3581" y="13456"/>
                <a:ext cx="0" cy="122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0" name="Line 1744"/>
              <p:cNvCxnSpPr>
                <a:cxnSpLocks noChangeShapeType="1"/>
              </p:cNvCxnSpPr>
              <p:nvPr/>
            </p:nvCxnSpPr>
            <p:spPr bwMode="auto">
              <a:xfrm>
                <a:off x="3589" y="14680"/>
                <a:ext cx="1337"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51" name="Line 1745"/>
              <p:cNvCxnSpPr>
                <a:cxnSpLocks noChangeShapeType="1"/>
              </p:cNvCxnSpPr>
              <p:nvPr/>
            </p:nvCxnSpPr>
            <p:spPr bwMode="auto">
              <a:xfrm>
                <a:off x="3581" y="13470"/>
                <a:ext cx="134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52" name="Line 1746"/>
              <p:cNvCxnSpPr>
                <a:cxnSpLocks noChangeShapeType="1"/>
              </p:cNvCxnSpPr>
              <p:nvPr/>
            </p:nvCxnSpPr>
            <p:spPr bwMode="auto">
              <a:xfrm flipH="1">
                <a:off x="4934" y="13470"/>
                <a:ext cx="0" cy="12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123" name="Line 1747"/>
            <p:cNvCxnSpPr>
              <a:cxnSpLocks noChangeShapeType="1"/>
            </p:cNvCxnSpPr>
            <p:nvPr/>
          </p:nvCxnSpPr>
          <p:spPr bwMode="auto">
            <a:xfrm>
              <a:off x="4318" y="5585"/>
              <a:ext cx="448" cy="0"/>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124" name="Line 1748"/>
            <p:cNvCxnSpPr>
              <a:cxnSpLocks noChangeShapeType="1"/>
            </p:cNvCxnSpPr>
            <p:nvPr/>
          </p:nvCxnSpPr>
          <p:spPr bwMode="auto">
            <a:xfrm flipV="1">
              <a:off x="3197" y="4133"/>
              <a:ext cx="0" cy="408"/>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125" name="Line 1749"/>
            <p:cNvCxnSpPr>
              <a:cxnSpLocks noChangeAspect="1" noChangeShapeType="1"/>
            </p:cNvCxnSpPr>
            <p:nvPr/>
          </p:nvCxnSpPr>
          <p:spPr bwMode="auto">
            <a:xfrm flipH="1">
              <a:off x="2220" y="6139"/>
              <a:ext cx="295" cy="261"/>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sp>
          <p:nvSpPr>
            <p:cNvPr id="126" name="Text Box 1750"/>
            <p:cNvSpPr txBox="1">
              <a:spLocks noChangeArrowheads="1"/>
            </p:cNvSpPr>
            <p:nvPr/>
          </p:nvSpPr>
          <p:spPr bwMode="auto">
            <a:xfrm>
              <a:off x="2353" y="6137"/>
              <a:ext cx="50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i="1" kern="100" dirty="0">
                  <a:effectLst/>
                  <a:latin typeface="Times New Roman" panose="02020603050405020304" pitchFamily="18" charset="0"/>
                  <a:ea typeface="宋体" panose="02010600030101010101" pitchFamily="2" charset="-122"/>
                  <a:cs typeface="Times New Roman" panose="02020603050405020304" pitchFamily="18" charset="0"/>
                </a:rPr>
                <a:t>x</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7" name="Text Box 1751"/>
            <p:cNvSpPr txBox="1">
              <a:spLocks noChangeArrowheads="1"/>
            </p:cNvSpPr>
            <p:nvPr/>
          </p:nvSpPr>
          <p:spPr bwMode="auto">
            <a:xfrm>
              <a:off x="4445" y="5486"/>
              <a:ext cx="421"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i="1" kern="100" dirty="0">
                  <a:effectLst/>
                  <a:latin typeface="Times New Roman" panose="02020603050405020304" pitchFamily="18" charset="0"/>
                  <a:ea typeface="宋体" panose="02010600030101010101" pitchFamily="2" charset="-122"/>
                  <a:cs typeface="Times New Roman" panose="02020603050405020304" pitchFamily="18" charset="0"/>
                </a:rPr>
                <a:t>y</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9" name="Text Box 1752"/>
            <p:cNvSpPr txBox="1">
              <a:spLocks noChangeArrowheads="1"/>
            </p:cNvSpPr>
            <p:nvPr/>
          </p:nvSpPr>
          <p:spPr bwMode="auto">
            <a:xfrm>
              <a:off x="3182" y="4024"/>
              <a:ext cx="50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i="1" kern="100" dirty="0">
                  <a:effectLst/>
                  <a:latin typeface="Times New Roman" panose="02020603050405020304" pitchFamily="18" charset="0"/>
                  <a:ea typeface="宋体" panose="02010600030101010101" pitchFamily="2" charset="-122"/>
                  <a:cs typeface="Times New Roman" panose="02020603050405020304" pitchFamily="18" charset="0"/>
                </a:rPr>
                <a:t>z</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0" name="Text Box 1754"/>
            <p:cNvSpPr txBox="1">
              <a:spLocks noChangeArrowheads="1"/>
            </p:cNvSpPr>
            <p:nvPr/>
          </p:nvSpPr>
          <p:spPr bwMode="auto">
            <a:xfrm>
              <a:off x="2952" y="5333"/>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latin typeface="Times New Roman" panose="02020603050405020304" pitchFamily="18" charset="0"/>
                  <a:ea typeface="宋体" panose="02010600030101010101" pitchFamily="2" charset="-122"/>
                  <a:cs typeface="Times New Roman" panose="02020603050405020304" pitchFamily="18" charset="0"/>
                </a:rPr>
                <a:t>A</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1" name="Text Box 1755"/>
            <p:cNvSpPr txBox="1">
              <a:spLocks noChangeArrowheads="1"/>
            </p:cNvSpPr>
            <p:nvPr/>
          </p:nvSpPr>
          <p:spPr bwMode="auto">
            <a:xfrm>
              <a:off x="4390" y="5259"/>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latin typeface="Times New Roman" panose="02020603050405020304" pitchFamily="18" charset="0"/>
                  <a:ea typeface="宋体" panose="02010600030101010101" pitchFamily="2" charset="-122"/>
                  <a:cs typeface="Times New Roman" panose="02020603050405020304" pitchFamily="18" charset="0"/>
                </a:rPr>
                <a:t>B</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2" name="Line 1756"/>
            <p:cNvCxnSpPr>
              <a:cxnSpLocks noChangeShapeType="1"/>
            </p:cNvCxnSpPr>
            <p:nvPr/>
          </p:nvCxnSpPr>
          <p:spPr bwMode="auto">
            <a:xfrm rot="-7860000">
              <a:off x="4173" y="5498"/>
              <a:ext cx="1" cy="502"/>
            </a:xfrm>
            <a:prstGeom prst="line">
              <a:avLst/>
            </a:prstGeom>
            <a:noFill/>
            <a:ln w="28575">
              <a:solidFill>
                <a:srgbClr val="FF0000"/>
              </a:solidFill>
              <a:round/>
              <a:headEnd type="triangle" w="sm" len="lg"/>
              <a:tailEnd type="none" w="sm" len="lg"/>
            </a:ln>
            <a:extLst>
              <a:ext uri="{909E8E84-426E-40DD-AFC4-6F175D3DCCD1}">
                <a14:hiddenFill xmlns:a14="http://schemas.microsoft.com/office/drawing/2010/main">
                  <a:noFill/>
                </a14:hiddenFill>
              </a:ext>
            </a:extLst>
          </p:spPr>
        </p:cxnSp>
        <p:sp>
          <p:nvSpPr>
            <p:cNvPr id="143" name="Text Box 1763"/>
            <p:cNvSpPr txBox="1">
              <a:spLocks noChangeArrowheads="1"/>
            </p:cNvSpPr>
            <p:nvPr/>
          </p:nvSpPr>
          <p:spPr bwMode="auto">
            <a:xfrm>
              <a:off x="3984" y="5816"/>
              <a:ext cx="585" cy="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F</a:t>
              </a:r>
              <a:r>
                <a:rPr lang="en-US" sz="1600" i="1" kern="100" baseline="-250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R</a:t>
              </a:r>
              <a:endParaRPr lang="zh-CN" sz="16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grpSp>
      <p:graphicFrame>
        <p:nvGraphicFramePr>
          <p:cNvPr id="153" name="Object 29"/>
          <p:cNvGraphicFramePr>
            <a:graphicFrameLocks noChangeAspect="1"/>
          </p:cNvGraphicFramePr>
          <p:nvPr>
            <p:extLst>
              <p:ext uri="{D42A27DB-BD31-4B8C-83A1-F6EECF244321}">
                <p14:modId xmlns:p14="http://schemas.microsoft.com/office/powerpoint/2010/main" val="4226350005"/>
              </p:ext>
            </p:extLst>
          </p:nvPr>
        </p:nvGraphicFramePr>
        <p:xfrm>
          <a:off x="899838" y="5720349"/>
          <a:ext cx="2137859" cy="773605"/>
        </p:xfrm>
        <a:graphic>
          <a:graphicData uri="http://schemas.openxmlformats.org/presentationml/2006/ole">
            <mc:AlternateContent xmlns:mc="http://schemas.openxmlformats.org/markup-compatibility/2006">
              <mc:Choice xmlns:v="urn:schemas-microsoft-com:vml" Requires="v">
                <p:oleObj spid="_x0000_s28688" name="Equation" r:id="rId7" imgW="1218960" imgH="444240" progId="Equation.DSMT4">
                  <p:embed/>
                </p:oleObj>
              </mc:Choice>
              <mc:Fallback>
                <p:oleObj name="Equation" r:id="rId7" imgW="1218960" imgH="444240" progId="Equation.DSMT4">
                  <p:embed/>
                  <p:pic>
                    <p:nvPicPr>
                      <p:cNvPr id="0" name=""/>
                      <p:cNvPicPr>
                        <a:picLocks noChangeAspect="1" noChangeArrowheads="1"/>
                      </p:cNvPicPr>
                      <p:nvPr/>
                    </p:nvPicPr>
                    <p:blipFill>
                      <a:blip r:embed="rId8"/>
                      <a:srcRect/>
                      <a:stretch>
                        <a:fillRect/>
                      </a:stretch>
                    </p:blipFill>
                    <p:spPr bwMode="auto">
                      <a:xfrm>
                        <a:off x="899838" y="5720349"/>
                        <a:ext cx="2137859" cy="773605"/>
                      </a:xfrm>
                      <a:prstGeom prst="rect">
                        <a:avLst/>
                      </a:prstGeom>
                      <a:noFill/>
                      <a:ln>
                        <a:noFill/>
                      </a:ln>
                      <a:effectLst/>
                    </p:spPr>
                  </p:pic>
                </p:oleObj>
              </mc:Fallback>
            </mc:AlternateContent>
          </a:graphicData>
        </a:graphic>
      </p:graphicFrame>
      <p:sp>
        <p:nvSpPr>
          <p:cNvPr id="154" name="Text Box 40"/>
          <p:cNvSpPr txBox="1">
            <a:spLocks noChangeArrowheads="1"/>
          </p:cNvSpPr>
          <p:nvPr/>
        </p:nvSpPr>
        <p:spPr bwMode="auto">
          <a:xfrm>
            <a:off x="3732182" y="5911737"/>
            <a:ext cx="232760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zh-CN" altLang="en-US" sz="2000" b="1" dirty="0">
                <a:solidFill>
                  <a:srgbClr val="990000"/>
                </a:solidFill>
                <a:latin typeface="楷体" panose="02010609060101010101" pitchFamily="49" charset="-122"/>
                <a:ea typeface="楷体" panose="02010609060101010101" pitchFamily="49" charset="-122"/>
              </a:rPr>
              <a:t>请同学们自己讨论合力的作用线方程</a:t>
            </a:r>
          </a:p>
        </p:txBody>
      </p:sp>
      <p:sp>
        <p:nvSpPr>
          <p:cNvPr id="5" name="矩形 4"/>
          <p:cNvSpPr/>
          <p:nvPr/>
        </p:nvSpPr>
        <p:spPr>
          <a:xfrm>
            <a:off x="575127" y="4736553"/>
            <a:ext cx="2217274" cy="501291"/>
          </a:xfrm>
          <a:prstGeom prst="rect">
            <a:avLst/>
          </a:prstGeom>
        </p:spPr>
        <p:txBody>
          <a:bodyPr wrap="none">
            <a:spAutoFit/>
          </a:bodyPr>
          <a:lstStyle/>
          <a:p>
            <a:pPr lvl="0">
              <a:lnSpc>
                <a:spcPct val="150000"/>
              </a:lnSpc>
            </a:pPr>
            <a:r>
              <a:rPr kumimoji="0" lang="zh-CN" altLang="en-US" sz="2000" b="1" dirty="0">
                <a:solidFill>
                  <a:srgbClr val="FF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主矩</a:t>
            </a:r>
            <a:r>
              <a:rPr kumimoji="0" lang="zh-CN" altLang="en-US" sz="2000" dirty="0">
                <a:latin typeface="Calibri" panose="020F0502020204030204" pitchFamily="34" charset="0"/>
                <a:cs typeface="Times New Roman" panose="02020603050405020304" pitchFamily="18" charset="0"/>
                <a:sym typeface="Symbol" panose="05050102010706020507" pitchFamily="18" charset="2"/>
              </a:rPr>
              <a:t> </a:t>
            </a:r>
            <a:r>
              <a:rPr kumimoji="0" lang="en-US" altLang="zh-CN" sz="2000" b="1" i="1" dirty="0">
                <a:cs typeface="Times New Roman" panose="02020603050405020304" pitchFamily="18" charset="0"/>
                <a:sym typeface="Symbol" panose="05050102010706020507" pitchFamily="18" charset="2"/>
              </a:rPr>
              <a:t>M</a:t>
            </a:r>
            <a:r>
              <a:rPr kumimoji="0" lang="en-US" altLang="zh-CN" sz="2000" i="1" baseline="-30000" dirty="0">
                <a:cs typeface="Times New Roman" panose="02020603050405020304" pitchFamily="18" charset="0"/>
                <a:sym typeface="Symbol" panose="05050102010706020507" pitchFamily="18" charset="2"/>
              </a:rPr>
              <a:t>A</a:t>
            </a:r>
            <a:r>
              <a:rPr kumimoji="0" lang="en-US" altLang="zh-CN" sz="2000" dirty="0">
                <a:cs typeface="Times New Roman" panose="02020603050405020304" pitchFamily="18" charset="0"/>
                <a:sym typeface="Symbol" panose="05050102010706020507" pitchFamily="18" charset="2"/>
              </a:rPr>
              <a:t>= </a:t>
            </a:r>
            <a:r>
              <a:rPr kumimoji="0" lang="en-US" altLang="zh-CN" sz="2000" dirty="0">
                <a:cs typeface="Times New Roman" panose="02020603050405020304" pitchFamily="18" charset="0"/>
              </a:rPr>
              <a:t> ̶ </a:t>
            </a:r>
            <a:r>
              <a:rPr kumimoji="0" lang="en-US" altLang="zh-CN" sz="2000" dirty="0">
                <a:cs typeface="Times New Roman" panose="02020603050405020304" pitchFamily="18" charset="0"/>
                <a:sym typeface="Symbol" panose="05050102010706020507" pitchFamily="18" charset="2"/>
              </a:rPr>
              <a:t>3</a:t>
            </a:r>
            <a:r>
              <a:rPr kumimoji="0" lang="en-US" altLang="zh-CN" sz="2000" b="1" i="1" dirty="0">
                <a:cs typeface="Times New Roman" panose="02020603050405020304" pitchFamily="18" charset="0"/>
                <a:sym typeface="Symbol" panose="05050102010706020507" pitchFamily="18" charset="2"/>
              </a:rPr>
              <a:t>k</a:t>
            </a:r>
            <a:r>
              <a:rPr kumimoji="0" lang="en-US" altLang="zh-CN" sz="2000" dirty="0">
                <a:cs typeface="Times New Roman" panose="02020603050405020304" pitchFamily="18" charset="0"/>
                <a:sym typeface="Symbol" panose="05050102010706020507" pitchFamily="18" charset="2"/>
              </a:rPr>
              <a:t>kNm</a:t>
            </a:r>
            <a:endParaRPr kumimoji="0" lang="en-US" altLang="zh-CN" sz="2000" dirty="0">
              <a:sym typeface="Symbol" panose="05050102010706020507" pitchFamily="18" charset="2"/>
            </a:endParaRPr>
          </a:p>
        </p:txBody>
      </p:sp>
      <p:sp>
        <p:nvSpPr>
          <p:cNvPr id="155" name="Rectangle 7"/>
          <p:cNvSpPr>
            <a:spLocks noChangeArrowheads="1"/>
          </p:cNvSpPr>
          <p:nvPr/>
        </p:nvSpPr>
        <p:spPr bwMode="auto">
          <a:xfrm>
            <a:off x="457011" y="3784009"/>
            <a:ext cx="450468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667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0">
              <a:lnSpc>
                <a:spcPct val="150000"/>
              </a:lnSpc>
            </a:pPr>
            <a:r>
              <a:rPr kumimoji="0" lang="en-US" altLang="zh-CN" sz="20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M</a:t>
            </a:r>
            <a:r>
              <a:rPr kumimoji="0" lang="en-US" altLang="zh-CN" sz="20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Ay</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dirty="0">
                <a:latin typeface="Times New Roman" panose="02020603050405020304" pitchFamily="18" charset="0"/>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1</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a:t>
            </a:r>
            <a:r>
              <a:rPr kumimoji="0" lang="en-US" altLang="zh-CN" sz="2000" dirty="0">
                <a:latin typeface="Times New Roman" panose="02020603050405020304" pitchFamily="18" charset="0"/>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2</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3</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4</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cos45</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 0 </a:t>
            </a:r>
            <a:r>
              <a:rPr kumimoji="0" lang="en-US" altLang="zh-CN"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kNm</a:t>
            </a:r>
            <a:endParaRPr kumimoji="0" lang="en-US" altLang="zh-CN" sz="2000" dirty="0">
              <a:sym typeface="Symbol" panose="05050102010706020507" pitchFamily="18" charset="2"/>
            </a:endParaRPr>
          </a:p>
        </p:txBody>
      </p:sp>
      <p:sp>
        <p:nvSpPr>
          <p:cNvPr id="156" name="Rectangle 7"/>
          <p:cNvSpPr>
            <a:spLocks noChangeArrowheads="1"/>
          </p:cNvSpPr>
          <p:nvPr/>
        </p:nvSpPr>
        <p:spPr bwMode="auto">
          <a:xfrm>
            <a:off x="463759" y="4281709"/>
            <a:ext cx="450468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6675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0">
              <a:lnSpc>
                <a:spcPct val="150000"/>
              </a:lnSpc>
            </a:pPr>
            <a:r>
              <a:rPr kumimoji="0" lang="en-US" altLang="zh-CN" sz="20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M</a:t>
            </a:r>
            <a:r>
              <a:rPr kumimoji="0" lang="en-US" altLang="zh-CN" sz="2000" b="0" i="1" u="none" strike="noStrike" cap="none" normalizeH="0" baseline="-30000" dirty="0" err="1">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Az</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2000" dirty="0">
                <a:latin typeface="Times New Roman" panose="02020603050405020304" pitchFamily="18" charset="0"/>
                <a:cs typeface="Times New Roman" panose="02020603050405020304" pitchFamily="18" charset="0"/>
              </a:rPr>
              <a:t> ̶ </a:t>
            </a:r>
            <a:r>
              <a:rPr kumimoji="0" lang="en-US" altLang="zh-CN"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F</a:t>
            </a:r>
            <a:r>
              <a:rPr kumimoji="0" lang="en-US" altLang="zh-CN" sz="20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4</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rPr>
              <a:t>cos45</a:t>
            </a:r>
            <a:r>
              <a:rPr kumimoji="0" lang="en-US"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 </a:t>
            </a:r>
            <a:r>
              <a:rPr kumimoji="0" lang="en-US" altLang="zh-CN" sz="2000" dirty="0">
                <a:latin typeface="Times New Roman" panose="02020603050405020304" pitchFamily="18" charset="0"/>
                <a:cs typeface="Times New Roman" panose="02020603050405020304" pitchFamily="18" charset="0"/>
              </a:rPr>
              <a:t> ̶ 3 </a:t>
            </a:r>
            <a:r>
              <a:rPr kumimoji="0" lang="en-US" altLang="zh-CN"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kNm</a:t>
            </a:r>
            <a:endParaRPr kumimoji="0" lang="en-US" altLang="zh-CN" sz="2000" dirty="0">
              <a:sym typeface="Symbol" panose="05050102010706020507" pitchFamily="18" charset="2"/>
            </a:endParaRPr>
          </a:p>
        </p:txBody>
      </p:sp>
    </p:spTree>
    <p:extLst>
      <p:ext uri="{BB962C8B-B14F-4D97-AF65-F5344CB8AC3E}">
        <p14:creationId xmlns:p14="http://schemas.microsoft.com/office/powerpoint/2010/main" val="196835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out)">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wipe(up)">
                                      <p:cBhvr>
                                        <p:cTn id="12" dur="500"/>
                                        <p:tgtEl>
                                          <p:spTgt spid="1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wipe(up)">
                                      <p:cBhvr>
                                        <p:cTn id="17" dur="500"/>
                                        <p:tgtEl>
                                          <p:spTgt spid="6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5"/>
                                        </p:tgtEl>
                                        <p:attrNameLst>
                                          <p:attrName>style.visibility</p:attrName>
                                        </p:attrNameLst>
                                      </p:cBhvr>
                                      <p:to>
                                        <p:strVal val="visible"/>
                                      </p:to>
                                    </p:set>
                                    <p:animEffect transition="in" filter="wipe(up)">
                                      <p:cBhvr>
                                        <p:cTn id="22" dur="500"/>
                                        <p:tgtEl>
                                          <p:spTgt spid="15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6"/>
                                        </p:tgtEl>
                                        <p:attrNameLst>
                                          <p:attrName>style.visibility</p:attrName>
                                        </p:attrNameLst>
                                      </p:cBhvr>
                                      <p:to>
                                        <p:strVal val="visible"/>
                                      </p:to>
                                    </p:set>
                                    <p:animEffect transition="in" filter="wipe(up)">
                                      <p:cBhvr>
                                        <p:cTn id="27" dur="500"/>
                                        <p:tgtEl>
                                          <p:spTgt spid="15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2" fill="hold" nodeType="clickEffect">
                                  <p:stCondLst>
                                    <p:cond delay="0"/>
                                  </p:stCondLst>
                                  <p:childTnLst>
                                    <p:set>
                                      <p:cBhvr>
                                        <p:cTn id="36" dur="1" fill="hold">
                                          <p:stCondLst>
                                            <p:cond delay="0"/>
                                          </p:stCondLst>
                                        </p:cTn>
                                        <p:tgtEl>
                                          <p:spTgt spid="110"/>
                                        </p:tgtEl>
                                        <p:attrNameLst>
                                          <p:attrName>style.visibility</p:attrName>
                                        </p:attrNameLst>
                                      </p:cBhvr>
                                      <p:to>
                                        <p:strVal val="visible"/>
                                      </p:to>
                                    </p:set>
                                    <p:anim calcmode="lin" valueType="num">
                                      <p:cBhvr additive="base">
                                        <p:cTn id="37" dur="500"/>
                                        <p:tgtEl>
                                          <p:spTgt spid="110"/>
                                        </p:tgtEl>
                                        <p:attrNameLst>
                                          <p:attrName>ppt_x</p:attrName>
                                        </p:attrNameLst>
                                      </p:cBhvr>
                                      <p:tavLst>
                                        <p:tav tm="0">
                                          <p:val>
                                            <p:strVal val="#ppt_x+#ppt_w*1.125000"/>
                                          </p:val>
                                        </p:tav>
                                        <p:tav tm="100000">
                                          <p:val>
                                            <p:strVal val="#ppt_x"/>
                                          </p:val>
                                        </p:tav>
                                      </p:tavLst>
                                    </p:anim>
                                    <p:animEffect transition="in" filter="wipe(left)">
                                      <p:cBhvr>
                                        <p:cTn id="38" dur="500"/>
                                        <p:tgtEl>
                                          <p:spTgt spid="110"/>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32" fill="hold" grpId="0" nodeType="clickEffect">
                                  <p:stCondLst>
                                    <p:cond delay="0"/>
                                  </p:stCondLst>
                                  <p:childTnLst>
                                    <p:set>
                                      <p:cBhvr>
                                        <p:cTn id="42" dur="1" fill="hold">
                                          <p:stCondLst>
                                            <p:cond delay="0"/>
                                          </p:stCondLst>
                                        </p:cTn>
                                        <p:tgtEl>
                                          <p:spTgt spid="105"/>
                                        </p:tgtEl>
                                        <p:attrNameLst>
                                          <p:attrName>style.visibility</p:attrName>
                                        </p:attrNameLst>
                                      </p:cBhvr>
                                      <p:to>
                                        <p:strVal val="visible"/>
                                      </p:to>
                                    </p:set>
                                    <p:animEffect transition="in" filter="circle(out)">
                                      <p:cBhvr>
                                        <p:cTn id="43" dur="750"/>
                                        <p:tgtEl>
                                          <p:spTgt spid="10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6"/>
                                        </p:tgtEl>
                                        <p:attrNameLst>
                                          <p:attrName>style.visibility</p:attrName>
                                        </p:attrNameLst>
                                      </p:cBhvr>
                                      <p:to>
                                        <p:strVal val="visible"/>
                                      </p:to>
                                    </p:set>
                                    <p:animEffect transition="in" filter="wipe(left)">
                                      <p:cBhvr>
                                        <p:cTn id="48" dur="500"/>
                                        <p:tgtEl>
                                          <p:spTgt spid="106"/>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32" fill="hold" nodeType="clickEffect">
                                  <p:stCondLst>
                                    <p:cond delay="0"/>
                                  </p:stCondLst>
                                  <p:childTnLst>
                                    <p:set>
                                      <p:cBhvr>
                                        <p:cTn id="52" dur="1" fill="hold">
                                          <p:stCondLst>
                                            <p:cond delay="0"/>
                                          </p:stCondLst>
                                        </p:cTn>
                                        <p:tgtEl>
                                          <p:spTgt spid="108"/>
                                        </p:tgtEl>
                                        <p:attrNameLst>
                                          <p:attrName>style.visibility</p:attrName>
                                        </p:attrNameLst>
                                      </p:cBhvr>
                                      <p:to>
                                        <p:strVal val="visible"/>
                                      </p:to>
                                    </p:set>
                                    <p:animEffect transition="in" filter="circle(out)">
                                      <p:cBhvr>
                                        <p:cTn id="53" dur="500"/>
                                        <p:tgtEl>
                                          <p:spTgt spid="108"/>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2" fill="hold" nodeType="clickEffect">
                                  <p:stCondLst>
                                    <p:cond delay="0"/>
                                  </p:stCondLst>
                                  <p:childTnLst>
                                    <p:set>
                                      <p:cBhvr>
                                        <p:cTn id="57" dur="1" fill="hold">
                                          <p:stCondLst>
                                            <p:cond delay="0"/>
                                          </p:stCondLst>
                                        </p:cTn>
                                        <p:tgtEl>
                                          <p:spTgt spid="120"/>
                                        </p:tgtEl>
                                        <p:attrNameLst>
                                          <p:attrName>style.visibility</p:attrName>
                                        </p:attrNameLst>
                                      </p:cBhvr>
                                      <p:to>
                                        <p:strVal val="visible"/>
                                      </p:to>
                                    </p:set>
                                    <p:anim calcmode="lin" valueType="num">
                                      <p:cBhvr additive="base">
                                        <p:cTn id="58" dur="500"/>
                                        <p:tgtEl>
                                          <p:spTgt spid="120"/>
                                        </p:tgtEl>
                                        <p:attrNameLst>
                                          <p:attrName>ppt_x</p:attrName>
                                        </p:attrNameLst>
                                      </p:cBhvr>
                                      <p:tavLst>
                                        <p:tav tm="0">
                                          <p:val>
                                            <p:strVal val="#ppt_x+#ppt_w*1.125000"/>
                                          </p:val>
                                        </p:tav>
                                        <p:tav tm="100000">
                                          <p:val>
                                            <p:strVal val="#ppt_x"/>
                                          </p:val>
                                        </p:tav>
                                      </p:tavLst>
                                    </p:anim>
                                    <p:animEffect transition="in" filter="wipe(left)">
                                      <p:cBhvr>
                                        <p:cTn id="59" dur="500"/>
                                        <p:tgtEl>
                                          <p:spTgt spid="120"/>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153"/>
                                        </p:tgtEl>
                                        <p:attrNameLst>
                                          <p:attrName>style.visibility</p:attrName>
                                        </p:attrNameLst>
                                      </p:cBhvr>
                                      <p:to>
                                        <p:strVal val="visible"/>
                                      </p:to>
                                    </p:set>
                                    <p:animEffect transition="in" filter="box(out)">
                                      <p:cBhvr>
                                        <p:cTn id="64" dur="500"/>
                                        <p:tgtEl>
                                          <p:spTgt spid="153"/>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4" fill="hold" grpId="0" nodeType="clickEffect">
                                  <p:stCondLst>
                                    <p:cond delay="0"/>
                                  </p:stCondLst>
                                  <p:childTnLst>
                                    <p:set>
                                      <p:cBhvr>
                                        <p:cTn id="68" dur="1" fill="hold">
                                          <p:stCondLst>
                                            <p:cond delay="0"/>
                                          </p:stCondLst>
                                        </p:cTn>
                                        <p:tgtEl>
                                          <p:spTgt spid="154"/>
                                        </p:tgtEl>
                                        <p:attrNameLst>
                                          <p:attrName>style.visibility</p:attrName>
                                        </p:attrNameLst>
                                      </p:cBhvr>
                                      <p:to>
                                        <p:strVal val="visible"/>
                                      </p:to>
                                    </p:set>
                                    <p:animEffect transition="in" filter="slide(fromBottom)">
                                      <p:cBhvr>
                                        <p:cTn id="69"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67" grpId="0"/>
      <p:bldP spid="105" grpId="0"/>
      <p:bldP spid="106" grpId="0"/>
      <p:bldP spid="154" grpId="0"/>
      <p:bldP spid="5" grpId="0"/>
      <p:bldP spid="155" grpId="0"/>
      <p:bldP spid="15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9615" y="479309"/>
            <a:ext cx="5922882" cy="1200329"/>
          </a:xfrm>
          <a:prstGeom prst="rect">
            <a:avLst/>
          </a:prstGeom>
        </p:spPr>
        <p:txBody>
          <a:bodyPr wrap="square">
            <a:spAutoFit/>
          </a:bodyPr>
          <a:lstStyle/>
          <a:p>
            <a:pPr>
              <a:spcAft>
                <a:spcPts val="0"/>
              </a:spcAft>
            </a:pPr>
            <a:r>
              <a:rPr lang="zh-CN" altLang="en-US" b="1" kern="1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例</a:t>
            </a:r>
            <a:r>
              <a:rPr lang="zh-CN" altLang="en-US" b="1" kern="100" dirty="0">
                <a:latin typeface="楷体" panose="02010609060101010101" pitchFamily="49" charset="-122"/>
                <a:ea typeface="楷体" panose="02010609060101010101" pitchFamily="49" charset="-122"/>
                <a:cs typeface="Times New Roman" panose="02020603050405020304" pitchFamily="18" charset="0"/>
              </a:rPr>
              <a:t> </a:t>
            </a:r>
            <a:r>
              <a:rPr lang="zh-CN" altLang="zh-CN" b="1" kern="100" dirty="0">
                <a:latin typeface="楷体" panose="02010609060101010101" pitchFamily="49" charset="-122"/>
                <a:ea typeface="楷体" panose="02010609060101010101" pitchFamily="49" charset="-122"/>
                <a:cs typeface="Times New Roman" panose="02020603050405020304" pitchFamily="18" charset="0"/>
              </a:rPr>
              <a:t>在棱长为</a:t>
            </a:r>
            <a:r>
              <a:rPr lang="en-US" altLang="zh-CN" i="1" kern="100" dirty="0">
                <a:latin typeface="+mn-lt"/>
                <a:ea typeface="楷体" panose="02010609060101010101" pitchFamily="49" charset="-122"/>
                <a:cs typeface="Times New Roman" panose="02020603050405020304" pitchFamily="18" charset="0"/>
              </a:rPr>
              <a:t>a</a:t>
            </a:r>
            <a:r>
              <a:rPr lang="zh-CN" altLang="zh-CN" b="1" kern="100" dirty="0">
                <a:latin typeface="楷体" panose="02010609060101010101" pitchFamily="49" charset="-122"/>
                <a:ea typeface="楷体" panose="02010609060101010101" pitchFamily="49" charset="-122"/>
                <a:cs typeface="Times New Roman" panose="02020603050405020304" pitchFamily="18" charset="0"/>
              </a:rPr>
              <a:t>的正四面体上沿棱边</a:t>
            </a:r>
            <a:r>
              <a:rPr lang="en-US" altLang="zh-CN" i="1" kern="100" dirty="0">
                <a:latin typeface="+mn-lt"/>
                <a:ea typeface="楷体" panose="02010609060101010101" pitchFamily="49" charset="-122"/>
                <a:cs typeface="Times New Roman" panose="02020603050405020304" pitchFamily="18" charset="0"/>
              </a:rPr>
              <a:t>AB</a:t>
            </a:r>
            <a:r>
              <a:rPr lang="zh-CN" altLang="zh-CN" b="1" kern="100" dirty="0">
                <a:latin typeface="楷体" panose="02010609060101010101" pitchFamily="49" charset="-122"/>
                <a:ea typeface="楷体" panose="02010609060101010101" pitchFamily="49" charset="-122"/>
                <a:cs typeface="Times New Roman" panose="02020603050405020304" pitchFamily="18" charset="0"/>
              </a:rPr>
              <a:t>作用力</a:t>
            </a:r>
            <a:r>
              <a:rPr lang="en-US" altLang="zh-CN" b="1" i="1" kern="100" dirty="0">
                <a:latin typeface="+mn-lt"/>
                <a:ea typeface="楷体" panose="02010609060101010101" pitchFamily="49" charset="-122"/>
                <a:cs typeface="Times New Roman" panose="02020603050405020304" pitchFamily="18" charset="0"/>
              </a:rPr>
              <a:t>F</a:t>
            </a:r>
            <a:r>
              <a:rPr lang="en-US" altLang="zh-CN" b="1" kern="100" baseline="-25000" dirty="0">
                <a:latin typeface="+mn-lt"/>
                <a:ea typeface="楷体" panose="02010609060101010101" pitchFamily="49" charset="-122"/>
                <a:cs typeface="Times New Roman" panose="02020603050405020304" pitchFamily="18" charset="0"/>
              </a:rPr>
              <a:t>1</a:t>
            </a:r>
            <a:r>
              <a:rPr lang="zh-CN" altLang="zh-CN" b="1" kern="100" dirty="0">
                <a:latin typeface="楷体" panose="02010609060101010101" pitchFamily="49" charset="-122"/>
                <a:ea typeface="楷体" panose="02010609060101010101" pitchFamily="49" charset="-122"/>
                <a:cs typeface="Times New Roman" panose="02020603050405020304" pitchFamily="18" charset="0"/>
              </a:rPr>
              <a:t>，沿棱边</a:t>
            </a:r>
            <a:r>
              <a:rPr lang="en-US" altLang="zh-CN" i="1" kern="100" dirty="0">
                <a:latin typeface="+mn-lt"/>
                <a:ea typeface="楷体" panose="02010609060101010101" pitchFamily="49" charset="-122"/>
                <a:cs typeface="Times New Roman" panose="02020603050405020304" pitchFamily="18" charset="0"/>
              </a:rPr>
              <a:t>CD</a:t>
            </a:r>
            <a:r>
              <a:rPr lang="zh-CN" altLang="zh-CN" b="1" kern="100" dirty="0">
                <a:latin typeface="楷体" panose="02010609060101010101" pitchFamily="49" charset="-122"/>
                <a:ea typeface="楷体" panose="02010609060101010101" pitchFamily="49" charset="-122"/>
                <a:cs typeface="Times New Roman" panose="02020603050405020304" pitchFamily="18" charset="0"/>
              </a:rPr>
              <a:t>作用力</a:t>
            </a:r>
            <a:r>
              <a:rPr lang="en-US" altLang="zh-CN" b="1" i="1" kern="100" dirty="0">
                <a:latin typeface="+mn-lt"/>
                <a:ea typeface="楷体" panose="02010609060101010101" pitchFamily="49" charset="-122"/>
                <a:cs typeface="Times New Roman" panose="02020603050405020304" pitchFamily="18" charset="0"/>
              </a:rPr>
              <a:t>F</a:t>
            </a:r>
            <a:r>
              <a:rPr lang="en-US" altLang="zh-CN" b="1" kern="100" baseline="-25000" dirty="0">
                <a:latin typeface="+mn-lt"/>
                <a:ea typeface="楷体" panose="02010609060101010101" pitchFamily="49" charset="-122"/>
                <a:cs typeface="Times New Roman" panose="02020603050405020304" pitchFamily="18" charset="0"/>
              </a:rPr>
              <a:t>2</a:t>
            </a:r>
            <a:r>
              <a:rPr lang="zh-CN" altLang="zh-CN" b="1" kern="100" dirty="0">
                <a:latin typeface="楷体" panose="02010609060101010101" pitchFamily="49" charset="-122"/>
                <a:ea typeface="楷体" panose="02010609060101010101" pitchFamily="49" charset="-122"/>
                <a:cs typeface="Times New Roman" panose="02020603050405020304" pitchFamily="18" charset="0"/>
              </a:rPr>
              <a:t>，设</a:t>
            </a:r>
            <a:r>
              <a:rPr lang="en-US" altLang="zh-CN" i="1" kern="100" dirty="0">
                <a:latin typeface="+mn-lt"/>
                <a:ea typeface="楷体" panose="02010609060101010101" pitchFamily="49" charset="-122"/>
                <a:cs typeface="Times New Roman" panose="02020603050405020304" pitchFamily="18" charset="0"/>
              </a:rPr>
              <a:t>F</a:t>
            </a:r>
            <a:r>
              <a:rPr lang="en-US" altLang="zh-CN" b="1" kern="100" baseline="-25000" dirty="0">
                <a:latin typeface="+mn-lt"/>
                <a:ea typeface="楷体" panose="02010609060101010101" pitchFamily="49" charset="-122"/>
                <a:cs typeface="Times New Roman" panose="02020603050405020304" pitchFamily="18" charset="0"/>
              </a:rPr>
              <a:t>1</a:t>
            </a:r>
            <a:r>
              <a:rPr lang="en-US" altLang="zh-CN" b="1" kern="100" dirty="0">
                <a:latin typeface="+mn-lt"/>
                <a:ea typeface="楷体" panose="02010609060101010101" pitchFamily="49" charset="-122"/>
                <a:cs typeface="Times New Roman" panose="02020603050405020304" pitchFamily="18" charset="0"/>
              </a:rPr>
              <a:t>=</a:t>
            </a:r>
            <a:r>
              <a:rPr lang="en-US" altLang="zh-CN" i="1" kern="100" dirty="0">
                <a:latin typeface="+mn-lt"/>
                <a:ea typeface="楷体" panose="02010609060101010101" pitchFamily="49" charset="-122"/>
                <a:cs typeface="Times New Roman" panose="02020603050405020304" pitchFamily="18" charset="0"/>
              </a:rPr>
              <a:t>F</a:t>
            </a:r>
            <a:r>
              <a:rPr lang="en-US" altLang="zh-CN" b="1" kern="100" baseline="-25000" dirty="0">
                <a:latin typeface="+mn-lt"/>
                <a:ea typeface="楷体" panose="02010609060101010101" pitchFamily="49" charset="-122"/>
                <a:cs typeface="Times New Roman" panose="02020603050405020304" pitchFamily="18" charset="0"/>
              </a:rPr>
              <a:t>2</a:t>
            </a:r>
            <a:r>
              <a:rPr lang="en-US" altLang="zh-CN" b="1" kern="100" dirty="0">
                <a:latin typeface="+mn-lt"/>
                <a:ea typeface="楷体" panose="02010609060101010101" pitchFamily="49" charset="-122"/>
                <a:cs typeface="Times New Roman" panose="02020603050405020304" pitchFamily="18" charset="0"/>
              </a:rPr>
              <a:t>=</a:t>
            </a:r>
            <a:r>
              <a:rPr lang="en-US" altLang="zh-CN" i="1" kern="100" dirty="0">
                <a:latin typeface="+mn-lt"/>
                <a:ea typeface="楷体" panose="02010609060101010101" pitchFamily="49" charset="-122"/>
                <a:cs typeface="Times New Roman" panose="02020603050405020304" pitchFamily="18" charset="0"/>
              </a:rPr>
              <a:t>F</a:t>
            </a:r>
            <a:r>
              <a:rPr lang="zh-CN" altLang="zh-CN" b="1" kern="100" dirty="0">
                <a:latin typeface="楷体" panose="02010609060101010101" pitchFamily="49" charset="-122"/>
                <a:ea typeface="楷体" panose="02010609060101010101" pitchFamily="49" charset="-122"/>
                <a:cs typeface="Times New Roman" panose="02020603050405020304" pitchFamily="18" charset="0"/>
              </a:rPr>
              <a:t>，试求力系向底面</a:t>
            </a:r>
            <a:r>
              <a:rPr lang="en-US" altLang="zh-CN" i="1" kern="100" dirty="0">
                <a:latin typeface="+mn-lt"/>
                <a:ea typeface="楷体" panose="02010609060101010101" pitchFamily="49" charset="-122"/>
                <a:cs typeface="Times New Roman" panose="02020603050405020304" pitchFamily="18" charset="0"/>
              </a:rPr>
              <a:t>ABC</a:t>
            </a:r>
            <a:r>
              <a:rPr lang="zh-CN" altLang="zh-CN" b="1" kern="100" dirty="0">
                <a:latin typeface="楷体" panose="02010609060101010101" pitchFamily="49" charset="-122"/>
                <a:ea typeface="楷体" panose="02010609060101010101" pitchFamily="49" charset="-122"/>
                <a:cs typeface="Times New Roman" panose="02020603050405020304" pitchFamily="18" charset="0"/>
              </a:rPr>
              <a:t>中心</a:t>
            </a:r>
            <a:r>
              <a:rPr lang="en-US" altLang="zh-CN" i="1" kern="100" dirty="0">
                <a:latin typeface="+mn-lt"/>
                <a:ea typeface="楷体" panose="02010609060101010101" pitchFamily="49" charset="-122"/>
                <a:cs typeface="Times New Roman" panose="02020603050405020304" pitchFamily="18" charset="0"/>
              </a:rPr>
              <a:t>O</a:t>
            </a:r>
            <a:r>
              <a:rPr lang="zh-CN" altLang="zh-CN" b="1" kern="100" dirty="0">
                <a:latin typeface="楷体" panose="02010609060101010101" pitchFamily="49" charset="-122"/>
                <a:ea typeface="楷体" panose="02010609060101010101" pitchFamily="49" charset="-122"/>
                <a:cs typeface="Times New Roman" panose="02020603050405020304" pitchFamily="18" charset="0"/>
              </a:rPr>
              <a:t>点的简化结果。</a:t>
            </a:r>
          </a:p>
        </p:txBody>
      </p:sp>
      <p:grpSp>
        <p:nvGrpSpPr>
          <p:cNvPr id="6" name="组合 5"/>
          <p:cNvGrpSpPr/>
          <p:nvPr/>
        </p:nvGrpSpPr>
        <p:grpSpPr>
          <a:xfrm>
            <a:off x="817857" y="2170680"/>
            <a:ext cx="5296402" cy="663679"/>
            <a:chOff x="817857" y="2170680"/>
            <a:chExt cx="5296402" cy="663679"/>
          </a:xfrm>
        </p:grpSpPr>
        <p:graphicFrame>
          <p:nvGraphicFramePr>
            <p:cNvPr id="63" name="对象 62"/>
            <p:cNvGraphicFramePr>
              <a:graphicFrameLocks noChangeAspect="1"/>
            </p:cNvGraphicFramePr>
            <p:nvPr>
              <p:extLst>
                <p:ext uri="{D42A27DB-BD31-4B8C-83A1-F6EECF244321}">
                  <p14:modId xmlns:p14="http://schemas.microsoft.com/office/powerpoint/2010/main" val="436095429"/>
                </p:ext>
              </p:extLst>
            </p:nvPr>
          </p:nvGraphicFramePr>
          <p:xfrm>
            <a:off x="817857" y="2355345"/>
            <a:ext cx="777564" cy="365912"/>
          </p:xfrm>
          <a:graphic>
            <a:graphicData uri="http://schemas.openxmlformats.org/presentationml/2006/ole">
              <mc:AlternateContent xmlns:mc="http://schemas.openxmlformats.org/markup-compatibility/2006">
                <mc:Choice xmlns:v="urn:schemas-microsoft-com:vml" Requires="v">
                  <p:oleObj spid="_x0000_s29738" name="Equation" r:id="rId3" imgW="482391" imgH="228501" progId="Equation.DSMT4">
                    <p:embed/>
                  </p:oleObj>
                </mc:Choice>
                <mc:Fallback>
                  <p:oleObj name="Equation" r:id="rId3" imgW="482391" imgH="228501"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857" y="2355345"/>
                          <a:ext cx="777564" cy="365912"/>
                        </a:xfrm>
                        <a:prstGeom prst="rect">
                          <a:avLst/>
                        </a:prstGeom>
                        <a:noFill/>
                      </p:spPr>
                    </p:pic>
                  </p:oleObj>
                </mc:Fallback>
              </mc:AlternateContent>
            </a:graphicData>
          </a:graphic>
        </p:graphicFrame>
        <p:graphicFrame>
          <p:nvGraphicFramePr>
            <p:cNvPr id="64" name="对象 63"/>
            <p:cNvGraphicFramePr>
              <a:graphicFrameLocks noChangeAspect="1"/>
            </p:cNvGraphicFramePr>
            <p:nvPr>
              <p:extLst>
                <p:ext uri="{D42A27DB-BD31-4B8C-83A1-F6EECF244321}">
                  <p14:modId xmlns:p14="http://schemas.microsoft.com/office/powerpoint/2010/main" val="2784672368"/>
                </p:ext>
              </p:extLst>
            </p:nvPr>
          </p:nvGraphicFramePr>
          <p:xfrm>
            <a:off x="2028944" y="2170680"/>
            <a:ext cx="4085315" cy="663679"/>
          </p:xfrm>
          <a:graphic>
            <a:graphicData uri="http://schemas.openxmlformats.org/presentationml/2006/ole">
              <mc:AlternateContent xmlns:mc="http://schemas.openxmlformats.org/markup-compatibility/2006">
                <mc:Choice xmlns:v="urn:schemas-microsoft-com:vml" Requires="v">
                  <p:oleObj spid="_x0000_s29739" name="Equation" r:id="rId5" imgW="2641600" imgH="431800" progId="Equation.DSMT4">
                    <p:embed/>
                  </p:oleObj>
                </mc:Choice>
                <mc:Fallback>
                  <p:oleObj name="Equation" r:id="rId5" imgW="2641600" imgH="4318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8944" y="2170680"/>
                          <a:ext cx="4085315" cy="663679"/>
                        </a:xfrm>
                        <a:prstGeom prst="rect">
                          <a:avLst/>
                        </a:prstGeom>
                        <a:noFill/>
                      </p:spPr>
                    </p:pic>
                  </p:oleObj>
                </mc:Fallback>
              </mc:AlternateContent>
            </a:graphicData>
          </a:graphic>
        </p:graphicFrame>
      </p:grpSp>
      <p:grpSp>
        <p:nvGrpSpPr>
          <p:cNvPr id="8" name="组合 7"/>
          <p:cNvGrpSpPr/>
          <p:nvPr/>
        </p:nvGrpSpPr>
        <p:grpSpPr>
          <a:xfrm>
            <a:off x="853755" y="3670049"/>
            <a:ext cx="4668955" cy="1676060"/>
            <a:chOff x="853755" y="3670049"/>
            <a:chExt cx="4668955" cy="1676060"/>
          </a:xfrm>
        </p:grpSpPr>
        <p:graphicFrame>
          <p:nvGraphicFramePr>
            <p:cNvPr id="66" name="对象 65"/>
            <p:cNvGraphicFramePr>
              <a:graphicFrameLocks noChangeAspect="1"/>
            </p:cNvGraphicFramePr>
            <p:nvPr>
              <p:extLst>
                <p:ext uri="{D42A27DB-BD31-4B8C-83A1-F6EECF244321}">
                  <p14:modId xmlns:p14="http://schemas.microsoft.com/office/powerpoint/2010/main" val="3091127590"/>
                </p:ext>
              </p:extLst>
            </p:nvPr>
          </p:nvGraphicFramePr>
          <p:xfrm>
            <a:off x="857529" y="3670049"/>
            <a:ext cx="2778367" cy="362395"/>
          </p:xfrm>
          <a:graphic>
            <a:graphicData uri="http://schemas.openxmlformats.org/presentationml/2006/ole">
              <mc:AlternateContent xmlns:mc="http://schemas.openxmlformats.org/markup-compatibility/2006">
                <mc:Choice xmlns:v="urn:schemas-microsoft-com:vml" Requires="v">
                  <p:oleObj spid="_x0000_s29740" name="Equation" r:id="rId7" imgW="1752600" imgH="228600" progId="Equation.DSMT4">
                    <p:embed/>
                  </p:oleObj>
                </mc:Choice>
                <mc:Fallback>
                  <p:oleObj name="Equation" r:id="rId7" imgW="17526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7529" y="3670049"/>
                          <a:ext cx="2778367" cy="362395"/>
                        </a:xfrm>
                        <a:prstGeom prst="rect">
                          <a:avLst/>
                        </a:prstGeom>
                        <a:noFill/>
                      </p:spPr>
                    </p:pic>
                  </p:oleObj>
                </mc:Fallback>
              </mc:AlternateContent>
            </a:graphicData>
          </a:graphic>
        </p:graphicFrame>
        <p:graphicFrame>
          <p:nvGraphicFramePr>
            <p:cNvPr id="67" name="对象 66"/>
            <p:cNvGraphicFramePr>
              <a:graphicFrameLocks noChangeAspect="1"/>
            </p:cNvGraphicFramePr>
            <p:nvPr>
              <p:extLst>
                <p:ext uri="{D42A27DB-BD31-4B8C-83A1-F6EECF244321}">
                  <p14:modId xmlns:p14="http://schemas.microsoft.com/office/powerpoint/2010/main" val="3420071579"/>
                </p:ext>
              </p:extLst>
            </p:nvPr>
          </p:nvGraphicFramePr>
          <p:xfrm>
            <a:off x="857528" y="4029075"/>
            <a:ext cx="4665182" cy="690570"/>
          </p:xfrm>
          <a:graphic>
            <a:graphicData uri="http://schemas.openxmlformats.org/presentationml/2006/ole">
              <mc:AlternateContent xmlns:mc="http://schemas.openxmlformats.org/markup-compatibility/2006">
                <mc:Choice xmlns:v="urn:schemas-microsoft-com:vml" Requires="v">
                  <p:oleObj spid="_x0000_s29741" name="Equation" r:id="rId9" imgW="2895600" imgH="431800" progId="Equation.DSMT4">
                    <p:embed/>
                  </p:oleObj>
                </mc:Choice>
                <mc:Fallback>
                  <p:oleObj name="Equation" r:id="rId9" imgW="2895600" imgH="4318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7528" y="4029075"/>
                          <a:ext cx="4665182" cy="690570"/>
                        </a:xfrm>
                        <a:prstGeom prst="rect">
                          <a:avLst/>
                        </a:prstGeom>
                        <a:noFill/>
                      </p:spPr>
                    </p:pic>
                  </p:oleObj>
                </mc:Fallback>
              </mc:AlternateContent>
            </a:graphicData>
          </a:graphic>
        </p:graphicFrame>
        <p:graphicFrame>
          <p:nvGraphicFramePr>
            <p:cNvPr id="68" name="对象 67"/>
            <p:cNvGraphicFramePr>
              <a:graphicFrameLocks noChangeAspect="1"/>
            </p:cNvGraphicFramePr>
            <p:nvPr>
              <p:extLst>
                <p:ext uri="{D42A27DB-BD31-4B8C-83A1-F6EECF244321}">
                  <p14:modId xmlns:p14="http://schemas.microsoft.com/office/powerpoint/2010/main" val="779851673"/>
                </p:ext>
              </p:extLst>
            </p:nvPr>
          </p:nvGraphicFramePr>
          <p:xfrm>
            <a:off x="853755" y="4639926"/>
            <a:ext cx="4582341" cy="706183"/>
          </p:xfrm>
          <a:graphic>
            <a:graphicData uri="http://schemas.openxmlformats.org/presentationml/2006/ole">
              <mc:AlternateContent xmlns:mc="http://schemas.openxmlformats.org/markup-compatibility/2006">
                <mc:Choice xmlns:v="urn:schemas-microsoft-com:vml" Requires="v">
                  <p:oleObj spid="_x0000_s29742" name="Equation" r:id="rId11" imgW="2781300" imgH="431800" progId="Equation.DSMT4">
                    <p:embed/>
                  </p:oleObj>
                </mc:Choice>
                <mc:Fallback>
                  <p:oleObj name="Equation" r:id="rId11" imgW="2781300" imgH="43180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3755" y="4639926"/>
                          <a:ext cx="4582341" cy="706183"/>
                        </a:xfrm>
                        <a:prstGeom prst="rect">
                          <a:avLst/>
                        </a:prstGeom>
                        <a:noFill/>
                      </p:spPr>
                    </p:pic>
                  </p:oleObj>
                </mc:Fallback>
              </mc:AlternateContent>
            </a:graphicData>
          </a:graphic>
        </p:graphicFrame>
      </p:grpSp>
      <p:grpSp>
        <p:nvGrpSpPr>
          <p:cNvPr id="71" name="Group 1694"/>
          <p:cNvGrpSpPr>
            <a:grpSpLocks/>
          </p:cNvGrpSpPr>
          <p:nvPr/>
        </p:nvGrpSpPr>
        <p:grpSpPr bwMode="auto">
          <a:xfrm>
            <a:off x="6264858" y="579970"/>
            <a:ext cx="2455053" cy="3059266"/>
            <a:chOff x="7659" y="2538"/>
            <a:chExt cx="2417" cy="3160"/>
          </a:xfrm>
        </p:grpSpPr>
        <p:sp>
          <p:nvSpPr>
            <p:cNvPr id="72" name="Text Box 1676"/>
            <p:cNvSpPr txBox="1">
              <a:spLocks noChangeArrowheads="1"/>
            </p:cNvSpPr>
            <p:nvPr/>
          </p:nvSpPr>
          <p:spPr bwMode="auto">
            <a:xfrm>
              <a:off x="8370" y="4460"/>
              <a:ext cx="350"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800" i="1" kern="100" dirty="0">
                  <a:effectLst/>
                  <a:ea typeface="宋体" panose="02010600030101010101" pitchFamily="2" charset="-122"/>
                  <a:cs typeface="Times New Roman" panose="02020603050405020304" pitchFamily="18" charset="0"/>
                </a:rPr>
                <a:t>θ</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73" name="Arc 1690"/>
            <p:cNvSpPr>
              <a:spLocks noChangeAspect="1"/>
            </p:cNvSpPr>
            <p:nvPr/>
          </p:nvSpPr>
          <p:spPr bwMode="auto">
            <a:xfrm rot="21120000">
              <a:off x="8335" y="4691"/>
              <a:ext cx="108" cy="11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B7C1EB"/>
                    </a:outerShdw>
                  </a:effectLst>
                </a14:hiddenEffects>
              </a:ext>
            </a:extLst>
          </p:spPr>
          <p:txBody>
            <a:bodyPr rot="0" vert="horz" wrap="square" lIns="91440" tIns="45720" rIns="91440" bIns="45720" anchor="t" anchorCtr="0" upright="1">
              <a:noAutofit/>
            </a:bodyPr>
            <a:lstStyle/>
            <a:p>
              <a:endParaRPr lang="zh-CN" altLang="en-US"/>
            </a:p>
          </p:txBody>
        </p:sp>
        <p:cxnSp>
          <p:nvCxnSpPr>
            <p:cNvPr id="75" name="Line 1000"/>
            <p:cNvCxnSpPr>
              <a:cxnSpLocks noChangeShapeType="1"/>
            </p:cNvCxnSpPr>
            <p:nvPr/>
          </p:nvCxnSpPr>
          <p:spPr bwMode="auto">
            <a:xfrm rot="19920000">
              <a:off x="8063" y="4373"/>
              <a:ext cx="1" cy="6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76" name="Line 1003"/>
            <p:cNvCxnSpPr>
              <a:cxnSpLocks noChangeShapeType="1"/>
            </p:cNvCxnSpPr>
            <p:nvPr/>
          </p:nvCxnSpPr>
          <p:spPr bwMode="auto">
            <a:xfrm flipV="1">
              <a:off x="8658" y="2631"/>
              <a:ext cx="1" cy="462"/>
            </a:xfrm>
            <a:prstGeom prst="line">
              <a:avLst/>
            </a:prstGeom>
            <a:noFill/>
            <a:ln w="12700">
              <a:solidFill>
                <a:srgbClr val="00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7" name="Text Box 1014"/>
            <p:cNvSpPr txBox="1">
              <a:spLocks noChangeArrowheads="1"/>
            </p:cNvSpPr>
            <p:nvPr/>
          </p:nvSpPr>
          <p:spPr bwMode="auto">
            <a:xfrm>
              <a:off x="8821" y="4112"/>
              <a:ext cx="38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FF0000"/>
                  </a:solidFill>
                  <a:effectLst/>
                  <a:ea typeface="宋体" panose="02010600030101010101" pitchFamily="2" charset="-122"/>
                  <a:cs typeface="Times New Roman" panose="02020603050405020304" pitchFamily="18" charset="0"/>
                </a:rPr>
                <a:t>F</a:t>
              </a:r>
              <a:r>
                <a:rPr lang="en-US" sz="1600" b="1" kern="100" baseline="-25000" dirty="0">
                  <a:solidFill>
                    <a:srgbClr val="FF0000"/>
                  </a:solidFill>
                  <a:effectLst/>
                  <a:ea typeface="宋体" panose="02010600030101010101" pitchFamily="2" charset="-122"/>
                  <a:cs typeface="Times New Roman" panose="02020603050405020304" pitchFamily="18" charset="0"/>
                </a:rPr>
                <a:t>1</a:t>
              </a:r>
              <a:endParaRPr lang="zh-CN" sz="16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78" name="Text Box 1015"/>
            <p:cNvSpPr txBox="1">
              <a:spLocks noChangeArrowheads="1"/>
            </p:cNvSpPr>
            <p:nvPr/>
          </p:nvSpPr>
          <p:spPr bwMode="auto">
            <a:xfrm>
              <a:off x="8586" y="4541"/>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O</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79" name="Text Box 1016"/>
            <p:cNvSpPr txBox="1">
              <a:spLocks noChangeArrowheads="1"/>
            </p:cNvSpPr>
            <p:nvPr/>
          </p:nvSpPr>
          <p:spPr bwMode="auto">
            <a:xfrm>
              <a:off x="9842" y="4252"/>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y</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80" name="Text Box 1017"/>
            <p:cNvSpPr txBox="1">
              <a:spLocks noChangeArrowheads="1"/>
            </p:cNvSpPr>
            <p:nvPr/>
          </p:nvSpPr>
          <p:spPr bwMode="auto">
            <a:xfrm>
              <a:off x="9463" y="4220"/>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B</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81" name="Text Box 1018"/>
            <p:cNvSpPr txBox="1">
              <a:spLocks noChangeArrowheads="1"/>
            </p:cNvSpPr>
            <p:nvPr/>
          </p:nvSpPr>
          <p:spPr bwMode="auto">
            <a:xfrm>
              <a:off x="8461" y="2538"/>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z</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82" name="Text Box 1019"/>
            <p:cNvSpPr txBox="1">
              <a:spLocks noChangeArrowheads="1"/>
            </p:cNvSpPr>
            <p:nvPr/>
          </p:nvSpPr>
          <p:spPr bwMode="auto">
            <a:xfrm>
              <a:off x="7659" y="4220"/>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A</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83" name="Text Box 1020"/>
            <p:cNvSpPr txBox="1">
              <a:spLocks noChangeArrowheads="1"/>
            </p:cNvSpPr>
            <p:nvPr/>
          </p:nvSpPr>
          <p:spPr bwMode="auto">
            <a:xfrm>
              <a:off x="7718" y="5161"/>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x</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84" name="Text Box 1043"/>
            <p:cNvSpPr txBox="1">
              <a:spLocks noChangeArrowheads="1"/>
            </p:cNvSpPr>
            <p:nvPr/>
          </p:nvSpPr>
          <p:spPr bwMode="auto">
            <a:xfrm>
              <a:off x="7940" y="4863"/>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C</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85" name="Text Box 1045"/>
            <p:cNvSpPr txBox="1">
              <a:spLocks noChangeArrowheads="1"/>
            </p:cNvSpPr>
            <p:nvPr/>
          </p:nvSpPr>
          <p:spPr bwMode="auto">
            <a:xfrm>
              <a:off x="8721" y="2871"/>
              <a:ext cx="2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D</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grpSp>
          <p:nvGrpSpPr>
            <p:cNvPr id="86" name="Group 1402"/>
            <p:cNvGrpSpPr>
              <a:grpSpLocks noChangeAspect="1"/>
            </p:cNvGrpSpPr>
            <p:nvPr/>
          </p:nvGrpSpPr>
          <p:grpSpPr bwMode="auto">
            <a:xfrm>
              <a:off x="7907" y="2965"/>
              <a:ext cx="1523" cy="1558"/>
              <a:chOff x="6982" y="8353"/>
              <a:chExt cx="1290" cy="1319"/>
            </a:xfrm>
          </p:grpSpPr>
          <p:cxnSp>
            <p:nvCxnSpPr>
              <p:cNvPr id="97" name="Line 1001"/>
              <p:cNvCxnSpPr>
                <a:cxnSpLocks noChangeAspect="1" noChangeShapeType="1"/>
              </p:cNvCxnSpPr>
              <p:nvPr/>
            </p:nvCxnSpPr>
            <p:spPr bwMode="auto">
              <a:xfrm>
                <a:off x="6982" y="9588"/>
                <a:ext cx="129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98" name="Line 1400"/>
              <p:cNvCxnSpPr>
                <a:cxnSpLocks noChangeAspect="1" noChangeShapeType="1"/>
              </p:cNvCxnSpPr>
              <p:nvPr/>
            </p:nvCxnSpPr>
            <p:spPr bwMode="auto">
              <a:xfrm rot="3600000">
                <a:off x="7279" y="9014"/>
                <a:ext cx="131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99" name="Line 1401"/>
              <p:cNvCxnSpPr>
                <a:cxnSpLocks noChangeAspect="1" noChangeShapeType="1"/>
              </p:cNvCxnSpPr>
              <p:nvPr/>
            </p:nvCxnSpPr>
            <p:spPr bwMode="auto">
              <a:xfrm rot="18000000">
                <a:off x="6646" y="9010"/>
                <a:ext cx="131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cxnSp>
        </p:grpSp>
        <p:cxnSp>
          <p:nvCxnSpPr>
            <p:cNvPr id="87" name="Line 1403"/>
            <p:cNvCxnSpPr>
              <a:cxnSpLocks noChangeAspect="1" noChangeShapeType="1"/>
            </p:cNvCxnSpPr>
            <p:nvPr/>
          </p:nvCxnSpPr>
          <p:spPr bwMode="auto">
            <a:xfrm rot="780000">
              <a:off x="8445" y="3059"/>
              <a:ext cx="1" cy="200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88" name="Line 1404"/>
            <p:cNvCxnSpPr>
              <a:cxnSpLocks noChangeAspect="1" noChangeShapeType="1"/>
            </p:cNvCxnSpPr>
            <p:nvPr/>
          </p:nvCxnSpPr>
          <p:spPr bwMode="auto">
            <a:xfrm rot="3840000">
              <a:off x="8816" y="4060"/>
              <a:ext cx="1" cy="135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89" name="Line 1405"/>
            <p:cNvCxnSpPr>
              <a:cxnSpLocks noChangeAspect="1" noChangeShapeType="1"/>
            </p:cNvCxnSpPr>
            <p:nvPr/>
          </p:nvCxnSpPr>
          <p:spPr bwMode="auto">
            <a:xfrm rot="13440000" flipV="1">
              <a:off x="7976" y="4933"/>
              <a:ext cx="2" cy="765"/>
            </a:xfrm>
            <a:prstGeom prst="line">
              <a:avLst/>
            </a:prstGeom>
            <a:noFill/>
            <a:ln w="12700">
              <a:solidFill>
                <a:srgbClr val="00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0" name="Line 1406"/>
            <p:cNvCxnSpPr>
              <a:cxnSpLocks noChangeShapeType="1"/>
            </p:cNvCxnSpPr>
            <p:nvPr/>
          </p:nvCxnSpPr>
          <p:spPr bwMode="auto">
            <a:xfrm rot="5400000" flipV="1">
              <a:off x="9653" y="4213"/>
              <a:ext cx="1" cy="743"/>
            </a:xfrm>
            <a:prstGeom prst="line">
              <a:avLst/>
            </a:prstGeom>
            <a:noFill/>
            <a:ln w="12700">
              <a:solidFill>
                <a:srgbClr val="00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1" name="Line 1407"/>
            <p:cNvCxnSpPr>
              <a:cxnSpLocks noChangeShapeType="1"/>
            </p:cNvCxnSpPr>
            <p:nvPr/>
          </p:nvCxnSpPr>
          <p:spPr bwMode="auto">
            <a:xfrm flipV="1">
              <a:off x="8660" y="3119"/>
              <a:ext cx="1" cy="1457"/>
            </a:xfrm>
            <a:prstGeom prst="line">
              <a:avLst/>
            </a:prstGeom>
            <a:noFill/>
            <a:ln w="12700">
              <a:solidFill>
                <a:srgbClr val="000000"/>
              </a:solidFill>
              <a:prstDash val="lg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2" name="Line 1408"/>
            <p:cNvCxnSpPr>
              <a:cxnSpLocks noChangeShapeType="1"/>
            </p:cNvCxnSpPr>
            <p:nvPr/>
          </p:nvCxnSpPr>
          <p:spPr bwMode="auto">
            <a:xfrm rot="5400000" flipV="1">
              <a:off x="9039" y="4212"/>
              <a:ext cx="1" cy="743"/>
            </a:xfrm>
            <a:prstGeom prst="line">
              <a:avLst/>
            </a:prstGeom>
            <a:noFill/>
            <a:ln w="12700">
              <a:solidFill>
                <a:srgbClr val="000000"/>
              </a:solidFill>
              <a:prstDash val="lg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3" name="Line 1409"/>
            <p:cNvCxnSpPr>
              <a:cxnSpLocks noChangeAspect="1" noChangeShapeType="1"/>
            </p:cNvCxnSpPr>
            <p:nvPr/>
          </p:nvCxnSpPr>
          <p:spPr bwMode="auto">
            <a:xfrm rot="13440000" flipV="1">
              <a:off x="8421" y="4450"/>
              <a:ext cx="3" cy="788"/>
            </a:xfrm>
            <a:prstGeom prst="line">
              <a:avLst/>
            </a:prstGeom>
            <a:noFill/>
            <a:ln w="12700">
              <a:solidFill>
                <a:srgbClr val="000000"/>
              </a:solidFill>
              <a:prstDash val="lg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94" name="Text Box 1410"/>
            <p:cNvSpPr txBox="1">
              <a:spLocks noChangeArrowheads="1"/>
            </p:cNvSpPr>
            <p:nvPr/>
          </p:nvSpPr>
          <p:spPr bwMode="auto">
            <a:xfrm>
              <a:off x="8161" y="3826"/>
              <a:ext cx="38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FF0000"/>
                  </a:solidFill>
                  <a:effectLst/>
                  <a:ea typeface="宋体" panose="02010600030101010101" pitchFamily="2" charset="-122"/>
                  <a:cs typeface="Times New Roman" panose="02020603050405020304" pitchFamily="18" charset="0"/>
                </a:rPr>
                <a:t>F</a:t>
              </a:r>
              <a:r>
                <a:rPr lang="en-US" sz="1600" b="1" kern="100" baseline="-25000" dirty="0">
                  <a:solidFill>
                    <a:srgbClr val="FF0000"/>
                  </a:solidFill>
                  <a:effectLst/>
                  <a:ea typeface="宋体" panose="02010600030101010101" pitchFamily="2" charset="-122"/>
                  <a:cs typeface="Times New Roman" panose="02020603050405020304" pitchFamily="18" charset="0"/>
                </a:rPr>
                <a:t>2</a:t>
              </a:r>
              <a:endParaRPr lang="zh-CN" sz="16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cxnSp>
          <p:nvCxnSpPr>
            <p:cNvPr id="95" name="Line 1411"/>
            <p:cNvCxnSpPr>
              <a:cxnSpLocks noChangeAspect="1" noChangeShapeType="1"/>
            </p:cNvCxnSpPr>
            <p:nvPr/>
          </p:nvCxnSpPr>
          <p:spPr bwMode="auto">
            <a:xfrm rot="780000">
              <a:off x="8343" y="4082"/>
              <a:ext cx="1" cy="964"/>
            </a:xfrm>
            <a:prstGeom prst="line">
              <a:avLst/>
            </a:prstGeom>
            <a:noFill/>
            <a:ln w="25400">
              <a:solidFill>
                <a:srgbClr val="FF0000"/>
              </a:solidFill>
              <a:round/>
              <a:headEnd type="triangle" w="med" len="lg"/>
              <a:tailEnd type="none" w="med" len="lg"/>
            </a:ln>
            <a:extLst>
              <a:ext uri="{909E8E84-426E-40DD-AFC4-6F175D3DCCD1}">
                <a14:hiddenFill xmlns:a14="http://schemas.microsoft.com/office/drawing/2010/main">
                  <a:noFill/>
                </a14:hiddenFill>
              </a:ext>
            </a:extLst>
          </p:spPr>
        </p:cxnSp>
        <p:cxnSp>
          <p:nvCxnSpPr>
            <p:cNvPr id="96" name="Line 1412"/>
            <p:cNvCxnSpPr>
              <a:cxnSpLocks noChangeShapeType="1"/>
            </p:cNvCxnSpPr>
            <p:nvPr/>
          </p:nvCxnSpPr>
          <p:spPr bwMode="auto">
            <a:xfrm rot="5400000" flipV="1">
              <a:off x="8391" y="3935"/>
              <a:ext cx="1" cy="969"/>
            </a:xfrm>
            <a:prstGeom prst="line">
              <a:avLst/>
            </a:prstGeom>
            <a:noFill/>
            <a:ln w="25400">
              <a:solidFill>
                <a:srgbClr val="FF0000"/>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100" name="Rectangle 4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0" name="组合 9"/>
          <p:cNvGrpSpPr/>
          <p:nvPr/>
        </p:nvGrpSpPr>
        <p:grpSpPr>
          <a:xfrm>
            <a:off x="4588770" y="4785928"/>
            <a:ext cx="4531798" cy="1235342"/>
            <a:chOff x="4588770" y="4785928"/>
            <a:chExt cx="4531798" cy="1235342"/>
          </a:xfrm>
        </p:grpSpPr>
        <p:graphicFrame>
          <p:nvGraphicFramePr>
            <p:cNvPr id="70" name="对象 69"/>
            <p:cNvGraphicFramePr>
              <a:graphicFrameLocks noChangeAspect="1"/>
            </p:cNvGraphicFramePr>
            <p:nvPr>
              <p:extLst>
                <p:ext uri="{D42A27DB-BD31-4B8C-83A1-F6EECF244321}">
                  <p14:modId xmlns:p14="http://schemas.microsoft.com/office/powerpoint/2010/main" val="752897828"/>
                </p:ext>
              </p:extLst>
            </p:nvPr>
          </p:nvGraphicFramePr>
          <p:xfrm>
            <a:off x="5884641" y="4785928"/>
            <a:ext cx="2514346" cy="720672"/>
          </p:xfrm>
          <a:graphic>
            <a:graphicData uri="http://schemas.openxmlformats.org/presentationml/2006/ole">
              <mc:AlternateContent xmlns:mc="http://schemas.openxmlformats.org/markup-compatibility/2006">
                <mc:Choice xmlns:v="urn:schemas-microsoft-com:vml" Requires="v">
                  <p:oleObj spid="_x0000_s29743" name="Equation" r:id="rId13" imgW="1497950" imgH="431613" progId="Equation.DSMT4">
                    <p:embed/>
                  </p:oleObj>
                </mc:Choice>
                <mc:Fallback>
                  <p:oleObj name="Equation" r:id="rId13" imgW="1497950" imgH="431613" progId="Equation.DSMT4">
                    <p:embed/>
                    <p:pic>
                      <p:nvPicPr>
                        <p:cNvPr id="0" name="Object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84641" y="4785928"/>
                          <a:ext cx="2514346" cy="720672"/>
                        </a:xfrm>
                        <a:prstGeom prst="rect">
                          <a:avLst/>
                        </a:prstGeom>
                        <a:noFill/>
                      </p:spPr>
                    </p:pic>
                  </p:oleObj>
                </mc:Fallback>
              </mc:AlternateContent>
            </a:graphicData>
          </a:graphic>
        </p:graphicFrame>
        <p:sp>
          <p:nvSpPr>
            <p:cNvPr id="111" name="Rectangle 63"/>
            <p:cNvSpPr>
              <a:spLocks noChangeArrowheads="1"/>
            </p:cNvSpPr>
            <p:nvPr/>
          </p:nvSpPr>
          <p:spPr bwMode="auto">
            <a:xfrm>
              <a:off x="4588770" y="5559605"/>
              <a:ext cx="45317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该力系的简化结果为一力螺旋</a:t>
              </a:r>
              <a:endParaRPr kumimoji="0" lang="zh-CN"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p:txBody>
        </p:sp>
      </p:grpSp>
      <p:grpSp>
        <p:nvGrpSpPr>
          <p:cNvPr id="5" name="组合 4"/>
          <p:cNvGrpSpPr/>
          <p:nvPr/>
        </p:nvGrpSpPr>
        <p:grpSpPr>
          <a:xfrm>
            <a:off x="956783" y="1589587"/>
            <a:ext cx="3371312" cy="674929"/>
            <a:chOff x="956783" y="1589587"/>
            <a:chExt cx="3371312" cy="674929"/>
          </a:xfrm>
        </p:grpSpPr>
        <p:graphicFrame>
          <p:nvGraphicFramePr>
            <p:cNvPr id="61" name="对象 60"/>
            <p:cNvGraphicFramePr>
              <a:graphicFrameLocks noChangeAspect="1"/>
            </p:cNvGraphicFramePr>
            <p:nvPr>
              <p:extLst>
                <p:ext uri="{D42A27DB-BD31-4B8C-83A1-F6EECF244321}">
                  <p14:modId xmlns:p14="http://schemas.microsoft.com/office/powerpoint/2010/main" val="129951323"/>
                </p:ext>
              </p:extLst>
            </p:nvPr>
          </p:nvGraphicFramePr>
          <p:xfrm>
            <a:off x="1902449" y="1607628"/>
            <a:ext cx="962862" cy="646698"/>
          </p:xfrm>
          <a:graphic>
            <a:graphicData uri="http://schemas.openxmlformats.org/presentationml/2006/ole">
              <mc:AlternateContent xmlns:mc="http://schemas.openxmlformats.org/markup-compatibility/2006">
                <mc:Choice xmlns:v="urn:schemas-microsoft-com:vml" Requires="v">
                  <p:oleObj spid="_x0000_s29744" name="Equation" r:id="rId15" imgW="634725" imgH="431613" progId="Equation.DSMT4">
                    <p:embed/>
                  </p:oleObj>
                </mc:Choice>
                <mc:Fallback>
                  <p:oleObj name="Equation" r:id="rId15" imgW="634725" imgH="431613"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02449" y="1607628"/>
                          <a:ext cx="962862" cy="646698"/>
                        </a:xfrm>
                        <a:prstGeom prst="rect">
                          <a:avLst/>
                        </a:prstGeom>
                        <a:noFill/>
                      </p:spPr>
                    </p:pic>
                  </p:oleObj>
                </mc:Fallback>
              </mc:AlternateContent>
            </a:graphicData>
          </a:graphic>
        </p:graphicFrame>
        <p:graphicFrame>
          <p:nvGraphicFramePr>
            <p:cNvPr id="62" name="对象 61"/>
            <p:cNvGraphicFramePr>
              <a:graphicFrameLocks noChangeAspect="1"/>
            </p:cNvGraphicFramePr>
            <p:nvPr>
              <p:extLst>
                <p:ext uri="{D42A27DB-BD31-4B8C-83A1-F6EECF244321}">
                  <p14:modId xmlns:p14="http://schemas.microsoft.com/office/powerpoint/2010/main" val="1084296090"/>
                </p:ext>
              </p:extLst>
            </p:nvPr>
          </p:nvGraphicFramePr>
          <p:xfrm>
            <a:off x="3308203" y="1589587"/>
            <a:ext cx="1019892" cy="674929"/>
          </p:xfrm>
          <a:graphic>
            <a:graphicData uri="http://schemas.openxmlformats.org/presentationml/2006/ole">
              <mc:AlternateContent xmlns:mc="http://schemas.openxmlformats.org/markup-compatibility/2006">
                <mc:Choice xmlns:v="urn:schemas-microsoft-com:vml" Requires="v">
                  <p:oleObj spid="_x0000_s29745" name="Equation" r:id="rId17" imgW="647700" imgH="431800" progId="Equation.DSMT4">
                    <p:embed/>
                  </p:oleObj>
                </mc:Choice>
                <mc:Fallback>
                  <p:oleObj name="Equation" r:id="rId17" imgW="647700" imgH="431800" progId="Equation.DSMT4">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08203" y="1589587"/>
                          <a:ext cx="1019892" cy="674929"/>
                        </a:xfrm>
                        <a:prstGeom prst="rect">
                          <a:avLst/>
                        </a:prstGeom>
                        <a:noFill/>
                      </p:spPr>
                    </p:pic>
                  </p:oleObj>
                </mc:Fallback>
              </mc:AlternateContent>
            </a:graphicData>
          </a:graphic>
        </p:graphicFrame>
        <p:sp>
          <p:nvSpPr>
            <p:cNvPr id="50" name="矩形 49"/>
            <p:cNvSpPr/>
            <p:nvPr/>
          </p:nvSpPr>
          <p:spPr>
            <a:xfrm>
              <a:off x="956783" y="1721327"/>
              <a:ext cx="958917" cy="461665"/>
            </a:xfrm>
            <a:prstGeom prst="rect">
              <a:avLst/>
            </a:prstGeom>
          </p:spPr>
          <p:txBody>
            <a:bodyPr wrap="none">
              <a:spAutoFit/>
            </a:bodyPr>
            <a:lstStyle/>
            <a:p>
              <a:r>
                <a:rPr lang="zh-CN" altLang="en-US" b="1" dirty="0">
                  <a:solidFill>
                    <a:srgbClr val="0000FF"/>
                  </a:solidFill>
                  <a:latin typeface="楷体" panose="02010609060101010101" pitchFamily="49" charset="-122"/>
                  <a:ea typeface="楷体" panose="02010609060101010101" pitchFamily="49" charset="-122"/>
                </a:rPr>
                <a:t>解：</a:t>
              </a:r>
              <a:r>
                <a:rPr lang="zh-CN" altLang="en-US" b="1" dirty="0">
                  <a:latin typeface="楷体" panose="02010609060101010101" pitchFamily="49" charset="-122"/>
                  <a:ea typeface="楷体" panose="02010609060101010101" pitchFamily="49" charset="-122"/>
                </a:rPr>
                <a:t> </a:t>
              </a:r>
              <a:endParaRPr lang="zh-CN" altLang="en-US" dirty="0"/>
            </a:p>
          </p:txBody>
        </p:sp>
      </p:grpSp>
      <p:grpSp>
        <p:nvGrpSpPr>
          <p:cNvPr id="7" name="组合 6"/>
          <p:cNvGrpSpPr/>
          <p:nvPr/>
        </p:nvGrpSpPr>
        <p:grpSpPr>
          <a:xfrm>
            <a:off x="1307396" y="2861446"/>
            <a:ext cx="3770611" cy="733619"/>
            <a:chOff x="1307396" y="2861446"/>
            <a:chExt cx="3770611" cy="733619"/>
          </a:xfrm>
        </p:grpSpPr>
        <p:graphicFrame>
          <p:nvGraphicFramePr>
            <p:cNvPr id="65" name="对象 64"/>
            <p:cNvGraphicFramePr>
              <a:graphicFrameLocks noChangeAspect="1"/>
            </p:cNvGraphicFramePr>
            <p:nvPr>
              <p:extLst>
                <p:ext uri="{D42A27DB-BD31-4B8C-83A1-F6EECF244321}">
                  <p14:modId xmlns:p14="http://schemas.microsoft.com/office/powerpoint/2010/main" val="217206751"/>
                </p:ext>
              </p:extLst>
            </p:nvPr>
          </p:nvGraphicFramePr>
          <p:xfrm>
            <a:off x="2176136" y="2861446"/>
            <a:ext cx="2901871" cy="733619"/>
          </p:xfrm>
          <a:graphic>
            <a:graphicData uri="http://schemas.openxmlformats.org/presentationml/2006/ole">
              <mc:AlternateContent xmlns:mc="http://schemas.openxmlformats.org/markup-compatibility/2006">
                <mc:Choice xmlns:v="urn:schemas-microsoft-com:vml" Requires="v">
                  <p:oleObj spid="_x0000_s29746" name="Equation" r:id="rId19" imgW="1701720" imgH="431640" progId="Equation.DSMT4">
                    <p:embed/>
                  </p:oleObj>
                </mc:Choice>
                <mc:Fallback>
                  <p:oleObj name="Equation" r:id="rId19" imgW="1701720" imgH="431640" progId="Equation.DSMT4">
                    <p:embed/>
                    <p:pic>
                      <p:nvPicPr>
                        <p:cNvPr id="0" name="Object 6"/>
                        <p:cNvPicPr>
                          <a:picLocks noChangeAspect="1" noChangeArrowheads="1"/>
                        </p:cNvPicPr>
                        <p:nvPr/>
                      </p:nvPicPr>
                      <p:blipFill>
                        <a:blip r:embed="rId20"/>
                        <a:srcRect/>
                        <a:stretch>
                          <a:fillRect/>
                        </a:stretch>
                      </p:blipFill>
                      <p:spPr bwMode="auto">
                        <a:xfrm>
                          <a:off x="2176136" y="2861446"/>
                          <a:ext cx="2901871" cy="733619"/>
                        </a:xfrm>
                        <a:prstGeom prst="rect">
                          <a:avLst/>
                        </a:prstGeom>
                        <a:noFill/>
                        <a:ln w="12700">
                          <a:solidFill>
                            <a:srgbClr val="FF0000"/>
                          </a:solidFill>
                        </a:ln>
                      </p:spPr>
                    </p:pic>
                  </p:oleObj>
                </mc:Fallback>
              </mc:AlternateContent>
            </a:graphicData>
          </a:graphic>
        </p:graphicFrame>
        <p:sp>
          <p:nvSpPr>
            <p:cNvPr id="3" name="矩形 2"/>
            <p:cNvSpPr/>
            <p:nvPr/>
          </p:nvSpPr>
          <p:spPr>
            <a:xfrm>
              <a:off x="1307396" y="2999912"/>
              <a:ext cx="803425" cy="461665"/>
            </a:xfrm>
            <a:prstGeom prst="rect">
              <a:avLst/>
            </a:prstGeom>
          </p:spPr>
          <p:txBody>
            <a:bodyPr wrap="none">
              <a:spAutoFit/>
            </a:bodyPr>
            <a:lstStyle/>
            <a:p>
              <a:r>
                <a:rPr kumimoji="0" lang="zh-CN" altLang="en-US" b="1" dirty="0">
                  <a:solidFill>
                    <a:srgbClr val="FF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主矢</a:t>
              </a:r>
              <a:endParaRPr lang="zh-CN" altLang="en-US" dirty="0"/>
            </a:p>
          </p:txBody>
        </p:sp>
      </p:grpSp>
      <p:grpSp>
        <p:nvGrpSpPr>
          <p:cNvPr id="9" name="组合 8"/>
          <p:cNvGrpSpPr/>
          <p:nvPr/>
        </p:nvGrpSpPr>
        <p:grpSpPr>
          <a:xfrm>
            <a:off x="5764821" y="3575046"/>
            <a:ext cx="2791846" cy="1172462"/>
            <a:chOff x="5764821" y="3575046"/>
            <a:chExt cx="2791846" cy="1172462"/>
          </a:xfrm>
        </p:grpSpPr>
        <p:graphicFrame>
          <p:nvGraphicFramePr>
            <p:cNvPr id="69" name="对象 68"/>
            <p:cNvGraphicFramePr>
              <a:graphicFrameLocks noChangeAspect="1"/>
            </p:cNvGraphicFramePr>
            <p:nvPr>
              <p:extLst>
                <p:ext uri="{D42A27DB-BD31-4B8C-83A1-F6EECF244321}">
                  <p14:modId xmlns:p14="http://schemas.microsoft.com/office/powerpoint/2010/main" val="1277095204"/>
                </p:ext>
              </p:extLst>
            </p:nvPr>
          </p:nvGraphicFramePr>
          <p:xfrm>
            <a:off x="5764821" y="4004117"/>
            <a:ext cx="2791846" cy="743391"/>
          </p:xfrm>
          <a:graphic>
            <a:graphicData uri="http://schemas.openxmlformats.org/presentationml/2006/ole">
              <mc:AlternateContent xmlns:mc="http://schemas.openxmlformats.org/markup-compatibility/2006">
                <mc:Choice xmlns:v="urn:schemas-microsoft-com:vml" Requires="v">
                  <p:oleObj spid="_x0000_s29747" name="Equation" r:id="rId21" imgW="1612900" imgH="431800" progId="Equation.DSMT4">
                    <p:embed/>
                  </p:oleObj>
                </mc:Choice>
                <mc:Fallback>
                  <p:oleObj name="Equation" r:id="rId21" imgW="1612900" imgH="431800" progId="Equation.DSMT4">
                    <p:embed/>
                    <p:pic>
                      <p:nvPicPr>
                        <p:cNvPr id="0" name="Object 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64821" y="4004117"/>
                          <a:ext cx="2791846" cy="743391"/>
                        </a:xfrm>
                        <a:prstGeom prst="rect">
                          <a:avLst/>
                        </a:prstGeom>
                        <a:noFill/>
                        <a:ln w="12700">
                          <a:solidFill>
                            <a:srgbClr val="FF0000"/>
                          </a:solidFill>
                        </a:ln>
                      </p:spPr>
                    </p:pic>
                  </p:oleObj>
                </mc:Fallback>
              </mc:AlternateContent>
            </a:graphicData>
          </a:graphic>
        </p:graphicFrame>
        <p:sp>
          <p:nvSpPr>
            <p:cNvPr id="4" name="矩形 3"/>
            <p:cNvSpPr/>
            <p:nvPr/>
          </p:nvSpPr>
          <p:spPr>
            <a:xfrm>
              <a:off x="6604638" y="3575046"/>
              <a:ext cx="803425" cy="461665"/>
            </a:xfrm>
            <a:prstGeom prst="rect">
              <a:avLst/>
            </a:prstGeom>
          </p:spPr>
          <p:txBody>
            <a:bodyPr wrap="none">
              <a:spAutoFit/>
            </a:bodyPr>
            <a:lstStyle/>
            <a:p>
              <a:r>
                <a:rPr kumimoji="0" lang="zh-CN" altLang="en-US" b="1" dirty="0">
                  <a:solidFill>
                    <a:srgbClr val="FF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主矩</a:t>
              </a:r>
              <a:endParaRPr lang="zh-CN" altLang="en-US" dirty="0"/>
            </a:p>
          </p:txBody>
        </p:sp>
      </p:grpSp>
      <p:sp>
        <p:nvSpPr>
          <p:cNvPr id="53" name="Text Box 40"/>
          <p:cNvSpPr txBox="1">
            <a:spLocks noChangeArrowheads="1"/>
          </p:cNvSpPr>
          <p:nvPr/>
        </p:nvSpPr>
        <p:spPr bwMode="auto">
          <a:xfrm>
            <a:off x="635746" y="6068104"/>
            <a:ext cx="62088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zh-CN" altLang="en-US" b="1" dirty="0">
                <a:solidFill>
                  <a:srgbClr val="990000"/>
                </a:solidFill>
                <a:latin typeface="楷体" panose="02010609060101010101" pitchFamily="49" charset="-122"/>
                <a:ea typeface="楷体" panose="02010609060101010101" pitchFamily="49" charset="-122"/>
              </a:rPr>
              <a:t>请同学们自己讨论力螺旋的具体位置及大小</a:t>
            </a:r>
          </a:p>
        </p:txBody>
      </p:sp>
    </p:spTree>
    <p:extLst>
      <p:ext uri="{BB962C8B-B14F-4D97-AF65-F5344CB8AC3E}">
        <p14:creationId xmlns:p14="http://schemas.microsoft.com/office/powerpoint/2010/main" val="2178695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slide(fromBottom)">
                                      <p:cBhvr>
                                        <p:cTn id="3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09531" y="1117655"/>
            <a:ext cx="2828925" cy="523875"/>
          </a:xfrm>
          <a:prstGeom prst="rect">
            <a:avLst/>
          </a:prstGeom>
          <a:blipFill dpi="0" rotWithShape="1">
            <a:blip r:embed="rId3" cstate="print"/>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i="1" u="sng" dirty="0">
                <a:latin typeface="Times New Roman" panose="02020603050405020304" pitchFamily="18" charset="0"/>
                <a:ea typeface="华文中宋" panose="02010600040101010101" pitchFamily="2" charset="-122"/>
              </a:rPr>
              <a:t>力系的简化结果</a:t>
            </a:r>
            <a:endParaRPr kumimoji="1" lang="zh-CN" altLang="en-US" sz="2800" i="1" u="sng" dirty="0">
              <a:latin typeface="Times New Roman" panose="02020603050405020304" pitchFamily="18" charset="0"/>
            </a:endParaRPr>
          </a:p>
        </p:txBody>
      </p:sp>
      <p:grpSp>
        <p:nvGrpSpPr>
          <p:cNvPr id="3" name="组合 2"/>
          <p:cNvGrpSpPr/>
          <p:nvPr/>
        </p:nvGrpSpPr>
        <p:grpSpPr>
          <a:xfrm>
            <a:off x="3275856" y="703336"/>
            <a:ext cx="5134476" cy="2162175"/>
            <a:chOff x="3187199" y="381000"/>
            <a:chExt cx="5134476" cy="2162175"/>
          </a:xfrm>
        </p:grpSpPr>
        <p:sp>
          <p:nvSpPr>
            <p:cNvPr id="4" name="Text Box 3"/>
            <p:cNvSpPr txBox="1">
              <a:spLocks noChangeArrowheads="1"/>
            </p:cNvSpPr>
            <p:nvPr/>
          </p:nvSpPr>
          <p:spPr bwMode="auto">
            <a:xfrm>
              <a:off x="3187199" y="738188"/>
              <a:ext cx="990600" cy="457200"/>
            </a:xfrm>
            <a:prstGeom prst="rect">
              <a:avLst/>
            </a:prstGeom>
            <a:noFill/>
            <a:ln w="9525">
              <a:noFill/>
              <a:miter lim="800000"/>
              <a:headEnd/>
              <a:tailEnd/>
            </a:ln>
            <a:effectLst/>
          </p:spPr>
          <p:txBody>
            <a:bodyPr>
              <a:spAutoFit/>
            </a:bodyPr>
            <a:lstStyle/>
            <a:p>
              <a:pPr>
                <a:defRPr/>
              </a:pPr>
              <a:r>
                <a:rPr kumimoji="1" lang="en-US" altLang="zh-CN" sz="2400" b="1" dirty="0">
                  <a:solidFill>
                    <a:srgbClr val="000099"/>
                  </a:solidFill>
                  <a:effectLst>
                    <a:outerShdw blurRad="38100" dist="38100" dir="2700000" algn="tl">
                      <a:srgbClr val="C0C0C0"/>
                    </a:outerShdw>
                  </a:effectLst>
                  <a:latin typeface="Times New Roman" pitchFamily="18" charset="0"/>
                  <a:ea typeface="华文中宋" pitchFamily="2" charset="-122"/>
                </a:rPr>
                <a:t> </a:t>
              </a:r>
              <a:r>
                <a:rPr kumimoji="1" lang="zh-CN" altLang="en-US" sz="2400" b="1" u="sng" dirty="0">
                  <a:latin typeface="黑体" pitchFamily="49" charset="-122"/>
                  <a:ea typeface="黑体" pitchFamily="49" charset="-122"/>
                </a:rPr>
                <a:t>主矢</a:t>
              </a:r>
              <a:endParaRPr kumimoji="1" lang="zh-CN" altLang="en-US" sz="2400" b="1" dirty="0">
                <a:latin typeface="黑体" pitchFamily="49" charset="-122"/>
                <a:ea typeface="黑体" pitchFamily="49" charset="-122"/>
              </a:endParaRPr>
            </a:p>
          </p:txBody>
        </p:sp>
        <p:graphicFrame>
          <p:nvGraphicFramePr>
            <p:cNvPr id="5" name="Object 2"/>
            <p:cNvGraphicFramePr>
              <a:graphicFrameLocks noChangeAspect="1"/>
            </p:cNvGraphicFramePr>
            <p:nvPr/>
          </p:nvGraphicFramePr>
          <p:xfrm>
            <a:off x="4406399" y="814388"/>
            <a:ext cx="1198563" cy="366713"/>
          </p:xfrm>
          <a:graphic>
            <a:graphicData uri="http://schemas.openxmlformats.org/presentationml/2006/ole">
              <mc:AlternateContent xmlns:mc="http://schemas.openxmlformats.org/markup-compatibility/2006">
                <mc:Choice xmlns:v="urn:schemas-microsoft-com:vml" Requires="v">
                  <p:oleObj spid="_x0000_s30734" name="Equation" r:id="rId4" imgW="1193800" imgH="368300" progId="Equation.DSMT4">
                    <p:embed/>
                  </p:oleObj>
                </mc:Choice>
                <mc:Fallback>
                  <p:oleObj name="Equation" r:id="rId4" imgW="1193800" imgH="3683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6399" y="814388"/>
                          <a:ext cx="11985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5"/>
            <p:cNvSpPr>
              <a:spLocks noChangeArrowheads="1"/>
            </p:cNvSpPr>
            <p:nvPr/>
          </p:nvSpPr>
          <p:spPr bwMode="auto">
            <a:xfrm>
              <a:off x="3263399" y="1271588"/>
              <a:ext cx="1066800" cy="457200"/>
            </a:xfrm>
            <a:prstGeom prst="rect">
              <a:avLst/>
            </a:prstGeom>
            <a:noFill/>
            <a:ln w="9525">
              <a:noFill/>
              <a:miter lim="800000"/>
              <a:headEnd/>
              <a:tailEnd/>
            </a:ln>
            <a:effectLst/>
          </p:spPr>
          <p:txBody>
            <a:bodyPr>
              <a:spAutoFit/>
            </a:bodyPr>
            <a:lstStyle/>
            <a:p>
              <a:pPr>
                <a:defRPr/>
              </a:pPr>
              <a:r>
                <a:rPr kumimoji="1" lang="zh-CN" altLang="en-US" sz="2400" b="1" u="sng" dirty="0">
                  <a:latin typeface="黑体" pitchFamily="49" charset="-122"/>
                  <a:ea typeface="黑体" pitchFamily="49" charset="-122"/>
                </a:rPr>
                <a:t>主矩</a:t>
              </a:r>
              <a:endParaRPr kumimoji="1" lang="zh-CN" altLang="en-US" sz="2400" dirty="0">
                <a:latin typeface="黑体" pitchFamily="49" charset="-122"/>
                <a:ea typeface="黑体" pitchFamily="49" charset="-122"/>
              </a:endParaRPr>
            </a:p>
          </p:txBody>
        </p:sp>
        <p:graphicFrame>
          <p:nvGraphicFramePr>
            <p:cNvPr id="7" name="Object 3"/>
            <p:cNvGraphicFramePr>
              <a:graphicFrameLocks noChangeAspect="1"/>
            </p:cNvGraphicFramePr>
            <p:nvPr/>
          </p:nvGraphicFramePr>
          <p:xfrm>
            <a:off x="4253999" y="1347788"/>
            <a:ext cx="1868488" cy="381000"/>
          </p:xfrm>
          <a:graphic>
            <a:graphicData uri="http://schemas.openxmlformats.org/presentationml/2006/ole">
              <mc:AlternateContent xmlns:mc="http://schemas.openxmlformats.org/markup-compatibility/2006">
                <mc:Choice xmlns:v="urn:schemas-microsoft-com:vml" Requires="v">
                  <p:oleObj spid="_x0000_s30735" name="Equation" r:id="rId6" imgW="1866900" imgH="381000" progId="">
                    <p:embed/>
                  </p:oleObj>
                </mc:Choice>
                <mc:Fallback>
                  <p:oleObj name="Equation" r:id="rId6" imgW="1866900" imgH="3810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53999" y="1347788"/>
                          <a:ext cx="186848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11"/>
            <p:cNvGrpSpPr>
              <a:grpSpLocks/>
            </p:cNvGrpSpPr>
            <p:nvPr/>
          </p:nvGrpSpPr>
          <p:grpSpPr bwMode="auto">
            <a:xfrm>
              <a:off x="6705600" y="381000"/>
              <a:ext cx="1616075" cy="2162175"/>
              <a:chOff x="4377" y="935"/>
              <a:chExt cx="1018" cy="1362"/>
            </a:xfrm>
          </p:grpSpPr>
          <p:grpSp>
            <p:nvGrpSpPr>
              <p:cNvPr id="9" name="Group 12"/>
              <p:cNvGrpSpPr>
                <a:grpSpLocks/>
              </p:cNvGrpSpPr>
              <p:nvPr/>
            </p:nvGrpSpPr>
            <p:grpSpPr bwMode="auto">
              <a:xfrm>
                <a:off x="4377" y="935"/>
                <a:ext cx="1018" cy="1362"/>
                <a:chOff x="4604" y="733"/>
                <a:chExt cx="1018" cy="1362"/>
              </a:xfrm>
            </p:grpSpPr>
            <p:grpSp>
              <p:nvGrpSpPr>
                <p:cNvPr id="13" name="Group 13"/>
                <p:cNvGrpSpPr>
                  <a:grpSpLocks/>
                </p:cNvGrpSpPr>
                <p:nvPr/>
              </p:nvGrpSpPr>
              <p:grpSpPr bwMode="auto">
                <a:xfrm>
                  <a:off x="4604" y="1207"/>
                  <a:ext cx="984" cy="888"/>
                  <a:chOff x="996" y="1368"/>
                  <a:chExt cx="984" cy="888"/>
                </a:xfrm>
              </p:grpSpPr>
              <p:sp>
                <p:nvSpPr>
                  <p:cNvPr id="20" name="Freeform 14" descr="小纸屑"/>
                  <p:cNvSpPr>
                    <a:spLocks/>
                  </p:cNvSpPr>
                  <p:nvPr/>
                </p:nvSpPr>
                <p:spPr bwMode="auto">
                  <a:xfrm>
                    <a:off x="996" y="1368"/>
                    <a:ext cx="984" cy="888"/>
                  </a:xfrm>
                  <a:custGeom>
                    <a:avLst/>
                    <a:gdLst>
                      <a:gd name="T0" fmla="*/ 624 w 984"/>
                      <a:gd name="T1" fmla="*/ 8 h 888"/>
                      <a:gd name="T2" fmla="*/ 192 w 984"/>
                      <a:gd name="T3" fmla="*/ 56 h 888"/>
                      <a:gd name="T4" fmla="*/ 0 w 984"/>
                      <a:gd name="T5" fmla="*/ 344 h 888"/>
                      <a:gd name="T6" fmla="*/ 192 w 984"/>
                      <a:gd name="T7" fmla="*/ 728 h 888"/>
                      <a:gd name="T8" fmla="*/ 576 w 984"/>
                      <a:gd name="T9" fmla="*/ 872 h 888"/>
                      <a:gd name="T10" fmla="*/ 864 w 984"/>
                      <a:gd name="T11" fmla="*/ 632 h 888"/>
                      <a:gd name="T12" fmla="*/ 960 w 984"/>
                      <a:gd name="T13" fmla="*/ 296 h 888"/>
                      <a:gd name="T14" fmla="*/ 720 w 984"/>
                      <a:gd name="T15" fmla="*/ 56 h 888"/>
                      <a:gd name="T16" fmla="*/ 624 w 984"/>
                      <a:gd name="T17" fmla="*/ 8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pattFill prst="smConfetti">
                    <a:fgClr>
                      <a:schemeClr val="folHlink"/>
                    </a:fgClr>
                    <a:bgClr>
                      <a:srgbClr val="FFFFFF"/>
                    </a:bgClr>
                  </a:pattFill>
                  <a:ln w="22225">
                    <a:solidFill>
                      <a:srgbClr val="99CCFF"/>
                    </a:solidFill>
                    <a:miter lim="800000"/>
                    <a:headEnd/>
                    <a:tailEnd/>
                  </a:ln>
                </p:spPr>
                <p:txBody>
                  <a:bodyPr wrap="none"/>
                  <a:lstStyle/>
                  <a:p>
                    <a:endParaRPr lang="zh-CN" altLang="en-US"/>
                  </a:p>
                </p:txBody>
              </p:sp>
              <p:sp>
                <p:nvSpPr>
                  <p:cNvPr id="21" name="Oval 15"/>
                  <p:cNvSpPr>
                    <a:spLocks noChangeArrowheads="1"/>
                  </p:cNvSpPr>
                  <p:nvPr/>
                </p:nvSpPr>
                <p:spPr bwMode="auto">
                  <a:xfrm>
                    <a:off x="1491" y="1709"/>
                    <a:ext cx="45" cy="45"/>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 name="Text Box 16"/>
                  <p:cNvSpPr txBox="1">
                    <a:spLocks noChangeArrowheads="1"/>
                  </p:cNvSpPr>
                  <p:nvPr/>
                </p:nvSpPr>
                <p:spPr bwMode="auto">
                  <a:xfrm>
                    <a:off x="1275" y="1619"/>
                    <a:ext cx="2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dirty="0">
                        <a:solidFill>
                          <a:srgbClr val="FF3300"/>
                        </a:solidFill>
                        <a:latin typeface="Times New Roman" pitchFamily="18" charset="0"/>
                        <a:cs typeface="Times New Roman" pitchFamily="18" charset="0"/>
                      </a:rPr>
                      <a:t>O</a:t>
                    </a:r>
                  </a:p>
                </p:txBody>
              </p:sp>
            </p:grpSp>
            <p:grpSp>
              <p:nvGrpSpPr>
                <p:cNvPr id="14" name="Group 17"/>
                <p:cNvGrpSpPr>
                  <a:grpSpLocks/>
                </p:cNvGrpSpPr>
                <p:nvPr/>
              </p:nvGrpSpPr>
              <p:grpSpPr bwMode="auto">
                <a:xfrm>
                  <a:off x="4749" y="733"/>
                  <a:ext cx="325" cy="821"/>
                  <a:chOff x="4409" y="912"/>
                  <a:chExt cx="325" cy="821"/>
                </a:xfrm>
              </p:grpSpPr>
              <p:sp>
                <p:nvSpPr>
                  <p:cNvPr id="18" name="Text Box 18"/>
                  <p:cNvSpPr txBox="1">
                    <a:spLocks noChangeArrowheads="1"/>
                  </p:cNvSpPr>
                  <p:nvPr/>
                </p:nvSpPr>
                <p:spPr bwMode="auto">
                  <a:xfrm>
                    <a:off x="4409" y="1139"/>
                    <a:ext cx="32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10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b="1" i="1" dirty="0">
                        <a:latin typeface="Times New Roman" panose="02020603050405020304" pitchFamily="18" charset="0"/>
                        <a:cs typeface="Times New Roman" panose="02020603050405020304" pitchFamily="18" charset="0"/>
                      </a:rPr>
                      <a:t>F'</a:t>
                    </a:r>
                    <a:r>
                      <a:rPr kumimoji="1" lang="en-US" altLang="zh-CN" sz="1800" i="1" baseline="-25000" dirty="0">
                        <a:latin typeface="Times New Roman" panose="02020603050405020304" pitchFamily="18" charset="0"/>
                        <a:cs typeface="Times New Roman" panose="02020603050405020304" pitchFamily="18" charset="0"/>
                      </a:rPr>
                      <a:t>R</a:t>
                    </a:r>
                    <a:endParaRPr kumimoji="1" lang="en-US" altLang="zh-CN" sz="1800" i="1" dirty="0">
                      <a:latin typeface="Times New Roman" panose="02020603050405020304" pitchFamily="18" charset="0"/>
                      <a:cs typeface="Times New Roman" panose="02020603050405020304" pitchFamily="18" charset="0"/>
                    </a:endParaRPr>
                  </a:p>
                </p:txBody>
              </p:sp>
              <p:sp>
                <p:nvSpPr>
                  <p:cNvPr id="19" name="AutoShape 19"/>
                  <p:cNvSpPr>
                    <a:spLocks noChangeArrowheads="1"/>
                  </p:cNvSpPr>
                  <p:nvPr/>
                </p:nvSpPr>
                <p:spPr bwMode="auto">
                  <a:xfrm rot="-6000000">
                    <a:off x="4296" y="1299"/>
                    <a:ext cx="821" cy="48"/>
                  </a:xfrm>
                  <a:prstGeom prst="rightArrow">
                    <a:avLst>
                      <a:gd name="adj1" fmla="val 50000"/>
                      <a:gd name="adj2" fmla="val 427604"/>
                    </a:avLst>
                  </a:prstGeom>
                  <a:solidFill>
                    <a:srgbClr val="0000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5" name="Group 20"/>
                <p:cNvGrpSpPr>
                  <a:grpSpLocks/>
                </p:cNvGrpSpPr>
                <p:nvPr/>
              </p:nvGrpSpPr>
              <p:grpSpPr bwMode="auto">
                <a:xfrm>
                  <a:off x="5298" y="941"/>
                  <a:ext cx="324" cy="739"/>
                  <a:chOff x="5298" y="953"/>
                  <a:chExt cx="324" cy="739"/>
                </a:xfrm>
              </p:grpSpPr>
              <p:sp>
                <p:nvSpPr>
                  <p:cNvPr id="16" name="Text Box 21"/>
                  <p:cNvSpPr txBox="1">
                    <a:spLocks noChangeArrowheads="1"/>
                  </p:cNvSpPr>
                  <p:nvPr/>
                </p:nvSpPr>
                <p:spPr bwMode="auto">
                  <a:xfrm>
                    <a:off x="5298" y="965"/>
                    <a:ext cx="32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b="1" i="1" dirty="0">
                        <a:solidFill>
                          <a:srgbClr val="FF3300"/>
                        </a:solidFill>
                        <a:latin typeface="Times New Roman" panose="02020603050405020304" pitchFamily="18" charset="0"/>
                        <a:cs typeface="Times New Roman" panose="02020603050405020304" pitchFamily="18" charset="0"/>
                      </a:rPr>
                      <a:t>M</a:t>
                    </a:r>
                    <a:r>
                      <a:rPr kumimoji="1" lang="en-US" altLang="zh-CN" sz="1800" i="1" baseline="-25000" dirty="0">
                        <a:solidFill>
                          <a:srgbClr val="FF3300"/>
                        </a:solidFill>
                        <a:latin typeface="Times New Roman" panose="02020603050405020304" pitchFamily="18" charset="0"/>
                        <a:cs typeface="Times New Roman" panose="02020603050405020304" pitchFamily="18" charset="0"/>
                      </a:rPr>
                      <a:t>O</a:t>
                    </a:r>
                    <a:endParaRPr kumimoji="1" lang="en-US" altLang="zh-CN" sz="1800" i="1" dirty="0">
                      <a:solidFill>
                        <a:srgbClr val="FF3300"/>
                      </a:solidFill>
                      <a:latin typeface="Times New Roman" panose="02020603050405020304" pitchFamily="18" charset="0"/>
                      <a:cs typeface="Times New Roman" panose="02020603050405020304" pitchFamily="18" charset="0"/>
                    </a:endParaRPr>
                  </a:p>
                </p:txBody>
              </p:sp>
              <p:sp>
                <p:nvSpPr>
                  <p:cNvPr id="17" name="AutoShape 22"/>
                  <p:cNvSpPr>
                    <a:spLocks noChangeArrowheads="1"/>
                  </p:cNvSpPr>
                  <p:nvPr/>
                </p:nvSpPr>
                <p:spPr bwMode="auto">
                  <a:xfrm rot="13445185" flipV="1">
                    <a:off x="5358" y="953"/>
                    <a:ext cx="48" cy="739"/>
                  </a:xfrm>
                  <a:prstGeom prst="upArrow">
                    <a:avLst>
                      <a:gd name="adj1" fmla="val 50000"/>
                      <a:gd name="adj2" fmla="val 384896"/>
                    </a:avLst>
                  </a:prstGeom>
                  <a:solidFill>
                    <a:srgbClr val="FF6600"/>
                  </a:solidFill>
                  <a:ln w="9525">
                    <a:solidFill>
                      <a:srgbClr val="9933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10" name="Group 23"/>
              <p:cNvGrpSpPr>
                <a:grpSpLocks/>
              </p:cNvGrpSpPr>
              <p:nvPr/>
            </p:nvGrpSpPr>
            <p:grpSpPr bwMode="auto">
              <a:xfrm>
                <a:off x="4844" y="1469"/>
                <a:ext cx="235" cy="246"/>
                <a:chOff x="4607" y="1253"/>
                <a:chExt cx="235" cy="246"/>
              </a:xfrm>
            </p:grpSpPr>
            <p:sp>
              <p:nvSpPr>
                <p:cNvPr id="11" name="Arc 24"/>
                <p:cNvSpPr>
                  <a:spLocks/>
                </p:cNvSpPr>
                <p:nvPr/>
              </p:nvSpPr>
              <p:spPr bwMode="auto">
                <a:xfrm rot="-2790934">
                  <a:off x="4673" y="1399"/>
                  <a:ext cx="58"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 name="Text Box 25"/>
                <p:cNvSpPr txBox="1">
                  <a:spLocks noChangeArrowheads="1"/>
                </p:cNvSpPr>
                <p:nvPr/>
              </p:nvSpPr>
              <p:spPr bwMode="auto">
                <a:xfrm>
                  <a:off x="4607" y="1253"/>
                  <a:ext cx="23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600" b="1" i="1" dirty="0">
                      <a:latin typeface="Times New Roman" panose="02020603050405020304" pitchFamily="18" charset="0"/>
                      <a:sym typeface="Symbol" panose="05050102010706020507" pitchFamily="18" charset="2"/>
                    </a:rPr>
                    <a:t></a:t>
                  </a:r>
                  <a:endParaRPr lang="en-US" altLang="zh-CN" dirty="0"/>
                </a:p>
              </p:txBody>
            </p:sp>
          </p:grpSp>
        </p:grpSp>
      </p:grpSp>
      <p:sp>
        <p:nvSpPr>
          <p:cNvPr id="23" name="矩形 22"/>
          <p:cNvSpPr/>
          <p:nvPr/>
        </p:nvSpPr>
        <p:spPr>
          <a:xfrm>
            <a:off x="754588" y="2115969"/>
            <a:ext cx="1723549" cy="461665"/>
          </a:xfrm>
          <a:prstGeom prst="rect">
            <a:avLst/>
          </a:prstGeom>
        </p:spPr>
        <p:txBody>
          <a:bodyPr wrap="none">
            <a:spAutoFit/>
          </a:bodyPr>
          <a:lstStyle/>
          <a:p>
            <a:r>
              <a:rPr lang="zh-CN" altLang="en-US" sz="2400" b="1" dirty="0">
                <a:solidFill>
                  <a:srgbClr val="990000"/>
                </a:solidFill>
                <a:latin typeface="华文中宋" panose="02010600040101010101" pitchFamily="2" charset="-122"/>
                <a:ea typeface="华文中宋" panose="02010600040101010101" pitchFamily="2" charset="-122"/>
              </a:rPr>
              <a:t>第一不变量</a:t>
            </a:r>
            <a:endParaRPr lang="zh-CN" altLang="en-US" sz="2400" dirty="0"/>
          </a:p>
        </p:txBody>
      </p:sp>
      <p:grpSp>
        <p:nvGrpSpPr>
          <p:cNvPr id="30" name="组合 29"/>
          <p:cNvGrpSpPr/>
          <p:nvPr/>
        </p:nvGrpSpPr>
        <p:grpSpPr>
          <a:xfrm>
            <a:off x="1699023" y="2764041"/>
            <a:ext cx="2566715" cy="457200"/>
            <a:chOff x="1691680" y="2636912"/>
            <a:chExt cx="2566715" cy="457200"/>
          </a:xfrm>
        </p:grpSpPr>
        <p:sp>
          <p:nvSpPr>
            <p:cNvPr id="24" name="Text Box 3"/>
            <p:cNvSpPr txBox="1">
              <a:spLocks noChangeArrowheads="1"/>
            </p:cNvSpPr>
            <p:nvPr/>
          </p:nvSpPr>
          <p:spPr bwMode="auto">
            <a:xfrm>
              <a:off x="1691680" y="2636912"/>
              <a:ext cx="990600" cy="457200"/>
            </a:xfrm>
            <a:prstGeom prst="rect">
              <a:avLst/>
            </a:prstGeom>
            <a:noFill/>
            <a:ln w="9525">
              <a:noFill/>
              <a:miter lim="800000"/>
              <a:headEnd/>
              <a:tailEnd/>
            </a:ln>
            <a:effectLst/>
          </p:spPr>
          <p:txBody>
            <a:bodyPr>
              <a:spAutoFit/>
            </a:bodyPr>
            <a:lstStyle/>
            <a:p>
              <a:pPr>
                <a:defRPr/>
              </a:pPr>
              <a:r>
                <a:rPr kumimoji="1" lang="en-US" altLang="zh-CN" sz="2400" b="1" dirty="0">
                  <a:solidFill>
                    <a:srgbClr val="000099"/>
                  </a:solidFill>
                  <a:effectLst>
                    <a:outerShdw blurRad="38100" dist="38100" dir="2700000" algn="tl">
                      <a:srgbClr val="C0C0C0"/>
                    </a:outerShdw>
                  </a:effectLst>
                  <a:latin typeface="Times New Roman" pitchFamily="18" charset="0"/>
                  <a:ea typeface="华文中宋" pitchFamily="2" charset="-122"/>
                </a:rPr>
                <a:t> </a:t>
              </a:r>
              <a:r>
                <a:rPr kumimoji="1" lang="zh-CN" altLang="en-US" sz="2400" b="1" dirty="0">
                  <a:latin typeface="黑体" pitchFamily="49" charset="-122"/>
                  <a:ea typeface="黑体" pitchFamily="49" charset="-122"/>
                </a:rPr>
                <a:t>主矢</a:t>
              </a:r>
            </a:p>
          </p:txBody>
        </p:sp>
        <p:graphicFrame>
          <p:nvGraphicFramePr>
            <p:cNvPr id="25" name="Object 2"/>
            <p:cNvGraphicFramePr>
              <a:graphicFrameLocks noChangeAspect="1"/>
            </p:cNvGraphicFramePr>
            <p:nvPr/>
          </p:nvGraphicFramePr>
          <p:xfrm>
            <a:off x="3059832" y="2682155"/>
            <a:ext cx="1198563" cy="366713"/>
          </p:xfrm>
          <a:graphic>
            <a:graphicData uri="http://schemas.openxmlformats.org/presentationml/2006/ole">
              <mc:AlternateContent xmlns:mc="http://schemas.openxmlformats.org/markup-compatibility/2006">
                <mc:Choice xmlns:v="urn:schemas-microsoft-com:vml" Requires="v">
                  <p:oleObj spid="_x0000_s30736" name="Equation" r:id="rId8" imgW="1193800" imgH="368300" progId="Equation.DSMT4">
                    <p:embed/>
                  </p:oleObj>
                </mc:Choice>
                <mc:Fallback>
                  <p:oleObj name="Equation" r:id="rId8" imgW="1193800" imgH="3683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832" y="2682155"/>
                          <a:ext cx="11985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6" name="矩形 25"/>
          <p:cNvSpPr/>
          <p:nvPr/>
        </p:nvSpPr>
        <p:spPr>
          <a:xfrm>
            <a:off x="837248" y="3765671"/>
            <a:ext cx="1723549" cy="461665"/>
          </a:xfrm>
          <a:prstGeom prst="rect">
            <a:avLst/>
          </a:prstGeom>
        </p:spPr>
        <p:txBody>
          <a:bodyPr wrap="none">
            <a:spAutoFit/>
          </a:bodyPr>
          <a:lstStyle/>
          <a:p>
            <a:r>
              <a:rPr lang="zh-CN" altLang="en-US" sz="2400" b="1" dirty="0">
                <a:solidFill>
                  <a:srgbClr val="990000"/>
                </a:solidFill>
                <a:latin typeface="华文中宋" panose="02010600040101010101" pitchFamily="2" charset="-122"/>
                <a:ea typeface="华文中宋" panose="02010600040101010101" pitchFamily="2" charset="-122"/>
              </a:rPr>
              <a:t>第二不变量</a:t>
            </a:r>
            <a:endParaRPr lang="zh-CN" altLang="en-US" sz="2400" dirty="0"/>
          </a:p>
        </p:txBody>
      </p:sp>
      <p:sp>
        <p:nvSpPr>
          <p:cNvPr id="27" name="Text Box 3"/>
          <p:cNvSpPr txBox="1">
            <a:spLocks noChangeArrowheads="1"/>
          </p:cNvSpPr>
          <p:nvPr/>
        </p:nvSpPr>
        <p:spPr bwMode="auto">
          <a:xfrm>
            <a:off x="1043608" y="4532449"/>
            <a:ext cx="3384376" cy="461665"/>
          </a:xfrm>
          <a:prstGeom prst="rect">
            <a:avLst/>
          </a:prstGeom>
          <a:noFill/>
          <a:ln w="9525">
            <a:noFill/>
            <a:miter lim="800000"/>
            <a:headEnd/>
            <a:tailEnd/>
          </a:ln>
          <a:effectLst/>
        </p:spPr>
        <p:txBody>
          <a:bodyPr wrap="square">
            <a:spAutoFit/>
          </a:bodyPr>
          <a:lstStyle/>
          <a:p>
            <a:pPr>
              <a:defRPr/>
            </a:pPr>
            <a:r>
              <a:rPr kumimoji="1" lang="en-US" altLang="zh-CN" sz="2400" b="1" dirty="0">
                <a:solidFill>
                  <a:srgbClr val="000099"/>
                </a:solidFill>
                <a:effectLst>
                  <a:outerShdw blurRad="38100" dist="38100" dir="2700000" algn="tl">
                    <a:srgbClr val="C0C0C0"/>
                  </a:outerShdw>
                </a:effectLst>
                <a:latin typeface="Times New Roman" pitchFamily="18" charset="0"/>
                <a:ea typeface="华文中宋" pitchFamily="2" charset="-122"/>
              </a:rPr>
              <a:t> </a:t>
            </a:r>
            <a:r>
              <a:rPr kumimoji="1" lang="zh-CN" altLang="en-US" sz="2400" b="1" dirty="0">
                <a:latin typeface="黑体" pitchFamily="49" charset="-122"/>
                <a:ea typeface="黑体" pitchFamily="49" charset="-122"/>
              </a:rPr>
              <a:t>主矢与主矩的点积</a:t>
            </a:r>
          </a:p>
        </p:txBody>
      </p:sp>
      <p:sp>
        <p:nvSpPr>
          <p:cNvPr id="28" name="矩形 27"/>
          <p:cNvSpPr>
            <a:spLocks noChangeArrowheads="1"/>
          </p:cNvSpPr>
          <p:nvPr/>
        </p:nvSpPr>
        <p:spPr bwMode="auto">
          <a:xfrm>
            <a:off x="4384725" y="4492116"/>
            <a:ext cx="25362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dirty="0">
                <a:latin typeface="Times New Roman" panose="02020603050405020304" pitchFamily="18" charset="0"/>
                <a:cs typeface="Times New Roman" panose="02020603050405020304" pitchFamily="18" charset="0"/>
              </a:rPr>
              <a:t>F</a:t>
            </a:r>
            <a:r>
              <a:rPr lang="en-US" altLang="zh-CN" sz="2400" i="1" baseline="-25000" dirty="0">
                <a:latin typeface="Times New Roman" panose="02020603050405020304" pitchFamily="18" charset="0"/>
                <a:cs typeface="Times New Roman" panose="02020603050405020304" pitchFamily="18" charset="0"/>
              </a:rPr>
              <a:t>R</a:t>
            </a:r>
            <a:r>
              <a:rPr lang="en-US"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M</a:t>
            </a:r>
            <a:r>
              <a:rPr lang="en-US" altLang="zh-CN" sz="2400" i="1" baseline="-25000" dirty="0">
                <a:latin typeface="Times New Roman" panose="02020603050405020304" pitchFamily="18" charset="0"/>
                <a:cs typeface="Times New Roman" panose="02020603050405020304" pitchFamily="18" charset="0"/>
              </a:rPr>
              <a:t>O</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 F</a:t>
            </a:r>
            <a:r>
              <a:rPr lang="en-US" altLang="zh-CN" sz="2400" i="1" baseline="-25000" dirty="0">
                <a:latin typeface="Times New Roman" panose="02020603050405020304" pitchFamily="18" charset="0"/>
                <a:cs typeface="Times New Roman" panose="02020603050405020304" pitchFamily="18" charset="0"/>
              </a:rPr>
              <a:t>R</a:t>
            </a:r>
            <a:r>
              <a:rPr lang="en-US"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M</a:t>
            </a:r>
            <a:r>
              <a:rPr lang="en-US" altLang="zh-CN" sz="2400" i="1" baseline="-25000" dirty="0">
                <a:latin typeface="Times New Roman" panose="02020603050405020304" pitchFamily="18" charset="0"/>
                <a:cs typeface="Times New Roman" panose="02020603050405020304" pitchFamily="18" charset="0"/>
              </a:rPr>
              <a:t>C</a:t>
            </a:r>
            <a:r>
              <a:rPr lang="en-US" altLang="zh-CN" sz="2400" i="1"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sp>
        <p:nvSpPr>
          <p:cNvPr id="29" name="矩形 28"/>
          <p:cNvSpPr>
            <a:spLocks noChangeArrowheads="1"/>
          </p:cNvSpPr>
          <p:nvPr/>
        </p:nvSpPr>
        <p:spPr bwMode="auto">
          <a:xfrm>
            <a:off x="4174432" y="5237720"/>
            <a:ext cx="28235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dirty="0">
                <a:latin typeface="Times New Roman" panose="02020603050405020304" pitchFamily="18" charset="0"/>
                <a:cs typeface="Times New Roman" panose="02020603050405020304" pitchFamily="18" charset="0"/>
              </a:rPr>
              <a:t>M</a:t>
            </a:r>
            <a:r>
              <a:rPr lang="en-US" altLang="zh-CN" sz="2400" i="1" baseline="-25000" dirty="0">
                <a:latin typeface="Times New Roman" panose="02020603050405020304" pitchFamily="18" charset="0"/>
                <a:cs typeface="Times New Roman" panose="02020603050405020304" pitchFamily="18" charset="0"/>
              </a:rPr>
              <a:t>C</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 M</a:t>
            </a:r>
            <a:r>
              <a:rPr lang="en-US" altLang="zh-CN" sz="2400" i="1" baseline="-25000" dirty="0">
                <a:latin typeface="Times New Roman" panose="02020603050405020304" pitchFamily="18" charset="0"/>
                <a:cs typeface="Times New Roman" panose="02020603050405020304" pitchFamily="18" charset="0"/>
              </a:rPr>
              <a:t>O</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CO</a:t>
            </a:r>
            <a:r>
              <a:rPr lang="en-US" altLang="zh-CN" sz="2400" b="1" dirty="0">
                <a:latin typeface="Times New Roman" panose="02020603050405020304" pitchFamily="18" charset="0"/>
                <a:cs typeface="Times New Roman" panose="02020603050405020304" pitchFamily="18" charset="0"/>
                <a:sym typeface="Symbol Tiger" panose="05050102010706020507" pitchFamily="18" charset="2"/>
              </a:rPr>
              <a:t></a:t>
            </a:r>
            <a:r>
              <a:rPr lang="en-US" altLang="zh-CN" sz="2400" b="1" i="1" dirty="0">
                <a:latin typeface="Times New Roman" panose="02020603050405020304" pitchFamily="18" charset="0"/>
                <a:cs typeface="Times New Roman" panose="02020603050405020304" pitchFamily="18" charset="0"/>
              </a:rPr>
              <a:t>F</a:t>
            </a:r>
            <a:r>
              <a:rPr lang="en-US" altLang="zh-CN" sz="2400" i="1" baseline="-25000" dirty="0">
                <a:latin typeface="Times New Roman" panose="02020603050405020304" pitchFamily="18" charset="0"/>
                <a:cs typeface="Times New Roman" panose="02020603050405020304" pitchFamily="18" charset="0"/>
              </a:rPr>
              <a:t>R</a:t>
            </a:r>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23659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p:bldP spid="27" grpId="0"/>
      <p:bldP spid="28" grpId="0"/>
      <p:bldP spid="29"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563054" y="715846"/>
            <a:ext cx="6131644" cy="1200329"/>
          </a:xfrm>
          <a:prstGeom prst="rect">
            <a:avLst/>
          </a:prstGeom>
          <a:noFill/>
          <a:ln>
            <a:noFill/>
          </a:ln>
          <a:effectLst/>
        </p:spPr>
        <p:txBody>
          <a:bodyPr wrap="square" anchor="ctr">
            <a:spAutoFit/>
          </a:bodyPr>
          <a:lstStyle/>
          <a:p>
            <a:pPr>
              <a:defRPr/>
            </a:pPr>
            <a:r>
              <a:rPr lang="zh-CN" altLang="en-US" sz="24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例</a:t>
            </a:r>
            <a:r>
              <a:rPr lang="en-US" altLang="zh-CN" sz="2400" b="1" dirty="0">
                <a:latin typeface="楷体" panose="02010609060101010101" pitchFamily="49" charset="-122"/>
                <a:ea typeface="楷体" panose="02010609060101010101" pitchFamily="49" charset="-122"/>
                <a:cs typeface="Times New Roman" panose="02020603050405020304" pitchFamily="18" charset="0"/>
              </a:rPr>
              <a:t> </a:t>
            </a:r>
            <a:r>
              <a:rPr lang="zh-CN" altLang="en-US" sz="2400" b="1" dirty="0">
                <a:latin typeface="楷体" panose="02010609060101010101" pitchFamily="49" charset="-122"/>
                <a:ea typeface="楷体" panose="02010609060101010101" pitchFamily="49" charset="-122"/>
                <a:cs typeface="Times New Roman" panose="02020603050405020304" pitchFamily="18" charset="0"/>
              </a:rPr>
              <a:t>由</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a:latin typeface="楷体" panose="02010609060101010101" pitchFamily="49" charset="-122"/>
                <a:ea typeface="楷体" panose="02010609060101010101" pitchFamily="49" charset="-122"/>
                <a:cs typeface="Times New Roman" panose="02020603050405020304" pitchFamily="18" charset="0"/>
              </a:rPr>
              <a:t>三力组成的空间力系如图所示。已知</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6N</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8N</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10N</a:t>
            </a:r>
            <a:r>
              <a:rPr lang="en-US" altLang="zh-CN" sz="2400" b="1"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b="1" dirty="0">
                <a:latin typeface="楷体" panose="02010609060101010101" pitchFamily="49" charset="-122"/>
                <a:ea typeface="楷体" panose="02010609060101010101" pitchFamily="49" charset="-122"/>
                <a:cs typeface="Times New Roman" panose="02020603050405020304" pitchFamily="18" charset="0"/>
              </a:rPr>
              <a:t>试求该力系简化可能得到的主矩的最小值。</a:t>
            </a:r>
            <a:r>
              <a:rPr lang="zh-CN" altLang="en-US" sz="2400" b="1" dirty="0">
                <a:latin typeface="楷体" panose="02010609060101010101" pitchFamily="49" charset="-122"/>
                <a:ea typeface="楷体" panose="02010609060101010101" pitchFamily="49" charset="-122"/>
              </a:rPr>
              <a:t> </a:t>
            </a:r>
          </a:p>
        </p:txBody>
      </p:sp>
      <p:grpSp>
        <p:nvGrpSpPr>
          <p:cNvPr id="3" name="Group 1486"/>
          <p:cNvGrpSpPr>
            <a:grpSpLocks/>
          </p:cNvGrpSpPr>
          <p:nvPr/>
        </p:nvGrpSpPr>
        <p:grpSpPr bwMode="auto">
          <a:xfrm>
            <a:off x="6372200" y="1148415"/>
            <a:ext cx="2049126" cy="2044126"/>
            <a:chOff x="2495" y="13314"/>
            <a:chExt cx="2572" cy="2581"/>
          </a:xfrm>
        </p:grpSpPr>
        <p:sp>
          <p:nvSpPr>
            <p:cNvPr id="5" name="Text Box 1464"/>
            <p:cNvSpPr txBox="1">
              <a:spLocks noChangeArrowheads="1"/>
            </p:cNvSpPr>
            <p:nvPr/>
          </p:nvSpPr>
          <p:spPr bwMode="auto">
            <a:xfrm>
              <a:off x="3422" y="13855"/>
              <a:ext cx="542" cy="435"/>
            </a:xfrm>
            <a:prstGeom prst="rect">
              <a:avLst/>
            </a:prstGeom>
            <a:noFill/>
            <a:ln>
              <a:noFill/>
            </a:ln>
          </p:spPr>
          <p:txBody>
            <a:bodyPr upright="1"/>
            <a:lstStyle/>
            <a:p>
              <a:pPr algn="just">
                <a:spcAft>
                  <a:spcPts val="0"/>
                </a:spcAft>
                <a:defRPr/>
              </a:pPr>
              <a:r>
                <a:rPr lang="en-US" sz="1600" b="1" i="1" kern="100" dirty="0">
                  <a:solidFill>
                    <a:srgbClr val="FF0000"/>
                  </a:solidFill>
                  <a:latin typeface="Times New Roman" panose="02020603050405020304" pitchFamily="18" charset="0"/>
                  <a:cs typeface="Times New Roman" panose="02020603050405020304" pitchFamily="18" charset="0"/>
                </a:rPr>
                <a:t>F</a:t>
              </a:r>
              <a:r>
                <a:rPr lang="en-US" sz="1600" b="1" kern="100" baseline="-25000" dirty="0">
                  <a:solidFill>
                    <a:srgbClr val="FF0000"/>
                  </a:solidFill>
                  <a:latin typeface="Times New Roman" panose="02020603050405020304" pitchFamily="18" charset="0"/>
                  <a:cs typeface="Times New Roman" panose="02020603050405020304" pitchFamily="18" charset="0"/>
                </a:rPr>
                <a:t>2</a:t>
              </a:r>
              <a:endParaRPr lang="zh-CN" sz="1600" b="1" kern="100" dirty="0">
                <a:solidFill>
                  <a:srgbClr val="FF0000"/>
                </a:solidFill>
                <a:latin typeface="Times New Roman" panose="02020603050405020304" pitchFamily="18" charset="0"/>
                <a:cs typeface="Times New Roman" panose="02020603050405020304" pitchFamily="18" charset="0"/>
              </a:endParaRPr>
            </a:p>
          </p:txBody>
        </p:sp>
        <p:cxnSp>
          <p:nvCxnSpPr>
            <p:cNvPr id="6" name="AutoShape 1465"/>
            <p:cNvCxnSpPr>
              <a:cxnSpLocks noChangeAspect="1" noChangeShapeType="1"/>
            </p:cNvCxnSpPr>
            <p:nvPr/>
          </p:nvCxnSpPr>
          <p:spPr bwMode="auto">
            <a:xfrm flipV="1">
              <a:off x="3957" y="13909"/>
              <a:ext cx="665" cy="1550"/>
            </a:xfrm>
            <a:prstGeom prst="straightConnector1">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cxnSp>
        <p:grpSp>
          <p:nvGrpSpPr>
            <p:cNvPr id="8" name="Group 1470"/>
            <p:cNvGrpSpPr>
              <a:grpSpLocks/>
            </p:cNvGrpSpPr>
            <p:nvPr/>
          </p:nvGrpSpPr>
          <p:grpSpPr bwMode="auto">
            <a:xfrm>
              <a:off x="2781" y="13872"/>
              <a:ext cx="1858" cy="1627"/>
              <a:chOff x="2773" y="13456"/>
              <a:chExt cx="2161" cy="1857"/>
            </a:xfrm>
          </p:grpSpPr>
          <p:sp>
            <p:nvSpPr>
              <p:cNvPr id="31" name="Rectangle 1443"/>
              <p:cNvSpPr>
                <a:spLocks noChangeArrowheads="1"/>
              </p:cNvSpPr>
              <p:nvPr/>
            </p:nvSpPr>
            <p:spPr bwMode="auto">
              <a:xfrm>
                <a:off x="2781" y="14070"/>
                <a:ext cx="1345" cy="1243"/>
              </a:xfrm>
              <a:prstGeom prst="rect">
                <a:avLst/>
              </a:prstGeom>
              <a:solidFill>
                <a:srgbClr val="FFFFFF"/>
              </a:solidFill>
              <a:ln w="190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cxnSp>
            <p:nvCxnSpPr>
              <p:cNvPr id="32" name="Line 1444"/>
              <p:cNvCxnSpPr>
                <a:cxnSpLocks noChangeShapeType="1"/>
              </p:cNvCxnSpPr>
              <p:nvPr/>
            </p:nvCxnSpPr>
            <p:spPr bwMode="auto">
              <a:xfrm flipV="1">
                <a:off x="2773" y="13465"/>
                <a:ext cx="803" cy="6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3" name="Line 1445"/>
              <p:cNvCxnSpPr>
                <a:cxnSpLocks noChangeShapeType="1"/>
              </p:cNvCxnSpPr>
              <p:nvPr/>
            </p:nvCxnSpPr>
            <p:spPr bwMode="auto">
              <a:xfrm flipV="1">
                <a:off x="2779" y="14672"/>
                <a:ext cx="810" cy="636"/>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4" name="Line 1446"/>
              <p:cNvCxnSpPr>
                <a:cxnSpLocks noChangeShapeType="1"/>
              </p:cNvCxnSpPr>
              <p:nvPr/>
            </p:nvCxnSpPr>
            <p:spPr bwMode="auto">
              <a:xfrm flipV="1">
                <a:off x="4118" y="13470"/>
                <a:ext cx="816" cy="60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5" name="Line 1447"/>
              <p:cNvCxnSpPr>
                <a:cxnSpLocks noChangeShapeType="1"/>
              </p:cNvCxnSpPr>
              <p:nvPr/>
            </p:nvCxnSpPr>
            <p:spPr bwMode="auto">
              <a:xfrm flipV="1">
                <a:off x="4124" y="14689"/>
                <a:ext cx="797" cy="6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6" name="Line 1448"/>
              <p:cNvCxnSpPr>
                <a:cxnSpLocks noChangeShapeType="1"/>
              </p:cNvCxnSpPr>
              <p:nvPr/>
            </p:nvCxnSpPr>
            <p:spPr bwMode="auto">
              <a:xfrm>
                <a:off x="3581" y="13456"/>
                <a:ext cx="0" cy="122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7" name="Line 1449"/>
              <p:cNvCxnSpPr>
                <a:cxnSpLocks noChangeShapeType="1"/>
              </p:cNvCxnSpPr>
              <p:nvPr/>
            </p:nvCxnSpPr>
            <p:spPr bwMode="auto">
              <a:xfrm>
                <a:off x="3589" y="14680"/>
                <a:ext cx="1337"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8" name="Line 1450"/>
              <p:cNvCxnSpPr>
                <a:cxnSpLocks noChangeShapeType="1"/>
              </p:cNvCxnSpPr>
              <p:nvPr/>
            </p:nvCxnSpPr>
            <p:spPr bwMode="auto">
              <a:xfrm>
                <a:off x="3581" y="13470"/>
                <a:ext cx="134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9" name="Line 1451"/>
              <p:cNvCxnSpPr>
                <a:cxnSpLocks noChangeShapeType="1"/>
              </p:cNvCxnSpPr>
              <p:nvPr/>
            </p:nvCxnSpPr>
            <p:spPr bwMode="auto">
              <a:xfrm flipH="1">
                <a:off x="4934" y="13470"/>
                <a:ext cx="0" cy="122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grpSp>
        <p:cxnSp>
          <p:nvCxnSpPr>
            <p:cNvPr id="9" name="Line 1457"/>
            <p:cNvCxnSpPr>
              <a:cxnSpLocks noChangeShapeType="1"/>
            </p:cNvCxnSpPr>
            <p:nvPr/>
          </p:nvCxnSpPr>
          <p:spPr bwMode="auto">
            <a:xfrm>
              <a:off x="4555" y="14937"/>
              <a:ext cx="448" cy="0"/>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10" name="Line 1458"/>
            <p:cNvCxnSpPr>
              <a:cxnSpLocks noChangeShapeType="1"/>
            </p:cNvCxnSpPr>
            <p:nvPr/>
          </p:nvCxnSpPr>
          <p:spPr bwMode="auto">
            <a:xfrm flipV="1">
              <a:off x="3461" y="13485"/>
              <a:ext cx="0" cy="408"/>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11" name="Line 1459"/>
            <p:cNvCxnSpPr>
              <a:cxnSpLocks noChangeAspect="1" noChangeShapeType="1"/>
            </p:cNvCxnSpPr>
            <p:nvPr/>
          </p:nvCxnSpPr>
          <p:spPr bwMode="auto">
            <a:xfrm flipH="1">
              <a:off x="2495" y="15491"/>
              <a:ext cx="295" cy="261"/>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sp>
          <p:nvSpPr>
            <p:cNvPr id="12" name="Text Box 1460"/>
            <p:cNvSpPr txBox="1">
              <a:spLocks noChangeArrowheads="1"/>
            </p:cNvSpPr>
            <p:nvPr/>
          </p:nvSpPr>
          <p:spPr bwMode="auto">
            <a:xfrm>
              <a:off x="2591" y="15486"/>
              <a:ext cx="504" cy="409"/>
            </a:xfrm>
            <a:prstGeom prst="rect">
              <a:avLst/>
            </a:prstGeom>
            <a:noFill/>
            <a:ln>
              <a:noFill/>
            </a:ln>
          </p:spPr>
          <p:txBody>
            <a:bodyPr upright="1"/>
            <a:lstStyle/>
            <a:p>
              <a:pPr algn="just">
                <a:spcAft>
                  <a:spcPts val="0"/>
                </a:spcAft>
                <a:defRPr/>
              </a:pPr>
              <a:r>
                <a:rPr lang="en-US" sz="1600" i="1" kern="100" dirty="0">
                  <a:latin typeface="Times New Roman" panose="02020603050405020304" pitchFamily="18" charset="0"/>
                  <a:cs typeface="Times New Roman" panose="02020603050405020304" pitchFamily="18" charset="0"/>
                </a:rPr>
                <a:t>x</a:t>
              </a:r>
              <a:endParaRPr lang="zh-CN" sz="1600" kern="100" dirty="0">
                <a:latin typeface="Times New Roman" panose="02020603050405020304" pitchFamily="18" charset="0"/>
                <a:cs typeface="Times New Roman" panose="02020603050405020304" pitchFamily="18" charset="0"/>
              </a:endParaRPr>
            </a:p>
          </p:txBody>
        </p:sp>
        <p:sp>
          <p:nvSpPr>
            <p:cNvPr id="13" name="Text Box 1461"/>
            <p:cNvSpPr txBox="1">
              <a:spLocks noChangeArrowheads="1"/>
            </p:cNvSpPr>
            <p:nvPr/>
          </p:nvSpPr>
          <p:spPr bwMode="auto">
            <a:xfrm>
              <a:off x="4614" y="14847"/>
              <a:ext cx="401" cy="439"/>
            </a:xfrm>
            <a:prstGeom prst="rect">
              <a:avLst/>
            </a:prstGeom>
            <a:noFill/>
            <a:ln>
              <a:noFill/>
            </a:ln>
          </p:spPr>
          <p:txBody>
            <a:bodyPr upright="1"/>
            <a:lstStyle/>
            <a:p>
              <a:pPr algn="just">
                <a:spcAft>
                  <a:spcPts val="0"/>
                </a:spcAft>
                <a:defRPr/>
              </a:pPr>
              <a:r>
                <a:rPr lang="en-US" sz="1600" i="1" kern="100" dirty="0">
                  <a:latin typeface="Times New Roman" panose="02020603050405020304" pitchFamily="18" charset="0"/>
                  <a:cs typeface="Times New Roman" panose="02020603050405020304" pitchFamily="18" charset="0"/>
                </a:rPr>
                <a:t>y</a:t>
              </a:r>
              <a:r>
                <a:rPr lang="en-US" sz="1600" b="1" i="1" kern="100" baseline="-25000" dirty="0">
                  <a:latin typeface="Calibri" panose="020F0502020204030204" pitchFamily="34" charset="0"/>
                  <a:cs typeface="Times New Roman" panose="02020603050405020304" pitchFamily="18" charset="0"/>
                </a:rPr>
                <a:t> </a:t>
              </a:r>
              <a:endParaRPr lang="zh-CN" sz="1050" kern="100" dirty="0">
                <a:latin typeface="Calibri" panose="020F0502020204030204" pitchFamily="34" charset="0"/>
                <a:cs typeface="Times New Roman" panose="02020603050405020304" pitchFamily="18" charset="0"/>
              </a:endParaRPr>
            </a:p>
          </p:txBody>
        </p:sp>
        <p:sp>
          <p:nvSpPr>
            <p:cNvPr id="14" name="Text Box 1462"/>
            <p:cNvSpPr txBox="1">
              <a:spLocks noChangeArrowheads="1"/>
            </p:cNvSpPr>
            <p:nvPr/>
          </p:nvSpPr>
          <p:spPr bwMode="auto">
            <a:xfrm>
              <a:off x="3435" y="13314"/>
              <a:ext cx="502" cy="409"/>
            </a:xfrm>
            <a:prstGeom prst="rect">
              <a:avLst/>
            </a:prstGeom>
            <a:noFill/>
            <a:ln>
              <a:noFill/>
            </a:ln>
          </p:spPr>
          <p:txBody>
            <a:bodyPr upright="1"/>
            <a:lstStyle/>
            <a:p>
              <a:pPr algn="just">
                <a:spcAft>
                  <a:spcPts val="0"/>
                </a:spcAft>
                <a:defRPr/>
              </a:pPr>
              <a:r>
                <a:rPr lang="en-US" sz="1600" i="1" kern="100" dirty="0">
                  <a:latin typeface="Times New Roman" panose="02020603050405020304" pitchFamily="18" charset="0"/>
                  <a:cs typeface="Times New Roman" panose="02020603050405020304" pitchFamily="18" charset="0"/>
                </a:rPr>
                <a:t>z</a:t>
              </a:r>
              <a:endParaRPr lang="zh-CN" sz="1600" kern="100" dirty="0">
                <a:latin typeface="Times New Roman" panose="02020603050405020304" pitchFamily="18" charset="0"/>
                <a:cs typeface="Times New Roman" panose="02020603050405020304" pitchFamily="18" charset="0"/>
              </a:endParaRPr>
            </a:p>
          </p:txBody>
        </p:sp>
        <p:cxnSp>
          <p:nvCxnSpPr>
            <p:cNvPr id="15" name="Line 1215"/>
            <p:cNvCxnSpPr>
              <a:cxnSpLocks noChangeShapeType="1"/>
            </p:cNvCxnSpPr>
            <p:nvPr/>
          </p:nvCxnSpPr>
          <p:spPr bwMode="auto">
            <a:xfrm>
              <a:off x="3482" y="13901"/>
              <a:ext cx="1" cy="540"/>
            </a:xfrm>
            <a:prstGeom prst="line">
              <a:avLst/>
            </a:prstGeom>
            <a:noFill/>
            <a:ln w="25400">
              <a:solidFill>
                <a:srgbClr val="FF0000"/>
              </a:solidFill>
              <a:round/>
              <a:headEnd type="none" w="sm" len="lg"/>
              <a:tailEnd type="triangle" w="sm" len="lg"/>
            </a:ln>
            <a:extLst>
              <a:ext uri="{909E8E84-426E-40DD-AFC4-6F175D3DCCD1}">
                <a14:hiddenFill xmlns:a14="http://schemas.microsoft.com/office/drawing/2010/main">
                  <a:noFill/>
                </a14:hiddenFill>
              </a:ext>
            </a:extLst>
          </p:spPr>
        </p:cxnSp>
        <p:sp>
          <p:nvSpPr>
            <p:cNvPr id="16" name="Text Box 1070"/>
            <p:cNvSpPr txBox="1">
              <a:spLocks noChangeArrowheads="1"/>
            </p:cNvSpPr>
            <p:nvPr/>
          </p:nvSpPr>
          <p:spPr bwMode="auto">
            <a:xfrm>
              <a:off x="3228" y="14685"/>
              <a:ext cx="233" cy="357"/>
            </a:xfrm>
            <a:prstGeom prst="rect">
              <a:avLst/>
            </a:prstGeom>
            <a:noFill/>
            <a:ln>
              <a:noFill/>
            </a:ln>
          </p:spPr>
          <p:txBody>
            <a:bodyPr lIns="36000" tIns="7200" rIns="36000" bIns="7200" upright="1"/>
            <a:lstStyle/>
            <a:p>
              <a:pPr algn="just">
                <a:spcAft>
                  <a:spcPts val="0"/>
                </a:spcAft>
                <a:defRPr/>
              </a:pPr>
              <a:r>
                <a:rPr lang="en-US" sz="1600" i="1" kern="100" dirty="0">
                  <a:latin typeface="Times New Roman" panose="02020603050405020304" pitchFamily="18" charset="0"/>
                  <a:cs typeface="Times New Roman" panose="02020603050405020304" pitchFamily="18" charset="0"/>
                </a:rPr>
                <a:t>O</a:t>
              </a:r>
              <a:endParaRPr lang="zh-CN" sz="1600" kern="100" dirty="0">
                <a:latin typeface="Times New Roman" panose="02020603050405020304" pitchFamily="18" charset="0"/>
                <a:cs typeface="Times New Roman" panose="02020603050405020304" pitchFamily="18" charset="0"/>
              </a:endParaRPr>
            </a:p>
          </p:txBody>
        </p:sp>
        <p:sp>
          <p:nvSpPr>
            <p:cNvPr id="17" name="Text Box 1172"/>
            <p:cNvSpPr txBox="1">
              <a:spLocks noChangeArrowheads="1"/>
            </p:cNvSpPr>
            <p:nvPr/>
          </p:nvSpPr>
          <p:spPr bwMode="auto">
            <a:xfrm>
              <a:off x="4639" y="14263"/>
              <a:ext cx="428" cy="357"/>
            </a:xfrm>
            <a:prstGeom prst="rect">
              <a:avLst/>
            </a:prstGeom>
            <a:noFill/>
            <a:ln>
              <a:noFill/>
            </a:ln>
          </p:spPr>
          <p:txBody>
            <a:bodyPr lIns="36000" tIns="7200" rIns="36000" bIns="7200" upright="1"/>
            <a:lstStyle/>
            <a:p>
              <a:pPr algn="just">
                <a:spcAft>
                  <a:spcPts val="0"/>
                </a:spcAft>
                <a:defRPr/>
              </a:pPr>
              <a:r>
                <a:rPr lang="en-US" sz="1600" kern="100" dirty="0">
                  <a:latin typeface="Times New Roman" panose="02020603050405020304" pitchFamily="18" charset="0"/>
                  <a:ea typeface="楷体" panose="02010609060101010101" pitchFamily="49" charset="-122"/>
                  <a:cs typeface="Times New Roman" panose="02020603050405020304" pitchFamily="18" charset="0"/>
                </a:rPr>
                <a:t>4m</a:t>
              </a:r>
              <a:endParaRPr lang="zh-CN" sz="1600" kern="100"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8" name="Line 1181"/>
            <p:cNvCxnSpPr>
              <a:cxnSpLocks noChangeShapeType="1"/>
            </p:cNvCxnSpPr>
            <p:nvPr/>
          </p:nvCxnSpPr>
          <p:spPr bwMode="auto">
            <a:xfrm flipH="1">
              <a:off x="3957" y="14797"/>
              <a:ext cx="296" cy="678"/>
            </a:xfrm>
            <a:prstGeom prst="line">
              <a:avLst/>
            </a:prstGeom>
            <a:noFill/>
            <a:ln w="25400">
              <a:solidFill>
                <a:srgbClr val="FF0000"/>
              </a:solidFill>
              <a:round/>
              <a:headEnd type="triangle" w="sm" len="lg"/>
              <a:tailEnd type="none" w="sm" len="lg"/>
            </a:ln>
            <a:extLst>
              <a:ext uri="{909E8E84-426E-40DD-AFC4-6F175D3DCCD1}">
                <a14:hiddenFill xmlns:a14="http://schemas.microsoft.com/office/drawing/2010/main">
                  <a:noFill/>
                </a14:hiddenFill>
              </a:ext>
            </a:extLst>
          </p:spPr>
        </p:cxnSp>
        <p:cxnSp>
          <p:nvCxnSpPr>
            <p:cNvPr id="19" name="Line 1212"/>
            <p:cNvCxnSpPr>
              <a:cxnSpLocks noChangeShapeType="1"/>
            </p:cNvCxnSpPr>
            <p:nvPr/>
          </p:nvCxnSpPr>
          <p:spPr bwMode="auto">
            <a:xfrm rot="5400000">
              <a:off x="3054" y="14138"/>
              <a:ext cx="1" cy="537"/>
            </a:xfrm>
            <a:prstGeom prst="line">
              <a:avLst/>
            </a:prstGeom>
            <a:noFill/>
            <a:ln w="25400">
              <a:solidFill>
                <a:srgbClr val="FF0000"/>
              </a:solidFill>
              <a:round/>
              <a:headEnd type="triangle" w="sm" len="lg"/>
              <a:tailEnd type="none" w="sm" len="lg"/>
            </a:ln>
            <a:extLst>
              <a:ext uri="{909E8E84-426E-40DD-AFC4-6F175D3DCCD1}">
                <a14:hiddenFill xmlns:a14="http://schemas.microsoft.com/office/drawing/2010/main">
                  <a:noFill/>
                </a14:hiddenFill>
              </a:ext>
            </a:extLst>
          </p:spPr>
        </p:cxnSp>
        <p:sp>
          <p:nvSpPr>
            <p:cNvPr id="20" name="Text Box 1203"/>
            <p:cNvSpPr txBox="1">
              <a:spLocks noChangeArrowheads="1"/>
            </p:cNvSpPr>
            <p:nvPr/>
          </p:nvSpPr>
          <p:spPr bwMode="auto">
            <a:xfrm>
              <a:off x="4285" y="14547"/>
              <a:ext cx="424" cy="357"/>
            </a:xfrm>
            <a:prstGeom prst="rect">
              <a:avLst/>
            </a:prstGeom>
            <a:noFill/>
            <a:ln>
              <a:noFill/>
            </a:ln>
          </p:spPr>
          <p:txBody>
            <a:bodyPr lIns="36000" tIns="7200" rIns="36000" bIns="7200" upright="1"/>
            <a:lstStyle/>
            <a:p>
              <a:pPr algn="just">
                <a:spcAft>
                  <a:spcPts val="0"/>
                </a:spcAft>
                <a:defRPr/>
              </a:pPr>
              <a:r>
                <a:rPr lang="en-US" sz="1600" b="1" i="1" kern="100" dirty="0">
                  <a:solidFill>
                    <a:srgbClr val="FF0000"/>
                  </a:solidFill>
                  <a:latin typeface="Times New Roman" panose="02020603050405020304" pitchFamily="18" charset="0"/>
                  <a:cs typeface="Times New Roman" panose="02020603050405020304" pitchFamily="18" charset="0"/>
                </a:rPr>
                <a:t>F</a:t>
              </a:r>
              <a:r>
                <a:rPr lang="en-US" sz="1600" b="1" kern="100" baseline="-25000" dirty="0">
                  <a:solidFill>
                    <a:srgbClr val="FF0000"/>
                  </a:solidFill>
                  <a:latin typeface="Times New Roman" panose="02020603050405020304" pitchFamily="18" charset="0"/>
                  <a:cs typeface="Times New Roman" panose="02020603050405020304" pitchFamily="18" charset="0"/>
                </a:rPr>
                <a:t>3</a:t>
              </a:r>
              <a:endParaRPr lang="zh-CN" sz="1600" b="1" kern="100" dirty="0">
                <a:solidFill>
                  <a:srgbClr val="FF0000"/>
                </a:solidFill>
                <a:latin typeface="Times New Roman" panose="02020603050405020304" pitchFamily="18" charset="0"/>
                <a:cs typeface="Times New Roman" panose="02020603050405020304" pitchFamily="18" charset="0"/>
              </a:endParaRPr>
            </a:p>
          </p:txBody>
        </p:sp>
        <p:sp>
          <p:nvSpPr>
            <p:cNvPr id="22" name="Text Box 1082"/>
            <p:cNvSpPr txBox="1">
              <a:spLocks noChangeArrowheads="1"/>
            </p:cNvSpPr>
            <p:nvPr/>
          </p:nvSpPr>
          <p:spPr bwMode="auto">
            <a:xfrm>
              <a:off x="3207" y="15484"/>
              <a:ext cx="430" cy="357"/>
            </a:xfrm>
            <a:prstGeom prst="rect">
              <a:avLst/>
            </a:prstGeom>
            <a:noFill/>
            <a:ln>
              <a:noFill/>
            </a:ln>
          </p:spPr>
          <p:txBody>
            <a:bodyPr lIns="36000" tIns="7200" rIns="36000" bIns="7200" upright="1"/>
            <a:lstStyle/>
            <a:p>
              <a:pPr algn="just">
                <a:spcAft>
                  <a:spcPts val="0"/>
                </a:spcAft>
                <a:defRPr/>
              </a:pPr>
              <a:r>
                <a:rPr lang="en-US" sz="1600" kern="100" dirty="0">
                  <a:latin typeface="Times New Roman" panose="02020603050405020304" pitchFamily="18" charset="0"/>
                  <a:cs typeface="Times New Roman" panose="02020603050405020304" pitchFamily="18" charset="0"/>
                </a:rPr>
                <a:t>3m</a:t>
              </a:r>
              <a:endParaRPr lang="zh-CN" sz="1600" kern="100" dirty="0">
                <a:latin typeface="Times New Roman" panose="02020603050405020304" pitchFamily="18" charset="0"/>
                <a:cs typeface="Times New Roman" panose="02020603050405020304" pitchFamily="18" charset="0"/>
              </a:endParaRPr>
            </a:p>
          </p:txBody>
        </p:sp>
        <p:sp>
          <p:nvSpPr>
            <p:cNvPr id="24" name="Text Box 1170"/>
            <p:cNvSpPr txBox="1">
              <a:spLocks noChangeArrowheads="1"/>
            </p:cNvSpPr>
            <p:nvPr/>
          </p:nvSpPr>
          <p:spPr bwMode="auto">
            <a:xfrm>
              <a:off x="4242" y="15166"/>
              <a:ext cx="467" cy="357"/>
            </a:xfrm>
            <a:prstGeom prst="rect">
              <a:avLst/>
            </a:prstGeom>
            <a:noFill/>
            <a:ln>
              <a:noFill/>
            </a:ln>
          </p:spPr>
          <p:txBody>
            <a:bodyPr lIns="36000" tIns="7200" rIns="36000" bIns="7200" upright="1"/>
            <a:lstStyle/>
            <a:p>
              <a:pPr algn="just">
                <a:spcAft>
                  <a:spcPts val="0"/>
                </a:spcAft>
                <a:defRPr/>
              </a:pPr>
              <a:r>
                <a:rPr lang="en-US" sz="1600" kern="100" dirty="0">
                  <a:latin typeface="Times New Roman" panose="02020603050405020304" pitchFamily="18" charset="0"/>
                  <a:cs typeface="Times New Roman" panose="02020603050405020304" pitchFamily="18" charset="0"/>
                </a:rPr>
                <a:t>3m</a:t>
              </a:r>
              <a:endParaRPr lang="zh-CN" sz="1600" kern="100" dirty="0">
                <a:latin typeface="Times New Roman" panose="02020603050405020304" pitchFamily="18" charset="0"/>
                <a:cs typeface="Times New Roman" panose="02020603050405020304" pitchFamily="18" charset="0"/>
              </a:endParaRPr>
            </a:p>
          </p:txBody>
        </p:sp>
        <p:sp>
          <p:nvSpPr>
            <p:cNvPr id="4" name="Text Box 1463"/>
            <p:cNvSpPr txBox="1">
              <a:spLocks noChangeArrowheads="1"/>
            </p:cNvSpPr>
            <p:nvPr/>
          </p:nvSpPr>
          <p:spPr bwMode="auto">
            <a:xfrm>
              <a:off x="2792" y="14367"/>
              <a:ext cx="542" cy="435"/>
            </a:xfrm>
            <a:prstGeom prst="rect">
              <a:avLst/>
            </a:prstGeom>
            <a:noFill/>
            <a:ln>
              <a:noFill/>
            </a:ln>
          </p:spPr>
          <p:txBody>
            <a:bodyPr upright="1"/>
            <a:lstStyle/>
            <a:p>
              <a:pPr algn="just">
                <a:spcAft>
                  <a:spcPts val="0"/>
                </a:spcAft>
                <a:defRPr/>
              </a:pPr>
              <a:r>
                <a:rPr lang="en-US" sz="1600" b="1" i="1" kern="100" dirty="0">
                  <a:solidFill>
                    <a:srgbClr val="FF0000"/>
                  </a:solidFill>
                  <a:latin typeface="Times New Roman" panose="02020603050405020304" pitchFamily="18" charset="0"/>
                  <a:cs typeface="Times New Roman" panose="02020603050405020304" pitchFamily="18" charset="0"/>
                </a:rPr>
                <a:t>F</a:t>
              </a:r>
              <a:r>
                <a:rPr lang="en-US" sz="1600" b="1" kern="100" baseline="-25000" dirty="0">
                  <a:solidFill>
                    <a:srgbClr val="FF0000"/>
                  </a:solidFill>
                  <a:latin typeface="Times New Roman" panose="02020603050405020304" pitchFamily="18" charset="0"/>
                  <a:cs typeface="Times New Roman" panose="02020603050405020304" pitchFamily="18" charset="0"/>
                </a:rPr>
                <a:t>1</a:t>
              </a:r>
              <a:endParaRPr lang="zh-CN" sz="1600" b="1" kern="100" dirty="0">
                <a:solidFill>
                  <a:srgbClr val="FF0000"/>
                </a:solidFill>
                <a:latin typeface="Times New Roman" panose="02020603050405020304" pitchFamily="18" charset="0"/>
                <a:cs typeface="Times New Roman" panose="02020603050405020304" pitchFamily="18" charset="0"/>
              </a:endParaRPr>
            </a:p>
          </p:txBody>
        </p:sp>
      </p:grpSp>
      <p:sp>
        <p:nvSpPr>
          <p:cNvPr id="46" name="矩形 45"/>
          <p:cNvSpPr/>
          <p:nvPr/>
        </p:nvSpPr>
        <p:spPr>
          <a:xfrm>
            <a:off x="698473" y="2309269"/>
            <a:ext cx="817853" cy="400110"/>
          </a:xfrm>
          <a:prstGeom prst="rect">
            <a:avLst/>
          </a:prstGeom>
        </p:spPr>
        <p:txBody>
          <a:bodyPr wrap="none">
            <a:spAutoFit/>
          </a:bodyPr>
          <a:lstStyle/>
          <a:p>
            <a:r>
              <a:rPr lang="zh-CN" altLang="en-US" sz="2000" b="1" dirty="0">
                <a:solidFill>
                  <a:srgbClr val="0000FF"/>
                </a:solidFill>
                <a:latin typeface="楷体" panose="02010609060101010101" pitchFamily="49" charset="-122"/>
                <a:ea typeface="楷体" panose="02010609060101010101" pitchFamily="49" charset="-122"/>
              </a:rPr>
              <a:t>解：</a:t>
            </a:r>
            <a:r>
              <a:rPr lang="zh-CN" altLang="en-US" b="1" dirty="0">
                <a:latin typeface="楷体" panose="02010609060101010101" pitchFamily="49" charset="-122"/>
                <a:ea typeface="楷体" panose="02010609060101010101" pitchFamily="49" charset="-122"/>
              </a:rPr>
              <a:t> </a:t>
            </a:r>
            <a:endParaRPr lang="zh-CN" altLang="en-US" dirty="0"/>
          </a:p>
        </p:txBody>
      </p:sp>
      <p:sp>
        <p:nvSpPr>
          <p:cNvPr id="47" name="矩形 46"/>
          <p:cNvSpPr/>
          <p:nvPr/>
        </p:nvSpPr>
        <p:spPr>
          <a:xfrm>
            <a:off x="2582090" y="2338181"/>
            <a:ext cx="1794081" cy="553998"/>
          </a:xfrm>
          <a:prstGeom prst="rect">
            <a:avLst/>
          </a:prstGeom>
        </p:spPr>
        <p:txBody>
          <a:bodyPr wrap="none">
            <a:spAutoFit/>
          </a:bodyPr>
          <a:lstStyle/>
          <a:p>
            <a:pPr>
              <a:lnSpc>
                <a:spcPct val="150000"/>
              </a:lnSpc>
            </a:pP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000" i="1" baseline="-30000" dirty="0">
                <a:latin typeface="Times New Roman" panose="02020603050405020304" pitchFamily="18" charset="0"/>
                <a:cs typeface="Times New Roman" panose="02020603050405020304" pitchFamily="18" charset="0"/>
                <a:sym typeface="Symbol" panose="05050102010706020507" pitchFamily="18" charset="2"/>
              </a:rPr>
              <a:t>R</a:t>
            </a:r>
            <a:r>
              <a:rPr lang="en-US" altLang="zh-CN" sz="20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6</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i</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8</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k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N</a:t>
            </a:r>
          </a:p>
        </p:txBody>
      </p:sp>
      <p:sp>
        <p:nvSpPr>
          <p:cNvPr id="48" name="矩形 47"/>
          <p:cNvSpPr/>
          <p:nvPr/>
        </p:nvSpPr>
        <p:spPr>
          <a:xfrm>
            <a:off x="1654197" y="2434161"/>
            <a:ext cx="700833" cy="400110"/>
          </a:xfrm>
          <a:prstGeom prst="rect">
            <a:avLst/>
          </a:prstGeom>
        </p:spPr>
        <p:txBody>
          <a:bodyPr wrap="none">
            <a:spAutoFit/>
          </a:bodyPr>
          <a:lstStyle/>
          <a:p>
            <a:r>
              <a:rPr lang="zh-CN" altLang="en-US" sz="2000" b="1" dirty="0">
                <a:solidFill>
                  <a:srgbClr val="FF000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主矢</a:t>
            </a:r>
            <a:endParaRPr lang="zh-CN" altLang="en-US" sz="2000" dirty="0"/>
          </a:p>
        </p:txBody>
      </p:sp>
      <p:sp>
        <p:nvSpPr>
          <p:cNvPr id="49" name="矩形 48"/>
          <p:cNvSpPr/>
          <p:nvPr/>
        </p:nvSpPr>
        <p:spPr>
          <a:xfrm>
            <a:off x="2511056" y="2814802"/>
            <a:ext cx="2260555" cy="553998"/>
          </a:xfrm>
          <a:prstGeom prst="rect">
            <a:avLst/>
          </a:prstGeom>
        </p:spPr>
        <p:txBody>
          <a:bodyPr wrap="none">
            <a:spAutoFit/>
          </a:bodyPr>
          <a:lstStyle/>
          <a:p>
            <a:pPr>
              <a:lnSpc>
                <a:spcPct val="150000"/>
              </a:lnSpc>
            </a:pP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2000" i="1" baseline="-25000" dirty="0">
                <a:latin typeface="Times New Roman" panose="02020603050405020304" pitchFamily="18" charset="0"/>
                <a:cs typeface="Times New Roman" panose="02020603050405020304" pitchFamily="18" charset="0"/>
                <a:sym typeface="Symbol" panose="05050102010706020507" pitchFamily="18" charset="2"/>
              </a:rPr>
              <a:t>O</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24</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j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36</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k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Nm</a:t>
            </a:r>
            <a:endParaRPr lang="en-US" altLang="zh-CN" sz="2000" dirty="0">
              <a:sym typeface="Symbol" panose="05050102010706020507" pitchFamily="18" charset="2"/>
            </a:endParaRPr>
          </a:p>
        </p:txBody>
      </p:sp>
      <p:sp>
        <p:nvSpPr>
          <p:cNvPr id="50" name="矩形 49"/>
          <p:cNvSpPr/>
          <p:nvPr/>
        </p:nvSpPr>
        <p:spPr>
          <a:xfrm>
            <a:off x="1654196" y="2896574"/>
            <a:ext cx="700833" cy="400110"/>
          </a:xfrm>
          <a:prstGeom prst="rect">
            <a:avLst/>
          </a:prstGeom>
        </p:spPr>
        <p:txBody>
          <a:bodyPr wrap="none">
            <a:spAutoFit/>
          </a:bodyPr>
          <a:lstStyle/>
          <a:p>
            <a:r>
              <a:rPr lang="zh-CN" altLang="en-US" sz="2000" b="1" dirty="0">
                <a:solidFill>
                  <a:srgbClr val="FF0000"/>
                </a:solidFill>
                <a:latin typeface="楷体" panose="02010609060101010101" pitchFamily="49" charset="-122"/>
                <a:ea typeface="楷体" panose="02010609060101010101" pitchFamily="49" charset="-122"/>
                <a:sym typeface="Symbol" panose="05050102010706020507" pitchFamily="18" charset="2"/>
              </a:rPr>
              <a:t>主矩</a:t>
            </a:r>
            <a:endParaRPr lang="zh-CN" altLang="en-US" sz="2000" dirty="0"/>
          </a:p>
        </p:txBody>
      </p:sp>
      <p:sp>
        <p:nvSpPr>
          <p:cNvPr id="51" name="矩形 50"/>
          <p:cNvSpPr>
            <a:spLocks noChangeArrowheads="1"/>
          </p:cNvSpPr>
          <p:nvPr/>
        </p:nvSpPr>
        <p:spPr bwMode="auto">
          <a:xfrm>
            <a:off x="1115616" y="3827886"/>
            <a:ext cx="23903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dirty="0">
                <a:latin typeface="Times New Roman" panose="02020603050405020304" pitchFamily="18" charset="0"/>
                <a:cs typeface="Times New Roman" panose="02020603050405020304" pitchFamily="18" charset="0"/>
              </a:rPr>
              <a:t>F</a:t>
            </a:r>
            <a:r>
              <a:rPr lang="en-US" altLang="zh-CN" sz="2400" i="1" baseline="-25000" dirty="0">
                <a:latin typeface="Times New Roman" panose="02020603050405020304" pitchFamily="18" charset="0"/>
                <a:cs typeface="Times New Roman" panose="02020603050405020304" pitchFamily="18" charset="0"/>
              </a:rPr>
              <a:t>R</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M</a:t>
            </a:r>
            <a:r>
              <a:rPr lang="en-US" altLang="zh-CN" sz="2400" i="1" baseline="-25000" dirty="0">
                <a:latin typeface="Times New Roman" panose="02020603050405020304" pitchFamily="18" charset="0"/>
                <a:cs typeface="Times New Roman" panose="02020603050405020304" pitchFamily="18" charset="0"/>
              </a:rPr>
              <a:t>O</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 F</a:t>
            </a:r>
            <a:r>
              <a:rPr lang="en-US" altLang="zh-CN" sz="2400" i="1" baseline="-25000" dirty="0">
                <a:latin typeface="Times New Roman" panose="02020603050405020304" pitchFamily="18" charset="0"/>
                <a:cs typeface="Times New Roman" panose="02020603050405020304" pitchFamily="18" charset="0"/>
              </a:rPr>
              <a:t>R</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M</a:t>
            </a:r>
            <a:r>
              <a:rPr lang="en-US" altLang="zh-CN" sz="2400" i="1" baseline="-25000" dirty="0">
                <a:latin typeface="Times New Roman" panose="02020603050405020304" pitchFamily="18" charset="0"/>
                <a:cs typeface="Times New Roman" panose="02020603050405020304" pitchFamily="18" charset="0"/>
              </a:rPr>
              <a:t>C</a:t>
            </a:r>
            <a:r>
              <a:rPr lang="en-US" altLang="zh-CN" sz="2400" i="1"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52" name="Object 6"/>
          <p:cNvGraphicFramePr>
            <a:graphicFrameLocks noChangeAspect="1"/>
          </p:cNvGraphicFramePr>
          <p:nvPr/>
        </p:nvGraphicFramePr>
        <p:xfrm>
          <a:off x="3781387" y="4866689"/>
          <a:ext cx="2379663" cy="854075"/>
        </p:xfrm>
        <a:graphic>
          <a:graphicData uri="http://schemas.openxmlformats.org/presentationml/2006/ole">
            <mc:AlternateContent xmlns:mc="http://schemas.openxmlformats.org/markup-compatibility/2006">
              <mc:Choice xmlns:v="urn:schemas-microsoft-com:vml" Requires="v">
                <p:oleObj spid="_x0000_s31758" name="Equation" r:id="rId3" imgW="1231366" imgH="444307" progId="Equation.DSMT4">
                  <p:embed/>
                </p:oleObj>
              </mc:Choice>
              <mc:Fallback>
                <p:oleObj name="Equation" r:id="rId3" imgW="1231366" imgH="44430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1387" y="4866689"/>
                        <a:ext cx="2379663" cy="854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Object 6"/>
          <p:cNvGraphicFramePr>
            <a:graphicFrameLocks noChangeAspect="1"/>
          </p:cNvGraphicFramePr>
          <p:nvPr/>
        </p:nvGraphicFramePr>
        <p:xfrm>
          <a:off x="4082366" y="3627091"/>
          <a:ext cx="2182812" cy="854075"/>
        </p:xfrm>
        <a:graphic>
          <a:graphicData uri="http://schemas.openxmlformats.org/presentationml/2006/ole">
            <mc:AlternateContent xmlns:mc="http://schemas.openxmlformats.org/markup-compatibility/2006">
              <mc:Choice xmlns:v="urn:schemas-microsoft-com:vml" Requires="v">
                <p:oleObj spid="_x0000_s31759" name="Equation" r:id="rId5" imgW="1130040" imgH="444240" progId="Equation.DSMT4">
                  <p:embed/>
                </p:oleObj>
              </mc:Choice>
              <mc:Fallback>
                <p:oleObj name="Equation" r:id="rId5" imgW="1130040" imgH="444240" progId="Equation.DSMT4">
                  <p:embed/>
                  <p:pic>
                    <p:nvPicPr>
                      <p:cNvPr id="0" name=""/>
                      <p:cNvPicPr>
                        <a:picLocks noChangeAspect="1" noChangeArrowheads="1"/>
                      </p:cNvPicPr>
                      <p:nvPr/>
                    </p:nvPicPr>
                    <p:blipFill>
                      <a:blip r:embed="rId6"/>
                      <a:srcRect/>
                      <a:stretch>
                        <a:fillRect/>
                      </a:stretch>
                    </p:blipFill>
                    <p:spPr bwMode="auto">
                      <a:xfrm>
                        <a:off x="4082366" y="3627091"/>
                        <a:ext cx="2182812" cy="854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6"/>
          <p:cNvGraphicFramePr>
            <a:graphicFrameLocks noChangeAspect="1"/>
          </p:cNvGraphicFramePr>
          <p:nvPr/>
        </p:nvGraphicFramePr>
        <p:xfrm>
          <a:off x="6265178" y="3776127"/>
          <a:ext cx="1349375" cy="414338"/>
        </p:xfrm>
        <a:graphic>
          <a:graphicData uri="http://schemas.openxmlformats.org/presentationml/2006/ole">
            <mc:AlternateContent xmlns:mc="http://schemas.openxmlformats.org/markup-compatibility/2006">
              <mc:Choice xmlns:v="urn:schemas-microsoft-com:vml" Requires="v">
                <p:oleObj spid="_x0000_s31760" name="Equation" r:id="rId7" imgW="698400" imgH="215640" progId="Equation.DSMT4">
                  <p:embed/>
                </p:oleObj>
              </mc:Choice>
              <mc:Fallback>
                <p:oleObj name="Equation" r:id="rId7" imgW="698400" imgH="215640" progId="Equation.DSMT4">
                  <p:embed/>
                  <p:pic>
                    <p:nvPicPr>
                      <p:cNvPr id="0" name=""/>
                      <p:cNvPicPr>
                        <a:picLocks noChangeAspect="1" noChangeArrowheads="1"/>
                      </p:cNvPicPr>
                      <p:nvPr/>
                    </p:nvPicPr>
                    <p:blipFill>
                      <a:blip r:embed="rId8"/>
                      <a:srcRect/>
                      <a:stretch>
                        <a:fillRect/>
                      </a:stretch>
                    </p:blipFill>
                    <p:spPr bwMode="auto">
                      <a:xfrm>
                        <a:off x="6265178" y="3776127"/>
                        <a:ext cx="1349375"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 name="矩形 54"/>
          <p:cNvSpPr>
            <a:spLocks noChangeArrowheads="1"/>
          </p:cNvSpPr>
          <p:nvPr/>
        </p:nvSpPr>
        <p:spPr bwMode="auto">
          <a:xfrm>
            <a:off x="1608677" y="5023428"/>
            <a:ext cx="16337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dirty="0">
                <a:latin typeface="Times New Roman" panose="02020603050405020304" pitchFamily="18" charset="0"/>
                <a:cs typeface="Times New Roman" panose="02020603050405020304" pitchFamily="18" charset="0"/>
              </a:rPr>
              <a:t>F</a:t>
            </a:r>
            <a:r>
              <a:rPr lang="en-US" altLang="zh-CN" sz="2400" i="1" baseline="-25000" dirty="0">
                <a:latin typeface="Times New Roman" panose="02020603050405020304" pitchFamily="18" charset="0"/>
                <a:cs typeface="Times New Roman" panose="02020603050405020304" pitchFamily="18" charset="0"/>
              </a:rPr>
              <a:t>R</a:t>
            </a:r>
            <a:r>
              <a:rPr lang="en-US"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M</a:t>
            </a:r>
            <a:r>
              <a:rPr lang="en-US" altLang="zh-CN" sz="2400" i="1" baseline="-25000" dirty="0">
                <a:latin typeface="Times New Roman" panose="02020603050405020304" pitchFamily="18" charset="0"/>
                <a:cs typeface="Times New Roman" panose="02020603050405020304" pitchFamily="18" charset="0"/>
              </a:rPr>
              <a:t>O</a:t>
            </a:r>
            <a:r>
              <a:rPr lang="en-US" altLang="zh-CN" sz="2400"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0</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02168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left)">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box(out)">
                                      <p:cBhvr>
                                        <p:cTn id="37" dur="500"/>
                                        <p:tgtEl>
                                          <p:spTgt spid="5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box(out)">
                                      <p:cBhvr>
                                        <p:cTn id="42" dur="500"/>
                                        <p:tgtEl>
                                          <p:spTgt spid="5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wipe(left)">
                                      <p:cBhvr>
                                        <p:cTn id="47" dur="500"/>
                                        <p:tgtEl>
                                          <p:spTgt spid="55"/>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box(out)">
                                      <p:cBhvr>
                                        <p:cTn id="5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P spid="50" grpId="0"/>
      <p:bldP spid="51" grpId="0"/>
      <p:bldP spid="55"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ext Box 4"/>
          <p:cNvSpPr txBox="1">
            <a:spLocks noChangeArrowheads="1"/>
          </p:cNvSpPr>
          <p:nvPr/>
        </p:nvSpPr>
        <p:spPr bwMode="auto">
          <a:xfrm>
            <a:off x="795731" y="1027584"/>
            <a:ext cx="3816350" cy="4572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latin typeface="黑体" panose="02010609060101010101" pitchFamily="49" charset="-122"/>
                <a:ea typeface="黑体" panose="02010609060101010101" pitchFamily="49" charset="-122"/>
              </a:rPr>
              <a:t>特例</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平面力系的合成结果</a:t>
            </a:r>
          </a:p>
        </p:txBody>
      </p:sp>
      <p:sp>
        <p:nvSpPr>
          <p:cNvPr id="37893" name="Rectangle 5"/>
          <p:cNvSpPr>
            <a:spLocks noChangeArrowheads="1"/>
          </p:cNvSpPr>
          <p:nvPr/>
        </p:nvSpPr>
        <p:spPr bwMode="auto">
          <a:xfrm>
            <a:off x="1756370" y="1518122"/>
            <a:ext cx="966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b="1" dirty="0">
                <a:solidFill>
                  <a:schemeClr val="tx2"/>
                </a:solidFill>
                <a:latin typeface="黑体" panose="02010609060101010101" pitchFamily="49" charset="-122"/>
                <a:ea typeface="黑体" panose="02010609060101010101" pitchFamily="49" charset="-122"/>
              </a:rPr>
              <a:t>主矢</a:t>
            </a:r>
          </a:p>
        </p:txBody>
      </p:sp>
      <p:sp>
        <p:nvSpPr>
          <p:cNvPr id="37894" name="Text Box 6"/>
          <p:cNvSpPr txBox="1">
            <a:spLocks noChangeArrowheads="1"/>
          </p:cNvSpPr>
          <p:nvPr/>
        </p:nvSpPr>
        <p:spPr bwMode="auto">
          <a:xfrm>
            <a:off x="2647724" y="1548011"/>
            <a:ext cx="460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i="1" dirty="0"/>
              <a:t>F</a:t>
            </a:r>
            <a:r>
              <a:rPr lang="en-US" altLang="zh-CN" b="1" i="1" dirty="0">
                <a:cs typeface="Times New Roman" panose="02020603050405020304" pitchFamily="18" charset="0"/>
                <a:sym typeface="Symbol" panose="05050102010706020507" pitchFamily="18" charset="2"/>
              </a:rPr>
              <a:t>'</a:t>
            </a:r>
            <a:r>
              <a:rPr lang="en-US" altLang="zh-CN" b="1" i="1" baseline="-25000" dirty="0">
                <a:sym typeface="Symbol" panose="05050102010706020507" pitchFamily="18" charset="2"/>
              </a:rPr>
              <a:t>R</a:t>
            </a:r>
            <a:r>
              <a:rPr lang="en-US" altLang="zh-CN" b="1" i="1" baseline="30000" dirty="0">
                <a:sym typeface="Symbol" panose="05050102010706020507" pitchFamily="18" charset="2"/>
              </a:rPr>
              <a:t> </a:t>
            </a:r>
            <a:r>
              <a:rPr lang="en-US" altLang="zh-CN" b="1" i="1" dirty="0">
                <a:sym typeface="Symbol" panose="05050102010706020507" pitchFamily="18" charset="2"/>
              </a:rPr>
              <a:t>=</a:t>
            </a:r>
            <a:r>
              <a:rPr lang="en-US" altLang="zh-CN" b="1" i="1" dirty="0">
                <a:ea typeface="楷体_GB2312" pitchFamily="49" charset="-122"/>
              </a:rPr>
              <a:t> </a:t>
            </a:r>
            <a:r>
              <a:rPr lang="en-US" altLang="zh-CN" b="1" i="1" dirty="0">
                <a:sym typeface="Symbol" panose="05050102010706020507" pitchFamily="18" charset="2"/>
              </a:rPr>
              <a:t>F</a:t>
            </a:r>
            <a:r>
              <a:rPr lang="en-US" altLang="zh-CN" b="1" baseline="-25000" dirty="0">
                <a:sym typeface="Symbol" panose="05050102010706020507" pitchFamily="18" charset="2"/>
              </a:rPr>
              <a:t>1 </a:t>
            </a:r>
            <a:r>
              <a:rPr lang="en-US" altLang="zh-CN" b="1" i="1" dirty="0">
                <a:sym typeface="Symbol" panose="05050102010706020507" pitchFamily="18" charset="2"/>
              </a:rPr>
              <a:t>+F</a:t>
            </a:r>
            <a:r>
              <a:rPr lang="en-US" altLang="zh-CN" b="1" baseline="-25000" dirty="0">
                <a:sym typeface="Symbol" panose="05050102010706020507" pitchFamily="18" charset="2"/>
              </a:rPr>
              <a:t>2</a:t>
            </a:r>
            <a:r>
              <a:rPr lang="en-US" altLang="zh-CN" b="1" dirty="0">
                <a:sym typeface="Symbol" panose="05050102010706020507" pitchFamily="18" charset="2"/>
              </a:rPr>
              <a:t>+···</a:t>
            </a:r>
            <a:r>
              <a:rPr lang="en-US" altLang="zh-CN" b="1" i="1" dirty="0">
                <a:sym typeface="Symbol" panose="05050102010706020507" pitchFamily="18" charset="2"/>
              </a:rPr>
              <a:t>+</a:t>
            </a:r>
            <a:r>
              <a:rPr lang="en-US" altLang="zh-CN" b="1" i="1" dirty="0" err="1">
                <a:sym typeface="Symbol" panose="05050102010706020507" pitchFamily="18" charset="2"/>
              </a:rPr>
              <a:t>F</a:t>
            </a:r>
            <a:r>
              <a:rPr lang="en-US" altLang="zh-CN" b="1" i="1" baseline="-25000" dirty="0" err="1">
                <a:sym typeface="Symbol" panose="05050102010706020507" pitchFamily="18" charset="2"/>
              </a:rPr>
              <a:t>n</a:t>
            </a:r>
            <a:r>
              <a:rPr lang="en-US" altLang="zh-CN" b="1" dirty="0">
                <a:sym typeface="Symbol" panose="05050102010706020507" pitchFamily="18" charset="2"/>
              </a:rPr>
              <a:t>=∑</a:t>
            </a:r>
            <a:r>
              <a:rPr lang="en-US" altLang="zh-CN" b="1" i="1" dirty="0">
                <a:sym typeface="Symbol" panose="05050102010706020507" pitchFamily="18" charset="2"/>
              </a:rPr>
              <a:t>F</a:t>
            </a:r>
            <a:r>
              <a:rPr lang="en-US" altLang="zh-CN" b="1" i="1" baseline="-25000" dirty="0">
                <a:sym typeface="Symbol" panose="05050102010706020507" pitchFamily="18" charset="2"/>
              </a:rPr>
              <a:t>i</a:t>
            </a:r>
          </a:p>
        </p:txBody>
      </p:sp>
      <p:sp>
        <p:nvSpPr>
          <p:cNvPr id="37895" name="Rectangle 7"/>
          <p:cNvSpPr>
            <a:spLocks noChangeArrowheads="1"/>
          </p:cNvSpPr>
          <p:nvPr/>
        </p:nvSpPr>
        <p:spPr bwMode="auto">
          <a:xfrm>
            <a:off x="1861145" y="2087977"/>
            <a:ext cx="7604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b="1" dirty="0">
                <a:solidFill>
                  <a:schemeClr val="tx2"/>
                </a:solidFill>
                <a:latin typeface="黑体" panose="02010609060101010101" pitchFamily="49" charset="-122"/>
                <a:ea typeface="黑体" panose="02010609060101010101" pitchFamily="49" charset="-122"/>
              </a:rPr>
              <a:t>主矩</a:t>
            </a:r>
            <a:endParaRPr lang="zh-CN" altLang="en-US" b="1" i="1" dirty="0">
              <a:solidFill>
                <a:schemeClr val="tx2"/>
              </a:solidFill>
              <a:latin typeface="黑体" panose="02010609060101010101" pitchFamily="49" charset="-122"/>
              <a:ea typeface="黑体" panose="02010609060101010101" pitchFamily="49" charset="-122"/>
            </a:endParaRPr>
          </a:p>
        </p:txBody>
      </p:sp>
      <p:sp>
        <p:nvSpPr>
          <p:cNvPr id="37896" name="Text Box 8"/>
          <p:cNvSpPr txBox="1">
            <a:spLocks noChangeArrowheads="1"/>
          </p:cNvSpPr>
          <p:nvPr/>
        </p:nvSpPr>
        <p:spPr bwMode="auto">
          <a:xfrm>
            <a:off x="2759448" y="2087977"/>
            <a:ext cx="3382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i="1" dirty="0"/>
              <a:t>M</a:t>
            </a:r>
            <a:r>
              <a:rPr lang="en-US" altLang="zh-CN" i="1" baseline="-25000" dirty="0"/>
              <a:t>O</a:t>
            </a:r>
            <a:r>
              <a:rPr lang="en-US" altLang="zh-CN" i="1" baseline="30000" dirty="0">
                <a:sym typeface="Symbol" panose="05050102010706020507" pitchFamily="18" charset="2"/>
              </a:rPr>
              <a:t> </a:t>
            </a:r>
            <a:r>
              <a:rPr lang="en-US" altLang="zh-CN" b="1" dirty="0">
                <a:sym typeface="Symbol" panose="05050102010706020507" pitchFamily="18" charset="2"/>
              </a:rPr>
              <a:t>=</a:t>
            </a:r>
            <a:r>
              <a:rPr lang="en-US" altLang="zh-CN" dirty="0">
                <a:sym typeface="Symbol" panose="05050102010706020507" pitchFamily="18" charset="2"/>
              </a:rPr>
              <a:t> </a:t>
            </a:r>
            <a:r>
              <a:rPr lang="en-US" altLang="zh-CN" b="1" dirty="0">
                <a:sym typeface="Symbol" panose="05050102010706020507" pitchFamily="18" charset="2"/>
              </a:rPr>
              <a:t>∑ </a:t>
            </a:r>
            <a:r>
              <a:rPr lang="en-US" altLang="zh-CN" i="1" dirty="0"/>
              <a:t>M</a:t>
            </a:r>
            <a:r>
              <a:rPr lang="en-US" altLang="zh-CN" i="1" baseline="-25000" dirty="0"/>
              <a:t>O</a:t>
            </a:r>
            <a:r>
              <a:rPr lang="en-US" altLang="zh-CN" b="1" i="1" dirty="0">
                <a:sym typeface="Symbol" panose="05050102010706020507" pitchFamily="18" charset="2"/>
              </a:rPr>
              <a:t> </a:t>
            </a:r>
            <a:r>
              <a:rPr lang="en-US" altLang="zh-CN" dirty="0">
                <a:sym typeface="Symbol" panose="05050102010706020507" pitchFamily="18" charset="2"/>
              </a:rPr>
              <a:t>(</a:t>
            </a:r>
            <a:r>
              <a:rPr lang="en-US" altLang="zh-CN" b="1" i="1" dirty="0">
                <a:sym typeface="Symbol" panose="05050102010706020507" pitchFamily="18" charset="2"/>
              </a:rPr>
              <a:t>F</a:t>
            </a:r>
            <a:r>
              <a:rPr lang="en-US" altLang="zh-CN" b="1" i="1" baseline="-25000" dirty="0">
                <a:sym typeface="Symbol" panose="05050102010706020507" pitchFamily="18" charset="2"/>
              </a:rPr>
              <a:t>i</a:t>
            </a:r>
            <a:r>
              <a:rPr lang="en-US" altLang="zh-CN" b="1" i="1" dirty="0">
                <a:sym typeface="Symbol" panose="05050102010706020507" pitchFamily="18" charset="2"/>
              </a:rPr>
              <a:t> </a:t>
            </a:r>
            <a:r>
              <a:rPr lang="en-US" altLang="zh-CN" dirty="0">
                <a:sym typeface="Symbol" panose="05050102010706020507" pitchFamily="18" charset="2"/>
              </a:rPr>
              <a:t>)</a:t>
            </a:r>
          </a:p>
        </p:txBody>
      </p:sp>
      <p:sp>
        <p:nvSpPr>
          <p:cNvPr id="37897" name="Text Box 9"/>
          <p:cNvSpPr txBox="1">
            <a:spLocks noChangeArrowheads="1"/>
          </p:cNvSpPr>
          <p:nvPr/>
        </p:nvSpPr>
        <p:spPr bwMode="auto">
          <a:xfrm>
            <a:off x="6142411" y="2123890"/>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FF0000"/>
                </a:solidFill>
                <a:latin typeface="楷体" panose="02010609060101010101" pitchFamily="49" charset="-122"/>
                <a:ea typeface="楷体" panose="02010609060101010101" pitchFamily="49" charset="-122"/>
              </a:rPr>
              <a:t>代数和</a:t>
            </a:r>
          </a:p>
        </p:txBody>
      </p:sp>
      <p:graphicFrame>
        <p:nvGraphicFramePr>
          <p:cNvPr id="13" name="表格 12"/>
          <p:cNvGraphicFramePr>
            <a:graphicFrameLocks noGrp="1"/>
          </p:cNvGraphicFramePr>
          <p:nvPr>
            <p:extLst>
              <p:ext uri="{D42A27DB-BD31-4B8C-83A1-F6EECF244321}">
                <p14:modId xmlns:p14="http://schemas.microsoft.com/office/powerpoint/2010/main" val="230876964"/>
              </p:ext>
            </p:extLst>
          </p:nvPr>
        </p:nvGraphicFramePr>
        <p:xfrm>
          <a:off x="787307" y="2709505"/>
          <a:ext cx="7643812" cy="3470613"/>
        </p:xfrm>
        <a:graphic>
          <a:graphicData uri="http://schemas.openxmlformats.org/drawingml/2006/table">
            <a:tbl>
              <a:tblPr firstRow="1" bandRow="1">
                <a:tableStyleId>{5C22544A-7EE6-4342-B048-85BDC9FD1C3A}</a:tableStyleId>
              </a:tblPr>
              <a:tblGrid>
                <a:gridCol w="1273968">
                  <a:extLst>
                    <a:ext uri="{9D8B030D-6E8A-4147-A177-3AD203B41FA5}">
                      <a16:colId xmlns:a16="http://schemas.microsoft.com/office/drawing/2014/main" xmlns="" val="20000"/>
                    </a:ext>
                  </a:extLst>
                </a:gridCol>
                <a:gridCol w="1083469">
                  <a:extLst>
                    <a:ext uri="{9D8B030D-6E8A-4147-A177-3AD203B41FA5}">
                      <a16:colId xmlns:a16="http://schemas.microsoft.com/office/drawing/2014/main" xmlns="" val="20001"/>
                    </a:ext>
                  </a:extLst>
                </a:gridCol>
                <a:gridCol w="2000250">
                  <a:extLst>
                    <a:ext uri="{9D8B030D-6E8A-4147-A177-3AD203B41FA5}">
                      <a16:colId xmlns:a16="http://schemas.microsoft.com/office/drawing/2014/main" xmlns="" val="20002"/>
                    </a:ext>
                  </a:extLst>
                </a:gridCol>
                <a:gridCol w="3286125">
                  <a:extLst>
                    <a:ext uri="{9D8B030D-6E8A-4147-A177-3AD203B41FA5}">
                      <a16:colId xmlns:a16="http://schemas.microsoft.com/office/drawing/2014/main" xmlns="" val="20003"/>
                    </a:ext>
                  </a:extLst>
                </a:gridCol>
              </a:tblGrid>
              <a:tr h="822960">
                <a:tc gridSpan="2">
                  <a:txBody>
                    <a:bodyPr/>
                    <a:lstStyle/>
                    <a:p>
                      <a:r>
                        <a:rPr lang="zh-CN" altLang="en-US" sz="2000" dirty="0">
                          <a:latin typeface="华文中宋" pitchFamily="2" charset="-122"/>
                          <a:ea typeface="华文中宋" pitchFamily="2" charset="-122"/>
                        </a:rPr>
                        <a:t>   </a:t>
                      </a:r>
                      <a:r>
                        <a:rPr lang="zh-CN" altLang="en-US" sz="2400" dirty="0">
                          <a:solidFill>
                            <a:schemeClr val="tx1"/>
                          </a:solidFill>
                          <a:latin typeface="黑体" panose="02010609060101010101" pitchFamily="49" charset="-122"/>
                          <a:ea typeface="黑体" panose="02010609060101010101" pitchFamily="49" charset="-122"/>
                        </a:rPr>
                        <a:t>力系特征量</a:t>
                      </a:r>
                      <a:endParaRPr lang="en-US" altLang="zh-CN" sz="2400" dirty="0">
                        <a:solidFill>
                          <a:schemeClr val="tx1"/>
                        </a:solidFill>
                        <a:latin typeface="黑体" panose="02010609060101010101" pitchFamily="49" charset="-122"/>
                        <a:ea typeface="黑体" panose="02010609060101010101" pitchFamily="49" charset="-122"/>
                      </a:endParaRPr>
                    </a:p>
                    <a:p>
                      <a:r>
                        <a:rPr lang="zh-CN" altLang="en-US" sz="2400" dirty="0">
                          <a:solidFill>
                            <a:schemeClr val="tx1"/>
                          </a:solidFill>
                          <a:latin typeface="黑体" panose="02010609060101010101" pitchFamily="49" charset="-122"/>
                          <a:ea typeface="黑体" panose="02010609060101010101" pitchFamily="49" charset="-122"/>
                        </a:rPr>
                        <a:t>（简化中心</a:t>
                      </a:r>
                      <a:r>
                        <a:rPr lang="en-US" altLang="zh-CN" sz="2400" i="1" dirty="0">
                          <a:solidFill>
                            <a:schemeClr val="tx1"/>
                          </a:solidFill>
                          <a:latin typeface="+mn-lt"/>
                          <a:ea typeface="黑体" panose="02010609060101010101" pitchFamily="49" charset="-122"/>
                        </a:rPr>
                        <a:t>O</a:t>
                      </a:r>
                      <a:r>
                        <a:rPr lang="zh-CN" altLang="en-US" sz="2400" dirty="0">
                          <a:solidFill>
                            <a:schemeClr val="tx1"/>
                          </a:solidFill>
                          <a:latin typeface="黑体" panose="02010609060101010101" pitchFamily="49" charset="-122"/>
                          <a:ea typeface="黑体" panose="02010609060101010101" pitchFamily="49" charset="-122"/>
                        </a:rPr>
                        <a:t>）</a:t>
                      </a:r>
                    </a:p>
                  </a:txBody>
                  <a:tcPr marL="91439" marR="91439"/>
                </a:tc>
                <a:tc hMerge="1">
                  <a:txBody>
                    <a:bodyPr/>
                    <a:lstStyle/>
                    <a:p>
                      <a:endParaRPr lang="zh-CN" altLang="en-US"/>
                    </a:p>
                  </a:txBody>
                  <a:tcPr/>
                </a:tc>
                <a:tc>
                  <a:txBody>
                    <a:bodyPr/>
                    <a:lstStyle/>
                    <a:p>
                      <a:pPr algn="ctr"/>
                      <a:r>
                        <a:rPr lang="zh-CN" altLang="en-US" sz="2400" dirty="0">
                          <a:solidFill>
                            <a:schemeClr val="tx1"/>
                          </a:solidFill>
                          <a:latin typeface="黑体" panose="02010609060101010101" pitchFamily="49" charset="-122"/>
                          <a:ea typeface="黑体" panose="02010609060101010101" pitchFamily="49" charset="-122"/>
                        </a:rPr>
                        <a:t>向</a:t>
                      </a:r>
                      <a:r>
                        <a:rPr lang="en-US" altLang="zh-CN" sz="2400" b="1" i="1" kern="1200" dirty="0">
                          <a:solidFill>
                            <a:schemeClr val="tx1"/>
                          </a:solidFill>
                          <a:latin typeface="+mn-lt"/>
                          <a:ea typeface="黑体" panose="02010609060101010101" pitchFamily="49" charset="-122"/>
                          <a:cs typeface="+mn-cs"/>
                        </a:rPr>
                        <a:t>O</a:t>
                      </a:r>
                      <a:r>
                        <a:rPr lang="zh-CN" altLang="en-US" sz="2400" dirty="0">
                          <a:solidFill>
                            <a:schemeClr val="tx1"/>
                          </a:solidFill>
                          <a:latin typeface="黑体" panose="02010609060101010101" pitchFamily="49" charset="-122"/>
                          <a:ea typeface="黑体" panose="02010609060101010101" pitchFamily="49" charset="-122"/>
                        </a:rPr>
                        <a:t>点简化</a:t>
                      </a:r>
                    </a:p>
                  </a:txBody>
                  <a:tcPr marL="91439" marR="91439"/>
                </a:tc>
                <a:tc>
                  <a:txBody>
                    <a:bodyPr/>
                    <a:lstStyle/>
                    <a:p>
                      <a:pPr algn="ctr"/>
                      <a:r>
                        <a:rPr lang="zh-CN" altLang="en-US" sz="2400" dirty="0">
                          <a:solidFill>
                            <a:schemeClr val="tx1"/>
                          </a:solidFill>
                          <a:latin typeface="黑体" panose="02010609060101010101" pitchFamily="49" charset="-122"/>
                          <a:ea typeface="黑体" panose="02010609060101010101" pitchFamily="49" charset="-122"/>
                        </a:rPr>
                        <a:t>合成结果</a:t>
                      </a:r>
                    </a:p>
                  </a:txBody>
                  <a:tcPr marL="91439" marR="91439"/>
                </a:tc>
                <a:extLst>
                  <a:ext uri="{0D108BD9-81ED-4DB2-BD59-A6C34878D82A}">
                    <a16:rowId xmlns:a16="http://schemas.microsoft.com/office/drawing/2014/main" xmlns="" val="10000"/>
                  </a:ext>
                </a:extLst>
              </a:tr>
              <a:tr h="482204">
                <a:tc rowSpan="2">
                  <a:txBody>
                    <a:bodyPr/>
                    <a:lstStyle/>
                    <a:p>
                      <a:r>
                        <a:rPr lang="en-US" altLang="zh-CN" sz="2400" b="1" i="1" dirty="0">
                          <a:solidFill>
                            <a:srgbClr val="CC0000"/>
                          </a:solidFill>
                          <a:latin typeface="+mn-lt"/>
                          <a:ea typeface="华文中宋" pitchFamily="2" charset="-122"/>
                        </a:rPr>
                        <a:t>F</a:t>
                      </a:r>
                      <a:r>
                        <a:rPr lang="en-US" altLang="zh-CN" sz="2400" b="1" i="1" dirty="0">
                          <a:solidFill>
                            <a:srgbClr val="CC0000"/>
                          </a:solidFill>
                          <a:latin typeface="+mn-lt"/>
                          <a:ea typeface="华文中宋" pitchFamily="2" charset="-122"/>
                          <a:cs typeface="Times New Roman" pitchFamily="18" charset="0"/>
                          <a:sym typeface="Symbol" pitchFamily="18" charset="2"/>
                        </a:rPr>
                        <a:t>'</a:t>
                      </a:r>
                      <a:r>
                        <a:rPr lang="en-US" altLang="zh-CN" sz="2400" b="1" i="1" baseline="-25000" dirty="0">
                          <a:solidFill>
                            <a:srgbClr val="CC0000"/>
                          </a:solidFill>
                          <a:latin typeface="+mn-lt"/>
                          <a:ea typeface="华文中宋" pitchFamily="2" charset="-122"/>
                          <a:sym typeface="Symbol" pitchFamily="18" charset="2"/>
                        </a:rPr>
                        <a:t>R</a:t>
                      </a:r>
                      <a:r>
                        <a:rPr lang="en-US" altLang="zh-CN" sz="2400" b="1" i="1" baseline="30000" dirty="0">
                          <a:solidFill>
                            <a:srgbClr val="0000FF"/>
                          </a:solidFill>
                          <a:latin typeface="+mn-lt"/>
                          <a:ea typeface="华文中宋" pitchFamily="2" charset="-122"/>
                          <a:sym typeface="Symbol" pitchFamily="18" charset="2"/>
                        </a:rPr>
                        <a:t> </a:t>
                      </a:r>
                      <a:r>
                        <a:rPr lang="en-US" altLang="zh-CN" sz="2400" b="1" dirty="0">
                          <a:solidFill>
                            <a:srgbClr val="CC0000"/>
                          </a:solidFill>
                          <a:latin typeface="+mn-lt"/>
                          <a:ea typeface="华文中宋" pitchFamily="2" charset="-122"/>
                        </a:rPr>
                        <a:t>=</a:t>
                      </a:r>
                      <a:r>
                        <a:rPr kumimoji="0" lang="en-US" altLang="zh-CN" sz="2400" dirty="0">
                          <a:solidFill>
                            <a:srgbClr val="CC0000"/>
                          </a:solidFill>
                          <a:latin typeface="+mn-lt"/>
                          <a:ea typeface="华文中宋" pitchFamily="2" charset="-122"/>
                        </a:rPr>
                        <a:t>0</a:t>
                      </a:r>
                      <a:endParaRPr lang="zh-CN" altLang="en-US" sz="2400" dirty="0">
                        <a:latin typeface="+mn-lt"/>
                      </a:endParaRPr>
                    </a:p>
                  </a:txBody>
                  <a:tcPr marL="91439" marR="91439"/>
                </a:tc>
                <a:tc>
                  <a:txBody>
                    <a:bodyPr/>
                    <a:lstStyle/>
                    <a:p>
                      <a:r>
                        <a:rPr kumimoji="0" lang="en-US" altLang="zh-CN" sz="2400" b="0" i="1" dirty="0">
                          <a:solidFill>
                            <a:srgbClr val="CC0000"/>
                          </a:solidFill>
                          <a:latin typeface="+mn-lt"/>
                          <a:ea typeface="华文中宋" pitchFamily="2" charset="-122"/>
                        </a:rPr>
                        <a:t>M</a:t>
                      </a:r>
                      <a:r>
                        <a:rPr lang="en-US" altLang="zh-CN" sz="2400" b="1" i="1" baseline="-25000" dirty="0">
                          <a:solidFill>
                            <a:srgbClr val="CC0000"/>
                          </a:solidFill>
                          <a:latin typeface="+mn-lt"/>
                          <a:ea typeface="华文中宋" pitchFamily="2" charset="-122"/>
                        </a:rPr>
                        <a:t>O</a:t>
                      </a:r>
                      <a:r>
                        <a:rPr lang="en-US" altLang="zh-CN" sz="2400" b="1" dirty="0">
                          <a:solidFill>
                            <a:srgbClr val="CC0000"/>
                          </a:solidFill>
                          <a:latin typeface="+mn-lt"/>
                          <a:ea typeface="华文中宋" pitchFamily="2" charset="-122"/>
                        </a:rPr>
                        <a:t>= </a:t>
                      </a:r>
                      <a:r>
                        <a:rPr kumimoji="0" lang="en-US" altLang="zh-CN" sz="2400" b="0" dirty="0">
                          <a:solidFill>
                            <a:srgbClr val="CC0000"/>
                          </a:solidFill>
                          <a:latin typeface="+mn-lt"/>
                          <a:ea typeface="华文中宋" pitchFamily="2" charset="-122"/>
                        </a:rPr>
                        <a:t>0</a:t>
                      </a:r>
                    </a:p>
                  </a:txBody>
                  <a:tcPr marL="91439" marR="91439"/>
                </a:tc>
                <a:tc>
                  <a:txBody>
                    <a:bodyPr/>
                    <a:lstStyle/>
                    <a:p>
                      <a:r>
                        <a:rPr lang="zh-CN" altLang="en-US" sz="2000" dirty="0">
                          <a:solidFill>
                            <a:schemeClr val="tx1"/>
                          </a:solidFill>
                          <a:latin typeface="华文中宋" pitchFamily="2" charset="-122"/>
                          <a:ea typeface="华文中宋" pitchFamily="2" charset="-122"/>
                        </a:rPr>
                        <a:t>    </a:t>
                      </a:r>
                      <a:r>
                        <a:rPr lang="zh-CN" altLang="en-US" sz="2400" b="1" dirty="0">
                          <a:solidFill>
                            <a:schemeClr val="tx1"/>
                          </a:solidFill>
                          <a:latin typeface="楷体" panose="02010609060101010101" pitchFamily="49" charset="-122"/>
                          <a:ea typeface="楷体" panose="02010609060101010101" pitchFamily="49" charset="-122"/>
                        </a:rPr>
                        <a:t>平衡</a:t>
                      </a:r>
                    </a:p>
                  </a:txBody>
                  <a:tcPr marL="91439" marR="91439"/>
                </a:tc>
                <a:tc>
                  <a:txBody>
                    <a:bodyPr/>
                    <a:lstStyle/>
                    <a:p>
                      <a:r>
                        <a:rPr lang="zh-CN" altLang="en-US" sz="2400" b="1" dirty="0">
                          <a:solidFill>
                            <a:srgbClr val="FF0000"/>
                          </a:solidFill>
                          <a:latin typeface="楷体" panose="02010609060101010101" pitchFamily="49" charset="-122"/>
                          <a:ea typeface="楷体" panose="02010609060101010101" pitchFamily="49" charset="-122"/>
                        </a:rPr>
                        <a:t>平衡</a:t>
                      </a:r>
                    </a:p>
                  </a:txBody>
                  <a:tcPr marL="91439" marR="91439"/>
                </a:tc>
                <a:extLst>
                  <a:ext uri="{0D108BD9-81ED-4DB2-BD59-A6C34878D82A}">
                    <a16:rowId xmlns:a16="http://schemas.microsoft.com/office/drawing/2014/main" xmlns="" val="10001"/>
                  </a:ext>
                </a:extLst>
              </a:tr>
              <a:tr h="843855">
                <a:tc vMerge="1">
                  <a:txBody>
                    <a:bodyPr/>
                    <a:lstStyle/>
                    <a:p>
                      <a:endParaRPr lang="zh-CN"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1" dirty="0">
                          <a:solidFill>
                            <a:srgbClr val="CC0000"/>
                          </a:solidFill>
                          <a:latin typeface="+mn-lt"/>
                          <a:sym typeface="Symbol" pitchFamily="18" charset="2"/>
                        </a:rPr>
                        <a:t>M</a:t>
                      </a:r>
                      <a:r>
                        <a:rPr kumimoji="0" lang="en-US" altLang="zh-CN" sz="2400" b="1" i="1" baseline="-25000" dirty="0">
                          <a:solidFill>
                            <a:srgbClr val="CC0000"/>
                          </a:solidFill>
                          <a:latin typeface="+mn-lt"/>
                          <a:sym typeface="Symbol" pitchFamily="18" charset="2"/>
                        </a:rPr>
                        <a:t>O </a:t>
                      </a:r>
                      <a:r>
                        <a:rPr kumimoji="0" lang="en-US" altLang="zh-CN" sz="2400" b="1" dirty="0">
                          <a:solidFill>
                            <a:srgbClr val="CC0000"/>
                          </a:solidFill>
                          <a:latin typeface="+mn-lt"/>
                          <a:sym typeface="Symbol" pitchFamily="18" charset="2"/>
                        </a:rPr>
                        <a:t>≠ </a:t>
                      </a:r>
                      <a:r>
                        <a:rPr kumimoji="0" lang="en-US" altLang="zh-CN" sz="2400" b="0" dirty="0">
                          <a:solidFill>
                            <a:srgbClr val="CC0000"/>
                          </a:solidFill>
                          <a:latin typeface="+mn-lt"/>
                          <a:sym typeface="Symbol" pitchFamily="18" charset="2"/>
                        </a:rPr>
                        <a:t>0</a:t>
                      </a:r>
                      <a:endParaRPr lang="zh-CN" altLang="en-US" sz="2400" b="0" dirty="0">
                        <a:latin typeface="+mn-lt"/>
                      </a:endParaRPr>
                    </a:p>
                  </a:txBody>
                  <a:tcPr marL="91439" marR="91439"/>
                </a:tc>
                <a:tc>
                  <a:txBody>
                    <a:bodyPr/>
                    <a:lstStyle/>
                    <a:p>
                      <a:r>
                        <a:rPr lang="zh-CN" altLang="en-US" sz="2000" dirty="0">
                          <a:solidFill>
                            <a:schemeClr val="tx1"/>
                          </a:solidFill>
                          <a:latin typeface="华文中宋" pitchFamily="2" charset="-122"/>
                          <a:ea typeface="华文中宋" pitchFamily="2" charset="-122"/>
                        </a:rPr>
                        <a:t>   </a:t>
                      </a:r>
                      <a:r>
                        <a:rPr lang="zh-CN" altLang="en-US" sz="2400" b="1" dirty="0">
                          <a:solidFill>
                            <a:schemeClr val="tx1"/>
                          </a:solidFill>
                          <a:latin typeface="楷体" panose="02010609060101010101" pitchFamily="49" charset="-122"/>
                          <a:ea typeface="楷体" panose="02010609060101010101" pitchFamily="49" charset="-122"/>
                        </a:rPr>
                        <a:t>合力偶</a:t>
                      </a:r>
                    </a:p>
                  </a:txBody>
                  <a:tcPr marL="91439" marR="91439"/>
                </a:tc>
                <a:tc>
                  <a:txBody>
                    <a:bodyPr/>
                    <a:lstStyle/>
                    <a:p>
                      <a:r>
                        <a:rPr lang="zh-CN" altLang="en-US" sz="2400" b="1" dirty="0">
                          <a:solidFill>
                            <a:srgbClr val="FF0000"/>
                          </a:solidFill>
                          <a:latin typeface="楷体" panose="02010609060101010101" pitchFamily="49" charset="-122"/>
                          <a:ea typeface="楷体" panose="02010609060101010101" pitchFamily="49" charset="-122"/>
                        </a:rPr>
                        <a:t>主矩，</a:t>
                      </a:r>
                      <a:r>
                        <a:rPr lang="zh-CN" altLang="en-US" sz="2400" b="1" dirty="0">
                          <a:solidFill>
                            <a:schemeClr val="tx1"/>
                          </a:solidFill>
                          <a:latin typeface="楷体" panose="02010609060101010101" pitchFamily="49" charset="-122"/>
                          <a:ea typeface="楷体" panose="02010609060101010101" pitchFamily="49" charset="-122"/>
                        </a:rPr>
                        <a:t>此时</a:t>
                      </a:r>
                      <a:r>
                        <a:rPr kumimoji="0" lang="zh-CN" altLang="en-US" sz="2400" b="1" dirty="0">
                          <a:solidFill>
                            <a:schemeClr val="tx1"/>
                          </a:solidFill>
                          <a:latin typeface="楷体" panose="02010609060101010101" pitchFamily="49" charset="-122"/>
                          <a:ea typeface="楷体" panose="02010609060101010101" pitchFamily="49" charset="-122"/>
                        </a:rPr>
                        <a:t>主矩</a:t>
                      </a:r>
                      <a:r>
                        <a:rPr kumimoji="0" lang="en-US" altLang="zh-CN" sz="2400" b="0" i="1" dirty="0">
                          <a:solidFill>
                            <a:schemeClr val="tx1"/>
                          </a:solidFill>
                          <a:latin typeface="+mn-lt"/>
                          <a:ea typeface="楷体" panose="02010609060101010101" pitchFamily="49" charset="-122"/>
                        </a:rPr>
                        <a:t>M</a:t>
                      </a:r>
                      <a:r>
                        <a:rPr kumimoji="0" lang="en-US" altLang="zh-CN" sz="2400" b="1" i="1" baseline="-25000" dirty="0">
                          <a:solidFill>
                            <a:schemeClr val="tx1"/>
                          </a:solidFill>
                          <a:latin typeface="+mn-lt"/>
                          <a:ea typeface="楷体" panose="02010609060101010101" pitchFamily="49" charset="-122"/>
                        </a:rPr>
                        <a:t>O</a:t>
                      </a:r>
                      <a:r>
                        <a:rPr kumimoji="0" lang="zh-CN" altLang="en-US" sz="2400" b="1" dirty="0">
                          <a:solidFill>
                            <a:schemeClr val="tx1"/>
                          </a:solidFill>
                          <a:latin typeface="楷体" panose="02010609060101010101" pitchFamily="49" charset="-122"/>
                          <a:ea typeface="楷体" panose="02010609060101010101" pitchFamily="49" charset="-122"/>
                        </a:rPr>
                        <a:t>与简化中心无关</a:t>
                      </a:r>
                      <a:endParaRPr lang="zh-CN" altLang="en-US" sz="2400" b="1" dirty="0">
                        <a:solidFill>
                          <a:schemeClr val="tx1"/>
                        </a:solidFill>
                        <a:latin typeface="楷体" panose="02010609060101010101" pitchFamily="49" charset="-122"/>
                        <a:ea typeface="楷体" panose="02010609060101010101" pitchFamily="49" charset="-122"/>
                      </a:endParaRPr>
                    </a:p>
                  </a:txBody>
                  <a:tcPr marL="91439" marR="91439"/>
                </a:tc>
                <a:extLst>
                  <a:ext uri="{0D108BD9-81ED-4DB2-BD59-A6C34878D82A}">
                    <a16:rowId xmlns:a16="http://schemas.microsoft.com/office/drawing/2014/main" xmlns="" val="10002"/>
                  </a:ext>
                </a:extLst>
              </a:tr>
              <a:tr h="482204">
                <a:tc rowSpan="2">
                  <a:txBody>
                    <a:bodyPr/>
                    <a:lstStyle/>
                    <a:p>
                      <a:r>
                        <a:rPr lang="en-US" altLang="zh-CN" sz="2400" b="1" i="1" dirty="0">
                          <a:solidFill>
                            <a:srgbClr val="CC0000"/>
                          </a:solidFill>
                          <a:latin typeface="+mn-lt"/>
                        </a:rPr>
                        <a:t>F</a:t>
                      </a:r>
                      <a:r>
                        <a:rPr lang="en-US" altLang="zh-CN" sz="2400" b="1" i="1" dirty="0">
                          <a:solidFill>
                            <a:srgbClr val="CC0000"/>
                          </a:solidFill>
                          <a:latin typeface="+mn-lt"/>
                          <a:cs typeface="Times New Roman" pitchFamily="18" charset="0"/>
                          <a:sym typeface="Symbol" pitchFamily="18" charset="2"/>
                        </a:rPr>
                        <a:t></a:t>
                      </a:r>
                      <a:r>
                        <a:rPr lang="en-US" altLang="zh-CN" sz="2400" b="1" i="1" baseline="-25000" dirty="0">
                          <a:solidFill>
                            <a:srgbClr val="CC0000"/>
                          </a:solidFill>
                          <a:latin typeface="+mn-lt"/>
                          <a:sym typeface="Symbol" pitchFamily="18" charset="2"/>
                        </a:rPr>
                        <a:t>R</a:t>
                      </a:r>
                      <a:r>
                        <a:rPr lang="en-US" altLang="zh-CN" sz="2400" b="1" i="1" baseline="30000" dirty="0">
                          <a:solidFill>
                            <a:srgbClr val="0000FF"/>
                          </a:solidFill>
                          <a:latin typeface="+mn-lt"/>
                          <a:sym typeface="Symbol" pitchFamily="18" charset="2"/>
                        </a:rPr>
                        <a:t> </a:t>
                      </a:r>
                      <a:r>
                        <a:rPr kumimoji="0" lang="en-US" altLang="zh-CN" sz="2400" b="1" dirty="0">
                          <a:solidFill>
                            <a:srgbClr val="CC0000"/>
                          </a:solidFill>
                          <a:latin typeface="+mn-lt"/>
                          <a:ea typeface="楷体_GB2312" pitchFamily="49" charset="-122"/>
                        </a:rPr>
                        <a:t>≠</a:t>
                      </a:r>
                      <a:r>
                        <a:rPr kumimoji="0" lang="en-US" altLang="zh-CN" sz="2400" dirty="0">
                          <a:solidFill>
                            <a:srgbClr val="CC0000"/>
                          </a:solidFill>
                          <a:latin typeface="+mn-lt"/>
                          <a:ea typeface="楷体_GB2312" pitchFamily="49" charset="-122"/>
                        </a:rPr>
                        <a:t>0</a:t>
                      </a:r>
                      <a:endParaRPr lang="zh-CN" altLang="en-US" sz="2400" dirty="0">
                        <a:latin typeface="+mn-lt"/>
                      </a:endParaRPr>
                    </a:p>
                  </a:txBody>
                  <a:tcPr marL="91439" marR="91439"/>
                </a:tc>
                <a:tc>
                  <a:txBody>
                    <a:bodyPr/>
                    <a:lstStyle/>
                    <a:p>
                      <a:r>
                        <a:rPr kumimoji="0" lang="en-US" altLang="zh-CN" sz="2400" b="0" i="1" dirty="0">
                          <a:solidFill>
                            <a:srgbClr val="CC0000"/>
                          </a:solidFill>
                          <a:latin typeface="+mn-lt"/>
                          <a:ea typeface="楷体_GB2312" pitchFamily="49" charset="-122"/>
                        </a:rPr>
                        <a:t>M</a:t>
                      </a:r>
                      <a:r>
                        <a:rPr kumimoji="0" lang="en-US" altLang="zh-CN" sz="2400" b="1" i="1" baseline="-25000" dirty="0">
                          <a:solidFill>
                            <a:srgbClr val="CC0000"/>
                          </a:solidFill>
                          <a:latin typeface="+mn-lt"/>
                          <a:ea typeface="楷体_GB2312" pitchFamily="49" charset="-122"/>
                        </a:rPr>
                        <a:t>O</a:t>
                      </a:r>
                      <a:r>
                        <a:rPr kumimoji="0" lang="en-US" altLang="zh-CN" sz="2400" b="1" dirty="0">
                          <a:solidFill>
                            <a:srgbClr val="CC0000"/>
                          </a:solidFill>
                          <a:latin typeface="+mn-lt"/>
                          <a:ea typeface="楷体_GB2312" pitchFamily="49" charset="-122"/>
                        </a:rPr>
                        <a:t>= </a:t>
                      </a:r>
                      <a:r>
                        <a:rPr kumimoji="0" lang="en-US" altLang="zh-CN" sz="2400" b="0" dirty="0">
                          <a:solidFill>
                            <a:srgbClr val="CC0000"/>
                          </a:solidFill>
                          <a:latin typeface="+mn-lt"/>
                          <a:ea typeface="楷体_GB2312" pitchFamily="49" charset="-122"/>
                        </a:rPr>
                        <a:t>0</a:t>
                      </a:r>
                    </a:p>
                  </a:txBody>
                  <a:tcPr marL="91439" marR="91439"/>
                </a:tc>
                <a:tc>
                  <a:txBody>
                    <a:bodyPr/>
                    <a:lstStyle/>
                    <a:p>
                      <a:r>
                        <a:rPr lang="zh-CN" altLang="en-US" sz="2000" dirty="0">
                          <a:solidFill>
                            <a:schemeClr val="tx1"/>
                          </a:solidFill>
                          <a:latin typeface="华文中宋" pitchFamily="2" charset="-122"/>
                          <a:ea typeface="华文中宋" pitchFamily="2" charset="-122"/>
                        </a:rPr>
                        <a:t>     </a:t>
                      </a:r>
                      <a:r>
                        <a:rPr lang="zh-CN" altLang="en-US" sz="2400" b="1" dirty="0">
                          <a:solidFill>
                            <a:schemeClr val="tx1"/>
                          </a:solidFill>
                          <a:latin typeface="楷体" panose="02010609060101010101" pitchFamily="49" charset="-122"/>
                          <a:ea typeface="楷体" panose="02010609060101010101" pitchFamily="49" charset="-122"/>
                        </a:rPr>
                        <a:t>合力</a:t>
                      </a:r>
                    </a:p>
                  </a:txBody>
                  <a:tcPr marL="91439" marR="91439"/>
                </a:tc>
                <a:tc>
                  <a:txBody>
                    <a:bodyPr/>
                    <a:lstStyle/>
                    <a:p>
                      <a:r>
                        <a:rPr lang="zh-CN" altLang="en-US" sz="2400" b="1" dirty="0">
                          <a:solidFill>
                            <a:srgbClr val="FF0000"/>
                          </a:solidFill>
                          <a:latin typeface="楷体" panose="02010609060101010101" pitchFamily="49" charset="-122"/>
                          <a:ea typeface="楷体" panose="02010609060101010101" pitchFamily="49" charset="-122"/>
                        </a:rPr>
                        <a:t>主矢</a:t>
                      </a:r>
                      <a:r>
                        <a:rPr lang="zh-CN" altLang="en-US" sz="2400" b="1" dirty="0">
                          <a:solidFill>
                            <a:schemeClr val="tx1"/>
                          </a:solidFill>
                          <a:latin typeface="楷体" panose="02010609060101010101" pitchFamily="49" charset="-122"/>
                          <a:ea typeface="楷体" panose="02010609060101010101" pitchFamily="49" charset="-122"/>
                        </a:rPr>
                        <a:t>经过</a:t>
                      </a:r>
                      <a:r>
                        <a:rPr lang="en-US" altLang="zh-CN" sz="2400" b="1" i="1" dirty="0">
                          <a:solidFill>
                            <a:schemeClr val="tx1"/>
                          </a:solidFill>
                          <a:latin typeface="+mn-lt"/>
                          <a:ea typeface="楷体" panose="02010609060101010101" pitchFamily="49" charset="-122"/>
                        </a:rPr>
                        <a:t>O</a:t>
                      </a:r>
                      <a:r>
                        <a:rPr lang="zh-CN" altLang="en-US" sz="2400" b="1" dirty="0">
                          <a:solidFill>
                            <a:schemeClr val="tx1"/>
                          </a:solidFill>
                          <a:latin typeface="楷体" panose="02010609060101010101" pitchFamily="49" charset="-122"/>
                          <a:ea typeface="楷体" panose="02010609060101010101" pitchFamily="49" charset="-122"/>
                        </a:rPr>
                        <a:t>点</a:t>
                      </a:r>
                    </a:p>
                  </a:txBody>
                  <a:tcPr marL="91439" marR="91439"/>
                </a:tc>
                <a:extLst>
                  <a:ext uri="{0D108BD9-81ED-4DB2-BD59-A6C34878D82A}">
                    <a16:rowId xmlns:a16="http://schemas.microsoft.com/office/drawing/2014/main" xmlns="" val="10003"/>
                  </a:ext>
                </a:extLst>
              </a:tr>
              <a:tr h="839390">
                <a:tc vMerge="1">
                  <a:txBody>
                    <a:bodyPr/>
                    <a:lstStyle/>
                    <a:p>
                      <a:endParaRPr lang="zh-CN"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1" dirty="0">
                          <a:solidFill>
                            <a:srgbClr val="CC0000"/>
                          </a:solidFill>
                          <a:latin typeface="+mn-lt"/>
                          <a:ea typeface="楷体_GB2312" pitchFamily="49" charset="-122"/>
                        </a:rPr>
                        <a:t>M</a:t>
                      </a:r>
                      <a:r>
                        <a:rPr kumimoji="0" lang="en-US" altLang="zh-CN" sz="2400" b="1" i="1" baseline="-25000" dirty="0">
                          <a:solidFill>
                            <a:srgbClr val="CC0000"/>
                          </a:solidFill>
                          <a:latin typeface="+mn-lt"/>
                          <a:ea typeface="楷体_GB2312" pitchFamily="49" charset="-122"/>
                        </a:rPr>
                        <a:t>O </a:t>
                      </a:r>
                      <a:r>
                        <a:rPr kumimoji="0" lang="en-US" altLang="zh-CN" sz="2400" b="1" dirty="0">
                          <a:solidFill>
                            <a:srgbClr val="CC0000"/>
                          </a:solidFill>
                          <a:latin typeface="+mn-lt"/>
                          <a:ea typeface="楷体_GB2312" pitchFamily="49" charset="-122"/>
                        </a:rPr>
                        <a:t>≠ </a:t>
                      </a:r>
                      <a:r>
                        <a:rPr kumimoji="0" lang="en-US" altLang="zh-CN" sz="2400" b="0" dirty="0">
                          <a:solidFill>
                            <a:srgbClr val="CC0000"/>
                          </a:solidFill>
                          <a:latin typeface="+mn-lt"/>
                          <a:ea typeface="楷体_GB2312" pitchFamily="49" charset="-122"/>
                        </a:rPr>
                        <a:t>0</a:t>
                      </a:r>
                      <a:endParaRPr lang="zh-CN" altLang="en-US" sz="2400" b="0" dirty="0">
                        <a:latin typeface="+mn-lt"/>
                      </a:endParaRPr>
                    </a:p>
                  </a:txBody>
                  <a:tcPr marL="91439" marR="91439"/>
                </a:tc>
                <a:tc>
                  <a:txBody>
                    <a:bodyPr/>
                    <a:lstStyle/>
                    <a:p>
                      <a:r>
                        <a:rPr lang="zh-CN" altLang="en-US" sz="2400" b="1" dirty="0">
                          <a:solidFill>
                            <a:schemeClr val="tx1"/>
                          </a:solidFill>
                          <a:latin typeface="楷体" panose="02010609060101010101" pitchFamily="49" charset="-122"/>
                          <a:ea typeface="楷体" panose="02010609060101010101" pitchFamily="49" charset="-122"/>
                        </a:rPr>
                        <a:t>  合力、</a:t>
                      </a:r>
                      <a:endParaRPr lang="en-US" altLang="zh-CN" sz="2400" b="1" dirty="0">
                        <a:solidFill>
                          <a:schemeClr val="tx1"/>
                        </a:solidFill>
                        <a:latin typeface="楷体" panose="02010609060101010101" pitchFamily="49" charset="-122"/>
                        <a:ea typeface="楷体" panose="02010609060101010101" pitchFamily="49" charset="-122"/>
                      </a:endParaRPr>
                    </a:p>
                    <a:p>
                      <a:r>
                        <a:rPr lang="zh-CN" altLang="en-US" sz="2400" b="1" dirty="0">
                          <a:solidFill>
                            <a:schemeClr val="tx1"/>
                          </a:solidFill>
                          <a:latin typeface="楷体" panose="02010609060101010101" pitchFamily="49" charset="-122"/>
                          <a:ea typeface="楷体" panose="02010609060101010101" pitchFamily="49" charset="-122"/>
                        </a:rPr>
                        <a:t>  合力偶</a:t>
                      </a:r>
                    </a:p>
                  </a:txBody>
                  <a:tcPr marL="91439" marR="91439"/>
                </a:tc>
                <a:tc>
                  <a:txBody>
                    <a:bodyPr/>
                    <a:lstStyle/>
                    <a:p>
                      <a:r>
                        <a:rPr lang="zh-CN" altLang="en-US" sz="2400" b="1" dirty="0">
                          <a:solidFill>
                            <a:srgbClr val="FF0000"/>
                          </a:solidFill>
                          <a:latin typeface="楷体" panose="02010609060101010101" pitchFamily="49" charset="-122"/>
                          <a:ea typeface="楷体" panose="02010609060101010101" pitchFamily="49" charset="-122"/>
                        </a:rPr>
                        <a:t>主矢</a:t>
                      </a:r>
                      <a:r>
                        <a:rPr lang="zh-CN" altLang="en-US" sz="2400" b="1" dirty="0">
                          <a:solidFill>
                            <a:schemeClr val="tx1"/>
                          </a:solidFill>
                          <a:latin typeface="楷体" panose="02010609060101010101" pitchFamily="49" charset="-122"/>
                          <a:ea typeface="楷体" panose="02010609060101010101" pitchFamily="49" charset="-122"/>
                        </a:rPr>
                        <a:t>经过</a:t>
                      </a:r>
                      <a:r>
                        <a:rPr lang="en-US" altLang="zh-CN" sz="2400" b="1" i="1" dirty="0">
                          <a:solidFill>
                            <a:schemeClr val="tx1"/>
                          </a:solidFill>
                          <a:latin typeface="+mn-lt"/>
                          <a:ea typeface="楷体" panose="02010609060101010101" pitchFamily="49" charset="-122"/>
                        </a:rPr>
                        <a:t>O</a:t>
                      </a:r>
                      <a:r>
                        <a:rPr lang="en-US" altLang="zh-CN" sz="2400" b="1" i="1" dirty="0">
                          <a:solidFill>
                            <a:schemeClr val="tx1"/>
                          </a:solidFill>
                          <a:latin typeface="+mn-lt"/>
                          <a:ea typeface="楷体" panose="02010609060101010101" pitchFamily="49" charset="-122"/>
                          <a:cs typeface="Times New Roman"/>
                        </a:rPr>
                        <a:t>′</a:t>
                      </a:r>
                      <a:r>
                        <a:rPr lang="zh-CN" altLang="en-US" sz="2400" b="1" dirty="0">
                          <a:solidFill>
                            <a:schemeClr val="tx1"/>
                          </a:solidFill>
                          <a:latin typeface="楷体" panose="02010609060101010101" pitchFamily="49" charset="-122"/>
                          <a:ea typeface="楷体" panose="02010609060101010101" pitchFamily="49" charset="-122"/>
                          <a:cs typeface="Times New Roman"/>
                        </a:rPr>
                        <a:t>点</a:t>
                      </a:r>
                      <a:r>
                        <a:rPr lang="zh-CN" altLang="en-US" sz="2000" dirty="0">
                          <a:solidFill>
                            <a:schemeClr val="tx1"/>
                          </a:solidFill>
                          <a:latin typeface="华文中宋" pitchFamily="2" charset="-122"/>
                          <a:ea typeface="华文中宋" pitchFamily="2" charset="-122"/>
                          <a:cs typeface="Times New Roman"/>
                        </a:rPr>
                        <a:t>，</a:t>
                      </a:r>
                      <a:endParaRPr lang="zh-CN" altLang="en-US" sz="2000" dirty="0">
                        <a:solidFill>
                          <a:schemeClr val="tx1"/>
                        </a:solidFill>
                        <a:latin typeface="华文中宋" pitchFamily="2" charset="-122"/>
                        <a:ea typeface="华文中宋" pitchFamily="2" charset="-122"/>
                      </a:endParaRPr>
                    </a:p>
                  </a:txBody>
                  <a:tcPr marL="91439" marR="91439"/>
                </a:tc>
                <a:extLst>
                  <a:ext uri="{0D108BD9-81ED-4DB2-BD59-A6C34878D82A}">
                    <a16:rowId xmlns:a16="http://schemas.microsoft.com/office/drawing/2014/main" xmlns="" val="10004"/>
                  </a:ext>
                </a:extLst>
              </a:tr>
            </a:tbl>
          </a:graphicData>
        </a:graphic>
      </p:graphicFrame>
      <p:graphicFrame>
        <p:nvGraphicFramePr>
          <p:cNvPr id="49181" name="Object 29"/>
          <p:cNvGraphicFramePr>
            <a:graphicFrameLocks noChangeAspect="1"/>
          </p:cNvGraphicFramePr>
          <p:nvPr>
            <p:extLst>
              <p:ext uri="{D42A27DB-BD31-4B8C-83A1-F6EECF244321}">
                <p14:modId xmlns:p14="http://schemas.microsoft.com/office/powerpoint/2010/main" val="4161595078"/>
              </p:ext>
            </p:extLst>
          </p:nvPr>
        </p:nvGraphicFramePr>
        <p:xfrm>
          <a:off x="7329488" y="5303838"/>
          <a:ext cx="1274762" cy="854075"/>
        </p:xfrm>
        <a:graphic>
          <a:graphicData uri="http://schemas.openxmlformats.org/presentationml/2006/ole">
            <mc:AlternateContent xmlns:mc="http://schemas.openxmlformats.org/markup-compatibility/2006">
              <mc:Choice xmlns:v="urn:schemas-microsoft-com:vml" Requires="v">
                <p:oleObj spid="_x0000_s32774" name="Equation" r:id="rId3" imgW="660240" imgH="444240" progId="Equation.DSMT4">
                  <p:embed/>
                </p:oleObj>
              </mc:Choice>
              <mc:Fallback>
                <p:oleObj name="Equation" r:id="rId3" imgW="660240" imgH="444240" progId="Equation.DSMT4">
                  <p:embed/>
                  <p:pic>
                    <p:nvPicPr>
                      <p:cNvPr id="0" name="Object 29"/>
                      <p:cNvPicPr>
                        <a:picLocks noChangeAspect="1" noChangeArrowheads="1"/>
                      </p:cNvPicPr>
                      <p:nvPr/>
                    </p:nvPicPr>
                    <p:blipFill>
                      <a:blip r:embed="rId4"/>
                      <a:srcRect/>
                      <a:stretch>
                        <a:fillRect/>
                      </a:stretch>
                    </p:blipFill>
                    <p:spPr bwMode="auto">
                      <a:xfrm>
                        <a:off x="7329488" y="5303838"/>
                        <a:ext cx="1274762"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5"/>
          <p:cNvSpPr txBox="1">
            <a:spLocks noChangeArrowheads="1"/>
          </p:cNvSpPr>
          <p:nvPr/>
        </p:nvSpPr>
        <p:spPr bwMode="auto">
          <a:xfrm>
            <a:off x="756679" y="470413"/>
            <a:ext cx="56737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rgbClr val="0000FF"/>
                </a:solidFill>
                <a:latin typeface="黑体" panose="02010609060101010101" pitchFamily="49" charset="-122"/>
                <a:ea typeface="黑体" panose="02010609060101010101" pitchFamily="49" charset="-122"/>
              </a:rPr>
              <a:t>4</a:t>
            </a:r>
            <a:r>
              <a:rPr kumimoji="1" lang="zh-CN" altLang="en-US" sz="2800" b="1" dirty="0">
                <a:solidFill>
                  <a:srgbClr val="0000FF"/>
                </a:solidFill>
                <a:latin typeface="黑体" panose="02010609060101010101" pitchFamily="49" charset="-122"/>
                <a:ea typeface="黑体" panose="02010609060101010101" pitchFamily="49" charset="-122"/>
              </a:rPr>
              <a:t>．空间任意力系的合成结果</a:t>
            </a:r>
            <a:endParaRPr kumimoji="1" lang="en-US" altLang="zh-CN" sz="28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animEffect transition="in" filter="wipe(left)">
                                      <p:cBhvr>
                                        <p:cTn id="7" dur="500"/>
                                        <p:tgtEl>
                                          <p:spTgt spid="37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7894"/>
                                        </p:tgtEl>
                                        <p:attrNameLst>
                                          <p:attrName>style.visibility</p:attrName>
                                        </p:attrNameLst>
                                      </p:cBhvr>
                                      <p:to>
                                        <p:strVal val="visible"/>
                                      </p:to>
                                    </p:set>
                                    <p:animEffect transition="in" filter="box(out)">
                                      <p:cBhvr>
                                        <p:cTn id="12" dur="500"/>
                                        <p:tgtEl>
                                          <p:spTgt spid="378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895"/>
                                        </p:tgtEl>
                                        <p:attrNameLst>
                                          <p:attrName>style.visibility</p:attrName>
                                        </p:attrNameLst>
                                      </p:cBhvr>
                                      <p:to>
                                        <p:strVal val="visible"/>
                                      </p:to>
                                    </p:set>
                                    <p:animEffect transition="in" filter="wipe(left)">
                                      <p:cBhvr>
                                        <p:cTn id="17" dur="500"/>
                                        <p:tgtEl>
                                          <p:spTgt spid="37895"/>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7896"/>
                                        </p:tgtEl>
                                        <p:attrNameLst>
                                          <p:attrName>style.visibility</p:attrName>
                                        </p:attrNameLst>
                                      </p:cBhvr>
                                      <p:to>
                                        <p:strVal val="visible"/>
                                      </p:to>
                                    </p:set>
                                    <p:animEffect transition="in" filter="wipe(left)">
                                      <p:cBhvr>
                                        <p:cTn id="21" dur="500"/>
                                        <p:tgtEl>
                                          <p:spTgt spid="3789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7897"/>
                                        </p:tgtEl>
                                        <p:attrNameLst>
                                          <p:attrName>style.visibility</p:attrName>
                                        </p:attrNameLst>
                                      </p:cBhvr>
                                      <p:to>
                                        <p:strVal val="visible"/>
                                      </p:to>
                                    </p:set>
                                    <p:anim calcmode="lin" valueType="num">
                                      <p:cBhvr>
                                        <p:cTn id="26" dur="500" fill="hold"/>
                                        <p:tgtEl>
                                          <p:spTgt spid="37897"/>
                                        </p:tgtEl>
                                        <p:attrNameLst>
                                          <p:attrName>ppt_w</p:attrName>
                                        </p:attrNameLst>
                                      </p:cBhvr>
                                      <p:tavLst>
                                        <p:tav tm="0">
                                          <p:val>
                                            <p:fltVal val="0"/>
                                          </p:val>
                                        </p:tav>
                                        <p:tav tm="100000">
                                          <p:val>
                                            <p:strVal val="#ppt_w"/>
                                          </p:val>
                                        </p:tav>
                                      </p:tavLst>
                                    </p:anim>
                                    <p:anim calcmode="lin" valueType="num">
                                      <p:cBhvr>
                                        <p:cTn id="27" dur="500" fill="hold"/>
                                        <p:tgtEl>
                                          <p:spTgt spid="37897"/>
                                        </p:tgtEl>
                                        <p:attrNameLst>
                                          <p:attrName>ppt_h</p:attrName>
                                        </p:attrNameLst>
                                      </p:cBhvr>
                                      <p:tavLst>
                                        <p:tav tm="0">
                                          <p:val>
                                            <p:fltVal val="0"/>
                                          </p:val>
                                        </p:tav>
                                        <p:tav tm="100000">
                                          <p:val>
                                            <p:strVal val="#ppt_h"/>
                                          </p:val>
                                        </p:tav>
                                      </p:tavLst>
                                    </p:anim>
                                    <p:animEffect transition="in" filter="fade">
                                      <p:cBhvr>
                                        <p:cTn id="28" dur="500"/>
                                        <p:tgtEl>
                                          <p:spTgt spid="3789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linds(horizontal)">
                                      <p:cBhvr>
                                        <p:cTn id="33" dur="500"/>
                                        <p:tgtEl>
                                          <p:spTgt spid="1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32" fill="hold" nodeType="clickEffect">
                                  <p:stCondLst>
                                    <p:cond delay="0"/>
                                  </p:stCondLst>
                                  <p:childTnLst>
                                    <p:set>
                                      <p:cBhvr>
                                        <p:cTn id="37" dur="1" fill="hold">
                                          <p:stCondLst>
                                            <p:cond delay="0"/>
                                          </p:stCondLst>
                                        </p:cTn>
                                        <p:tgtEl>
                                          <p:spTgt spid="49181"/>
                                        </p:tgtEl>
                                        <p:attrNameLst>
                                          <p:attrName>style.visibility</p:attrName>
                                        </p:attrNameLst>
                                      </p:cBhvr>
                                      <p:to>
                                        <p:strVal val="visible"/>
                                      </p:to>
                                    </p:set>
                                    <p:animEffect transition="in" filter="box(out)">
                                      <p:cBhvr>
                                        <p:cTn id="38" dur="500"/>
                                        <p:tgtEl>
                                          <p:spTgt spid="49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37894" grpId="0"/>
      <p:bldP spid="37895" grpId="0" autoUpdateAnimBg="0"/>
      <p:bldP spid="37896" grpId="0" autoUpdateAnimBg="0"/>
      <p:bldP spid="3789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651345" y="703072"/>
            <a:ext cx="79255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FF0000"/>
                </a:solidFill>
                <a:effectLst/>
                <a:latin typeface="+mn-lt"/>
                <a:ea typeface="楷体" panose="02010609060101010101" pitchFamily="49" charset="-122"/>
                <a:cs typeface="Times New Roman" panose="02020603050405020304" pitchFamily="18" charset="0"/>
              </a:rPr>
              <a:t>例</a:t>
            </a:r>
            <a:r>
              <a:rPr kumimoji="0" lang="en-US" altLang="zh-CN" b="1" i="0" u="none" strike="noStrike" cap="none" normalizeH="0" dirty="0">
                <a:ln>
                  <a:noFill/>
                </a:ln>
                <a:solidFill>
                  <a:srgbClr val="FF0000"/>
                </a:solidFill>
                <a:effectLst/>
                <a:latin typeface="+mn-lt"/>
                <a:ea typeface="楷体" panose="02010609060101010101" pitchFamily="49" charset="-122"/>
                <a:cs typeface="Times New Roman" panose="02020603050405020304" pitchFamily="18" charset="0"/>
              </a:rPr>
              <a:t> </a:t>
            </a:r>
            <a:r>
              <a:rPr kumimoji="0" lang="zh-CN" altLang="zh-CN"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平面任意力系各力作用线位置如图所示，且</a:t>
            </a:r>
            <a:r>
              <a:rPr kumimoji="0" lang="en-US" altLang="zh-CN"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F</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1</a:t>
            </a:r>
            <a:r>
              <a:rPr kumimoji="0" lang="en-US" altLang="zh-CN"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130N</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endParaRPr kumimoji="0" lang="zh-CN" altLang="en-US" b="1" i="0" u="none" strike="noStrike" cap="none" normalizeH="0" baseline="0" dirty="0">
              <a:ln>
                <a:noFill/>
              </a:ln>
              <a:solidFill>
                <a:schemeClr val="tx1"/>
              </a:solidFill>
              <a:effectLst/>
              <a:latin typeface="+mn-lt"/>
              <a:ea typeface="楷体" panose="02010609060101010101"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84818693"/>
              </p:ext>
            </p:extLst>
          </p:nvPr>
        </p:nvGraphicFramePr>
        <p:xfrm>
          <a:off x="501758" y="1207448"/>
          <a:ext cx="1431931" cy="432048"/>
        </p:xfrm>
        <a:graphic>
          <a:graphicData uri="http://schemas.openxmlformats.org/presentationml/2006/ole">
            <mc:AlternateContent xmlns:mc="http://schemas.openxmlformats.org/markup-compatibility/2006">
              <mc:Choice xmlns:v="urn:schemas-microsoft-com:vml" Requires="v">
                <p:oleObj spid="_x0000_s33822" name="Equation" r:id="rId3" imgW="863225" imgH="253890" progId="Equation.DSMT4">
                  <p:embed/>
                </p:oleObj>
              </mc:Choice>
              <mc:Fallback>
                <p:oleObj name="Equation" r:id="rId3" imgW="863225" imgH="25389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758" y="1207448"/>
                        <a:ext cx="1431931" cy="432048"/>
                      </a:xfrm>
                      <a:prstGeom prst="rect">
                        <a:avLst/>
                      </a:prstGeom>
                      <a:noFill/>
                    </p:spPr>
                  </p:pic>
                </p:oleObj>
              </mc:Fallback>
            </mc:AlternateContent>
          </a:graphicData>
        </a:graphic>
      </p:graphicFrame>
      <p:sp>
        <p:nvSpPr>
          <p:cNvPr id="4" name="Rectangle 3"/>
          <p:cNvSpPr>
            <a:spLocks noChangeArrowheads="1"/>
          </p:cNvSpPr>
          <p:nvPr/>
        </p:nvSpPr>
        <p:spPr bwMode="auto">
          <a:xfrm>
            <a:off x="1797902" y="1155093"/>
            <a:ext cx="70567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r>
              <a:rPr kumimoji="0" lang="en-US" altLang="zh-CN"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F</a:t>
            </a:r>
            <a:r>
              <a:rPr kumimoji="0" lang="en-US" altLang="zh-CN" i="0" u="none" strike="noStrike" cap="none" normalizeH="0" baseline="-30000" dirty="0">
                <a:ln>
                  <a:noFill/>
                </a:ln>
                <a:solidFill>
                  <a:schemeClr val="tx1"/>
                </a:solidFill>
                <a:effectLst/>
                <a:latin typeface="+mn-lt"/>
                <a:ea typeface="楷体" panose="02010609060101010101" pitchFamily="49" charset="-122"/>
                <a:cs typeface="Times New Roman" panose="02020603050405020304" pitchFamily="18" charset="0"/>
              </a:rPr>
              <a:t>3</a:t>
            </a:r>
            <a:r>
              <a:rPr kumimoji="0" lang="en-US" altLang="zh-CN"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50N</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a:t>
            </a:r>
            <a:r>
              <a:rPr kumimoji="0" lang="en-US" altLang="zh-CN"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M</a:t>
            </a:r>
            <a:r>
              <a:rPr kumimoji="0" lang="en-US" altLang="zh-CN" b="1" i="1"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 </a:t>
            </a:r>
            <a:r>
              <a:rPr kumimoji="0" lang="en-US" altLang="zh-CN"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 </a:t>
            </a:r>
            <a:r>
              <a:rPr kumimoji="0" lang="en-US" altLang="zh-CN"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500N∙m</a:t>
            </a:r>
            <a:r>
              <a:rPr kumimoji="0" lang="zh-CN" altLang="en-US" b="1" i="0" u="none" strike="noStrike" cap="none" normalizeH="0" baseline="0" dirty="0">
                <a:ln>
                  <a:noFill/>
                </a:ln>
                <a:solidFill>
                  <a:schemeClr val="tx1"/>
                </a:solidFill>
                <a:effectLst/>
                <a:latin typeface="+mn-lt"/>
                <a:ea typeface="楷体" panose="02010609060101010101" pitchFamily="49" charset="-122"/>
                <a:cs typeface="Times New Roman" panose="02020603050405020304" pitchFamily="18" charset="0"/>
              </a:rPr>
              <a:t>。试求该力系的合成结果。</a:t>
            </a:r>
            <a:endParaRPr kumimoji="0" lang="zh-CN" altLang="en-US" b="1" i="0" u="none" strike="noStrike" cap="none" normalizeH="0" baseline="0" dirty="0">
              <a:ln>
                <a:noFill/>
              </a:ln>
              <a:solidFill>
                <a:schemeClr val="tx1"/>
              </a:solidFill>
              <a:effectLst/>
              <a:latin typeface="+mn-lt"/>
              <a:ea typeface="楷体" panose="02010609060101010101" pitchFamily="49" charset="-122"/>
            </a:endParaRPr>
          </a:p>
        </p:txBody>
      </p:sp>
      <p:grpSp>
        <p:nvGrpSpPr>
          <p:cNvPr id="5" name="组合 4"/>
          <p:cNvGrpSpPr>
            <a:grpSpLocks noChangeAspect="1"/>
          </p:cNvGrpSpPr>
          <p:nvPr/>
        </p:nvGrpSpPr>
        <p:grpSpPr>
          <a:xfrm>
            <a:off x="6045122" y="1842558"/>
            <a:ext cx="2242507" cy="1836560"/>
            <a:chOff x="0" y="0"/>
            <a:chExt cx="1967690" cy="1611416"/>
          </a:xfrm>
        </p:grpSpPr>
        <p:grpSp>
          <p:nvGrpSpPr>
            <p:cNvPr id="6" name="组合 5"/>
            <p:cNvGrpSpPr/>
            <p:nvPr/>
          </p:nvGrpSpPr>
          <p:grpSpPr>
            <a:xfrm>
              <a:off x="158872" y="494270"/>
              <a:ext cx="1310356" cy="827472"/>
              <a:chOff x="0" y="0"/>
              <a:chExt cx="1310356" cy="827472"/>
            </a:xfrm>
          </p:grpSpPr>
          <p:cxnSp>
            <p:nvCxnSpPr>
              <p:cNvPr id="33" name="Line 92"/>
              <p:cNvCxnSpPr>
                <a:cxnSpLocks noChangeShapeType="1"/>
              </p:cNvCxnSpPr>
              <p:nvPr/>
            </p:nvCxnSpPr>
            <p:spPr bwMode="auto">
              <a:xfrm rot="16200000">
                <a:off x="912634" y="629472"/>
                <a:ext cx="0" cy="396000"/>
              </a:xfrm>
              <a:prstGeom prst="line">
                <a:avLst/>
              </a:prstGeom>
              <a:noFill/>
              <a:ln w="19050">
                <a:solidFill>
                  <a:srgbClr val="00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 name="直接连接符 33"/>
              <p:cNvCxnSpPr>
                <a:cxnSpLocks noChangeShapeType="1"/>
              </p:cNvCxnSpPr>
              <p:nvPr/>
            </p:nvCxnSpPr>
            <p:spPr bwMode="auto">
              <a:xfrm>
                <a:off x="0" y="80479"/>
                <a:ext cx="360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5" name="直接连接符 34"/>
              <p:cNvCxnSpPr>
                <a:cxnSpLocks noChangeShapeType="1"/>
              </p:cNvCxnSpPr>
              <p:nvPr/>
            </p:nvCxnSpPr>
            <p:spPr bwMode="auto">
              <a:xfrm>
                <a:off x="1094456" y="112253"/>
                <a:ext cx="215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6" name="直接连接符 35"/>
              <p:cNvCxnSpPr>
                <a:cxnSpLocks noChangeShapeType="1"/>
              </p:cNvCxnSpPr>
              <p:nvPr/>
            </p:nvCxnSpPr>
            <p:spPr bwMode="auto">
              <a:xfrm rot="5400000">
                <a:off x="1255093" y="54000"/>
                <a:ext cx="108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grpSp>
          <p:nvGrpSpPr>
            <p:cNvPr id="7" name="组合 6"/>
            <p:cNvGrpSpPr/>
            <p:nvPr/>
          </p:nvGrpSpPr>
          <p:grpSpPr>
            <a:xfrm>
              <a:off x="0" y="0"/>
              <a:ext cx="1967690" cy="1611416"/>
              <a:chOff x="0" y="0"/>
              <a:chExt cx="1967690" cy="1611416"/>
            </a:xfrm>
          </p:grpSpPr>
          <p:cxnSp>
            <p:nvCxnSpPr>
              <p:cNvPr id="8" name="Line 690"/>
              <p:cNvCxnSpPr>
                <a:cxnSpLocks noChangeShapeType="1"/>
              </p:cNvCxnSpPr>
              <p:nvPr/>
            </p:nvCxnSpPr>
            <p:spPr bwMode="auto">
              <a:xfrm rot="5400000">
                <a:off x="917548" y="-81202"/>
                <a:ext cx="904" cy="1836000"/>
              </a:xfrm>
              <a:prstGeom prst="line">
                <a:avLst/>
              </a:prstGeom>
              <a:noFill/>
              <a:ln w="9525">
                <a:solidFill>
                  <a:srgbClr val="000000"/>
                </a:solidFill>
                <a:round/>
                <a:headEnd type="triangle" w="sm" len="lg"/>
                <a:tailEnd type="none" w="sm" len="lg"/>
              </a:ln>
              <a:extLst>
                <a:ext uri="{909E8E84-426E-40DD-AFC4-6F175D3DCCD1}">
                  <a14:hiddenFill xmlns:a14="http://schemas.microsoft.com/office/drawing/2010/main">
                    <a:noFill/>
                  </a14:hiddenFill>
                </a:ext>
              </a:extLst>
            </p:spPr>
          </p:cxnSp>
          <p:cxnSp>
            <p:nvCxnSpPr>
              <p:cNvPr id="9" name="Line 691"/>
              <p:cNvCxnSpPr>
                <a:cxnSpLocks noChangeShapeType="1"/>
              </p:cNvCxnSpPr>
              <p:nvPr/>
            </p:nvCxnSpPr>
            <p:spPr bwMode="auto">
              <a:xfrm>
                <a:off x="868120" y="91793"/>
                <a:ext cx="1008" cy="1404000"/>
              </a:xfrm>
              <a:prstGeom prst="line">
                <a:avLst/>
              </a:prstGeom>
              <a:noFill/>
              <a:ln w="9525">
                <a:solidFill>
                  <a:srgbClr val="000000"/>
                </a:solidFill>
                <a:round/>
                <a:headEnd type="triangle" w="sm" len="lg"/>
                <a:tailEnd type="none" w="sm" len="lg"/>
              </a:ln>
              <a:extLst>
                <a:ext uri="{909E8E84-426E-40DD-AFC4-6F175D3DCCD1}">
                  <a14:hiddenFill xmlns:a14="http://schemas.microsoft.com/office/drawing/2010/main">
                    <a:noFill/>
                  </a14:hiddenFill>
                </a:ext>
              </a:extLst>
            </p:spPr>
          </p:cxnSp>
          <p:sp>
            <p:nvSpPr>
              <p:cNvPr id="10" name="Text Box 692"/>
              <p:cNvSpPr txBox="1">
                <a:spLocks noChangeArrowheads="1"/>
              </p:cNvSpPr>
              <p:nvPr/>
            </p:nvSpPr>
            <p:spPr bwMode="auto">
              <a:xfrm>
                <a:off x="1656430" y="863511"/>
                <a:ext cx="311260" cy="226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200" i="1" kern="100" dirty="0">
                    <a:effectLst/>
                    <a:latin typeface="Times New Roman" panose="02020603050405020304" pitchFamily="18" charset="0"/>
                    <a:ea typeface="宋体" panose="02010600030101010101" pitchFamily="2" charset="-122"/>
                    <a:cs typeface="宋体" panose="02010600030101010101" pitchFamily="2" charset="-122"/>
                  </a:rPr>
                  <a:t>x</a:t>
                </a:r>
                <a:r>
                  <a:rPr lang="en-US" sz="1200" kern="100" dirty="0">
                    <a:effectLst/>
                    <a:latin typeface="Times New Roman" panose="02020603050405020304" pitchFamily="18" charset="0"/>
                    <a:ea typeface="宋体" panose="02010600030101010101" pitchFamily="2" charset="-122"/>
                    <a:cs typeface="宋体" panose="02010600030101010101" pitchFamily="2" charset="-122"/>
                  </a:rPr>
                  <a:t>/m</a:t>
                </a:r>
                <a:endParaRPr lang="zh-CN" sz="12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1" name="Text Box 693"/>
              <p:cNvSpPr txBox="1">
                <a:spLocks noChangeArrowheads="1"/>
              </p:cNvSpPr>
              <p:nvPr/>
            </p:nvSpPr>
            <p:spPr bwMode="auto">
              <a:xfrm>
                <a:off x="921078" y="0"/>
                <a:ext cx="321275" cy="22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200" i="1" kern="100" dirty="0">
                    <a:effectLst/>
                    <a:latin typeface="Times New Roman" panose="02020603050405020304" pitchFamily="18" charset="0"/>
                    <a:ea typeface="宋体" panose="02010600030101010101" pitchFamily="2" charset="-122"/>
                    <a:cs typeface="宋体" panose="02010600030101010101" pitchFamily="2" charset="-122"/>
                  </a:rPr>
                  <a:t>y</a:t>
                </a:r>
                <a:r>
                  <a:rPr lang="en-US" sz="1200" kern="100" dirty="0">
                    <a:effectLst/>
                    <a:latin typeface="Times New Roman" panose="02020603050405020304" pitchFamily="18" charset="0"/>
                    <a:ea typeface="宋体" panose="02010600030101010101" pitchFamily="2" charset="-122"/>
                    <a:cs typeface="宋体" panose="02010600030101010101" pitchFamily="2" charset="-122"/>
                  </a:rPr>
                  <a:t>/m</a:t>
                </a:r>
                <a:endParaRPr lang="zh-CN" sz="12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2" name="Oval 2674"/>
              <p:cNvSpPr>
                <a:spLocks noChangeAspect="1" noChangeArrowheads="1"/>
              </p:cNvSpPr>
              <p:nvPr/>
            </p:nvSpPr>
            <p:spPr bwMode="auto">
              <a:xfrm rot="5400000">
                <a:off x="1094072" y="649613"/>
                <a:ext cx="35560" cy="3556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3" name="Oval 2674"/>
              <p:cNvSpPr>
                <a:spLocks noChangeAspect="1" noChangeArrowheads="1"/>
              </p:cNvSpPr>
              <p:nvPr/>
            </p:nvSpPr>
            <p:spPr bwMode="auto">
              <a:xfrm rot="5400000">
                <a:off x="486826" y="543698"/>
                <a:ext cx="35560" cy="3556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4" name="Oval 2674"/>
              <p:cNvSpPr>
                <a:spLocks noChangeAspect="1" noChangeArrowheads="1"/>
              </p:cNvSpPr>
              <p:nvPr/>
            </p:nvSpPr>
            <p:spPr bwMode="auto">
              <a:xfrm rot="5400000">
                <a:off x="850468" y="1302755"/>
                <a:ext cx="35560" cy="35560"/>
              </a:xfrm>
              <a:prstGeom prst="ellipse">
                <a:avLst/>
              </a:prstGeom>
              <a:solidFill>
                <a:srgbClr val="FFFFFF"/>
              </a:solidFill>
              <a:ln w="190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5" name="Line 92"/>
              <p:cNvCxnSpPr>
                <a:cxnSpLocks noChangeShapeType="1"/>
              </p:cNvCxnSpPr>
              <p:nvPr/>
            </p:nvCxnSpPr>
            <p:spPr bwMode="auto">
              <a:xfrm rot="8100000" flipH="1">
                <a:off x="327953" y="134159"/>
                <a:ext cx="696" cy="509301"/>
              </a:xfrm>
              <a:prstGeom prst="line">
                <a:avLst/>
              </a:prstGeom>
              <a:noFill/>
              <a:ln w="19050">
                <a:solidFill>
                  <a:srgbClr val="00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 name="Line 92"/>
              <p:cNvCxnSpPr>
                <a:cxnSpLocks noChangeShapeType="1"/>
              </p:cNvCxnSpPr>
              <p:nvPr/>
            </p:nvCxnSpPr>
            <p:spPr bwMode="auto">
              <a:xfrm rot="16200000">
                <a:off x="1224701" y="303623"/>
                <a:ext cx="252526" cy="474949"/>
              </a:xfrm>
              <a:prstGeom prst="line">
                <a:avLst/>
              </a:prstGeom>
              <a:noFill/>
              <a:ln w="19050">
                <a:solidFill>
                  <a:srgbClr val="00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 name="Text Box 2767"/>
              <p:cNvSpPr txBox="1">
                <a:spLocks noChangeArrowheads="1"/>
              </p:cNvSpPr>
              <p:nvPr/>
            </p:nvSpPr>
            <p:spPr bwMode="auto">
              <a:xfrm>
                <a:off x="392502" y="1280633"/>
                <a:ext cx="614308" cy="285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l">
                  <a:spcAft>
                    <a:spcPts val="0"/>
                  </a:spcAft>
                </a:pPr>
                <a:r>
                  <a:rPr lang="en-US" sz="1050" kern="100" dirty="0">
                    <a:effectLst/>
                    <a:latin typeface="Times New Roman" panose="02020603050405020304" pitchFamily="18" charset="0"/>
                    <a:ea typeface="宋体" panose="02010600030101010101" pitchFamily="2" charset="-122"/>
                    <a:cs typeface="宋体" panose="02010600030101010101" pitchFamily="2" charset="-122"/>
                  </a:rPr>
                  <a:t>(0</a:t>
                </a:r>
                <a:r>
                  <a:rPr lang="zh-CN" sz="1050" kern="100" dirty="0">
                    <a:effectLst/>
                    <a:latin typeface="Times New Roman" panose="02020603050405020304" pitchFamily="18" charset="0"/>
                    <a:ea typeface="宋体" panose="02010600030101010101" pitchFamily="2" charset="-122"/>
                    <a:cs typeface="宋体" panose="02010600030101010101" pitchFamily="2" charset="-122"/>
                  </a:rPr>
                  <a:t>，</a:t>
                </a:r>
                <a:r>
                  <a:rPr lang="en-US" sz="1050" kern="100" dirty="0">
                    <a:effectLst/>
                    <a:latin typeface="Times New Roman" panose="02020603050405020304" pitchFamily="18" charset="0"/>
                    <a:ea typeface="宋体" panose="02010600030101010101" pitchFamily="2" charset="-122"/>
                    <a:cs typeface="宋体" panose="02010600030101010101" pitchFamily="2" charset="-122"/>
                  </a:rPr>
                  <a:t>−4)</a:t>
                </a:r>
                <a:endParaRPr lang="zh-CN" sz="105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8" name="Text Box 2767"/>
              <p:cNvSpPr txBox="1">
                <a:spLocks noChangeArrowheads="1"/>
              </p:cNvSpPr>
              <p:nvPr/>
            </p:nvSpPr>
            <p:spPr bwMode="auto">
              <a:xfrm>
                <a:off x="195739" y="547852"/>
                <a:ext cx="614308" cy="285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l">
                  <a:spcAft>
                    <a:spcPts val="0"/>
                  </a:spcAft>
                </a:pPr>
                <a:r>
                  <a:rPr lang="en-US" sz="1050" kern="100">
                    <a:effectLst/>
                    <a:latin typeface="Times New Roman" panose="02020603050405020304" pitchFamily="18" charset="0"/>
                    <a:ea typeface="宋体" panose="02010600030101010101" pitchFamily="2" charset="-122"/>
                    <a:cs typeface="宋体" panose="02010600030101010101" pitchFamily="2" charset="-122"/>
                  </a:rPr>
                  <a:t>(−3</a:t>
                </a:r>
                <a:r>
                  <a:rPr lang="zh-CN" sz="1050" kern="100">
                    <a:effectLst/>
                    <a:latin typeface="Times New Roman" panose="02020603050405020304" pitchFamily="18" charset="0"/>
                    <a:ea typeface="宋体" panose="02010600030101010101" pitchFamily="2" charset="-122"/>
                    <a:cs typeface="宋体" panose="02010600030101010101" pitchFamily="2" charset="-122"/>
                  </a:rPr>
                  <a:t>，</a:t>
                </a:r>
                <a:r>
                  <a:rPr lang="en-US" sz="1050" kern="100">
                    <a:effectLst/>
                    <a:latin typeface="Times New Roman" panose="02020603050405020304" pitchFamily="18" charset="0"/>
                    <a:ea typeface="宋体" panose="02010600030101010101" pitchFamily="2" charset="-122"/>
                    <a:cs typeface="宋体" panose="02010600030101010101" pitchFamily="2" charset="-122"/>
                  </a:rPr>
                  <a:t>2)</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9" name="Text Box 2767"/>
              <p:cNvSpPr txBox="1">
                <a:spLocks noChangeArrowheads="1"/>
              </p:cNvSpPr>
              <p:nvPr/>
            </p:nvSpPr>
            <p:spPr bwMode="auto">
              <a:xfrm>
                <a:off x="833152" y="656203"/>
                <a:ext cx="575471"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l">
                  <a:spcAft>
                    <a:spcPts val="0"/>
                  </a:spcAft>
                </a:pPr>
                <a:r>
                  <a:rPr lang="en-US" sz="1050" kern="100" dirty="0">
                    <a:effectLst/>
                    <a:latin typeface="Times New Roman" panose="02020603050405020304" pitchFamily="18" charset="0"/>
                    <a:ea typeface="宋体" panose="02010600030101010101" pitchFamily="2" charset="-122"/>
                    <a:cs typeface="宋体" panose="02010600030101010101" pitchFamily="2" charset="-122"/>
                  </a:rPr>
                  <a:t>(2</a:t>
                </a:r>
                <a:r>
                  <a:rPr lang="zh-CN" sz="1050" kern="100" dirty="0">
                    <a:effectLst/>
                    <a:latin typeface="Times New Roman" panose="02020603050405020304" pitchFamily="18" charset="0"/>
                    <a:ea typeface="宋体" panose="02010600030101010101" pitchFamily="2" charset="-122"/>
                    <a:cs typeface="宋体" panose="02010600030101010101" pitchFamily="2" charset="-122"/>
                  </a:rPr>
                  <a:t>，</a:t>
                </a:r>
                <a:r>
                  <a:rPr lang="en-US" sz="1050" kern="100" dirty="0">
                    <a:effectLst/>
                    <a:latin typeface="Times New Roman" panose="02020603050405020304" pitchFamily="18" charset="0"/>
                    <a:ea typeface="宋体" panose="02010600030101010101" pitchFamily="2" charset="-122"/>
                    <a:cs typeface="宋体" panose="02010600030101010101" pitchFamily="2" charset="-122"/>
                  </a:rPr>
                  <a:t>1)</a:t>
                </a:r>
                <a:endParaRPr lang="zh-CN" sz="105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0" name="Text Box 2711"/>
              <p:cNvSpPr txBox="1">
                <a:spLocks noChangeArrowheads="1"/>
              </p:cNvSpPr>
              <p:nvPr/>
            </p:nvSpPr>
            <p:spPr bwMode="auto">
              <a:xfrm>
                <a:off x="114217" y="379221"/>
                <a:ext cx="471076" cy="261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200" kern="100" dirty="0">
                    <a:effectLst/>
                    <a:latin typeface="Times New Roman" panose="02020603050405020304" pitchFamily="18" charset="0"/>
                    <a:ea typeface="宋体" panose="02010600030101010101" pitchFamily="2" charset="-122"/>
                    <a:cs typeface="宋体" panose="02010600030101010101" pitchFamily="2" charset="-122"/>
                  </a:rPr>
                  <a:t>45°</a:t>
                </a:r>
                <a:endParaRPr lang="zh-CN" sz="12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1" name="任意多边形 20"/>
              <p:cNvSpPr>
                <a:spLocks/>
              </p:cNvSpPr>
              <p:nvPr/>
            </p:nvSpPr>
            <p:spPr bwMode="auto">
              <a:xfrm rot="10680000">
                <a:off x="387972" y="476618"/>
                <a:ext cx="25200" cy="104400"/>
              </a:xfrm>
              <a:custGeom>
                <a:avLst/>
                <a:gdLst>
                  <a:gd name="T0" fmla="*/ 16 w 41"/>
                  <a:gd name="T1" fmla="*/ 0 h 165"/>
                  <a:gd name="T2" fmla="*/ 38 w 41"/>
                  <a:gd name="T3" fmla="*/ 90 h 165"/>
                  <a:gd name="T4" fmla="*/ 0 w 41"/>
                  <a:gd name="T5" fmla="*/ 165 h 165"/>
                </a:gdLst>
                <a:ahLst/>
                <a:cxnLst>
                  <a:cxn ang="0">
                    <a:pos x="T0" y="T1"/>
                  </a:cxn>
                  <a:cxn ang="0">
                    <a:pos x="T2" y="T3"/>
                  </a:cxn>
                  <a:cxn ang="0">
                    <a:pos x="T4" y="T5"/>
                  </a:cxn>
                </a:cxnLst>
                <a:rect l="0" t="0" r="r" b="b"/>
                <a:pathLst>
                  <a:path w="41" h="165">
                    <a:moveTo>
                      <a:pt x="16" y="0"/>
                    </a:moveTo>
                    <a:cubicBezTo>
                      <a:pt x="28" y="31"/>
                      <a:pt x="41" y="62"/>
                      <a:pt x="38" y="90"/>
                    </a:cubicBezTo>
                    <a:cubicBezTo>
                      <a:pt x="35" y="118"/>
                      <a:pt x="17" y="141"/>
                      <a:pt x="0" y="165"/>
                    </a:cubicBezTo>
                  </a:path>
                </a:pathLst>
              </a:custGeom>
              <a:noFill/>
              <a:ln w="9525">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algn="ctr">
                  <a:spcAft>
                    <a:spcPts val="0"/>
                  </a:spcAft>
                </a:pPr>
                <a:r>
                  <a:rPr lang="en-US" sz="1050" kern="100">
                    <a:effectLst/>
                    <a:latin typeface="Times New Roman" panose="02020603050405020304" pitchFamily="18" charset="0"/>
                    <a:ea typeface="宋体" panose="02010600030101010101" pitchFamily="2"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2" name="Text Box 2767"/>
              <p:cNvSpPr txBox="1">
                <a:spLocks noChangeArrowheads="1"/>
              </p:cNvSpPr>
              <p:nvPr/>
            </p:nvSpPr>
            <p:spPr bwMode="auto">
              <a:xfrm>
                <a:off x="1235268" y="566407"/>
                <a:ext cx="335783" cy="236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l">
                  <a:spcAft>
                    <a:spcPts val="0"/>
                  </a:spcAft>
                </a:pPr>
                <a:r>
                  <a:rPr lang="en-US" sz="1100" kern="100" dirty="0">
                    <a:effectLst/>
                    <a:latin typeface="Times New Roman" panose="02020603050405020304" pitchFamily="18" charset="0"/>
                    <a:ea typeface="宋体" panose="02010600030101010101" pitchFamily="2" charset="-122"/>
                    <a:cs typeface="宋体" panose="02010600030101010101" pitchFamily="2" charset="-122"/>
                  </a:rPr>
                  <a:t>12</a:t>
                </a:r>
                <a:endParaRPr lang="zh-CN" sz="11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3" name="Text Box 2767"/>
              <p:cNvSpPr txBox="1">
                <a:spLocks noChangeArrowheads="1"/>
              </p:cNvSpPr>
              <p:nvPr/>
            </p:nvSpPr>
            <p:spPr bwMode="auto">
              <a:xfrm>
                <a:off x="1431597" y="454713"/>
                <a:ext cx="282440" cy="236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l">
                  <a:spcAft>
                    <a:spcPts val="0"/>
                  </a:spcAft>
                </a:pPr>
                <a:r>
                  <a:rPr lang="en-US" sz="1100" kern="100" dirty="0">
                    <a:effectLst/>
                    <a:latin typeface="Times New Roman" panose="02020603050405020304" pitchFamily="18" charset="0"/>
                    <a:ea typeface="宋体" panose="02010600030101010101" pitchFamily="2" charset="-122"/>
                    <a:cs typeface="宋体" panose="02010600030101010101" pitchFamily="2" charset="-122"/>
                  </a:rPr>
                  <a:t>5</a:t>
                </a:r>
                <a:endParaRPr lang="zh-CN" sz="1100" kern="100" dirty="0">
                  <a:effectLst/>
                  <a:latin typeface="Times New Roman" panose="02020603050405020304" pitchFamily="18" charset="0"/>
                  <a:ea typeface="宋体" panose="02010600030101010101" pitchFamily="2" charset="-122"/>
                  <a:cs typeface="宋体" panose="02010600030101010101" pitchFamily="2" charset="-122"/>
                </a:endParaRPr>
              </a:p>
            </p:txBody>
          </p:sp>
          <p:grpSp>
            <p:nvGrpSpPr>
              <p:cNvPr id="24" name="组合 23"/>
              <p:cNvGrpSpPr/>
              <p:nvPr/>
            </p:nvGrpSpPr>
            <p:grpSpPr>
              <a:xfrm rot="18681689">
                <a:off x="87879" y="977949"/>
                <a:ext cx="461560" cy="297180"/>
                <a:chOff x="0" y="0"/>
                <a:chExt cx="461560" cy="297180"/>
              </a:xfrm>
            </p:grpSpPr>
            <p:cxnSp>
              <p:nvCxnSpPr>
                <p:cNvPr id="30" name="直接连接符 29"/>
                <p:cNvCxnSpPr>
                  <a:cxnSpLocks noChangeShapeType="1"/>
                </p:cNvCxnSpPr>
                <p:nvPr/>
              </p:nvCxnSpPr>
              <p:spPr bwMode="auto">
                <a:xfrm flipH="1">
                  <a:off x="0" y="0"/>
                  <a:ext cx="228547"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cxnSp>
            <p:cxnSp>
              <p:nvCxnSpPr>
                <p:cNvPr id="31" name="直接连接符 30"/>
                <p:cNvCxnSpPr>
                  <a:cxnSpLocks noChangeShapeType="1"/>
                </p:cNvCxnSpPr>
                <p:nvPr/>
              </p:nvCxnSpPr>
              <p:spPr bwMode="auto">
                <a:xfrm flipV="1">
                  <a:off x="233013" y="296562"/>
                  <a:ext cx="228547"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cxnSp>
            <p:cxnSp>
              <p:nvCxnSpPr>
                <p:cNvPr id="32" name="直接连接符 31"/>
                <p:cNvCxnSpPr>
                  <a:cxnSpLocks noChangeShapeType="1"/>
                </p:cNvCxnSpPr>
                <p:nvPr/>
              </p:nvCxnSpPr>
              <p:spPr bwMode="auto">
                <a:xfrm>
                  <a:off x="233013" y="0"/>
                  <a:ext cx="0" cy="2971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cxnSp>
          </p:grpSp>
          <p:sp>
            <p:nvSpPr>
              <p:cNvPr id="25" name="文本框 47143"/>
              <p:cNvSpPr txBox="1">
                <a:spLocks noChangeArrowheads="1"/>
              </p:cNvSpPr>
              <p:nvPr/>
            </p:nvSpPr>
            <p:spPr bwMode="auto">
              <a:xfrm>
                <a:off x="43336" y="1110562"/>
                <a:ext cx="342821" cy="29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i="1" kern="100" dirty="0">
                    <a:effectLst/>
                    <a:latin typeface="Times New Roman" panose="02020603050405020304" pitchFamily="18" charset="0"/>
                    <a:ea typeface="宋体" panose="02010600030101010101" pitchFamily="2" charset="-122"/>
                    <a:cs typeface="宋体" panose="02010600030101010101" pitchFamily="2" charset="-122"/>
                  </a:rPr>
                  <a:t>M</a:t>
                </a:r>
                <a:endParaRPr lang="zh-CN" sz="16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6" name="文本框 47144"/>
              <p:cNvSpPr txBox="1">
                <a:spLocks noChangeArrowheads="1"/>
              </p:cNvSpPr>
              <p:nvPr/>
            </p:nvSpPr>
            <p:spPr bwMode="auto">
              <a:xfrm>
                <a:off x="1531854" y="201239"/>
                <a:ext cx="342821" cy="29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b="1" i="1" kern="100" dirty="0">
                    <a:effectLst/>
                    <a:latin typeface="Times New Roman" panose="02020603050405020304" pitchFamily="18" charset="0"/>
                    <a:ea typeface="宋体" panose="02010600030101010101" pitchFamily="2" charset="-122"/>
                    <a:cs typeface="宋体" panose="02010600030101010101" pitchFamily="2" charset="-122"/>
                  </a:rPr>
                  <a:t>F</a:t>
                </a:r>
                <a:r>
                  <a:rPr lang="en-US" sz="1600" kern="100" baseline="-25000" dirty="0">
                    <a:effectLst/>
                    <a:latin typeface="Times New Roman" panose="02020603050405020304" pitchFamily="18" charset="0"/>
                    <a:ea typeface="宋体" panose="02010600030101010101" pitchFamily="2" charset="-122"/>
                    <a:cs typeface="宋体" panose="02010600030101010101" pitchFamily="2" charset="-122"/>
                  </a:rPr>
                  <a:t>1</a:t>
                </a:r>
                <a:endParaRPr lang="zh-CN" sz="16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7" name="文本框 47153"/>
              <p:cNvSpPr txBox="1">
                <a:spLocks noChangeArrowheads="1"/>
              </p:cNvSpPr>
              <p:nvPr/>
            </p:nvSpPr>
            <p:spPr bwMode="auto">
              <a:xfrm>
                <a:off x="133776" y="31775"/>
                <a:ext cx="342821" cy="29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b="1" i="1" kern="100" dirty="0">
                    <a:effectLst/>
                    <a:latin typeface="Times New Roman" panose="02020603050405020304" pitchFamily="18" charset="0"/>
                    <a:ea typeface="宋体" panose="02010600030101010101" pitchFamily="2" charset="-122"/>
                    <a:cs typeface="宋体" panose="02010600030101010101" pitchFamily="2" charset="-122"/>
                  </a:rPr>
                  <a:t>F</a:t>
                </a:r>
                <a:r>
                  <a:rPr lang="en-US" sz="1600" kern="100" baseline="-25000" dirty="0">
                    <a:effectLst/>
                    <a:latin typeface="Times New Roman" panose="02020603050405020304" pitchFamily="18" charset="0"/>
                    <a:ea typeface="宋体" panose="02010600030101010101" pitchFamily="2" charset="-122"/>
                    <a:cs typeface="宋体" panose="02010600030101010101" pitchFamily="2" charset="-122"/>
                  </a:rPr>
                  <a:t>2</a:t>
                </a:r>
                <a:endParaRPr lang="zh-CN" sz="16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8" name="文本框 47154"/>
              <p:cNvSpPr txBox="1">
                <a:spLocks noChangeArrowheads="1"/>
              </p:cNvSpPr>
              <p:nvPr/>
            </p:nvSpPr>
            <p:spPr bwMode="auto">
              <a:xfrm>
                <a:off x="1078438" y="1314237"/>
                <a:ext cx="342821" cy="29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600" b="1" i="1" kern="100" dirty="0">
                    <a:effectLst/>
                    <a:latin typeface="Times New Roman" panose="02020603050405020304" pitchFamily="18" charset="0"/>
                    <a:ea typeface="宋体" panose="02010600030101010101" pitchFamily="2" charset="-122"/>
                    <a:cs typeface="宋体" panose="02010600030101010101" pitchFamily="2" charset="-122"/>
                  </a:rPr>
                  <a:t>F</a:t>
                </a:r>
                <a:r>
                  <a:rPr lang="en-US" sz="1600" kern="100" baseline="-25000" dirty="0">
                    <a:effectLst/>
                    <a:latin typeface="Times New Roman" panose="02020603050405020304" pitchFamily="18" charset="0"/>
                    <a:ea typeface="宋体" panose="02010600030101010101" pitchFamily="2" charset="-122"/>
                    <a:cs typeface="宋体" panose="02010600030101010101" pitchFamily="2" charset="-122"/>
                  </a:rPr>
                  <a:t>3</a:t>
                </a:r>
                <a:endParaRPr lang="zh-CN" sz="16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9" name="文本框 47155"/>
              <p:cNvSpPr txBox="1">
                <a:spLocks noChangeArrowheads="1"/>
              </p:cNvSpPr>
              <p:nvPr/>
            </p:nvSpPr>
            <p:spPr bwMode="auto">
              <a:xfrm>
                <a:off x="656289" y="788511"/>
                <a:ext cx="342821" cy="29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400" i="1" kern="100" dirty="0">
                    <a:effectLst/>
                    <a:latin typeface="Times New Roman" panose="02020603050405020304" pitchFamily="18" charset="0"/>
                    <a:ea typeface="宋体" panose="02010600030101010101" pitchFamily="2" charset="-122"/>
                    <a:cs typeface="宋体" panose="02010600030101010101" pitchFamily="2" charset="-122"/>
                  </a:rPr>
                  <a:t>O</a:t>
                </a:r>
                <a:endParaRPr lang="zh-CN" sz="1400" kern="100" dirty="0">
                  <a:effectLst/>
                  <a:latin typeface="Times New Roman" panose="02020603050405020304" pitchFamily="18" charset="0"/>
                  <a:ea typeface="宋体" panose="02010600030101010101" pitchFamily="2" charset="-122"/>
                  <a:cs typeface="宋体" panose="02010600030101010101" pitchFamily="2" charset="-122"/>
                </a:endParaRPr>
              </a:p>
            </p:txBody>
          </p:sp>
        </p:grpSp>
      </p:grpSp>
      <p:sp>
        <p:nvSpPr>
          <p:cNvPr id="37" name="矩形 36"/>
          <p:cNvSpPr/>
          <p:nvPr/>
        </p:nvSpPr>
        <p:spPr>
          <a:xfrm>
            <a:off x="651345" y="1660208"/>
            <a:ext cx="958917" cy="461665"/>
          </a:xfrm>
          <a:prstGeom prst="rect">
            <a:avLst/>
          </a:prstGeom>
        </p:spPr>
        <p:txBody>
          <a:bodyPr wrap="none">
            <a:spAutoFit/>
          </a:bodyPr>
          <a:lstStyle/>
          <a:p>
            <a:r>
              <a:rPr lang="zh-CN" altLang="en-US" b="1" dirty="0">
                <a:solidFill>
                  <a:srgbClr val="0000FF"/>
                </a:solidFill>
                <a:latin typeface="楷体" panose="02010609060101010101" pitchFamily="49" charset="-122"/>
                <a:ea typeface="楷体" panose="02010609060101010101" pitchFamily="49" charset="-122"/>
              </a:rPr>
              <a:t>解：</a:t>
            </a:r>
            <a:r>
              <a:rPr lang="zh-CN" altLang="en-US" b="1" dirty="0">
                <a:latin typeface="楷体" panose="02010609060101010101" pitchFamily="49" charset="-122"/>
                <a:ea typeface="楷体" panose="02010609060101010101" pitchFamily="49" charset="-122"/>
              </a:rPr>
              <a:t> </a:t>
            </a:r>
            <a:endParaRPr lang="zh-CN" altLang="en-US" dirty="0"/>
          </a:p>
        </p:txBody>
      </p:sp>
      <p:graphicFrame>
        <p:nvGraphicFramePr>
          <p:cNvPr id="38" name="对象 37"/>
          <p:cNvGraphicFramePr>
            <a:graphicFrameLocks noChangeAspect="1"/>
          </p:cNvGraphicFramePr>
          <p:nvPr>
            <p:extLst>
              <p:ext uri="{D42A27DB-BD31-4B8C-83A1-F6EECF244321}">
                <p14:modId xmlns:p14="http://schemas.microsoft.com/office/powerpoint/2010/main" val="2372054628"/>
              </p:ext>
            </p:extLst>
          </p:nvPr>
        </p:nvGraphicFramePr>
        <p:xfrm>
          <a:off x="1988939" y="1908356"/>
          <a:ext cx="3592107" cy="626316"/>
        </p:xfrm>
        <a:graphic>
          <a:graphicData uri="http://schemas.openxmlformats.org/presentationml/2006/ole">
            <mc:AlternateContent xmlns:mc="http://schemas.openxmlformats.org/markup-compatibility/2006">
              <mc:Choice xmlns:v="urn:schemas-microsoft-com:vml" Requires="v">
                <p:oleObj spid="_x0000_s33823" name="Equation" r:id="rId5" imgW="2476500" imgH="431800" progId="Equation.DSMT4">
                  <p:embed/>
                </p:oleObj>
              </mc:Choice>
              <mc:Fallback>
                <p:oleObj name="Equation" r:id="rId5" imgW="2476500" imgH="4318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8939" y="1908356"/>
                        <a:ext cx="3592107" cy="626316"/>
                      </a:xfrm>
                      <a:prstGeom prst="rect">
                        <a:avLst/>
                      </a:prstGeom>
                      <a:noFill/>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1639563695"/>
              </p:ext>
            </p:extLst>
          </p:nvPr>
        </p:nvGraphicFramePr>
        <p:xfrm>
          <a:off x="1986995" y="2545363"/>
          <a:ext cx="3495099" cy="671375"/>
        </p:xfrm>
        <a:graphic>
          <a:graphicData uri="http://schemas.openxmlformats.org/presentationml/2006/ole">
            <mc:AlternateContent xmlns:mc="http://schemas.openxmlformats.org/markup-compatibility/2006">
              <mc:Choice xmlns:v="urn:schemas-microsoft-com:vml" Requires="v">
                <p:oleObj spid="_x0000_s33824" name="Equation" r:id="rId7" imgW="2247900" imgH="431800" progId="Equation.DSMT4">
                  <p:embed/>
                </p:oleObj>
              </mc:Choice>
              <mc:Fallback>
                <p:oleObj name="Equation" r:id="rId7" imgW="2247900" imgH="4318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6995" y="2545363"/>
                        <a:ext cx="3495099" cy="671375"/>
                      </a:xfrm>
                      <a:prstGeom prst="rect">
                        <a:avLst/>
                      </a:prstGeom>
                      <a:noFill/>
                    </p:spPr>
                  </p:pic>
                </p:oleObj>
              </mc:Fallback>
            </mc:AlternateContent>
          </a:graphicData>
        </a:graphic>
      </p:graphicFrame>
      <p:sp>
        <p:nvSpPr>
          <p:cNvPr id="40" name="Rectangle 8"/>
          <p:cNvSpPr>
            <a:spLocks noChangeArrowheads="1"/>
          </p:cNvSpPr>
          <p:nvPr/>
        </p:nvSpPr>
        <p:spPr bwMode="auto">
          <a:xfrm>
            <a:off x="1101377" y="2118113"/>
            <a:ext cx="9589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FF0000"/>
                </a:solidFill>
                <a:effectLst/>
                <a:latin typeface="楷体" panose="02010609060101010101" pitchFamily="49" charset="-122"/>
                <a:ea typeface="楷体" panose="02010609060101010101" pitchFamily="49" charset="-122"/>
                <a:cs typeface="Times New Roman" panose="02020603050405020304" pitchFamily="18" charset="0"/>
              </a:rPr>
              <a:t>主矢</a:t>
            </a:r>
            <a:r>
              <a:rPr kumimoji="0" lang="zh-CN" altLang="zh-CN" b="1" i="1" u="none" strike="noStrike" cap="none" normalizeH="0" baseline="0" dirty="0">
                <a:ln>
                  <a:noFill/>
                </a:ln>
                <a:solidFill>
                  <a:srgbClr val="FF0000"/>
                </a:solidFill>
                <a:effectLst/>
                <a:latin typeface="楷体" panose="02010609060101010101" pitchFamily="49" charset="-122"/>
                <a:ea typeface="楷体" panose="02010609060101010101" pitchFamily="49" charset="-122"/>
                <a:cs typeface="Times New Roman" panose="02020603050405020304" pitchFamily="18" charset="0"/>
              </a:rPr>
              <a:t> </a:t>
            </a:r>
            <a:endParaRPr kumimoji="0" lang="zh-CN" altLang="zh-CN" b="1" i="0" u="none" strike="noStrike" cap="none" normalizeH="0" baseline="0" dirty="0">
              <a:ln>
                <a:noFill/>
              </a:ln>
              <a:solidFill>
                <a:srgbClr val="FF0000"/>
              </a:solidFill>
              <a:effectLst/>
              <a:latin typeface="楷体" panose="02010609060101010101" pitchFamily="49" charset="-122"/>
              <a:ea typeface="楷体" panose="02010609060101010101" pitchFamily="49" charset="-122"/>
            </a:endParaRPr>
          </a:p>
        </p:txBody>
      </p:sp>
      <p:graphicFrame>
        <p:nvGraphicFramePr>
          <p:cNvPr id="43" name="对象 42"/>
          <p:cNvGraphicFramePr>
            <a:graphicFrameLocks noChangeAspect="1"/>
          </p:cNvGraphicFramePr>
          <p:nvPr>
            <p:extLst>
              <p:ext uri="{D42A27DB-BD31-4B8C-83A1-F6EECF244321}">
                <p14:modId xmlns:p14="http://schemas.microsoft.com/office/powerpoint/2010/main" val="2469005708"/>
              </p:ext>
            </p:extLst>
          </p:nvPr>
        </p:nvGraphicFramePr>
        <p:xfrm>
          <a:off x="865679" y="3797845"/>
          <a:ext cx="5821689" cy="610918"/>
        </p:xfrm>
        <a:graphic>
          <a:graphicData uri="http://schemas.openxmlformats.org/presentationml/2006/ole">
            <mc:AlternateContent xmlns:mc="http://schemas.openxmlformats.org/markup-compatibility/2006">
              <mc:Choice xmlns:v="urn:schemas-microsoft-com:vml" Requires="v">
                <p:oleObj spid="_x0000_s33825" name="Equation" r:id="rId9" imgW="4114800" imgH="431800" progId="Equation.DSMT4">
                  <p:embed/>
                </p:oleObj>
              </mc:Choice>
              <mc:Fallback>
                <p:oleObj name="Equation" r:id="rId9" imgW="4114800" imgH="4318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5679" y="3797845"/>
                        <a:ext cx="5821689" cy="610918"/>
                      </a:xfrm>
                      <a:prstGeom prst="rect">
                        <a:avLst/>
                      </a:prstGeom>
                      <a:noFill/>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328108521"/>
              </p:ext>
            </p:extLst>
          </p:nvPr>
        </p:nvGraphicFramePr>
        <p:xfrm>
          <a:off x="6737695" y="3962811"/>
          <a:ext cx="1184500" cy="296125"/>
        </p:xfrm>
        <a:graphic>
          <a:graphicData uri="http://schemas.openxmlformats.org/presentationml/2006/ole">
            <mc:AlternateContent xmlns:mc="http://schemas.openxmlformats.org/markup-compatibility/2006">
              <mc:Choice xmlns:v="urn:schemas-microsoft-com:vml" Requires="v">
                <p:oleObj spid="_x0000_s33826" name="Equation" r:id="rId11" imgW="710891" imgH="177723" progId="Equation.DSMT4">
                  <p:embed/>
                </p:oleObj>
              </mc:Choice>
              <mc:Fallback>
                <p:oleObj name="Equation" r:id="rId11" imgW="710891" imgH="177723"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37695" y="3962811"/>
                        <a:ext cx="1184500" cy="296125"/>
                      </a:xfrm>
                      <a:prstGeom prst="rect">
                        <a:avLst/>
                      </a:prstGeom>
                      <a:noFill/>
                    </p:spPr>
                  </p:pic>
                </p:oleObj>
              </mc:Fallback>
            </mc:AlternateContent>
          </a:graphicData>
        </a:graphic>
      </p:graphicFrame>
      <p:sp>
        <p:nvSpPr>
          <p:cNvPr id="45" name="Rectangle 13"/>
          <p:cNvSpPr>
            <a:spLocks noChangeArrowheads="1"/>
          </p:cNvSpPr>
          <p:nvPr/>
        </p:nvSpPr>
        <p:spPr bwMode="auto">
          <a:xfrm>
            <a:off x="1115011" y="3254854"/>
            <a:ext cx="100811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FF0000"/>
                </a:solidFill>
                <a:effectLst/>
                <a:latin typeface="楷体" panose="02010609060101010101" pitchFamily="49" charset="-122"/>
                <a:ea typeface="楷体" panose="02010609060101010101" pitchFamily="49" charset="-122"/>
                <a:cs typeface="Times New Roman" panose="02020603050405020304" pitchFamily="18" charset="0"/>
              </a:rPr>
              <a:t>主矩 </a:t>
            </a:r>
            <a:endParaRPr kumimoji="0" lang="zh-CN" altLang="zh-CN" b="1" i="0" u="none" strike="noStrike" cap="none" normalizeH="0" baseline="0" dirty="0">
              <a:ln>
                <a:noFill/>
              </a:ln>
              <a:solidFill>
                <a:srgbClr val="FF0000"/>
              </a:solidFill>
              <a:effectLst/>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47" name="组合 46"/>
          <p:cNvGrpSpPr/>
          <p:nvPr/>
        </p:nvGrpSpPr>
        <p:grpSpPr>
          <a:xfrm>
            <a:off x="6507650" y="2248351"/>
            <a:ext cx="1087069" cy="834029"/>
            <a:chOff x="-23530" y="-4083"/>
            <a:chExt cx="1087517" cy="834294"/>
          </a:xfrm>
        </p:grpSpPr>
        <p:grpSp>
          <p:nvGrpSpPr>
            <p:cNvPr id="48" name="组合 47"/>
            <p:cNvGrpSpPr/>
            <p:nvPr/>
          </p:nvGrpSpPr>
          <p:grpSpPr>
            <a:xfrm>
              <a:off x="501331" y="63549"/>
              <a:ext cx="395605" cy="482009"/>
              <a:chOff x="0" y="0"/>
              <a:chExt cx="395605" cy="482009"/>
            </a:xfrm>
          </p:grpSpPr>
          <p:cxnSp>
            <p:nvCxnSpPr>
              <p:cNvPr id="54" name="Line 92"/>
              <p:cNvCxnSpPr>
                <a:cxnSpLocks noChangeShapeType="1"/>
              </p:cNvCxnSpPr>
              <p:nvPr/>
            </p:nvCxnSpPr>
            <p:spPr bwMode="auto">
              <a:xfrm rot="16200000">
                <a:off x="197803" y="284206"/>
                <a:ext cx="0" cy="395605"/>
              </a:xfrm>
              <a:prstGeom prst="line">
                <a:avLst/>
              </a:prstGeom>
              <a:noFill/>
              <a:ln w="222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 name="Line 92"/>
              <p:cNvCxnSpPr>
                <a:cxnSpLocks noChangeShapeType="1"/>
              </p:cNvCxnSpPr>
              <p:nvPr/>
            </p:nvCxnSpPr>
            <p:spPr bwMode="auto">
              <a:xfrm rot="10800000">
                <a:off x="5391" y="0"/>
                <a:ext cx="0" cy="468000"/>
              </a:xfrm>
              <a:prstGeom prst="line">
                <a:avLst/>
              </a:prstGeom>
              <a:noFill/>
              <a:ln w="2222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49" name="组合 48"/>
            <p:cNvGrpSpPr/>
            <p:nvPr/>
          </p:nvGrpSpPr>
          <p:grpSpPr>
            <a:xfrm>
              <a:off x="-23530" y="-4083"/>
              <a:ext cx="1087517" cy="834294"/>
              <a:chOff x="-23530" y="-4083"/>
              <a:chExt cx="1087517" cy="834294"/>
            </a:xfrm>
          </p:grpSpPr>
          <p:sp>
            <p:nvSpPr>
              <p:cNvPr id="50" name="Arc 245"/>
              <p:cNvSpPr>
                <a:spLocks/>
              </p:cNvSpPr>
              <p:nvPr/>
            </p:nvSpPr>
            <p:spPr bwMode="auto">
              <a:xfrm rot="8273210" flipV="1">
                <a:off x="338928" y="345989"/>
                <a:ext cx="316814" cy="317446"/>
              </a:xfrm>
              <a:custGeom>
                <a:avLst/>
                <a:gdLst>
                  <a:gd name="G0" fmla="+- 20839 0 0"/>
                  <a:gd name="G1" fmla="+- 21581 0 0"/>
                  <a:gd name="G2" fmla="+- 21600 0 0"/>
                  <a:gd name="T0" fmla="*/ 0 w 20839"/>
                  <a:gd name="T1" fmla="*/ 15898 h 21581"/>
                  <a:gd name="T2" fmla="*/ 19937 w 20839"/>
                  <a:gd name="T3" fmla="*/ 0 h 21581"/>
                  <a:gd name="T4" fmla="*/ 20839 w 20839"/>
                  <a:gd name="T5" fmla="*/ 21581 h 21581"/>
                </a:gdLst>
                <a:ahLst/>
                <a:cxnLst>
                  <a:cxn ang="0">
                    <a:pos x="T0" y="T1"/>
                  </a:cxn>
                  <a:cxn ang="0">
                    <a:pos x="T2" y="T3"/>
                  </a:cxn>
                  <a:cxn ang="0">
                    <a:pos x="T4" y="T5"/>
                  </a:cxn>
                </a:cxnLst>
                <a:rect l="0" t="0" r="r" b="b"/>
                <a:pathLst>
                  <a:path w="20839" h="21581" fill="none" extrusionOk="0">
                    <a:moveTo>
                      <a:pt x="0" y="15898"/>
                    </a:moveTo>
                    <a:cubicBezTo>
                      <a:pt x="2474" y="6822"/>
                      <a:pt x="10538" y="392"/>
                      <a:pt x="19936" y="-1"/>
                    </a:cubicBezTo>
                  </a:path>
                  <a:path w="20839" h="21581" stroke="0" extrusionOk="0">
                    <a:moveTo>
                      <a:pt x="0" y="15898"/>
                    </a:moveTo>
                    <a:cubicBezTo>
                      <a:pt x="2474" y="6822"/>
                      <a:pt x="10538" y="392"/>
                      <a:pt x="19936" y="-1"/>
                    </a:cubicBezTo>
                    <a:lnTo>
                      <a:pt x="20839" y="21581"/>
                    </a:lnTo>
                    <a:close/>
                  </a:path>
                </a:pathLst>
              </a:custGeom>
              <a:noFill/>
              <a:ln w="22225">
                <a:solidFill>
                  <a:srgbClr val="FF0000"/>
                </a:solidFill>
                <a:round/>
                <a:headEnd type="none" w="sm" len="med"/>
                <a:tailEnd type="triangle" w="sm" len="lg"/>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51" name="文本框 604"/>
              <p:cNvSpPr txBox="1">
                <a:spLocks noChangeArrowheads="1"/>
              </p:cNvSpPr>
              <p:nvPr/>
            </p:nvSpPr>
            <p:spPr bwMode="auto">
              <a:xfrm>
                <a:off x="557818" y="533105"/>
                <a:ext cx="506169" cy="29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l">
                  <a:spcAft>
                    <a:spcPts val="0"/>
                  </a:spcAft>
                </a:pPr>
                <a:r>
                  <a:rPr lang="en-US" sz="1600" b="1" i="1" kern="100" dirty="0" err="1">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F</a:t>
                </a:r>
                <a:r>
                  <a:rPr lang="en-US" sz="1600" i="1" kern="100" baseline="-25000" dirty="0" err="1">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Rx</a:t>
                </a:r>
                <a:endParaRPr lang="zh-CN" sz="16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2" name="文本框 605"/>
              <p:cNvSpPr txBox="1">
                <a:spLocks noChangeArrowheads="1"/>
              </p:cNvSpPr>
              <p:nvPr/>
            </p:nvSpPr>
            <p:spPr bwMode="auto">
              <a:xfrm>
                <a:off x="92736" y="-4083"/>
                <a:ext cx="505767" cy="29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l">
                  <a:spcAft>
                    <a:spcPts val="0"/>
                  </a:spcAft>
                </a:pPr>
                <a:r>
                  <a:rPr lang="en-US" sz="1600" b="1" i="1" kern="100" dirty="0" err="1">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F</a:t>
                </a:r>
                <a:r>
                  <a:rPr lang="en-US" sz="1600" i="1" kern="100" baseline="-25000" dirty="0" err="1">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Ry</a:t>
                </a:r>
                <a:endParaRPr lang="zh-CN" sz="16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53" name="文本框 606"/>
              <p:cNvSpPr txBox="1">
                <a:spLocks noChangeArrowheads="1"/>
              </p:cNvSpPr>
              <p:nvPr/>
            </p:nvSpPr>
            <p:spPr bwMode="auto">
              <a:xfrm>
                <a:off x="-23530" y="381536"/>
                <a:ext cx="487038" cy="29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l">
                  <a:spcAft>
                    <a:spcPts val="0"/>
                  </a:spcAft>
                </a:pPr>
                <a:r>
                  <a:rPr lang="en-US" sz="1600" i="1" kern="1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M</a:t>
                </a:r>
                <a:r>
                  <a:rPr lang="en-US" sz="1600" i="1" kern="100" baseline="-25000" dirty="0">
                    <a:solidFill>
                      <a:srgbClr val="FF0000"/>
                    </a:solidFill>
                    <a:effectLst/>
                    <a:latin typeface="Times New Roman" panose="02020603050405020304" pitchFamily="18" charset="0"/>
                    <a:ea typeface="宋体" panose="02010600030101010101" pitchFamily="2" charset="-122"/>
                    <a:cs typeface="宋体" panose="02010600030101010101" pitchFamily="2" charset="-122"/>
                  </a:rPr>
                  <a:t>O</a:t>
                </a:r>
                <a:endParaRPr lang="zh-CN" sz="1600" kern="100" dirty="0">
                  <a:effectLst/>
                  <a:latin typeface="Times New Roman" panose="02020603050405020304" pitchFamily="18" charset="0"/>
                  <a:ea typeface="宋体" panose="02010600030101010101" pitchFamily="2" charset="-122"/>
                  <a:cs typeface="宋体" panose="02010600030101010101" pitchFamily="2" charset="-122"/>
                </a:endParaRPr>
              </a:p>
            </p:txBody>
          </p:sp>
        </p:grpSp>
      </p:grpSp>
      <p:graphicFrame>
        <p:nvGraphicFramePr>
          <p:cNvPr id="56" name="对象 55"/>
          <p:cNvGraphicFramePr>
            <a:graphicFrameLocks noChangeAspect="1"/>
          </p:cNvGraphicFramePr>
          <p:nvPr>
            <p:extLst>
              <p:ext uri="{D42A27DB-BD31-4B8C-83A1-F6EECF244321}">
                <p14:modId xmlns:p14="http://schemas.microsoft.com/office/powerpoint/2010/main" val="3514317356"/>
              </p:ext>
            </p:extLst>
          </p:nvPr>
        </p:nvGraphicFramePr>
        <p:xfrm>
          <a:off x="2771677" y="5170800"/>
          <a:ext cx="2064137" cy="456030"/>
        </p:xfrm>
        <a:graphic>
          <a:graphicData uri="http://schemas.openxmlformats.org/presentationml/2006/ole">
            <mc:AlternateContent xmlns:mc="http://schemas.openxmlformats.org/markup-compatibility/2006">
              <mc:Choice xmlns:v="urn:schemas-microsoft-com:vml" Requires="v">
                <p:oleObj spid="_x0000_s33827" name="Equation" r:id="rId13" imgW="1091726" imgH="241195" progId="Equation.DSMT4">
                  <p:embed/>
                </p:oleObj>
              </mc:Choice>
              <mc:Fallback>
                <p:oleObj name="Equation" r:id="rId13" imgW="1091726" imgH="241195" progId="Equation.DSMT4">
                  <p:embed/>
                  <p:pic>
                    <p:nvPicPr>
                      <p:cNvPr id="0"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71677" y="5170800"/>
                        <a:ext cx="2064137" cy="456030"/>
                      </a:xfrm>
                      <a:prstGeom prst="rect">
                        <a:avLst/>
                      </a:prstGeom>
                      <a:noFill/>
                    </p:spPr>
                  </p:pic>
                </p:oleObj>
              </mc:Fallback>
            </mc:AlternateContent>
          </a:graphicData>
        </a:graphic>
      </p:graphicFrame>
      <p:graphicFrame>
        <p:nvGraphicFramePr>
          <p:cNvPr id="57" name="对象 56"/>
          <p:cNvGraphicFramePr>
            <a:graphicFrameLocks noChangeAspect="1"/>
          </p:cNvGraphicFramePr>
          <p:nvPr>
            <p:extLst>
              <p:ext uri="{D42A27DB-BD31-4B8C-83A1-F6EECF244321}">
                <p14:modId xmlns:p14="http://schemas.microsoft.com/office/powerpoint/2010/main" val="1629738448"/>
              </p:ext>
            </p:extLst>
          </p:nvPr>
        </p:nvGraphicFramePr>
        <p:xfrm>
          <a:off x="2987824" y="5738232"/>
          <a:ext cx="1472637" cy="346503"/>
        </p:xfrm>
        <a:graphic>
          <a:graphicData uri="http://schemas.openxmlformats.org/presentationml/2006/ole">
            <mc:AlternateContent xmlns:mc="http://schemas.openxmlformats.org/markup-compatibility/2006">
              <mc:Choice xmlns:v="urn:schemas-microsoft-com:vml" Requires="v">
                <p:oleObj spid="_x0000_s33828" name="Equation" r:id="rId15" imgW="863225" imgH="203112" progId="Equation.DSMT4">
                  <p:embed/>
                </p:oleObj>
              </mc:Choice>
              <mc:Fallback>
                <p:oleObj name="Equation" r:id="rId15" imgW="863225" imgH="203112" progId="Equation.DSMT4">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87824" y="5738232"/>
                        <a:ext cx="1472637" cy="346503"/>
                      </a:xfrm>
                      <a:prstGeom prst="rect">
                        <a:avLst/>
                      </a:prstGeom>
                      <a:noFill/>
                    </p:spPr>
                  </p:pic>
                </p:oleObj>
              </mc:Fallback>
            </mc:AlternateContent>
          </a:graphicData>
        </a:graphic>
      </p:graphicFrame>
      <p:grpSp>
        <p:nvGrpSpPr>
          <p:cNvPr id="99" name="组合 98"/>
          <p:cNvGrpSpPr/>
          <p:nvPr/>
        </p:nvGrpSpPr>
        <p:grpSpPr>
          <a:xfrm>
            <a:off x="7558167" y="2392822"/>
            <a:ext cx="674613" cy="544830"/>
            <a:chOff x="0" y="0"/>
            <a:chExt cx="674652" cy="545251"/>
          </a:xfrm>
        </p:grpSpPr>
        <p:cxnSp>
          <p:nvCxnSpPr>
            <p:cNvPr id="100" name="Line 92"/>
            <p:cNvCxnSpPr>
              <a:cxnSpLocks noChangeShapeType="1"/>
            </p:cNvCxnSpPr>
            <p:nvPr/>
          </p:nvCxnSpPr>
          <p:spPr bwMode="auto">
            <a:xfrm rot="16200000">
              <a:off x="-66134" y="66134"/>
              <a:ext cx="545251" cy="412983"/>
            </a:xfrm>
            <a:prstGeom prst="line">
              <a:avLst/>
            </a:prstGeom>
            <a:noFill/>
            <a:ln w="19050">
              <a:solidFill>
                <a:srgbClr val="0033CC"/>
              </a:solidFill>
              <a:prstDash val="lg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1" name="文本框 610"/>
            <p:cNvSpPr txBox="1">
              <a:spLocks noChangeArrowheads="1"/>
            </p:cNvSpPr>
            <p:nvPr/>
          </p:nvSpPr>
          <p:spPr bwMode="auto">
            <a:xfrm>
              <a:off x="251166" y="22545"/>
              <a:ext cx="423486" cy="29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l">
                <a:spcAft>
                  <a:spcPts val="0"/>
                </a:spcAft>
              </a:pPr>
              <a:r>
                <a:rPr lang="en-US" sz="1600" b="1" i="1" kern="100" dirty="0">
                  <a:solidFill>
                    <a:srgbClr val="0033CC"/>
                  </a:solidFill>
                  <a:effectLst/>
                  <a:latin typeface="Times New Roman" panose="02020603050405020304" pitchFamily="18" charset="0"/>
                  <a:ea typeface="宋体" panose="02010600030101010101" pitchFamily="2" charset="-122"/>
                </a:rPr>
                <a:t>F</a:t>
              </a:r>
              <a:r>
                <a:rPr lang="en-US" sz="1600" i="1" kern="100" baseline="-25000" dirty="0">
                  <a:solidFill>
                    <a:srgbClr val="0033CC"/>
                  </a:solidFill>
                  <a:effectLst/>
                  <a:latin typeface="Times New Roman" panose="02020603050405020304" pitchFamily="18" charset="0"/>
                  <a:ea typeface="宋体" panose="02010600030101010101" pitchFamily="2" charset="-122"/>
                </a:rPr>
                <a:t>R</a:t>
              </a:r>
              <a:endParaRPr lang="zh-CN" sz="1600" kern="100" dirty="0">
                <a:effectLst/>
                <a:latin typeface="Times New Roman" panose="02020603050405020304" pitchFamily="18" charset="0"/>
                <a:ea typeface="宋体" panose="02010600030101010101" pitchFamily="2" charset="-122"/>
              </a:endParaRPr>
            </a:p>
          </p:txBody>
        </p:sp>
      </p:grpSp>
      <p:sp>
        <p:nvSpPr>
          <p:cNvPr id="103" name="Rectangle 81"/>
          <p:cNvSpPr>
            <a:spLocks noChangeArrowheads="1"/>
          </p:cNvSpPr>
          <p:nvPr/>
        </p:nvSpPr>
        <p:spPr bwMode="auto">
          <a:xfrm>
            <a:off x="2771678" y="4482005"/>
            <a:ext cx="1944216"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FF0000"/>
                </a:solidFill>
                <a:effectLst/>
                <a:latin typeface="楷体" panose="02010609060101010101" pitchFamily="49" charset="-122"/>
                <a:ea typeface="楷体" panose="02010609060101010101" pitchFamily="49" charset="-122"/>
                <a:cs typeface="Times New Roman" panose="02020603050405020304" pitchFamily="18" charset="0"/>
              </a:rPr>
              <a:t>合力作用线 </a:t>
            </a:r>
            <a:endParaRPr kumimoji="0" lang="zh-CN" altLang="zh-CN" b="1" i="0" u="none" strike="noStrike" cap="none" normalizeH="0" baseline="0" dirty="0">
              <a:ln>
                <a:noFill/>
              </a:ln>
              <a:solidFill>
                <a:srgbClr val="FF0000"/>
              </a:solidFill>
              <a:effectLst/>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76404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 calcmode="lin" valueType="num">
                                      <p:cBhvr>
                                        <p:cTn id="12" dur="500" fill="hold"/>
                                        <p:tgtEl>
                                          <p:spTgt spid="40"/>
                                        </p:tgtEl>
                                        <p:attrNameLst>
                                          <p:attrName>ppt_w</p:attrName>
                                        </p:attrNameLst>
                                      </p:cBhvr>
                                      <p:tavLst>
                                        <p:tav tm="0">
                                          <p:val>
                                            <p:fltVal val="0"/>
                                          </p:val>
                                        </p:tav>
                                        <p:tav tm="100000">
                                          <p:val>
                                            <p:strVal val="#ppt_w"/>
                                          </p:val>
                                        </p:tav>
                                      </p:tavLst>
                                    </p:anim>
                                    <p:anim calcmode="lin" valueType="num">
                                      <p:cBhvr>
                                        <p:cTn id="13" dur="500" fill="hold"/>
                                        <p:tgtEl>
                                          <p:spTgt spid="40"/>
                                        </p:tgtEl>
                                        <p:attrNameLst>
                                          <p:attrName>ppt_h</p:attrName>
                                        </p:attrNameLst>
                                      </p:cBhvr>
                                      <p:tavLst>
                                        <p:tav tm="0">
                                          <p:val>
                                            <p:fltVal val="0"/>
                                          </p:val>
                                        </p:tav>
                                        <p:tav tm="100000">
                                          <p:val>
                                            <p:strVal val="#ppt_h"/>
                                          </p:val>
                                        </p:tav>
                                      </p:tavLst>
                                    </p:anim>
                                    <p:animEffect transition="in" filter="fade">
                                      <p:cBhvr>
                                        <p:cTn id="14" dur="500"/>
                                        <p:tgtEl>
                                          <p:spTgt spid="4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wipe(left)">
                                      <p:cBhvr>
                                        <p:cTn id="19" dur="500"/>
                                        <p:tgtEl>
                                          <p:spTgt spid="3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left)">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fade">
                                      <p:cBhvr>
                                        <p:cTn id="29" dur="500"/>
                                        <p:tgtEl>
                                          <p:spTgt spid="4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wipe(left)">
                                      <p:cBhvr>
                                        <p:cTn id="34" dur="500"/>
                                        <p:tgtEl>
                                          <p:spTgt spid="4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1000"/>
                                        <p:tgtEl>
                                          <p:spTgt spid="47"/>
                                        </p:tgtEl>
                                      </p:cBhvr>
                                    </p:animEffect>
                                    <p:anim calcmode="lin" valueType="num">
                                      <p:cBhvr>
                                        <p:cTn id="45" dur="1000" fill="hold"/>
                                        <p:tgtEl>
                                          <p:spTgt spid="47"/>
                                        </p:tgtEl>
                                        <p:attrNameLst>
                                          <p:attrName>ppt_x</p:attrName>
                                        </p:attrNameLst>
                                      </p:cBhvr>
                                      <p:tavLst>
                                        <p:tav tm="0">
                                          <p:val>
                                            <p:strVal val="#ppt_x"/>
                                          </p:val>
                                        </p:tav>
                                        <p:tav tm="100000">
                                          <p:val>
                                            <p:strVal val="#ppt_x"/>
                                          </p:val>
                                        </p:tav>
                                      </p:tavLst>
                                    </p:anim>
                                    <p:anim calcmode="lin" valueType="num">
                                      <p:cBhvr>
                                        <p:cTn id="46"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99"/>
                                        </p:tgtEl>
                                        <p:attrNameLst>
                                          <p:attrName>style.visibility</p:attrName>
                                        </p:attrNameLst>
                                      </p:cBhvr>
                                      <p:to>
                                        <p:strVal val="visible"/>
                                      </p:to>
                                    </p:set>
                                    <p:animEffect transition="in" filter="fade">
                                      <p:cBhvr>
                                        <p:cTn id="51" dur="1000"/>
                                        <p:tgtEl>
                                          <p:spTgt spid="99"/>
                                        </p:tgtEl>
                                      </p:cBhvr>
                                    </p:animEffect>
                                    <p:anim calcmode="lin" valueType="num">
                                      <p:cBhvr>
                                        <p:cTn id="52" dur="1000" fill="hold"/>
                                        <p:tgtEl>
                                          <p:spTgt spid="99"/>
                                        </p:tgtEl>
                                        <p:attrNameLst>
                                          <p:attrName>ppt_x</p:attrName>
                                        </p:attrNameLst>
                                      </p:cBhvr>
                                      <p:tavLst>
                                        <p:tav tm="0">
                                          <p:val>
                                            <p:strVal val="#ppt_x"/>
                                          </p:val>
                                        </p:tav>
                                        <p:tav tm="100000">
                                          <p:val>
                                            <p:strVal val="#ppt_x"/>
                                          </p:val>
                                        </p:tav>
                                      </p:tavLst>
                                    </p:anim>
                                    <p:anim calcmode="lin" valueType="num">
                                      <p:cBhvr>
                                        <p:cTn id="53"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03"/>
                                        </p:tgtEl>
                                        <p:attrNameLst>
                                          <p:attrName>style.visibility</p:attrName>
                                        </p:attrNameLst>
                                      </p:cBhvr>
                                      <p:to>
                                        <p:strVal val="visible"/>
                                      </p:to>
                                    </p:set>
                                    <p:animEffect transition="in" filter="fade">
                                      <p:cBhvr>
                                        <p:cTn id="58" dur="500"/>
                                        <p:tgtEl>
                                          <p:spTgt spid="10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wipe(left)">
                                      <p:cBhvr>
                                        <p:cTn id="63" dur="500"/>
                                        <p:tgtEl>
                                          <p:spTgt spid="5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wipe(left)">
                                      <p:cBhvr>
                                        <p:cTn id="6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0" grpId="0"/>
      <p:bldP spid="45" grpId="0"/>
      <p:bldP spid="10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5576" y="692696"/>
            <a:ext cx="1008112" cy="461665"/>
          </a:xfrm>
          <a:prstGeom prst="rect">
            <a:avLst/>
          </a:prstGeom>
          <a:noFill/>
        </p:spPr>
        <p:txBody>
          <a:bodyPr wrap="square" rtlCol="0">
            <a:spAutoFit/>
          </a:bodyPr>
          <a:lstStyle/>
          <a:p>
            <a:r>
              <a:rPr lang="zh-CN" altLang="en-US" dirty="0" smtClean="0"/>
              <a:t>作业</a:t>
            </a:r>
            <a:endParaRPr lang="zh-CN" altLang="en-US" dirty="0"/>
          </a:p>
        </p:txBody>
      </p:sp>
      <p:grpSp>
        <p:nvGrpSpPr>
          <p:cNvPr id="9" name="组合 8"/>
          <p:cNvGrpSpPr/>
          <p:nvPr/>
        </p:nvGrpSpPr>
        <p:grpSpPr>
          <a:xfrm>
            <a:off x="790802" y="2228794"/>
            <a:ext cx="6912768" cy="1938992"/>
            <a:chOff x="683568" y="2219441"/>
            <a:chExt cx="6912768" cy="1938992"/>
          </a:xfrm>
        </p:grpSpPr>
        <p:graphicFrame>
          <p:nvGraphicFramePr>
            <p:cNvPr id="3" name="对象 2"/>
            <p:cNvGraphicFramePr>
              <a:graphicFrameLocks noChangeAspect="1"/>
            </p:cNvGraphicFramePr>
            <p:nvPr>
              <p:extLst>
                <p:ext uri="{D42A27DB-BD31-4B8C-83A1-F6EECF244321}">
                  <p14:modId xmlns:p14="http://schemas.microsoft.com/office/powerpoint/2010/main" val="3965047855"/>
                </p:ext>
              </p:extLst>
            </p:nvPr>
          </p:nvGraphicFramePr>
          <p:xfrm>
            <a:off x="1086405" y="2852936"/>
            <a:ext cx="1426573" cy="391157"/>
          </p:xfrm>
          <a:graphic>
            <a:graphicData uri="http://schemas.openxmlformats.org/presentationml/2006/ole">
              <mc:AlternateContent xmlns:mc="http://schemas.openxmlformats.org/markup-compatibility/2006">
                <mc:Choice xmlns:v="urn:schemas-microsoft-com:vml" Requires="v">
                  <p:oleObj spid="_x0000_s38924" name="Equation" r:id="rId3" imgW="926698" imgH="253890" progId="Equation.DSMT4">
                    <p:embed/>
                  </p:oleObj>
                </mc:Choice>
                <mc:Fallback>
                  <p:oleObj name="Equation" r:id="rId3" imgW="926698" imgH="25389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6405" y="2852936"/>
                          <a:ext cx="1426573" cy="391157"/>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954565790"/>
                </p:ext>
              </p:extLst>
            </p:nvPr>
          </p:nvGraphicFramePr>
          <p:xfrm>
            <a:off x="2771800" y="2852936"/>
            <a:ext cx="1102036" cy="394413"/>
          </p:xfrm>
          <a:graphic>
            <a:graphicData uri="http://schemas.openxmlformats.org/presentationml/2006/ole">
              <mc:AlternateContent xmlns:mc="http://schemas.openxmlformats.org/markup-compatibility/2006">
                <mc:Choice xmlns:v="urn:schemas-microsoft-com:vml" Requires="v">
                  <p:oleObj spid="_x0000_s38925" name="Equation" r:id="rId5" imgW="710891" imgH="253890" progId="Equation.DSMT4">
                    <p:embed/>
                  </p:oleObj>
                </mc:Choice>
                <mc:Fallback>
                  <p:oleObj name="Equation" r:id="rId5" imgW="710891" imgH="25389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800" y="2852936"/>
                          <a:ext cx="1102036" cy="394413"/>
                        </a:xfrm>
                        <a:prstGeom prst="rect">
                          <a:avLst/>
                        </a:prstGeom>
                        <a:noFill/>
                      </p:spPr>
                    </p:pic>
                  </p:oleObj>
                </mc:Fallback>
              </mc:AlternateContent>
            </a:graphicData>
          </a:graphic>
        </p:graphicFrame>
        <p:sp>
          <p:nvSpPr>
            <p:cNvPr id="5" name="Rectangle 3"/>
            <p:cNvSpPr>
              <a:spLocks noChangeArrowheads="1"/>
            </p:cNvSpPr>
            <p:nvPr/>
          </p:nvSpPr>
          <p:spPr bwMode="auto">
            <a:xfrm>
              <a:off x="683568" y="2219441"/>
              <a:ext cx="691276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en-US" altLang="zh-CN" sz="2000" b="0" i="0" u="none" strike="noStrike" cap="none" normalizeH="0" baseline="0" dirty="0" smtClean="0">
                  <a:ln>
                    <a:noFill/>
                  </a:ln>
                  <a:solidFill>
                    <a:schemeClr val="tx1"/>
                  </a:solidFill>
                  <a:effectLst/>
                  <a:cs typeface="Times New Roman" panose="02020603050405020304" pitchFamily="18" charset="0"/>
                </a:rPr>
                <a:t>3</a:t>
              </a:r>
              <a:r>
                <a:rPr kumimoji="0" lang="zh-CN" altLang="en-US" sz="2000" b="0" i="0" u="none" strike="noStrike" cap="none" normalizeH="0" baseline="0" dirty="0" smtClean="0">
                  <a:ln>
                    <a:noFill/>
                  </a:ln>
                  <a:solidFill>
                    <a:schemeClr val="tx1"/>
                  </a:solidFill>
                  <a:effectLst/>
                  <a:cs typeface="Times New Roman" panose="02020603050405020304" pitchFamily="18" charset="0"/>
                </a:rPr>
                <a:t>、</a:t>
              </a:r>
              <a:r>
                <a:rPr kumimoji="0" lang="zh-CN" altLang="zh-CN" sz="2000" b="0" i="0" u="none" strike="noStrike" cap="none" normalizeH="0" baseline="0" dirty="0" smtClean="0">
                  <a:ln>
                    <a:noFill/>
                  </a:ln>
                  <a:solidFill>
                    <a:schemeClr val="tx1"/>
                  </a:solidFill>
                  <a:effectLst/>
                  <a:cs typeface="Times New Roman" panose="02020603050405020304" pitchFamily="18" charset="0"/>
                </a:rPr>
                <a:t>四面体的三条棱</a:t>
              </a:r>
              <a:r>
                <a:rPr kumimoji="0" lang="en-US" altLang="zh-CN" sz="2000" b="0" i="1" u="none" strike="noStrike" cap="none" normalizeH="0" baseline="0" dirty="0" smtClean="0">
                  <a:ln>
                    <a:noFill/>
                  </a:ln>
                  <a:solidFill>
                    <a:schemeClr val="tx1"/>
                  </a:solidFill>
                  <a:effectLst/>
                  <a:cs typeface="Times New Roman" panose="02020603050405020304" pitchFamily="18" charset="0"/>
                </a:rPr>
                <a:t>OA</a:t>
              </a:r>
              <a:r>
                <a:rPr kumimoji="0" lang="zh-CN" altLang="en-US" sz="2000" b="0" i="0" u="none" strike="noStrike" cap="none" normalizeH="0" baseline="0" dirty="0" smtClean="0">
                  <a:ln>
                    <a:noFill/>
                  </a:ln>
                  <a:solidFill>
                    <a:schemeClr val="tx1"/>
                  </a:solidFill>
                  <a:effectLst/>
                  <a:cs typeface="Times New Roman" panose="02020603050405020304" pitchFamily="18" charset="0"/>
                </a:rPr>
                <a:t>、</a:t>
              </a:r>
              <a:r>
                <a:rPr kumimoji="0" lang="en-US" altLang="zh-CN" sz="2000" b="0" i="1" u="none" strike="noStrike" cap="none" normalizeH="0" baseline="0" dirty="0" smtClean="0">
                  <a:ln>
                    <a:noFill/>
                  </a:ln>
                  <a:solidFill>
                    <a:schemeClr val="tx1"/>
                  </a:solidFill>
                  <a:effectLst/>
                  <a:cs typeface="Times New Roman" panose="02020603050405020304" pitchFamily="18" charset="0"/>
                </a:rPr>
                <a:t>OB</a:t>
              </a:r>
              <a:r>
                <a:rPr kumimoji="0" lang="zh-CN" altLang="en-US" sz="2000" b="0" i="0" u="none" strike="noStrike" cap="none" normalizeH="0" baseline="0" dirty="0" smtClean="0">
                  <a:ln>
                    <a:noFill/>
                  </a:ln>
                  <a:solidFill>
                    <a:schemeClr val="tx1"/>
                  </a:solidFill>
                  <a:effectLst/>
                  <a:cs typeface="Times New Roman" panose="02020603050405020304" pitchFamily="18" charset="0"/>
                </a:rPr>
                <a:t>、</a:t>
              </a:r>
              <a:r>
                <a:rPr kumimoji="0" lang="en-US" altLang="zh-CN" sz="2000" b="0" i="1" u="none" strike="noStrike" cap="none" normalizeH="0" baseline="0" dirty="0" smtClean="0">
                  <a:ln>
                    <a:noFill/>
                  </a:ln>
                  <a:solidFill>
                    <a:schemeClr val="tx1"/>
                  </a:solidFill>
                  <a:effectLst/>
                  <a:cs typeface="Times New Roman" panose="02020603050405020304" pitchFamily="18" charset="0"/>
                </a:rPr>
                <a:t>OC</a:t>
              </a:r>
              <a:r>
                <a:rPr kumimoji="0" lang="zh-CN" altLang="en-US" sz="2000" b="0" i="0" u="none" strike="noStrike" cap="none" normalizeH="0" baseline="0" dirty="0" smtClean="0">
                  <a:ln>
                    <a:noFill/>
                  </a:ln>
                  <a:solidFill>
                    <a:schemeClr val="tx1"/>
                  </a:solidFill>
                  <a:effectLst/>
                  <a:cs typeface="Times New Roman" panose="02020603050405020304" pitchFamily="18" charset="0"/>
                </a:rPr>
                <a:t>相互垂直，且</a:t>
              </a:r>
              <a:r>
                <a:rPr kumimoji="0" lang="en-US" altLang="zh-CN" sz="2000" b="0" i="1" u="none" strike="noStrike" cap="none" normalizeH="0" baseline="0" dirty="0" smtClean="0">
                  <a:ln>
                    <a:noFill/>
                  </a:ln>
                  <a:solidFill>
                    <a:schemeClr val="tx1"/>
                  </a:solidFill>
                  <a:effectLst/>
                  <a:cs typeface="Times New Roman" panose="02020603050405020304" pitchFamily="18" charset="0"/>
                </a:rPr>
                <a:t>OA</a:t>
              </a:r>
              <a:r>
                <a:rPr kumimoji="0" lang="en-US" altLang="zh-CN" sz="2000" b="0" i="0" u="none" strike="noStrike" cap="none" normalizeH="0" baseline="0" dirty="0" smtClean="0">
                  <a:ln>
                    <a:noFill/>
                  </a:ln>
                  <a:solidFill>
                    <a:schemeClr val="tx1"/>
                  </a:solidFill>
                  <a:effectLst/>
                  <a:cs typeface="Times New Roman" panose="02020603050405020304" pitchFamily="18" charset="0"/>
                </a:rPr>
                <a:t>=</a:t>
              </a:r>
              <a:r>
                <a:rPr kumimoji="0" lang="en-US" altLang="zh-CN" sz="2000" b="0" i="1" u="none" strike="noStrike" cap="none" normalizeH="0" baseline="0" dirty="0" smtClean="0">
                  <a:ln>
                    <a:noFill/>
                  </a:ln>
                  <a:solidFill>
                    <a:schemeClr val="tx1"/>
                  </a:solidFill>
                  <a:effectLst/>
                  <a:cs typeface="Times New Roman" panose="02020603050405020304" pitchFamily="18" charset="0"/>
                </a:rPr>
                <a:t>OB</a:t>
              </a:r>
              <a:r>
                <a:rPr kumimoji="0" lang="en-US" altLang="zh-CN" sz="2000" b="0" i="0" u="none" strike="noStrike" cap="none" normalizeH="0" baseline="0" dirty="0" smtClean="0">
                  <a:ln>
                    <a:noFill/>
                  </a:ln>
                  <a:solidFill>
                    <a:schemeClr val="tx1"/>
                  </a:solidFill>
                  <a:effectLst/>
                  <a:cs typeface="Times New Roman" panose="02020603050405020304" pitchFamily="18" charset="0"/>
                </a:rPr>
                <a:t>=</a:t>
              </a:r>
              <a:r>
                <a:rPr kumimoji="0" lang="en-US" altLang="zh-CN" sz="2000" b="0" i="1" u="none" strike="noStrike" cap="none" normalizeH="0" baseline="0" dirty="0" smtClean="0">
                  <a:ln>
                    <a:noFill/>
                  </a:ln>
                  <a:solidFill>
                    <a:schemeClr val="tx1"/>
                  </a:solidFill>
                  <a:effectLst/>
                  <a:cs typeface="Times New Roman" panose="02020603050405020304" pitchFamily="18" charset="0"/>
                </a:rPr>
                <a:t>OC</a:t>
              </a:r>
              <a:r>
                <a:rPr kumimoji="0" lang="en-US" altLang="zh-CN" sz="2000" b="0" i="0" u="none" strike="noStrike" cap="none" normalizeH="0" baseline="0" dirty="0" smtClean="0">
                  <a:ln>
                    <a:noFill/>
                  </a:ln>
                  <a:solidFill>
                    <a:schemeClr val="tx1"/>
                  </a:solidFill>
                  <a:effectLst/>
                  <a:cs typeface="Times New Roman" panose="02020603050405020304" pitchFamily="18" charset="0"/>
                </a:rPr>
                <a:t>= </a:t>
              </a:r>
              <a:r>
                <a:rPr kumimoji="0" lang="en-US" altLang="zh-CN" sz="2000" b="0" i="1" u="none" strike="noStrike" cap="none" normalizeH="0" baseline="0" dirty="0" smtClean="0">
                  <a:ln>
                    <a:noFill/>
                  </a:ln>
                  <a:solidFill>
                    <a:schemeClr val="tx1"/>
                  </a:solidFill>
                  <a:effectLst/>
                  <a:cs typeface="Times New Roman" panose="02020603050405020304" pitchFamily="18" charset="0"/>
                </a:rPr>
                <a:t>a</a:t>
              </a:r>
              <a:r>
                <a:rPr kumimoji="0" lang="zh-CN" altLang="en-US" sz="2000" b="0" i="0" u="none" strike="noStrike" cap="none" normalizeH="0" baseline="0" dirty="0" smtClean="0">
                  <a:ln>
                    <a:noFill/>
                  </a:ln>
                  <a:solidFill>
                    <a:schemeClr val="tx1"/>
                  </a:solidFill>
                  <a:effectLst/>
                  <a:cs typeface="Times New Roman" panose="02020603050405020304" pitchFamily="18" charset="0"/>
                </a:rPr>
                <a:t>，在三角形</a:t>
              </a:r>
              <a:r>
                <a:rPr kumimoji="0" lang="en-US" altLang="zh-CN" sz="2000" b="0" i="1" u="none" strike="noStrike" cap="none" normalizeH="0" baseline="0" dirty="0" smtClean="0">
                  <a:ln>
                    <a:noFill/>
                  </a:ln>
                  <a:solidFill>
                    <a:schemeClr val="tx1"/>
                  </a:solidFill>
                  <a:effectLst/>
                  <a:cs typeface="Times New Roman" panose="02020603050405020304" pitchFamily="18" charset="0"/>
                </a:rPr>
                <a:t>ABC</a:t>
              </a:r>
              <a:r>
                <a:rPr kumimoji="0" lang="zh-CN" altLang="en-US" sz="2000" b="0" i="0" u="none" strike="noStrike" cap="none" normalizeH="0" baseline="0" dirty="0" smtClean="0">
                  <a:ln>
                    <a:noFill/>
                  </a:ln>
                  <a:solidFill>
                    <a:schemeClr val="tx1"/>
                  </a:solidFill>
                  <a:effectLst/>
                  <a:cs typeface="Times New Roman" panose="02020603050405020304" pitchFamily="18" charset="0"/>
                </a:rPr>
                <a:t>平面内的三条边上分别作用力</a:t>
              </a:r>
              <a:r>
                <a:rPr kumimoji="0" lang="en-US" altLang="zh-CN" sz="2000" b="1" i="1" u="none" strike="noStrike" cap="none" normalizeH="0" baseline="0" dirty="0" smtClean="0">
                  <a:ln>
                    <a:noFill/>
                  </a:ln>
                  <a:solidFill>
                    <a:schemeClr val="tx1"/>
                  </a:solidFill>
                  <a:effectLst/>
                  <a:cs typeface="Times New Roman" panose="02020603050405020304" pitchFamily="18" charset="0"/>
                </a:rPr>
                <a:t>F</a:t>
              </a:r>
              <a:r>
                <a:rPr kumimoji="0" lang="en-US" altLang="zh-CN" sz="2000" b="0" i="0" u="none" strike="noStrike" cap="none" normalizeH="0" baseline="-30000" dirty="0" smtClean="0">
                  <a:ln>
                    <a:noFill/>
                  </a:ln>
                  <a:solidFill>
                    <a:schemeClr val="tx1"/>
                  </a:solidFill>
                  <a:effectLst/>
                  <a:cs typeface="Times New Roman" panose="02020603050405020304" pitchFamily="18" charset="0"/>
                </a:rPr>
                <a:t>1</a:t>
              </a:r>
              <a:r>
                <a:rPr kumimoji="0" lang="zh-CN" altLang="en-US" sz="2000" b="0" i="0" u="none" strike="noStrike" cap="none" normalizeH="0" baseline="0" dirty="0" smtClean="0">
                  <a:ln>
                    <a:noFill/>
                  </a:ln>
                  <a:solidFill>
                    <a:schemeClr val="tx1"/>
                  </a:solidFill>
                  <a:effectLst/>
                  <a:cs typeface="Times New Roman" panose="02020603050405020304" pitchFamily="18" charset="0"/>
                </a:rPr>
                <a:t>、</a:t>
              </a:r>
              <a:r>
                <a:rPr kumimoji="0" lang="en-US" altLang="zh-CN" sz="2000" b="1" i="1" u="none" strike="noStrike" cap="none" normalizeH="0" baseline="0" dirty="0" smtClean="0">
                  <a:ln>
                    <a:noFill/>
                  </a:ln>
                  <a:solidFill>
                    <a:schemeClr val="tx1"/>
                  </a:solidFill>
                  <a:effectLst/>
                  <a:cs typeface="Times New Roman" panose="02020603050405020304" pitchFamily="18" charset="0"/>
                </a:rPr>
                <a:t>F</a:t>
              </a:r>
              <a:r>
                <a:rPr kumimoji="0" lang="en-US" altLang="zh-CN" sz="2000" b="0" i="0" u="none" strike="noStrike" cap="none" normalizeH="0" baseline="-30000" dirty="0" smtClean="0">
                  <a:ln>
                    <a:noFill/>
                  </a:ln>
                  <a:solidFill>
                    <a:schemeClr val="tx1"/>
                  </a:solidFill>
                  <a:effectLst/>
                  <a:cs typeface="Times New Roman" panose="02020603050405020304" pitchFamily="18" charset="0"/>
                </a:rPr>
                <a:t>2</a:t>
              </a:r>
              <a:r>
                <a:rPr kumimoji="0" lang="zh-CN" altLang="en-US" sz="2000" b="0" i="0" u="none" strike="noStrike" cap="none" normalizeH="0" baseline="0" dirty="0" smtClean="0">
                  <a:ln>
                    <a:noFill/>
                  </a:ln>
                  <a:solidFill>
                    <a:schemeClr val="tx1"/>
                  </a:solidFill>
                  <a:effectLst/>
                  <a:cs typeface="Times New Roman" panose="02020603050405020304" pitchFamily="18" charset="0"/>
                </a:rPr>
                <a:t>和</a:t>
              </a:r>
              <a:r>
                <a:rPr kumimoji="0" lang="en-US" altLang="zh-CN" sz="2000" b="1" i="1" u="none" strike="noStrike" cap="none" normalizeH="0" baseline="0" dirty="0" smtClean="0">
                  <a:ln>
                    <a:noFill/>
                  </a:ln>
                  <a:solidFill>
                    <a:schemeClr val="tx1"/>
                  </a:solidFill>
                  <a:effectLst/>
                  <a:cs typeface="Times New Roman" panose="02020603050405020304" pitchFamily="18" charset="0"/>
                </a:rPr>
                <a:t>F</a:t>
              </a:r>
              <a:r>
                <a:rPr kumimoji="0" lang="en-US" altLang="zh-CN" sz="2000" b="0" i="0" u="none" strike="noStrike" cap="none" normalizeH="0" baseline="-30000" dirty="0" smtClean="0">
                  <a:ln>
                    <a:noFill/>
                  </a:ln>
                  <a:solidFill>
                    <a:schemeClr val="tx1"/>
                  </a:solidFill>
                  <a:effectLst/>
                  <a:cs typeface="Times New Roman" panose="02020603050405020304" pitchFamily="18" charset="0"/>
                </a:rPr>
                <a:t>3</a:t>
              </a:r>
              <a:r>
                <a:rPr kumimoji="0" lang="zh-CN" altLang="en-US" sz="2000" b="0" i="0" u="none" strike="noStrike" cap="none" normalizeH="0" baseline="0" dirty="0" smtClean="0">
                  <a:ln>
                    <a:noFill/>
                  </a:ln>
                  <a:solidFill>
                    <a:schemeClr val="tx1"/>
                  </a:solidFill>
                  <a:effectLst/>
                  <a:cs typeface="Times New Roman" panose="02020603050405020304" pitchFamily="18" charset="0"/>
                </a:rPr>
                <a:t>，且                        、                 </a:t>
              </a:r>
              <a:r>
                <a:rPr kumimoji="0" lang="zh-CN" altLang="zh-CN" sz="2000" dirty="0" smtClean="0">
                  <a:latin typeface="Calibri" panose="020F0502020204030204" pitchFamily="34" charset="0"/>
                  <a:cs typeface="Times New Roman" panose="02020603050405020304" pitchFamily="18" charset="0"/>
                </a:rPr>
                <a:t>，</a:t>
              </a:r>
              <a:r>
                <a:rPr kumimoji="0" lang="zh-CN" altLang="zh-CN" sz="2000" dirty="0">
                  <a:cs typeface="Times New Roman" panose="02020603050405020304" pitchFamily="18" charset="0"/>
                </a:rPr>
                <a:t>在</a:t>
              </a:r>
              <a:r>
                <a:rPr kumimoji="0" lang="en-US" altLang="zh-CN" sz="2000" i="1" dirty="0">
                  <a:cs typeface="Times New Roman" panose="02020603050405020304" pitchFamily="18" charset="0"/>
                </a:rPr>
                <a:t>OAC</a:t>
              </a:r>
              <a:r>
                <a:rPr kumimoji="0" lang="zh-CN" altLang="en-US" sz="2000" dirty="0">
                  <a:cs typeface="Times New Roman" panose="02020603050405020304" pitchFamily="18" charset="0"/>
                </a:rPr>
                <a:t>和</a:t>
              </a:r>
              <a:r>
                <a:rPr kumimoji="0" lang="en-US" altLang="zh-CN" sz="2000" i="1" dirty="0">
                  <a:cs typeface="Times New Roman" panose="02020603050405020304" pitchFamily="18" charset="0"/>
                </a:rPr>
                <a:t>OBC</a:t>
              </a:r>
              <a:r>
                <a:rPr kumimoji="0" lang="zh-CN" altLang="en-US" sz="2000" dirty="0">
                  <a:cs typeface="Times New Roman" panose="02020603050405020304" pitchFamily="18" charset="0"/>
                </a:rPr>
                <a:t>平面内分别作用力偶</a:t>
              </a:r>
              <a:r>
                <a:rPr kumimoji="0" lang="en-US" altLang="zh-CN" sz="2000" i="1" dirty="0">
                  <a:cs typeface="Times New Roman" panose="02020603050405020304" pitchFamily="18" charset="0"/>
                </a:rPr>
                <a:t>M</a:t>
              </a:r>
              <a:r>
                <a:rPr kumimoji="0" lang="en-US" altLang="zh-CN" sz="2000" baseline="-30000" dirty="0">
                  <a:cs typeface="Times New Roman" panose="02020603050405020304" pitchFamily="18" charset="0"/>
                </a:rPr>
                <a:t>1</a:t>
              </a:r>
              <a:r>
                <a:rPr kumimoji="0" lang="zh-CN" altLang="en-US" sz="2000" dirty="0">
                  <a:cs typeface="Times New Roman" panose="02020603050405020304" pitchFamily="18" charset="0"/>
                </a:rPr>
                <a:t>和</a:t>
              </a:r>
              <a:r>
                <a:rPr kumimoji="0" lang="en-US" altLang="zh-CN" sz="2000" i="1" dirty="0">
                  <a:cs typeface="Times New Roman" panose="02020603050405020304" pitchFamily="18" charset="0"/>
                </a:rPr>
                <a:t>M</a:t>
              </a:r>
              <a:r>
                <a:rPr kumimoji="0" lang="en-US" altLang="zh-CN" sz="2000" baseline="-30000" dirty="0">
                  <a:cs typeface="Times New Roman" panose="02020603050405020304" pitchFamily="18" charset="0"/>
                </a:rPr>
                <a:t>2</a:t>
              </a:r>
              <a:r>
                <a:rPr kumimoji="0" lang="zh-CN" altLang="en-US" sz="2000" dirty="0">
                  <a:cs typeface="Times New Roman" panose="02020603050405020304" pitchFamily="18" charset="0"/>
                </a:rPr>
                <a:t>，且</a:t>
              </a:r>
              <a:r>
                <a:rPr kumimoji="0" lang="en-US" altLang="zh-CN" sz="2000" i="1" dirty="0">
                  <a:cs typeface="Times New Roman" panose="02020603050405020304" pitchFamily="18" charset="0"/>
                </a:rPr>
                <a:t>M</a:t>
              </a:r>
              <a:r>
                <a:rPr kumimoji="0" lang="en-US" altLang="zh-CN" sz="2000" baseline="-30000" dirty="0">
                  <a:cs typeface="Times New Roman" panose="02020603050405020304" pitchFamily="18" charset="0"/>
                </a:rPr>
                <a:t>1</a:t>
              </a:r>
              <a:r>
                <a:rPr kumimoji="0" lang="en-US" altLang="zh-CN" sz="2000" dirty="0">
                  <a:cs typeface="Times New Roman" panose="02020603050405020304" pitchFamily="18" charset="0"/>
                </a:rPr>
                <a:t>=</a:t>
              </a:r>
              <a:r>
                <a:rPr kumimoji="0" lang="en-US" altLang="zh-CN" sz="2000" i="1" dirty="0">
                  <a:cs typeface="Times New Roman" panose="02020603050405020304" pitchFamily="18" charset="0"/>
                </a:rPr>
                <a:t> M</a:t>
              </a:r>
              <a:r>
                <a:rPr kumimoji="0" lang="en-US" altLang="zh-CN" sz="2000" baseline="-30000" dirty="0">
                  <a:cs typeface="Times New Roman" panose="02020603050405020304" pitchFamily="18" charset="0"/>
                </a:rPr>
                <a:t>2</a:t>
              </a:r>
              <a:r>
                <a:rPr kumimoji="0" lang="en-US" altLang="zh-CN" sz="2000" dirty="0">
                  <a:cs typeface="Times New Roman" panose="02020603050405020304" pitchFamily="18" charset="0"/>
                </a:rPr>
                <a:t>=</a:t>
              </a:r>
              <a:r>
                <a:rPr kumimoji="0" lang="en-US" altLang="zh-CN" sz="2000" i="1" dirty="0" err="1">
                  <a:cs typeface="Times New Roman" panose="02020603050405020304" pitchFamily="18" charset="0"/>
                </a:rPr>
                <a:t>Fa</a:t>
              </a:r>
              <a:r>
                <a:rPr kumimoji="0" lang="zh-CN" altLang="en-US" sz="2000" dirty="0">
                  <a:cs typeface="Times New Roman" panose="02020603050405020304" pitchFamily="18" charset="0"/>
                </a:rPr>
                <a:t>。试将该力系向</a:t>
              </a:r>
              <a:r>
                <a:rPr kumimoji="0" lang="en-US" altLang="zh-CN" sz="2000" i="1" dirty="0">
                  <a:cs typeface="Times New Roman" panose="02020603050405020304" pitchFamily="18" charset="0"/>
                </a:rPr>
                <a:t>O</a:t>
              </a:r>
              <a:r>
                <a:rPr kumimoji="0" lang="zh-CN" altLang="en-US" sz="2000" dirty="0">
                  <a:cs typeface="Times New Roman" panose="02020603050405020304" pitchFamily="18" charset="0"/>
                </a:rPr>
                <a:t>点简化，并给出最终合成结果。</a:t>
              </a:r>
              <a:endParaRPr kumimoji="0" lang="zh-CN"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2000" b="0" i="0" u="none" strike="noStrike" cap="none" normalizeH="0" baseline="0" dirty="0" smtClean="0">
                <a:ln>
                  <a:noFill/>
                </a:ln>
                <a:solidFill>
                  <a:schemeClr val="tx1"/>
                </a:solidFill>
                <a:effectLst/>
                <a:latin typeface="Arial" panose="020B0604020202020204" pitchFamily="34" charset="0"/>
              </a:endParaRPr>
            </a:p>
          </p:txBody>
        </p:sp>
      </p:grpSp>
      <p:sp>
        <p:nvSpPr>
          <p:cNvPr id="8" name="文本框 7"/>
          <p:cNvSpPr txBox="1"/>
          <p:nvPr/>
        </p:nvSpPr>
        <p:spPr>
          <a:xfrm>
            <a:off x="755576" y="1460745"/>
            <a:ext cx="2088232" cy="461665"/>
          </a:xfrm>
          <a:prstGeom prst="rect">
            <a:avLst/>
          </a:prstGeom>
          <a:noFill/>
        </p:spPr>
        <p:txBody>
          <a:bodyPr wrap="square" rtlCol="0">
            <a:spAutoFit/>
          </a:bodyPr>
          <a:lstStyle/>
          <a:p>
            <a:r>
              <a:rPr lang="zh-CN" altLang="en-US" dirty="0" smtClean="0"/>
              <a:t>书</a:t>
            </a:r>
            <a:r>
              <a:rPr lang="en-US" altLang="zh-CN" dirty="0" smtClean="0"/>
              <a:t>2-7</a:t>
            </a:r>
            <a:r>
              <a:rPr lang="zh-CN" altLang="en-US" dirty="0" smtClean="0"/>
              <a:t>、</a:t>
            </a:r>
            <a:r>
              <a:rPr lang="en-US" altLang="zh-CN" dirty="0" smtClean="0"/>
              <a:t>2-2</a:t>
            </a:r>
            <a:endParaRPr lang="zh-CN" altLang="en-US" dirty="0"/>
          </a:p>
        </p:txBody>
      </p:sp>
      <p:grpSp>
        <p:nvGrpSpPr>
          <p:cNvPr id="10" name="组合 9"/>
          <p:cNvGrpSpPr/>
          <p:nvPr/>
        </p:nvGrpSpPr>
        <p:grpSpPr>
          <a:xfrm>
            <a:off x="5580112" y="3789040"/>
            <a:ext cx="2567127" cy="2589937"/>
            <a:chOff x="0" y="0"/>
            <a:chExt cx="1643723" cy="1731985"/>
          </a:xfrm>
        </p:grpSpPr>
        <p:grpSp>
          <p:nvGrpSpPr>
            <p:cNvPr id="11" name="组合 10"/>
            <p:cNvGrpSpPr/>
            <p:nvPr/>
          </p:nvGrpSpPr>
          <p:grpSpPr>
            <a:xfrm>
              <a:off x="628429" y="123568"/>
              <a:ext cx="1015294" cy="960296"/>
              <a:chOff x="0" y="0"/>
              <a:chExt cx="1015294" cy="960296"/>
            </a:xfrm>
          </p:grpSpPr>
          <p:cxnSp>
            <p:nvCxnSpPr>
              <p:cNvPr id="35" name="Line 79"/>
              <p:cNvCxnSpPr>
                <a:cxnSpLocks noChangeShapeType="1"/>
              </p:cNvCxnSpPr>
              <p:nvPr/>
            </p:nvCxnSpPr>
            <p:spPr bwMode="auto">
              <a:xfrm>
                <a:off x="3530" y="278910"/>
                <a:ext cx="0" cy="68097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6" name="Line 80"/>
              <p:cNvCxnSpPr>
                <a:cxnSpLocks noChangeShapeType="1"/>
              </p:cNvCxnSpPr>
              <p:nvPr/>
            </p:nvCxnSpPr>
            <p:spPr bwMode="auto">
              <a:xfrm>
                <a:off x="7061" y="960296"/>
                <a:ext cx="72956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7" name="Line 83"/>
              <p:cNvCxnSpPr>
                <a:cxnSpLocks noChangeShapeType="1"/>
              </p:cNvCxnSpPr>
              <p:nvPr/>
            </p:nvCxnSpPr>
            <p:spPr bwMode="auto">
              <a:xfrm>
                <a:off x="730814" y="960296"/>
                <a:ext cx="284480" cy="0"/>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cxnSp>
            <p:nvCxnSpPr>
              <p:cNvPr id="38" name="Line 84"/>
              <p:cNvCxnSpPr>
                <a:cxnSpLocks noChangeShapeType="1"/>
              </p:cNvCxnSpPr>
              <p:nvPr/>
            </p:nvCxnSpPr>
            <p:spPr bwMode="auto">
              <a:xfrm flipV="1">
                <a:off x="0" y="0"/>
                <a:ext cx="0" cy="259080"/>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grpSp>
        <p:grpSp>
          <p:nvGrpSpPr>
            <p:cNvPr id="12" name="组合 11"/>
            <p:cNvGrpSpPr/>
            <p:nvPr/>
          </p:nvGrpSpPr>
          <p:grpSpPr>
            <a:xfrm>
              <a:off x="0" y="0"/>
              <a:ext cx="1604165" cy="1731985"/>
              <a:chOff x="0" y="0"/>
              <a:chExt cx="1604165" cy="1731985"/>
            </a:xfrm>
          </p:grpSpPr>
          <p:sp>
            <p:nvSpPr>
              <p:cNvPr id="13" name="Text Box 69"/>
              <p:cNvSpPr txBox="1">
                <a:spLocks noChangeArrowheads="1"/>
              </p:cNvSpPr>
              <p:nvPr/>
            </p:nvSpPr>
            <p:spPr bwMode="auto">
              <a:xfrm>
                <a:off x="215348" y="484300"/>
                <a:ext cx="34417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800" b="1" i="1" kern="100" dirty="0" smtClean="0">
                    <a:effectLst/>
                    <a:latin typeface="Times New Roman" panose="02020603050405020304" pitchFamily="18" charset="0"/>
                    <a:ea typeface="宋体" panose="02010600030101010101" pitchFamily="2" charset="-122"/>
                    <a:cs typeface="宋体" panose="02010600030101010101" pitchFamily="2" charset="-122"/>
                  </a:rPr>
                  <a:t>F</a:t>
                </a:r>
                <a:r>
                  <a:rPr lang="en-US" sz="1800" kern="100" baseline="-25000" dirty="0" smtClean="0">
                    <a:effectLst/>
                    <a:latin typeface="Times New Roman" panose="02020603050405020304" pitchFamily="18" charset="0"/>
                    <a:ea typeface="宋体" panose="02010600030101010101" pitchFamily="2" charset="-122"/>
                    <a:cs typeface="宋体" panose="02010600030101010101" pitchFamily="2" charset="-122"/>
                  </a:rPr>
                  <a:t>1</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14" name="Text Box 70"/>
              <p:cNvSpPr txBox="1">
                <a:spLocks noChangeArrowheads="1"/>
              </p:cNvSpPr>
              <p:nvPr/>
            </p:nvSpPr>
            <p:spPr bwMode="auto">
              <a:xfrm>
                <a:off x="1034437" y="593125"/>
                <a:ext cx="34417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800" b="1" i="1" kern="100" dirty="0" smtClean="0">
                    <a:effectLst/>
                    <a:latin typeface="Times New Roman" panose="02020603050405020304" pitchFamily="18" charset="0"/>
                    <a:ea typeface="宋体" panose="02010600030101010101" pitchFamily="2" charset="-122"/>
                    <a:cs typeface="宋体" panose="02010600030101010101" pitchFamily="2" charset="-122"/>
                  </a:rPr>
                  <a:t>F</a:t>
                </a:r>
                <a:r>
                  <a:rPr lang="en-US" sz="1800" kern="100" baseline="-25000" dirty="0" smtClean="0">
                    <a:effectLst/>
                    <a:latin typeface="Times New Roman" panose="02020603050405020304" pitchFamily="18" charset="0"/>
                    <a:ea typeface="宋体" panose="02010600030101010101" pitchFamily="2" charset="-122"/>
                    <a:cs typeface="宋体" panose="02010600030101010101" pitchFamily="2" charset="-122"/>
                  </a:rPr>
                  <a:t>2</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15" name="Line 75"/>
              <p:cNvCxnSpPr>
                <a:cxnSpLocks noChangeShapeType="1"/>
              </p:cNvCxnSpPr>
              <p:nvPr/>
            </p:nvCxnSpPr>
            <p:spPr bwMode="auto">
              <a:xfrm flipV="1">
                <a:off x="158872" y="1080334"/>
                <a:ext cx="1171575" cy="37528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6" name="Line 76"/>
              <p:cNvCxnSpPr>
                <a:cxnSpLocks noChangeShapeType="1"/>
              </p:cNvCxnSpPr>
              <p:nvPr/>
            </p:nvCxnSpPr>
            <p:spPr bwMode="auto">
              <a:xfrm flipV="1">
                <a:off x="194177" y="1080334"/>
                <a:ext cx="441993" cy="35384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7" name="Line 77"/>
              <p:cNvCxnSpPr>
                <a:cxnSpLocks noChangeShapeType="1"/>
              </p:cNvCxnSpPr>
              <p:nvPr/>
            </p:nvCxnSpPr>
            <p:spPr bwMode="auto">
              <a:xfrm flipV="1">
                <a:off x="169464" y="377764"/>
                <a:ext cx="462280" cy="106934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8" name="Line 81"/>
              <p:cNvCxnSpPr>
                <a:cxnSpLocks noChangeShapeType="1"/>
              </p:cNvCxnSpPr>
              <p:nvPr/>
            </p:nvCxnSpPr>
            <p:spPr bwMode="auto">
              <a:xfrm>
                <a:off x="635490" y="391886"/>
                <a:ext cx="673735" cy="6953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9" name="Line 85"/>
              <p:cNvCxnSpPr>
                <a:cxnSpLocks noChangeAspect="1" noChangeShapeType="1"/>
              </p:cNvCxnSpPr>
              <p:nvPr/>
            </p:nvCxnSpPr>
            <p:spPr bwMode="auto">
              <a:xfrm flipH="1">
                <a:off x="0" y="1436915"/>
                <a:ext cx="187325" cy="165735"/>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cxnSp>
          <p:sp>
            <p:nvSpPr>
              <p:cNvPr id="20" name="Text Box 86"/>
              <p:cNvSpPr txBox="1">
                <a:spLocks noChangeArrowheads="1"/>
              </p:cNvSpPr>
              <p:nvPr/>
            </p:nvSpPr>
            <p:spPr bwMode="auto">
              <a:xfrm>
                <a:off x="9761" y="1472905"/>
                <a:ext cx="319405" cy="259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800" i="1" kern="100" dirty="0" smtClean="0">
                    <a:effectLst/>
                    <a:latin typeface="Times New Roman" panose="02020603050405020304" pitchFamily="18" charset="0"/>
                    <a:ea typeface="宋体" panose="02010600030101010101" pitchFamily="2" charset="-122"/>
                    <a:cs typeface="宋体" panose="02010600030101010101" pitchFamily="2" charset="-122"/>
                  </a:rPr>
                  <a:t>x</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1" name="Text Box 87"/>
              <p:cNvSpPr txBox="1">
                <a:spLocks noChangeArrowheads="1"/>
              </p:cNvSpPr>
              <p:nvPr/>
            </p:nvSpPr>
            <p:spPr bwMode="auto">
              <a:xfrm>
                <a:off x="1429853" y="1016785"/>
                <a:ext cx="174312" cy="27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800" i="1" kern="100" dirty="0" smtClean="0">
                    <a:effectLst/>
                    <a:latin typeface="Times New Roman" panose="02020603050405020304" pitchFamily="18" charset="0"/>
                    <a:ea typeface="宋体" panose="02010600030101010101" pitchFamily="2" charset="-122"/>
                    <a:cs typeface="宋体" panose="02010600030101010101" pitchFamily="2" charset="-122"/>
                  </a:rPr>
                  <a:t>y</a:t>
                </a:r>
                <a:endParaRPr lang="zh-CN" sz="105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2" name="Text Box 88"/>
              <p:cNvSpPr txBox="1">
                <a:spLocks noChangeArrowheads="1"/>
              </p:cNvSpPr>
              <p:nvPr/>
            </p:nvSpPr>
            <p:spPr bwMode="auto">
              <a:xfrm>
                <a:off x="631959" y="0"/>
                <a:ext cx="319405" cy="259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just">
                  <a:spcAft>
                    <a:spcPts val="0"/>
                  </a:spcAft>
                </a:pPr>
                <a:r>
                  <a:rPr lang="en-US" sz="1800" i="1" kern="100" dirty="0" smtClean="0">
                    <a:effectLst/>
                    <a:latin typeface="Times New Roman" panose="02020603050405020304" pitchFamily="18" charset="0"/>
                    <a:ea typeface="宋体" panose="02010600030101010101" pitchFamily="2" charset="-122"/>
                    <a:cs typeface="宋体" panose="02010600030101010101" pitchFamily="2" charset="-122"/>
                  </a:rPr>
                  <a:t>z</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23" name="Line 89"/>
              <p:cNvCxnSpPr>
                <a:cxnSpLocks noChangeShapeType="1"/>
              </p:cNvCxnSpPr>
              <p:nvPr/>
            </p:nvCxnSpPr>
            <p:spPr bwMode="auto">
              <a:xfrm flipV="1">
                <a:off x="169464" y="1235676"/>
                <a:ext cx="656590" cy="211455"/>
              </a:xfrm>
              <a:prstGeom prst="line">
                <a:avLst/>
              </a:prstGeom>
              <a:noFill/>
              <a:ln w="22225">
                <a:solidFill>
                  <a:srgbClr val="000000"/>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 name="Text Box 90"/>
              <p:cNvSpPr txBox="1">
                <a:spLocks noChangeArrowheads="1"/>
              </p:cNvSpPr>
              <p:nvPr/>
            </p:nvSpPr>
            <p:spPr bwMode="auto">
              <a:xfrm>
                <a:off x="21183" y="1232146"/>
                <a:ext cx="148590" cy="22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800" i="1" kern="100" dirty="0">
                    <a:effectLst/>
                    <a:latin typeface="Times New Roman" panose="02020603050405020304" pitchFamily="18" charset="0"/>
                    <a:ea typeface="宋体" panose="02010600030101010101" pitchFamily="2" charset="-122"/>
                    <a:cs typeface="宋体" panose="02010600030101010101" pitchFamily="2" charset="-122"/>
                  </a:rPr>
                  <a:t>A</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5" name="Text Box 91"/>
              <p:cNvSpPr txBox="1">
                <a:spLocks noChangeArrowheads="1"/>
              </p:cNvSpPr>
              <p:nvPr/>
            </p:nvSpPr>
            <p:spPr bwMode="auto">
              <a:xfrm>
                <a:off x="1274511" y="850851"/>
                <a:ext cx="148590" cy="22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800" i="1" kern="100" dirty="0">
                    <a:effectLst/>
                    <a:latin typeface="Times New Roman" panose="02020603050405020304" pitchFamily="18" charset="0"/>
                    <a:ea typeface="宋体" panose="02010600030101010101" pitchFamily="2" charset="-122"/>
                    <a:cs typeface="宋体" panose="02010600030101010101" pitchFamily="2" charset="-122"/>
                  </a:rPr>
                  <a:t>B</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cxnSp>
            <p:nvCxnSpPr>
              <p:cNvPr id="26" name="Line 92"/>
              <p:cNvCxnSpPr>
                <a:cxnSpLocks noChangeShapeType="1"/>
              </p:cNvCxnSpPr>
              <p:nvPr/>
            </p:nvCxnSpPr>
            <p:spPr bwMode="auto">
              <a:xfrm rot="2940000" flipH="1" flipV="1">
                <a:off x="462495" y="388356"/>
                <a:ext cx="168910" cy="354330"/>
              </a:xfrm>
              <a:prstGeom prst="line">
                <a:avLst/>
              </a:prstGeom>
              <a:noFill/>
              <a:ln w="22225">
                <a:solidFill>
                  <a:srgbClr val="000000"/>
                </a:solidFill>
                <a:round/>
                <a:headEnd type="triangle" w="med" len="lg"/>
                <a:tailEnd type="none" w="sm" len="lg"/>
              </a:ln>
              <a:extLst>
                <a:ext uri="{909E8E84-426E-40DD-AFC4-6F175D3DCCD1}">
                  <a14:hiddenFill xmlns:a14="http://schemas.microsoft.com/office/drawing/2010/main">
                    <a:noFill/>
                  </a14:hiddenFill>
                </a:ext>
              </a:extLst>
            </p:spPr>
          </p:cxnSp>
          <p:cxnSp>
            <p:nvCxnSpPr>
              <p:cNvPr id="27" name="Line 93"/>
              <p:cNvCxnSpPr>
                <a:cxnSpLocks noChangeShapeType="1"/>
              </p:cNvCxnSpPr>
              <p:nvPr/>
            </p:nvCxnSpPr>
            <p:spPr bwMode="auto">
              <a:xfrm>
                <a:off x="1048559" y="808485"/>
                <a:ext cx="247650" cy="267335"/>
              </a:xfrm>
              <a:prstGeom prst="line">
                <a:avLst/>
              </a:prstGeom>
              <a:noFill/>
              <a:ln w="22225">
                <a:solidFill>
                  <a:srgbClr val="000000"/>
                </a:solidFill>
                <a:round/>
                <a:headEnd type="triangle" w="med"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 name="Text Box 94"/>
              <p:cNvSpPr txBox="1">
                <a:spLocks noChangeArrowheads="1"/>
              </p:cNvSpPr>
              <p:nvPr/>
            </p:nvSpPr>
            <p:spPr bwMode="auto">
              <a:xfrm>
                <a:off x="670795" y="1253329"/>
                <a:ext cx="269240" cy="22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800" b="1" i="1" kern="100" dirty="0">
                    <a:effectLst/>
                    <a:latin typeface="Times New Roman" panose="02020603050405020304" pitchFamily="18" charset="0"/>
                    <a:ea typeface="宋体" panose="02010600030101010101" pitchFamily="2" charset="-122"/>
                    <a:cs typeface="宋体" panose="02010600030101010101" pitchFamily="2" charset="-122"/>
                  </a:rPr>
                  <a:t>F</a:t>
                </a:r>
                <a:r>
                  <a:rPr lang="en-US" sz="1800" kern="100" baseline="-25000" dirty="0">
                    <a:effectLst/>
                    <a:latin typeface="Times New Roman" panose="02020603050405020304" pitchFamily="18" charset="0"/>
                    <a:ea typeface="宋体" panose="02010600030101010101" pitchFamily="2" charset="-122"/>
                    <a:cs typeface="宋体" panose="02010600030101010101" pitchFamily="2" charset="-122"/>
                  </a:rPr>
                  <a:t>3</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29" name="Text Box 95"/>
              <p:cNvSpPr txBox="1">
                <a:spLocks noChangeArrowheads="1"/>
              </p:cNvSpPr>
              <p:nvPr/>
            </p:nvSpPr>
            <p:spPr bwMode="auto">
              <a:xfrm>
                <a:off x="416599" y="932053"/>
                <a:ext cx="254000" cy="22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800" i="1" kern="100" dirty="0">
                    <a:effectLst/>
                    <a:latin typeface="Times New Roman" panose="02020603050405020304" pitchFamily="18" charset="0"/>
                    <a:ea typeface="宋体" panose="02010600030101010101" pitchFamily="2" charset="-122"/>
                    <a:cs typeface="宋体" panose="02010600030101010101" pitchFamily="2" charset="-122"/>
                  </a:rPr>
                  <a:t>M</a:t>
                </a:r>
                <a:r>
                  <a:rPr lang="en-US" sz="1800" kern="100" baseline="-25000" dirty="0">
                    <a:effectLst/>
                    <a:latin typeface="Times New Roman" panose="02020603050405020304" pitchFamily="18" charset="0"/>
                    <a:ea typeface="宋体" panose="02010600030101010101" pitchFamily="2" charset="-122"/>
                    <a:cs typeface="宋体" panose="02010600030101010101" pitchFamily="2" charset="-122"/>
                  </a:rPr>
                  <a:t>1</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0" name="Text Box 96"/>
              <p:cNvSpPr txBox="1">
                <a:spLocks noChangeArrowheads="1"/>
              </p:cNvSpPr>
              <p:nvPr/>
            </p:nvSpPr>
            <p:spPr bwMode="auto">
              <a:xfrm>
                <a:off x="441312" y="257727"/>
                <a:ext cx="148590" cy="22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800" i="1" kern="100" dirty="0">
                    <a:effectLst/>
                    <a:latin typeface="Times New Roman" panose="02020603050405020304" pitchFamily="18" charset="0"/>
                    <a:ea typeface="宋体" panose="02010600030101010101" pitchFamily="2" charset="-122"/>
                    <a:cs typeface="宋体" panose="02010600030101010101" pitchFamily="2" charset="-122"/>
                  </a:rPr>
                  <a:t>C</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1" name="Text Box 98"/>
              <p:cNvSpPr txBox="1">
                <a:spLocks noChangeArrowheads="1"/>
              </p:cNvSpPr>
              <p:nvPr/>
            </p:nvSpPr>
            <p:spPr bwMode="auto">
              <a:xfrm>
                <a:off x="599330" y="1059704"/>
                <a:ext cx="148590" cy="22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800" i="1" kern="100" dirty="0">
                    <a:effectLst/>
                    <a:latin typeface="Times New Roman" panose="02020603050405020304" pitchFamily="18" charset="0"/>
                    <a:ea typeface="宋体" panose="02010600030101010101" pitchFamily="2" charset="-122"/>
                    <a:cs typeface="宋体" panose="02010600030101010101" pitchFamily="2" charset="-122"/>
                  </a:rPr>
                  <a:t>O</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2" name="Text Box 95"/>
              <p:cNvSpPr txBox="1">
                <a:spLocks noChangeArrowheads="1"/>
              </p:cNvSpPr>
              <p:nvPr/>
            </p:nvSpPr>
            <p:spPr bwMode="auto">
              <a:xfrm>
                <a:off x="692270" y="630494"/>
                <a:ext cx="254000" cy="22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800" i="1" kern="100" dirty="0">
                    <a:effectLst/>
                    <a:latin typeface="Times New Roman" panose="02020603050405020304" pitchFamily="18" charset="0"/>
                    <a:ea typeface="宋体" panose="02010600030101010101" pitchFamily="2" charset="-122"/>
                    <a:cs typeface="宋体" panose="02010600030101010101" pitchFamily="2" charset="-122"/>
                  </a:rPr>
                  <a:t>M</a:t>
                </a:r>
                <a:r>
                  <a:rPr lang="en-US" sz="1800" kern="100" baseline="-25000" dirty="0">
                    <a:effectLst/>
                    <a:latin typeface="Times New Roman" panose="02020603050405020304" pitchFamily="18" charset="0"/>
                    <a:ea typeface="宋体" panose="02010600030101010101" pitchFamily="2" charset="-122"/>
                    <a:cs typeface="宋体" panose="02010600030101010101" pitchFamily="2" charset="-122"/>
                  </a:rPr>
                  <a:t>2</a:t>
                </a:r>
                <a:endParaRPr lang="zh-CN" sz="1800" kern="100" dirty="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33" name="Arc 2607"/>
              <p:cNvSpPr>
                <a:spLocks/>
              </p:cNvSpPr>
              <p:nvPr/>
            </p:nvSpPr>
            <p:spPr bwMode="auto">
              <a:xfrm rot="5400000" flipV="1">
                <a:off x="644316" y="923227"/>
                <a:ext cx="459181" cy="320830"/>
              </a:xfrm>
              <a:custGeom>
                <a:avLst/>
                <a:gdLst>
                  <a:gd name="G0" fmla="+- 21600 0 0"/>
                  <a:gd name="G1" fmla="+- 14278 0 0"/>
                  <a:gd name="G2" fmla="+- 21600 0 0"/>
                  <a:gd name="T0" fmla="*/ 4392 w 21600"/>
                  <a:gd name="T1" fmla="*/ 27333 h 27333"/>
                  <a:gd name="T2" fmla="*/ 5392 w 21600"/>
                  <a:gd name="T3" fmla="*/ 0 h 27333"/>
                  <a:gd name="T4" fmla="*/ 21600 w 21600"/>
                  <a:gd name="T5" fmla="*/ 14278 h 27333"/>
                </a:gdLst>
                <a:ahLst/>
                <a:cxnLst>
                  <a:cxn ang="0">
                    <a:pos x="T0" y="T1"/>
                  </a:cxn>
                  <a:cxn ang="0">
                    <a:pos x="T2" y="T3"/>
                  </a:cxn>
                  <a:cxn ang="0">
                    <a:pos x="T4" y="T5"/>
                  </a:cxn>
                </a:cxnLst>
                <a:rect l="0" t="0" r="r" b="b"/>
                <a:pathLst>
                  <a:path w="21600" h="27333" fill="none" extrusionOk="0">
                    <a:moveTo>
                      <a:pt x="4391" y="27333"/>
                    </a:moveTo>
                    <a:cubicBezTo>
                      <a:pt x="1542" y="23577"/>
                      <a:pt x="0" y="18992"/>
                      <a:pt x="0" y="14278"/>
                    </a:cubicBezTo>
                    <a:cubicBezTo>
                      <a:pt x="-1" y="9021"/>
                      <a:pt x="1917" y="3944"/>
                      <a:pt x="5392" y="0"/>
                    </a:cubicBezTo>
                  </a:path>
                  <a:path w="21600" h="27333" stroke="0" extrusionOk="0">
                    <a:moveTo>
                      <a:pt x="4391" y="27333"/>
                    </a:moveTo>
                    <a:cubicBezTo>
                      <a:pt x="1542" y="23577"/>
                      <a:pt x="0" y="18992"/>
                      <a:pt x="0" y="14278"/>
                    </a:cubicBezTo>
                    <a:cubicBezTo>
                      <a:pt x="-1" y="9021"/>
                      <a:pt x="1917" y="3944"/>
                      <a:pt x="5392" y="0"/>
                    </a:cubicBezTo>
                    <a:lnTo>
                      <a:pt x="21600" y="14278"/>
                    </a:lnTo>
                    <a:close/>
                  </a:path>
                </a:pathLst>
              </a:custGeom>
              <a:noFill/>
              <a:ln w="19050">
                <a:solidFill>
                  <a:srgbClr val="0000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sp>
            <p:nvSpPr>
              <p:cNvPr id="34" name="Arc 2607"/>
              <p:cNvSpPr>
                <a:spLocks/>
              </p:cNvSpPr>
              <p:nvPr/>
            </p:nvSpPr>
            <p:spPr bwMode="auto">
              <a:xfrm rot="3583520" flipV="1">
                <a:off x="293031" y="1059151"/>
                <a:ext cx="588724" cy="262437"/>
              </a:xfrm>
              <a:custGeom>
                <a:avLst/>
                <a:gdLst>
                  <a:gd name="G0" fmla="+- 21600 0 0"/>
                  <a:gd name="G1" fmla="+- 14278 0 0"/>
                  <a:gd name="G2" fmla="+- 21600 0 0"/>
                  <a:gd name="T0" fmla="*/ 4392 w 21600"/>
                  <a:gd name="T1" fmla="*/ 27333 h 27333"/>
                  <a:gd name="T2" fmla="*/ 5392 w 21600"/>
                  <a:gd name="T3" fmla="*/ 0 h 27333"/>
                  <a:gd name="T4" fmla="*/ 21600 w 21600"/>
                  <a:gd name="T5" fmla="*/ 14278 h 27333"/>
                </a:gdLst>
                <a:ahLst/>
                <a:cxnLst>
                  <a:cxn ang="0">
                    <a:pos x="T0" y="T1"/>
                  </a:cxn>
                  <a:cxn ang="0">
                    <a:pos x="T2" y="T3"/>
                  </a:cxn>
                  <a:cxn ang="0">
                    <a:pos x="T4" y="T5"/>
                  </a:cxn>
                </a:cxnLst>
                <a:rect l="0" t="0" r="r" b="b"/>
                <a:pathLst>
                  <a:path w="21600" h="27333" fill="none" extrusionOk="0">
                    <a:moveTo>
                      <a:pt x="4391" y="27333"/>
                    </a:moveTo>
                    <a:cubicBezTo>
                      <a:pt x="1542" y="23577"/>
                      <a:pt x="0" y="18992"/>
                      <a:pt x="0" y="14278"/>
                    </a:cubicBezTo>
                    <a:cubicBezTo>
                      <a:pt x="-1" y="9021"/>
                      <a:pt x="1917" y="3944"/>
                      <a:pt x="5392" y="0"/>
                    </a:cubicBezTo>
                  </a:path>
                  <a:path w="21600" h="27333" stroke="0" extrusionOk="0">
                    <a:moveTo>
                      <a:pt x="4391" y="27333"/>
                    </a:moveTo>
                    <a:cubicBezTo>
                      <a:pt x="1542" y="23577"/>
                      <a:pt x="0" y="18992"/>
                      <a:pt x="0" y="14278"/>
                    </a:cubicBezTo>
                    <a:cubicBezTo>
                      <a:pt x="-1" y="9021"/>
                      <a:pt x="1917" y="3944"/>
                      <a:pt x="5392" y="0"/>
                    </a:cubicBezTo>
                    <a:lnTo>
                      <a:pt x="21600" y="14278"/>
                    </a:lnTo>
                    <a:close/>
                  </a:path>
                </a:pathLst>
              </a:custGeom>
              <a:noFill/>
              <a:ln w="19050">
                <a:solidFill>
                  <a:srgbClr val="0000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a:p>
            </p:txBody>
          </p:sp>
        </p:grpSp>
      </p:grpSp>
    </p:spTree>
    <p:extLst>
      <p:ext uri="{BB962C8B-B14F-4D97-AF65-F5344CB8AC3E}">
        <p14:creationId xmlns:p14="http://schemas.microsoft.com/office/powerpoint/2010/main" val="3163281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Text Box 5"/>
          <p:cNvSpPr txBox="1">
            <a:spLocks noChangeArrowheads="1"/>
          </p:cNvSpPr>
          <p:nvPr/>
        </p:nvSpPr>
        <p:spPr bwMode="auto">
          <a:xfrm>
            <a:off x="538887" y="1054100"/>
            <a:ext cx="39741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latin typeface="黑体" panose="02010609060101010101" pitchFamily="49" charset="-122"/>
                <a:ea typeface="黑体" panose="02010609060101010101" pitchFamily="49" charset="-122"/>
              </a:rPr>
              <a:t>1.</a:t>
            </a:r>
            <a:r>
              <a:rPr lang="zh-CN" altLang="en-US" sz="2800" b="1" dirty="0">
                <a:solidFill>
                  <a:srgbClr val="0000FF"/>
                </a:solidFill>
                <a:latin typeface="黑体" panose="02010609060101010101" pitchFamily="49" charset="-122"/>
                <a:ea typeface="黑体" panose="02010609060101010101" pitchFamily="49" charset="-122"/>
              </a:rPr>
              <a:t>集中载荷与分布载荷 </a:t>
            </a:r>
          </a:p>
        </p:txBody>
      </p:sp>
      <p:sp>
        <p:nvSpPr>
          <p:cNvPr id="61446" name="Text Box 6"/>
          <p:cNvSpPr txBox="1">
            <a:spLocks noChangeArrowheads="1"/>
          </p:cNvSpPr>
          <p:nvPr/>
        </p:nvSpPr>
        <p:spPr bwMode="auto">
          <a:xfrm>
            <a:off x="609201" y="1533283"/>
            <a:ext cx="7786688" cy="830997"/>
          </a:xfrm>
          <a:prstGeom prst="rect">
            <a:avLst/>
          </a:prstGeom>
          <a:noFill/>
          <a:ln w="12700" cap="sq">
            <a:noFill/>
            <a:miter lim="800000"/>
            <a:headEnd type="none" w="sm" len="sm"/>
            <a:tailEnd type="none" w="sm" len="sm"/>
          </a:ln>
          <a:effectLst/>
        </p:spPr>
        <p:txBody>
          <a:bodyPr>
            <a:spAutoFit/>
          </a:bodyPr>
          <a:lstStyle/>
          <a:p>
            <a:pPr algn="ctr" eaLnBrk="1" hangingPunct="1">
              <a:defRPr/>
            </a:pPr>
            <a:r>
              <a:rPr kumimoji="0" lang="zh-CN" altLang="en-US" sz="2400" b="1" dirty="0">
                <a:latin typeface="楷体" panose="02010609060101010101" pitchFamily="49" charset="-122"/>
                <a:ea typeface="楷体" panose="02010609060101010101" pitchFamily="49" charset="-122"/>
              </a:rPr>
              <a:t>物体受力一般是通过物体间接触进行的，接触处所受的力一般都是作用在接触面积上的</a:t>
            </a:r>
            <a:r>
              <a:rPr kumimoji="0" lang="zh-CN" altLang="en-US" sz="2400" b="1" dirty="0">
                <a:solidFill>
                  <a:srgbClr val="ED2403"/>
                </a:solidFill>
                <a:latin typeface="楷体" panose="02010609060101010101" pitchFamily="49" charset="-122"/>
                <a:ea typeface="楷体" panose="02010609060101010101" pitchFamily="49" charset="-122"/>
              </a:rPr>
              <a:t>分布载荷</a:t>
            </a:r>
            <a:r>
              <a:rPr kumimoji="0" lang="zh-CN" altLang="en-US" sz="2400" b="1" dirty="0">
                <a:latin typeface="楷体" panose="02010609060101010101" pitchFamily="49" charset="-122"/>
                <a:ea typeface="楷体" panose="02010609060101010101" pitchFamily="49" charset="-122"/>
              </a:rPr>
              <a:t>。</a:t>
            </a:r>
            <a:endParaRPr kumimoji="0" lang="zh-CN" altLang="en-US" sz="2400" b="1" dirty="0">
              <a:solidFill>
                <a:srgbClr val="347BBC"/>
              </a:solidFill>
              <a:latin typeface="楷体" panose="02010609060101010101" pitchFamily="49" charset="-122"/>
              <a:ea typeface="楷体" panose="02010609060101010101" pitchFamily="49" charset="-122"/>
            </a:endParaRPr>
          </a:p>
        </p:txBody>
      </p:sp>
      <p:sp>
        <p:nvSpPr>
          <p:cNvPr id="61447" name="Text Box 7"/>
          <p:cNvSpPr txBox="1">
            <a:spLocks noChangeArrowheads="1"/>
          </p:cNvSpPr>
          <p:nvPr/>
        </p:nvSpPr>
        <p:spPr bwMode="auto">
          <a:xfrm>
            <a:off x="668315" y="2371614"/>
            <a:ext cx="76327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algn="ctr" eaLnBrk="1" hangingPunct="1"/>
            <a:r>
              <a:rPr kumimoji="0" lang="zh-CN" altLang="en-US" sz="2400" b="1" dirty="0">
                <a:solidFill>
                  <a:schemeClr val="tx1"/>
                </a:solidFill>
                <a:latin typeface="楷体" panose="02010609060101010101" pitchFamily="49" charset="-122"/>
                <a:ea typeface="楷体" panose="02010609060101010101" pitchFamily="49" charset="-122"/>
              </a:rPr>
              <a:t>当分布力作用面积很小时，为了简化计算，可以将分布力简化为作用于一点的合力，称为</a:t>
            </a:r>
            <a:r>
              <a:rPr kumimoji="0" lang="zh-CN" altLang="en-US" sz="2400" b="1" dirty="0">
                <a:solidFill>
                  <a:srgbClr val="ED2403"/>
                </a:solidFill>
                <a:latin typeface="楷体" panose="02010609060101010101" pitchFamily="49" charset="-122"/>
                <a:ea typeface="楷体" panose="02010609060101010101" pitchFamily="49" charset="-122"/>
              </a:rPr>
              <a:t>集中载荷。</a:t>
            </a:r>
          </a:p>
        </p:txBody>
      </p:sp>
      <p:pic>
        <p:nvPicPr>
          <p:cNvPr id="73730" name="Picture 2" descr="em2-1"/>
          <p:cNvPicPr>
            <a:picLocks noChangeAspect="1" noChangeArrowheads="1"/>
          </p:cNvPicPr>
          <p:nvPr/>
        </p:nvPicPr>
        <p:blipFill>
          <a:blip r:embed="rId3">
            <a:lum bright="6000"/>
            <a:extLst>
              <a:ext uri="{28A0092B-C50C-407E-A947-70E740481C1C}">
                <a14:useLocalDpi xmlns:a14="http://schemas.microsoft.com/office/drawing/2010/main" val="0"/>
              </a:ext>
            </a:extLst>
          </a:blip>
          <a:srcRect/>
          <a:stretch>
            <a:fillRect/>
          </a:stretch>
        </p:blipFill>
        <p:spPr bwMode="auto">
          <a:xfrm>
            <a:off x="6619" y="3278632"/>
            <a:ext cx="32766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3"/>
          <p:cNvGrpSpPr>
            <a:grpSpLocks/>
          </p:cNvGrpSpPr>
          <p:nvPr/>
        </p:nvGrpSpPr>
        <p:grpSpPr bwMode="auto">
          <a:xfrm>
            <a:off x="3103637" y="3444526"/>
            <a:ext cx="3048000" cy="1371600"/>
            <a:chOff x="1728" y="2448"/>
            <a:chExt cx="2880" cy="960"/>
          </a:xfrm>
        </p:grpSpPr>
        <p:pic>
          <p:nvPicPr>
            <p:cNvPr id="7199" name="Picture 4" descr="em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8" y="2448"/>
              <a:ext cx="2880" cy="9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73733" name="Rectangle 5"/>
            <p:cNvSpPr>
              <a:spLocks noChangeArrowheads="1"/>
            </p:cNvSpPr>
            <p:nvPr/>
          </p:nvSpPr>
          <p:spPr bwMode="auto">
            <a:xfrm>
              <a:off x="2592" y="2505"/>
              <a:ext cx="1200" cy="339"/>
            </a:xfrm>
            <a:prstGeom prst="rect">
              <a:avLst/>
            </a:prstGeom>
            <a:solidFill>
              <a:schemeClr val="bg1"/>
            </a:solidFill>
            <a:ln w="12700">
              <a:noFill/>
              <a:miter lim="800000"/>
              <a:headEnd type="none" w="sm" len="sm"/>
              <a:tailEnd type="none" w="sm" len="sm"/>
            </a:ln>
            <a:effectLst/>
          </p:spPr>
          <p:txBody>
            <a:bodyPr wrap="none" anchor="ctr"/>
            <a:lstStyle/>
            <a:p>
              <a:pPr algn="ctr" eaLnBrk="1" hangingPunct="1">
                <a:defRPr/>
              </a:pPr>
              <a:endParaRPr lang="zh-CN" altLang="en-US">
                <a:effectLst>
                  <a:outerShdw blurRad="38100" dist="38100" dir="2700000" algn="tl">
                    <a:srgbClr val="000000">
                      <a:alpha val="43137"/>
                    </a:srgbClr>
                  </a:outerShdw>
                </a:effectLst>
              </a:endParaRPr>
            </a:p>
          </p:txBody>
        </p:sp>
      </p:grpSp>
      <p:grpSp>
        <p:nvGrpSpPr>
          <p:cNvPr id="3" name="Group 6"/>
          <p:cNvGrpSpPr>
            <a:grpSpLocks/>
          </p:cNvGrpSpPr>
          <p:nvPr/>
        </p:nvGrpSpPr>
        <p:grpSpPr bwMode="auto">
          <a:xfrm>
            <a:off x="3719587" y="3263554"/>
            <a:ext cx="1919287" cy="752475"/>
            <a:chOff x="1650" y="2659"/>
            <a:chExt cx="1209" cy="474"/>
          </a:xfrm>
        </p:grpSpPr>
        <p:sp>
          <p:nvSpPr>
            <p:cNvPr id="73735" name="Line 7"/>
            <p:cNvSpPr>
              <a:spLocks noChangeShapeType="1"/>
            </p:cNvSpPr>
            <p:nvPr/>
          </p:nvSpPr>
          <p:spPr bwMode="auto">
            <a:xfrm>
              <a:off x="1912" y="2749"/>
              <a:ext cx="0" cy="384"/>
            </a:xfrm>
            <a:prstGeom prst="line">
              <a:avLst/>
            </a:prstGeom>
            <a:noFill/>
            <a:ln w="381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3736" name="Line 8"/>
            <p:cNvSpPr>
              <a:spLocks noChangeShapeType="1"/>
            </p:cNvSpPr>
            <p:nvPr/>
          </p:nvSpPr>
          <p:spPr bwMode="auto">
            <a:xfrm>
              <a:off x="2544" y="2744"/>
              <a:ext cx="0" cy="384"/>
            </a:xfrm>
            <a:prstGeom prst="line">
              <a:avLst/>
            </a:prstGeom>
            <a:noFill/>
            <a:ln w="381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197" name="Text Box 9"/>
            <p:cNvSpPr txBox="1">
              <a:spLocks noChangeArrowheads="1"/>
            </p:cNvSpPr>
            <p:nvPr/>
          </p:nvSpPr>
          <p:spPr bwMode="auto">
            <a:xfrm>
              <a:off x="1650" y="2659"/>
              <a:ext cx="3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FF0066"/>
                  </a:solidFill>
                  <a:ea typeface="楷体_GB2312" pitchFamily="49" charset="-122"/>
                </a:rPr>
                <a:t>F</a:t>
              </a:r>
              <a:r>
                <a:rPr lang="en-US" altLang="zh-CN" sz="1800" b="1" baseline="-25000" dirty="0">
                  <a:solidFill>
                    <a:srgbClr val="FF0066"/>
                  </a:solidFill>
                  <a:ea typeface="楷体_GB2312" pitchFamily="49" charset="-122"/>
                </a:rPr>
                <a:t>1</a:t>
              </a:r>
              <a:endParaRPr lang="en-US" altLang="zh-CN" sz="1800" b="1" i="1" dirty="0">
                <a:solidFill>
                  <a:srgbClr val="FF0066"/>
                </a:solidFill>
                <a:ea typeface="楷体_GB2312" pitchFamily="49" charset="-122"/>
              </a:endParaRPr>
            </a:p>
          </p:txBody>
        </p:sp>
        <p:sp>
          <p:nvSpPr>
            <p:cNvPr id="7198" name="Text Box 10"/>
            <p:cNvSpPr txBox="1">
              <a:spLocks noChangeArrowheads="1"/>
            </p:cNvSpPr>
            <p:nvPr/>
          </p:nvSpPr>
          <p:spPr bwMode="auto">
            <a:xfrm>
              <a:off x="2532" y="2678"/>
              <a:ext cx="3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FF0066"/>
                  </a:solidFill>
                  <a:ea typeface="楷体_GB2312" pitchFamily="49" charset="-122"/>
                </a:rPr>
                <a:t>F</a:t>
              </a:r>
              <a:r>
                <a:rPr lang="en-US" altLang="zh-CN" sz="1800" b="1" baseline="-25000" dirty="0">
                  <a:solidFill>
                    <a:srgbClr val="FF0066"/>
                  </a:solidFill>
                  <a:ea typeface="楷体_GB2312" pitchFamily="49" charset="-122"/>
                </a:rPr>
                <a:t>2</a:t>
              </a:r>
              <a:endParaRPr lang="en-US" altLang="zh-CN" sz="1800" b="1" i="1" dirty="0">
                <a:solidFill>
                  <a:srgbClr val="FF0066"/>
                </a:solidFill>
                <a:ea typeface="楷体_GB2312" pitchFamily="49" charset="-122"/>
              </a:endParaRPr>
            </a:p>
          </p:txBody>
        </p:sp>
      </p:grpSp>
      <p:grpSp>
        <p:nvGrpSpPr>
          <p:cNvPr id="4" name="Group 11"/>
          <p:cNvGrpSpPr>
            <a:grpSpLocks/>
          </p:cNvGrpSpPr>
          <p:nvPr/>
        </p:nvGrpSpPr>
        <p:grpSpPr bwMode="auto">
          <a:xfrm>
            <a:off x="5924194" y="3302244"/>
            <a:ext cx="3124200" cy="1452562"/>
            <a:chOff x="1344" y="2688"/>
            <a:chExt cx="1968" cy="915"/>
          </a:xfrm>
        </p:grpSpPr>
        <p:pic>
          <p:nvPicPr>
            <p:cNvPr id="7193" name="Picture 12" descr="tu静(1)-m"/>
            <p:cNvPicPr>
              <a:picLocks noChangeAspect="1" noChangeArrowheads="1"/>
            </p:cNvPicPr>
            <p:nvPr/>
          </p:nvPicPr>
          <p:blipFill>
            <a:blip r:embed="rId5">
              <a:lum bright="6000"/>
              <a:extLst>
                <a:ext uri="{28A0092B-C50C-407E-A947-70E740481C1C}">
                  <a14:useLocalDpi xmlns:a14="http://schemas.microsoft.com/office/drawing/2010/main" val="0"/>
                </a:ext>
              </a:extLst>
            </a:blip>
            <a:srcRect b="8089"/>
            <a:stretch>
              <a:fillRect/>
            </a:stretch>
          </p:blipFill>
          <p:spPr bwMode="auto">
            <a:xfrm>
              <a:off x="1392" y="2688"/>
              <a:ext cx="1920" cy="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94" name="Rectangle 13"/>
            <p:cNvSpPr>
              <a:spLocks noChangeArrowheads="1"/>
            </p:cNvSpPr>
            <p:nvPr/>
          </p:nvSpPr>
          <p:spPr bwMode="auto">
            <a:xfrm>
              <a:off x="1344" y="2736"/>
              <a:ext cx="1968" cy="38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algn="ctr" eaLnBrk="1" hangingPunct="1"/>
              <a:endParaRPr kumimoji="0" lang="zh-CN" altLang="zh-CN" sz="2400">
                <a:solidFill>
                  <a:schemeClr val="tx1"/>
                </a:solidFill>
              </a:endParaRPr>
            </a:p>
          </p:txBody>
        </p:sp>
      </p:grpSp>
      <p:grpSp>
        <p:nvGrpSpPr>
          <p:cNvPr id="5" name="Group 14"/>
          <p:cNvGrpSpPr>
            <a:grpSpLocks/>
          </p:cNvGrpSpPr>
          <p:nvPr/>
        </p:nvGrpSpPr>
        <p:grpSpPr bwMode="auto">
          <a:xfrm>
            <a:off x="6332612" y="3292126"/>
            <a:ext cx="2286000" cy="714375"/>
            <a:chOff x="1616" y="2669"/>
            <a:chExt cx="1440" cy="450"/>
          </a:xfrm>
        </p:grpSpPr>
        <p:grpSp>
          <p:nvGrpSpPr>
            <p:cNvPr id="7182" name="Group 15"/>
            <p:cNvGrpSpPr>
              <a:grpSpLocks/>
            </p:cNvGrpSpPr>
            <p:nvPr/>
          </p:nvGrpSpPr>
          <p:grpSpPr bwMode="auto">
            <a:xfrm>
              <a:off x="1616" y="2928"/>
              <a:ext cx="1440" cy="191"/>
              <a:chOff x="1248" y="2562"/>
              <a:chExt cx="2247" cy="252"/>
            </a:xfrm>
          </p:grpSpPr>
          <p:sp>
            <p:nvSpPr>
              <p:cNvPr id="73744" name="Line 16"/>
              <p:cNvSpPr>
                <a:spLocks noChangeShapeType="1"/>
              </p:cNvSpPr>
              <p:nvPr/>
            </p:nvSpPr>
            <p:spPr bwMode="auto">
              <a:xfrm>
                <a:off x="1248" y="2562"/>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3745" name="Line 17"/>
              <p:cNvSpPr>
                <a:spLocks noChangeShapeType="1"/>
              </p:cNvSpPr>
              <p:nvPr/>
            </p:nvSpPr>
            <p:spPr bwMode="auto">
              <a:xfrm>
                <a:off x="3222" y="2565"/>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3746" name="Line 18"/>
              <p:cNvSpPr>
                <a:spLocks noChangeShapeType="1"/>
              </p:cNvSpPr>
              <p:nvPr/>
            </p:nvSpPr>
            <p:spPr bwMode="auto">
              <a:xfrm>
                <a:off x="2640" y="2565"/>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3747" name="Line 19"/>
              <p:cNvSpPr>
                <a:spLocks noChangeShapeType="1"/>
              </p:cNvSpPr>
              <p:nvPr/>
            </p:nvSpPr>
            <p:spPr bwMode="auto">
              <a:xfrm>
                <a:off x="1537" y="2574"/>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3748" name="Line 20"/>
              <p:cNvSpPr>
                <a:spLocks noChangeShapeType="1"/>
              </p:cNvSpPr>
              <p:nvPr/>
            </p:nvSpPr>
            <p:spPr bwMode="auto">
              <a:xfrm>
                <a:off x="2112" y="2574"/>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3749" name="Line 21"/>
              <p:cNvSpPr>
                <a:spLocks noChangeShapeType="1"/>
              </p:cNvSpPr>
              <p:nvPr/>
            </p:nvSpPr>
            <p:spPr bwMode="auto">
              <a:xfrm>
                <a:off x="2929" y="2565"/>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3750" name="Line 22"/>
              <p:cNvSpPr>
                <a:spLocks noChangeShapeType="1"/>
              </p:cNvSpPr>
              <p:nvPr/>
            </p:nvSpPr>
            <p:spPr bwMode="auto">
              <a:xfrm>
                <a:off x="1824" y="2562"/>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3751" name="Line 23"/>
              <p:cNvSpPr>
                <a:spLocks noChangeShapeType="1"/>
              </p:cNvSpPr>
              <p:nvPr/>
            </p:nvSpPr>
            <p:spPr bwMode="auto">
              <a:xfrm>
                <a:off x="2382" y="2562"/>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73752" name="Line 24"/>
              <p:cNvSpPr>
                <a:spLocks noChangeShapeType="1"/>
              </p:cNvSpPr>
              <p:nvPr/>
            </p:nvSpPr>
            <p:spPr bwMode="auto">
              <a:xfrm>
                <a:off x="3495" y="2565"/>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grpSp>
        <p:sp>
          <p:nvSpPr>
            <p:cNvPr id="7183" name="Text Box 25"/>
            <p:cNvSpPr txBox="1">
              <a:spLocks noChangeArrowheads="1"/>
            </p:cNvSpPr>
            <p:nvPr/>
          </p:nvSpPr>
          <p:spPr bwMode="auto">
            <a:xfrm>
              <a:off x="2170" y="2669"/>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FF0066"/>
                  </a:solidFill>
                </a:rPr>
                <a:t>q</a:t>
              </a:r>
            </a:p>
          </p:txBody>
        </p:sp>
      </p:grpSp>
      <p:grpSp>
        <p:nvGrpSpPr>
          <p:cNvPr id="7" name="Group 37"/>
          <p:cNvGrpSpPr>
            <a:grpSpLocks/>
          </p:cNvGrpSpPr>
          <p:nvPr/>
        </p:nvGrpSpPr>
        <p:grpSpPr bwMode="auto">
          <a:xfrm>
            <a:off x="831131" y="4915346"/>
            <a:ext cx="7643812" cy="1322388"/>
            <a:chOff x="768" y="960"/>
            <a:chExt cx="4224" cy="833"/>
          </a:xfrm>
        </p:grpSpPr>
        <p:sp>
          <p:nvSpPr>
            <p:cNvPr id="7181" name="Text Box 33"/>
            <p:cNvSpPr txBox="1">
              <a:spLocks noChangeArrowheads="1"/>
            </p:cNvSpPr>
            <p:nvPr/>
          </p:nvSpPr>
          <p:spPr bwMode="auto">
            <a:xfrm>
              <a:off x="768" y="960"/>
              <a:ext cx="4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algn="just" eaLnBrk="1" hangingPunct="1"/>
              <a:r>
                <a:rPr kumimoji="0" lang="zh-CN" altLang="en-US" sz="2400" b="1" dirty="0">
                  <a:latin typeface="楷体" panose="02010609060101010101" pitchFamily="49" charset="-122"/>
                  <a:ea typeface="楷体" panose="02010609060101010101" pitchFamily="49" charset="-122"/>
                </a:rPr>
                <a:t>令</a:t>
              </a:r>
              <a:r>
                <a:rPr kumimoji="0" lang="zh-CN" altLang="en-US" sz="2400" b="1" dirty="0">
                  <a:latin typeface="+mn-lt"/>
                  <a:ea typeface="楷体" panose="02010609060101010101" pitchFamily="49" charset="-122"/>
                </a:rPr>
                <a:t>△</a:t>
              </a:r>
              <a:r>
                <a:rPr kumimoji="0" lang="en-US" altLang="zh-CN" sz="2400" b="1" i="1" dirty="0">
                  <a:latin typeface="+mn-lt"/>
                  <a:ea typeface="楷体" panose="02010609060101010101" pitchFamily="49" charset="-122"/>
                </a:rPr>
                <a:t>F</a:t>
              </a:r>
              <a:r>
                <a:rPr kumimoji="0" lang="zh-CN" altLang="en-US" sz="2400" b="1" dirty="0">
                  <a:latin typeface="楷体" panose="02010609060101010101" pitchFamily="49" charset="-122"/>
                  <a:ea typeface="楷体" panose="02010609060101010101" pitchFamily="49" charset="-122"/>
                </a:rPr>
                <a:t>表示长度</a:t>
              </a:r>
              <a:r>
                <a:rPr kumimoji="0" lang="zh-CN" altLang="en-US" sz="2400" b="1" dirty="0">
                  <a:latin typeface="+mn-lt"/>
                  <a:ea typeface="楷体" panose="02010609060101010101" pitchFamily="49" charset="-122"/>
                </a:rPr>
                <a:t>△</a:t>
              </a:r>
              <a:r>
                <a:rPr kumimoji="0" lang="en-US" altLang="zh-CN" sz="2400" b="1" i="1" dirty="0">
                  <a:latin typeface="+mn-lt"/>
                  <a:ea typeface="楷体" panose="02010609060101010101" pitchFamily="49" charset="-122"/>
                </a:rPr>
                <a:t>x</a:t>
              </a:r>
              <a:r>
                <a:rPr kumimoji="0" lang="zh-CN" altLang="en-US" sz="2400" b="1" dirty="0">
                  <a:latin typeface="楷体" panose="02010609060101010101" pitchFamily="49" charset="-122"/>
                  <a:ea typeface="楷体" panose="02010609060101010101" pitchFamily="49" charset="-122"/>
                </a:rPr>
                <a:t>上的合力，则</a:t>
              </a:r>
              <a:r>
                <a:rPr kumimoji="0" lang="zh-CN" altLang="en-US" sz="2400" b="1" dirty="0">
                  <a:solidFill>
                    <a:srgbClr val="ED2403"/>
                  </a:solidFill>
                  <a:latin typeface="楷体" panose="02010609060101010101" pitchFamily="49" charset="-122"/>
                  <a:ea typeface="楷体" panose="02010609060101010101" pitchFamily="49" charset="-122"/>
                </a:rPr>
                <a:t>载荷集度</a:t>
              </a:r>
              <a:r>
                <a:rPr kumimoji="0" lang="en-US" altLang="zh-CN" sz="2400" b="1" i="1" dirty="0">
                  <a:solidFill>
                    <a:srgbClr val="ED2403"/>
                  </a:solidFill>
                  <a:latin typeface="+mn-lt"/>
                  <a:ea typeface="楷体" panose="02010609060101010101" pitchFamily="49" charset="-122"/>
                </a:rPr>
                <a:t>q</a:t>
              </a:r>
              <a:r>
                <a:rPr kumimoji="0" lang="zh-CN" altLang="en-US" sz="2400" b="1" dirty="0">
                  <a:latin typeface="楷体" panose="02010609060101010101" pitchFamily="49" charset="-122"/>
                  <a:ea typeface="楷体" panose="02010609060101010101" pitchFamily="49" charset="-122"/>
                </a:rPr>
                <a:t>定义为极限</a:t>
              </a:r>
              <a:r>
                <a:rPr kumimoji="0" lang="zh-CN" altLang="en-US" sz="2000" b="1" dirty="0">
                  <a:latin typeface="楷体" panose="02010609060101010101" pitchFamily="49" charset="-122"/>
                  <a:ea typeface="楷体" panose="02010609060101010101" pitchFamily="49" charset="-122"/>
                </a:rPr>
                <a:t>                     </a:t>
              </a:r>
            </a:p>
          </p:txBody>
        </p:sp>
        <p:graphicFrame>
          <p:nvGraphicFramePr>
            <p:cNvPr id="7170" name="Object 2"/>
            <p:cNvGraphicFramePr>
              <a:graphicFrameLocks noChangeAspect="1"/>
            </p:cNvGraphicFramePr>
            <p:nvPr>
              <p:extLst>
                <p:ext uri="{D42A27DB-BD31-4B8C-83A1-F6EECF244321}">
                  <p14:modId xmlns:p14="http://schemas.microsoft.com/office/powerpoint/2010/main" val="2354397649"/>
                </p:ext>
              </p:extLst>
            </p:nvPr>
          </p:nvGraphicFramePr>
          <p:xfrm>
            <a:off x="2259" y="1270"/>
            <a:ext cx="1033" cy="523"/>
          </p:xfrm>
          <a:graphic>
            <a:graphicData uri="http://schemas.openxmlformats.org/presentationml/2006/ole">
              <mc:AlternateContent xmlns:mc="http://schemas.openxmlformats.org/markup-compatibility/2006">
                <mc:Choice xmlns:v="urn:schemas-microsoft-com:vml" Requires="v">
                  <p:oleObj spid="_x0000_s34822" name="Equation" r:id="rId6" imgW="774364" imgH="393529" progId="Equation.DSMT4">
                    <p:embed/>
                  </p:oleObj>
                </mc:Choice>
                <mc:Fallback>
                  <p:oleObj name="Equation" r:id="rId6" imgW="774364" imgH="39352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59" y="1270"/>
                          <a:ext cx="1033" cy="523"/>
                        </a:xfrm>
                        <a:prstGeom prst="rect">
                          <a:avLst/>
                        </a:prstGeom>
                        <a:noFill/>
                        <a:ln>
                          <a:noFill/>
                        </a:ln>
                      </p:spPr>
                    </p:pic>
                  </p:oleObj>
                </mc:Fallback>
              </mc:AlternateContent>
            </a:graphicData>
          </a:graphic>
        </p:graphicFrame>
      </p:grpSp>
      <p:sp>
        <p:nvSpPr>
          <p:cNvPr id="33" name="矩形 32"/>
          <p:cNvSpPr/>
          <p:nvPr/>
        </p:nvSpPr>
        <p:spPr>
          <a:xfrm>
            <a:off x="609201" y="407191"/>
            <a:ext cx="7111242" cy="584775"/>
          </a:xfrm>
          <a:prstGeom prst="rect">
            <a:avLst/>
          </a:prstGeom>
        </p:spPr>
        <p:txBody>
          <a:bodyPr wrap="none">
            <a:spAutoFit/>
          </a:bodyPr>
          <a:lstStyle/>
          <a:p>
            <a:pPr eaLnBrk="1" hangingPunct="1"/>
            <a:r>
              <a:rPr lang="en-US" altLang="zh-CN" sz="3200" b="1" dirty="0">
                <a:latin typeface="宋体" panose="02010600030101010101" pitchFamily="2" charset="-122"/>
              </a:rPr>
              <a:t>§</a:t>
            </a:r>
            <a:r>
              <a:rPr lang="en-US" altLang="zh-CN" sz="3200" b="1" dirty="0"/>
              <a:t>2-4  </a:t>
            </a:r>
            <a:r>
              <a:rPr lang="zh-CN" altLang="en-US" sz="3200" b="1" dirty="0">
                <a:solidFill>
                  <a:srgbClr val="FF0000"/>
                </a:solidFill>
                <a:latin typeface="黑体" panose="02010609060101010101" pitchFamily="49" charset="-122"/>
                <a:ea typeface="黑体" panose="02010609060101010101" pitchFamily="49" charset="-122"/>
              </a:rPr>
              <a:t>平行力系的中心和重心</a:t>
            </a:r>
            <a:r>
              <a:rPr lang="zh-CN" altLang="en-US" b="1" dirty="0">
                <a:ea typeface="华文中宋" panose="02010600040101010101" pitchFamily="2" charset="-122"/>
              </a:rPr>
              <a:t>（书</a:t>
            </a:r>
            <a:r>
              <a:rPr lang="en-US" altLang="zh-CN" b="1" dirty="0">
                <a:latin typeface="宋体" panose="02010600030101010101" pitchFamily="2" charset="-122"/>
              </a:rPr>
              <a:t>§</a:t>
            </a:r>
            <a:r>
              <a:rPr lang="en-US" altLang="zh-CN" b="1" dirty="0"/>
              <a:t>3.6</a:t>
            </a:r>
            <a:r>
              <a:rPr lang="zh-CN" altLang="en-US" b="1" dirty="0">
                <a:ea typeface="华文中宋" panose="02010600040101010101" pitchFamily="2" charset="-122"/>
              </a:rPr>
              <a:t>）</a:t>
            </a:r>
          </a:p>
        </p:txBody>
      </p:sp>
    </p:spTree>
    <p:extLst>
      <p:ext uri="{BB962C8B-B14F-4D97-AF65-F5344CB8AC3E}">
        <p14:creationId xmlns:p14="http://schemas.microsoft.com/office/powerpoint/2010/main" val="887159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blinds(horizontal)">
                                      <p:cBhvr>
                                        <p:cTn id="7" dur="500"/>
                                        <p:tgtEl>
                                          <p:spTgt spid="614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1446"/>
                                        </p:tgtEl>
                                        <p:attrNameLst>
                                          <p:attrName>style.visibility</p:attrName>
                                        </p:attrNameLst>
                                      </p:cBhvr>
                                      <p:to>
                                        <p:strVal val="visible"/>
                                      </p:to>
                                    </p:set>
                                    <p:animEffect transition="in" filter="box(out)">
                                      <p:cBhvr>
                                        <p:cTn id="12" dur="500"/>
                                        <p:tgtEl>
                                          <p:spTgt spid="614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1447"/>
                                        </p:tgtEl>
                                        <p:attrNameLst>
                                          <p:attrName>style.visibility</p:attrName>
                                        </p:attrNameLst>
                                      </p:cBhvr>
                                      <p:to>
                                        <p:strVal val="visible"/>
                                      </p:to>
                                    </p:set>
                                    <p:animEffect transition="in" filter="box(out)">
                                      <p:cBhvr>
                                        <p:cTn id="17" dur="500"/>
                                        <p:tgtEl>
                                          <p:spTgt spid="614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73730"/>
                                        </p:tgtEl>
                                        <p:attrNameLst>
                                          <p:attrName>style.visibility</p:attrName>
                                        </p:attrNameLst>
                                      </p:cBhvr>
                                      <p:to>
                                        <p:strVal val="visible"/>
                                      </p:to>
                                    </p:set>
                                    <p:animEffect transition="in" filter="box(out)">
                                      <p:cBhvr>
                                        <p:cTn id="22" dur="500"/>
                                        <p:tgtEl>
                                          <p:spTgt spid="737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ou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ox(ou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ox(out)">
                                      <p:cBhvr>
                                        <p:cTn id="37" dur="5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ox(out)">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linds(horizontal)">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autoUpdateAnimBg="0"/>
      <p:bldP spid="61446" grpId="0" autoUpdateAnimBg="0"/>
      <p:bldP spid="61447"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5"/>
          <p:cNvSpPr txBox="1">
            <a:spLocks noChangeArrowheads="1"/>
          </p:cNvSpPr>
          <p:nvPr/>
        </p:nvSpPr>
        <p:spPr bwMode="auto">
          <a:xfrm>
            <a:off x="725279" y="782965"/>
            <a:ext cx="30716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latin typeface="黑体" panose="02010609060101010101" pitchFamily="49" charset="-122"/>
                <a:ea typeface="黑体" panose="02010609060101010101" pitchFamily="49" charset="-122"/>
              </a:rPr>
              <a:t>2.</a:t>
            </a:r>
            <a:r>
              <a:rPr lang="zh-CN" altLang="en-US" sz="2800" b="1" dirty="0">
                <a:solidFill>
                  <a:srgbClr val="0000FF"/>
                </a:solidFill>
                <a:latin typeface="黑体" panose="02010609060101010101" pitchFamily="49" charset="-122"/>
                <a:ea typeface="黑体" panose="02010609060101010101" pitchFamily="49" charset="-122"/>
              </a:rPr>
              <a:t>平行力系的中心</a:t>
            </a:r>
          </a:p>
        </p:txBody>
      </p:sp>
      <p:sp>
        <p:nvSpPr>
          <p:cNvPr id="15" name="Text Box 6"/>
          <p:cNvSpPr txBox="1">
            <a:spLocks noChangeArrowheads="1"/>
          </p:cNvSpPr>
          <p:nvPr/>
        </p:nvSpPr>
        <p:spPr bwMode="auto">
          <a:xfrm>
            <a:off x="545772" y="1350806"/>
            <a:ext cx="5489049" cy="461665"/>
          </a:xfrm>
          <a:prstGeom prst="rect">
            <a:avLst/>
          </a:prstGeom>
          <a:noFill/>
          <a:ln w="12700" cap="sq">
            <a:noFill/>
            <a:miter lim="800000"/>
            <a:headEnd type="none" w="sm" len="sm"/>
            <a:tailEnd type="none" w="sm" len="sm"/>
          </a:ln>
          <a:effectLst/>
        </p:spPr>
        <p:txBody>
          <a:bodyPr wrap="square">
            <a:spAutoFit/>
          </a:bodyPr>
          <a:lstStyle/>
          <a:p>
            <a:pPr eaLnBrk="1" hangingPunct="1">
              <a:defRPr/>
            </a:pPr>
            <a:r>
              <a:rPr kumimoji="0" lang="zh-CN" altLang="en-US" sz="2400" b="1" dirty="0">
                <a:latin typeface="楷体" panose="02010609060101010101" pitchFamily="49" charset="-122"/>
                <a:ea typeface="楷体" panose="02010609060101010101" pitchFamily="49" charset="-122"/>
              </a:rPr>
              <a:t>平行力系</a:t>
            </a:r>
            <a:r>
              <a:rPr kumimoji="0" lang="en-US" altLang="zh-CN" sz="2400" b="1" dirty="0">
                <a:latin typeface="楷体" panose="02010609060101010101" pitchFamily="49" charset="-122"/>
                <a:ea typeface="楷体" panose="02010609060101010101" pitchFamily="49" charset="-122"/>
              </a:rPr>
              <a:t>—</a:t>
            </a:r>
            <a:r>
              <a:rPr kumimoji="0" lang="zh-CN" altLang="en-US" sz="2400" b="1" dirty="0">
                <a:latin typeface="楷体" panose="02010609060101010101" pitchFamily="49" charset="-122"/>
                <a:ea typeface="楷体" panose="02010609060101010101" pitchFamily="49" charset="-122"/>
              </a:rPr>
              <a:t>空间力系的一种特殊形式。</a:t>
            </a:r>
            <a:endParaRPr kumimoji="0" lang="zh-CN" altLang="en-US" sz="2400" b="1" dirty="0">
              <a:solidFill>
                <a:srgbClr val="347BBC"/>
              </a:solidFill>
              <a:latin typeface="楷体" panose="02010609060101010101" pitchFamily="49" charset="-122"/>
              <a:ea typeface="楷体" panose="02010609060101010101" pitchFamily="49" charset="-122"/>
            </a:endParaRPr>
          </a:p>
        </p:txBody>
      </p:sp>
      <p:grpSp>
        <p:nvGrpSpPr>
          <p:cNvPr id="5" name="组合 4"/>
          <p:cNvGrpSpPr/>
          <p:nvPr/>
        </p:nvGrpSpPr>
        <p:grpSpPr>
          <a:xfrm>
            <a:off x="827584" y="1878927"/>
            <a:ext cx="3120876" cy="461665"/>
            <a:chOff x="827584" y="1878927"/>
            <a:chExt cx="3120876" cy="461665"/>
          </a:xfrm>
        </p:grpSpPr>
        <p:sp>
          <p:nvSpPr>
            <p:cNvPr id="32" name="矩形 31"/>
            <p:cNvSpPr/>
            <p:nvPr/>
          </p:nvSpPr>
          <p:spPr>
            <a:xfrm>
              <a:off x="827584" y="1878927"/>
              <a:ext cx="803425" cy="461665"/>
            </a:xfrm>
            <a:prstGeom prst="rect">
              <a:avLst/>
            </a:prstGeom>
          </p:spPr>
          <p:txBody>
            <a:bodyPr wrap="none">
              <a:spAutoFit/>
            </a:bodyPr>
            <a:lstStyle/>
            <a:p>
              <a:r>
                <a:rPr kumimoji="0" lang="zh-CN" altLang="en-US" b="1" dirty="0">
                  <a:solidFill>
                    <a:srgbClr val="0000FF"/>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主矢</a:t>
              </a:r>
              <a:endParaRPr lang="zh-CN" altLang="en-US" dirty="0">
                <a:solidFill>
                  <a:srgbClr val="0000FF"/>
                </a:solidFill>
              </a:endParaRPr>
            </a:p>
          </p:txBody>
        </p:sp>
        <p:graphicFrame>
          <p:nvGraphicFramePr>
            <p:cNvPr id="33" name="Object 15"/>
            <p:cNvGraphicFramePr>
              <a:graphicFrameLocks noChangeAspect="1"/>
            </p:cNvGraphicFramePr>
            <p:nvPr>
              <p:extLst>
                <p:ext uri="{D42A27DB-BD31-4B8C-83A1-F6EECF244321}">
                  <p14:modId xmlns:p14="http://schemas.microsoft.com/office/powerpoint/2010/main" val="3719495411"/>
                </p:ext>
              </p:extLst>
            </p:nvPr>
          </p:nvGraphicFramePr>
          <p:xfrm>
            <a:off x="2232373" y="1891329"/>
            <a:ext cx="1716087" cy="449263"/>
          </p:xfrm>
          <a:graphic>
            <a:graphicData uri="http://schemas.openxmlformats.org/presentationml/2006/ole">
              <mc:AlternateContent xmlns:mc="http://schemas.openxmlformats.org/markup-compatibility/2006">
                <mc:Choice xmlns:v="urn:schemas-microsoft-com:vml" Requires="v">
                  <p:oleObj spid="_x0000_s35882" name="Equation" r:id="rId3" imgW="876240" imgH="228600" progId="Equation.DSMT4">
                    <p:embed/>
                  </p:oleObj>
                </mc:Choice>
                <mc:Fallback>
                  <p:oleObj name="Equation" r:id="rId3" imgW="876240" imgH="228600" progId="Equation.DSMT4">
                    <p:embed/>
                    <p:pic>
                      <p:nvPicPr>
                        <p:cNvPr id="0" name=""/>
                        <p:cNvPicPr>
                          <a:picLocks noChangeAspect="1" noChangeArrowheads="1"/>
                        </p:cNvPicPr>
                        <p:nvPr/>
                      </p:nvPicPr>
                      <p:blipFill>
                        <a:blip r:embed="rId4"/>
                        <a:srcRect/>
                        <a:stretch>
                          <a:fillRect/>
                        </a:stretch>
                      </p:blipFill>
                      <p:spPr bwMode="auto">
                        <a:xfrm>
                          <a:off x="2232373" y="1891329"/>
                          <a:ext cx="1716087" cy="449263"/>
                        </a:xfrm>
                        <a:prstGeom prst="rect">
                          <a:avLst/>
                        </a:prstGeom>
                        <a:noFill/>
                        <a:ln>
                          <a:noFill/>
                        </a:ln>
                        <a:effectLst/>
                      </p:spPr>
                    </p:pic>
                  </p:oleObj>
                </mc:Fallback>
              </mc:AlternateContent>
            </a:graphicData>
          </a:graphic>
        </p:graphicFrame>
      </p:grpSp>
      <p:sp>
        <p:nvSpPr>
          <p:cNvPr id="34" name="矩形 33"/>
          <p:cNvSpPr/>
          <p:nvPr/>
        </p:nvSpPr>
        <p:spPr>
          <a:xfrm>
            <a:off x="827584" y="2391330"/>
            <a:ext cx="805029" cy="461665"/>
          </a:xfrm>
          <a:prstGeom prst="rect">
            <a:avLst/>
          </a:prstGeom>
        </p:spPr>
        <p:txBody>
          <a:bodyPr wrap="none">
            <a:spAutoFit/>
          </a:bodyPr>
          <a:lstStyle/>
          <a:p>
            <a:r>
              <a:rPr kumimoji="0" lang="zh-CN" altLang="en-US" b="1" dirty="0">
                <a:solidFill>
                  <a:srgbClr val="0000FF"/>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主矩</a:t>
            </a:r>
            <a:endParaRPr lang="zh-CN" altLang="en-US" dirty="0">
              <a:solidFill>
                <a:srgbClr val="0000FF"/>
              </a:solidFill>
            </a:endParaRPr>
          </a:p>
        </p:txBody>
      </p:sp>
      <p:graphicFrame>
        <p:nvGraphicFramePr>
          <p:cNvPr id="35" name="Object 15"/>
          <p:cNvGraphicFramePr>
            <a:graphicFrameLocks noChangeAspect="1"/>
          </p:cNvGraphicFramePr>
          <p:nvPr>
            <p:extLst>
              <p:ext uri="{D42A27DB-BD31-4B8C-83A1-F6EECF244321}">
                <p14:modId xmlns:p14="http://schemas.microsoft.com/office/powerpoint/2010/main" val="1949664586"/>
              </p:ext>
            </p:extLst>
          </p:nvPr>
        </p:nvGraphicFramePr>
        <p:xfrm>
          <a:off x="2183199" y="2388373"/>
          <a:ext cx="2163762" cy="449262"/>
        </p:xfrm>
        <a:graphic>
          <a:graphicData uri="http://schemas.openxmlformats.org/presentationml/2006/ole">
            <mc:AlternateContent xmlns:mc="http://schemas.openxmlformats.org/markup-compatibility/2006">
              <mc:Choice xmlns:v="urn:schemas-microsoft-com:vml" Requires="v">
                <p:oleObj spid="_x0000_s35883" name="Equation" r:id="rId5" imgW="1104840" imgH="228600" progId="Equation.DSMT4">
                  <p:embed/>
                </p:oleObj>
              </mc:Choice>
              <mc:Fallback>
                <p:oleObj name="Equation" r:id="rId5" imgW="1104840" imgH="228600" progId="Equation.DSMT4">
                  <p:embed/>
                  <p:pic>
                    <p:nvPicPr>
                      <p:cNvPr id="0" name=""/>
                      <p:cNvPicPr>
                        <a:picLocks noChangeAspect="1" noChangeArrowheads="1"/>
                      </p:cNvPicPr>
                      <p:nvPr/>
                    </p:nvPicPr>
                    <p:blipFill>
                      <a:blip r:embed="rId6"/>
                      <a:srcRect/>
                      <a:stretch>
                        <a:fillRect/>
                      </a:stretch>
                    </p:blipFill>
                    <p:spPr bwMode="auto">
                      <a:xfrm>
                        <a:off x="2183199" y="2388373"/>
                        <a:ext cx="2163762" cy="449262"/>
                      </a:xfrm>
                      <a:prstGeom prst="rect">
                        <a:avLst/>
                      </a:prstGeom>
                      <a:noFill/>
                      <a:ln>
                        <a:noFill/>
                      </a:ln>
                      <a:effectLst/>
                    </p:spPr>
                  </p:pic>
                </p:oleObj>
              </mc:Fallback>
            </mc:AlternateContent>
          </a:graphicData>
        </a:graphic>
      </p:graphicFrame>
      <p:sp>
        <p:nvSpPr>
          <p:cNvPr id="36" name="矩形 35"/>
          <p:cNvSpPr/>
          <p:nvPr/>
        </p:nvSpPr>
        <p:spPr>
          <a:xfrm>
            <a:off x="2419443" y="3429422"/>
            <a:ext cx="1572866" cy="461665"/>
          </a:xfrm>
          <a:prstGeom prst="rect">
            <a:avLst/>
          </a:prstGeom>
        </p:spPr>
        <p:txBody>
          <a:bodyPr wrap="none">
            <a:spAutoFit/>
          </a:bodyPr>
          <a:lstStyle/>
          <a:p>
            <a:r>
              <a:rPr kumimoji="0" lang="en-US" altLang="zh-CN" b="1" i="1" dirty="0"/>
              <a:t>F</a:t>
            </a:r>
            <a:r>
              <a:rPr kumimoji="0" lang="en-US" altLang="zh-CN" i="1" baseline="-25000" dirty="0"/>
              <a:t>R</a:t>
            </a:r>
            <a:r>
              <a:rPr kumimoji="0" lang="en-US" altLang="zh-CN" dirty="0">
                <a:sym typeface="Symbol" panose="05050102010706020507" pitchFamily="18" charset="2"/>
              </a:rPr>
              <a:t></a:t>
            </a:r>
            <a:r>
              <a:rPr kumimoji="0" lang="en-US" altLang="zh-CN" i="1" dirty="0"/>
              <a:t> </a:t>
            </a:r>
            <a:r>
              <a:rPr kumimoji="0" lang="en-US" altLang="zh-CN" b="1" i="1" dirty="0"/>
              <a:t>M</a:t>
            </a:r>
            <a:r>
              <a:rPr kumimoji="0" lang="en-US" altLang="zh-CN" i="1" baseline="-25000" dirty="0"/>
              <a:t>O</a:t>
            </a:r>
            <a:r>
              <a:rPr kumimoji="0" lang="en-US" altLang="zh-CN" i="1" dirty="0"/>
              <a:t> </a:t>
            </a:r>
            <a:r>
              <a:rPr kumimoji="0" lang="en-US" altLang="zh-CN" b="1" i="1" dirty="0"/>
              <a:t>= </a:t>
            </a:r>
            <a:r>
              <a:rPr kumimoji="0" lang="en-US" altLang="zh-CN" dirty="0"/>
              <a:t>0</a:t>
            </a:r>
            <a:endParaRPr lang="zh-CN" altLang="en-US" dirty="0"/>
          </a:p>
        </p:txBody>
      </p:sp>
      <p:graphicFrame>
        <p:nvGraphicFramePr>
          <p:cNvPr id="49" name="Object 15"/>
          <p:cNvGraphicFramePr>
            <a:graphicFrameLocks noChangeAspect="1"/>
          </p:cNvGraphicFramePr>
          <p:nvPr>
            <p:extLst>
              <p:ext uri="{D42A27DB-BD31-4B8C-83A1-F6EECF244321}">
                <p14:modId xmlns:p14="http://schemas.microsoft.com/office/powerpoint/2010/main" val="787951151"/>
              </p:ext>
            </p:extLst>
          </p:nvPr>
        </p:nvGraphicFramePr>
        <p:xfrm>
          <a:off x="2770777" y="4034926"/>
          <a:ext cx="2289175" cy="449263"/>
        </p:xfrm>
        <a:graphic>
          <a:graphicData uri="http://schemas.openxmlformats.org/presentationml/2006/ole">
            <mc:AlternateContent xmlns:mc="http://schemas.openxmlformats.org/markup-compatibility/2006">
              <mc:Choice xmlns:v="urn:schemas-microsoft-com:vml" Requires="v">
                <p:oleObj spid="_x0000_s35884" name="Equation" r:id="rId7" imgW="1168200" imgH="228600" progId="Equation.DSMT4">
                  <p:embed/>
                </p:oleObj>
              </mc:Choice>
              <mc:Fallback>
                <p:oleObj name="Equation" r:id="rId7" imgW="1168200" imgH="228600" progId="Equation.DSMT4">
                  <p:embed/>
                  <p:pic>
                    <p:nvPicPr>
                      <p:cNvPr id="0" name=""/>
                      <p:cNvPicPr>
                        <a:picLocks noChangeAspect="1" noChangeArrowheads="1"/>
                      </p:cNvPicPr>
                      <p:nvPr/>
                    </p:nvPicPr>
                    <p:blipFill>
                      <a:blip r:embed="rId8"/>
                      <a:srcRect/>
                      <a:stretch>
                        <a:fillRect/>
                      </a:stretch>
                    </p:blipFill>
                    <p:spPr bwMode="auto">
                      <a:xfrm>
                        <a:off x="2770777" y="4034926"/>
                        <a:ext cx="2289175" cy="449263"/>
                      </a:xfrm>
                      <a:prstGeom prst="rect">
                        <a:avLst/>
                      </a:prstGeom>
                      <a:noFill/>
                      <a:ln>
                        <a:noFill/>
                      </a:ln>
                      <a:effectLst/>
                    </p:spPr>
                  </p:pic>
                </p:oleObj>
              </mc:Fallback>
            </mc:AlternateContent>
          </a:graphicData>
        </a:graphic>
      </p:graphicFrame>
      <p:sp>
        <p:nvSpPr>
          <p:cNvPr id="50" name="矩形 49"/>
          <p:cNvSpPr/>
          <p:nvPr/>
        </p:nvSpPr>
        <p:spPr>
          <a:xfrm>
            <a:off x="827584" y="4038026"/>
            <a:ext cx="1731564" cy="461665"/>
          </a:xfrm>
          <a:prstGeom prst="rect">
            <a:avLst/>
          </a:prstGeom>
        </p:spPr>
        <p:txBody>
          <a:bodyPr wrap="none">
            <a:spAutoFit/>
          </a:bodyPr>
          <a:lstStyle/>
          <a:p>
            <a:r>
              <a:rPr kumimoji="0" lang="zh-CN" altLang="en-US" b="1" dirty="0">
                <a:solidFill>
                  <a:srgbClr val="0000FF"/>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合力矩定理</a:t>
            </a:r>
            <a:endParaRPr lang="zh-CN" altLang="en-US" dirty="0">
              <a:solidFill>
                <a:srgbClr val="0000FF"/>
              </a:solidFill>
            </a:endParaRPr>
          </a:p>
        </p:txBody>
      </p:sp>
      <p:graphicFrame>
        <p:nvGraphicFramePr>
          <p:cNvPr id="52" name="Object 15"/>
          <p:cNvGraphicFramePr>
            <a:graphicFrameLocks noChangeAspect="1"/>
          </p:cNvGraphicFramePr>
          <p:nvPr>
            <p:extLst>
              <p:ext uri="{D42A27DB-BD31-4B8C-83A1-F6EECF244321}">
                <p14:modId xmlns:p14="http://schemas.microsoft.com/office/powerpoint/2010/main" val="1850336652"/>
              </p:ext>
            </p:extLst>
          </p:nvPr>
        </p:nvGraphicFramePr>
        <p:xfrm>
          <a:off x="6034821" y="3805068"/>
          <a:ext cx="1517650" cy="849313"/>
        </p:xfrm>
        <a:graphic>
          <a:graphicData uri="http://schemas.openxmlformats.org/presentationml/2006/ole">
            <mc:AlternateContent xmlns:mc="http://schemas.openxmlformats.org/markup-compatibility/2006">
              <mc:Choice xmlns:v="urn:schemas-microsoft-com:vml" Requires="v">
                <p:oleObj spid="_x0000_s35885" name="Equation" r:id="rId9" imgW="774360" imgH="431640" progId="Equation.DSMT4">
                  <p:embed/>
                </p:oleObj>
              </mc:Choice>
              <mc:Fallback>
                <p:oleObj name="Equation" r:id="rId9" imgW="774360" imgH="431640" progId="Equation.DSMT4">
                  <p:embed/>
                  <p:pic>
                    <p:nvPicPr>
                      <p:cNvPr id="0" name=""/>
                      <p:cNvPicPr>
                        <a:picLocks noChangeAspect="1" noChangeArrowheads="1"/>
                      </p:cNvPicPr>
                      <p:nvPr/>
                    </p:nvPicPr>
                    <p:blipFill>
                      <a:blip r:embed="rId10"/>
                      <a:srcRect/>
                      <a:stretch>
                        <a:fillRect/>
                      </a:stretch>
                    </p:blipFill>
                    <p:spPr bwMode="auto">
                      <a:xfrm>
                        <a:off x="6034821" y="3805068"/>
                        <a:ext cx="1517650" cy="849313"/>
                      </a:xfrm>
                      <a:prstGeom prst="rect">
                        <a:avLst/>
                      </a:prstGeom>
                      <a:noFill/>
                      <a:ln w="12700">
                        <a:solidFill>
                          <a:srgbClr val="0000FF"/>
                        </a:solidFill>
                      </a:ln>
                      <a:effectLst/>
                    </p:spPr>
                  </p:pic>
                </p:oleObj>
              </mc:Fallback>
            </mc:AlternateContent>
          </a:graphicData>
        </a:graphic>
      </p:graphicFrame>
      <p:sp>
        <p:nvSpPr>
          <p:cNvPr id="53" name="Text Box 6"/>
          <p:cNvSpPr txBox="1">
            <a:spLocks noChangeArrowheads="1"/>
          </p:cNvSpPr>
          <p:nvPr/>
        </p:nvSpPr>
        <p:spPr bwMode="auto">
          <a:xfrm>
            <a:off x="925630" y="4965366"/>
            <a:ext cx="7084389" cy="1200329"/>
          </a:xfrm>
          <a:prstGeom prst="rect">
            <a:avLst/>
          </a:prstGeom>
          <a:noFill/>
          <a:ln w="12700" cap="sq">
            <a:noFill/>
            <a:miter lim="800000"/>
            <a:headEnd type="none" w="sm" len="sm"/>
            <a:tailEnd type="none" w="sm" len="sm"/>
          </a:ln>
          <a:effectLst/>
        </p:spPr>
        <p:txBody>
          <a:bodyPr wrap="square">
            <a:spAutoFit/>
          </a:bodyPr>
          <a:lstStyle/>
          <a:p>
            <a:pPr algn="ctr" eaLnBrk="1" hangingPunct="1">
              <a:defRPr/>
            </a:pPr>
            <a:r>
              <a:rPr kumimoji="0" lang="zh-CN" altLang="en-US" sz="2400" b="1" dirty="0">
                <a:latin typeface="楷体" panose="02010609060101010101" pitchFamily="49" charset="-122"/>
                <a:ea typeface="楷体" panose="02010609060101010101" pitchFamily="49" charset="-122"/>
              </a:rPr>
              <a:t>平行力系各力的大小，作用点已知，不论力系的方向如何改变，合力的作用点始终不变，合力的作用点称为</a:t>
            </a:r>
            <a:r>
              <a:rPr kumimoji="0" lang="zh-CN" altLang="en-US" sz="2400" b="1" dirty="0">
                <a:solidFill>
                  <a:srgbClr val="FF0000"/>
                </a:solidFill>
                <a:latin typeface="楷体" panose="02010609060101010101" pitchFamily="49" charset="-122"/>
                <a:ea typeface="楷体" panose="02010609060101010101" pitchFamily="49" charset="-122"/>
              </a:rPr>
              <a:t>平行力系的中心</a:t>
            </a:r>
            <a:r>
              <a:rPr kumimoji="0" lang="zh-CN" altLang="en-US" sz="2400" b="1" dirty="0">
                <a:latin typeface="楷体" panose="02010609060101010101" pitchFamily="49" charset="-122"/>
                <a:ea typeface="楷体" panose="02010609060101010101" pitchFamily="49" charset="-122"/>
              </a:rPr>
              <a:t>。</a:t>
            </a:r>
            <a:endParaRPr kumimoji="0" lang="zh-CN" altLang="en-US" sz="2400" b="1" dirty="0">
              <a:solidFill>
                <a:srgbClr val="347BBC"/>
              </a:solidFill>
              <a:latin typeface="楷体" panose="02010609060101010101" pitchFamily="49" charset="-122"/>
              <a:ea typeface="楷体" panose="02010609060101010101" pitchFamily="49" charset="-122"/>
            </a:endParaRPr>
          </a:p>
        </p:txBody>
      </p:sp>
      <p:grpSp>
        <p:nvGrpSpPr>
          <p:cNvPr id="8" name="组合 7"/>
          <p:cNvGrpSpPr/>
          <p:nvPr/>
        </p:nvGrpSpPr>
        <p:grpSpPr>
          <a:xfrm>
            <a:off x="5652120" y="927540"/>
            <a:ext cx="2725571" cy="2364438"/>
            <a:chOff x="5519787" y="1034065"/>
            <a:chExt cx="2725571" cy="2364438"/>
          </a:xfrm>
        </p:grpSpPr>
        <p:grpSp>
          <p:nvGrpSpPr>
            <p:cNvPr id="2" name="组合 1"/>
            <p:cNvGrpSpPr/>
            <p:nvPr/>
          </p:nvGrpSpPr>
          <p:grpSpPr>
            <a:xfrm>
              <a:off x="5519787" y="1034065"/>
              <a:ext cx="2725571" cy="2364438"/>
              <a:chOff x="5519787" y="1034065"/>
              <a:chExt cx="2725571" cy="2364438"/>
            </a:xfrm>
          </p:grpSpPr>
          <p:sp>
            <p:nvSpPr>
              <p:cNvPr id="21" name="Freeform 30"/>
              <p:cNvSpPr>
                <a:spLocks/>
              </p:cNvSpPr>
              <p:nvPr/>
            </p:nvSpPr>
            <p:spPr bwMode="auto">
              <a:xfrm>
                <a:off x="6447919" y="1650372"/>
                <a:ext cx="1562100" cy="1409700"/>
              </a:xfrm>
              <a:custGeom>
                <a:avLst/>
                <a:gdLst>
                  <a:gd name="T0" fmla="*/ 624 w 984"/>
                  <a:gd name="T1" fmla="*/ 8 h 888"/>
                  <a:gd name="T2" fmla="*/ 192 w 984"/>
                  <a:gd name="T3" fmla="*/ 56 h 888"/>
                  <a:gd name="T4" fmla="*/ 0 w 984"/>
                  <a:gd name="T5" fmla="*/ 344 h 888"/>
                  <a:gd name="T6" fmla="*/ 192 w 984"/>
                  <a:gd name="T7" fmla="*/ 728 h 888"/>
                  <a:gd name="T8" fmla="*/ 576 w 984"/>
                  <a:gd name="T9" fmla="*/ 872 h 888"/>
                  <a:gd name="T10" fmla="*/ 864 w 984"/>
                  <a:gd name="T11" fmla="*/ 632 h 888"/>
                  <a:gd name="T12" fmla="*/ 960 w 984"/>
                  <a:gd name="T13" fmla="*/ 296 h 888"/>
                  <a:gd name="T14" fmla="*/ 720 w 984"/>
                  <a:gd name="T15" fmla="*/ 56 h 888"/>
                  <a:gd name="T16" fmla="*/ 624 w 984"/>
                  <a:gd name="T17" fmla="*/ 8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solidFill>
                <a:srgbClr val="FFCC99">
                  <a:alpha val="62000"/>
                </a:srgbClr>
              </a:solidFill>
              <a:ln w="22225">
                <a:solidFill>
                  <a:schemeClr val="accent6"/>
                </a:solidFill>
                <a:miter lim="800000"/>
                <a:headEnd/>
                <a:tailEnd/>
              </a:ln>
            </p:spPr>
            <p:txBody>
              <a:bodyPr wrap="none"/>
              <a:lstStyle/>
              <a:p>
                <a:endParaRPr lang="zh-CN" altLang="en-US"/>
              </a:p>
            </p:txBody>
          </p:sp>
          <p:grpSp>
            <p:nvGrpSpPr>
              <p:cNvPr id="37" name="Group 7"/>
              <p:cNvGrpSpPr>
                <a:grpSpLocks/>
              </p:cNvGrpSpPr>
              <p:nvPr/>
            </p:nvGrpSpPr>
            <p:grpSpPr bwMode="auto">
              <a:xfrm>
                <a:off x="5519787" y="1124744"/>
                <a:ext cx="2655888" cy="2211388"/>
                <a:chOff x="1642" y="747"/>
                <a:chExt cx="1673" cy="1393"/>
              </a:xfrm>
            </p:grpSpPr>
            <p:sp>
              <p:nvSpPr>
                <p:cNvPr id="38" name="Line 8"/>
                <p:cNvSpPr>
                  <a:spLocks noChangeShapeType="1"/>
                </p:cNvSpPr>
                <p:nvPr/>
              </p:nvSpPr>
              <p:spPr bwMode="auto">
                <a:xfrm flipH="1">
                  <a:off x="1680" y="1728"/>
                  <a:ext cx="43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 name="Group 9"/>
                <p:cNvGrpSpPr>
                  <a:grpSpLocks/>
                </p:cNvGrpSpPr>
                <p:nvPr/>
              </p:nvGrpSpPr>
              <p:grpSpPr bwMode="auto">
                <a:xfrm>
                  <a:off x="1642" y="747"/>
                  <a:ext cx="1673" cy="1393"/>
                  <a:chOff x="1354" y="747"/>
                  <a:chExt cx="1673" cy="1393"/>
                </a:xfrm>
              </p:grpSpPr>
              <p:sp>
                <p:nvSpPr>
                  <p:cNvPr id="40" name="Line 10"/>
                  <p:cNvSpPr>
                    <a:spLocks noChangeShapeType="1"/>
                  </p:cNvSpPr>
                  <p:nvPr/>
                </p:nvSpPr>
                <p:spPr bwMode="auto">
                  <a:xfrm flipV="1">
                    <a:off x="1824" y="864"/>
                    <a:ext cx="0" cy="8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1"/>
                  <p:cNvSpPr>
                    <a:spLocks noChangeShapeType="1"/>
                  </p:cNvSpPr>
                  <p:nvPr/>
                </p:nvSpPr>
                <p:spPr bwMode="auto">
                  <a:xfrm>
                    <a:off x="1824" y="1728"/>
                    <a:ext cx="115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2" name="Object 12"/>
                  <p:cNvGraphicFramePr>
                    <a:graphicFrameLocks noChangeAspect="1"/>
                  </p:cNvGraphicFramePr>
                  <p:nvPr>
                    <p:extLst>
                      <p:ext uri="{D42A27DB-BD31-4B8C-83A1-F6EECF244321}">
                        <p14:modId xmlns:p14="http://schemas.microsoft.com/office/powerpoint/2010/main" val="3634196217"/>
                      </p:ext>
                    </p:extLst>
                  </p:nvPr>
                </p:nvGraphicFramePr>
                <p:xfrm>
                  <a:off x="1354" y="1817"/>
                  <a:ext cx="157" cy="157"/>
                </p:xfrm>
                <a:graphic>
                  <a:graphicData uri="http://schemas.openxmlformats.org/presentationml/2006/ole">
                    <mc:AlternateContent xmlns:mc="http://schemas.openxmlformats.org/markup-compatibility/2006">
                      <mc:Choice xmlns:v="urn:schemas-microsoft-com:vml" Requires="v">
                        <p:oleObj spid="_x0000_s35886" name="公式" r:id="rId11" imgW="139680" imgH="139680" progId="Equation.3">
                          <p:embed/>
                        </p:oleObj>
                      </mc:Choice>
                      <mc:Fallback>
                        <p:oleObj name="公式" r:id="rId11" imgW="139680" imgH="1396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54" y="1817"/>
                                <a:ext cx="157" cy="157"/>
                              </a:xfrm>
                              <a:prstGeom prst="rect">
                                <a:avLst/>
                              </a:prstGeom>
                              <a:noFill/>
                              <a:ln>
                                <a:noFill/>
                              </a:ln>
                              <a:effectLst/>
                            </p:spPr>
                          </p:pic>
                        </p:oleObj>
                      </mc:Fallback>
                    </mc:AlternateContent>
                  </a:graphicData>
                </a:graphic>
              </p:graphicFrame>
              <p:graphicFrame>
                <p:nvGraphicFramePr>
                  <p:cNvPr id="43" name="Object 13"/>
                  <p:cNvGraphicFramePr>
                    <a:graphicFrameLocks noChangeAspect="1"/>
                  </p:cNvGraphicFramePr>
                  <p:nvPr>
                    <p:extLst>
                      <p:ext uri="{D42A27DB-BD31-4B8C-83A1-F6EECF244321}">
                        <p14:modId xmlns:p14="http://schemas.microsoft.com/office/powerpoint/2010/main" val="2357311656"/>
                      </p:ext>
                    </p:extLst>
                  </p:nvPr>
                </p:nvGraphicFramePr>
                <p:xfrm>
                  <a:off x="2893" y="1760"/>
                  <a:ext cx="134" cy="156"/>
                </p:xfrm>
                <a:graphic>
                  <a:graphicData uri="http://schemas.openxmlformats.org/presentationml/2006/ole">
                    <mc:AlternateContent xmlns:mc="http://schemas.openxmlformats.org/markup-compatibility/2006">
                      <mc:Choice xmlns:v="urn:schemas-microsoft-com:vml" Requires="v">
                        <p:oleObj spid="_x0000_s35887" name="公式" r:id="rId13" imgW="139680" imgH="164880" progId="Equation.3">
                          <p:embed/>
                        </p:oleObj>
                      </mc:Choice>
                      <mc:Fallback>
                        <p:oleObj name="公式" r:id="rId13" imgW="139680" imgH="1648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93" y="1760"/>
                                <a:ext cx="134" cy="156"/>
                              </a:xfrm>
                              <a:prstGeom prst="rect">
                                <a:avLst/>
                              </a:prstGeom>
                              <a:noFill/>
                              <a:ln>
                                <a:noFill/>
                              </a:ln>
                              <a:effectLst/>
                            </p:spPr>
                          </p:pic>
                        </p:oleObj>
                      </mc:Fallback>
                    </mc:AlternateContent>
                  </a:graphicData>
                </a:graphic>
              </p:graphicFrame>
              <p:graphicFrame>
                <p:nvGraphicFramePr>
                  <p:cNvPr id="44" name="Object 14"/>
                  <p:cNvGraphicFramePr>
                    <a:graphicFrameLocks noChangeAspect="1"/>
                  </p:cNvGraphicFramePr>
                  <p:nvPr>
                    <p:extLst>
                      <p:ext uri="{D42A27DB-BD31-4B8C-83A1-F6EECF244321}">
                        <p14:modId xmlns:p14="http://schemas.microsoft.com/office/powerpoint/2010/main" val="949316043"/>
                      </p:ext>
                    </p:extLst>
                  </p:nvPr>
                </p:nvGraphicFramePr>
                <p:xfrm>
                  <a:off x="1696" y="747"/>
                  <a:ext cx="115" cy="142"/>
                </p:xfrm>
                <a:graphic>
                  <a:graphicData uri="http://schemas.openxmlformats.org/presentationml/2006/ole">
                    <mc:AlternateContent xmlns:mc="http://schemas.openxmlformats.org/markup-compatibility/2006">
                      <mc:Choice xmlns:v="urn:schemas-microsoft-com:vml" Requires="v">
                        <p:oleObj spid="_x0000_s35888" name="公式" r:id="rId15" imgW="114120" imgH="139680" progId="Equation.3">
                          <p:embed/>
                        </p:oleObj>
                      </mc:Choice>
                      <mc:Fallback>
                        <p:oleObj name="公式" r:id="rId15" imgW="114120" imgH="13968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96" y="747"/>
                                <a:ext cx="115" cy="142"/>
                              </a:xfrm>
                              <a:prstGeom prst="rect">
                                <a:avLst/>
                              </a:prstGeom>
                              <a:noFill/>
                              <a:ln>
                                <a:noFill/>
                              </a:ln>
                              <a:effectLst/>
                            </p:spPr>
                          </p:pic>
                        </p:oleObj>
                      </mc:Fallback>
                    </mc:AlternateContent>
                  </a:graphicData>
                </a:graphic>
              </p:graphicFrame>
              <p:graphicFrame>
                <p:nvGraphicFramePr>
                  <p:cNvPr id="45" name="Object 15"/>
                  <p:cNvGraphicFramePr>
                    <a:graphicFrameLocks noChangeAspect="1"/>
                  </p:cNvGraphicFramePr>
                  <p:nvPr/>
                </p:nvGraphicFramePr>
                <p:xfrm>
                  <a:off x="1632" y="1584"/>
                  <a:ext cx="169" cy="188"/>
                </p:xfrm>
                <a:graphic>
                  <a:graphicData uri="http://schemas.openxmlformats.org/presentationml/2006/ole">
                    <mc:AlternateContent xmlns:mc="http://schemas.openxmlformats.org/markup-compatibility/2006">
                      <mc:Choice xmlns:v="urn:schemas-microsoft-com:vml" Requires="v">
                        <p:oleObj spid="_x0000_s35889" name="公式" r:id="rId17" imgW="126720" imgH="139680" progId="Equation.3">
                          <p:embed/>
                        </p:oleObj>
                      </mc:Choice>
                      <mc:Fallback>
                        <p:oleObj name="公式" r:id="rId17" imgW="126720" imgH="13968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32" y="1584"/>
                                <a:ext cx="169"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Line 16"/>
                  <p:cNvSpPr>
                    <a:spLocks noChangeShapeType="1"/>
                  </p:cNvSpPr>
                  <p:nvPr/>
                </p:nvSpPr>
                <p:spPr bwMode="auto">
                  <a:xfrm flipV="1">
                    <a:off x="2064" y="1008"/>
                    <a:ext cx="0" cy="522"/>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17"/>
                  <p:cNvSpPr>
                    <a:spLocks noChangeShapeType="1"/>
                  </p:cNvSpPr>
                  <p:nvPr/>
                </p:nvSpPr>
                <p:spPr bwMode="auto">
                  <a:xfrm>
                    <a:off x="2475" y="1564"/>
                    <a:ext cx="0" cy="576"/>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18"/>
                  <p:cNvSpPr>
                    <a:spLocks noChangeShapeType="1"/>
                  </p:cNvSpPr>
                  <p:nvPr/>
                </p:nvSpPr>
                <p:spPr bwMode="auto">
                  <a:xfrm flipV="1">
                    <a:off x="2801" y="1051"/>
                    <a:ext cx="0" cy="567"/>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6" name="Text Box 1410"/>
              <p:cNvSpPr txBox="1">
                <a:spLocks noChangeArrowheads="1"/>
              </p:cNvSpPr>
              <p:nvPr/>
            </p:nvSpPr>
            <p:spPr bwMode="auto">
              <a:xfrm>
                <a:off x="6411684" y="1253560"/>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FF0000"/>
                    </a:solidFill>
                    <a:effectLst/>
                    <a:ea typeface="宋体" panose="02010600030101010101" pitchFamily="2" charset="-122"/>
                    <a:cs typeface="Times New Roman" panose="02020603050405020304" pitchFamily="18" charset="0"/>
                  </a:rPr>
                  <a:t>F</a:t>
                </a:r>
                <a:r>
                  <a:rPr lang="en-US" sz="1600" b="1" kern="100" baseline="-25000" dirty="0">
                    <a:solidFill>
                      <a:srgbClr val="FF0000"/>
                    </a:solidFill>
                    <a:effectLst/>
                    <a:ea typeface="宋体" panose="02010600030101010101" pitchFamily="2" charset="-122"/>
                    <a:cs typeface="Times New Roman" panose="02020603050405020304" pitchFamily="18" charset="0"/>
                  </a:rPr>
                  <a:t>2</a:t>
                </a:r>
                <a:endParaRPr lang="zh-CN" sz="16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7" name="Text Box 1410"/>
              <p:cNvSpPr txBox="1">
                <a:spLocks noChangeArrowheads="1"/>
              </p:cNvSpPr>
              <p:nvPr/>
            </p:nvSpPr>
            <p:spPr bwMode="auto">
              <a:xfrm>
                <a:off x="7359480" y="3052883"/>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FF0000"/>
                    </a:solidFill>
                    <a:effectLst/>
                    <a:ea typeface="宋体" panose="02010600030101010101" pitchFamily="2" charset="-122"/>
                    <a:cs typeface="Times New Roman" panose="02020603050405020304" pitchFamily="18" charset="0"/>
                  </a:rPr>
                  <a:t>F</a:t>
                </a:r>
                <a:r>
                  <a:rPr lang="en-US" altLang="zh-CN" sz="1600" b="1" i="1" kern="100" baseline="-25000" dirty="0">
                    <a:solidFill>
                      <a:srgbClr val="FF0000"/>
                    </a:solidFill>
                    <a:effectLst/>
                    <a:ea typeface="宋体" panose="02010600030101010101" pitchFamily="2" charset="-122"/>
                    <a:cs typeface="Times New Roman" panose="02020603050405020304" pitchFamily="18" charset="0"/>
                  </a:rPr>
                  <a:t>i</a:t>
                </a:r>
                <a:endParaRPr lang="zh-CN" sz="1600" b="1" i="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8" name="Text Box 1410"/>
              <p:cNvSpPr txBox="1">
                <a:spLocks noChangeArrowheads="1"/>
              </p:cNvSpPr>
              <p:nvPr/>
            </p:nvSpPr>
            <p:spPr bwMode="auto">
              <a:xfrm>
                <a:off x="7859375" y="1607799"/>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FF0000"/>
                    </a:solidFill>
                    <a:effectLst/>
                    <a:ea typeface="宋体" panose="02010600030101010101" pitchFamily="2" charset="-122"/>
                    <a:cs typeface="Times New Roman" panose="02020603050405020304" pitchFamily="18" charset="0"/>
                  </a:rPr>
                  <a:t>F</a:t>
                </a:r>
                <a:r>
                  <a:rPr lang="en-US" altLang="zh-CN" sz="1600" b="1" kern="100" baseline="-25000" dirty="0">
                    <a:solidFill>
                      <a:srgbClr val="FF0000"/>
                    </a:solidFill>
                    <a:effectLst/>
                    <a:ea typeface="宋体" panose="02010600030101010101" pitchFamily="2" charset="-122"/>
                    <a:cs typeface="Times New Roman" panose="02020603050405020304" pitchFamily="18" charset="0"/>
                  </a:rPr>
                  <a:t>3</a:t>
                </a:r>
                <a:endParaRPr lang="zh-CN" sz="16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9" name="Text Box 1410"/>
              <p:cNvSpPr txBox="1">
                <a:spLocks noChangeArrowheads="1"/>
              </p:cNvSpPr>
              <p:nvPr/>
            </p:nvSpPr>
            <p:spPr bwMode="auto">
              <a:xfrm>
                <a:off x="7446071" y="1058725"/>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FF0000"/>
                    </a:solidFill>
                    <a:effectLst/>
                    <a:ea typeface="宋体" panose="02010600030101010101" pitchFamily="2" charset="-122"/>
                    <a:cs typeface="Times New Roman" panose="02020603050405020304" pitchFamily="18" charset="0"/>
                  </a:rPr>
                  <a:t>F</a:t>
                </a:r>
                <a:r>
                  <a:rPr lang="en-US" sz="1600" b="1" kern="100" baseline="-25000" dirty="0">
                    <a:solidFill>
                      <a:srgbClr val="FF0000"/>
                    </a:solidFill>
                    <a:effectLst/>
                    <a:ea typeface="宋体" panose="02010600030101010101" pitchFamily="2" charset="-122"/>
                    <a:cs typeface="Times New Roman" panose="02020603050405020304" pitchFamily="18" charset="0"/>
                  </a:rPr>
                  <a:t>1</a:t>
                </a:r>
                <a:endParaRPr lang="zh-CN" sz="16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20" name="Line 16"/>
              <p:cNvSpPr>
                <a:spLocks noChangeShapeType="1"/>
              </p:cNvSpPr>
              <p:nvPr/>
            </p:nvSpPr>
            <p:spPr bwMode="auto">
              <a:xfrm flipV="1">
                <a:off x="7373316" y="1034065"/>
                <a:ext cx="0" cy="828675"/>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1019"/>
              <p:cNvSpPr txBox="1">
                <a:spLocks noChangeArrowheads="1"/>
              </p:cNvSpPr>
              <p:nvPr/>
            </p:nvSpPr>
            <p:spPr bwMode="auto">
              <a:xfrm>
                <a:off x="6393804" y="2064952"/>
                <a:ext cx="322114" cy="32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A</a:t>
                </a:r>
                <a:r>
                  <a:rPr lang="en-US" sz="1600" b="1" kern="100" baseline="-25000" dirty="0">
                    <a:effectLst/>
                    <a:ea typeface="宋体" panose="02010600030101010101" pitchFamily="2" charset="-122"/>
                    <a:cs typeface="Times New Roman" panose="02020603050405020304" pitchFamily="18" charset="0"/>
                  </a:rPr>
                  <a:t>2</a:t>
                </a:r>
                <a:endParaRPr lang="zh-CN" sz="1600" b="1" kern="100" baseline="-250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24" name="Text Box 1019"/>
              <p:cNvSpPr txBox="1">
                <a:spLocks noChangeArrowheads="1"/>
              </p:cNvSpPr>
              <p:nvPr/>
            </p:nvSpPr>
            <p:spPr bwMode="auto">
              <a:xfrm>
                <a:off x="7357540" y="2367757"/>
                <a:ext cx="322114" cy="32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A</a:t>
                </a:r>
                <a:r>
                  <a:rPr lang="en-US" sz="1600" b="1" i="1" kern="100" baseline="-25000" dirty="0">
                    <a:effectLst/>
                    <a:ea typeface="宋体" panose="02010600030101010101" pitchFamily="2" charset="-122"/>
                    <a:cs typeface="Times New Roman" panose="02020603050405020304" pitchFamily="18" charset="0"/>
                  </a:rPr>
                  <a:t>i</a:t>
                </a:r>
                <a:endParaRPr lang="zh-CN" sz="1600" b="1" i="1" kern="100" baseline="-250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25" name="Text Box 1019"/>
              <p:cNvSpPr txBox="1">
                <a:spLocks noChangeArrowheads="1"/>
              </p:cNvSpPr>
              <p:nvPr/>
            </p:nvSpPr>
            <p:spPr bwMode="auto">
              <a:xfrm>
                <a:off x="7135724" y="1741580"/>
                <a:ext cx="322114" cy="32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A</a:t>
                </a:r>
                <a:r>
                  <a:rPr lang="en-US" sz="1600" b="1" kern="100" baseline="-25000" dirty="0">
                    <a:effectLst/>
                    <a:ea typeface="宋体" panose="02010600030101010101" pitchFamily="2" charset="-122"/>
                    <a:cs typeface="Times New Roman" panose="02020603050405020304" pitchFamily="18" charset="0"/>
                  </a:rPr>
                  <a:t>1</a:t>
                </a:r>
                <a:endParaRPr lang="zh-CN" sz="1600" b="1" kern="100" baseline="-250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26" name="Text Box 1019"/>
              <p:cNvSpPr txBox="1">
                <a:spLocks noChangeArrowheads="1"/>
              </p:cNvSpPr>
              <p:nvPr/>
            </p:nvSpPr>
            <p:spPr bwMode="auto">
              <a:xfrm>
                <a:off x="7890269" y="2356654"/>
                <a:ext cx="322114" cy="32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i="1" kern="100" dirty="0">
                    <a:effectLst/>
                    <a:ea typeface="宋体" panose="02010600030101010101" pitchFamily="2" charset="-122"/>
                    <a:cs typeface="Times New Roman" panose="02020603050405020304" pitchFamily="18" charset="0"/>
                  </a:rPr>
                  <a:t>A</a:t>
                </a:r>
                <a:r>
                  <a:rPr lang="en-US" sz="1600" b="1" kern="100" baseline="-25000" dirty="0">
                    <a:effectLst/>
                    <a:ea typeface="宋体" panose="02010600030101010101" pitchFamily="2" charset="-122"/>
                    <a:cs typeface="Times New Roman" panose="02020603050405020304" pitchFamily="18" charset="0"/>
                  </a:rPr>
                  <a:t>3</a:t>
                </a:r>
                <a:endParaRPr lang="zh-CN" sz="1600" b="1" kern="100" baseline="-25000" dirty="0">
                  <a:effectLst/>
                  <a:latin typeface="Calibri" panose="020F0502020204030204" pitchFamily="34" charset="0"/>
                  <a:ea typeface="宋体" panose="02010600030101010101" pitchFamily="2" charset="-122"/>
                  <a:cs typeface="Times New Roman" panose="02020603050405020304" pitchFamily="18" charset="0"/>
                </a:endParaRPr>
              </a:p>
            </p:txBody>
          </p:sp>
        </p:grpSp>
        <p:cxnSp>
          <p:nvCxnSpPr>
            <p:cNvPr id="54" name="直接箭头连接符 53"/>
            <p:cNvCxnSpPr>
              <a:cxnSpLocks noChangeAspect="1"/>
            </p:cNvCxnSpPr>
            <p:nvPr/>
          </p:nvCxnSpPr>
          <p:spPr bwMode="auto">
            <a:xfrm rot="900000" flipV="1">
              <a:off x="6323174" y="2279883"/>
              <a:ext cx="950506" cy="535744"/>
            </a:xfrm>
            <a:prstGeom prst="straightConnector1">
              <a:avLst/>
            </a:prstGeom>
            <a:solidFill>
              <a:schemeClr val="accent1"/>
            </a:solidFill>
            <a:ln w="19050" cap="flat" cmpd="sng" algn="ctr">
              <a:solidFill>
                <a:srgbClr val="0000FF"/>
              </a:solidFill>
              <a:prstDash val="solid"/>
              <a:round/>
              <a:headEnd type="none" w="med" len="med"/>
              <a:tailEnd type="triangle" w="med" len="lg"/>
            </a:ln>
            <a:effectLst/>
          </p:spPr>
        </p:cxnSp>
        <p:sp>
          <p:nvSpPr>
            <p:cNvPr id="55" name="Text Box 1410"/>
            <p:cNvSpPr txBox="1">
              <a:spLocks noChangeArrowheads="1"/>
            </p:cNvSpPr>
            <p:nvPr/>
          </p:nvSpPr>
          <p:spPr bwMode="auto">
            <a:xfrm>
              <a:off x="6859451" y="2467302"/>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err="1">
                  <a:solidFill>
                    <a:srgbClr val="0000FF"/>
                  </a:solidFill>
                  <a:effectLst/>
                  <a:ea typeface="宋体" panose="02010600030101010101" pitchFamily="2" charset="-122"/>
                  <a:cs typeface="Times New Roman" panose="02020603050405020304" pitchFamily="18" charset="0"/>
                </a:rPr>
                <a:t>r</a:t>
              </a:r>
              <a:r>
                <a:rPr lang="en-US" sz="1600" b="1" i="1" kern="100" baseline="-25000" dirty="0" err="1">
                  <a:solidFill>
                    <a:srgbClr val="0000FF"/>
                  </a:solidFill>
                  <a:cs typeface="Times New Roman" panose="02020603050405020304" pitchFamily="18" charset="0"/>
                </a:rPr>
                <a:t>i</a:t>
              </a:r>
              <a:endParaRPr lang="zh-CN" sz="1600" b="1" i="1" kern="100" dirty="0">
                <a:solidFill>
                  <a:srgbClr val="0000FF"/>
                </a:solidFill>
                <a:effectLst/>
                <a:latin typeface="Calibri" panose="020F0502020204030204" pitchFamily="34" charset="0"/>
                <a:cs typeface="Times New Roman" panose="02020603050405020304" pitchFamily="18" charset="0"/>
              </a:endParaRPr>
            </a:p>
          </p:txBody>
        </p:sp>
      </p:grpSp>
      <p:grpSp>
        <p:nvGrpSpPr>
          <p:cNvPr id="4" name="组合 3"/>
          <p:cNvGrpSpPr/>
          <p:nvPr/>
        </p:nvGrpSpPr>
        <p:grpSpPr>
          <a:xfrm>
            <a:off x="6411453" y="832660"/>
            <a:ext cx="1227019" cy="1740457"/>
            <a:chOff x="4180598" y="806960"/>
            <a:chExt cx="1227019" cy="1740457"/>
          </a:xfrm>
        </p:grpSpPr>
        <p:sp>
          <p:nvSpPr>
            <p:cNvPr id="27" name="Oval 61"/>
            <p:cNvSpPr>
              <a:spLocks noChangeArrowheads="1"/>
            </p:cNvSpPr>
            <p:nvPr/>
          </p:nvSpPr>
          <p:spPr bwMode="auto">
            <a:xfrm>
              <a:off x="5009940" y="2012451"/>
              <a:ext cx="71438" cy="71438"/>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 name="Text Box 1019"/>
            <p:cNvSpPr txBox="1">
              <a:spLocks noChangeArrowheads="1"/>
            </p:cNvSpPr>
            <p:nvPr/>
          </p:nvSpPr>
          <p:spPr bwMode="auto">
            <a:xfrm>
              <a:off x="5085503" y="1963898"/>
              <a:ext cx="322114" cy="32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0000FF"/>
                  </a:solidFill>
                  <a:effectLst/>
                  <a:ea typeface="宋体" panose="02010600030101010101" pitchFamily="2" charset="-122"/>
                  <a:cs typeface="Times New Roman" panose="02020603050405020304" pitchFamily="18" charset="0"/>
                </a:rPr>
                <a:t>C</a:t>
              </a:r>
              <a:endParaRPr lang="zh-CN" sz="1600" b="1" kern="100" baseline="-250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p:txBody>
        </p:sp>
        <p:cxnSp>
          <p:nvCxnSpPr>
            <p:cNvPr id="3" name="直接箭头连接符 2"/>
            <p:cNvCxnSpPr/>
            <p:nvPr/>
          </p:nvCxnSpPr>
          <p:spPr bwMode="auto">
            <a:xfrm flipV="1">
              <a:off x="4180598" y="2060377"/>
              <a:ext cx="864096" cy="487040"/>
            </a:xfrm>
            <a:prstGeom prst="straightConnector1">
              <a:avLst/>
            </a:prstGeom>
            <a:solidFill>
              <a:schemeClr val="accent1"/>
            </a:solidFill>
            <a:ln w="19050" cap="flat" cmpd="sng" algn="ctr">
              <a:solidFill>
                <a:srgbClr val="0000FF"/>
              </a:solidFill>
              <a:prstDash val="solid"/>
              <a:round/>
              <a:headEnd type="none" w="med" len="med"/>
              <a:tailEnd type="triangle" w="med" len="lg"/>
            </a:ln>
            <a:effectLst/>
          </p:spPr>
        </p:cxnSp>
        <p:sp>
          <p:nvSpPr>
            <p:cNvPr id="30" name="Line 18"/>
            <p:cNvSpPr>
              <a:spLocks noChangeShapeType="1"/>
            </p:cNvSpPr>
            <p:nvPr/>
          </p:nvSpPr>
          <p:spPr bwMode="auto">
            <a:xfrm flipV="1">
              <a:off x="5053161" y="937277"/>
              <a:ext cx="0" cy="111600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Text Box 1410"/>
            <p:cNvSpPr txBox="1">
              <a:spLocks noChangeArrowheads="1"/>
            </p:cNvSpPr>
            <p:nvPr/>
          </p:nvSpPr>
          <p:spPr bwMode="auto">
            <a:xfrm>
              <a:off x="4693650" y="806960"/>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0000FF"/>
                  </a:solidFill>
                  <a:effectLst/>
                  <a:ea typeface="宋体" panose="02010600030101010101" pitchFamily="2" charset="-122"/>
                  <a:cs typeface="Times New Roman" panose="02020603050405020304" pitchFamily="18" charset="0"/>
                </a:rPr>
                <a:t>F</a:t>
              </a:r>
              <a:r>
                <a:rPr lang="en-US" sz="1600" b="1" i="1" kern="100" baseline="-25000" dirty="0">
                  <a:solidFill>
                    <a:srgbClr val="0000FF"/>
                  </a:solidFill>
                  <a:cs typeface="Times New Roman" panose="02020603050405020304" pitchFamily="18" charset="0"/>
                </a:rPr>
                <a:t>R</a:t>
              </a:r>
              <a:endParaRPr lang="zh-CN" sz="1600" b="1" i="1" kern="100" dirty="0">
                <a:solidFill>
                  <a:srgbClr val="0000FF"/>
                </a:solidFill>
                <a:effectLst/>
                <a:latin typeface="Calibri" panose="020F0502020204030204" pitchFamily="34" charset="0"/>
                <a:cs typeface="Times New Roman" panose="02020603050405020304" pitchFamily="18" charset="0"/>
              </a:endParaRPr>
            </a:p>
          </p:txBody>
        </p:sp>
        <p:sp>
          <p:nvSpPr>
            <p:cNvPr id="51" name="Text Box 1410"/>
            <p:cNvSpPr txBox="1">
              <a:spLocks noChangeArrowheads="1"/>
            </p:cNvSpPr>
            <p:nvPr/>
          </p:nvSpPr>
          <p:spPr bwMode="auto">
            <a:xfrm>
              <a:off x="4624830" y="1885023"/>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err="1">
                  <a:solidFill>
                    <a:srgbClr val="0000FF"/>
                  </a:solidFill>
                  <a:effectLst/>
                  <a:ea typeface="宋体" panose="02010600030101010101" pitchFamily="2" charset="-122"/>
                  <a:cs typeface="Times New Roman" panose="02020603050405020304" pitchFamily="18" charset="0"/>
                </a:rPr>
                <a:t>r</a:t>
              </a:r>
              <a:r>
                <a:rPr lang="en-US" sz="1600" b="1" i="1" kern="100" baseline="-25000" dirty="0" err="1">
                  <a:solidFill>
                    <a:srgbClr val="0000FF"/>
                  </a:solidFill>
                  <a:cs typeface="Times New Roman" panose="02020603050405020304" pitchFamily="18" charset="0"/>
                </a:rPr>
                <a:t>C</a:t>
              </a:r>
              <a:endParaRPr lang="zh-CN" sz="1600" b="1" i="1" kern="100" dirty="0">
                <a:solidFill>
                  <a:srgbClr val="0000FF"/>
                </a:solidFill>
                <a:effectLst/>
                <a:latin typeface="Calibri" panose="020F0502020204030204" pitchFamily="34" charset="0"/>
                <a:cs typeface="Times New Roman" panose="02020603050405020304" pitchFamily="18" charset="0"/>
              </a:endParaRPr>
            </a:p>
          </p:txBody>
        </p:sp>
      </p:grpSp>
      <p:graphicFrame>
        <p:nvGraphicFramePr>
          <p:cNvPr id="56" name="Object 15"/>
          <p:cNvGraphicFramePr>
            <a:graphicFrameLocks noChangeAspect="1"/>
          </p:cNvGraphicFramePr>
          <p:nvPr>
            <p:extLst>
              <p:ext uri="{D42A27DB-BD31-4B8C-83A1-F6EECF244321}">
                <p14:modId xmlns:p14="http://schemas.microsoft.com/office/powerpoint/2010/main" val="1013526021"/>
              </p:ext>
            </p:extLst>
          </p:nvPr>
        </p:nvGraphicFramePr>
        <p:xfrm>
          <a:off x="2544715" y="4487290"/>
          <a:ext cx="2717870" cy="471875"/>
        </p:xfrm>
        <a:graphic>
          <a:graphicData uri="http://schemas.openxmlformats.org/presentationml/2006/ole">
            <mc:AlternateContent xmlns:mc="http://schemas.openxmlformats.org/markup-compatibility/2006">
              <mc:Choice xmlns:v="urn:schemas-microsoft-com:vml" Requires="v">
                <p:oleObj spid="_x0000_s35890" name="Equation" r:id="rId19" imgW="1320480" imgH="228600" progId="Equation.DSMT4">
                  <p:embed/>
                </p:oleObj>
              </mc:Choice>
              <mc:Fallback>
                <p:oleObj name="Equation" r:id="rId19" imgW="1320480" imgH="228600" progId="Equation.DSMT4">
                  <p:embed/>
                  <p:pic>
                    <p:nvPicPr>
                      <p:cNvPr id="0" name=""/>
                      <p:cNvPicPr>
                        <a:picLocks noChangeAspect="1" noChangeArrowheads="1"/>
                      </p:cNvPicPr>
                      <p:nvPr/>
                    </p:nvPicPr>
                    <p:blipFill>
                      <a:blip r:embed="rId20"/>
                      <a:srcRect/>
                      <a:stretch>
                        <a:fillRect/>
                      </a:stretch>
                    </p:blipFill>
                    <p:spPr bwMode="auto">
                      <a:xfrm>
                        <a:off x="2544715" y="4487290"/>
                        <a:ext cx="2717870" cy="471875"/>
                      </a:xfrm>
                      <a:prstGeom prst="rect">
                        <a:avLst/>
                      </a:prstGeom>
                      <a:noFill/>
                      <a:ln>
                        <a:noFill/>
                      </a:ln>
                      <a:effectLst/>
                    </p:spPr>
                  </p:pic>
                </p:oleObj>
              </mc:Fallback>
            </mc:AlternateContent>
          </a:graphicData>
        </a:graphic>
      </p:graphicFrame>
      <p:graphicFrame>
        <p:nvGraphicFramePr>
          <p:cNvPr id="57" name="Object 15"/>
          <p:cNvGraphicFramePr>
            <a:graphicFrameLocks noChangeAspect="1"/>
          </p:cNvGraphicFramePr>
          <p:nvPr>
            <p:extLst>
              <p:ext uri="{D42A27DB-BD31-4B8C-83A1-F6EECF244321}">
                <p14:modId xmlns:p14="http://schemas.microsoft.com/office/powerpoint/2010/main" val="2681098575"/>
              </p:ext>
            </p:extLst>
          </p:nvPr>
        </p:nvGraphicFramePr>
        <p:xfrm>
          <a:off x="1887430" y="2929056"/>
          <a:ext cx="2835275" cy="449263"/>
        </p:xfrm>
        <a:graphic>
          <a:graphicData uri="http://schemas.openxmlformats.org/presentationml/2006/ole">
            <mc:AlternateContent xmlns:mc="http://schemas.openxmlformats.org/markup-compatibility/2006">
              <mc:Choice xmlns:v="urn:schemas-microsoft-com:vml" Requires="v">
                <p:oleObj spid="_x0000_s35891" name="Equation" r:id="rId21" imgW="1447560" imgH="228600" progId="Equation.DSMT4">
                  <p:embed/>
                </p:oleObj>
              </mc:Choice>
              <mc:Fallback>
                <p:oleObj name="Equation" r:id="rId21" imgW="1447560" imgH="228600" progId="Equation.DSMT4">
                  <p:embed/>
                  <p:pic>
                    <p:nvPicPr>
                      <p:cNvPr id="0" name=""/>
                      <p:cNvPicPr>
                        <a:picLocks noChangeAspect="1" noChangeArrowheads="1"/>
                      </p:cNvPicPr>
                      <p:nvPr/>
                    </p:nvPicPr>
                    <p:blipFill>
                      <a:blip r:embed="rId22"/>
                      <a:srcRect/>
                      <a:stretch>
                        <a:fillRect/>
                      </a:stretch>
                    </p:blipFill>
                    <p:spPr bwMode="auto">
                      <a:xfrm>
                        <a:off x="1887430" y="2929056"/>
                        <a:ext cx="2835275" cy="44926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1531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ox(ou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left)">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wipe(left)">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 calcmode="lin" valueType="num">
                                      <p:cBhvr additive="base">
                                        <p:cTn id="42" dur="500"/>
                                        <p:tgtEl>
                                          <p:spTgt spid="36"/>
                                        </p:tgtEl>
                                        <p:attrNameLst>
                                          <p:attrName>ppt_x</p:attrName>
                                        </p:attrNameLst>
                                      </p:cBhvr>
                                      <p:tavLst>
                                        <p:tav tm="0">
                                          <p:val>
                                            <p:strVal val="#ppt_x-#ppt_w*1.125000"/>
                                          </p:val>
                                        </p:tav>
                                        <p:tav tm="100000">
                                          <p:val>
                                            <p:strVal val="#ppt_x"/>
                                          </p:val>
                                        </p:tav>
                                      </p:tavLst>
                                    </p:anim>
                                    <p:animEffect transition="in" filter="wipe(right)">
                                      <p:cBhvr>
                                        <p:cTn id="43" dur="500"/>
                                        <p:tgtEl>
                                          <p:spTgt spid="36"/>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2"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p:tgtEl>
                                          <p:spTgt spid="4"/>
                                        </p:tgtEl>
                                        <p:attrNameLst>
                                          <p:attrName>ppt_x</p:attrName>
                                        </p:attrNameLst>
                                      </p:cBhvr>
                                      <p:tavLst>
                                        <p:tav tm="0">
                                          <p:val>
                                            <p:strVal val="#ppt_x+#ppt_w*1.125000"/>
                                          </p:val>
                                        </p:tav>
                                        <p:tav tm="100000">
                                          <p:val>
                                            <p:strVal val="#ppt_x"/>
                                          </p:val>
                                        </p:tav>
                                      </p:tavLst>
                                    </p:anim>
                                    <p:animEffect transition="in" filter="wipe(left)">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500"/>
                                        <p:tgtEl>
                                          <p:spTgt spid="5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wipe(left)">
                                      <p:cBhvr>
                                        <p:cTn id="59" dur="500"/>
                                        <p:tgtEl>
                                          <p:spTgt spid="4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56"/>
                                        </p:tgtEl>
                                        <p:attrNameLst>
                                          <p:attrName>style.visibility</p:attrName>
                                        </p:attrNameLst>
                                      </p:cBhvr>
                                      <p:to>
                                        <p:strVal val="visible"/>
                                      </p:to>
                                    </p:set>
                                    <p:animEffect transition="in" filter="wipe(left)">
                                      <p:cBhvr>
                                        <p:cTn id="64" dur="500"/>
                                        <p:tgtEl>
                                          <p:spTgt spid="56"/>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32" fill="hold" nodeType="click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box(out)">
                                      <p:cBhvr>
                                        <p:cTn id="69" dur="500"/>
                                        <p:tgtEl>
                                          <p:spTgt spid="52"/>
                                        </p:tgtEl>
                                      </p:cBhvr>
                                    </p:animEffect>
                                  </p:child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box(out)">
                                      <p:cBhvr>
                                        <p:cTn id="74"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15" grpId="0" autoUpdateAnimBg="0"/>
      <p:bldP spid="34" grpId="0"/>
      <p:bldP spid="36" grpId="0"/>
      <p:bldP spid="50" grpId="0"/>
      <p:bldP spid="53"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6" name="Text Box 4"/>
          <p:cNvSpPr txBox="1">
            <a:spLocks noChangeArrowheads="1"/>
          </p:cNvSpPr>
          <p:nvPr/>
        </p:nvSpPr>
        <p:spPr bwMode="auto">
          <a:xfrm>
            <a:off x="609352" y="1137002"/>
            <a:ext cx="749104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FF0000"/>
                </a:solidFill>
                <a:latin typeface="楷体" panose="02010609060101010101" pitchFamily="49" charset="-122"/>
                <a:ea typeface="楷体" panose="02010609060101010101" pitchFamily="49" charset="-122"/>
              </a:rPr>
              <a:t>例</a:t>
            </a:r>
            <a:r>
              <a:rPr lang="zh-CN" altLang="en-US" b="1" dirty="0">
                <a:solidFill>
                  <a:srgbClr val="000000"/>
                </a:solidFill>
                <a:latin typeface="楷体" panose="02010609060101010101" pitchFamily="49" charset="-122"/>
                <a:ea typeface="楷体" panose="02010609060101010101" pitchFamily="49" charset="-122"/>
              </a:rPr>
              <a:t> 三角形分布载荷作用在水平梁上，如图所示。最大载荷强度为</a:t>
            </a:r>
            <a:r>
              <a:rPr lang="en-US" altLang="zh-CN" b="1" i="1" dirty="0" err="1">
                <a:solidFill>
                  <a:srgbClr val="000000"/>
                </a:solidFill>
                <a:latin typeface="+mn-lt"/>
                <a:ea typeface="楷体" panose="02010609060101010101" pitchFamily="49" charset="-122"/>
              </a:rPr>
              <a:t>q</a:t>
            </a:r>
            <a:r>
              <a:rPr lang="en-US" altLang="zh-CN" b="1" i="1" baseline="-25000" dirty="0" err="1">
                <a:solidFill>
                  <a:srgbClr val="000000"/>
                </a:solidFill>
                <a:latin typeface="+mn-lt"/>
                <a:ea typeface="楷体" panose="02010609060101010101" pitchFamily="49" charset="-122"/>
              </a:rPr>
              <a:t>m</a:t>
            </a:r>
            <a:r>
              <a:rPr lang="en-US" altLang="zh-CN" b="1" baseline="-25000" dirty="0">
                <a:solidFill>
                  <a:srgbClr val="000000"/>
                </a:solidFill>
                <a:latin typeface="+mn-lt"/>
                <a:ea typeface="楷体" panose="02010609060101010101" pitchFamily="49" charset="-122"/>
              </a:rPr>
              <a:t> </a:t>
            </a:r>
            <a:r>
              <a:rPr lang="zh-CN" altLang="en-US" b="1" dirty="0">
                <a:solidFill>
                  <a:srgbClr val="000000"/>
                </a:solidFill>
                <a:latin typeface="楷体" panose="02010609060101010101" pitchFamily="49" charset="-122"/>
                <a:ea typeface="楷体" panose="02010609060101010101" pitchFamily="49" charset="-122"/>
              </a:rPr>
              <a:t>，梁长</a:t>
            </a:r>
            <a:r>
              <a:rPr lang="en-US" altLang="zh-CN" i="1" dirty="0">
                <a:solidFill>
                  <a:srgbClr val="000000"/>
                </a:solidFill>
                <a:latin typeface="+mn-lt"/>
                <a:ea typeface="楷体" panose="02010609060101010101" pitchFamily="49" charset="-122"/>
              </a:rPr>
              <a:t>l</a:t>
            </a:r>
            <a:r>
              <a:rPr lang="zh-CN" altLang="en-US" b="1" dirty="0">
                <a:solidFill>
                  <a:srgbClr val="000000"/>
                </a:solidFill>
                <a:latin typeface="楷体" panose="02010609060101010101" pitchFamily="49" charset="-122"/>
                <a:ea typeface="楷体" panose="02010609060101010101" pitchFamily="49" charset="-122"/>
              </a:rPr>
              <a:t>。试求该力系的合力。</a:t>
            </a:r>
          </a:p>
        </p:txBody>
      </p:sp>
      <p:graphicFrame>
        <p:nvGraphicFramePr>
          <p:cNvPr id="38917" name="Object 5"/>
          <p:cNvGraphicFramePr>
            <a:graphicFrameLocks noChangeAspect="1"/>
          </p:cNvGraphicFramePr>
          <p:nvPr>
            <p:extLst>
              <p:ext uri="{D42A27DB-BD31-4B8C-83A1-F6EECF244321}">
                <p14:modId xmlns:p14="http://schemas.microsoft.com/office/powerpoint/2010/main" val="1569263135"/>
              </p:ext>
            </p:extLst>
          </p:nvPr>
        </p:nvGraphicFramePr>
        <p:xfrm>
          <a:off x="4609479" y="1967265"/>
          <a:ext cx="3490913" cy="2470150"/>
        </p:xfrm>
        <a:graphic>
          <a:graphicData uri="http://schemas.openxmlformats.org/presentationml/2006/ole">
            <mc:AlternateContent xmlns:mc="http://schemas.openxmlformats.org/markup-compatibility/2006">
              <mc:Choice xmlns:v="urn:schemas-microsoft-com:vml" Requires="v">
                <p:oleObj spid="_x0000_s36886" name="BMP 图像" r:id="rId3" imgW="1857143" imgH="1314286" progId="Paint.Picture">
                  <p:embed/>
                </p:oleObj>
              </mc:Choice>
              <mc:Fallback>
                <p:oleObj name="BMP 图像" r:id="rId3" imgW="1857143" imgH="1314286" progId="Paint.Picture">
                  <p:embed/>
                  <p:pic>
                    <p:nvPicPr>
                      <p:cNvPr id="0" name="Object 5"/>
                      <p:cNvPicPr>
                        <a:picLocks noChangeAspect="1" noChangeArrowheads="1"/>
                      </p:cNvPicPr>
                      <p:nvPr/>
                    </p:nvPicPr>
                    <p:blipFill>
                      <a:blip r:embed="rId4">
                        <a:lum contrast="24000"/>
                        <a:extLst>
                          <a:ext uri="{28A0092B-C50C-407E-A947-70E740481C1C}">
                            <a14:useLocalDpi xmlns:a14="http://schemas.microsoft.com/office/drawing/2010/main" val="0"/>
                          </a:ext>
                        </a:extLst>
                      </a:blip>
                      <a:srcRect/>
                      <a:stretch>
                        <a:fillRect/>
                      </a:stretch>
                    </p:blipFill>
                    <p:spPr bwMode="auto">
                      <a:xfrm>
                        <a:off x="4609479" y="1967265"/>
                        <a:ext cx="3490913" cy="247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8" name="Text Box 6"/>
          <p:cNvSpPr txBox="1">
            <a:spLocks noChangeArrowheads="1"/>
          </p:cNvSpPr>
          <p:nvPr/>
        </p:nvSpPr>
        <p:spPr bwMode="auto">
          <a:xfrm>
            <a:off x="709949" y="2035295"/>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FF"/>
                </a:solidFill>
                <a:latin typeface="楷体" panose="02010609060101010101" pitchFamily="49" charset="-122"/>
                <a:ea typeface="楷体" panose="02010609060101010101" pitchFamily="49" charset="-122"/>
              </a:rPr>
              <a:t>解</a:t>
            </a:r>
            <a:r>
              <a:rPr lang="zh-CN" altLang="en-US" b="1" dirty="0">
                <a:solidFill>
                  <a:srgbClr val="000000"/>
                </a:solidFill>
                <a:latin typeface="楷体" panose="02010609060101010101" pitchFamily="49" charset="-122"/>
                <a:ea typeface="楷体" panose="02010609060101010101" pitchFamily="49" charset="-122"/>
              </a:rPr>
              <a:t>：先求合力</a:t>
            </a:r>
            <a:endParaRPr lang="zh-CN" altLang="en-US" b="1" dirty="0">
              <a:latin typeface="楷体" panose="02010609060101010101" pitchFamily="49" charset="-122"/>
              <a:ea typeface="楷体" panose="02010609060101010101" pitchFamily="49" charset="-122"/>
            </a:endParaRPr>
          </a:p>
        </p:txBody>
      </p:sp>
      <p:graphicFrame>
        <p:nvGraphicFramePr>
          <p:cNvPr id="38919" name="Object 7"/>
          <p:cNvGraphicFramePr>
            <a:graphicFrameLocks noChangeAspect="1"/>
          </p:cNvGraphicFramePr>
          <p:nvPr>
            <p:extLst>
              <p:ext uri="{D42A27DB-BD31-4B8C-83A1-F6EECF244321}">
                <p14:modId xmlns:p14="http://schemas.microsoft.com/office/powerpoint/2010/main" val="2360254414"/>
              </p:ext>
            </p:extLst>
          </p:nvPr>
        </p:nvGraphicFramePr>
        <p:xfrm>
          <a:off x="1271588" y="2409441"/>
          <a:ext cx="1223962" cy="823913"/>
        </p:xfrm>
        <a:graphic>
          <a:graphicData uri="http://schemas.openxmlformats.org/presentationml/2006/ole">
            <mc:AlternateContent xmlns:mc="http://schemas.openxmlformats.org/markup-compatibility/2006">
              <mc:Choice xmlns:v="urn:schemas-microsoft-com:vml" Requires="v">
                <p:oleObj spid="_x0000_s36887" name="公式" r:id="rId5" imgW="583947" imgH="393529" progId="Equation.3">
                  <p:embed/>
                </p:oleObj>
              </mc:Choice>
              <mc:Fallback>
                <p:oleObj name="公式" r:id="rId5" imgW="583947" imgH="393529"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1588" y="2409441"/>
                        <a:ext cx="1223962"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20" name="Object 8"/>
          <p:cNvGraphicFramePr>
            <a:graphicFrameLocks noChangeAspect="1"/>
          </p:cNvGraphicFramePr>
          <p:nvPr>
            <p:extLst>
              <p:ext uri="{D42A27DB-BD31-4B8C-83A1-F6EECF244321}">
                <p14:modId xmlns:p14="http://schemas.microsoft.com/office/powerpoint/2010/main" val="3852725818"/>
              </p:ext>
            </p:extLst>
          </p:nvPr>
        </p:nvGraphicFramePr>
        <p:xfrm>
          <a:off x="746001" y="3106778"/>
          <a:ext cx="2571750" cy="793750"/>
        </p:xfrm>
        <a:graphic>
          <a:graphicData uri="http://schemas.openxmlformats.org/presentationml/2006/ole">
            <mc:AlternateContent xmlns:mc="http://schemas.openxmlformats.org/markup-compatibility/2006">
              <mc:Choice xmlns:v="urn:schemas-microsoft-com:vml" Requires="v">
                <p:oleObj spid="_x0000_s36888" name="Equation" r:id="rId7" imgW="1193760" imgH="393480" progId="Equation.DSMT4">
                  <p:embed/>
                </p:oleObj>
              </mc:Choice>
              <mc:Fallback>
                <p:oleObj name="Equation" r:id="rId7" imgW="1193760" imgH="393480" progId="Equation.DSMT4">
                  <p:embed/>
                  <p:pic>
                    <p:nvPicPr>
                      <p:cNvPr id="0" name="Object 8"/>
                      <p:cNvPicPr>
                        <a:picLocks noChangeAspect="1" noChangeArrowheads="1"/>
                      </p:cNvPicPr>
                      <p:nvPr/>
                    </p:nvPicPr>
                    <p:blipFill>
                      <a:blip r:embed="rId8"/>
                      <a:srcRect/>
                      <a:stretch>
                        <a:fillRect/>
                      </a:stretch>
                    </p:blipFill>
                    <p:spPr bwMode="auto">
                      <a:xfrm>
                        <a:off x="746001" y="3106778"/>
                        <a:ext cx="257175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21" name="Text Box 9"/>
          <p:cNvSpPr txBox="1">
            <a:spLocks noChangeArrowheads="1"/>
          </p:cNvSpPr>
          <p:nvPr/>
        </p:nvSpPr>
        <p:spPr bwMode="auto">
          <a:xfrm>
            <a:off x="978649" y="3911202"/>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00"/>
                </a:solidFill>
                <a:latin typeface="楷体" panose="02010609060101010101" pitchFamily="49" charset="-122"/>
                <a:ea typeface="楷体" panose="02010609060101010101" pitchFamily="49" charset="-122"/>
              </a:rPr>
              <a:t>合力作用线位置</a:t>
            </a:r>
            <a:endParaRPr lang="zh-CN" altLang="en-US" b="1" dirty="0">
              <a:latin typeface="楷体" panose="02010609060101010101" pitchFamily="49" charset="-122"/>
              <a:ea typeface="楷体" panose="02010609060101010101" pitchFamily="49" charset="-122"/>
            </a:endParaRPr>
          </a:p>
        </p:txBody>
      </p:sp>
      <p:graphicFrame>
        <p:nvGraphicFramePr>
          <p:cNvPr id="38923" name="Object 11"/>
          <p:cNvGraphicFramePr>
            <a:graphicFrameLocks noChangeAspect="1"/>
          </p:cNvGraphicFramePr>
          <p:nvPr>
            <p:extLst>
              <p:ext uri="{D42A27DB-BD31-4B8C-83A1-F6EECF244321}">
                <p14:modId xmlns:p14="http://schemas.microsoft.com/office/powerpoint/2010/main" val="2845456779"/>
              </p:ext>
            </p:extLst>
          </p:nvPr>
        </p:nvGraphicFramePr>
        <p:xfrm>
          <a:off x="1297254" y="5331972"/>
          <a:ext cx="1897063" cy="958850"/>
        </p:xfrm>
        <a:graphic>
          <a:graphicData uri="http://schemas.openxmlformats.org/presentationml/2006/ole">
            <mc:AlternateContent xmlns:mc="http://schemas.openxmlformats.org/markup-compatibility/2006">
              <mc:Choice xmlns:v="urn:schemas-microsoft-com:vml" Requires="v">
                <p:oleObj spid="_x0000_s36889" name="公式" r:id="rId9" imgW="850531" imgH="431613" progId="Equation.3">
                  <p:embed/>
                </p:oleObj>
              </mc:Choice>
              <mc:Fallback>
                <p:oleObj name="公式" r:id="rId9" imgW="850531" imgH="431613"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7254" y="5331972"/>
                        <a:ext cx="1897063"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82" name="Text Box 12"/>
          <p:cNvSpPr txBox="1">
            <a:spLocks noChangeArrowheads="1"/>
          </p:cNvSpPr>
          <p:nvPr/>
        </p:nvSpPr>
        <p:spPr bwMode="auto">
          <a:xfrm>
            <a:off x="4044310" y="600894"/>
            <a:ext cx="44381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FF0000"/>
                </a:solidFill>
                <a:latin typeface="黑体" panose="02010609060101010101" pitchFamily="49" charset="-122"/>
                <a:ea typeface="黑体" panose="02010609060101010101" pitchFamily="49" charset="-122"/>
              </a:rPr>
              <a:t>分布力 </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分布载荷</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的合成</a:t>
            </a:r>
          </a:p>
        </p:txBody>
      </p:sp>
      <p:sp>
        <p:nvSpPr>
          <p:cNvPr id="11" name="Text Box 5"/>
          <p:cNvSpPr txBox="1">
            <a:spLocks noChangeArrowheads="1"/>
          </p:cNvSpPr>
          <p:nvPr/>
        </p:nvSpPr>
        <p:spPr bwMode="auto">
          <a:xfrm>
            <a:off x="709949" y="539339"/>
            <a:ext cx="30716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latin typeface="黑体" panose="02010609060101010101" pitchFamily="49" charset="-122"/>
                <a:ea typeface="黑体" panose="02010609060101010101" pitchFamily="49" charset="-122"/>
              </a:rPr>
              <a:t>2.</a:t>
            </a:r>
            <a:r>
              <a:rPr lang="zh-CN" altLang="en-US" sz="2800" b="1" dirty="0">
                <a:solidFill>
                  <a:srgbClr val="0000FF"/>
                </a:solidFill>
                <a:latin typeface="黑体" panose="02010609060101010101" pitchFamily="49" charset="-122"/>
                <a:ea typeface="黑体" panose="02010609060101010101" pitchFamily="49" charset="-122"/>
              </a:rPr>
              <a:t>平行力系的中心</a:t>
            </a:r>
          </a:p>
        </p:txBody>
      </p:sp>
      <p:graphicFrame>
        <p:nvGraphicFramePr>
          <p:cNvPr id="13" name="Object 16"/>
          <p:cNvGraphicFramePr>
            <a:graphicFrameLocks noChangeAspect="1"/>
          </p:cNvGraphicFramePr>
          <p:nvPr>
            <p:extLst>
              <p:ext uri="{D42A27DB-BD31-4B8C-83A1-F6EECF244321}">
                <p14:modId xmlns:p14="http://schemas.microsoft.com/office/powerpoint/2010/main" val="3315303611"/>
              </p:ext>
            </p:extLst>
          </p:nvPr>
        </p:nvGraphicFramePr>
        <p:xfrm>
          <a:off x="917772" y="4388890"/>
          <a:ext cx="2811080" cy="865684"/>
        </p:xfrm>
        <a:graphic>
          <a:graphicData uri="http://schemas.openxmlformats.org/presentationml/2006/ole">
            <mc:AlternateContent xmlns:mc="http://schemas.openxmlformats.org/markup-compatibility/2006">
              <mc:Choice xmlns:v="urn:schemas-microsoft-com:vml" Requires="v">
                <p:oleObj spid="_x0000_s36890" name="Equation" r:id="rId11" imgW="1307880" imgH="419040" progId="Equation.DSMT4">
                  <p:embed/>
                </p:oleObj>
              </mc:Choice>
              <mc:Fallback>
                <p:oleObj name="Equation" r:id="rId11" imgW="1307880" imgH="419040" progId="Equation.DSMT4">
                  <p:embed/>
                  <p:pic>
                    <p:nvPicPr>
                      <p:cNvPr id="0" name=""/>
                      <p:cNvPicPr>
                        <a:picLocks noChangeAspect="1" noChangeArrowheads="1"/>
                      </p:cNvPicPr>
                      <p:nvPr/>
                    </p:nvPicPr>
                    <p:blipFill>
                      <a:blip r:embed="rId12"/>
                      <a:srcRect/>
                      <a:stretch>
                        <a:fillRect/>
                      </a:stretch>
                    </p:blipFill>
                    <p:spPr bwMode="auto">
                      <a:xfrm>
                        <a:off x="917772" y="4388890"/>
                        <a:ext cx="2811080" cy="865684"/>
                      </a:xfrm>
                      <a:prstGeom prst="rect">
                        <a:avLst/>
                      </a:prstGeom>
                      <a:noFill/>
                      <a:ln>
                        <a:noFill/>
                      </a:ln>
                      <a:effectLst/>
                    </p:spPr>
                  </p:pic>
                </p:oleObj>
              </mc:Fallback>
            </mc:AlternateContent>
          </a:graphicData>
        </a:graphic>
      </p:graphicFrame>
      <p:grpSp>
        <p:nvGrpSpPr>
          <p:cNvPr id="2" name="组合 1"/>
          <p:cNvGrpSpPr/>
          <p:nvPr/>
        </p:nvGrpSpPr>
        <p:grpSpPr>
          <a:xfrm>
            <a:off x="6064888" y="5074178"/>
            <a:ext cx="2787364" cy="1225030"/>
            <a:chOff x="3761573" y="5085116"/>
            <a:chExt cx="3124200" cy="1452562"/>
          </a:xfrm>
        </p:grpSpPr>
        <p:grpSp>
          <p:nvGrpSpPr>
            <p:cNvPr id="12" name="Group 11"/>
            <p:cNvGrpSpPr>
              <a:grpSpLocks/>
            </p:cNvGrpSpPr>
            <p:nvPr/>
          </p:nvGrpSpPr>
          <p:grpSpPr bwMode="auto">
            <a:xfrm>
              <a:off x="3761573" y="5085116"/>
              <a:ext cx="3124200" cy="1452562"/>
              <a:chOff x="1344" y="2688"/>
              <a:chExt cx="1968" cy="915"/>
            </a:xfrm>
          </p:grpSpPr>
          <p:pic>
            <p:nvPicPr>
              <p:cNvPr id="14" name="Picture 12" descr="tu静(1)-m"/>
              <p:cNvPicPr>
                <a:picLocks noChangeAspect="1" noChangeArrowheads="1"/>
              </p:cNvPicPr>
              <p:nvPr/>
            </p:nvPicPr>
            <p:blipFill>
              <a:blip r:embed="rId13" cstate="print">
                <a:lum bright="6000"/>
                <a:extLst>
                  <a:ext uri="{28A0092B-C50C-407E-A947-70E740481C1C}">
                    <a14:useLocalDpi xmlns:a14="http://schemas.microsoft.com/office/drawing/2010/main" val="0"/>
                  </a:ext>
                </a:extLst>
              </a:blip>
              <a:srcRect b="8089"/>
              <a:stretch>
                <a:fillRect/>
              </a:stretch>
            </p:blipFill>
            <p:spPr bwMode="auto">
              <a:xfrm>
                <a:off x="1392" y="2688"/>
                <a:ext cx="1920" cy="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3"/>
              <p:cNvSpPr>
                <a:spLocks noChangeArrowheads="1"/>
              </p:cNvSpPr>
              <p:nvPr/>
            </p:nvSpPr>
            <p:spPr bwMode="auto">
              <a:xfrm>
                <a:off x="1344" y="2736"/>
                <a:ext cx="1968" cy="38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algn="ctr" eaLnBrk="1" hangingPunct="1"/>
                <a:endParaRPr kumimoji="0" lang="zh-CN" altLang="zh-CN" sz="2400">
                  <a:solidFill>
                    <a:schemeClr val="tx1"/>
                  </a:solidFill>
                </a:endParaRPr>
              </a:p>
            </p:txBody>
          </p:sp>
        </p:grpSp>
        <p:grpSp>
          <p:nvGrpSpPr>
            <p:cNvPr id="16" name="Group 14"/>
            <p:cNvGrpSpPr>
              <a:grpSpLocks/>
            </p:cNvGrpSpPr>
            <p:nvPr/>
          </p:nvGrpSpPr>
          <p:grpSpPr bwMode="auto">
            <a:xfrm>
              <a:off x="4849013" y="5118085"/>
              <a:ext cx="493713" cy="679453"/>
              <a:chOff x="2037" y="2703"/>
              <a:chExt cx="311" cy="428"/>
            </a:xfrm>
          </p:grpSpPr>
          <p:sp>
            <p:nvSpPr>
              <p:cNvPr id="26" name="Line 23"/>
              <p:cNvSpPr>
                <a:spLocks noChangeShapeType="1"/>
              </p:cNvSpPr>
              <p:nvPr/>
            </p:nvSpPr>
            <p:spPr bwMode="auto">
              <a:xfrm>
                <a:off x="2331" y="2808"/>
                <a:ext cx="0" cy="323"/>
              </a:xfrm>
              <a:prstGeom prst="line">
                <a:avLst/>
              </a:prstGeom>
              <a:noFill/>
              <a:ln w="22225">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18" name="Text Box 25"/>
              <p:cNvSpPr txBox="1">
                <a:spLocks noChangeArrowheads="1"/>
              </p:cNvSpPr>
              <p:nvPr/>
            </p:nvSpPr>
            <p:spPr bwMode="auto">
              <a:xfrm>
                <a:off x="2037" y="2703"/>
                <a:ext cx="311"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FF0066"/>
                    </a:solidFill>
                  </a:rPr>
                  <a:t>F</a:t>
                </a:r>
                <a:r>
                  <a:rPr lang="en-US" altLang="zh-CN" sz="1800" b="1" i="1" baseline="-25000" dirty="0">
                    <a:solidFill>
                      <a:srgbClr val="FF0066"/>
                    </a:solidFill>
                  </a:rPr>
                  <a:t>R</a:t>
                </a:r>
              </a:p>
            </p:txBody>
          </p:sp>
        </p:grpSp>
      </p:grpSp>
      <p:grpSp>
        <p:nvGrpSpPr>
          <p:cNvPr id="28" name="组合 27"/>
          <p:cNvGrpSpPr/>
          <p:nvPr/>
        </p:nvGrpSpPr>
        <p:grpSpPr>
          <a:xfrm>
            <a:off x="3543795" y="5019259"/>
            <a:ext cx="2787364" cy="1288281"/>
            <a:chOff x="3761573" y="5010120"/>
            <a:chExt cx="3124200" cy="1527558"/>
          </a:xfrm>
        </p:grpSpPr>
        <p:grpSp>
          <p:nvGrpSpPr>
            <p:cNvPr id="29" name="Group 11"/>
            <p:cNvGrpSpPr>
              <a:grpSpLocks/>
            </p:cNvGrpSpPr>
            <p:nvPr/>
          </p:nvGrpSpPr>
          <p:grpSpPr bwMode="auto">
            <a:xfrm>
              <a:off x="3761573" y="5085116"/>
              <a:ext cx="3124200" cy="1452562"/>
              <a:chOff x="1344" y="2688"/>
              <a:chExt cx="1968" cy="915"/>
            </a:xfrm>
          </p:grpSpPr>
          <p:pic>
            <p:nvPicPr>
              <p:cNvPr id="42" name="Picture 12" descr="tu静(1)-m"/>
              <p:cNvPicPr>
                <a:picLocks noChangeAspect="1" noChangeArrowheads="1"/>
              </p:cNvPicPr>
              <p:nvPr/>
            </p:nvPicPr>
            <p:blipFill>
              <a:blip r:embed="rId13" cstate="print">
                <a:lum bright="6000"/>
                <a:extLst>
                  <a:ext uri="{28A0092B-C50C-407E-A947-70E740481C1C}">
                    <a14:useLocalDpi xmlns:a14="http://schemas.microsoft.com/office/drawing/2010/main" val="0"/>
                  </a:ext>
                </a:extLst>
              </a:blip>
              <a:srcRect b="8089"/>
              <a:stretch>
                <a:fillRect/>
              </a:stretch>
            </p:blipFill>
            <p:spPr bwMode="auto">
              <a:xfrm>
                <a:off x="1392" y="2688"/>
                <a:ext cx="1920" cy="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Rectangle 13"/>
              <p:cNvSpPr>
                <a:spLocks noChangeArrowheads="1"/>
              </p:cNvSpPr>
              <p:nvPr/>
            </p:nvSpPr>
            <p:spPr bwMode="auto">
              <a:xfrm>
                <a:off x="1344" y="2736"/>
                <a:ext cx="1968" cy="38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algn="ctr" eaLnBrk="1" hangingPunct="1"/>
                <a:endParaRPr kumimoji="0" lang="zh-CN" altLang="zh-CN" sz="2400">
                  <a:solidFill>
                    <a:schemeClr val="tx1"/>
                  </a:solidFill>
                </a:endParaRPr>
              </a:p>
            </p:txBody>
          </p:sp>
        </p:grpSp>
        <p:grpSp>
          <p:nvGrpSpPr>
            <p:cNvPr id="30" name="Group 14"/>
            <p:cNvGrpSpPr>
              <a:grpSpLocks/>
            </p:cNvGrpSpPr>
            <p:nvPr/>
          </p:nvGrpSpPr>
          <p:grpSpPr bwMode="auto">
            <a:xfrm>
              <a:off x="4180673" y="5010120"/>
              <a:ext cx="2286000" cy="768350"/>
              <a:chOff x="1616" y="2635"/>
              <a:chExt cx="1440" cy="484"/>
            </a:xfrm>
          </p:grpSpPr>
          <p:grpSp>
            <p:nvGrpSpPr>
              <p:cNvPr id="31" name="Group 15"/>
              <p:cNvGrpSpPr>
                <a:grpSpLocks/>
              </p:cNvGrpSpPr>
              <p:nvPr/>
            </p:nvGrpSpPr>
            <p:grpSpPr bwMode="auto">
              <a:xfrm>
                <a:off x="1616" y="2928"/>
                <a:ext cx="1440" cy="191"/>
                <a:chOff x="1248" y="2562"/>
                <a:chExt cx="2247" cy="252"/>
              </a:xfrm>
            </p:grpSpPr>
            <p:sp>
              <p:nvSpPr>
                <p:cNvPr id="33" name="Line 16"/>
                <p:cNvSpPr>
                  <a:spLocks noChangeShapeType="1"/>
                </p:cNvSpPr>
                <p:nvPr/>
              </p:nvSpPr>
              <p:spPr bwMode="auto">
                <a:xfrm>
                  <a:off x="1248" y="2562"/>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34" name="Line 17"/>
                <p:cNvSpPr>
                  <a:spLocks noChangeShapeType="1"/>
                </p:cNvSpPr>
                <p:nvPr/>
              </p:nvSpPr>
              <p:spPr bwMode="auto">
                <a:xfrm>
                  <a:off x="3222" y="2565"/>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35" name="Line 18"/>
                <p:cNvSpPr>
                  <a:spLocks noChangeShapeType="1"/>
                </p:cNvSpPr>
                <p:nvPr/>
              </p:nvSpPr>
              <p:spPr bwMode="auto">
                <a:xfrm>
                  <a:off x="2640" y="2565"/>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36" name="Line 19"/>
                <p:cNvSpPr>
                  <a:spLocks noChangeShapeType="1"/>
                </p:cNvSpPr>
                <p:nvPr/>
              </p:nvSpPr>
              <p:spPr bwMode="auto">
                <a:xfrm>
                  <a:off x="1537" y="2574"/>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37" name="Line 20"/>
                <p:cNvSpPr>
                  <a:spLocks noChangeShapeType="1"/>
                </p:cNvSpPr>
                <p:nvPr/>
              </p:nvSpPr>
              <p:spPr bwMode="auto">
                <a:xfrm>
                  <a:off x="2112" y="2574"/>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38" name="Line 21"/>
                <p:cNvSpPr>
                  <a:spLocks noChangeShapeType="1"/>
                </p:cNvSpPr>
                <p:nvPr/>
              </p:nvSpPr>
              <p:spPr bwMode="auto">
                <a:xfrm>
                  <a:off x="2929" y="2565"/>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39" name="Line 22"/>
                <p:cNvSpPr>
                  <a:spLocks noChangeShapeType="1"/>
                </p:cNvSpPr>
                <p:nvPr/>
              </p:nvSpPr>
              <p:spPr bwMode="auto">
                <a:xfrm>
                  <a:off x="1824" y="2562"/>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40" name="Line 23"/>
                <p:cNvSpPr>
                  <a:spLocks noChangeShapeType="1"/>
                </p:cNvSpPr>
                <p:nvPr/>
              </p:nvSpPr>
              <p:spPr bwMode="auto">
                <a:xfrm>
                  <a:off x="2382" y="2562"/>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sp>
              <p:nvSpPr>
                <p:cNvPr id="41" name="Line 24"/>
                <p:cNvSpPr>
                  <a:spLocks noChangeShapeType="1"/>
                </p:cNvSpPr>
                <p:nvPr/>
              </p:nvSpPr>
              <p:spPr bwMode="auto">
                <a:xfrm>
                  <a:off x="3495" y="2565"/>
                  <a:ext cx="0" cy="240"/>
                </a:xfrm>
                <a:prstGeom prst="line">
                  <a:avLst/>
                </a:prstGeom>
                <a:noFill/>
                <a:ln w="12700">
                  <a:solidFill>
                    <a:srgbClr val="FF0066"/>
                  </a:solidFill>
                  <a:round/>
                  <a:headEnd type="none" w="sm" len="sm"/>
                  <a:tailEnd type="stealth" w="med" len="lg"/>
                </a:ln>
                <a:effectLst/>
              </p:spPr>
              <p:txBody>
                <a:bodyPr wrap="none"/>
                <a:lstStyle/>
                <a:p>
                  <a:pPr algn="ctr" eaLnBrk="1" hangingPunct="1">
                    <a:defRPr/>
                  </a:pPr>
                  <a:endParaRPr lang="zh-CN" altLang="en-US">
                    <a:effectLst>
                      <a:outerShdw blurRad="38100" dist="38100" dir="2700000" algn="tl">
                        <a:srgbClr val="000000">
                          <a:alpha val="43137"/>
                        </a:srgbClr>
                      </a:outerShdw>
                    </a:effectLst>
                  </a:endParaRPr>
                </a:p>
              </p:txBody>
            </p:sp>
          </p:grpSp>
          <p:sp>
            <p:nvSpPr>
              <p:cNvPr id="32" name="Text Box 25"/>
              <p:cNvSpPr txBox="1">
                <a:spLocks noChangeArrowheads="1"/>
              </p:cNvSpPr>
              <p:nvPr/>
            </p:nvSpPr>
            <p:spPr bwMode="auto">
              <a:xfrm>
                <a:off x="2172" y="2635"/>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FF0066"/>
                    </a:solidFill>
                  </a:rPr>
                  <a:t>q</a:t>
                </a:r>
              </a:p>
            </p:txBody>
          </p:sp>
        </p:grpSp>
      </p:grpSp>
      <p:grpSp>
        <p:nvGrpSpPr>
          <p:cNvPr id="3" name="组合 2"/>
          <p:cNvGrpSpPr/>
          <p:nvPr/>
        </p:nvGrpSpPr>
        <p:grpSpPr>
          <a:xfrm>
            <a:off x="6195037" y="1982743"/>
            <a:ext cx="440483" cy="1130213"/>
            <a:chOff x="6195037" y="1982743"/>
            <a:chExt cx="440483" cy="1130213"/>
          </a:xfrm>
        </p:grpSpPr>
        <p:sp>
          <p:nvSpPr>
            <p:cNvPr id="44" name="Line 46"/>
            <p:cNvSpPr>
              <a:spLocks noChangeShapeType="1"/>
            </p:cNvSpPr>
            <p:nvPr/>
          </p:nvSpPr>
          <p:spPr bwMode="auto">
            <a:xfrm>
              <a:off x="6635520" y="2063618"/>
              <a:ext cx="0" cy="1049338"/>
            </a:xfrm>
            <a:prstGeom prst="line">
              <a:avLst/>
            </a:prstGeom>
            <a:noFill/>
            <a:ln w="3175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Text Box 25"/>
            <p:cNvSpPr txBox="1">
              <a:spLocks noChangeArrowheads="1"/>
            </p:cNvSpPr>
            <p:nvPr/>
          </p:nvSpPr>
          <p:spPr bwMode="auto">
            <a:xfrm>
              <a:off x="6195037" y="1982743"/>
              <a:ext cx="440483" cy="369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1800" b="1" i="1" dirty="0">
                  <a:solidFill>
                    <a:srgbClr val="FF0066"/>
                  </a:solidFill>
                </a:rPr>
                <a:t>F</a:t>
              </a:r>
              <a:r>
                <a:rPr lang="en-US" altLang="zh-CN" sz="1800" b="1" i="1" baseline="-25000" dirty="0">
                  <a:solidFill>
                    <a:srgbClr val="FF0066"/>
                  </a:solidFill>
                </a:rPr>
                <a:t>R</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8916">
                                            <p:txEl>
                                              <p:pRg st="0" end="0"/>
                                            </p:txEl>
                                          </p:spTgt>
                                        </p:tgtEl>
                                        <p:attrNameLst>
                                          <p:attrName>style.visibility</p:attrName>
                                        </p:attrNameLst>
                                      </p:cBhvr>
                                      <p:to>
                                        <p:strVal val="visible"/>
                                      </p:to>
                                    </p:set>
                                    <p:animEffect transition="in" filter="box(out)">
                                      <p:cBhvr>
                                        <p:cTn id="7" dur="500"/>
                                        <p:tgtEl>
                                          <p:spTgt spid="3891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8917"/>
                                        </p:tgtEl>
                                        <p:attrNameLst>
                                          <p:attrName>style.visibility</p:attrName>
                                        </p:attrNameLst>
                                      </p:cBhvr>
                                      <p:to>
                                        <p:strVal val="visible"/>
                                      </p:to>
                                    </p:set>
                                    <p:animEffect transition="in" filter="box(out)">
                                      <p:cBhvr>
                                        <p:cTn id="12" dur="500"/>
                                        <p:tgtEl>
                                          <p:spTgt spid="389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8918">
                                            <p:txEl>
                                              <p:pRg st="0" end="0"/>
                                            </p:txEl>
                                          </p:spTgt>
                                        </p:tgtEl>
                                        <p:attrNameLst>
                                          <p:attrName>style.visibility</p:attrName>
                                        </p:attrNameLst>
                                      </p:cBhvr>
                                      <p:to>
                                        <p:strVal val="visible"/>
                                      </p:to>
                                    </p:set>
                                    <p:animEffect transition="in" filter="box(out)">
                                      <p:cBhvr>
                                        <p:cTn id="17" dur="500"/>
                                        <p:tgtEl>
                                          <p:spTgt spid="3891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8919"/>
                                        </p:tgtEl>
                                        <p:attrNameLst>
                                          <p:attrName>style.visibility</p:attrName>
                                        </p:attrNameLst>
                                      </p:cBhvr>
                                      <p:to>
                                        <p:strVal val="visible"/>
                                      </p:to>
                                    </p:set>
                                    <p:animEffect transition="in" filter="box(out)">
                                      <p:cBhvr>
                                        <p:cTn id="22" dur="500"/>
                                        <p:tgtEl>
                                          <p:spTgt spid="389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38920"/>
                                        </p:tgtEl>
                                        <p:attrNameLst>
                                          <p:attrName>style.visibility</p:attrName>
                                        </p:attrNameLst>
                                      </p:cBhvr>
                                      <p:to>
                                        <p:strVal val="visible"/>
                                      </p:to>
                                    </p:set>
                                    <p:animEffect transition="in" filter="box(out)">
                                      <p:cBhvr>
                                        <p:cTn id="27" dur="500"/>
                                        <p:tgtEl>
                                          <p:spTgt spid="3892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8921">
                                            <p:txEl>
                                              <p:pRg st="0" end="0"/>
                                            </p:txEl>
                                          </p:spTgt>
                                        </p:tgtEl>
                                        <p:attrNameLst>
                                          <p:attrName>style.visibility</p:attrName>
                                        </p:attrNameLst>
                                      </p:cBhvr>
                                      <p:to>
                                        <p:strVal val="visible"/>
                                      </p:to>
                                    </p:set>
                                    <p:animEffect transition="in" filter="box(out)">
                                      <p:cBhvr>
                                        <p:cTn id="32" dur="500"/>
                                        <p:tgtEl>
                                          <p:spTgt spid="3892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ox(ou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38923"/>
                                        </p:tgtEl>
                                        <p:attrNameLst>
                                          <p:attrName>style.visibility</p:attrName>
                                        </p:attrNameLst>
                                      </p:cBhvr>
                                      <p:to>
                                        <p:strVal val="visible"/>
                                      </p:to>
                                    </p:set>
                                    <p:animEffect transition="in" filter="box(out)">
                                      <p:cBhvr>
                                        <p:cTn id="42" dur="500"/>
                                        <p:tgtEl>
                                          <p:spTgt spid="38923"/>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1000"/>
                                        <p:tgtEl>
                                          <p:spTgt spid="3"/>
                                        </p:tgtEl>
                                      </p:cBhvr>
                                    </p:animEffect>
                                    <p:anim calcmode="lin" valueType="num">
                                      <p:cBhvr>
                                        <p:cTn id="48" dur="1000" fill="hold"/>
                                        <p:tgtEl>
                                          <p:spTgt spid="3"/>
                                        </p:tgtEl>
                                        <p:attrNameLst>
                                          <p:attrName>ppt_x</p:attrName>
                                        </p:attrNameLst>
                                      </p:cBhvr>
                                      <p:tavLst>
                                        <p:tav tm="0">
                                          <p:val>
                                            <p:strVal val="#ppt_x"/>
                                          </p:val>
                                        </p:tav>
                                        <p:tav tm="100000">
                                          <p:val>
                                            <p:strVal val="#ppt_x"/>
                                          </p:val>
                                        </p:tav>
                                      </p:tavLst>
                                    </p:anim>
                                    <p:anim calcmode="lin" valueType="num">
                                      <p:cBhvr>
                                        <p:cTn id="4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fade">
                                      <p:cBhvr>
                                        <p:cTn id="5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uild="p" autoUpdateAnimBg="0"/>
      <p:bldP spid="38918" grpId="0" build="p" autoUpdateAnimBg="0"/>
      <p:bldP spid="38921"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8"/>
          <p:cNvSpPr>
            <a:spLocks noChangeArrowheads="1"/>
          </p:cNvSpPr>
          <p:nvPr/>
        </p:nvSpPr>
        <p:spPr bwMode="auto">
          <a:xfrm>
            <a:off x="700535" y="1113867"/>
            <a:ext cx="7942426" cy="1291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dirty="0">
                <a:latin typeface="黑体" panose="02010609060101010101" pitchFamily="49" charset="-122"/>
                <a:ea typeface="黑体" panose="02010609060101010101" pitchFamily="49" charset="-122"/>
              </a:rPr>
              <a:t>物体各部分所受重力的合力就是物体的重力，各部分所受重力组成的空间平行力系的中心，称为此</a:t>
            </a:r>
            <a:r>
              <a:rPr lang="zh-CN" altLang="en-US" b="1" dirty="0">
                <a:solidFill>
                  <a:srgbClr val="FF0000"/>
                </a:solidFill>
                <a:latin typeface="黑体" panose="02010609060101010101" pitchFamily="49" charset="-122"/>
                <a:ea typeface="黑体" panose="02010609060101010101" pitchFamily="49" charset="-122"/>
              </a:rPr>
              <a:t>物体的重心</a:t>
            </a:r>
            <a:r>
              <a:rPr lang="zh-CN" altLang="en-US" dirty="0">
                <a:latin typeface="黑体" panose="02010609060101010101" pitchFamily="49" charset="-122"/>
                <a:ea typeface="黑体" panose="02010609060101010101" pitchFamily="49" charset="-122"/>
              </a:rPr>
              <a:t>。</a:t>
            </a:r>
          </a:p>
          <a:p>
            <a:r>
              <a:rPr lang="zh-CN" altLang="en-US" b="1" dirty="0">
                <a:solidFill>
                  <a:srgbClr val="0000FF"/>
                </a:solidFill>
                <a:latin typeface="楷体" panose="02010609060101010101" pitchFamily="49" charset="-122"/>
                <a:ea typeface="楷体" panose="02010609060101010101" pitchFamily="49" charset="-122"/>
              </a:rPr>
              <a:t>不论物体如何放置，重心在物体内的相对位置不会改变</a:t>
            </a:r>
            <a:r>
              <a:rPr lang="zh-CN" altLang="en-US" dirty="0">
                <a:latin typeface="黑体" panose="02010609060101010101" pitchFamily="49" charset="-122"/>
                <a:ea typeface="黑体" panose="02010609060101010101" pitchFamily="49" charset="-122"/>
              </a:rPr>
              <a:t>。</a:t>
            </a:r>
          </a:p>
        </p:txBody>
      </p:sp>
      <p:sp>
        <p:nvSpPr>
          <p:cNvPr id="8" name="Text Box 5"/>
          <p:cNvSpPr txBox="1">
            <a:spLocks noChangeArrowheads="1"/>
          </p:cNvSpPr>
          <p:nvPr/>
        </p:nvSpPr>
        <p:spPr bwMode="auto">
          <a:xfrm>
            <a:off x="806038" y="606209"/>
            <a:ext cx="23503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rgbClr val="2113DD"/>
                </a:solidFill>
                <a:latin typeface="Times New Roman" panose="02020603050405020304" pitchFamily="18" charset="0"/>
                <a:ea typeface="宋体" panose="02010600030101010101" pitchFamily="2" charset="-122"/>
              </a:defRPr>
            </a:lvl1pPr>
            <a:lvl2pPr marL="742950" indent="-285750">
              <a:defRPr kumimoji="1" sz="1600">
                <a:solidFill>
                  <a:srgbClr val="2113DD"/>
                </a:solidFill>
                <a:latin typeface="Times New Roman" panose="02020603050405020304" pitchFamily="18" charset="0"/>
                <a:ea typeface="宋体" panose="02010600030101010101" pitchFamily="2" charset="-122"/>
              </a:defRPr>
            </a:lvl2pPr>
            <a:lvl3pPr marL="1143000" indent="-228600">
              <a:defRPr kumimoji="1" sz="1600">
                <a:solidFill>
                  <a:srgbClr val="2113DD"/>
                </a:solidFill>
                <a:latin typeface="Times New Roman" panose="02020603050405020304" pitchFamily="18" charset="0"/>
                <a:ea typeface="宋体" panose="02010600030101010101" pitchFamily="2" charset="-122"/>
              </a:defRPr>
            </a:lvl3pPr>
            <a:lvl4pPr marL="1600200" indent="-228600">
              <a:defRPr kumimoji="1" sz="1600">
                <a:solidFill>
                  <a:srgbClr val="2113DD"/>
                </a:solidFill>
                <a:latin typeface="Times New Roman" panose="02020603050405020304" pitchFamily="18" charset="0"/>
                <a:ea typeface="宋体" panose="02010600030101010101" pitchFamily="2" charset="-122"/>
              </a:defRPr>
            </a:lvl4pPr>
            <a:lvl5pPr marL="2057400" indent="-228600">
              <a:defRPr kumimoji="1" sz="1600">
                <a:solidFill>
                  <a:srgbClr val="2113DD"/>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a:solidFill>
                  <a:srgbClr val="2113DD"/>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00FF"/>
                </a:solidFill>
                <a:latin typeface="黑体" panose="02010609060101010101" pitchFamily="49" charset="-122"/>
                <a:ea typeface="黑体" panose="02010609060101010101" pitchFamily="49" charset="-122"/>
              </a:rPr>
              <a:t>3.</a:t>
            </a:r>
            <a:r>
              <a:rPr lang="zh-CN" altLang="en-US" sz="2800" b="1" dirty="0">
                <a:solidFill>
                  <a:srgbClr val="0000FF"/>
                </a:solidFill>
                <a:latin typeface="黑体" panose="02010609060101010101" pitchFamily="49" charset="-122"/>
                <a:ea typeface="黑体" panose="02010609060101010101" pitchFamily="49" charset="-122"/>
              </a:rPr>
              <a:t>物体的重心</a:t>
            </a:r>
          </a:p>
        </p:txBody>
      </p:sp>
      <p:grpSp>
        <p:nvGrpSpPr>
          <p:cNvPr id="2" name="组合 1"/>
          <p:cNvGrpSpPr/>
          <p:nvPr/>
        </p:nvGrpSpPr>
        <p:grpSpPr>
          <a:xfrm>
            <a:off x="5436096" y="2515521"/>
            <a:ext cx="2851150" cy="2511430"/>
            <a:chOff x="5436096" y="2515521"/>
            <a:chExt cx="2851150" cy="2511430"/>
          </a:xfrm>
        </p:grpSpPr>
        <p:sp>
          <p:nvSpPr>
            <p:cNvPr id="3" name="Rectangle 30"/>
            <p:cNvSpPr>
              <a:spLocks noChangeArrowheads="1"/>
            </p:cNvSpPr>
            <p:nvPr/>
          </p:nvSpPr>
          <p:spPr bwMode="auto">
            <a:xfrm>
              <a:off x="6316861" y="3928401"/>
              <a:ext cx="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 name="Freeform 30"/>
            <p:cNvSpPr>
              <a:spLocks/>
            </p:cNvSpPr>
            <p:nvPr/>
          </p:nvSpPr>
          <p:spPr bwMode="auto">
            <a:xfrm>
              <a:off x="6303903" y="3124600"/>
              <a:ext cx="1562100" cy="1409700"/>
            </a:xfrm>
            <a:custGeom>
              <a:avLst/>
              <a:gdLst>
                <a:gd name="T0" fmla="*/ 624 w 984"/>
                <a:gd name="T1" fmla="*/ 8 h 888"/>
                <a:gd name="T2" fmla="*/ 192 w 984"/>
                <a:gd name="T3" fmla="*/ 56 h 888"/>
                <a:gd name="T4" fmla="*/ 0 w 984"/>
                <a:gd name="T5" fmla="*/ 344 h 888"/>
                <a:gd name="T6" fmla="*/ 192 w 984"/>
                <a:gd name="T7" fmla="*/ 728 h 888"/>
                <a:gd name="T8" fmla="*/ 576 w 984"/>
                <a:gd name="T9" fmla="*/ 872 h 888"/>
                <a:gd name="T10" fmla="*/ 864 w 984"/>
                <a:gd name="T11" fmla="*/ 632 h 888"/>
                <a:gd name="T12" fmla="*/ 960 w 984"/>
                <a:gd name="T13" fmla="*/ 296 h 888"/>
                <a:gd name="T14" fmla="*/ 720 w 984"/>
                <a:gd name="T15" fmla="*/ 56 h 888"/>
                <a:gd name="T16" fmla="*/ 624 w 984"/>
                <a:gd name="T17" fmla="*/ 8 h 8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84"/>
                <a:gd name="T28" fmla="*/ 0 h 888"/>
                <a:gd name="T29" fmla="*/ 984 w 984"/>
                <a:gd name="T30" fmla="*/ 888 h 8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84" h="888">
                  <a:moveTo>
                    <a:pt x="624" y="8"/>
                  </a:moveTo>
                  <a:cubicBezTo>
                    <a:pt x="536" y="8"/>
                    <a:pt x="296" y="0"/>
                    <a:pt x="192" y="56"/>
                  </a:cubicBezTo>
                  <a:cubicBezTo>
                    <a:pt x="88" y="112"/>
                    <a:pt x="0" y="232"/>
                    <a:pt x="0" y="344"/>
                  </a:cubicBezTo>
                  <a:cubicBezTo>
                    <a:pt x="0" y="456"/>
                    <a:pt x="96" y="640"/>
                    <a:pt x="192" y="728"/>
                  </a:cubicBezTo>
                  <a:cubicBezTo>
                    <a:pt x="288" y="816"/>
                    <a:pt x="464" y="888"/>
                    <a:pt x="576" y="872"/>
                  </a:cubicBezTo>
                  <a:cubicBezTo>
                    <a:pt x="688" y="856"/>
                    <a:pt x="800" y="728"/>
                    <a:pt x="864" y="632"/>
                  </a:cubicBezTo>
                  <a:cubicBezTo>
                    <a:pt x="928" y="536"/>
                    <a:pt x="984" y="392"/>
                    <a:pt x="960" y="296"/>
                  </a:cubicBezTo>
                  <a:cubicBezTo>
                    <a:pt x="936" y="200"/>
                    <a:pt x="784" y="104"/>
                    <a:pt x="720" y="56"/>
                  </a:cubicBezTo>
                  <a:cubicBezTo>
                    <a:pt x="656" y="8"/>
                    <a:pt x="712" y="8"/>
                    <a:pt x="624" y="8"/>
                  </a:cubicBezTo>
                  <a:close/>
                </a:path>
              </a:pathLst>
            </a:custGeom>
            <a:solidFill>
              <a:srgbClr val="FFCC99">
                <a:alpha val="62000"/>
              </a:srgbClr>
            </a:solidFill>
            <a:ln w="22225">
              <a:solidFill>
                <a:schemeClr val="accent6"/>
              </a:solidFill>
              <a:miter lim="800000"/>
              <a:headEnd/>
              <a:tailEnd/>
            </a:ln>
          </p:spPr>
          <p:txBody>
            <a:bodyPr wrap="none"/>
            <a:lstStyle/>
            <a:p>
              <a:endParaRPr lang="zh-CN" altLang="en-US"/>
            </a:p>
          </p:txBody>
        </p:sp>
        <p:grpSp>
          <p:nvGrpSpPr>
            <p:cNvPr id="10" name="Group 7"/>
            <p:cNvGrpSpPr>
              <a:grpSpLocks/>
            </p:cNvGrpSpPr>
            <p:nvPr/>
          </p:nvGrpSpPr>
          <p:grpSpPr bwMode="auto">
            <a:xfrm>
              <a:off x="5436096" y="2624372"/>
              <a:ext cx="2851150" cy="2220913"/>
              <a:chOff x="1680" y="763"/>
              <a:chExt cx="1796" cy="1399"/>
            </a:xfrm>
          </p:grpSpPr>
          <p:sp>
            <p:nvSpPr>
              <p:cNvPr id="11" name="Line 8"/>
              <p:cNvSpPr>
                <a:spLocks noChangeShapeType="1"/>
              </p:cNvSpPr>
              <p:nvPr/>
            </p:nvSpPr>
            <p:spPr bwMode="auto">
              <a:xfrm flipH="1">
                <a:off x="1680" y="1728"/>
                <a:ext cx="432"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 name="Group 9"/>
              <p:cNvGrpSpPr>
                <a:grpSpLocks/>
              </p:cNvGrpSpPr>
              <p:nvPr/>
            </p:nvGrpSpPr>
            <p:grpSpPr bwMode="auto">
              <a:xfrm>
                <a:off x="1783" y="763"/>
                <a:ext cx="1693" cy="1399"/>
                <a:chOff x="1495" y="763"/>
                <a:chExt cx="1693" cy="1399"/>
              </a:xfrm>
            </p:grpSpPr>
            <p:sp>
              <p:nvSpPr>
                <p:cNvPr id="13" name="Line 10"/>
                <p:cNvSpPr>
                  <a:spLocks noChangeShapeType="1"/>
                </p:cNvSpPr>
                <p:nvPr/>
              </p:nvSpPr>
              <p:spPr bwMode="auto">
                <a:xfrm flipV="1">
                  <a:off x="1824" y="864"/>
                  <a:ext cx="0" cy="8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auto">
                <a:xfrm>
                  <a:off x="1824" y="1728"/>
                  <a:ext cx="115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 name="Object 12"/>
                <p:cNvGraphicFramePr>
                  <a:graphicFrameLocks noChangeAspect="1"/>
                </p:cNvGraphicFramePr>
                <p:nvPr>
                  <p:extLst>
                    <p:ext uri="{D42A27DB-BD31-4B8C-83A1-F6EECF244321}">
                      <p14:modId xmlns:p14="http://schemas.microsoft.com/office/powerpoint/2010/main" val="795849136"/>
                    </p:ext>
                  </p:extLst>
                </p:nvPr>
              </p:nvGraphicFramePr>
              <p:xfrm>
                <a:off x="1495" y="1972"/>
                <a:ext cx="137" cy="136"/>
              </p:xfrm>
              <a:graphic>
                <a:graphicData uri="http://schemas.openxmlformats.org/presentationml/2006/ole">
                  <mc:AlternateContent xmlns:mc="http://schemas.openxmlformats.org/markup-compatibility/2006">
                    <mc:Choice xmlns:v="urn:schemas-microsoft-com:vml" Requires="v">
                      <p:oleObj spid="_x0000_s37918" name="公式" r:id="rId3" imgW="139680" imgH="139680" progId="Equation.3">
                        <p:embed/>
                      </p:oleObj>
                    </mc:Choice>
                    <mc:Fallback>
                      <p:oleObj name="公式" r:id="rId3" imgW="139680" imgH="1396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 y="1972"/>
                              <a:ext cx="137" cy="136"/>
                            </a:xfrm>
                            <a:prstGeom prst="rect">
                              <a:avLst/>
                            </a:prstGeom>
                            <a:noFill/>
                            <a:ln>
                              <a:noFill/>
                            </a:ln>
                            <a:effectLst/>
                          </p:spPr>
                        </p:pic>
                      </p:oleObj>
                    </mc:Fallback>
                  </mc:AlternateContent>
                </a:graphicData>
              </a:graphic>
            </p:graphicFrame>
            <p:graphicFrame>
              <p:nvGraphicFramePr>
                <p:cNvPr id="16" name="Object 13"/>
                <p:cNvGraphicFramePr>
                  <a:graphicFrameLocks noChangeAspect="1"/>
                </p:cNvGraphicFramePr>
                <p:nvPr>
                  <p:extLst>
                    <p:ext uri="{D42A27DB-BD31-4B8C-83A1-F6EECF244321}">
                      <p14:modId xmlns:p14="http://schemas.microsoft.com/office/powerpoint/2010/main" val="2349227675"/>
                    </p:ext>
                  </p:extLst>
                </p:nvPr>
              </p:nvGraphicFramePr>
              <p:xfrm>
                <a:off x="3027" y="1618"/>
                <a:ext cx="161" cy="187"/>
              </p:xfrm>
              <a:graphic>
                <a:graphicData uri="http://schemas.openxmlformats.org/presentationml/2006/ole">
                  <mc:AlternateContent xmlns:mc="http://schemas.openxmlformats.org/markup-compatibility/2006">
                    <mc:Choice xmlns:v="urn:schemas-microsoft-com:vml" Requires="v">
                      <p:oleObj spid="_x0000_s37919" name="公式" r:id="rId5" imgW="139680" imgH="164880" progId="Equation.3">
                        <p:embed/>
                      </p:oleObj>
                    </mc:Choice>
                    <mc:Fallback>
                      <p:oleObj name="公式" r:id="rId5" imgW="139680" imgH="1648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7" y="1618"/>
                              <a:ext cx="161" cy="187"/>
                            </a:xfrm>
                            <a:prstGeom prst="rect">
                              <a:avLst/>
                            </a:prstGeom>
                            <a:noFill/>
                            <a:ln>
                              <a:noFill/>
                            </a:ln>
                            <a:effectLst/>
                          </p:spPr>
                        </p:pic>
                      </p:oleObj>
                    </mc:Fallback>
                  </mc:AlternateContent>
                </a:graphicData>
              </a:graphic>
            </p:graphicFrame>
            <p:graphicFrame>
              <p:nvGraphicFramePr>
                <p:cNvPr id="17" name="Object 14"/>
                <p:cNvGraphicFramePr>
                  <a:graphicFrameLocks noChangeAspect="1"/>
                </p:cNvGraphicFramePr>
                <p:nvPr>
                  <p:extLst>
                    <p:ext uri="{D42A27DB-BD31-4B8C-83A1-F6EECF244321}">
                      <p14:modId xmlns:p14="http://schemas.microsoft.com/office/powerpoint/2010/main" val="1171788373"/>
                    </p:ext>
                  </p:extLst>
                </p:nvPr>
              </p:nvGraphicFramePr>
              <p:xfrm>
                <a:off x="1664" y="763"/>
                <a:ext cx="134" cy="165"/>
              </p:xfrm>
              <a:graphic>
                <a:graphicData uri="http://schemas.openxmlformats.org/presentationml/2006/ole">
                  <mc:AlternateContent xmlns:mc="http://schemas.openxmlformats.org/markup-compatibility/2006">
                    <mc:Choice xmlns:v="urn:schemas-microsoft-com:vml" Requires="v">
                      <p:oleObj spid="_x0000_s37920" name="公式" r:id="rId7" imgW="114120" imgH="139680" progId="Equation.3">
                        <p:embed/>
                      </p:oleObj>
                    </mc:Choice>
                    <mc:Fallback>
                      <p:oleObj name="公式" r:id="rId7" imgW="114120" imgH="1396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64" y="763"/>
                              <a:ext cx="134" cy="165"/>
                            </a:xfrm>
                            <a:prstGeom prst="rect">
                              <a:avLst/>
                            </a:prstGeom>
                            <a:noFill/>
                            <a:ln>
                              <a:noFill/>
                            </a:ln>
                            <a:effectLst/>
                          </p:spPr>
                        </p:pic>
                      </p:oleObj>
                    </mc:Fallback>
                  </mc:AlternateContent>
                </a:graphicData>
              </a:graphic>
            </p:graphicFrame>
            <p:graphicFrame>
              <p:nvGraphicFramePr>
                <p:cNvPr id="18" name="Object 15"/>
                <p:cNvGraphicFramePr>
                  <a:graphicFrameLocks noChangeAspect="1"/>
                </p:cNvGraphicFramePr>
                <p:nvPr/>
              </p:nvGraphicFramePr>
              <p:xfrm>
                <a:off x="1632" y="1584"/>
                <a:ext cx="169" cy="188"/>
              </p:xfrm>
              <a:graphic>
                <a:graphicData uri="http://schemas.openxmlformats.org/presentationml/2006/ole">
                  <mc:AlternateContent xmlns:mc="http://schemas.openxmlformats.org/markup-compatibility/2006">
                    <mc:Choice xmlns:v="urn:schemas-microsoft-com:vml" Requires="v">
                      <p:oleObj spid="_x0000_s37921" name="公式" r:id="rId9" imgW="126720" imgH="139680" progId="Equation.3">
                        <p:embed/>
                      </p:oleObj>
                    </mc:Choice>
                    <mc:Fallback>
                      <p:oleObj name="公式" r:id="rId9" imgW="126720" imgH="1396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2" y="1584"/>
                              <a:ext cx="169"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Line 16"/>
                <p:cNvSpPr>
                  <a:spLocks noChangeShapeType="1"/>
                </p:cNvSpPr>
                <p:nvPr/>
              </p:nvSpPr>
              <p:spPr bwMode="auto">
                <a:xfrm flipV="1">
                  <a:off x="2064" y="1008"/>
                  <a:ext cx="0" cy="522"/>
                </a:xfrm>
                <a:prstGeom prst="line">
                  <a:avLst/>
                </a:prstGeom>
                <a:noFill/>
                <a:ln w="28575">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7"/>
                <p:cNvSpPr>
                  <a:spLocks noChangeShapeType="1"/>
                </p:cNvSpPr>
                <p:nvPr/>
              </p:nvSpPr>
              <p:spPr bwMode="auto">
                <a:xfrm>
                  <a:off x="2478" y="1586"/>
                  <a:ext cx="0" cy="576"/>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8"/>
                <p:cNvSpPr>
                  <a:spLocks noChangeShapeType="1"/>
                </p:cNvSpPr>
                <p:nvPr/>
              </p:nvSpPr>
              <p:spPr bwMode="auto">
                <a:xfrm flipV="1">
                  <a:off x="2801" y="1051"/>
                  <a:ext cx="0" cy="567"/>
                </a:xfrm>
                <a:prstGeom prst="line">
                  <a:avLst/>
                </a:prstGeom>
                <a:noFill/>
                <a:ln w="28575">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2" name="Text Box 1410"/>
            <p:cNvSpPr txBox="1">
              <a:spLocks noChangeArrowheads="1"/>
            </p:cNvSpPr>
            <p:nvPr/>
          </p:nvSpPr>
          <p:spPr bwMode="auto">
            <a:xfrm>
              <a:off x="6405782" y="2726666"/>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FF0000"/>
                  </a:solidFill>
                  <a:effectLst/>
                  <a:ea typeface="宋体" panose="02010600030101010101" pitchFamily="2" charset="-122"/>
                  <a:cs typeface="Times New Roman" panose="02020603050405020304" pitchFamily="18" charset="0"/>
                </a:rPr>
                <a:t>G</a:t>
              </a:r>
              <a:r>
                <a:rPr lang="en-US" sz="1600" b="1" kern="100" baseline="-25000" dirty="0">
                  <a:solidFill>
                    <a:srgbClr val="FF0000"/>
                  </a:solidFill>
                  <a:effectLst/>
                  <a:ea typeface="宋体" panose="02010600030101010101" pitchFamily="2" charset="-122"/>
                  <a:cs typeface="Times New Roman" panose="02020603050405020304" pitchFamily="18" charset="0"/>
                </a:rPr>
                <a:t>2</a:t>
              </a:r>
              <a:endParaRPr lang="zh-CN" sz="16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23" name="Text Box 1410"/>
            <p:cNvSpPr txBox="1">
              <a:spLocks noChangeArrowheads="1"/>
            </p:cNvSpPr>
            <p:nvPr/>
          </p:nvSpPr>
          <p:spPr bwMode="auto">
            <a:xfrm>
              <a:off x="7215464" y="4527111"/>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FF0000"/>
                  </a:solidFill>
                  <a:effectLst/>
                  <a:ea typeface="宋体" panose="02010600030101010101" pitchFamily="2" charset="-122"/>
                  <a:cs typeface="Times New Roman" panose="02020603050405020304" pitchFamily="18" charset="0"/>
                </a:rPr>
                <a:t>G</a:t>
              </a:r>
              <a:r>
                <a:rPr lang="en-US" altLang="zh-CN" sz="1600" b="1" kern="100" baseline="-25000" dirty="0">
                  <a:solidFill>
                    <a:srgbClr val="FF0000"/>
                  </a:solidFill>
                  <a:effectLst/>
                  <a:ea typeface="宋体" panose="02010600030101010101" pitchFamily="2" charset="-122"/>
                  <a:cs typeface="Times New Roman" panose="02020603050405020304" pitchFamily="18" charset="0"/>
                </a:rPr>
                <a:t>1</a:t>
              </a:r>
              <a:endParaRPr lang="zh-CN" sz="16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24" name="Text Box 1410"/>
            <p:cNvSpPr txBox="1">
              <a:spLocks noChangeArrowheads="1"/>
            </p:cNvSpPr>
            <p:nvPr/>
          </p:nvSpPr>
          <p:spPr bwMode="auto">
            <a:xfrm>
              <a:off x="7715359" y="3082027"/>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FF0000"/>
                  </a:solidFill>
                  <a:effectLst/>
                  <a:ea typeface="宋体" panose="02010600030101010101" pitchFamily="2" charset="-122"/>
                  <a:cs typeface="Times New Roman" panose="02020603050405020304" pitchFamily="18" charset="0"/>
                </a:rPr>
                <a:t>G</a:t>
              </a:r>
              <a:r>
                <a:rPr lang="en-US" altLang="zh-CN" sz="1600" b="1" kern="100" baseline="-25000" dirty="0">
                  <a:solidFill>
                    <a:srgbClr val="FF0000"/>
                  </a:solidFill>
                  <a:effectLst/>
                  <a:ea typeface="宋体" panose="02010600030101010101" pitchFamily="2" charset="-122"/>
                  <a:cs typeface="Times New Roman" panose="02020603050405020304" pitchFamily="18" charset="0"/>
                </a:rPr>
                <a:t>3</a:t>
              </a:r>
              <a:endParaRPr lang="zh-CN" sz="16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25" name="Text Box 1410"/>
            <p:cNvSpPr txBox="1">
              <a:spLocks noChangeArrowheads="1"/>
            </p:cNvSpPr>
            <p:nvPr/>
          </p:nvSpPr>
          <p:spPr bwMode="auto">
            <a:xfrm>
              <a:off x="7302055" y="2532953"/>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err="1">
                  <a:solidFill>
                    <a:srgbClr val="FF0000"/>
                  </a:solidFill>
                  <a:effectLst/>
                  <a:ea typeface="宋体" panose="02010600030101010101" pitchFamily="2" charset="-122"/>
                  <a:cs typeface="Times New Roman" panose="02020603050405020304" pitchFamily="18" charset="0"/>
                </a:rPr>
                <a:t>G</a:t>
              </a:r>
              <a:r>
                <a:rPr lang="en-US" sz="1600" b="1" i="1" kern="100" baseline="-25000" dirty="0" err="1">
                  <a:solidFill>
                    <a:srgbClr val="FF0000"/>
                  </a:solidFill>
                  <a:effectLst/>
                  <a:ea typeface="宋体" panose="02010600030101010101" pitchFamily="2" charset="-122"/>
                  <a:cs typeface="Times New Roman" panose="02020603050405020304" pitchFamily="18" charset="0"/>
                </a:rPr>
                <a:t>n</a:t>
              </a:r>
              <a:endParaRPr lang="zh-CN" sz="1600" b="1" i="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26" name="Line 16"/>
            <p:cNvSpPr>
              <a:spLocks noChangeShapeType="1"/>
            </p:cNvSpPr>
            <p:nvPr/>
          </p:nvSpPr>
          <p:spPr bwMode="auto">
            <a:xfrm flipV="1">
              <a:off x="7236296" y="2543357"/>
              <a:ext cx="0" cy="828675"/>
            </a:xfrm>
            <a:prstGeom prst="line">
              <a:avLst/>
            </a:prstGeom>
            <a:noFill/>
            <a:ln w="28575">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Oval 61"/>
            <p:cNvSpPr>
              <a:spLocks noChangeArrowheads="1"/>
            </p:cNvSpPr>
            <p:nvPr/>
          </p:nvSpPr>
          <p:spPr bwMode="auto">
            <a:xfrm>
              <a:off x="6940733" y="3636334"/>
              <a:ext cx="71438" cy="71438"/>
            </a:xfrm>
            <a:prstGeom prst="ellipse">
              <a:avLst/>
            </a:prstGeom>
            <a:solidFill>
              <a:schemeClr val="accent1"/>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 name="Text Box 1019"/>
            <p:cNvSpPr txBox="1">
              <a:spLocks noChangeArrowheads="1"/>
            </p:cNvSpPr>
            <p:nvPr/>
          </p:nvSpPr>
          <p:spPr bwMode="auto">
            <a:xfrm>
              <a:off x="7035342" y="3540130"/>
              <a:ext cx="322114" cy="32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0000FF"/>
                  </a:solidFill>
                  <a:effectLst/>
                  <a:ea typeface="宋体" panose="02010600030101010101" pitchFamily="2" charset="-122"/>
                  <a:cs typeface="Times New Roman" panose="02020603050405020304" pitchFamily="18" charset="0"/>
                </a:rPr>
                <a:t>C</a:t>
              </a:r>
              <a:endParaRPr lang="zh-CN" sz="1600" b="1" kern="100" baseline="-250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p:txBody>
        </p:sp>
        <p:cxnSp>
          <p:nvCxnSpPr>
            <p:cNvPr id="33" name="直接箭头连接符 32"/>
            <p:cNvCxnSpPr/>
            <p:nvPr/>
          </p:nvCxnSpPr>
          <p:spPr bwMode="auto">
            <a:xfrm flipV="1">
              <a:off x="6111391" y="3684260"/>
              <a:ext cx="864096" cy="487040"/>
            </a:xfrm>
            <a:prstGeom prst="straightConnector1">
              <a:avLst/>
            </a:prstGeom>
            <a:solidFill>
              <a:schemeClr val="accent1"/>
            </a:solidFill>
            <a:ln w="19050" cap="flat" cmpd="sng" algn="ctr">
              <a:solidFill>
                <a:srgbClr val="0000FF"/>
              </a:solidFill>
              <a:prstDash val="solid"/>
              <a:round/>
              <a:headEnd type="none" w="med" len="med"/>
              <a:tailEnd type="triangle" w="med" len="lg"/>
            </a:ln>
            <a:effectLst/>
          </p:spPr>
        </p:cxnSp>
        <p:sp>
          <p:nvSpPr>
            <p:cNvPr id="34" name="Line 18"/>
            <p:cNvSpPr>
              <a:spLocks noChangeShapeType="1"/>
            </p:cNvSpPr>
            <p:nvPr/>
          </p:nvSpPr>
          <p:spPr bwMode="auto">
            <a:xfrm flipV="1">
              <a:off x="6983954" y="2561160"/>
              <a:ext cx="0" cy="1116000"/>
            </a:xfrm>
            <a:prstGeom prst="line">
              <a:avLst/>
            </a:prstGeom>
            <a:noFill/>
            <a:ln w="28575">
              <a:solidFill>
                <a:srgbClr val="0000FF"/>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Text Box 1410"/>
            <p:cNvSpPr txBox="1">
              <a:spLocks noChangeArrowheads="1"/>
            </p:cNvSpPr>
            <p:nvPr/>
          </p:nvSpPr>
          <p:spPr bwMode="auto">
            <a:xfrm>
              <a:off x="6684467" y="2515521"/>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a:solidFill>
                    <a:srgbClr val="0000FF"/>
                  </a:solidFill>
                  <a:effectLst/>
                  <a:ea typeface="宋体" panose="02010600030101010101" pitchFamily="2" charset="-122"/>
                  <a:cs typeface="Times New Roman" panose="02020603050405020304" pitchFamily="18" charset="0"/>
                </a:rPr>
                <a:t>G</a:t>
              </a:r>
              <a:endParaRPr lang="zh-CN" sz="1600" b="1" i="1" kern="100" dirty="0">
                <a:solidFill>
                  <a:srgbClr val="0000FF"/>
                </a:solidFill>
                <a:effectLst/>
                <a:latin typeface="Calibri" panose="020F0502020204030204" pitchFamily="34" charset="0"/>
                <a:cs typeface="Times New Roman" panose="02020603050405020304" pitchFamily="18" charset="0"/>
              </a:endParaRPr>
            </a:p>
          </p:txBody>
        </p:sp>
        <p:sp>
          <p:nvSpPr>
            <p:cNvPr id="36" name="Text Box 1410"/>
            <p:cNvSpPr txBox="1">
              <a:spLocks noChangeArrowheads="1"/>
            </p:cNvSpPr>
            <p:nvPr/>
          </p:nvSpPr>
          <p:spPr bwMode="auto">
            <a:xfrm>
              <a:off x="6546531" y="3865558"/>
              <a:ext cx="385983" cy="34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36000" tIns="7200" rIns="36000" bIns="7200" anchor="t" anchorCtr="0" upright="1">
              <a:noAutofit/>
            </a:bodyPr>
            <a:lstStyle/>
            <a:p>
              <a:pPr algn="just">
                <a:spcAft>
                  <a:spcPts val="0"/>
                </a:spcAft>
              </a:pPr>
              <a:r>
                <a:rPr lang="en-US" sz="1600" b="1" i="1" kern="100" dirty="0" err="1">
                  <a:solidFill>
                    <a:srgbClr val="0000FF"/>
                  </a:solidFill>
                  <a:effectLst/>
                  <a:ea typeface="宋体" panose="02010600030101010101" pitchFamily="2" charset="-122"/>
                  <a:cs typeface="Times New Roman" panose="02020603050405020304" pitchFamily="18" charset="0"/>
                </a:rPr>
                <a:t>r</a:t>
              </a:r>
              <a:r>
                <a:rPr lang="en-US" sz="1600" b="1" i="1" kern="100" baseline="-25000" dirty="0" err="1">
                  <a:solidFill>
                    <a:srgbClr val="0000FF"/>
                  </a:solidFill>
                  <a:cs typeface="Times New Roman" panose="02020603050405020304" pitchFamily="18" charset="0"/>
                </a:rPr>
                <a:t>C</a:t>
              </a:r>
              <a:endParaRPr lang="zh-CN" sz="1600" b="1" i="1" kern="100" dirty="0">
                <a:solidFill>
                  <a:srgbClr val="0000FF"/>
                </a:solidFill>
                <a:effectLst/>
                <a:latin typeface="Calibri" panose="020F0502020204030204" pitchFamily="34" charset="0"/>
                <a:cs typeface="Times New Roman" panose="02020603050405020304" pitchFamily="18" charset="0"/>
              </a:endParaRPr>
            </a:p>
          </p:txBody>
        </p:sp>
      </p:grpSp>
      <p:graphicFrame>
        <p:nvGraphicFramePr>
          <p:cNvPr id="37" name="Object 15"/>
          <p:cNvGraphicFramePr>
            <a:graphicFrameLocks noChangeAspect="1"/>
          </p:cNvGraphicFramePr>
          <p:nvPr>
            <p:extLst>
              <p:ext uri="{D42A27DB-BD31-4B8C-83A1-F6EECF244321}">
                <p14:modId xmlns:p14="http://schemas.microsoft.com/office/powerpoint/2010/main" val="3075858488"/>
              </p:ext>
            </p:extLst>
          </p:nvPr>
        </p:nvGraphicFramePr>
        <p:xfrm>
          <a:off x="1082902" y="2555933"/>
          <a:ext cx="1541463" cy="774700"/>
        </p:xfrm>
        <a:graphic>
          <a:graphicData uri="http://schemas.openxmlformats.org/presentationml/2006/ole">
            <mc:AlternateContent xmlns:mc="http://schemas.openxmlformats.org/markup-compatibility/2006">
              <mc:Choice xmlns:v="urn:schemas-microsoft-com:vml" Requires="v">
                <p:oleObj spid="_x0000_s37922" name="Equation" r:id="rId11" imgW="787320" imgH="393480" progId="Equation.DSMT4">
                  <p:embed/>
                </p:oleObj>
              </mc:Choice>
              <mc:Fallback>
                <p:oleObj name="Equation" r:id="rId11" imgW="787320" imgH="393480" progId="Equation.DSMT4">
                  <p:embed/>
                  <p:pic>
                    <p:nvPicPr>
                      <p:cNvPr id="0" name=""/>
                      <p:cNvPicPr>
                        <a:picLocks noChangeAspect="1" noChangeArrowheads="1"/>
                      </p:cNvPicPr>
                      <p:nvPr/>
                    </p:nvPicPr>
                    <p:blipFill>
                      <a:blip r:embed="rId12"/>
                      <a:srcRect/>
                      <a:stretch>
                        <a:fillRect/>
                      </a:stretch>
                    </p:blipFill>
                    <p:spPr bwMode="auto">
                      <a:xfrm>
                        <a:off x="1082902" y="2555933"/>
                        <a:ext cx="1541463" cy="774700"/>
                      </a:xfrm>
                      <a:prstGeom prst="rect">
                        <a:avLst/>
                      </a:prstGeom>
                      <a:noFill/>
                      <a:ln w="12700">
                        <a:solidFill>
                          <a:srgbClr val="0000FF"/>
                        </a:solidFill>
                      </a:ln>
                      <a:effectLst/>
                    </p:spPr>
                  </p:pic>
                </p:oleObj>
              </mc:Fallback>
            </mc:AlternateContent>
          </a:graphicData>
        </a:graphic>
      </p:graphicFrame>
      <p:graphicFrame>
        <p:nvGraphicFramePr>
          <p:cNvPr id="38" name="Object 15"/>
          <p:cNvGraphicFramePr>
            <a:graphicFrameLocks noChangeAspect="1"/>
          </p:cNvGraphicFramePr>
          <p:nvPr>
            <p:extLst>
              <p:ext uri="{D42A27DB-BD31-4B8C-83A1-F6EECF244321}">
                <p14:modId xmlns:p14="http://schemas.microsoft.com/office/powerpoint/2010/main" val="3161888055"/>
              </p:ext>
            </p:extLst>
          </p:nvPr>
        </p:nvGraphicFramePr>
        <p:xfrm>
          <a:off x="3412881" y="2446573"/>
          <a:ext cx="1665287" cy="2398712"/>
        </p:xfrm>
        <a:graphic>
          <a:graphicData uri="http://schemas.openxmlformats.org/presentationml/2006/ole">
            <mc:AlternateContent xmlns:mc="http://schemas.openxmlformats.org/markup-compatibility/2006">
              <mc:Choice xmlns:v="urn:schemas-microsoft-com:vml" Requires="v">
                <p:oleObj spid="_x0000_s37923" name="Equation" r:id="rId13" imgW="850680" imgH="1218960" progId="Equation.DSMT4">
                  <p:embed/>
                </p:oleObj>
              </mc:Choice>
              <mc:Fallback>
                <p:oleObj name="Equation" r:id="rId13" imgW="850680" imgH="1218960" progId="Equation.DSMT4">
                  <p:embed/>
                  <p:pic>
                    <p:nvPicPr>
                      <p:cNvPr id="0" name=""/>
                      <p:cNvPicPr>
                        <a:picLocks noChangeAspect="1" noChangeArrowheads="1"/>
                      </p:cNvPicPr>
                      <p:nvPr/>
                    </p:nvPicPr>
                    <p:blipFill>
                      <a:blip r:embed="rId14"/>
                      <a:srcRect/>
                      <a:stretch>
                        <a:fillRect/>
                      </a:stretch>
                    </p:blipFill>
                    <p:spPr bwMode="auto">
                      <a:xfrm>
                        <a:off x="3412881" y="2446573"/>
                        <a:ext cx="1665287" cy="2398712"/>
                      </a:xfrm>
                      <a:prstGeom prst="rect">
                        <a:avLst/>
                      </a:prstGeom>
                      <a:noFill/>
                      <a:ln w="12700">
                        <a:noFill/>
                      </a:ln>
                      <a:effectLst/>
                    </p:spPr>
                  </p:pic>
                </p:oleObj>
              </mc:Fallback>
            </mc:AlternateContent>
          </a:graphicData>
        </a:graphic>
      </p:graphicFrame>
      <p:grpSp>
        <p:nvGrpSpPr>
          <p:cNvPr id="5" name="组合 4"/>
          <p:cNvGrpSpPr/>
          <p:nvPr/>
        </p:nvGrpSpPr>
        <p:grpSpPr>
          <a:xfrm>
            <a:off x="3492724" y="5019073"/>
            <a:ext cx="5046663" cy="1304175"/>
            <a:chOff x="3412881" y="4618109"/>
            <a:chExt cx="5046663" cy="1304175"/>
          </a:xfrm>
        </p:grpSpPr>
        <p:sp>
          <p:nvSpPr>
            <p:cNvPr id="39" name="文本框 38"/>
            <p:cNvSpPr txBox="1"/>
            <p:nvPr/>
          </p:nvSpPr>
          <p:spPr>
            <a:xfrm>
              <a:off x="4532056" y="4618109"/>
              <a:ext cx="2808312" cy="461665"/>
            </a:xfrm>
            <a:prstGeom prst="rect">
              <a:avLst/>
            </a:prstGeom>
            <a:noFill/>
          </p:spPr>
          <p:txBody>
            <a:bodyPr wrap="square" rtlCol="0">
              <a:spAutoFit/>
            </a:bodyPr>
            <a:lstStyle/>
            <a:p>
              <a:r>
                <a:rPr lang="zh-CN" altLang="en-US" dirty="0">
                  <a:solidFill>
                    <a:srgbClr val="FF0000"/>
                  </a:solidFill>
                  <a:latin typeface="黑体" panose="02010609060101010101" pitchFamily="49" charset="-122"/>
                  <a:ea typeface="黑体" panose="02010609060101010101" pitchFamily="49" charset="-122"/>
                </a:rPr>
                <a:t>质心位置坐标公式</a:t>
              </a:r>
            </a:p>
          </p:txBody>
        </p:sp>
        <p:graphicFrame>
          <p:nvGraphicFramePr>
            <p:cNvPr id="40" name="Object 15"/>
            <p:cNvGraphicFramePr>
              <a:graphicFrameLocks noChangeAspect="1"/>
            </p:cNvGraphicFramePr>
            <p:nvPr>
              <p:extLst>
                <p:ext uri="{D42A27DB-BD31-4B8C-83A1-F6EECF244321}">
                  <p14:modId xmlns:p14="http://schemas.microsoft.com/office/powerpoint/2010/main" val="1535884995"/>
                </p:ext>
              </p:extLst>
            </p:nvPr>
          </p:nvGraphicFramePr>
          <p:xfrm>
            <a:off x="3412881" y="5147584"/>
            <a:ext cx="5046663" cy="774700"/>
          </p:xfrm>
          <a:graphic>
            <a:graphicData uri="http://schemas.openxmlformats.org/presentationml/2006/ole">
              <mc:AlternateContent xmlns:mc="http://schemas.openxmlformats.org/markup-compatibility/2006">
                <mc:Choice xmlns:v="urn:schemas-microsoft-com:vml" Requires="v">
                  <p:oleObj spid="_x0000_s37924" name="Equation" r:id="rId15" imgW="2577960" imgH="393480" progId="Equation.DSMT4">
                    <p:embed/>
                  </p:oleObj>
                </mc:Choice>
                <mc:Fallback>
                  <p:oleObj name="Equation" r:id="rId15" imgW="2577960" imgH="393480" progId="Equation.DSMT4">
                    <p:embed/>
                    <p:pic>
                      <p:nvPicPr>
                        <p:cNvPr id="0" name=""/>
                        <p:cNvPicPr>
                          <a:picLocks noChangeAspect="1" noChangeArrowheads="1"/>
                        </p:cNvPicPr>
                        <p:nvPr/>
                      </p:nvPicPr>
                      <p:blipFill>
                        <a:blip r:embed="rId16"/>
                        <a:srcRect/>
                        <a:stretch>
                          <a:fillRect/>
                        </a:stretch>
                      </p:blipFill>
                      <p:spPr bwMode="auto">
                        <a:xfrm>
                          <a:off x="3412881" y="5147584"/>
                          <a:ext cx="5046663" cy="774700"/>
                        </a:xfrm>
                        <a:prstGeom prst="rect">
                          <a:avLst/>
                        </a:prstGeom>
                        <a:noFill/>
                        <a:ln w="12700">
                          <a:noFill/>
                        </a:ln>
                        <a:effectLst/>
                      </p:spPr>
                    </p:pic>
                  </p:oleObj>
                </mc:Fallback>
              </mc:AlternateContent>
            </a:graphicData>
          </a:graphic>
        </p:graphicFrame>
      </p:grpSp>
      <p:pic>
        <p:nvPicPr>
          <p:cNvPr id="41" name="图片 40"/>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72541" y="3400960"/>
            <a:ext cx="2202712" cy="3304069"/>
          </a:xfrm>
          <a:prstGeom prst="rect">
            <a:avLst/>
          </a:prstGeom>
        </p:spPr>
      </p:pic>
    </p:spTree>
    <p:extLst>
      <p:ext uri="{BB962C8B-B14F-4D97-AF65-F5344CB8AC3E}">
        <p14:creationId xmlns:p14="http://schemas.microsoft.com/office/powerpoint/2010/main" val="1933935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box(out)">
                                      <p:cBhvr>
                                        <p:cTn id="13" dur="500"/>
                                        <p:tgtEl>
                                          <p:spTgt spid="37"/>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box(out)">
                                      <p:cBhvr>
                                        <p:cTn id="18" dur="500"/>
                                        <p:tgtEl>
                                          <p:spTgt spid="3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3491879" y="428472"/>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本章小结</a:t>
            </a:r>
          </a:p>
        </p:txBody>
      </p:sp>
      <p:sp>
        <p:nvSpPr>
          <p:cNvPr id="19459" name="Text Box 3"/>
          <p:cNvSpPr txBox="1">
            <a:spLocks noChangeArrowheads="1"/>
          </p:cNvSpPr>
          <p:nvPr/>
        </p:nvSpPr>
        <p:spPr bwMode="auto">
          <a:xfrm>
            <a:off x="539552" y="1707716"/>
            <a:ext cx="82809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楷体" panose="02010609060101010101" pitchFamily="49" charset="-122"/>
                <a:ea typeface="楷体" panose="02010609060101010101" pitchFamily="49" charset="-122"/>
              </a:rPr>
              <a:t>2</a:t>
            </a:r>
            <a:r>
              <a:rPr lang="zh-CN" altLang="en-US" b="1" dirty="0">
                <a:latin typeface="楷体" panose="02010609060101010101" pitchFamily="49" charset="-122"/>
                <a:ea typeface="楷体" panose="02010609060101010101" pitchFamily="49" charset="-122"/>
              </a:rPr>
              <a:t>．力对</a:t>
            </a:r>
            <a:r>
              <a:rPr lang="zh-CN" altLang="en-US" b="1" dirty="0">
                <a:solidFill>
                  <a:srgbClr val="FF0000"/>
                </a:solidFill>
                <a:latin typeface="楷体" panose="02010609060101010101" pitchFamily="49" charset="-122"/>
                <a:ea typeface="楷体" panose="02010609060101010101" pitchFamily="49" charset="-122"/>
              </a:rPr>
              <a:t>轴</a:t>
            </a:r>
            <a:r>
              <a:rPr lang="zh-CN" altLang="en-US" b="1" dirty="0">
                <a:latin typeface="楷体" panose="02010609060101010101" pitchFamily="49" charset="-122"/>
                <a:ea typeface="楷体" panose="02010609060101010101" pitchFamily="49" charset="-122"/>
              </a:rPr>
              <a:t>之矩是力使物体绕轴转动效果的度量</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是</a:t>
            </a:r>
            <a:r>
              <a:rPr lang="zh-CN" altLang="en-US" b="1" dirty="0">
                <a:solidFill>
                  <a:srgbClr val="FF0000"/>
                </a:solidFill>
                <a:latin typeface="楷体" panose="02010609060101010101" pitchFamily="49" charset="-122"/>
                <a:ea typeface="楷体" panose="02010609060101010101" pitchFamily="49" charset="-122"/>
              </a:rPr>
              <a:t>代数量</a:t>
            </a:r>
            <a:r>
              <a:rPr lang="zh-CN" altLang="en-US" b="1" dirty="0">
                <a:latin typeface="楷体" panose="02010609060101010101" pitchFamily="49" charset="-122"/>
                <a:ea typeface="楷体" panose="02010609060101010101" pitchFamily="49" charset="-122"/>
              </a:rPr>
              <a:t>。</a:t>
            </a:r>
          </a:p>
        </p:txBody>
      </p:sp>
      <p:sp>
        <p:nvSpPr>
          <p:cNvPr id="19461" name="Text Box 5"/>
          <p:cNvSpPr txBox="1">
            <a:spLocks noChangeArrowheads="1"/>
          </p:cNvSpPr>
          <p:nvPr/>
        </p:nvSpPr>
        <p:spPr bwMode="auto">
          <a:xfrm>
            <a:off x="539552" y="951692"/>
            <a:ext cx="763284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力对</a:t>
            </a:r>
            <a:r>
              <a:rPr lang="zh-CN" altLang="en-US" b="1" dirty="0">
                <a:solidFill>
                  <a:srgbClr val="FF0000"/>
                </a:solidFill>
                <a:latin typeface="楷体" panose="02010609060101010101" pitchFamily="49" charset="-122"/>
                <a:ea typeface="楷体" panose="02010609060101010101" pitchFamily="49" charset="-122"/>
              </a:rPr>
              <a:t>点</a:t>
            </a:r>
            <a:r>
              <a:rPr lang="zh-CN" altLang="en-US" b="1" dirty="0">
                <a:latin typeface="楷体" panose="02010609060101010101" pitchFamily="49" charset="-122"/>
                <a:ea typeface="楷体" panose="02010609060101010101" pitchFamily="49" charset="-122"/>
              </a:rPr>
              <a:t>之矩是力使物体绕该点转动效果的度量，是</a:t>
            </a:r>
            <a:r>
              <a:rPr lang="zh-CN" altLang="en-US" b="1" dirty="0">
                <a:solidFill>
                  <a:srgbClr val="FF0000"/>
                </a:solidFill>
                <a:latin typeface="楷体" panose="02010609060101010101" pitchFamily="49" charset="-122"/>
                <a:ea typeface="楷体" panose="02010609060101010101" pitchFamily="49" charset="-122"/>
              </a:rPr>
              <a:t>定位矢量</a:t>
            </a:r>
            <a:r>
              <a:rPr lang="zh-CN" altLang="en-US" dirty="0">
                <a:latin typeface="楷体" panose="02010609060101010101" pitchFamily="49" charset="-122"/>
                <a:ea typeface="楷体" panose="02010609060101010101" pitchFamily="49" charset="-122"/>
              </a:rPr>
              <a:t>。</a:t>
            </a:r>
          </a:p>
        </p:txBody>
      </p:sp>
      <p:sp>
        <p:nvSpPr>
          <p:cNvPr id="19465" name="Text Box 9"/>
          <p:cNvSpPr txBox="1">
            <a:spLocks noChangeArrowheads="1"/>
          </p:cNvSpPr>
          <p:nvPr/>
        </p:nvSpPr>
        <p:spPr bwMode="auto">
          <a:xfrm>
            <a:off x="539552" y="2188686"/>
            <a:ext cx="83529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楷体" panose="02010609060101010101" pitchFamily="49" charset="-122"/>
                <a:ea typeface="楷体" panose="02010609060101010101" pitchFamily="49" charset="-122"/>
              </a:rPr>
              <a:t>3</a:t>
            </a:r>
            <a:r>
              <a:rPr lang="zh-CN" altLang="en-US" b="1" dirty="0">
                <a:latin typeface="楷体" panose="02010609060101010101" pitchFamily="49" charset="-122"/>
                <a:ea typeface="楷体" panose="02010609060101010101" pitchFamily="49" charset="-122"/>
              </a:rPr>
              <a:t>．力对</a:t>
            </a:r>
            <a:r>
              <a:rPr lang="zh-CN" altLang="en-US" b="1" dirty="0">
                <a:solidFill>
                  <a:srgbClr val="FF0000"/>
                </a:solidFill>
                <a:latin typeface="楷体" panose="02010609060101010101" pitchFamily="49" charset="-122"/>
                <a:ea typeface="楷体" panose="02010609060101010101" pitchFamily="49" charset="-122"/>
              </a:rPr>
              <a:t>点</a:t>
            </a:r>
            <a:r>
              <a:rPr lang="zh-CN" altLang="en-US" b="1" dirty="0">
                <a:latin typeface="楷体" panose="02010609060101010101" pitchFamily="49" charset="-122"/>
                <a:ea typeface="楷体" panose="02010609060101010101" pitchFamily="49" charset="-122"/>
              </a:rPr>
              <a:t>之矩在通过该点某轴上的投影等于力对该</a:t>
            </a:r>
            <a:r>
              <a:rPr lang="zh-CN" altLang="en-US" b="1" dirty="0">
                <a:solidFill>
                  <a:srgbClr val="FF0000"/>
                </a:solidFill>
                <a:latin typeface="楷体" panose="02010609060101010101" pitchFamily="49" charset="-122"/>
                <a:ea typeface="楷体" panose="02010609060101010101" pitchFamily="49" charset="-122"/>
              </a:rPr>
              <a:t>轴</a:t>
            </a:r>
            <a:r>
              <a:rPr lang="zh-CN" altLang="en-US" b="1" dirty="0">
                <a:latin typeface="楷体" panose="02010609060101010101" pitchFamily="49" charset="-122"/>
                <a:ea typeface="楷体" panose="02010609060101010101" pitchFamily="49" charset="-122"/>
              </a:rPr>
              <a:t>之矩。</a:t>
            </a:r>
          </a:p>
        </p:txBody>
      </p:sp>
      <p:sp>
        <p:nvSpPr>
          <p:cNvPr id="8" name="Text Box 7"/>
          <p:cNvSpPr txBox="1">
            <a:spLocks noChangeArrowheads="1"/>
          </p:cNvSpPr>
          <p:nvPr/>
        </p:nvSpPr>
        <p:spPr bwMode="auto">
          <a:xfrm>
            <a:off x="1476090" y="2690908"/>
            <a:ext cx="6119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ts val="0"/>
              </a:spcBef>
              <a:buFontTx/>
              <a:buBlip>
                <a:blip r:embed="rId2"/>
              </a:buBlip>
            </a:pPr>
            <a:r>
              <a:rPr lang="en-US" altLang="zh-CN" dirty="0"/>
              <a:t> </a:t>
            </a:r>
            <a:r>
              <a:rPr lang="zh-CN" altLang="en-US" b="1" dirty="0">
                <a:solidFill>
                  <a:srgbClr val="800000"/>
                </a:solidFill>
                <a:latin typeface="楷体" panose="02010609060101010101" pitchFamily="49" charset="-122"/>
                <a:ea typeface="楷体" panose="02010609060101010101" pitchFamily="49" charset="-122"/>
              </a:rPr>
              <a:t>力矩计算可利用二者之间的关系灵活计算</a:t>
            </a:r>
          </a:p>
          <a:p>
            <a:pPr eaLnBrk="1" hangingPunct="1">
              <a:spcBef>
                <a:spcPts val="0"/>
              </a:spcBef>
              <a:buFontTx/>
              <a:buBlip>
                <a:blip r:embed="rId2"/>
              </a:buBlip>
            </a:pPr>
            <a:r>
              <a:rPr lang="zh-CN" altLang="en-US" dirty="0">
                <a:latin typeface="楷体" panose="02010609060101010101" pitchFamily="49" charset="-122"/>
                <a:ea typeface="楷体" panose="02010609060101010101" pitchFamily="49" charset="-122"/>
              </a:rPr>
              <a:t> </a:t>
            </a:r>
            <a:r>
              <a:rPr lang="zh-CN" altLang="en-US" b="1" dirty="0">
                <a:solidFill>
                  <a:srgbClr val="800000"/>
                </a:solidFill>
                <a:latin typeface="楷体" panose="02010609060101010101" pitchFamily="49" charset="-122"/>
                <a:ea typeface="楷体" panose="02010609060101010101" pitchFamily="49" charset="-122"/>
              </a:rPr>
              <a:t>合力矩定理在求解中的应用</a:t>
            </a:r>
          </a:p>
        </p:txBody>
      </p:sp>
      <p:sp>
        <p:nvSpPr>
          <p:cNvPr id="7" name="Text Box 9"/>
          <p:cNvSpPr txBox="1">
            <a:spLocks noChangeArrowheads="1"/>
          </p:cNvSpPr>
          <p:nvPr/>
        </p:nvSpPr>
        <p:spPr bwMode="auto">
          <a:xfrm>
            <a:off x="539552" y="3521905"/>
            <a:ext cx="8137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楷体" panose="02010609060101010101" pitchFamily="49" charset="-122"/>
                <a:ea typeface="楷体" panose="02010609060101010101" pitchFamily="49" charset="-122"/>
              </a:rPr>
              <a:t>4</a:t>
            </a:r>
            <a:r>
              <a:rPr lang="zh-CN" altLang="en-US" b="1" dirty="0">
                <a:latin typeface="楷体" panose="02010609060101010101" pitchFamily="49" charset="-122"/>
                <a:ea typeface="楷体" panose="02010609060101010101" pitchFamily="49" charset="-122"/>
              </a:rPr>
              <a:t>．</a:t>
            </a:r>
            <a:r>
              <a:rPr lang="zh-CN" altLang="en-US" b="1" dirty="0">
                <a:solidFill>
                  <a:srgbClr val="FF0000"/>
                </a:solidFill>
                <a:latin typeface="楷体" panose="02010609060101010101" pitchFamily="49" charset="-122"/>
                <a:ea typeface="楷体" panose="02010609060101010101" pitchFamily="49" charset="-122"/>
              </a:rPr>
              <a:t>力偶</a:t>
            </a:r>
            <a:r>
              <a:rPr lang="zh-CN" altLang="en-US" b="1" dirty="0">
                <a:latin typeface="楷体" panose="02010609060101010101" pitchFamily="49" charset="-122"/>
                <a:ea typeface="楷体" panose="02010609060101010101" pitchFamily="49" charset="-122"/>
              </a:rPr>
              <a:t>与</a:t>
            </a:r>
            <a:r>
              <a:rPr lang="zh-CN" altLang="en-US" b="1" dirty="0">
                <a:solidFill>
                  <a:srgbClr val="FF0000"/>
                </a:solidFill>
                <a:latin typeface="楷体" panose="02010609060101010101" pitchFamily="49" charset="-122"/>
                <a:ea typeface="楷体" panose="02010609060101010101" pitchFamily="49" charset="-122"/>
              </a:rPr>
              <a:t>力矩</a:t>
            </a:r>
            <a:r>
              <a:rPr lang="zh-CN" altLang="en-US" b="1" dirty="0">
                <a:latin typeface="楷体" panose="02010609060101010101" pitchFamily="49" charset="-122"/>
                <a:ea typeface="楷体" panose="02010609060101010101" pitchFamily="49" charset="-122"/>
              </a:rPr>
              <a:t>是两个不同的概念，在研究力系的等效简化时，二者形成一定的关系。</a:t>
            </a:r>
          </a:p>
        </p:txBody>
      </p:sp>
      <p:sp>
        <p:nvSpPr>
          <p:cNvPr id="9" name="Text Box 2"/>
          <p:cNvSpPr txBox="1">
            <a:spLocks noChangeArrowheads="1"/>
          </p:cNvSpPr>
          <p:nvPr/>
        </p:nvSpPr>
        <p:spPr bwMode="auto">
          <a:xfrm>
            <a:off x="611560" y="4352902"/>
            <a:ext cx="79928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楷体" panose="02010609060101010101" pitchFamily="49" charset="-122"/>
                <a:ea typeface="楷体" panose="02010609060101010101" pitchFamily="49" charset="-122"/>
              </a:rPr>
              <a:t>5</a:t>
            </a:r>
            <a:r>
              <a:rPr lang="zh-CN" altLang="en-US" b="1" dirty="0">
                <a:latin typeface="楷体" panose="02010609060101010101" pitchFamily="49" charset="-122"/>
                <a:ea typeface="楷体" panose="02010609060101010101" pitchFamily="49" charset="-122"/>
              </a:rPr>
              <a:t>．力系的简化结果为过简化中心的</a:t>
            </a:r>
            <a:r>
              <a:rPr lang="zh-CN" altLang="en-US" b="1" dirty="0">
                <a:solidFill>
                  <a:srgbClr val="FF0000"/>
                </a:solidFill>
                <a:latin typeface="楷体" panose="02010609060101010101" pitchFamily="49" charset="-122"/>
                <a:ea typeface="楷体" panose="02010609060101010101" pitchFamily="49" charset="-122"/>
              </a:rPr>
              <a:t>主矢</a:t>
            </a:r>
            <a:r>
              <a:rPr lang="zh-CN" altLang="en-US" b="1" dirty="0">
                <a:latin typeface="楷体" panose="02010609060101010101" pitchFamily="49" charset="-122"/>
                <a:ea typeface="楷体" panose="02010609060101010101" pitchFamily="49" charset="-122"/>
              </a:rPr>
              <a:t>和</a:t>
            </a:r>
            <a:r>
              <a:rPr lang="zh-CN" altLang="en-US" b="1" dirty="0">
                <a:solidFill>
                  <a:srgbClr val="FF0000"/>
                </a:solidFill>
                <a:latin typeface="楷体" panose="02010609060101010101" pitchFamily="49" charset="-122"/>
                <a:ea typeface="楷体" panose="02010609060101010101" pitchFamily="49" charset="-122"/>
              </a:rPr>
              <a:t>主矩</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这两个物理量是力系的特征量</a:t>
            </a:r>
            <a:r>
              <a:rPr lang="en-US" altLang="zh-CN" b="1" dirty="0">
                <a:latin typeface="楷体" panose="02010609060101010101" pitchFamily="49" charset="-122"/>
                <a:ea typeface="楷体" panose="02010609060101010101" pitchFamily="49" charset="-122"/>
              </a:rPr>
              <a:t>.</a:t>
            </a:r>
          </a:p>
        </p:txBody>
      </p:sp>
      <p:sp>
        <p:nvSpPr>
          <p:cNvPr id="10" name="Text Box 8"/>
          <p:cNvSpPr txBox="1">
            <a:spLocks noChangeArrowheads="1"/>
          </p:cNvSpPr>
          <p:nvPr/>
        </p:nvSpPr>
        <p:spPr bwMode="auto">
          <a:xfrm>
            <a:off x="1583246" y="5301208"/>
            <a:ext cx="59055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Blip>
                <a:blip r:embed="rId3"/>
              </a:buBlip>
            </a:pPr>
            <a:r>
              <a:rPr lang="en-US" altLang="zh-CN" b="1" dirty="0">
                <a:solidFill>
                  <a:srgbClr val="800000"/>
                </a:solidFill>
                <a:latin typeface="楷体_GB2312" pitchFamily="49" charset="-122"/>
                <a:ea typeface="楷体_GB2312" pitchFamily="49" charset="-122"/>
              </a:rPr>
              <a:t> </a:t>
            </a:r>
            <a:r>
              <a:rPr lang="zh-CN" altLang="en-US" b="1" dirty="0">
                <a:solidFill>
                  <a:srgbClr val="800000"/>
                </a:solidFill>
                <a:latin typeface="楷体" panose="02010609060101010101" pitchFamily="49" charset="-122"/>
                <a:ea typeface="楷体" panose="02010609060101010101" pitchFamily="49" charset="-122"/>
              </a:rPr>
              <a:t>力的平移定理为力系简化提供了一个桥梁</a:t>
            </a:r>
            <a:r>
              <a:rPr lang="en-US" altLang="zh-CN" b="1" dirty="0">
                <a:solidFill>
                  <a:srgbClr val="800000"/>
                </a:solidFill>
                <a:latin typeface="楷体" panose="02010609060101010101" pitchFamily="49" charset="-122"/>
                <a:ea typeface="楷体" panose="02010609060101010101" pitchFamily="49" charset="-122"/>
              </a:rPr>
              <a:t>,</a:t>
            </a:r>
            <a:r>
              <a:rPr lang="zh-CN" altLang="en-US" b="1" dirty="0">
                <a:solidFill>
                  <a:srgbClr val="800000"/>
                </a:solidFill>
                <a:latin typeface="楷体" panose="02010609060101010101" pitchFamily="49" charset="-122"/>
                <a:ea typeface="楷体" panose="02010609060101010101" pitchFamily="49" charset="-122"/>
              </a:rPr>
              <a:t>在以后的平衡方程的建立中不再使用</a:t>
            </a:r>
            <a:r>
              <a:rPr lang="en-US" altLang="zh-CN" b="1" dirty="0">
                <a:solidFill>
                  <a:srgbClr val="800000"/>
                </a:solidFill>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wipe(left)">
                                      <p:cBhvr>
                                        <p:cTn id="7" dur="500"/>
                                        <p:tgtEl>
                                          <p:spTgt spid="194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9"/>
                                        </p:tgtEl>
                                        <p:attrNameLst>
                                          <p:attrName>style.visibility</p:attrName>
                                        </p:attrNameLst>
                                      </p:cBhvr>
                                      <p:to>
                                        <p:strVal val="visible"/>
                                      </p:to>
                                    </p:set>
                                    <p:animEffect transition="in" filter="wipe(left)">
                                      <p:cBhvr>
                                        <p:cTn id="12" dur="500"/>
                                        <p:tgtEl>
                                          <p:spTgt spid="194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5"/>
                                        </p:tgtEl>
                                        <p:attrNameLst>
                                          <p:attrName>style.visibility</p:attrName>
                                        </p:attrNameLst>
                                      </p:cBhvr>
                                      <p:to>
                                        <p:strVal val="visible"/>
                                      </p:to>
                                    </p:set>
                                    <p:animEffect transition="in" filter="wipe(left)">
                                      <p:cBhvr>
                                        <p:cTn id="17" dur="500"/>
                                        <p:tgtEl>
                                          <p:spTgt spid="1946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trips(downRigh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box(out)">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ox(out)">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1" grpId="0"/>
      <p:bldP spid="19465" grpId="0"/>
      <p:bldP spid="8" grpId="0"/>
      <p:bldP spid="7" grpId="0"/>
      <p:bldP spid="9" grpId="0" build="p" autoUpdateAnimBg="0"/>
      <p:bldP spid="10" grpId="0"/>
    </p:bld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3991</TotalTime>
  <Words>3090</Words>
  <Application>Microsoft Office PowerPoint</Application>
  <PresentationFormat>全屏显示(4:3)</PresentationFormat>
  <Paragraphs>609</Paragraphs>
  <Slides>46</Slides>
  <Notes>1</Notes>
  <HiddenSlides>2</HiddenSlides>
  <MMClips>5</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6</vt:i4>
      </vt:variant>
      <vt:variant>
        <vt:lpstr>幻灯片标题</vt:lpstr>
      </vt:variant>
      <vt:variant>
        <vt:i4>46</vt:i4>
      </vt:variant>
    </vt:vector>
  </HeadingPairs>
  <TitlesOfParts>
    <vt:vector size="72" baseType="lpstr">
      <vt:lpstr>Meiryo</vt:lpstr>
      <vt:lpstr>Segoe UI Black</vt:lpstr>
      <vt:lpstr>UniversalMath1 BT</vt:lpstr>
      <vt:lpstr>黑体</vt:lpstr>
      <vt:lpstr>华文中宋</vt:lpstr>
      <vt:lpstr>楷体</vt:lpstr>
      <vt:lpstr>楷体_GB2312</vt:lpstr>
      <vt:lpstr>宋体</vt:lpstr>
      <vt:lpstr>幼圆</vt:lpstr>
      <vt:lpstr>幼圆_GB2312</vt:lpstr>
      <vt:lpstr>Arial</vt:lpstr>
      <vt:lpstr>Calibri</vt:lpstr>
      <vt:lpstr>Microsoft Himalaya</vt:lpstr>
      <vt:lpstr>Symbol</vt:lpstr>
      <vt:lpstr>Symbol Tiger</vt:lpstr>
      <vt:lpstr>Tahoma</vt:lpstr>
      <vt:lpstr>Times New Roman</vt:lpstr>
      <vt:lpstr>Webdings</vt:lpstr>
      <vt:lpstr>Wingdings</vt:lpstr>
      <vt:lpstr>默认设计模板</vt:lpstr>
      <vt:lpstr>Image</vt:lpstr>
      <vt:lpstr>Equation</vt:lpstr>
      <vt:lpstr>BMP 图像</vt:lpstr>
      <vt:lpstr>公式</vt:lpstr>
      <vt:lpstr>BMP 图象</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liujie</dc:creator>
  <cp:lastModifiedBy>User</cp:lastModifiedBy>
  <cp:revision>357</cp:revision>
  <dcterms:created xsi:type="dcterms:W3CDTF">2003-11-13T15:45:13Z</dcterms:created>
  <dcterms:modified xsi:type="dcterms:W3CDTF">2026-09-19T01:45:29Z</dcterms:modified>
</cp:coreProperties>
</file>