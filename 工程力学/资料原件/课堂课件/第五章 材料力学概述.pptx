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4.jpg" ContentType="image/jp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47" r:id="rId2"/>
    <p:sldId id="484" r:id="rId3"/>
    <p:sldId id="485" r:id="rId4"/>
    <p:sldId id="486" r:id="rId5"/>
    <p:sldId id="449" r:id="rId6"/>
    <p:sldId id="460" r:id="rId7"/>
    <p:sldId id="462" r:id="rId8"/>
    <p:sldId id="463" r:id="rId9"/>
    <p:sldId id="464" r:id="rId10"/>
    <p:sldId id="477" r:id="rId11"/>
    <p:sldId id="450" r:id="rId12"/>
    <p:sldId id="452" r:id="rId13"/>
    <p:sldId id="465" r:id="rId14"/>
    <p:sldId id="466" r:id="rId15"/>
    <p:sldId id="467" r:id="rId16"/>
    <p:sldId id="454" r:id="rId17"/>
    <p:sldId id="455" r:id="rId18"/>
    <p:sldId id="473" r:id="rId19"/>
    <p:sldId id="468" r:id="rId20"/>
    <p:sldId id="469" r:id="rId21"/>
    <p:sldId id="456" r:id="rId22"/>
    <p:sldId id="482" r:id="rId23"/>
    <p:sldId id="470" r:id="rId24"/>
    <p:sldId id="478" r:id="rId25"/>
    <p:sldId id="471" r:id="rId26"/>
    <p:sldId id="472" r:id="rId27"/>
  </p:sldIdLst>
  <p:sldSz cx="9144000" cy="6858000" type="screen4x3"/>
  <p:notesSz cx="6742113" cy="98726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zzeX9c4oAT/z5KkC4Xqw6w==" hashData="Fin8txmM7efhX/0nOM18+fPzH7SPsw/dLfViM1zepspcbojAiJXJneX1DDkr2ZCHtD7yzD4AClBBgMtHXVcGG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660066"/>
    <a:srgbClr val="FFFFFF"/>
    <a:srgbClr val="BDD624"/>
    <a:srgbClr val="FF0066"/>
    <a:srgbClr val="FF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6429" autoAdjust="0"/>
  </p:normalViewPr>
  <p:slideViewPr>
    <p:cSldViewPr>
      <p:cViewPr varScale="1">
        <p:scale>
          <a:sx n="168" d="100"/>
          <a:sy n="168" d="100"/>
        </p:scale>
        <p:origin x="1692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403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C4AC2EB-392B-4788-BBD6-BDC86B3FAD61}" type="datetimeFigureOut">
              <a:rPr lang="zh-CN" altLang="en-US"/>
              <a:pPr>
                <a:defRPr/>
              </a:pPr>
              <a:t>2026/7/27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9E7A47B-190F-420D-9DA2-162B6CF451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73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1113" y="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3288" y="739775"/>
            <a:ext cx="4935537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9475"/>
            <a:ext cx="4945063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1113" y="937895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F1C37EE-8D8C-4546-AADE-254B9BE278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723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1C37EE-8D8C-4546-AADE-254B9BE2785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318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1C37EE-8D8C-4546-AADE-254B9BE2785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74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1C37EE-8D8C-4546-AADE-254B9BE2785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06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HP\AppData\Local\Temp\WeChat Files\c39e7f5de3191fc79191a845ab41dce.png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99" r="54295" b="38651"/>
          <a:stretch/>
        </p:blipFill>
        <p:spPr bwMode="auto">
          <a:xfrm>
            <a:off x="107504" y="6381328"/>
            <a:ext cx="1440159" cy="4097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4951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119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4437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512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260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104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9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702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6330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728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33850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ChangeArrowheads="1"/>
          </p:cNvSpPr>
          <p:nvPr/>
        </p:nvSpPr>
        <p:spPr bwMode="ltGray">
          <a:xfrm>
            <a:off x="0" y="0"/>
            <a:ext cx="9144000" cy="4832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1" name="AutoShape 3"/>
          <p:cNvSpPr>
            <a:spLocks noChangeArrowheads="1"/>
          </p:cNvSpPr>
          <p:nvPr userDrawn="1"/>
        </p:nvSpPr>
        <p:spPr bwMode="ltGray">
          <a:xfrm flipH="1">
            <a:off x="2411413" y="4581525"/>
            <a:ext cx="863600" cy="503238"/>
          </a:xfrm>
          <a:prstGeom prst="homePlate">
            <a:avLst>
              <a:gd name="adj" fmla="val 42902"/>
            </a:avLst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2" name="AutoShape 4"/>
          <p:cNvSpPr>
            <a:spLocks noChangeArrowheads="1"/>
          </p:cNvSpPr>
          <p:nvPr userDrawn="1"/>
        </p:nvSpPr>
        <p:spPr bwMode="ltGray">
          <a:xfrm flipH="1">
            <a:off x="2700338" y="4581525"/>
            <a:ext cx="719137" cy="503238"/>
          </a:xfrm>
          <a:prstGeom prst="homePlate">
            <a:avLst>
              <a:gd name="adj" fmla="val 35725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5173" name="Group 5"/>
          <p:cNvGrpSpPr>
            <a:grpSpLocks/>
          </p:cNvGrpSpPr>
          <p:nvPr userDrawn="1"/>
        </p:nvGrpSpPr>
        <p:grpSpPr bwMode="auto">
          <a:xfrm>
            <a:off x="2987675" y="4581525"/>
            <a:ext cx="6156325" cy="503238"/>
            <a:chOff x="1882" y="2886"/>
            <a:chExt cx="3878" cy="317"/>
          </a:xfrm>
        </p:grpSpPr>
        <p:sp>
          <p:nvSpPr>
            <p:cNvPr id="135174" name="Rectangle 6"/>
            <p:cNvSpPr>
              <a:spLocks noChangeArrowheads="1"/>
            </p:cNvSpPr>
            <p:nvPr userDrawn="1"/>
          </p:nvSpPr>
          <p:spPr bwMode="gray">
            <a:xfrm flipH="1">
              <a:off x="2147" y="2887"/>
              <a:ext cx="3613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5" name="AutoShape 7"/>
            <p:cNvSpPr>
              <a:spLocks noChangeArrowheads="1"/>
            </p:cNvSpPr>
            <p:nvPr userDrawn="1"/>
          </p:nvSpPr>
          <p:spPr bwMode="gray">
            <a:xfrm flipH="1">
              <a:off x="1882" y="2886"/>
              <a:ext cx="411" cy="316"/>
            </a:xfrm>
            <a:prstGeom prst="homePlate">
              <a:avLst>
                <a:gd name="adj" fmla="val 32516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0911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36806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1625" y="609600"/>
            <a:ext cx="85407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01625" y="1905000"/>
            <a:ext cx="4194175" cy="2020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05000"/>
            <a:ext cx="4194175" cy="2020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01625" y="4078288"/>
            <a:ext cx="4194175" cy="2020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78288"/>
            <a:ext cx="4194175" cy="2020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FD96BDF-52AE-45A7-8019-ED8F2F02C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84342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../&#31532;&#20108;&#31456;/chap2.ppt" TargetMode="Externa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hyperlink" Target="../&#31532;&#19977;&#31456;/chap3.ppt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5.jpeg"/><Relationship Id="rId25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20" Type="http://schemas.openxmlformats.org/officeDocument/2006/relationships/image" Target="../media/image1.png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hyperlink" Target="../&#31532;&#22235;&#31456;/chap4.ppt" TargetMode="Externa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image" Target="../media/image2.png"/><Relationship Id="rId28" Type="http://schemas.openxmlformats.org/officeDocument/2006/relationships/oleObject" Target="../embeddings/oleObject4.bin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2.bin"/><Relationship Id="rId27" Type="http://schemas.openxmlformats.org/officeDocument/2006/relationships/hyperlink" Target="../&#31532;&#20116;&#31456;/chap5.ppt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背景(静力学)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AutoShape 8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228600" y="6248400"/>
            <a:ext cx="381000" cy="381000"/>
          </a:xfrm>
          <a:prstGeom prst="actionButtonBackPrevious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AutoShape 9">
            <a:hlinkClick r:id="" action="ppaction://hlinkshowjump?jump=nextslide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762000" y="6248400"/>
            <a:ext cx="381000" cy="381000"/>
          </a:xfrm>
          <a:prstGeom prst="actionButtonForwardNex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graphicFrame>
        <p:nvGraphicFramePr>
          <p:cNvPr id="1029" name="Object 10">
            <a:hlinkClick r:id="rId18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0" y="0"/>
          <a:ext cx="503238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Image" r:id="rId19" imgW="557643" imgH="1926014" progId="Photoshop.Image.6">
                  <p:embed/>
                </p:oleObj>
              </mc:Choice>
              <mc:Fallback>
                <p:oleObj name="Image" r:id="rId19" imgW="557643" imgH="1926014" progId="Photoshop.Image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503238" cy="173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11">
            <a:hlinkClick r:id="rId21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0" y="1676400"/>
          <a:ext cx="5080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Image" r:id="rId22" imgW="563738" imgH="1920244" progId="Photoshop.Image.6">
                  <p:embed/>
                </p:oleObj>
              </mc:Choice>
              <mc:Fallback>
                <p:oleObj name="Image" r:id="rId22" imgW="563738" imgH="1920244" progId="Photoshop.Image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76400"/>
                        <a:ext cx="508000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12">
            <a:hlinkClick r:id="rId24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36513" y="3352800"/>
          <a:ext cx="4683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Image" r:id="rId25" imgW="518029" imgH="1209956" progId="Photoshop.Image.6">
                  <p:embed/>
                </p:oleObj>
              </mc:Choice>
              <mc:Fallback>
                <p:oleObj name="Image" r:id="rId25" imgW="518029" imgH="1209956" progId="Photoshop.Image.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3352800"/>
                        <a:ext cx="4683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hlinkClick r:id="rId27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90488" y="4419600"/>
          <a:ext cx="41751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" r:id="rId28" imgW="462944" imgH="1618217" progId="Photoshop.Image.6">
                  <p:embed/>
                </p:oleObj>
              </mc:Choice>
              <mc:Fallback>
                <p:oleObj name="Image" r:id="rId28" imgW="462944" imgH="1618217" progId="Photoshop.Image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8" y="4419600"/>
                        <a:ext cx="41751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jpeg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gif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png"/><Relationship Id="rId5" Type="http://schemas.openxmlformats.org/officeDocument/2006/relationships/image" Target="../media/image35.png"/><Relationship Id="rId4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9.jpeg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7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oleObject" Target="../embeddings/oleObject17.bin"/><Relationship Id="rId3" Type="http://schemas.openxmlformats.org/officeDocument/2006/relationships/image" Target="../media/image35.png"/><Relationship Id="rId7" Type="http://schemas.openxmlformats.org/officeDocument/2006/relationships/image" Target="../media/image41.wmf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6.bin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2.wmf"/><Relationship Id="rId14" Type="http://schemas.openxmlformats.org/officeDocument/2006/relationships/image" Target="../media/image4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9.png"/><Relationship Id="rId4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9.png"/><Relationship Id="rId4" Type="http://schemas.openxmlformats.org/officeDocument/2006/relationships/image" Target="../media/image5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3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1331640" y="1772816"/>
            <a:ext cx="5760640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 eaLnBrk="0" hangingPunct="0"/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章  材料力学概述</a:t>
            </a:r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1877350" y="2708920"/>
            <a:ext cx="51847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材料力学的任务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变形固体的基本假设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内力和应力 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位移、变形与应变</a:t>
            </a:r>
            <a:endParaRPr kumimoji="1"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杆件变形的基本形式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7943" name="Picture 7" descr="35081f423de64a5272f05de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9160"/>
            <a:ext cx="2667000" cy="171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331640" y="692696"/>
            <a:ext cx="5256584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zh-CN" altLang="en-US" sz="40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第二篇</a:t>
            </a:r>
            <a:r>
              <a:rPr lang="zh-CN" altLang="en-US" sz="4000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材料</a:t>
            </a:r>
            <a:r>
              <a:rPr lang="zh-CN" altLang="en-US" sz="40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</a:t>
            </a:r>
            <a:endParaRPr lang="zh-CN" altLang="en-US" sz="3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14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1" grpId="0"/>
      <p:bldP spid="1679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80176" y="401132"/>
            <a:ext cx="5233988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5-1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材料力学的任务</a:t>
            </a: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323528" y="1124744"/>
            <a:ext cx="1290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物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904753" y="1127722"/>
            <a:ext cx="1290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变形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Line 60"/>
          <p:cNvSpPr>
            <a:spLocks noChangeShapeType="1"/>
          </p:cNvSpPr>
          <p:nvPr/>
        </p:nvSpPr>
        <p:spPr bwMode="auto">
          <a:xfrm>
            <a:off x="1456660" y="1392424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60"/>
          <p:cNvSpPr>
            <a:spLocks noChangeShapeType="1"/>
          </p:cNvSpPr>
          <p:nvPr/>
        </p:nvSpPr>
        <p:spPr bwMode="auto">
          <a:xfrm>
            <a:off x="2968828" y="1392423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400876" y="1127722"/>
            <a:ext cx="1290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平衡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798147" y="1108065"/>
            <a:ext cx="2280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平衡方程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" name="Group 139"/>
          <p:cNvGrpSpPr>
            <a:grpSpLocks/>
          </p:cNvGrpSpPr>
          <p:nvPr/>
        </p:nvGrpSpPr>
        <p:grpSpPr bwMode="auto">
          <a:xfrm>
            <a:off x="758785" y="5000825"/>
            <a:ext cx="2519363" cy="312738"/>
            <a:chOff x="5556" y="876"/>
            <a:chExt cx="1587" cy="197"/>
          </a:xfrm>
        </p:grpSpPr>
        <p:sp>
          <p:nvSpPr>
            <p:cNvPr id="12" name="Line 140"/>
            <p:cNvSpPr>
              <a:spLocks noChangeShapeType="1"/>
            </p:cNvSpPr>
            <p:nvPr/>
          </p:nvSpPr>
          <p:spPr bwMode="auto">
            <a:xfrm>
              <a:off x="5661" y="900"/>
              <a:ext cx="131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556" y="876"/>
              <a:ext cx="272" cy="178"/>
              <a:chOff x="5556" y="876"/>
              <a:chExt cx="272" cy="178"/>
            </a:xfrm>
          </p:grpSpPr>
          <p:grpSp>
            <p:nvGrpSpPr>
              <p:cNvPr id="34" name="Group 142"/>
              <p:cNvGrpSpPr>
                <a:grpSpLocks/>
              </p:cNvGrpSpPr>
              <p:nvPr/>
            </p:nvGrpSpPr>
            <p:grpSpPr bwMode="auto">
              <a:xfrm>
                <a:off x="5556" y="1006"/>
                <a:ext cx="272" cy="48"/>
                <a:chOff x="476" y="3113"/>
                <a:chExt cx="544" cy="90"/>
              </a:xfrm>
            </p:grpSpPr>
            <p:sp>
              <p:nvSpPr>
                <p:cNvPr id="37" name="Line 143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45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Line 148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AutoShape 149"/>
              <p:cNvSpPr>
                <a:spLocks noChangeArrowheads="1"/>
              </p:cNvSpPr>
              <p:nvPr/>
            </p:nvSpPr>
            <p:spPr bwMode="auto">
              <a:xfrm>
                <a:off x="5620" y="883"/>
                <a:ext cx="145" cy="123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Oval 150"/>
              <p:cNvSpPr>
                <a:spLocks noChangeAspect="1" noChangeArrowheads="1"/>
              </p:cNvSpPr>
              <p:nvPr/>
            </p:nvSpPr>
            <p:spPr bwMode="auto">
              <a:xfrm>
                <a:off x="5670" y="876"/>
                <a:ext cx="41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160"/>
            <p:cNvGrpSpPr>
              <a:grpSpLocks/>
            </p:cNvGrpSpPr>
            <p:nvPr/>
          </p:nvGrpSpPr>
          <p:grpSpPr bwMode="auto">
            <a:xfrm>
              <a:off x="6826" y="879"/>
              <a:ext cx="317" cy="194"/>
              <a:chOff x="6826" y="879"/>
              <a:chExt cx="317" cy="194"/>
            </a:xfrm>
          </p:grpSpPr>
          <p:grpSp>
            <p:nvGrpSpPr>
              <p:cNvPr id="24" name="Group 161"/>
              <p:cNvGrpSpPr>
                <a:grpSpLocks/>
              </p:cNvGrpSpPr>
              <p:nvPr/>
            </p:nvGrpSpPr>
            <p:grpSpPr bwMode="auto">
              <a:xfrm>
                <a:off x="6826" y="1019"/>
                <a:ext cx="317" cy="54"/>
                <a:chOff x="476" y="3113"/>
                <a:chExt cx="544" cy="90"/>
              </a:xfrm>
            </p:grpSpPr>
            <p:sp>
              <p:nvSpPr>
                <p:cNvPr id="28" name="Line 162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163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65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66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67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Line 168"/>
              <p:cNvSpPr>
                <a:spLocks noChangeAspect="1" noChangeShapeType="1"/>
              </p:cNvSpPr>
              <p:nvPr/>
            </p:nvSpPr>
            <p:spPr bwMode="auto">
              <a:xfrm>
                <a:off x="6985" y="911"/>
                <a:ext cx="0" cy="10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69"/>
              <p:cNvSpPr>
                <a:spLocks noChangeArrowheads="1"/>
              </p:cNvSpPr>
              <p:nvPr/>
            </p:nvSpPr>
            <p:spPr bwMode="auto">
              <a:xfrm>
                <a:off x="6961" y="879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170"/>
              <p:cNvSpPr>
                <a:spLocks noChangeArrowheads="1"/>
              </p:cNvSpPr>
              <p:nvPr/>
            </p:nvSpPr>
            <p:spPr bwMode="auto">
              <a:xfrm>
                <a:off x="6962" y="973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951321" y="4494211"/>
            <a:ext cx="2117725" cy="819352"/>
            <a:chOff x="5282904" y="3894648"/>
            <a:chExt cx="2117725" cy="819352"/>
          </a:xfrm>
        </p:grpSpPr>
        <p:grpSp>
          <p:nvGrpSpPr>
            <p:cNvPr id="49" name="组合 48"/>
            <p:cNvGrpSpPr/>
            <p:nvPr/>
          </p:nvGrpSpPr>
          <p:grpSpPr>
            <a:xfrm>
              <a:off x="5282904" y="3999423"/>
              <a:ext cx="2117725" cy="714577"/>
              <a:chOff x="5282904" y="1509056"/>
              <a:chExt cx="2117725" cy="714577"/>
            </a:xfrm>
          </p:grpSpPr>
          <p:grpSp>
            <p:nvGrpSpPr>
              <p:cNvPr id="50" name="Group 173"/>
              <p:cNvGrpSpPr>
                <a:grpSpLocks/>
              </p:cNvGrpSpPr>
              <p:nvPr/>
            </p:nvGrpSpPr>
            <p:grpSpPr bwMode="auto">
              <a:xfrm>
                <a:off x="5282904" y="1771196"/>
                <a:ext cx="2117725" cy="452437"/>
                <a:chOff x="5093" y="1434"/>
                <a:chExt cx="1334" cy="285"/>
              </a:xfrm>
            </p:grpSpPr>
            <p:sp>
              <p:nvSpPr>
                <p:cNvPr id="52" name="Arc 64"/>
                <p:cNvSpPr>
                  <a:spLocks/>
                </p:cNvSpPr>
                <p:nvPr/>
              </p:nvSpPr>
              <p:spPr bwMode="auto">
                <a:xfrm flipH="1" flipV="1">
                  <a:off x="5093" y="1434"/>
                  <a:ext cx="1160" cy="205"/>
                </a:xfrm>
                <a:custGeom>
                  <a:avLst/>
                  <a:gdLst>
                    <a:gd name="G0" fmla="+- 17997 0 0"/>
                    <a:gd name="G1" fmla="+- 21600 0 0"/>
                    <a:gd name="G2" fmla="+- 21600 0 0"/>
                    <a:gd name="T0" fmla="*/ 0 w 35802"/>
                    <a:gd name="T1" fmla="*/ 9655 h 21600"/>
                    <a:gd name="T2" fmla="*/ 35802 w 35802"/>
                    <a:gd name="T3" fmla="*/ 9371 h 21600"/>
                    <a:gd name="T4" fmla="*/ 17997 w 3580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802" h="21600" fill="none" extrusionOk="0">
                      <a:moveTo>
                        <a:pt x="0" y="9655"/>
                      </a:moveTo>
                      <a:cubicBezTo>
                        <a:pt x="4002" y="3624"/>
                        <a:pt x="10759" y="-1"/>
                        <a:pt x="17997" y="0"/>
                      </a:cubicBezTo>
                      <a:cubicBezTo>
                        <a:pt x="25113" y="0"/>
                        <a:pt x="31772" y="3505"/>
                        <a:pt x="35801" y="9371"/>
                      </a:cubicBezTo>
                    </a:path>
                    <a:path w="35802" h="21600" stroke="0" extrusionOk="0">
                      <a:moveTo>
                        <a:pt x="0" y="9655"/>
                      </a:moveTo>
                      <a:cubicBezTo>
                        <a:pt x="4002" y="3624"/>
                        <a:pt x="10759" y="-1"/>
                        <a:pt x="17997" y="0"/>
                      </a:cubicBezTo>
                      <a:cubicBezTo>
                        <a:pt x="25113" y="0"/>
                        <a:pt x="31772" y="3505"/>
                        <a:pt x="35801" y="9371"/>
                      </a:cubicBezTo>
                      <a:lnTo>
                        <a:pt x="17997" y="21600"/>
                      </a:lnTo>
                      <a:close/>
                    </a:path>
                  </a:pathLst>
                </a:custGeom>
                <a:noFill/>
                <a:ln w="31750">
                  <a:solidFill>
                    <a:srgbClr val="008000"/>
                  </a:solidFill>
                  <a:prstDash val="dash"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3" name="Group 172"/>
                <p:cNvGrpSpPr>
                  <a:grpSpLocks/>
                </p:cNvGrpSpPr>
                <p:nvPr/>
              </p:nvGrpSpPr>
              <p:grpSpPr bwMode="auto">
                <a:xfrm>
                  <a:off x="6110" y="1519"/>
                  <a:ext cx="317" cy="200"/>
                  <a:chOff x="6110" y="1519"/>
                  <a:chExt cx="317" cy="200"/>
                </a:xfrm>
              </p:grpSpPr>
              <p:grpSp>
                <p:nvGrpSpPr>
                  <p:cNvPr id="54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6110" y="1665"/>
                    <a:ext cx="317" cy="54"/>
                    <a:chOff x="476" y="3113"/>
                    <a:chExt cx="544" cy="90"/>
                  </a:xfrm>
                </p:grpSpPr>
                <p:sp>
                  <p:nvSpPr>
                    <p:cNvPr id="58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6" y="3113"/>
                      <a:ext cx="544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" name="Line 6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76" y="3113"/>
                      <a:ext cx="91" cy="9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80" y="3113"/>
                      <a:ext cx="91" cy="9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" name="Line 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85" y="3113"/>
                      <a:ext cx="91" cy="9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2" name="Line 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89" y="3113"/>
                      <a:ext cx="91" cy="9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3" name="Line 7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94" y="3113"/>
                      <a:ext cx="91" cy="9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5" name="Line 73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6269" y="1557"/>
                    <a:ext cx="0" cy="108"/>
                  </a:xfrm>
                  <a:prstGeom prst="line">
                    <a:avLst/>
                  </a:prstGeom>
                  <a:noFill/>
                  <a:ln w="3175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Oval 7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245" y="1519"/>
                    <a:ext cx="45" cy="46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" name="Oval 17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246" y="1613"/>
                    <a:ext cx="45" cy="46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1" name="Line 151"/>
              <p:cNvSpPr>
                <a:spLocks noChangeShapeType="1"/>
              </p:cNvSpPr>
              <p:nvPr/>
            </p:nvSpPr>
            <p:spPr bwMode="auto">
              <a:xfrm rot="21480000" flipH="1">
                <a:off x="6263362" y="1509056"/>
                <a:ext cx="14288" cy="584200"/>
              </a:xfrm>
              <a:prstGeom prst="line">
                <a:avLst/>
              </a:prstGeom>
              <a:noFill/>
              <a:ln w="44450">
                <a:solidFill>
                  <a:srgbClr val="C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Text Box 152"/>
            <p:cNvSpPr txBox="1">
              <a:spLocks noChangeArrowheads="1"/>
            </p:cNvSpPr>
            <p:nvPr/>
          </p:nvSpPr>
          <p:spPr bwMode="auto">
            <a:xfrm>
              <a:off x="6248501" y="3894648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978324" y="1860840"/>
            <a:ext cx="1717676" cy="1620309"/>
            <a:chOff x="4211811" y="2497352"/>
            <a:chExt cx="1717676" cy="1620309"/>
          </a:xfrm>
        </p:grpSpPr>
        <p:sp>
          <p:nvSpPr>
            <p:cNvPr id="67" name="Line 63"/>
            <p:cNvSpPr>
              <a:spLocks noChangeShapeType="1"/>
            </p:cNvSpPr>
            <p:nvPr/>
          </p:nvSpPr>
          <p:spPr bwMode="auto">
            <a:xfrm flipH="1">
              <a:off x="5088111" y="2818028"/>
              <a:ext cx="636588" cy="127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4451524" y="2818028"/>
              <a:ext cx="636588" cy="127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 flipH="1" flipV="1">
              <a:off x="4211811" y="2513228"/>
              <a:ext cx="41275" cy="57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Oval 66"/>
            <p:cNvSpPr>
              <a:spLocks noChangeArrowheads="1"/>
            </p:cNvSpPr>
            <p:nvPr/>
          </p:nvSpPr>
          <p:spPr bwMode="auto">
            <a:xfrm>
              <a:off x="4370561" y="2719603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 flipH="1" flipV="1">
              <a:off x="4335636" y="2576728"/>
              <a:ext cx="71438" cy="139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 flipV="1">
              <a:off x="4449936" y="2576728"/>
              <a:ext cx="58738" cy="139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69"/>
            <p:cNvSpPr>
              <a:spLocks noChangeShapeType="1"/>
            </p:cNvSpPr>
            <p:nvPr/>
          </p:nvSpPr>
          <p:spPr bwMode="auto">
            <a:xfrm>
              <a:off x="4221336" y="2576728"/>
              <a:ext cx="388938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0"/>
            <p:cNvSpPr>
              <a:spLocks noChangeShapeType="1"/>
            </p:cNvSpPr>
            <p:nvPr/>
          </p:nvSpPr>
          <p:spPr bwMode="auto">
            <a:xfrm flipH="1" flipV="1">
              <a:off x="4280074" y="2497353"/>
              <a:ext cx="55563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1"/>
            <p:cNvSpPr>
              <a:spLocks noChangeShapeType="1"/>
            </p:cNvSpPr>
            <p:nvPr/>
          </p:nvSpPr>
          <p:spPr bwMode="auto">
            <a:xfrm flipH="1" flipV="1">
              <a:off x="4364211" y="2497353"/>
              <a:ext cx="58738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2"/>
            <p:cNvSpPr>
              <a:spLocks noChangeShapeType="1"/>
            </p:cNvSpPr>
            <p:nvPr/>
          </p:nvSpPr>
          <p:spPr bwMode="auto">
            <a:xfrm flipH="1" flipV="1">
              <a:off x="4451524" y="2497353"/>
              <a:ext cx="57150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3"/>
            <p:cNvSpPr>
              <a:spLocks noChangeShapeType="1"/>
            </p:cNvSpPr>
            <p:nvPr/>
          </p:nvSpPr>
          <p:spPr bwMode="auto">
            <a:xfrm flipH="1" flipV="1">
              <a:off x="4538836" y="2497353"/>
              <a:ext cx="58738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4"/>
            <p:cNvSpPr>
              <a:spLocks noChangeShapeType="1"/>
            </p:cNvSpPr>
            <p:nvPr/>
          </p:nvSpPr>
          <p:spPr bwMode="auto">
            <a:xfrm flipH="1" flipV="1">
              <a:off x="5531024" y="2513228"/>
              <a:ext cx="41275" cy="57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Oval 75"/>
            <p:cNvSpPr>
              <a:spLocks noChangeArrowheads="1"/>
            </p:cNvSpPr>
            <p:nvPr/>
          </p:nvSpPr>
          <p:spPr bwMode="auto">
            <a:xfrm>
              <a:off x="5689774" y="2719603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0" name="Line 76"/>
            <p:cNvSpPr>
              <a:spLocks noChangeShapeType="1"/>
            </p:cNvSpPr>
            <p:nvPr/>
          </p:nvSpPr>
          <p:spPr bwMode="auto">
            <a:xfrm flipH="1" flipV="1">
              <a:off x="5656436" y="2576728"/>
              <a:ext cx="69850" cy="139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77"/>
            <p:cNvSpPr>
              <a:spLocks noChangeShapeType="1"/>
            </p:cNvSpPr>
            <p:nvPr/>
          </p:nvSpPr>
          <p:spPr bwMode="auto">
            <a:xfrm flipV="1">
              <a:off x="5769149" y="2576728"/>
              <a:ext cx="58738" cy="139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78"/>
            <p:cNvSpPr>
              <a:spLocks noChangeShapeType="1"/>
            </p:cNvSpPr>
            <p:nvPr/>
          </p:nvSpPr>
          <p:spPr bwMode="auto">
            <a:xfrm>
              <a:off x="5540549" y="2576728"/>
              <a:ext cx="388938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79"/>
            <p:cNvSpPr>
              <a:spLocks noChangeShapeType="1"/>
            </p:cNvSpPr>
            <p:nvPr/>
          </p:nvSpPr>
          <p:spPr bwMode="auto">
            <a:xfrm flipH="1" flipV="1">
              <a:off x="5599286" y="2497352"/>
              <a:ext cx="43938" cy="675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0"/>
            <p:cNvSpPr>
              <a:spLocks noChangeShapeType="1"/>
            </p:cNvSpPr>
            <p:nvPr/>
          </p:nvSpPr>
          <p:spPr bwMode="auto">
            <a:xfrm flipH="1" flipV="1">
              <a:off x="5683424" y="2497353"/>
              <a:ext cx="58738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1"/>
            <p:cNvSpPr>
              <a:spLocks noChangeShapeType="1"/>
            </p:cNvSpPr>
            <p:nvPr/>
          </p:nvSpPr>
          <p:spPr bwMode="auto">
            <a:xfrm flipH="1" flipV="1">
              <a:off x="5770736" y="2497353"/>
              <a:ext cx="57150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2"/>
            <p:cNvSpPr>
              <a:spLocks noChangeShapeType="1"/>
            </p:cNvSpPr>
            <p:nvPr/>
          </p:nvSpPr>
          <p:spPr bwMode="auto">
            <a:xfrm flipH="1" flipV="1">
              <a:off x="5858049" y="2497353"/>
              <a:ext cx="58738" cy="79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Arc 85"/>
            <p:cNvSpPr>
              <a:spLocks/>
            </p:cNvSpPr>
            <p:nvPr/>
          </p:nvSpPr>
          <p:spPr bwMode="auto">
            <a:xfrm>
              <a:off x="4930949" y="3651466"/>
              <a:ext cx="158750" cy="79375"/>
            </a:xfrm>
            <a:custGeom>
              <a:avLst/>
              <a:gdLst>
                <a:gd name="T0" fmla="*/ 0 w 21596"/>
                <a:gd name="T1" fmla="*/ 49 h 21599"/>
                <a:gd name="T2" fmla="*/ 99 w 21596"/>
                <a:gd name="T3" fmla="*/ 0 h 21599"/>
                <a:gd name="T4" fmla="*/ 100 w 21596"/>
                <a:gd name="T5" fmla="*/ 5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6" h="21599" fill="none" extrusionOk="0">
                  <a:moveTo>
                    <a:pt x="0" y="21171"/>
                  </a:moveTo>
                  <a:cubicBezTo>
                    <a:pt x="231" y="9493"/>
                    <a:pt x="9703" y="115"/>
                    <a:pt x="21382" y="0"/>
                  </a:cubicBezTo>
                </a:path>
                <a:path w="21596" h="21599" stroke="0" extrusionOk="0">
                  <a:moveTo>
                    <a:pt x="0" y="21171"/>
                  </a:moveTo>
                  <a:cubicBezTo>
                    <a:pt x="231" y="9493"/>
                    <a:pt x="9703" y="115"/>
                    <a:pt x="21382" y="0"/>
                  </a:cubicBezTo>
                  <a:lnTo>
                    <a:pt x="21596" y="21599"/>
                  </a:lnTo>
                  <a:lnTo>
                    <a:pt x="0" y="2117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Arc 86"/>
            <p:cNvSpPr>
              <a:spLocks/>
            </p:cNvSpPr>
            <p:nvPr/>
          </p:nvSpPr>
          <p:spPr bwMode="auto">
            <a:xfrm>
              <a:off x="5088111" y="3649878"/>
              <a:ext cx="160338" cy="80963"/>
            </a:xfrm>
            <a:custGeom>
              <a:avLst/>
              <a:gdLst>
                <a:gd name="T0" fmla="*/ 0 w 21810"/>
                <a:gd name="T1" fmla="*/ 0 h 21600"/>
                <a:gd name="T2" fmla="*/ 101 w 21810"/>
                <a:gd name="T3" fmla="*/ 50 h 21600"/>
                <a:gd name="T4" fmla="*/ 1 w 21810"/>
                <a:gd name="T5" fmla="*/ 5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10" h="21600" fill="none" extrusionOk="0">
                  <a:moveTo>
                    <a:pt x="0" y="1"/>
                  </a:moveTo>
                  <a:cubicBezTo>
                    <a:pt x="71" y="0"/>
                    <a:pt x="142" y="0"/>
                    <a:pt x="214" y="0"/>
                  </a:cubicBezTo>
                  <a:cubicBezTo>
                    <a:pt x="11976" y="0"/>
                    <a:pt x="21576" y="9411"/>
                    <a:pt x="21809" y="21172"/>
                  </a:cubicBezTo>
                </a:path>
                <a:path w="21810" h="21600" stroke="0" extrusionOk="0">
                  <a:moveTo>
                    <a:pt x="0" y="1"/>
                  </a:moveTo>
                  <a:cubicBezTo>
                    <a:pt x="71" y="0"/>
                    <a:pt x="142" y="0"/>
                    <a:pt x="214" y="0"/>
                  </a:cubicBezTo>
                  <a:cubicBezTo>
                    <a:pt x="11976" y="0"/>
                    <a:pt x="21576" y="9411"/>
                    <a:pt x="21809" y="21172"/>
                  </a:cubicBezTo>
                  <a:lnTo>
                    <a:pt x="214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1" name="Object 87"/>
            <p:cNvGraphicFramePr>
              <a:graphicFrameLocks/>
            </p:cNvGraphicFramePr>
            <p:nvPr/>
          </p:nvGraphicFramePr>
          <p:xfrm>
            <a:off x="4897611" y="3338728"/>
            <a:ext cx="369888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公式" r:id="rId3" imgW="218970" imgH="171450" progId="Equation.3">
                    <p:embed/>
                  </p:oleObj>
                </mc:Choice>
                <mc:Fallback>
                  <p:oleObj name="公式" r:id="rId3" imgW="218970" imgH="17145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7611" y="3338728"/>
                          <a:ext cx="369888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" name="Oval 88"/>
            <p:cNvSpPr>
              <a:spLocks noChangeArrowheads="1"/>
            </p:cNvSpPr>
            <p:nvPr/>
          </p:nvSpPr>
          <p:spPr bwMode="auto">
            <a:xfrm>
              <a:off x="5043133" y="4009711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202270" y="2188966"/>
            <a:ext cx="1318877" cy="2095770"/>
            <a:chOff x="6968328" y="3104616"/>
            <a:chExt cx="1318877" cy="2095770"/>
          </a:xfrm>
        </p:grpSpPr>
        <p:sp>
          <p:nvSpPr>
            <p:cNvPr id="87" name="Line 83"/>
            <p:cNvSpPr>
              <a:spLocks noChangeShapeType="1"/>
            </p:cNvSpPr>
            <p:nvPr/>
          </p:nvSpPr>
          <p:spPr bwMode="auto">
            <a:xfrm>
              <a:off x="7643454" y="4639998"/>
              <a:ext cx="0" cy="5603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7624561" y="4611159"/>
              <a:ext cx="3540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kumimoji="1"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64"/>
            <p:cNvSpPr>
              <a:spLocks noChangeShapeType="1"/>
            </p:cNvSpPr>
            <p:nvPr/>
          </p:nvSpPr>
          <p:spPr bwMode="auto">
            <a:xfrm>
              <a:off x="6968328" y="3104616"/>
              <a:ext cx="650172" cy="1551026"/>
            </a:xfrm>
            <a:prstGeom prst="line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64"/>
            <p:cNvSpPr>
              <a:spLocks noChangeShapeType="1"/>
            </p:cNvSpPr>
            <p:nvPr/>
          </p:nvSpPr>
          <p:spPr bwMode="auto">
            <a:xfrm rot="13440000">
              <a:off x="7637033" y="3104616"/>
              <a:ext cx="650172" cy="1551026"/>
            </a:xfrm>
            <a:prstGeom prst="line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Oval 88"/>
            <p:cNvSpPr>
              <a:spLocks noChangeArrowheads="1"/>
            </p:cNvSpPr>
            <p:nvPr/>
          </p:nvSpPr>
          <p:spPr bwMode="auto">
            <a:xfrm>
              <a:off x="7586021" y="4586023"/>
              <a:ext cx="107950" cy="10795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8" name="Line 60"/>
          <p:cNvSpPr>
            <a:spLocks noChangeShapeType="1"/>
          </p:cNvSpPr>
          <p:nvPr/>
        </p:nvSpPr>
        <p:spPr bwMode="auto">
          <a:xfrm>
            <a:off x="4552781" y="1392423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Text Box 20"/>
          <p:cNvSpPr txBox="1">
            <a:spLocks noChangeArrowheads="1"/>
          </p:cNvSpPr>
          <p:nvPr/>
        </p:nvSpPr>
        <p:spPr bwMode="auto">
          <a:xfrm>
            <a:off x="3113222" y="1672965"/>
            <a:ext cx="515121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 eaLnBrk="0" hangingPunct="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对变形体，构件在承受载荷的同时发生变形，变形达到一定值时构件处于平衡状态，对变形后的体系应用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刚化原理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Line 60"/>
          <p:cNvSpPr>
            <a:spLocks noChangeShapeType="1"/>
          </p:cNvSpPr>
          <p:nvPr/>
        </p:nvSpPr>
        <p:spPr bwMode="auto">
          <a:xfrm>
            <a:off x="6713021" y="1358554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Box 12"/>
          <p:cNvSpPr txBox="1">
            <a:spLocks noChangeArrowheads="1"/>
          </p:cNvSpPr>
          <p:nvPr/>
        </p:nvSpPr>
        <p:spPr bwMode="auto">
          <a:xfrm>
            <a:off x="6723478" y="1086954"/>
            <a:ext cx="2280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约束力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" name="Text Box 20"/>
          <p:cNvSpPr txBox="1">
            <a:spLocks noChangeArrowheads="1"/>
          </p:cNvSpPr>
          <p:nvPr/>
        </p:nvSpPr>
        <p:spPr bwMode="auto">
          <a:xfrm>
            <a:off x="2968250" y="2646707"/>
            <a:ext cx="5753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变形为小变形，对力影响很小，可忽略。</a:t>
            </a:r>
          </a:p>
        </p:txBody>
      </p:sp>
      <p:sp>
        <p:nvSpPr>
          <p:cNvPr id="103" name="Text Box 20"/>
          <p:cNvSpPr txBox="1">
            <a:spLocks noChangeArrowheads="1"/>
          </p:cNvSpPr>
          <p:nvPr/>
        </p:nvSpPr>
        <p:spPr bwMode="auto">
          <a:xfrm>
            <a:off x="2892908" y="3036538"/>
            <a:ext cx="5753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列平衡方程用变形前尺寸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04" name="Text Box 20"/>
          <p:cNvSpPr txBox="1">
            <a:spLocks noChangeArrowheads="1"/>
          </p:cNvSpPr>
          <p:nvPr/>
        </p:nvSpPr>
        <p:spPr bwMode="auto">
          <a:xfrm>
            <a:off x="3151712" y="3498203"/>
            <a:ext cx="51512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 eaLnBrk="0" hangingPunct="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等效力系定理不能乱用。</a:t>
            </a:r>
            <a:endParaRPr kumimoji="1"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5" name="Text Box 20"/>
          <p:cNvSpPr txBox="1">
            <a:spLocks noChangeArrowheads="1"/>
          </p:cNvSpPr>
          <p:nvPr/>
        </p:nvSpPr>
        <p:spPr bwMode="auto">
          <a:xfrm>
            <a:off x="2989223" y="3844866"/>
            <a:ext cx="60108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力不能任意移动，力偶不能在平面内移动。</a:t>
            </a:r>
          </a:p>
        </p:txBody>
      </p:sp>
      <p:grpSp>
        <p:nvGrpSpPr>
          <p:cNvPr id="141" name="组合 140"/>
          <p:cNvGrpSpPr/>
          <p:nvPr/>
        </p:nvGrpSpPr>
        <p:grpSpPr>
          <a:xfrm>
            <a:off x="3364940" y="4345819"/>
            <a:ext cx="1305548" cy="2065525"/>
            <a:chOff x="3419549" y="4573816"/>
            <a:chExt cx="1305548" cy="2065525"/>
          </a:xfrm>
        </p:grpSpPr>
        <p:sp>
          <p:nvSpPr>
            <p:cNvPr id="110" name="Rectangle 9" descr="花岗岩"/>
            <p:cNvSpPr>
              <a:spLocks noChangeArrowheads="1"/>
            </p:cNvSpPr>
            <p:nvPr/>
          </p:nvSpPr>
          <p:spPr bwMode="auto">
            <a:xfrm>
              <a:off x="3779935" y="4726216"/>
              <a:ext cx="489580" cy="1447800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10"/>
            <p:cNvSpPr>
              <a:spLocks noChangeShapeType="1"/>
            </p:cNvSpPr>
            <p:nvPr/>
          </p:nvSpPr>
          <p:spPr bwMode="auto">
            <a:xfrm>
              <a:off x="4024725" y="6174016"/>
              <a:ext cx="0" cy="45720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Text Box 11"/>
            <p:cNvSpPr txBox="1">
              <a:spLocks noChangeArrowheads="1"/>
            </p:cNvSpPr>
            <p:nvPr/>
          </p:nvSpPr>
          <p:spPr bwMode="auto">
            <a:xfrm>
              <a:off x="4023024" y="6182141"/>
              <a:ext cx="38758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grpSp>
          <p:nvGrpSpPr>
            <p:cNvPr id="115" name="Group 14"/>
            <p:cNvGrpSpPr>
              <a:grpSpLocks/>
            </p:cNvGrpSpPr>
            <p:nvPr/>
          </p:nvGrpSpPr>
          <p:grpSpPr bwMode="auto">
            <a:xfrm>
              <a:off x="3419549" y="4573816"/>
              <a:ext cx="1305548" cy="152400"/>
              <a:chOff x="720" y="720"/>
              <a:chExt cx="768" cy="96"/>
            </a:xfrm>
          </p:grpSpPr>
          <p:sp>
            <p:nvSpPr>
              <p:cNvPr id="129" name="Line 15"/>
              <p:cNvSpPr>
                <a:spLocks noChangeShapeType="1"/>
              </p:cNvSpPr>
              <p:nvPr/>
            </p:nvSpPr>
            <p:spPr bwMode="auto">
              <a:xfrm flipH="1">
                <a:off x="72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16"/>
              <p:cNvSpPr>
                <a:spLocks noChangeShapeType="1"/>
              </p:cNvSpPr>
              <p:nvPr/>
            </p:nvSpPr>
            <p:spPr bwMode="auto">
              <a:xfrm flipH="1">
                <a:off x="105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17"/>
              <p:cNvSpPr>
                <a:spLocks noChangeShapeType="1"/>
              </p:cNvSpPr>
              <p:nvPr/>
            </p:nvSpPr>
            <p:spPr bwMode="auto">
              <a:xfrm flipH="1">
                <a:off x="98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Line 18"/>
              <p:cNvSpPr>
                <a:spLocks noChangeShapeType="1"/>
              </p:cNvSpPr>
              <p:nvPr/>
            </p:nvSpPr>
            <p:spPr bwMode="auto">
              <a:xfrm flipH="1">
                <a:off x="90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Line 19"/>
              <p:cNvSpPr>
                <a:spLocks noChangeShapeType="1"/>
              </p:cNvSpPr>
              <p:nvPr/>
            </p:nvSpPr>
            <p:spPr bwMode="auto">
              <a:xfrm flipH="1">
                <a:off x="83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20"/>
              <p:cNvSpPr>
                <a:spLocks noChangeShapeType="1"/>
              </p:cNvSpPr>
              <p:nvPr/>
            </p:nvSpPr>
            <p:spPr bwMode="auto">
              <a:xfrm flipH="1">
                <a:off x="75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Line 21"/>
              <p:cNvSpPr>
                <a:spLocks noChangeShapeType="1"/>
              </p:cNvSpPr>
              <p:nvPr/>
            </p:nvSpPr>
            <p:spPr bwMode="auto">
              <a:xfrm flipH="1">
                <a:off x="108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Line 22"/>
              <p:cNvSpPr>
                <a:spLocks noChangeShapeType="1"/>
              </p:cNvSpPr>
              <p:nvPr/>
            </p:nvSpPr>
            <p:spPr bwMode="auto">
              <a:xfrm flipH="1">
                <a:off x="141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Line 23"/>
              <p:cNvSpPr>
                <a:spLocks noChangeShapeType="1"/>
              </p:cNvSpPr>
              <p:nvPr/>
            </p:nvSpPr>
            <p:spPr bwMode="auto">
              <a:xfrm flipH="1">
                <a:off x="134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24"/>
              <p:cNvSpPr>
                <a:spLocks noChangeShapeType="1"/>
              </p:cNvSpPr>
              <p:nvPr/>
            </p:nvSpPr>
            <p:spPr bwMode="auto">
              <a:xfrm flipH="1">
                <a:off x="126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H="1">
                <a:off x="119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H="1">
                <a:off x="111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2" name="组合 141"/>
          <p:cNvGrpSpPr/>
          <p:nvPr/>
        </p:nvGrpSpPr>
        <p:grpSpPr>
          <a:xfrm>
            <a:off x="5079722" y="4353944"/>
            <a:ext cx="1305548" cy="1600200"/>
            <a:chOff x="3419549" y="4573816"/>
            <a:chExt cx="1305548" cy="1600200"/>
          </a:xfrm>
        </p:grpSpPr>
        <p:sp>
          <p:nvSpPr>
            <p:cNvPr id="143" name="Rectangle 9" descr="花岗岩"/>
            <p:cNvSpPr>
              <a:spLocks noChangeArrowheads="1"/>
            </p:cNvSpPr>
            <p:nvPr/>
          </p:nvSpPr>
          <p:spPr bwMode="auto">
            <a:xfrm>
              <a:off x="3779935" y="4726216"/>
              <a:ext cx="489580" cy="1447800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10"/>
            <p:cNvSpPr>
              <a:spLocks noChangeShapeType="1"/>
            </p:cNvSpPr>
            <p:nvPr/>
          </p:nvSpPr>
          <p:spPr bwMode="auto">
            <a:xfrm>
              <a:off x="4024725" y="5401672"/>
              <a:ext cx="0" cy="45720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Text Box 11"/>
            <p:cNvSpPr txBox="1">
              <a:spLocks noChangeArrowheads="1"/>
            </p:cNvSpPr>
            <p:nvPr/>
          </p:nvSpPr>
          <p:spPr bwMode="auto">
            <a:xfrm>
              <a:off x="3957221" y="5288960"/>
              <a:ext cx="38758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grpSp>
          <p:nvGrpSpPr>
            <p:cNvPr id="146" name="Group 14"/>
            <p:cNvGrpSpPr>
              <a:grpSpLocks/>
            </p:cNvGrpSpPr>
            <p:nvPr/>
          </p:nvGrpSpPr>
          <p:grpSpPr bwMode="auto">
            <a:xfrm>
              <a:off x="3419549" y="4573816"/>
              <a:ext cx="1305548" cy="152400"/>
              <a:chOff x="720" y="720"/>
              <a:chExt cx="768" cy="96"/>
            </a:xfrm>
          </p:grpSpPr>
          <p:sp>
            <p:nvSpPr>
              <p:cNvPr id="147" name="Line 15"/>
              <p:cNvSpPr>
                <a:spLocks noChangeShapeType="1"/>
              </p:cNvSpPr>
              <p:nvPr/>
            </p:nvSpPr>
            <p:spPr bwMode="auto">
              <a:xfrm flipH="1">
                <a:off x="72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16"/>
              <p:cNvSpPr>
                <a:spLocks noChangeShapeType="1"/>
              </p:cNvSpPr>
              <p:nvPr/>
            </p:nvSpPr>
            <p:spPr bwMode="auto">
              <a:xfrm flipH="1">
                <a:off x="105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" name="Line 17"/>
              <p:cNvSpPr>
                <a:spLocks noChangeShapeType="1"/>
              </p:cNvSpPr>
              <p:nvPr/>
            </p:nvSpPr>
            <p:spPr bwMode="auto">
              <a:xfrm flipH="1">
                <a:off x="98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Line 18"/>
              <p:cNvSpPr>
                <a:spLocks noChangeShapeType="1"/>
              </p:cNvSpPr>
              <p:nvPr/>
            </p:nvSpPr>
            <p:spPr bwMode="auto">
              <a:xfrm flipH="1">
                <a:off x="90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Line 19"/>
              <p:cNvSpPr>
                <a:spLocks noChangeShapeType="1"/>
              </p:cNvSpPr>
              <p:nvPr/>
            </p:nvSpPr>
            <p:spPr bwMode="auto">
              <a:xfrm flipH="1">
                <a:off x="83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Line 20"/>
              <p:cNvSpPr>
                <a:spLocks noChangeShapeType="1"/>
              </p:cNvSpPr>
              <p:nvPr/>
            </p:nvSpPr>
            <p:spPr bwMode="auto">
              <a:xfrm flipH="1">
                <a:off x="75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" name="Line 21"/>
              <p:cNvSpPr>
                <a:spLocks noChangeShapeType="1"/>
              </p:cNvSpPr>
              <p:nvPr/>
            </p:nvSpPr>
            <p:spPr bwMode="auto">
              <a:xfrm flipH="1">
                <a:off x="108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" name="Line 22"/>
              <p:cNvSpPr>
                <a:spLocks noChangeShapeType="1"/>
              </p:cNvSpPr>
              <p:nvPr/>
            </p:nvSpPr>
            <p:spPr bwMode="auto">
              <a:xfrm flipH="1">
                <a:off x="141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Line 23"/>
              <p:cNvSpPr>
                <a:spLocks noChangeShapeType="1"/>
              </p:cNvSpPr>
              <p:nvPr/>
            </p:nvSpPr>
            <p:spPr bwMode="auto">
              <a:xfrm flipH="1">
                <a:off x="134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" name="Line 24"/>
              <p:cNvSpPr>
                <a:spLocks noChangeShapeType="1"/>
              </p:cNvSpPr>
              <p:nvPr/>
            </p:nvSpPr>
            <p:spPr bwMode="auto">
              <a:xfrm flipH="1">
                <a:off x="126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Line 25"/>
              <p:cNvSpPr>
                <a:spLocks noChangeShapeType="1"/>
              </p:cNvSpPr>
              <p:nvPr/>
            </p:nvSpPr>
            <p:spPr bwMode="auto">
              <a:xfrm flipH="1">
                <a:off x="119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Line 26"/>
              <p:cNvSpPr>
                <a:spLocks noChangeShapeType="1"/>
              </p:cNvSpPr>
              <p:nvPr/>
            </p:nvSpPr>
            <p:spPr bwMode="auto">
              <a:xfrm flipH="1">
                <a:off x="111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59" name="组合 158"/>
          <p:cNvGrpSpPr/>
          <p:nvPr/>
        </p:nvGrpSpPr>
        <p:grpSpPr>
          <a:xfrm>
            <a:off x="6794505" y="4354713"/>
            <a:ext cx="1305548" cy="1600200"/>
            <a:chOff x="3419549" y="4573816"/>
            <a:chExt cx="1305548" cy="1600200"/>
          </a:xfrm>
        </p:grpSpPr>
        <p:sp>
          <p:nvSpPr>
            <p:cNvPr id="160" name="Rectangle 9" descr="花岗岩"/>
            <p:cNvSpPr>
              <a:spLocks noChangeArrowheads="1"/>
            </p:cNvSpPr>
            <p:nvPr/>
          </p:nvSpPr>
          <p:spPr bwMode="auto">
            <a:xfrm>
              <a:off x="3779935" y="4726216"/>
              <a:ext cx="489580" cy="1447800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10"/>
            <p:cNvSpPr>
              <a:spLocks noChangeShapeType="1"/>
            </p:cNvSpPr>
            <p:nvPr/>
          </p:nvSpPr>
          <p:spPr bwMode="auto">
            <a:xfrm>
              <a:off x="4005638" y="4722208"/>
              <a:ext cx="0" cy="45720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Text Box 11"/>
            <p:cNvSpPr txBox="1">
              <a:spLocks noChangeArrowheads="1"/>
            </p:cNvSpPr>
            <p:nvPr/>
          </p:nvSpPr>
          <p:spPr bwMode="auto">
            <a:xfrm>
              <a:off x="3978827" y="4722208"/>
              <a:ext cx="38758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grpSp>
          <p:nvGrpSpPr>
            <p:cNvPr id="163" name="Group 14"/>
            <p:cNvGrpSpPr>
              <a:grpSpLocks/>
            </p:cNvGrpSpPr>
            <p:nvPr/>
          </p:nvGrpSpPr>
          <p:grpSpPr bwMode="auto">
            <a:xfrm>
              <a:off x="3419549" y="4573816"/>
              <a:ext cx="1305548" cy="152400"/>
              <a:chOff x="720" y="720"/>
              <a:chExt cx="768" cy="96"/>
            </a:xfrm>
          </p:grpSpPr>
          <p:sp>
            <p:nvSpPr>
              <p:cNvPr id="164" name="Line 15"/>
              <p:cNvSpPr>
                <a:spLocks noChangeShapeType="1"/>
              </p:cNvSpPr>
              <p:nvPr/>
            </p:nvSpPr>
            <p:spPr bwMode="auto">
              <a:xfrm flipH="1">
                <a:off x="72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Line 16"/>
              <p:cNvSpPr>
                <a:spLocks noChangeShapeType="1"/>
              </p:cNvSpPr>
              <p:nvPr/>
            </p:nvSpPr>
            <p:spPr bwMode="auto">
              <a:xfrm flipH="1">
                <a:off x="105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Line 17"/>
              <p:cNvSpPr>
                <a:spLocks noChangeShapeType="1"/>
              </p:cNvSpPr>
              <p:nvPr/>
            </p:nvSpPr>
            <p:spPr bwMode="auto">
              <a:xfrm flipH="1">
                <a:off x="98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18"/>
              <p:cNvSpPr>
                <a:spLocks noChangeShapeType="1"/>
              </p:cNvSpPr>
              <p:nvPr/>
            </p:nvSpPr>
            <p:spPr bwMode="auto">
              <a:xfrm flipH="1">
                <a:off x="90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19"/>
              <p:cNvSpPr>
                <a:spLocks noChangeShapeType="1"/>
              </p:cNvSpPr>
              <p:nvPr/>
            </p:nvSpPr>
            <p:spPr bwMode="auto">
              <a:xfrm flipH="1">
                <a:off x="83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20"/>
              <p:cNvSpPr>
                <a:spLocks noChangeShapeType="1"/>
              </p:cNvSpPr>
              <p:nvPr/>
            </p:nvSpPr>
            <p:spPr bwMode="auto">
              <a:xfrm flipH="1">
                <a:off x="75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21"/>
              <p:cNvSpPr>
                <a:spLocks noChangeShapeType="1"/>
              </p:cNvSpPr>
              <p:nvPr/>
            </p:nvSpPr>
            <p:spPr bwMode="auto">
              <a:xfrm flipH="1">
                <a:off x="108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22"/>
              <p:cNvSpPr>
                <a:spLocks noChangeShapeType="1"/>
              </p:cNvSpPr>
              <p:nvPr/>
            </p:nvSpPr>
            <p:spPr bwMode="auto">
              <a:xfrm flipH="1">
                <a:off x="141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23"/>
              <p:cNvSpPr>
                <a:spLocks noChangeShapeType="1"/>
              </p:cNvSpPr>
              <p:nvPr/>
            </p:nvSpPr>
            <p:spPr bwMode="auto">
              <a:xfrm flipH="1">
                <a:off x="134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24"/>
              <p:cNvSpPr>
                <a:spLocks noChangeShapeType="1"/>
              </p:cNvSpPr>
              <p:nvPr/>
            </p:nvSpPr>
            <p:spPr bwMode="auto">
              <a:xfrm flipH="1">
                <a:off x="126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25"/>
              <p:cNvSpPr>
                <a:spLocks noChangeShapeType="1"/>
              </p:cNvSpPr>
              <p:nvPr/>
            </p:nvSpPr>
            <p:spPr bwMode="auto">
              <a:xfrm flipH="1">
                <a:off x="119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" name="Line 26"/>
              <p:cNvSpPr>
                <a:spLocks noChangeShapeType="1"/>
              </p:cNvSpPr>
              <p:nvPr/>
            </p:nvSpPr>
            <p:spPr bwMode="auto">
              <a:xfrm flipH="1">
                <a:off x="111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60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98" grpId="0" animBg="1"/>
      <p:bldP spid="99" grpId="0"/>
      <p:bldP spid="100" grpId="0" animBg="1"/>
      <p:bldP spid="101" grpId="0"/>
      <p:bldP spid="102" grpId="0"/>
      <p:bldP spid="103" grpId="0"/>
      <p:bldP spid="104" grpId="0"/>
      <p:bldP spid="10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539552" y="314325"/>
            <a:ext cx="5233988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5-1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材料力学的任务</a:t>
            </a: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394792" y="886507"/>
            <a:ext cx="861060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结构由若干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构件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member or component 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组成</a:t>
            </a:r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pic>
        <p:nvPicPr>
          <p:cNvPr id="140295" name="Picture 7" descr="45d73ad0a2c18d7d213d200e8a3d59a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1" y="1379655"/>
            <a:ext cx="3194574" cy="212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807" y="1596916"/>
            <a:ext cx="4248472" cy="28323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271321" y="4646492"/>
            <a:ext cx="4572000" cy="14219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80808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构件按几何形状可分为：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杆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Bar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、板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Plate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、壳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Shell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、块体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Solid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80808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四大类； </a:t>
            </a:r>
          </a:p>
        </p:txBody>
      </p:sp>
      <p:pic>
        <p:nvPicPr>
          <p:cNvPr id="8" name="Picture 9" descr="1220ycu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40201"/>
            <a:ext cx="3936437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285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9552" y="314325"/>
            <a:ext cx="5233988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5-1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材料力学的任务</a:t>
            </a:r>
          </a:p>
        </p:txBody>
      </p:sp>
      <p:sp>
        <p:nvSpPr>
          <p:cNvPr id="7" name="矩形 6"/>
          <p:cNvSpPr/>
          <p:nvPr/>
        </p:nvSpPr>
        <p:spPr>
          <a:xfrm>
            <a:off x="467544" y="864093"/>
            <a:ext cx="561662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80808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材料力学的研究对象</a:t>
            </a:r>
            <a:r>
              <a:rPr lang="en-US" altLang="zh-CN" b="1" dirty="0">
                <a:solidFill>
                  <a:srgbClr val="080808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----- 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杆</a:t>
            </a:r>
            <a:endParaRPr lang="zh-CN" altLang="en-US" b="1" dirty="0">
              <a:solidFill>
                <a:srgbClr val="080808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3568" y="1340768"/>
            <a:ext cx="5785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一维弹性体，长度尺寸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&gt;&gt;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横截面尺寸</a:t>
            </a:r>
            <a:endParaRPr lang="en-US" altLang="zh-CN" b="1" dirty="0"/>
          </a:p>
        </p:txBody>
      </p:sp>
      <p:pic>
        <p:nvPicPr>
          <p:cNvPr id="9" name="Picture 7" descr="钢架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29"/>
          <a:stretch/>
        </p:blipFill>
        <p:spPr bwMode="auto">
          <a:xfrm>
            <a:off x="467544" y="1994403"/>
            <a:ext cx="4040887" cy="217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 descr="https://gimg2.baidu.com/image_search/src=http%3A%2F%2Fimg.zcool.cn%2Fcommunity%2F010bfe591c6de1b5b3086ed4150bbb.png&amp;refer=http%3A%2F%2Fimg.zcool.cn&amp;app=2002&amp;size=f9999,10000&amp;q=a80&amp;n=0&amp;g=0n&amp;fmt=jpeg?sec=1644548770&amp;t=9b39e8a09f30ea3f2d7fb7e295443a2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9" b="13235"/>
          <a:stretch/>
        </p:blipFill>
        <p:spPr bwMode="auto">
          <a:xfrm>
            <a:off x="323528" y="4364098"/>
            <a:ext cx="4468185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802433"/>
            <a:ext cx="3240360" cy="24302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4"/>
          <a:stretch/>
        </p:blipFill>
        <p:spPr>
          <a:xfrm>
            <a:off x="4932040" y="4364098"/>
            <a:ext cx="3682086" cy="216024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87624" y="3602607"/>
            <a:ext cx="52929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杆</a:t>
            </a:r>
            <a:endParaRPr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92975" y="5589240"/>
            <a:ext cx="52929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轴</a:t>
            </a:r>
            <a:endParaRPr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24128" y="3636415"/>
            <a:ext cx="52929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梁</a:t>
            </a:r>
            <a:endParaRPr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12389" y="5733256"/>
            <a:ext cx="52929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柱</a:t>
            </a:r>
            <a:endParaRPr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547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386705" y="1412776"/>
            <a:ext cx="6129511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构件的承载能力包括三个方面：</a:t>
            </a:r>
          </a:p>
          <a:p>
            <a:pPr>
              <a:lnSpc>
                <a:spcPct val="120000"/>
              </a:lnSpc>
              <a:spcBef>
                <a:spcPct val="40000"/>
              </a:spcBef>
            </a:pPr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endParaRPr kumimoji="1" lang="zh-CN" altLang="en-US" sz="2400" b="1" dirty="0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527689" y="345595"/>
            <a:ext cx="5233988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5-1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材料力学的任务</a:t>
            </a:r>
          </a:p>
        </p:txBody>
      </p:sp>
      <p:sp>
        <p:nvSpPr>
          <p:cNvPr id="2" name="矩形 1"/>
          <p:cNvSpPr/>
          <p:nvPr/>
        </p:nvSpPr>
        <p:spPr>
          <a:xfrm>
            <a:off x="386705" y="952361"/>
            <a:ext cx="806489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构件应具有足够的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承受载荷的能力</a:t>
            </a:r>
            <a:r>
              <a:rPr lang="zh-CN" altLang="en-US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，简称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承载能力</a:t>
            </a:r>
            <a:r>
              <a:rPr lang="zh-CN" altLang="en-US" b="1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3" name="矩形 2"/>
          <p:cNvSpPr/>
          <p:nvPr/>
        </p:nvSpPr>
        <p:spPr>
          <a:xfrm>
            <a:off x="403505" y="1863490"/>
            <a:ext cx="66247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强度</a:t>
            </a:r>
            <a:r>
              <a:rPr lang="en-US" altLang="zh-CN" dirty="0">
                <a:ea typeface="楷体_GB2312" pitchFamily="49" charset="-122"/>
                <a:cs typeface="Times New Roman" panose="02020603050405020304" pitchFamily="18" charset="0"/>
              </a:rPr>
              <a:t>(Strength)</a:t>
            </a:r>
            <a:r>
              <a:rPr lang="zh-CN" altLang="en-US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----</a:t>
            </a:r>
            <a:r>
              <a:rPr lang="zh-CN" altLang="en-US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构件抵抗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破坏</a:t>
            </a:r>
            <a:r>
              <a:rPr lang="zh-CN" altLang="en-US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的能力</a:t>
            </a:r>
          </a:p>
        </p:txBody>
      </p:sp>
      <p:pic>
        <p:nvPicPr>
          <p:cNvPr id="11" name="Picture 7" descr="u=1419918596,1064969325&amp;fm=23&amp;gp=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65" y="2501645"/>
            <a:ext cx="3977600" cy="4180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5" t="-763" b="1"/>
          <a:stretch/>
        </p:blipFill>
        <p:spPr>
          <a:xfrm>
            <a:off x="4132565" y="3186067"/>
            <a:ext cx="4603461" cy="349622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454986" y="2355070"/>
            <a:ext cx="40760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载荷作用下不断裂，载荷去除后不产生过大的永久变形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689300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/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7" descr="cnsc_206"/>
          <p:cNvPicPr>
            <a:picLocks noChangeAspect="1" noChangeArrowheads="1"/>
          </p:cNvPicPr>
          <p:nvPr/>
        </p:nvPicPr>
        <p:blipFill>
          <a:blip r:embed="rId3">
            <a:lum bright="-1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5" y="1538713"/>
            <a:ext cx="2878138" cy="326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3419872" y="1440322"/>
            <a:ext cx="3923214" cy="3852579"/>
            <a:chOff x="2615325" y="1412480"/>
            <a:chExt cx="3923214" cy="3852579"/>
          </a:xfrm>
        </p:grpSpPr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2615325" y="1412480"/>
              <a:ext cx="3923214" cy="3852579"/>
              <a:chOff x="2448" y="864"/>
              <a:chExt cx="2880" cy="3141"/>
            </a:xfrm>
          </p:grpSpPr>
          <p:sp>
            <p:nvSpPr>
              <p:cNvPr id="13373" name="Arc 3"/>
              <p:cNvSpPr>
                <a:spLocks/>
              </p:cNvSpPr>
              <p:nvPr/>
            </p:nvSpPr>
            <p:spPr bwMode="auto">
              <a:xfrm rot="811355">
                <a:off x="2448" y="1228"/>
                <a:ext cx="1417" cy="2278"/>
              </a:xfrm>
              <a:custGeom>
                <a:avLst/>
                <a:gdLst>
                  <a:gd name="T0" fmla="*/ 59 w 21493"/>
                  <a:gd name="T1" fmla="*/ 0 h 16768"/>
                  <a:gd name="T2" fmla="*/ 93 w 21493"/>
                  <a:gd name="T3" fmla="*/ 270 h 16768"/>
                  <a:gd name="T4" fmla="*/ 0 w 21493"/>
                  <a:gd name="T5" fmla="*/ 309 h 16768"/>
                  <a:gd name="T6" fmla="*/ 0 60000 65536"/>
                  <a:gd name="T7" fmla="*/ 0 60000 65536"/>
                  <a:gd name="T8" fmla="*/ 0 60000 65536"/>
                  <a:gd name="T9" fmla="*/ 0 w 21493"/>
                  <a:gd name="T10" fmla="*/ 0 h 16768"/>
                  <a:gd name="T11" fmla="*/ 21493 w 21493"/>
                  <a:gd name="T12" fmla="*/ 16768 h 16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493" h="16768" fill="none" extrusionOk="0">
                    <a:moveTo>
                      <a:pt x="13615" y="0"/>
                    </a:moveTo>
                    <a:cubicBezTo>
                      <a:pt x="18085" y="3629"/>
                      <a:pt x="20920" y="8892"/>
                      <a:pt x="21493" y="14620"/>
                    </a:cubicBezTo>
                  </a:path>
                  <a:path w="21493" h="16768" stroke="0" extrusionOk="0">
                    <a:moveTo>
                      <a:pt x="13615" y="0"/>
                    </a:moveTo>
                    <a:cubicBezTo>
                      <a:pt x="18085" y="3629"/>
                      <a:pt x="20920" y="8892"/>
                      <a:pt x="21493" y="14620"/>
                    </a:cubicBezTo>
                    <a:lnTo>
                      <a:pt x="0" y="16768"/>
                    </a:lnTo>
                    <a:lnTo>
                      <a:pt x="13615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" name="Arc 5"/>
              <p:cNvSpPr>
                <a:spLocks/>
              </p:cNvSpPr>
              <p:nvPr/>
            </p:nvSpPr>
            <p:spPr bwMode="auto">
              <a:xfrm rot="16200353" flipV="1">
                <a:off x="3912" y="2605"/>
                <a:ext cx="653" cy="2148"/>
              </a:xfrm>
              <a:custGeom>
                <a:avLst/>
                <a:gdLst>
                  <a:gd name="T0" fmla="*/ 16 w 21600"/>
                  <a:gd name="T1" fmla="*/ 0 h 14849"/>
                  <a:gd name="T2" fmla="*/ 20 w 21600"/>
                  <a:gd name="T3" fmla="*/ 311 h 14849"/>
                  <a:gd name="T4" fmla="*/ 0 w 21600"/>
                  <a:gd name="T5" fmla="*/ 267 h 1484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4849"/>
                  <a:gd name="T11" fmla="*/ 21600 w 21600"/>
                  <a:gd name="T12" fmla="*/ 14849 h 148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4849" fill="none" extrusionOk="0">
                    <a:moveTo>
                      <a:pt x="17428" y="0"/>
                    </a:moveTo>
                    <a:cubicBezTo>
                      <a:pt x="20139" y="3702"/>
                      <a:pt x="21600" y="8170"/>
                      <a:pt x="21600" y="12759"/>
                    </a:cubicBezTo>
                    <a:cubicBezTo>
                      <a:pt x="21600" y="13456"/>
                      <a:pt x="21566" y="14154"/>
                      <a:pt x="21498" y="14848"/>
                    </a:cubicBezTo>
                  </a:path>
                  <a:path w="21600" h="14849" stroke="0" extrusionOk="0">
                    <a:moveTo>
                      <a:pt x="17428" y="0"/>
                    </a:moveTo>
                    <a:cubicBezTo>
                      <a:pt x="20139" y="3702"/>
                      <a:pt x="21600" y="8170"/>
                      <a:pt x="21600" y="12759"/>
                    </a:cubicBezTo>
                    <a:cubicBezTo>
                      <a:pt x="21600" y="13456"/>
                      <a:pt x="21566" y="14154"/>
                      <a:pt x="21498" y="14848"/>
                    </a:cubicBezTo>
                    <a:lnTo>
                      <a:pt x="0" y="12759"/>
                    </a:lnTo>
                    <a:lnTo>
                      <a:pt x="17428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" name="Arc 4"/>
              <p:cNvSpPr>
                <a:spLocks/>
              </p:cNvSpPr>
              <p:nvPr/>
            </p:nvSpPr>
            <p:spPr bwMode="auto">
              <a:xfrm rot="5668209">
                <a:off x="3539" y="-34"/>
                <a:ext cx="892" cy="2687"/>
              </a:xfrm>
              <a:custGeom>
                <a:avLst/>
                <a:gdLst>
                  <a:gd name="T0" fmla="*/ 27 w 20620"/>
                  <a:gd name="T1" fmla="*/ 0 h 15886"/>
                  <a:gd name="T2" fmla="*/ 39 w 20620"/>
                  <a:gd name="T3" fmla="*/ 270 h 15886"/>
                  <a:gd name="T4" fmla="*/ 0 w 20620"/>
                  <a:gd name="T5" fmla="*/ 454 h 15886"/>
                  <a:gd name="T6" fmla="*/ 0 60000 65536"/>
                  <a:gd name="T7" fmla="*/ 0 60000 65536"/>
                  <a:gd name="T8" fmla="*/ 0 60000 65536"/>
                  <a:gd name="T9" fmla="*/ 0 w 20620"/>
                  <a:gd name="T10" fmla="*/ 0 h 15886"/>
                  <a:gd name="T11" fmla="*/ 20620 w 20620"/>
                  <a:gd name="T12" fmla="*/ 15886 h 1588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620" h="15886" fill="none" extrusionOk="0">
                    <a:moveTo>
                      <a:pt x="14635" y="-1"/>
                    </a:moveTo>
                    <a:cubicBezTo>
                      <a:pt x="17425" y="2570"/>
                      <a:pt x="19489" y="5831"/>
                      <a:pt x="20619" y="9453"/>
                    </a:cubicBezTo>
                  </a:path>
                  <a:path w="20620" h="15886" stroke="0" extrusionOk="0">
                    <a:moveTo>
                      <a:pt x="14635" y="-1"/>
                    </a:moveTo>
                    <a:cubicBezTo>
                      <a:pt x="17425" y="2570"/>
                      <a:pt x="19489" y="5831"/>
                      <a:pt x="20619" y="9453"/>
                    </a:cubicBezTo>
                    <a:lnTo>
                      <a:pt x="0" y="15886"/>
                    </a:lnTo>
                    <a:lnTo>
                      <a:pt x="14635" y="-1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7" name="Group 8"/>
            <p:cNvGrpSpPr>
              <a:grpSpLocks/>
            </p:cNvGrpSpPr>
            <p:nvPr/>
          </p:nvGrpSpPr>
          <p:grpSpPr bwMode="auto">
            <a:xfrm>
              <a:off x="3689819" y="1440322"/>
              <a:ext cx="2764538" cy="3279016"/>
              <a:chOff x="3193" y="980"/>
              <a:chExt cx="2119" cy="2576"/>
            </a:xfrm>
          </p:grpSpPr>
          <p:sp>
            <p:nvSpPr>
              <p:cNvPr id="13318" name="Line 9"/>
              <p:cNvSpPr>
                <a:spLocks noChangeShapeType="1"/>
              </p:cNvSpPr>
              <p:nvPr/>
            </p:nvSpPr>
            <p:spPr bwMode="auto">
              <a:xfrm rot="5520000">
                <a:off x="3689" y="1861"/>
                <a:ext cx="0" cy="2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9" name="Line 10"/>
              <p:cNvSpPr>
                <a:spLocks noChangeShapeType="1"/>
              </p:cNvSpPr>
              <p:nvPr/>
            </p:nvSpPr>
            <p:spPr bwMode="auto">
              <a:xfrm rot="120000">
                <a:off x="3932" y="1808"/>
                <a:ext cx="137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0" name="Rectangle 11"/>
              <p:cNvSpPr>
                <a:spLocks noChangeArrowheads="1"/>
              </p:cNvSpPr>
              <p:nvPr/>
            </p:nvSpPr>
            <p:spPr bwMode="auto">
              <a:xfrm rot="120000">
                <a:off x="3529" y="1429"/>
                <a:ext cx="293" cy="29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635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1" name="Rectangle 12"/>
              <p:cNvSpPr>
                <a:spLocks noChangeArrowheads="1"/>
              </p:cNvSpPr>
              <p:nvPr/>
            </p:nvSpPr>
            <p:spPr bwMode="auto">
              <a:xfrm rot="120000">
                <a:off x="3504" y="1314"/>
                <a:ext cx="367" cy="12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2" name="Line 13"/>
              <p:cNvSpPr>
                <a:spLocks noChangeShapeType="1"/>
              </p:cNvSpPr>
              <p:nvPr/>
            </p:nvSpPr>
            <p:spPr bwMode="auto">
              <a:xfrm rot="120000">
                <a:off x="3476" y="1724"/>
                <a:ext cx="0" cy="53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3" name="Line 14"/>
              <p:cNvSpPr>
                <a:spLocks noChangeShapeType="1"/>
              </p:cNvSpPr>
              <p:nvPr/>
            </p:nvSpPr>
            <p:spPr bwMode="auto">
              <a:xfrm rot="120000">
                <a:off x="3507" y="2258"/>
                <a:ext cx="0" cy="56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4" name="Line 15"/>
              <p:cNvSpPr>
                <a:spLocks noChangeShapeType="1"/>
              </p:cNvSpPr>
              <p:nvPr/>
            </p:nvSpPr>
            <p:spPr bwMode="auto">
              <a:xfrm rot="120000">
                <a:off x="3816" y="2266"/>
                <a:ext cx="0" cy="56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5" name="AutoShape 16"/>
              <p:cNvSpPr>
                <a:spLocks noChangeArrowheads="1"/>
              </p:cNvSpPr>
              <p:nvPr/>
            </p:nvSpPr>
            <p:spPr bwMode="auto">
              <a:xfrm rot="120000" flipV="1">
                <a:off x="3400" y="2847"/>
                <a:ext cx="499" cy="369"/>
              </a:xfrm>
              <a:custGeom>
                <a:avLst/>
                <a:gdLst>
                  <a:gd name="T0" fmla="*/ 11 w 21600"/>
                  <a:gd name="T1" fmla="*/ 3 h 21600"/>
                  <a:gd name="T2" fmla="*/ 6 w 21600"/>
                  <a:gd name="T3" fmla="*/ 6 h 21600"/>
                  <a:gd name="T4" fmla="*/ 1 w 21600"/>
                  <a:gd name="T5" fmla="*/ 3 h 21600"/>
                  <a:gd name="T6" fmla="*/ 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073 w 21600"/>
                  <a:gd name="T13" fmla="*/ 3102 h 21600"/>
                  <a:gd name="T14" fmla="*/ 18527 w 21600"/>
                  <a:gd name="T15" fmla="*/ 1849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562" y="21600"/>
                    </a:lnTo>
                    <a:lnTo>
                      <a:pt x="19038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6" name="Rectangle 17"/>
              <p:cNvSpPr>
                <a:spLocks noChangeArrowheads="1"/>
              </p:cNvSpPr>
              <p:nvPr/>
            </p:nvSpPr>
            <p:spPr bwMode="auto">
              <a:xfrm rot="120000">
                <a:off x="3193" y="3303"/>
                <a:ext cx="2004" cy="16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7" name="Line 18"/>
              <p:cNvSpPr>
                <a:spLocks noChangeShapeType="1"/>
              </p:cNvSpPr>
              <p:nvPr/>
            </p:nvSpPr>
            <p:spPr bwMode="auto">
              <a:xfrm rot="120000">
                <a:off x="3469" y="2259"/>
                <a:ext cx="370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Line 19"/>
              <p:cNvSpPr>
                <a:spLocks noChangeShapeType="1"/>
              </p:cNvSpPr>
              <p:nvPr/>
            </p:nvSpPr>
            <p:spPr bwMode="auto">
              <a:xfrm rot="60000">
                <a:off x="3666" y="1426"/>
                <a:ext cx="0" cy="213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9" name="Line 20"/>
              <p:cNvSpPr>
                <a:spLocks noChangeShapeType="1"/>
              </p:cNvSpPr>
              <p:nvPr/>
            </p:nvSpPr>
            <p:spPr bwMode="auto">
              <a:xfrm rot="300000" flipV="1">
                <a:off x="3932" y="1941"/>
                <a:ext cx="1370" cy="21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0" name="Line 21"/>
              <p:cNvSpPr>
                <a:spLocks noChangeShapeType="1"/>
              </p:cNvSpPr>
              <p:nvPr/>
            </p:nvSpPr>
            <p:spPr bwMode="auto">
              <a:xfrm>
                <a:off x="5312" y="1830"/>
                <a:ext cx="0" cy="16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1" name="Arc 22"/>
              <p:cNvSpPr>
                <a:spLocks/>
              </p:cNvSpPr>
              <p:nvPr/>
            </p:nvSpPr>
            <p:spPr bwMode="auto">
              <a:xfrm rot="5100000" flipV="1">
                <a:off x="3823" y="1583"/>
                <a:ext cx="196" cy="217"/>
              </a:xfrm>
              <a:custGeom>
                <a:avLst/>
                <a:gdLst>
                  <a:gd name="T0" fmla="*/ 1 w 20599"/>
                  <a:gd name="T1" fmla="*/ 0 h 17442"/>
                  <a:gd name="T2" fmla="*/ 2 w 20599"/>
                  <a:gd name="T3" fmla="*/ 2 h 17442"/>
                  <a:gd name="T4" fmla="*/ 0 w 20599"/>
                  <a:gd name="T5" fmla="*/ 3 h 17442"/>
                  <a:gd name="T6" fmla="*/ 0 60000 65536"/>
                  <a:gd name="T7" fmla="*/ 0 60000 65536"/>
                  <a:gd name="T8" fmla="*/ 0 60000 65536"/>
                  <a:gd name="T9" fmla="*/ 0 w 20599"/>
                  <a:gd name="T10" fmla="*/ 0 h 17442"/>
                  <a:gd name="T11" fmla="*/ 20599 w 20599"/>
                  <a:gd name="T12" fmla="*/ 17442 h 174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599" h="17442" fill="none" extrusionOk="0">
                    <a:moveTo>
                      <a:pt x="12741" y="-1"/>
                    </a:moveTo>
                    <a:cubicBezTo>
                      <a:pt x="16460" y="2716"/>
                      <a:pt x="19213" y="6551"/>
                      <a:pt x="20599" y="10943"/>
                    </a:cubicBezTo>
                  </a:path>
                  <a:path w="20599" h="17442" stroke="0" extrusionOk="0">
                    <a:moveTo>
                      <a:pt x="12741" y="-1"/>
                    </a:moveTo>
                    <a:cubicBezTo>
                      <a:pt x="16460" y="2716"/>
                      <a:pt x="19213" y="6551"/>
                      <a:pt x="20599" y="10943"/>
                    </a:cubicBezTo>
                    <a:lnTo>
                      <a:pt x="0" y="17442"/>
                    </a:lnTo>
                    <a:lnTo>
                      <a:pt x="12741" y="-1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2" name="Line 23"/>
              <p:cNvSpPr>
                <a:spLocks noChangeShapeType="1"/>
              </p:cNvSpPr>
              <p:nvPr/>
            </p:nvSpPr>
            <p:spPr bwMode="auto">
              <a:xfrm rot="120000">
                <a:off x="3858" y="2232"/>
                <a:ext cx="0" cy="3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" name="Arc 24"/>
              <p:cNvSpPr>
                <a:spLocks/>
              </p:cNvSpPr>
              <p:nvPr/>
            </p:nvSpPr>
            <p:spPr bwMode="auto">
              <a:xfrm rot="-5820000">
                <a:off x="3859" y="2090"/>
                <a:ext cx="104" cy="110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Line 25"/>
              <p:cNvSpPr>
                <a:spLocks noChangeShapeType="1"/>
              </p:cNvSpPr>
              <p:nvPr/>
            </p:nvSpPr>
            <p:spPr bwMode="auto">
              <a:xfrm rot="-1740000">
                <a:off x="3962" y="3219"/>
                <a:ext cx="0" cy="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" name="Line 26"/>
              <p:cNvSpPr>
                <a:spLocks noChangeShapeType="1"/>
              </p:cNvSpPr>
              <p:nvPr/>
            </p:nvSpPr>
            <p:spPr bwMode="auto">
              <a:xfrm rot="1740000" flipH="1">
                <a:off x="3330" y="3201"/>
                <a:ext cx="0" cy="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36" name="Group 27"/>
              <p:cNvGrpSpPr>
                <a:grpSpLocks/>
              </p:cNvGrpSpPr>
              <p:nvPr/>
            </p:nvGrpSpPr>
            <p:grpSpPr bwMode="auto">
              <a:xfrm>
                <a:off x="3652" y="980"/>
                <a:ext cx="185" cy="387"/>
                <a:chOff x="8426" y="1664"/>
                <a:chExt cx="153" cy="340"/>
              </a:xfrm>
            </p:grpSpPr>
            <p:sp>
              <p:nvSpPr>
                <p:cNvPr id="13366" name="Line 28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443" y="1916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7" name="Rectangle 29"/>
                <p:cNvSpPr>
                  <a:spLocks noChangeArrowheads="1"/>
                </p:cNvSpPr>
                <p:nvPr/>
              </p:nvSpPr>
              <p:spPr bwMode="auto">
                <a:xfrm rot="120000">
                  <a:off x="8426" y="1756"/>
                  <a:ext cx="153" cy="155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68" name="Line 30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59" y="1920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9" name="Line 31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01" y="1664"/>
                  <a:ext cx="0" cy="34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0" name="Line 32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59" y="1722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1" name="Line 33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448" y="1719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2" name="Line 34"/>
                <p:cNvSpPr>
                  <a:spLocks noChangeShapeType="1"/>
                </p:cNvSpPr>
                <p:nvPr/>
              </p:nvSpPr>
              <p:spPr bwMode="auto">
                <a:xfrm rot="5520000" flipH="1">
                  <a:off x="8505" y="1665"/>
                  <a:ext cx="0" cy="11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37" name="Group 35"/>
              <p:cNvGrpSpPr>
                <a:grpSpLocks/>
              </p:cNvGrpSpPr>
              <p:nvPr/>
            </p:nvGrpSpPr>
            <p:grpSpPr bwMode="auto">
              <a:xfrm>
                <a:off x="4523" y="1150"/>
                <a:ext cx="186" cy="387"/>
                <a:chOff x="8426" y="1664"/>
                <a:chExt cx="153" cy="340"/>
              </a:xfrm>
            </p:grpSpPr>
            <p:sp>
              <p:nvSpPr>
                <p:cNvPr id="13359" name="Line 36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443" y="1916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0" name="Rectangle 37"/>
                <p:cNvSpPr>
                  <a:spLocks noChangeArrowheads="1"/>
                </p:cNvSpPr>
                <p:nvPr/>
              </p:nvSpPr>
              <p:spPr bwMode="auto">
                <a:xfrm rot="120000">
                  <a:off x="8426" y="1756"/>
                  <a:ext cx="153" cy="155"/>
                </a:xfrm>
                <a:prstGeom prst="rect">
                  <a:avLst/>
                </a:prstGeom>
                <a:solidFill>
                  <a:srgbClr val="FFFFFF">
                    <a:alpha val="0"/>
                  </a:srgbClr>
                </a:solidFill>
                <a:ln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61" name="Line 38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59" y="1920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2" name="Line 39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01" y="1664"/>
                  <a:ext cx="0" cy="34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3" name="Line 40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559" y="1722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4" name="Line 41"/>
                <p:cNvSpPr>
                  <a:spLocks noChangeShapeType="1"/>
                </p:cNvSpPr>
                <p:nvPr/>
              </p:nvSpPr>
              <p:spPr bwMode="auto">
                <a:xfrm rot="120000" flipH="1">
                  <a:off x="8448" y="1719"/>
                  <a:ext cx="0" cy="3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5" name="Line 42"/>
                <p:cNvSpPr>
                  <a:spLocks noChangeShapeType="1"/>
                </p:cNvSpPr>
                <p:nvPr/>
              </p:nvSpPr>
              <p:spPr bwMode="auto">
                <a:xfrm rot="5520000" flipH="1">
                  <a:off x="8505" y="1665"/>
                  <a:ext cx="0" cy="11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338" name="Rectangle 43"/>
              <p:cNvSpPr>
                <a:spLocks noChangeArrowheads="1"/>
              </p:cNvSpPr>
              <p:nvPr/>
            </p:nvSpPr>
            <p:spPr bwMode="auto">
              <a:xfrm rot="120000">
                <a:off x="4461" y="1479"/>
                <a:ext cx="280" cy="53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39" name="Rectangle 44"/>
              <p:cNvSpPr>
                <a:spLocks noChangeArrowheads="1"/>
              </p:cNvSpPr>
              <p:nvPr/>
            </p:nvSpPr>
            <p:spPr bwMode="auto">
              <a:xfrm rot="120000">
                <a:off x="4527" y="2009"/>
                <a:ext cx="124" cy="4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0" name="Line 45"/>
              <p:cNvSpPr>
                <a:spLocks noChangeShapeType="1"/>
              </p:cNvSpPr>
              <p:nvPr/>
            </p:nvSpPr>
            <p:spPr bwMode="auto">
              <a:xfrm rot="120000">
                <a:off x="5237" y="1631"/>
                <a:ext cx="0" cy="19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" name="Line 46"/>
              <p:cNvSpPr>
                <a:spLocks noChangeShapeType="1"/>
              </p:cNvSpPr>
              <p:nvPr/>
            </p:nvSpPr>
            <p:spPr bwMode="auto">
              <a:xfrm rot="120000">
                <a:off x="4829" y="1682"/>
                <a:ext cx="0" cy="12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" name="Line 47"/>
              <p:cNvSpPr>
                <a:spLocks noChangeShapeType="1"/>
              </p:cNvSpPr>
              <p:nvPr/>
            </p:nvSpPr>
            <p:spPr bwMode="auto">
              <a:xfrm rot="120000">
                <a:off x="4322" y="1713"/>
                <a:ext cx="0" cy="8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" name="Line 48"/>
              <p:cNvSpPr>
                <a:spLocks noChangeShapeType="1"/>
              </p:cNvSpPr>
              <p:nvPr/>
            </p:nvSpPr>
            <p:spPr bwMode="auto">
              <a:xfrm rot="5520000">
                <a:off x="3700" y="2442"/>
                <a:ext cx="0" cy="7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Oval 49"/>
              <p:cNvSpPr>
                <a:spLocks noChangeArrowheads="1"/>
              </p:cNvSpPr>
              <p:nvPr/>
            </p:nvSpPr>
            <p:spPr bwMode="auto">
              <a:xfrm>
                <a:off x="3740" y="2473"/>
                <a:ext cx="12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5" name="Oval 50"/>
              <p:cNvSpPr>
                <a:spLocks noChangeArrowheads="1"/>
              </p:cNvSpPr>
              <p:nvPr/>
            </p:nvSpPr>
            <p:spPr bwMode="auto">
              <a:xfrm>
                <a:off x="4315" y="1713"/>
                <a:ext cx="13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6" name="Oval 51"/>
              <p:cNvSpPr>
                <a:spLocks noChangeArrowheads="1"/>
              </p:cNvSpPr>
              <p:nvPr/>
            </p:nvSpPr>
            <p:spPr bwMode="auto">
              <a:xfrm>
                <a:off x="4826" y="1671"/>
                <a:ext cx="14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7" name="Oval 52"/>
              <p:cNvSpPr>
                <a:spLocks noChangeArrowheads="1"/>
              </p:cNvSpPr>
              <p:nvPr/>
            </p:nvSpPr>
            <p:spPr bwMode="auto">
              <a:xfrm>
                <a:off x="5232" y="1613"/>
                <a:ext cx="14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8" name="Oval 53"/>
              <p:cNvSpPr>
                <a:spLocks noChangeArrowheads="1"/>
              </p:cNvSpPr>
              <p:nvPr/>
            </p:nvSpPr>
            <p:spPr bwMode="auto">
              <a:xfrm>
                <a:off x="3657" y="3345"/>
                <a:ext cx="13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49" name="Oval 54"/>
              <p:cNvSpPr>
                <a:spLocks noChangeArrowheads="1"/>
              </p:cNvSpPr>
              <p:nvPr/>
            </p:nvSpPr>
            <p:spPr bwMode="auto">
              <a:xfrm>
                <a:off x="3691" y="3130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0" name="Oval 55"/>
              <p:cNvSpPr>
                <a:spLocks noChangeArrowheads="1"/>
              </p:cNvSpPr>
              <p:nvPr/>
            </p:nvSpPr>
            <p:spPr bwMode="auto">
              <a:xfrm>
                <a:off x="3217" y="3348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1" name="Oval 56"/>
              <p:cNvSpPr>
                <a:spLocks noChangeArrowheads="1"/>
              </p:cNvSpPr>
              <p:nvPr/>
            </p:nvSpPr>
            <p:spPr bwMode="auto">
              <a:xfrm>
                <a:off x="4082" y="3360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2" name="Oval 57"/>
              <p:cNvSpPr>
                <a:spLocks noChangeArrowheads="1"/>
              </p:cNvSpPr>
              <p:nvPr/>
            </p:nvSpPr>
            <p:spPr bwMode="auto">
              <a:xfrm>
                <a:off x="4521" y="3384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3" name="Oval 58"/>
              <p:cNvSpPr>
                <a:spLocks noChangeArrowheads="1"/>
              </p:cNvSpPr>
              <p:nvPr/>
            </p:nvSpPr>
            <p:spPr bwMode="auto">
              <a:xfrm>
                <a:off x="4888" y="3419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4" name="Oval 59"/>
              <p:cNvSpPr>
                <a:spLocks noChangeArrowheads="1"/>
              </p:cNvSpPr>
              <p:nvPr/>
            </p:nvSpPr>
            <p:spPr bwMode="auto">
              <a:xfrm>
                <a:off x="5164" y="3450"/>
                <a:ext cx="13" cy="1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5" name="Oval 60"/>
              <p:cNvSpPr>
                <a:spLocks noChangeArrowheads="1"/>
              </p:cNvSpPr>
              <p:nvPr/>
            </p:nvSpPr>
            <p:spPr bwMode="auto">
              <a:xfrm>
                <a:off x="3708" y="1867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6" name="Oval 61"/>
              <p:cNvSpPr>
                <a:spLocks noChangeArrowheads="1"/>
              </p:cNvSpPr>
              <p:nvPr/>
            </p:nvSpPr>
            <p:spPr bwMode="auto">
              <a:xfrm>
                <a:off x="3596" y="1341"/>
                <a:ext cx="13" cy="1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57" name="AutoShape 62"/>
              <p:cNvSpPr>
                <a:spLocks noChangeArrowheads="1"/>
              </p:cNvSpPr>
              <p:nvPr/>
            </p:nvSpPr>
            <p:spPr bwMode="auto">
              <a:xfrm rot="120000">
                <a:off x="4544" y="2053"/>
                <a:ext cx="83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602 w 21600"/>
                  <a:gd name="T13" fmla="*/ 2793 h 21600"/>
                  <a:gd name="T14" fmla="*/ 18998 w 21600"/>
                  <a:gd name="T15" fmla="*/ 1899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1800" y="21600"/>
                    </a:lnTo>
                    <a:lnTo>
                      <a:pt x="198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" name="Line 63"/>
              <p:cNvSpPr>
                <a:spLocks noChangeShapeType="1"/>
              </p:cNvSpPr>
              <p:nvPr/>
            </p:nvSpPr>
            <p:spPr bwMode="auto">
              <a:xfrm rot="5520000" flipH="1" flipV="1">
                <a:off x="4426" y="2080"/>
                <a:ext cx="32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695924" y="904791"/>
            <a:ext cx="58342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刚度</a:t>
            </a:r>
            <a:r>
              <a: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(Stiffness)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----</a:t>
            </a:r>
            <a:r>
              <a:rPr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构件抵抗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变形</a:t>
            </a:r>
            <a:r>
              <a:rPr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的能力</a:t>
            </a:r>
          </a:p>
        </p:txBody>
      </p:sp>
      <p:sp>
        <p:nvSpPr>
          <p:cNvPr id="4" name="矩形 3"/>
          <p:cNvSpPr/>
          <p:nvPr/>
        </p:nvSpPr>
        <p:spPr>
          <a:xfrm>
            <a:off x="4864905" y="5229921"/>
            <a:ext cx="30364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载荷作用下的变形不超过工程允许范围。</a:t>
            </a:r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803799" y="337083"/>
            <a:ext cx="6129511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4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构件的承载能力包括三个方面：</a:t>
            </a:r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endParaRPr kumimoji="1" lang="zh-CN" altLang="en-US" sz="2400" b="1" dirty="0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47" y="4980557"/>
            <a:ext cx="3699478" cy="16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165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48" name="Picture 16" descr="C:\Documents and Settings\Administrator\桌面\75c8babdc839945eb662c308c3ae03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613" y="4149080"/>
            <a:ext cx="13716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50" name="Picture 18" descr="C:\Documents and Settings\Administrator\桌面\5928087b3d2ac09295e455354e883f0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980728"/>
            <a:ext cx="426085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/>
          <p:nvPr/>
        </p:nvSpPr>
        <p:spPr>
          <a:xfrm>
            <a:off x="827584" y="1124744"/>
            <a:ext cx="2923483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4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稳定性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(Stability)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----</a:t>
            </a:r>
            <a:r>
              <a:rPr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构件保持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初始平衡</a:t>
            </a:r>
            <a:r>
              <a:rPr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形式的能力</a:t>
            </a:r>
          </a:p>
        </p:txBody>
      </p:sp>
      <p:pic>
        <p:nvPicPr>
          <p:cNvPr id="19" name="Picture 2" descr="悬空寺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27" y="2780928"/>
            <a:ext cx="4338032" cy="3253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07864" y="462862"/>
            <a:ext cx="6129511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5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构件的承载能力包括三个方面：</a:t>
            </a:r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endParaRPr kumimoji="1" lang="zh-CN" altLang="en-US" sz="2400" b="1" dirty="0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89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7689" y="937715"/>
            <a:ext cx="756084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材料力学是研究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杆类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构件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承载能力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的一门科学；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525036" y="1430863"/>
            <a:ext cx="808338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材料力学的主要任务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根据构件的用途，在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安全和经济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前提下，对构件进行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材料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截面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的设计。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023952" y="2377980"/>
            <a:ext cx="1512888" cy="1123950"/>
            <a:chOff x="3969" y="3339"/>
            <a:chExt cx="953" cy="708"/>
          </a:xfrm>
        </p:grpSpPr>
        <p:sp>
          <p:nvSpPr>
            <p:cNvPr id="5" name="AutoShape 9"/>
            <p:cNvSpPr>
              <a:spLocks noChangeArrowheads="1"/>
            </p:cNvSpPr>
            <p:nvPr/>
          </p:nvSpPr>
          <p:spPr bwMode="ltGray">
            <a:xfrm>
              <a:off x="3969" y="3339"/>
              <a:ext cx="953" cy="708"/>
            </a:xfrm>
            <a:prstGeom prst="irregularSeal2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4141" y="3521"/>
              <a:ext cx="771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8001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2573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1717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40000"/>
                </a:spcBef>
              </a:pPr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矛盾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！</a:t>
              </a:r>
            </a:p>
          </p:txBody>
        </p:sp>
      </p:grp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6520965" y="2484824"/>
            <a:ext cx="223202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778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001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224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4447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9019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591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163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7355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4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用材料力学的知识来解决！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27689" y="345595"/>
            <a:ext cx="5233988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5-1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材料力学的任务</a:t>
            </a:r>
          </a:p>
        </p:txBody>
      </p:sp>
      <p:sp>
        <p:nvSpPr>
          <p:cNvPr id="16" name="矩形 15"/>
          <p:cNvSpPr/>
          <p:nvPr/>
        </p:nvSpPr>
        <p:spPr>
          <a:xfrm>
            <a:off x="525036" y="2452752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安全：用好的材料，多用材料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ea typeface="楷体_GB2312" pitchFamily="49" charset="-122"/>
              </a:rPr>
              <a:t>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经济：用次的材料，少用材料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527561" y="3716542"/>
            <a:ext cx="8083385" cy="47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4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材料力学的</a:t>
            </a:r>
            <a:r>
              <a:rPr lang="zh-CN" altLang="en-US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研究方法</a:t>
            </a:r>
            <a:r>
              <a:rPr kumimoji="1" lang="en-US" altLang="zh-CN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理论分析、实验研究、数值模拟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899592" y="5067677"/>
            <a:ext cx="1477962" cy="46166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研究方法</a:t>
            </a: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 flipV="1">
            <a:off x="2441331" y="4671038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2448726" y="5429409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3269476" y="4421346"/>
            <a:ext cx="144654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理论分析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243206" y="5771804"/>
            <a:ext cx="1431674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数值模拟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5290373" y="4750057"/>
            <a:ext cx="2979324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测定材料的力学性能；解决某些不能全靠理论分析的问题</a:t>
            </a: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4649023" y="5052026"/>
            <a:ext cx="6413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</a:p>
        </p:txBody>
      </p:sp>
      <p:sp>
        <p:nvSpPr>
          <p:cNvPr id="25" name="Line 6"/>
          <p:cNvSpPr>
            <a:spLocks noChangeAspect="1" noChangeShapeType="1"/>
          </p:cNvSpPr>
          <p:nvPr/>
        </p:nvSpPr>
        <p:spPr bwMode="auto">
          <a:xfrm rot="8520000">
            <a:off x="2520326" y="5107524"/>
            <a:ext cx="624078" cy="4853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3243206" y="5095186"/>
            <a:ext cx="1431674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实验研究</a:t>
            </a:r>
          </a:p>
        </p:txBody>
      </p:sp>
    </p:spTree>
    <p:extLst>
      <p:ext uri="{BB962C8B-B14F-4D97-AF65-F5344CB8AC3E}">
        <p14:creationId xmlns:p14="http://schemas.microsoft.com/office/powerpoint/2010/main" val="39316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8" grpId="0" animBg="1" autoUpdateAnimBg="0"/>
      <p:bldP spid="19" grpId="0" animBg="1"/>
      <p:bldP spid="20" grpId="0" animBg="1"/>
      <p:bldP spid="21" grpId="0" animBg="1" autoUpdateAnimBg="0"/>
      <p:bldP spid="22" grpId="0" animBg="1" autoUpdateAnimBg="0"/>
      <p:bldP spid="23" grpId="0" animBg="1" autoUpdateAnimBg="0"/>
      <p:bldP spid="24" grpId="0"/>
      <p:bldP spid="25" grpId="0" animBg="1"/>
      <p:bldP spid="2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5"/>
          <p:cNvGrpSpPr>
            <a:grpSpLocks/>
          </p:cNvGrpSpPr>
          <p:nvPr/>
        </p:nvGrpSpPr>
        <p:grpSpPr bwMode="auto">
          <a:xfrm>
            <a:off x="323528" y="2001936"/>
            <a:ext cx="4046538" cy="2128838"/>
            <a:chOff x="285720" y="1428736"/>
            <a:chExt cx="4046552" cy="2128838"/>
          </a:xfrm>
        </p:grpSpPr>
        <p:grpSp>
          <p:nvGrpSpPr>
            <p:cNvPr id="68628" name="Group 6"/>
            <p:cNvGrpSpPr>
              <a:grpSpLocks/>
            </p:cNvGrpSpPr>
            <p:nvPr/>
          </p:nvGrpSpPr>
          <p:grpSpPr bwMode="auto">
            <a:xfrm>
              <a:off x="285720" y="1428736"/>
              <a:ext cx="2066925" cy="2128838"/>
              <a:chOff x="756" y="1260"/>
              <a:chExt cx="1302" cy="1341"/>
            </a:xfrm>
          </p:grpSpPr>
          <p:pic>
            <p:nvPicPr>
              <p:cNvPr id="68632" name="Picture 7" descr="P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999" r="3860"/>
              <a:stretch>
                <a:fillRect/>
              </a:stretch>
            </p:blipFill>
            <p:spPr bwMode="auto">
              <a:xfrm>
                <a:off x="765" y="1488"/>
                <a:ext cx="1200" cy="1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633" name="Text Box 8"/>
              <p:cNvSpPr txBox="1">
                <a:spLocks noChangeArrowheads="1"/>
              </p:cNvSpPr>
              <p:nvPr/>
            </p:nvSpPr>
            <p:spPr bwMode="auto">
              <a:xfrm>
                <a:off x="756" y="1260"/>
                <a:ext cx="130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1600" dirty="0">
                    <a:latin typeface="宋体" panose="02010600030101010101" pitchFamily="2" charset="-122"/>
                  </a:rPr>
                  <a:t>灰口铸铁的显微组织</a:t>
                </a:r>
              </a:p>
            </p:txBody>
          </p:sp>
        </p:grpSp>
        <p:grpSp>
          <p:nvGrpSpPr>
            <p:cNvPr id="68629" name="Group 9"/>
            <p:cNvGrpSpPr>
              <a:grpSpLocks/>
            </p:cNvGrpSpPr>
            <p:nvPr/>
          </p:nvGrpSpPr>
          <p:grpSpPr bwMode="auto">
            <a:xfrm>
              <a:off x="2285984" y="1428736"/>
              <a:ext cx="2046288" cy="2087563"/>
              <a:chOff x="2076" y="1287"/>
              <a:chExt cx="1289" cy="1315"/>
            </a:xfrm>
          </p:grpSpPr>
          <p:sp>
            <p:nvSpPr>
              <p:cNvPr id="68630" name="Text Box 10"/>
              <p:cNvSpPr txBox="1">
                <a:spLocks noChangeArrowheads="1"/>
              </p:cNvSpPr>
              <p:nvPr/>
            </p:nvSpPr>
            <p:spPr bwMode="auto">
              <a:xfrm>
                <a:off x="2076" y="1287"/>
                <a:ext cx="12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1600" dirty="0">
                    <a:latin typeface="宋体" panose="02010600030101010101" pitchFamily="2" charset="-122"/>
                  </a:rPr>
                  <a:t>球墨铸铁的显微组织</a:t>
                </a:r>
              </a:p>
            </p:txBody>
          </p:sp>
          <p:pic>
            <p:nvPicPr>
              <p:cNvPr id="68631" name="Picture 11" descr="P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008" r="2040" b="3502"/>
              <a:stretch>
                <a:fillRect/>
              </a:stretch>
            </p:blipFill>
            <p:spPr bwMode="auto">
              <a:xfrm>
                <a:off x="2091" y="1500"/>
                <a:ext cx="1248" cy="1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5" name="组合 26"/>
          <p:cNvGrpSpPr>
            <a:grpSpLocks/>
          </p:cNvGrpSpPr>
          <p:nvPr/>
        </p:nvGrpSpPr>
        <p:grpSpPr bwMode="auto">
          <a:xfrm>
            <a:off x="4484366" y="1903749"/>
            <a:ext cx="4462463" cy="2352675"/>
            <a:chOff x="4452936" y="1171559"/>
            <a:chExt cx="4462479" cy="2352675"/>
          </a:xfrm>
        </p:grpSpPr>
        <p:grpSp>
          <p:nvGrpSpPr>
            <p:cNvPr id="68622" name="Group 12"/>
            <p:cNvGrpSpPr>
              <a:grpSpLocks/>
            </p:cNvGrpSpPr>
            <p:nvPr/>
          </p:nvGrpSpPr>
          <p:grpSpPr bwMode="auto">
            <a:xfrm>
              <a:off x="6580202" y="1171559"/>
              <a:ext cx="2335213" cy="2286000"/>
              <a:chOff x="964" y="2688"/>
              <a:chExt cx="1471" cy="1440"/>
            </a:xfrm>
          </p:grpSpPr>
          <p:pic>
            <p:nvPicPr>
              <p:cNvPr id="68626" name="Picture 13" descr="p10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228"/>
              <a:stretch>
                <a:fillRect/>
              </a:stretch>
            </p:blipFill>
            <p:spPr bwMode="auto">
              <a:xfrm>
                <a:off x="1207" y="2688"/>
                <a:ext cx="1228" cy="1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627" name="Text Box 14"/>
              <p:cNvSpPr txBox="1">
                <a:spLocks noChangeArrowheads="1"/>
              </p:cNvSpPr>
              <p:nvPr/>
            </p:nvSpPr>
            <p:spPr bwMode="auto">
              <a:xfrm>
                <a:off x="964" y="2806"/>
                <a:ext cx="271" cy="1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1600" dirty="0">
                    <a:latin typeface="宋体" panose="02010600030101010101" pitchFamily="2" charset="-122"/>
                  </a:rPr>
                  <a:t>优质钢材的显微组织</a:t>
                </a:r>
                <a:endParaRPr lang="zh-CN" altLang="en-US" dirty="0"/>
              </a:p>
            </p:txBody>
          </p:sp>
        </p:grpSp>
        <p:grpSp>
          <p:nvGrpSpPr>
            <p:cNvPr id="68623" name="Group 15"/>
            <p:cNvGrpSpPr>
              <a:grpSpLocks/>
            </p:cNvGrpSpPr>
            <p:nvPr/>
          </p:nvGrpSpPr>
          <p:grpSpPr bwMode="auto">
            <a:xfrm>
              <a:off x="4452936" y="1200134"/>
              <a:ext cx="2228850" cy="2324100"/>
              <a:chOff x="4113" y="1290"/>
              <a:chExt cx="1404" cy="1464"/>
            </a:xfrm>
          </p:grpSpPr>
          <p:pic>
            <p:nvPicPr>
              <p:cNvPr id="68624" name="Picture 16" descr="P9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19" t="18750" r="4094" b="3125"/>
              <a:stretch>
                <a:fillRect/>
              </a:stretch>
            </p:blipFill>
            <p:spPr bwMode="auto">
              <a:xfrm>
                <a:off x="4113" y="1290"/>
                <a:ext cx="1140" cy="1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625" name="Text Box 17"/>
              <p:cNvSpPr txBox="1">
                <a:spLocks noChangeArrowheads="1"/>
              </p:cNvSpPr>
              <p:nvPr/>
            </p:nvSpPr>
            <p:spPr bwMode="auto">
              <a:xfrm>
                <a:off x="5246" y="1389"/>
                <a:ext cx="271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1600" dirty="0">
                    <a:latin typeface="宋体" panose="02010600030101010101" pitchFamily="2" charset="-122"/>
                  </a:rPr>
                  <a:t>普通钢材的显微组织</a:t>
                </a:r>
              </a:p>
            </p:txBody>
          </p:sp>
        </p:grpSp>
      </p:grp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520070" y="440901"/>
            <a:ext cx="575945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5-2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变形固体的基本假设</a:t>
            </a:r>
          </a:p>
        </p:txBody>
      </p:sp>
      <p:sp>
        <p:nvSpPr>
          <p:cNvPr id="3" name="矩形 2"/>
          <p:cNvSpPr/>
          <p:nvPr/>
        </p:nvSpPr>
        <p:spPr>
          <a:xfrm>
            <a:off x="463945" y="1051719"/>
            <a:ext cx="80558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buFontTx/>
              <a:buBlip>
                <a:blip r:embed="rId6"/>
              </a:buBlip>
            </a:pPr>
            <a:r>
              <a:rPr lang="zh-CN" altLang="en-US" b="1" dirty="0">
                <a:solidFill>
                  <a:srgbClr val="0099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变形固体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(</a:t>
            </a:r>
            <a:r>
              <a:rPr lang="en-US" altLang="zh-CN" dirty="0">
                <a:latin typeface="+mj-lt"/>
                <a:ea typeface="黑体" panose="02010609060101010101" pitchFamily="49" charset="-122"/>
              </a:rPr>
              <a:t>Deformable Body</a:t>
            </a:r>
            <a:r>
              <a:rPr lang="en-US" altLang="zh-CN" b="1" dirty="0">
                <a:latin typeface="+mj-lt"/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latin typeface="+mj-lt"/>
                <a:ea typeface="黑体" panose="02010609060101010101" pitchFamily="49" charset="-122"/>
              </a:rPr>
              <a:t>：</a:t>
            </a:r>
            <a:r>
              <a:rPr lang="zh-CN" altLang="en-US" b="1" dirty="0">
                <a:solidFill>
                  <a:srgbClr val="080808"/>
                </a:solidFill>
                <a:latin typeface="+mj-lt"/>
                <a:ea typeface="黑体" panose="02010609060101010101" pitchFamily="49" charset="-122"/>
              </a:rPr>
              <a:t>在力的作用下，会发生变形的固体。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187624" y="4337754"/>
            <a:ext cx="5976938" cy="57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Ⅰ. </a:t>
            </a:r>
            <a:r>
              <a:rPr lang="zh-CN" altLang="en-US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连续性假设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无间隙、密实连续。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827584" y="4899178"/>
            <a:ext cx="7848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从受力构件内任意取出的体积单元内均不含空隙；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463945" y="5460394"/>
            <a:ext cx="79200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/>
              <a:t>     </a:t>
            </a:r>
            <a:r>
              <a:rPr lang="en-US" altLang="zh-CN" dirty="0"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变形必须满足几何相容条件，变形后的固体内既无“空隙”，亦不产生“挤入”现象。</a:t>
            </a:r>
          </a:p>
        </p:txBody>
      </p:sp>
    </p:spTree>
    <p:extLst>
      <p:ext uri="{BB962C8B-B14F-4D97-AF65-F5344CB8AC3E}">
        <p14:creationId xmlns:p14="http://schemas.microsoft.com/office/powerpoint/2010/main" val="196947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5" grpId="0" autoUpdateAnimBg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539552" y="1052736"/>
            <a:ext cx="7921625" cy="57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</a:rPr>
              <a:t>    </a:t>
            </a:r>
            <a:r>
              <a:rPr lang="en-US" altLang="zh-CN" dirty="0">
                <a:ea typeface="宋体" panose="02010600030101010101" pitchFamily="2" charset="-122"/>
              </a:rPr>
              <a:t>Ⅱ. </a:t>
            </a:r>
            <a:r>
              <a:rPr lang="zh-CN" altLang="en-US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均匀性假设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各点处材料的力学性能相同。</a:t>
            </a:r>
          </a:p>
        </p:txBody>
      </p:sp>
      <p:sp>
        <p:nvSpPr>
          <p:cNvPr id="148490" name="Text Box 10"/>
          <p:cNvSpPr txBox="1">
            <a:spLocks noChangeArrowheads="1"/>
          </p:cNvSpPr>
          <p:nvPr/>
        </p:nvSpPr>
        <p:spPr bwMode="auto">
          <a:xfrm>
            <a:off x="605183" y="2365738"/>
            <a:ext cx="77832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</a:rPr>
              <a:t>    </a:t>
            </a:r>
            <a:r>
              <a:rPr lang="en-US" altLang="zh-CN" dirty="0">
                <a:ea typeface="宋体" panose="02010600030101010101" pitchFamily="2" charset="-122"/>
              </a:rPr>
              <a:t>IV. </a:t>
            </a:r>
            <a:r>
              <a:rPr lang="zh-CN" altLang="en-US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小变形假设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构件在承受荷载作用时，其变形与构件的原始尺寸相比甚小，甚至可以略去不计。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2113D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endParaRPr lang="zh-CN" altLang="en-US" b="1" dirty="0">
              <a:solidFill>
                <a:srgbClr val="2113D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77990" y="1659166"/>
            <a:ext cx="8044747" cy="57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         </a:t>
            </a:r>
            <a:r>
              <a:rPr lang="en-US" altLang="zh-CN" dirty="0"/>
              <a:t>Ⅲ</a:t>
            </a:r>
            <a:r>
              <a:rPr lang="en-US" altLang="zh-CN" dirty="0">
                <a:ea typeface="宋体" panose="02010600030101010101" pitchFamily="2" charset="-122"/>
              </a:rPr>
              <a:t>. </a:t>
            </a:r>
            <a:r>
              <a:rPr lang="zh-CN" altLang="en-US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各向同性假设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各点处各方向的力学性能相同。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20070" y="440901"/>
            <a:ext cx="575945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5-2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变形固体的基本假设</a:t>
            </a:r>
          </a:p>
        </p:txBody>
      </p:sp>
      <p:sp>
        <p:nvSpPr>
          <p:cNvPr id="2" name="矩形 1"/>
          <p:cNvSpPr/>
          <p:nvPr/>
        </p:nvSpPr>
        <p:spPr>
          <a:xfrm>
            <a:off x="2339752" y="3234726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2113D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不影响平衡与运动计算</a:t>
            </a:r>
          </a:p>
        </p:txBody>
      </p: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5043191" y="3667838"/>
            <a:ext cx="2519363" cy="1231900"/>
            <a:chOff x="5556" y="418"/>
            <a:chExt cx="1587" cy="776"/>
          </a:xfrm>
        </p:grpSpPr>
        <p:sp>
          <p:nvSpPr>
            <p:cNvPr id="9" name="Line 140"/>
            <p:cNvSpPr>
              <a:spLocks noChangeShapeType="1"/>
            </p:cNvSpPr>
            <p:nvPr/>
          </p:nvSpPr>
          <p:spPr bwMode="auto">
            <a:xfrm>
              <a:off x="5661" y="900"/>
              <a:ext cx="131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141"/>
            <p:cNvGrpSpPr>
              <a:grpSpLocks/>
            </p:cNvGrpSpPr>
            <p:nvPr/>
          </p:nvGrpSpPr>
          <p:grpSpPr bwMode="auto">
            <a:xfrm>
              <a:off x="5556" y="876"/>
              <a:ext cx="272" cy="178"/>
              <a:chOff x="5556" y="876"/>
              <a:chExt cx="272" cy="178"/>
            </a:xfrm>
          </p:grpSpPr>
          <p:grpSp>
            <p:nvGrpSpPr>
              <p:cNvPr id="33" name="Group 142"/>
              <p:cNvGrpSpPr>
                <a:grpSpLocks/>
              </p:cNvGrpSpPr>
              <p:nvPr/>
            </p:nvGrpSpPr>
            <p:grpSpPr bwMode="auto">
              <a:xfrm>
                <a:off x="5556" y="1006"/>
                <a:ext cx="272" cy="48"/>
                <a:chOff x="476" y="3113"/>
                <a:chExt cx="544" cy="90"/>
              </a:xfrm>
            </p:grpSpPr>
            <p:sp>
              <p:nvSpPr>
                <p:cNvPr id="36" name="Line 143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45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Line 148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" name="AutoShape 149"/>
              <p:cNvSpPr>
                <a:spLocks noChangeArrowheads="1"/>
              </p:cNvSpPr>
              <p:nvPr/>
            </p:nvSpPr>
            <p:spPr bwMode="auto">
              <a:xfrm>
                <a:off x="5620" y="883"/>
                <a:ext cx="145" cy="123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150"/>
              <p:cNvSpPr>
                <a:spLocks noChangeAspect="1" noChangeArrowheads="1"/>
              </p:cNvSpPr>
              <p:nvPr/>
            </p:nvSpPr>
            <p:spPr bwMode="auto">
              <a:xfrm>
                <a:off x="5670" y="876"/>
                <a:ext cx="41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" name="Line 151"/>
            <p:cNvSpPr>
              <a:spLocks noChangeShapeType="1"/>
            </p:cNvSpPr>
            <p:nvPr/>
          </p:nvSpPr>
          <p:spPr bwMode="auto">
            <a:xfrm flipH="1">
              <a:off x="6343" y="532"/>
              <a:ext cx="9" cy="368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152"/>
            <p:cNvSpPr txBox="1">
              <a:spLocks noChangeArrowheads="1"/>
            </p:cNvSpPr>
            <p:nvPr/>
          </p:nvSpPr>
          <p:spPr bwMode="auto">
            <a:xfrm>
              <a:off x="6358" y="41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5" name="Line 153"/>
            <p:cNvSpPr>
              <a:spLocks noChangeShapeType="1"/>
            </p:cNvSpPr>
            <p:nvPr/>
          </p:nvSpPr>
          <p:spPr bwMode="auto">
            <a:xfrm>
              <a:off x="5691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54"/>
            <p:cNvSpPr>
              <a:spLocks noChangeShapeType="1"/>
            </p:cNvSpPr>
            <p:nvPr/>
          </p:nvSpPr>
          <p:spPr bwMode="auto">
            <a:xfrm>
              <a:off x="6987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 rot="5400000">
              <a:off x="6011" y="811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156"/>
            <p:cNvSpPr txBox="1">
              <a:spLocks noChangeArrowheads="1"/>
            </p:cNvSpPr>
            <p:nvPr/>
          </p:nvSpPr>
          <p:spPr bwMode="auto">
            <a:xfrm>
              <a:off x="5918" y="967"/>
              <a:ext cx="2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400" b="1" i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1400" b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/2</a:t>
              </a:r>
              <a:endParaRPr kumimoji="1" lang="el-GR" altLang="zh-CN" sz="14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>
              <a:off x="6339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rot="5400000">
              <a:off x="6662" y="811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Text Box 159"/>
            <p:cNvSpPr txBox="1">
              <a:spLocks noChangeArrowheads="1"/>
            </p:cNvSpPr>
            <p:nvPr/>
          </p:nvSpPr>
          <p:spPr bwMode="auto">
            <a:xfrm>
              <a:off x="6470" y="973"/>
              <a:ext cx="2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400" b="1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1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/2</a:t>
              </a:r>
              <a:endParaRPr kumimoji="1" lang="el-GR" altLang="zh-CN" sz="1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2" name="Group 160"/>
            <p:cNvGrpSpPr>
              <a:grpSpLocks/>
            </p:cNvGrpSpPr>
            <p:nvPr/>
          </p:nvGrpSpPr>
          <p:grpSpPr bwMode="auto">
            <a:xfrm>
              <a:off x="6826" y="879"/>
              <a:ext cx="317" cy="194"/>
              <a:chOff x="6826" y="879"/>
              <a:chExt cx="317" cy="194"/>
            </a:xfrm>
          </p:grpSpPr>
          <p:grpSp>
            <p:nvGrpSpPr>
              <p:cNvPr id="23" name="Group 161"/>
              <p:cNvGrpSpPr>
                <a:grpSpLocks/>
              </p:cNvGrpSpPr>
              <p:nvPr/>
            </p:nvGrpSpPr>
            <p:grpSpPr bwMode="auto">
              <a:xfrm>
                <a:off x="6826" y="1019"/>
                <a:ext cx="317" cy="54"/>
                <a:chOff x="476" y="3113"/>
                <a:chExt cx="544" cy="90"/>
              </a:xfrm>
            </p:grpSpPr>
            <p:sp>
              <p:nvSpPr>
                <p:cNvPr id="27" name="Line 162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Line 163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165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66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67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Line 168"/>
              <p:cNvSpPr>
                <a:spLocks noChangeAspect="1" noChangeShapeType="1"/>
              </p:cNvSpPr>
              <p:nvPr/>
            </p:nvSpPr>
            <p:spPr bwMode="auto">
              <a:xfrm>
                <a:off x="6985" y="911"/>
                <a:ext cx="0" cy="10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Oval 169"/>
              <p:cNvSpPr>
                <a:spLocks noChangeArrowheads="1"/>
              </p:cNvSpPr>
              <p:nvPr/>
            </p:nvSpPr>
            <p:spPr bwMode="auto">
              <a:xfrm>
                <a:off x="6961" y="879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170"/>
              <p:cNvSpPr>
                <a:spLocks noChangeArrowheads="1"/>
              </p:cNvSpPr>
              <p:nvPr/>
            </p:nvSpPr>
            <p:spPr bwMode="auto">
              <a:xfrm>
                <a:off x="6962" y="973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Group 34"/>
          <p:cNvGrpSpPr>
            <a:grpSpLocks/>
          </p:cNvGrpSpPr>
          <p:nvPr/>
        </p:nvGrpSpPr>
        <p:grpSpPr bwMode="auto">
          <a:xfrm>
            <a:off x="1184325" y="4592529"/>
            <a:ext cx="2224088" cy="617538"/>
            <a:chOff x="730" y="1852"/>
            <a:chExt cx="1401" cy="389"/>
          </a:xfrm>
        </p:grpSpPr>
        <p:sp>
          <p:nvSpPr>
            <p:cNvPr id="43" name="Line 35"/>
            <p:cNvSpPr>
              <a:spLocks noChangeShapeType="1"/>
            </p:cNvSpPr>
            <p:nvPr/>
          </p:nvSpPr>
          <p:spPr bwMode="auto">
            <a:xfrm flipH="1" flipV="1">
              <a:off x="730" y="1852"/>
              <a:ext cx="0" cy="3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 flipH="1" flipV="1">
              <a:off x="2026" y="1857"/>
              <a:ext cx="0" cy="3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37"/>
            <p:cNvSpPr txBox="1">
              <a:spLocks noChangeArrowheads="1"/>
            </p:cNvSpPr>
            <p:nvPr/>
          </p:nvSpPr>
          <p:spPr bwMode="auto">
            <a:xfrm>
              <a:off x="737" y="198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46" name="Text Box 38"/>
            <p:cNvSpPr txBox="1">
              <a:spLocks noChangeArrowheads="1"/>
            </p:cNvSpPr>
            <p:nvPr/>
          </p:nvSpPr>
          <p:spPr bwMode="auto">
            <a:xfrm>
              <a:off x="1747" y="1989"/>
              <a:ext cx="38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kumimoji="1"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</p:grpSp>
      <p:grpSp>
        <p:nvGrpSpPr>
          <p:cNvPr id="47" name="Group 75"/>
          <p:cNvGrpSpPr>
            <a:grpSpLocks/>
          </p:cNvGrpSpPr>
          <p:nvPr/>
        </p:nvGrpSpPr>
        <p:grpSpPr bwMode="auto">
          <a:xfrm>
            <a:off x="6900566" y="4069476"/>
            <a:ext cx="768350" cy="304800"/>
            <a:chOff x="3905" y="1534"/>
            <a:chExt cx="484" cy="192"/>
          </a:xfrm>
        </p:grpSpPr>
        <p:sp>
          <p:nvSpPr>
            <p:cNvPr id="48" name="Line 76"/>
            <p:cNvSpPr>
              <a:spLocks noChangeShapeType="1"/>
            </p:cNvSpPr>
            <p:nvPr/>
          </p:nvSpPr>
          <p:spPr bwMode="auto">
            <a:xfrm>
              <a:off x="4053" y="1563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4163" y="1568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78"/>
            <p:cNvSpPr>
              <a:spLocks noChangeShapeType="1"/>
            </p:cNvSpPr>
            <p:nvPr/>
          </p:nvSpPr>
          <p:spPr bwMode="auto">
            <a:xfrm rot="5400000">
              <a:off x="4231" y="1573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79"/>
            <p:cNvSpPr>
              <a:spLocks noChangeShapeType="1"/>
            </p:cNvSpPr>
            <p:nvPr/>
          </p:nvSpPr>
          <p:spPr bwMode="auto">
            <a:xfrm rot="16200000">
              <a:off x="3977" y="1571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Text Box 80"/>
            <p:cNvSpPr txBox="1">
              <a:spLocks noChangeArrowheads="1"/>
            </p:cNvSpPr>
            <p:nvPr/>
          </p:nvSpPr>
          <p:spPr bwMode="auto">
            <a:xfrm>
              <a:off x="4005" y="1534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l-GR" altLang="zh-CN" sz="1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</a:p>
          </p:txBody>
        </p:sp>
      </p:grpSp>
      <p:grpSp>
        <p:nvGrpSpPr>
          <p:cNvPr id="53" name="Group 81"/>
          <p:cNvGrpSpPr>
            <a:grpSpLocks/>
          </p:cNvGrpSpPr>
          <p:nvPr/>
        </p:nvGrpSpPr>
        <p:grpSpPr bwMode="auto">
          <a:xfrm>
            <a:off x="5244804" y="4693363"/>
            <a:ext cx="2057400" cy="614362"/>
            <a:chOff x="2863" y="1948"/>
            <a:chExt cx="1296" cy="387"/>
          </a:xfrm>
        </p:grpSpPr>
        <p:sp>
          <p:nvSpPr>
            <p:cNvPr id="54" name="Line 82"/>
            <p:cNvSpPr>
              <a:spLocks noChangeShapeType="1"/>
            </p:cNvSpPr>
            <p:nvPr/>
          </p:nvSpPr>
          <p:spPr bwMode="auto">
            <a:xfrm flipH="1" flipV="1">
              <a:off x="2863" y="1948"/>
              <a:ext cx="0" cy="3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83"/>
            <p:cNvSpPr>
              <a:spLocks noChangeShapeType="1"/>
            </p:cNvSpPr>
            <p:nvPr/>
          </p:nvSpPr>
          <p:spPr bwMode="auto">
            <a:xfrm flipH="1" flipV="1">
              <a:off x="4054" y="1953"/>
              <a:ext cx="0" cy="3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84"/>
            <p:cNvSpPr txBox="1">
              <a:spLocks noChangeArrowheads="1"/>
            </p:cNvSpPr>
            <p:nvPr/>
          </p:nvSpPr>
          <p:spPr bwMode="auto">
            <a:xfrm>
              <a:off x="2870" y="207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85"/>
            <p:cNvSpPr txBox="1">
              <a:spLocks noChangeArrowheads="1"/>
            </p:cNvSpPr>
            <p:nvPr/>
          </p:nvSpPr>
          <p:spPr bwMode="auto">
            <a:xfrm>
              <a:off x="3775" y="2085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</p:grpSp>
      <p:sp>
        <p:nvSpPr>
          <p:cNvPr id="58" name="Rectangle 86"/>
          <p:cNvSpPr>
            <a:spLocks noChangeArrowheads="1"/>
          </p:cNvSpPr>
          <p:nvPr/>
        </p:nvSpPr>
        <p:spPr bwMode="auto">
          <a:xfrm>
            <a:off x="1747909" y="4932696"/>
            <a:ext cx="9445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刚体</a:t>
            </a:r>
          </a:p>
        </p:txBody>
      </p:sp>
      <p:sp>
        <p:nvSpPr>
          <p:cNvPr id="59" name="Rectangle 87"/>
          <p:cNvSpPr>
            <a:spLocks noChangeArrowheads="1"/>
          </p:cNvSpPr>
          <p:nvPr/>
        </p:nvSpPr>
        <p:spPr bwMode="auto">
          <a:xfrm>
            <a:off x="5570242" y="4996575"/>
            <a:ext cx="13858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变形体</a:t>
            </a:r>
          </a:p>
        </p:txBody>
      </p:sp>
      <p:graphicFrame>
        <p:nvGraphicFramePr>
          <p:cNvPr id="60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911728"/>
              </p:ext>
            </p:extLst>
          </p:nvPr>
        </p:nvGraphicFramePr>
        <p:xfrm>
          <a:off x="1500238" y="5690086"/>
          <a:ext cx="11604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634680" imgH="228600" progId="Equation.DSMT4">
                  <p:embed/>
                </p:oleObj>
              </mc:Choice>
              <mc:Fallback>
                <p:oleObj name="Equation" r:id="rId4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238" y="5690086"/>
                        <a:ext cx="11604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836155"/>
              </p:ext>
            </p:extLst>
          </p:nvPr>
        </p:nvGraphicFramePr>
        <p:xfrm>
          <a:off x="4980770" y="5554793"/>
          <a:ext cx="16002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6" imgW="876240" imgH="419040" progId="Equation.DSMT4">
                  <p:embed/>
                </p:oleObj>
              </mc:Choice>
              <mc:Fallback>
                <p:oleObj name="Equation" r:id="rId6" imgW="87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770" y="5554793"/>
                        <a:ext cx="16002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925651"/>
              </p:ext>
            </p:extLst>
          </p:nvPr>
        </p:nvGraphicFramePr>
        <p:xfrm>
          <a:off x="6645275" y="5710238"/>
          <a:ext cx="8350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8" imgW="457200" imgH="177480" progId="Equation.DSMT4">
                  <p:embed/>
                </p:oleObj>
              </mc:Choice>
              <mc:Fallback>
                <p:oleObj name="Equation" r:id="rId8" imgW="457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75" y="5710238"/>
                        <a:ext cx="8350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Group 138"/>
          <p:cNvGrpSpPr>
            <a:grpSpLocks/>
          </p:cNvGrpSpPr>
          <p:nvPr/>
        </p:nvGrpSpPr>
        <p:grpSpPr bwMode="auto">
          <a:xfrm>
            <a:off x="971600" y="3713050"/>
            <a:ext cx="2519363" cy="1203325"/>
            <a:chOff x="5556" y="436"/>
            <a:chExt cx="1587" cy="758"/>
          </a:xfrm>
        </p:grpSpPr>
        <p:sp>
          <p:nvSpPr>
            <p:cNvPr id="64" name="Line 11"/>
            <p:cNvSpPr>
              <a:spLocks noChangeShapeType="1"/>
            </p:cNvSpPr>
            <p:nvPr/>
          </p:nvSpPr>
          <p:spPr bwMode="auto">
            <a:xfrm>
              <a:off x="5683" y="900"/>
              <a:ext cx="131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" name="Group 136"/>
            <p:cNvGrpSpPr>
              <a:grpSpLocks/>
            </p:cNvGrpSpPr>
            <p:nvPr/>
          </p:nvGrpSpPr>
          <p:grpSpPr bwMode="auto">
            <a:xfrm>
              <a:off x="5556" y="876"/>
              <a:ext cx="272" cy="178"/>
              <a:chOff x="5556" y="876"/>
              <a:chExt cx="272" cy="178"/>
            </a:xfrm>
          </p:grpSpPr>
          <p:grpSp>
            <p:nvGrpSpPr>
              <p:cNvPr id="86" name="Group 13"/>
              <p:cNvGrpSpPr>
                <a:grpSpLocks/>
              </p:cNvGrpSpPr>
              <p:nvPr/>
            </p:nvGrpSpPr>
            <p:grpSpPr bwMode="auto">
              <a:xfrm>
                <a:off x="5556" y="1006"/>
                <a:ext cx="272" cy="48"/>
                <a:chOff x="476" y="3113"/>
                <a:chExt cx="544" cy="90"/>
              </a:xfrm>
            </p:grpSpPr>
            <p:sp>
              <p:nvSpPr>
                <p:cNvPr id="89" name="Line 14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7" name="AutoShape 20"/>
              <p:cNvSpPr>
                <a:spLocks noChangeArrowheads="1"/>
              </p:cNvSpPr>
              <p:nvPr/>
            </p:nvSpPr>
            <p:spPr bwMode="auto">
              <a:xfrm>
                <a:off x="5620" y="883"/>
                <a:ext cx="145" cy="123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Oval 21"/>
              <p:cNvSpPr>
                <a:spLocks noChangeAspect="1" noChangeArrowheads="1"/>
              </p:cNvSpPr>
              <p:nvPr/>
            </p:nvSpPr>
            <p:spPr bwMode="auto">
              <a:xfrm>
                <a:off x="5670" y="876"/>
                <a:ext cx="41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6" name="Line 32"/>
            <p:cNvSpPr>
              <a:spLocks noChangeShapeType="1"/>
            </p:cNvSpPr>
            <p:nvPr/>
          </p:nvSpPr>
          <p:spPr bwMode="auto">
            <a:xfrm flipH="1">
              <a:off x="6343" y="532"/>
              <a:ext cx="9" cy="368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33"/>
            <p:cNvSpPr txBox="1">
              <a:spLocks noChangeArrowheads="1"/>
            </p:cNvSpPr>
            <p:nvPr/>
          </p:nvSpPr>
          <p:spPr bwMode="auto">
            <a:xfrm>
              <a:off x="6147" y="43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68" name="Line 90"/>
            <p:cNvSpPr>
              <a:spLocks noChangeShapeType="1"/>
            </p:cNvSpPr>
            <p:nvPr/>
          </p:nvSpPr>
          <p:spPr bwMode="auto">
            <a:xfrm>
              <a:off x="5691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91"/>
            <p:cNvSpPr>
              <a:spLocks noChangeShapeType="1"/>
            </p:cNvSpPr>
            <p:nvPr/>
          </p:nvSpPr>
          <p:spPr bwMode="auto">
            <a:xfrm>
              <a:off x="6987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92"/>
            <p:cNvSpPr>
              <a:spLocks noChangeShapeType="1"/>
            </p:cNvSpPr>
            <p:nvPr/>
          </p:nvSpPr>
          <p:spPr bwMode="auto">
            <a:xfrm rot="5400000">
              <a:off x="6011" y="811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Text Box 94"/>
            <p:cNvSpPr txBox="1">
              <a:spLocks noChangeArrowheads="1"/>
            </p:cNvSpPr>
            <p:nvPr/>
          </p:nvSpPr>
          <p:spPr bwMode="auto">
            <a:xfrm>
              <a:off x="5918" y="967"/>
              <a:ext cx="2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400" b="1" i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1400" b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/2</a:t>
              </a:r>
              <a:endParaRPr kumimoji="1" lang="el-GR" altLang="zh-CN" sz="14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95"/>
            <p:cNvSpPr>
              <a:spLocks noChangeShapeType="1"/>
            </p:cNvSpPr>
            <p:nvPr/>
          </p:nvSpPr>
          <p:spPr bwMode="auto">
            <a:xfrm>
              <a:off x="6339" y="105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96"/>
            <p:cNvSpPr>
              <a:spLocks noChangeShapeType="1"/>
            </p:cNvSpPr>
            <p:nvPr/>
          </p:nvSpPr>
          <p:spPr bwMode="auto">
            <a:xfrm rot="5400000">
              <a:off x="6662" y="811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Text Box 97"/>
            <p:cNvSpPr txBox="1">
              <a:spLocks noChangeArrowheads="1"/>
            </p:cNvSpPr>
            <p:nvPr/>
          </p:nvSpPr>
          <p:spPr bwMode="auto">
            <a:xfrm>
              <a:off x="6520" y="967"/>
              <a:ext cx="2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1400" b="1" i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1400" b="1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/2</a:t>
              </a:r>
              <a:endParaRPr kumimoji="1" lang="el-GR" altLang="zh-CN" sz="1400" b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5" name="Group 137"/>
            <p:cNvGrpSpPr>
              <a:grpSpLocks/>
            </p:cNvGrpSpPr>
            <p:nvPr/>
          </p:nvGrpSpPr>
          <p:grpSpPr bwMode="auto">
            <a:xfrm>
              <a:off x="6826" y="879"/>
              <a:ext cx="317" cy="194"/>
              <a:chOff x="6826" y="879"/>
              <a:chExt cx="317" cy="194"/>
            </a:xfrm>
          </p:grpSpPr>
          <p:grpSp>
            <p:nvGrpSpPr>
              <p:cNvPr id="76" name="Group 23"/>
              <p:cNvGrpSpPr>
                <a:grpSpLocks/>
              </p:cNvGrpSpPr>
              <p:nvPr/>
            </p:nvGrpSpPr>
            <p:grpSpPr bwMode="auto">
              <a:xfrm>
                <a:off x="6826" y="1019"/>
                <a:ext cx="317" cy="54"/>
                <a:chOff x="476" y="3113"/>
                <a:chExt cx="544" cy="90"/>
              </a:xfrm>
            </p:grpSpPr>
            <p:sp>
              <p:nvSpPr>
                <p:cNvPr id="80" name="Line 24"/>
                <p:cNvSpPr>
                  <a:spLocks noChangeShapeType="1"/>
                </p:cNvSpPr>
                <p:nvPr/>
              </p:nvSpPr>
              <p:spPr bwMode="auto">
                <a:xfrm>
                  <a:off x="476" y="3113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476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580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685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789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894" y="3113"/>
                  <a:ext cx="91" cy="9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7" name="Line 30"/>
              <p:cNvSpPr>
                <a:spLocks noChangeAspect="1" noChangeShapeType="1"/>
              </p:cNvSpPr>
              <p:nvPr/>
            </p:nvSpPr>
            <p:spPr bwMode="auto">
              <a:xfrm>
                <a:off x="6985" y="911"/>
                <a:ext cx="0" cy="10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Oval 31"/>
              <p:cNvSpPr>
                <a:spLocks noChangeArrowheads="1"/>
              </p:cNvSpPr>
              <p:nvPr/>
            </p:nvSpPr>
            <p:spPr bwMode="auto">
              <a:xfrm>
                <a:off x="6961" y="879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Oval 135"/>
              <p:cNvSpPr>
                <a:spLocks noChangeArrowheads="1"/>
              </p:cNvSpPr>
              <p:nvPr/>
            </p:nvSpPr>
            <p:spPr bwMode="auto">
              <a:xfrm>
                <a:off x="6962" y="973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5" name="组合 94"/>
          <p:cNvGrpSpPr/>
          <p:nvPr/>
        </p:nvGrpSpPr>
        <p:grpSpPr>
          <a:xfrm>
            <a:off x="5282904" y="3999423"/>
            <a:ext cx="2117725" cy="714577"/>
            <a:chOff x="5282904" y="1509056"/>
            <a:chExt cx="2117725" cy="714577"/>
          </a:xfrm>
        </p:grpSpPr>
        <p:grpSp>
          <p:nvGrpSpPr>
            <p:cNvPr id="96" name="Group 173"/>
            <p:cNvGrpSpPr>
              <a:grpSpLocks/>
            </p:cNvGrpSpPr>
            <p:nvPr/>
          </p:nvGrpSpPr>
          <p:grpSpPr bwMode="auto">
            <a:xfrm>
              <a:off x="5282904" y="1771196"/>
              <a:ext cx="2117725" cy="452437"/>
              <a:chOff x="5093" y="1434"/>
              <a:chExt cx="1334" cy="285"/>
            </a:xfrm>
          </p:grpSpPr>
          <p:sp>
            <p:nvSpPr>
              <p:cNvPr id="98" name="Arc 64"/>
              <p:cNvSpPr>
                <a:spLocks/>
              </p:cNvSpPr>
              <p:nvPr/>
            </p:nvSpPr>
            <p:spPr bwMode="auto">
              <a:xfrm flipH="1" flipV="1">
                <a:off x="5093" y="1434"/>
                <a:ext cx="1160" cy="205"/>
              </a:xfrm>
              <a:custGeom>
                <a:avLst/>
                <a:gdLst>
                  <a:gd name="G0" fmla="+- 17997 0 0"/>
                  <a:gd name="G1" fmla="+- 21600 0 0"/>
                  <a:gd name="G2" fmla="+- 21600 0 0"/>
                  <a:gd name="T0" fmla="*/ 0 w 35802"/>
                  <a:gd name="T1" fmla="*/ 9655 h 21600"/>
                  <a:gd name="T2" fmla="*/ 35802 w 35802"/>
                  <a:gd name="T3" fmla="*/ 9371 h 21600"/>
                  <a:gd name="T4" fmla="*/ 17997 w 35802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802" h="21600" fill="none" extrusionOk="0">
                    <a:moveTo>
                      <a:pt x="0" y="9655"/>
                    </a:moveTo>
                    <a:cubicBezTo>
                      <a:pt x="4002" y="3624"/>
                      <a:pt x="10759" y="-1"/>
                      <a:pt x="17997" y="0"/>
                    </a:cubicBezTo>
                    <a:cubicBezTo>
                      <a:pt x="25113" y="0"/>
                      <a:pt x="31772" y="3505"/>
                      <a:pt x="35801" y="9371"/>
                    </a:cubicBezTo>
                  </a:path>
                  <a:path w="35802" h="21600" stroke="0" extrusionOk="0">
                    <a:moveTo>
                      <a:pt x="0" y="9655"/>
                    </a:moveTo>
                    <a:cubicBezTo>
                      <a:pt x="4002" y="3624"/>
                      <a:pt x="10759" y="-1"/>
                      <a:pt x="17997" y="0"/>
                    </a:cubicBezTo>
                    <a:cubicBezTo>
                      <a:pt x="25113" y="0"/>
                      <a:pt x="31772" y="3505"/>
                      <a:pt x="35801" y="9371"/>
                    </a:cubicBezTo>
                    <a:lnTo>
                      <a:pt x="17997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008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9" name="Group 172"/>
              <p:cNvGrpSpPr>
                <a:grpSpLocks/>
              </p:cNvGrpSpPr>
              <p:nvPr/>
            </p:nvGrpSpPr>
            <p:grpSpPr bwMode="auto">
              <a:xfrm>
                <a:off x="6110" y="1519"/>
                <a:ext cx="317" cy="200"/>
                <a:chOff x="6110" y="1519"/>
                <a:chExt cx="317" cy="200"/>
              </a:xfrm>
            </p:grpSpPr>
            <p:grpSp>
              <p:nvGrpSpPr>
                <p:cNvPr id="100" name="Group 66"/>
                <p:cNvGrpSpPr>
                  <a:grpSpLocks/>
                </p:cNvGrpSpPr>
                <p:nvPr/>
              </p:nvGrpSpPr>
              <p:grpSpPr bwMode="auto">
                <a:xfrm>
                  <a:off x="6110" y="1665"/>
                  <a:ext cx="317" cy="54"/>
                  <a:chOff x="476" y="3113"/>
                  <a:chExt cx="544" cy="90"/>
                </a:xfrm>
              </p:grpSpPr>
              <p:sp>
                <p:nvSpPr>
                  <p:cNvPr id="104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476" y="3113"/>
                    <a:ext cx="544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Line 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6" y="3113"/>
                    <a:ext cx="91" cy="9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Line 6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80" y="3113"/>
                    <a:ext cx="91" cy="9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Line 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85" y="3113"/>
                    <a:ext cx="91" cy="9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Line 7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89" y="3113"/>
                    <a:ext cx="91" cy="9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7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94" y="3113"/>
                    <a:ext cx="91" cy="90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1" name="Line 73"/>
                <p:cNvSpPr>
                  <a:spLocks noChangeAspect="1" noChangeShapeType="1"/>
                </p:cNvSpPr>
                <p:nvPr/>
              </p:nvSpPr>
              <p:spPr bwMode="auto">
                <a:xfrm>
                  <a:off x="6269" y="1557"/>
                  <a:ext cx="0" cy="108"/>
                </a:xfrm>
                <a:prstGeom prst="line">
                  <a:avLst/>
                </a:prstGeom>
                <a:noFill/>
                <a:ln w="3175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6245" y="1519"/>
                  <a:ext cx="45" cy="46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Oval 171"/>
                <p:cNvSpPr>
                  <a:spLocks noChangeAspect="1" noChangeArrowheads="1"/>
                </p:cNvSpPr>
                <p:nvPr/>
              </p:nvSpPr>
              <p:spPr bwMode="auto">
                <a:xfrm>
                  <a:off x="6246" y="1613"/>
                  <a:ext cx="45" cy="46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7" name="Line 151"/>
            <p:cNvSpPr>
              <a:spLocks noChangeShapeType="1"/>
            </p:cNvSpPr>
            <p:nvPr/>
          </p:nvSpPr>
          <p:spPr bwMode="auto">
            <a:xfrm rot="21480000" flipH="1">
              <a:off x="6187159" y="1509056"/>
              <a:ext cx="14288" cy="584200"/>
            </a:xfrm>
            <a:prstGeom prst="line">
              <a:avLst/>
            </a:prstGeom>
            <a:noFill/>
            <a:ln w="44450">
              <a:solidFill>
                <a:schemeClr val="accent1">
                  <a:lumMod val="50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251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8" grpId="0" autoUpdateAnimBg="0"/>
      <p:bldP spid="148490" grpId="0"/>
      <p:bldP spid="13" grpId="0" autoUpdateAnimBg="0"/>
      <p:bldP spid="2" grpId="0"/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520070" y="4005064"/>
            <a:ext cx="873283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10000"/>
              </a:spcBef>
              <a:buClr>
                <a:srgbClr val="080808"/>
              </a:buClr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变形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Deformation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dirty="0"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：构件受力后，形状或尺寸发生的改变</a:t>
            </a:r>
          </a:p>
        </p:txBody>
      </p:sp>
      <p:sp>
        <p:nvSpPr>
          <p:cNvPr id="146520" name="Text Box 88"/>
          <p:cNvSpPr txBox="1">
            <a:spLocks noChangeArrowheads="1"/>
          </p:cNvSpPr>
          <p:nvPr/>
        </p:nvSpPr>
        <p:spPr bwMode="auto">
          <a:xfrm>
            <a:off x="341949" y="4630968"/>
            <a:ext cx="8856984" cy="116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10000"/>
              </a:spcBef>
              <a:buClr>
                <a:srgbClr val="080808"/>
              </a:buClr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弹性变形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Elastic Deformation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：卸载时能够消失或恢复的变形</a:t>
            </a:r>
          </a:p>
          <a:p>
            <a:pPr>
              <a:lnSpc>
                <a:spcPct val="140000"/>
              </a:lnSpc>
              <a:spcBef>
                <a:spcPct val="10000"/>
              </a:spcBef>
              <a:buClr>
                <a:srgbClr val="080808"/>
              </a:buClr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塑性变形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Plastic Deformation</a:t>
            </a:r>
            <a:r>
              <a:rPr kumimoji="1" lang="en-US" altLang="zh-CN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：卸载时不能消失或恢复的变形</a:t>
            </a:r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520070" y="440901"/>
            <a:ext cx="575945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5-2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变形固体的基本假设</a:t>
            </a:r>
          </a:p>
        </p:txBody>
      </p:sp>
      <p:sp>
        <p:nvSpPr>
          <p:cNvPr id="112" name="Text Box 4"/>
          <p:cNvSpPr txBox="1">
            <a:spLocks noChangeArrowheads="1"/>
          </p:cNvSpPr>
          <p:nvPr/>
        </p:nvSpPr>
        <p:spPr bwMode="auto">
          <a:xfrm>
            <a:off x="1763688" y="1479199"/>
            <a:ext cx="491251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变形固体的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基本假设</a:t>
            </a:r>
            <a:r>
              <a:rPr kumimoji="1" lang="zh-CN" altLang="en-US" sz="24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indent="0">
              <a:spcBef>
                <a:spcPts val="600"/>
              </a:spcBef>
            </a:pPr>
            <a:r>
              <a:rPr lang="zh-CN" altLang="en-US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连续假设 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Continuity</a:t>
            </a:r>
            <a:r>
              <a:rPr lang="en-US" altLang="zh-CN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)</a:t>
            </a:r>
          </a:p>
          <a:p>
            <a:pPr indent="0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均匀假设 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Uniformity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)</a:t>
            </a:r>
            <a:endParaRPr kumimoji="1" lang="zh-CN" altLang="en-US" sz="2400" b="1" dirty="0">
              <a:solidFill>
                <a:srgbClr val="0000CC"/>
              </a:solidFill>
              <a:latin typeface="+mn-lt"/>
              <a:ea typeface="楷体" panose="02010609060101010101" pitchFamily="49" charset="-122"/>
            </a:endParaRPr>
          </a:p>
          <a:p>
            <a:pPr indent="0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各向同性假设 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Isotropy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)</a:t>
            </a:r>
            <a:endParaRPr kumimoji="1" lang="zh-CN" altLang="en-US" sz="2400" b="1" dirty="0">
              <a:solidFill>
                <a:srgbClr val="0000CC"/>
              </a:solidFill>
              <a:latin typeface="+mn-lt"/>
              <a:ea typeface="楷体" panose="02010609060101010101" pitchFamily="49" charset="-122"/>
            </a:endParaRPr>
          </a:p>
          <a:p>
            <a:pPr indent="0">
              <a:spcBef>
                <a:spcPts val="600"/>
              </a:spcBef>
            </a:pPr>
            <a:r>
              <a:rPr kumimoji="1" lang="zh-CN" altLang="en-US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小变形假设 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Small Deformation</a:t>
            </a:r>
            <a:r>
              <a:rPr kumimoji="1" lang="en-US" altLang="zh-CN" sz="2400" b="1" dirty="0">
                <a:solidFill>
                  <a:srgbClr val="0000CC"/>
                </a:solidFill>
                <a:latin typeface="+mn-lt"/>
                <a:ea typeface="楷体" panose="02010609060101010101" pitchFamily="49" charset="-122"/>
              </a:rPr>
              <a:t>)</a:t>
            </a:r>
            <a:endParaRPr kumimoji="1" lang="zh-CN" altLang="en-US" sz="2400" b="1" dirty="0">
              <a:solidFill>
                <a:srgbClr val="0000CC"/>
              </a:solidFill>
              <a:latin typeface="+mn-l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3545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6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6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6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1" grpId="0" build="p" autoUpdateAnimBg="0"/>
      <p:bldP spid="146520" grpId="0" build="p" autoUpdateAnimBg="0"/>
      <p:bldP spid="1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467544" y="1004207"/>
            <a:ext cx="828015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外力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External Force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)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作用在构件上的所有载荷和支座反力。</a:t>
            </a:r>
          </a:p>
          <a:p>
            <a:pPr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外力按形式可以分为：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集中力、集中力偶、分布力和分布力偶。</a:t>
            </a:r>
          </a:p>
          <a:p>
            <a:pPr>
              <a:lnSpc>
                <a:spcPct val="13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外力按性质可以分为：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静载荷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Static Force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载荷由零缓慢增加，到达某值后保持不变；</a:t>
            </a:r>
            <a:endParaRPr kumimoji="1" lang="en-US" altLang="zh-CN" sz="2400" b="1" dirty="0">
              <a:solidFill>
                <a:srgbClr val="080808"/>
              </a:solidFill>
              <a:latin typeface="+mn-lt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动载荷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Dynamic Force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引起构件加速度的突加载荷或冲击载荷；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交变载荷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Alternating Force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随时间作周期变化的载荷。</a:t>
            </a:r>
            <a:endParaRPr kumimoji="1" lang="el-GR" altLang="zh-CN" sz="2400" b="1" dirty="0">
              <a:solidFill>
                <a:srgbClr val="080808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539552" y="395657"/>
            <a:ext cx="3311649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</p:spTree>
    <p:extLst>
      <p:ext uri="{BB962C8B-B14F-4D97-AF65-F5344CB8AC3E}">
        <p14:creationId xmlns:p14="http://schemas.microsoft.com/office/powerpoint/2010/main" val="2547203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8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8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8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8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8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8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357188" y="3929063"/>
            <a:ext cx="2133600" cy="2286000"/>
            <a:chOff x="1536" y="2496"/>
            <a:chExt cx="1344" cy="1440"/>
          </a:xfrm>
        </p:grpSpPr>
        <p:pic>
          <p:nvPicPr>
            <p:cNvPr id="70713" name="Picture 25"/>
            <p:cNvPicPr>
              <a:picLocks noChangeArrowheads="1"/>
            </p:cNvPicPr>
            <p:nvPr/>
          </p:nvPicPr>
          <p:blipFill>
            <a:blip r:embed="rId2">
              <a:lum bright="12000" contrast="6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1536" y="2496"/>
              <a:ext cx="1344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4" name="Text Box 26"/>
            <p:cNvSpPr txBox="1">
              <a:spLocks noChangeArrowheads="1"/>
            </p:cNvSpPr>
            <p:nvPr/>
          </p:nvSpPr>
          <p:spPr bwMode="auto">
            <a:xfrm>
              <a:off x="1775" y="2496"/>
              <a:ext cx="275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15" name="Text Box 27"/>
            <p:cNvSpPr txBox="1">
              <a:spLocks noChangeArrowheads="1"/>
            </p:cNvSpPr>
            <p:nvPr/>
          </p:nvSpPr>
          <p:spPr bwMode="auto">
            <a:xfrm>
              <a:off x="1632" y="3632"/>
              <a:ext cx="358" cy="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000375" y="3714750"/>
            <a:ext cx="1981200" cy="2359025"/>
            <a:chOff x="3216" y="2592"/>
            <a:chExt cx="1248" cy="1486"/>
          </a:xfrm>
        </p:grpSpPr>
        <p:pic>
          <p:nvPicPr>
            <p:cNvPr id="70709" name="Picture 29"/>
            <p:cNvPicPr>
              <a:picLocks noChangeArrowheads="1"/>
            </p:cNvPicPr>
            <p:nvPr/>
          </p:nvPicPr>
          <p:blipFill>
            <a:blip r:embed="rId2">
              <a:lum bright="12000" contrast="6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72"/>
            <a:stretch>
              <a:fillRect/>
            </a:stretch>
          </p:blipFill>
          <p:spPr bwMode="auto">
            <a:xfrm>
              <a:off x="3216" y="2592"/>
              <a:ext cx="1248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0710" name="Group 30"/>
            <p:cNvGrpSpPr>
              <a:grpSpLocks/>
            </p:cNvGrpSpPr>
            <p:nvPr/>
          </p:nvGrpSpPr>
          <p:grpSpPr bwMode="auto">
            <a:xfrm>
              <a:off x="3868" y="2788"/>
              <a:ext cx="478" cy="1290"/>
              <a:chOff x="3868" y="2788"/>
              <a:chExt cx="478" cy="1290"/>
            </a:xfrm>
          </p:grpSpPr>
          <p:sp>
            <p:nvSpPr>
              <p:cNvPr id="70711" name="Text Box 31"/>
              <p:cNvSpPr txBox="1">
                <a:spLocks noChangeArrowheads="1"/>
              </p:cNvSpPr>
              <p:nvPr/>
            </p:nvSpPr>
            <p:spPr bwMode="auto">
              <a:xfrm>
                <a:off x="4071" y="3828"/>
                <a:ext cx="275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i="1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12" name="Text Box 32"/>
              <p:cNvSpPr txBox="1">
                <a:spLocks noChangeArrowheads="1"/>
              </p:cNvSpPr>
              <p:nvPr/>
            </p:nvSpPr>
            <p:spPr bwMode="auto">
              <a:xfrm>
                <a:off x="3868" y="2788"/>
                <a:ext cx="293" cy="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4857750" y="1143000"/>
            <a:ext cx="3763963" cy="1905000"/>
            <a:chOff x="1488" y="2160"/>
            <a:chExt cx="3097" cy="1632"/>
          </a:xfrm>
        </p:grpSpPr>
        <p:pic>
          <p:nvPicPr>
            <p:cNvPr id="70704" name="Picture 35" descr="nl0"/>
            <p:cNvPicPr>
              <a:picLocks noChangeAspect="1" noChangeArrowheads="1"/>
            </p:cNvPicPr>
            <p:nvPr/>
          </p:nvPicPr>
          <p:blipFill>
            <a:blip r:embed="rId3">
              <a:lum bright="24000" contrast="5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1" t="6604" r="7431" b="8490"/>
            <a:stretch>
              <a:fillRect/>
            </a:stretch>
          </p:blipFill>
          <p:spPr bwMode="auto">
            <a:xfrm>
              <a:off x="1488" y="2160"/>
              <a:ext cx="3072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05" name="Text Box 36"/>
            <p:cNvSpPr txBox="1">
              <a:spLocks noChangeArrowheads="1"/>
            </p:cNvSpPr>
            <p:nvPr/>
          </p:nvSpPr>
          <p:spPr bwMode="auto">
            <a:xfrm>
              <a:off x="1538" y="2160"/>
              <a:ext cx="35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6" name="Text Box 37"/>
            <p:cNvSpPr txBox="1">
              <a:spLocks noChangeArrowheads="1"/>
            </p:cNvSpPr>
            <p:nvPr/>
          </p:nvSpPr>
          <p:spPr bwMode="auto">
            <a:xfrm>
              <a:off x="1654" y="3417"/>
              <a:ext cx="35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7" name="Text Box 38"/>
            <p:cNvSpPr txBox="1">
              <a:spLocks noChangeArrowheads="1"/>
            </p:cNvSpPr>
            <p:nvPr/>
          </p:nvSpPr>
          <p:spPr bwMode="auto">
            <a:xfrm>
              <a:off x="4176" y="2209"/>
              <a:ext cx="35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708" name="Text Box 39"/>
            <p:cNvSpPr txBox="1">
              <a:spLocks noChangeArrowheads="1"/>
            </p:cNvSpPr>
            <p:nvPr/>
          </p:nvSpPr>
          <p:spPr bwMode="auto">
            <a:xfrm>
              <a:off x="4226" y="3408"/>
              <a:ext cx="35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6359526" y="2357444"/>
            <a:ext cx="1422400" cy="977901"/>
            <a:chOff x="2929" y="3456"/>
            <a:chExt cx="896" cy="616"/>
          </a:xfrm>
        </p:grpSpPr>
        <p:sp>
          <p:nvSpPr>
            <p:cNvPr id="70702" name="Text Box 41"/>
            <p:cNvSpPr txBox="1">
              <a:spLocks noChangeArrowheads="1"/>
            </p:cNvSpPr>
            <p:nvPr/>
          </p:nvSpPr>
          <p:spPr bwMode="auto">
            <a:xfrm>
              <a:off x="2929" y="3781"/>
              <a:ext cx="8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dirty="0">
                  <a:latin typeface="楷体" panose="02010609060101010101" pitchFamily="49" charset="-122"/>
                  <a:ea typeface="楷体" panose="02010609060101010101" pitchFamily="49" charset="-122"/>
                </a:rPr>
                <a:t>假想截面</a:t>
              </a:r>
            </a:p>
          </p:txBody>
        </p:sp>
        <p:sp>
          <p:nvSpPr>
            <p:cNvPr id="70703" name="Line 42"/>
            <p:cNvSpPr>
              <a:spLocks noChangeShapeType="1"/>
            </p:cNvSpPr>
            <p:nvPr/>
          </p:nvSpPr>
          <p:spPr bwMode="auto">
            <a:xfrm>
              <a:off x="3072" y="3456"/>
              <a:ext cx="192" cy="336"/>
            </a:xfrm>
            <a:prstGeom prst="line">
              <a:avLst/>
            </a:prstGeom>
            <a:noFill/>
            <a:ln w="12700" cap="sq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79" name="Rectangle 43"/>
          <p:cNvSpPr>
            <a:spLocks noChangeArrowheads="1"/>
          </p:cNvSpPr>
          <p:nvPr/>
        </p:nvSpPr>
        <p:spPr bwMode="auto">
          <a:xfrm>
            <a:off x="509588" y="3089107"/>
            <a:ext cx="2879725" cy="477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FFFF00"/>
              </a:buClr>
              <a:buFont typeface="Monotype Sort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连续分布力系</a:t>
            </a:r>
          </a:p>
        </p:txBody>
      </p:sp>
      <p:sp>
        <p:nvSpPr>
          <p:cNvPr id="39980" name="Rectangle 44"/>
          <p:cNvSpPr>
            <a:spLocks noChangeArrowheads="1"/>
          </p:cNvSpPr>
          <p:nvPr/>
        </p:nvSpPr>
        <p:spPr bwMode="auto">
          <a:xfrm>
            <a:off x="653428" y="3548063"/>
            <a:ext cx="5929312" cy="47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Clr>
                <a:srgbClr val="FFFF00"/>
              </a:buClr>
              <a:buFont typeface="Monotype Sorts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弹性体各部分受内力与外力作用而平衡</a:t>
            </a:r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2602519" y="4133850"/>
            <a:ext cx="2786063" cy="2081213"/>
            <a:chOff x="3978" y="2382"/>
            <a:chExt cx="1755" cy="1311"/>
          </a:xfrm>
        </p:grpSpPr>
        <p:grpSp>
          <p:nvGrpSpPr>
            <p:cNvPr id="70695" name="Group 50"/>
            <p:cNvGrpSpPr>
              <a:grpSpLocks/>
            </p:cNvGrpSpPr>
            <p:nvPr/>
          </p:nvGrpSpPr>
          <p:grpSpPr bwMode="auto">
            <a:xfrm>
              <a:off x="3978" y="2382"/>
              <a:ext cx="1755" cy="1311"/>
              <a:chOff x="3228" y="2544"/>
              <a:chExt cx="1755" cy="1311"/>
            </a:xfrm>
          </p:grpSpPr>
          <p:pic>
            <p:nvPicPr>
              <p:cNvPr id="70697" name="Picture 51"/>
              <p:cNvPicPr>
                <a:picLocks noChangeArrowheads="1"/>
              </p:cNvPicPr>
              <p:nvPr/>
            </p:nvPicPr>
            <p:blipFill>
              <a:blip r:embed="rId4">
                <a:lum bright="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55" y="2544"/>
                <a:ext cx="1728" cy="1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98" name="Text Box 52"/>
              <p:cNvSpPr txBox="1">
                <a:spLocks noChangeArrowheads="1"/>
              </p:cNvSpPr>
              <p:nvPr/>
            </p:nvSpPr>
            <p:spPr bwMode="auto">
              <a:xfrm>
                <a:off x="3228" y="2579"/>
                <a:ext cx="275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99" name="Text Box 53"/>
              <p:cNvSpPr txBox="1">
                <a:spLocks noChangeArrowheads="1"/>
              </p:cNvSpPr>
              <p:nvPr/>
            </p:nvSpPr>
            <p:spPr bwMode="auto">
              <a:xfrm>
                <a:off x="4608" y="2774"/>
                <a:ext cx="337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R</a:t>
                </a:r>
                <a:endParaRPr lang="en-US" altLang="zh-CN" sz="2000" b="0" i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00" name="Text Box 54"/>
              <p:cNvSpPr txBox="1">
                <a:spLocks noChangeArrowheads="1"/>
              </p:cNvSpPr>
              <p:nvPr/>
            </p:nvSpPr>
            <p:spPr bwMode="auto">
              <a:xfrm>
                <a:off x="3254" y="3605"/>
                <a:ext cx="313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01" name="Text Box 55"/>
              <p:cNvSpPr txBox="1">
                <a:spLocks noChangeArrowheads="1"/>
              </p:cNvSpPr>
              <p:nvPr/>
            </p:nvSpPr>
            <p:spPr bwMode="auto">
              <a:xfrm>
                <a:off x="4640" y="3526"/>
                <a:ext cx="258" cy="2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70696" name="Text Box 56"/>
            <p:cNvSpPr txBox="1">
              <a:spLocks noChangeArrowheads="1"/>
            </p:cNvSpPr>
            <p:nvPr/>
          </p:nvSpPr>
          <p:spPr bwMode="auto">
            <a:xfrm>
              <a:off x="4800" y="3072"/>
              <a:ext cx="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1600" b="0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5489326" y="3943762"/>
            <a:ext cx="3217862" cy="2978150"/>
            <a:chOff x="792" y="2326"/>
            <a:chExt cx="1728" cy="1622"/>
          </a:xfrm>
        </p:grpSpPr>
        <p:grpSp>
          <p:nvGrpSpPr>
            <p:cNvPr id="70669" name="Group 85"/>
            <p:cNvGrpSpPr>
              <a:grpSpLocks/>
            </p:cNvGrpSpPr>
            <p:nvPr/>
          </p:nvGrpSpPr>
          <p:grpSpPr bwMode="auto">
            <a:xfrm>
              <a:off x="792" y="2418"/>
              <a:ext cx="1728" cy="1291"/>
              <a:chOff x="792" y="2418"/>
              <a:chExt cx="1728" cy="1291"/>
            </a:xfrm>
          </p:grpSpPr>
          <p:pic>
            <p:nvPicPr>
              <p:cNvPr id="70692" name="Picture 79"/>
              <p:cNvPicPr>
                <a:picLocks noChangeArrowheads="1"/>
              </p:cNvPicPr>
              <p:nvPr/>
            </p:nvPicPr>
            <p:blipFill>
              <a:blip r:embed="rId4">
                <a:lum bright="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2" y="2418"/>
                <a:ext cx="1728" cy="1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93" name="Text Box 80"/>
              <p:cNvSpPr txBox="1">
                <a:spLocks noChangeArrowheads="1"/>
              </p:cNvSpPr>
              <p:nvPr/>
            </p:nvSpPr>
            <p:spPr bwMode="auto">
              <a:xfrm>
                <a:off x="832" y="2444"/>
                <a:ext cx="234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94" name="Text Box 82"/>
              <p:cNvSpPr txBox="1">
                <a:spLocks noChangeArrowheads="1"/>
              </p:cNvSpPr>
              <p:nvPr/>
            </p:nvSpPr>
            <p:spPr bwMode="auto">
              <a:xfrm>
                <a:off x="830" y="3493"/>
                <a:ext cx="313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0670" name="Freeform 86"/>
            <p:cNvSpPr>
              <a:spLocks/>
            </p:cNvSpPr>
            <p:nvPr/>
          </p:nvSpPr>
          <p:spPr bwMode="auto">
            <a:xfrm>
              <a:off x="1717" y="2715"/>
              <a:ext cx="648" cy="1233"/>
            </a:xfrm>
            <a:custGeom>
              <a:avLst/>
              <a:gdLst>
                <a:gd name="T0" fmla="*/ 546 w 648"/>
                <a:gd name="T1" fmla="*/ 0 h 1233"/>
                <a:gd name="T2" fmla="*/ 0 w 648"/>
                <a:gd name="T3" fmla="*/ 396 h 1233"/>
                <a:gd name="T4" fmla="*/ 351 w 648"/>
                <a:gd name="T5" fmla="*/ 1062 h 1233"/>
                <a:gd name="T6" fmla="*/ 432 w 648"/>
                <a:gd name="T7" fmla="*/ 1233 h 1233"/>
                <a:gd name="T8" fmla="*/ 504 w 648"/>
                <a:gd name="T9" fmla="*/ 1179 h 1233"/>
                <a:gd name="T10" fmla="*/ 648 w 648"/>
                <a:gd name="T11" fmla="*/ 1179 h 1233"/>
                <a:gd name="T12" fmla="*/ 546 w 648"/>
                <a:gd name="T13" fmla="*/ 0 h 1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8"/>
                <a:gd name="T22" fmla="*/ 0 h 1233"/>
                <a:gd name="T23" fmla="*/ 648 w 648"/>
                <a:gd name="T24" fmla="*/ 1233 h 1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8" h="1233">
                  <a:moveTo>
                    <a:pt x="546" y="0"/>
                  </a:moveTo>
                  <a:lnTo>
                    <a:pt x="0" y="396"/>
                  </a:lnTo>
                  <a:cubicBezTo>
                    <a:pt x="117" y="618"/>
                    <a:pt x="235" y="839"/>
                    <a:pt x="351" y="1062"/>
                  </a:cubicBezTo>
                  <a:cubicBezTo>
                    <a:pt x="379" y="1116"/>
                    <a:pt x="382" y="1199"/>
                    <a:pt x="432" y="1233"/>
                  </a:cubicBezTo>
                  <a:cubicBezTo>
                    <a:pt x="497" y="1217"/>
                    <a:pt x="451" y="1214"/>
                    <a:pt x="504" y="1179"/>
                  </a:cubicBezTo>
                  <a:cubicBezTo>
                    <a:pt x="544" y="1185"/>
                    <a:pt x="614" y="1213"/>
                    <a:pt x="648" y="1179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1" name="Freeform 91"/>
            <p:cNvSpPr>
              <a:spLocks/>
            </p:cNvSpPr>
            <p:nvPr/>
          </p:nvSpPr>
          <p:spPr bwMode="auto">
            <a:xfrm>
              <a:off x="1668" y="2973"/>
              <a:ext cx="191" cy="414"/>
            </a:xfrm>
            <a:custGeom>
              <a:avLst/>
              <a:gdLst>
                <a:gd name="T0" fmla="*/ 20 w 191"/>
                <a:gd name="T1" fmla="*/ 60 h 414"/>
                <a:gd name="T2" fmla="*/ 164 w 191"/>
                <a:gd name="T3" fmla="*/ 12 h 414"/>
                <a:gd name="T4" fmla="*/ 185 w 191"/>
                <a:gd name="T5" fmla="*/ 132 h 414"/>
                <a:gd name="T6" fmla="*/ 185 w 191"/>
                <a:gd name="T7" fmla="*/ 195 h 414"/>
                <a:gd name="T8" fmla="*/ 176 w 191"/>
                <a:gd name="T9" fmla="*/ 258 h 414"/>
                <a:gd name="T10" fmla="*/ 149 w 191"/>
                <a:gd name="T11" fmla="*/ 321 h 414"/>
                <a:gd name="T12" fmla="*/ 104 w 191"/>
                <a:gd name="T13" fmla="*/ 357 h 414"/>
                <a:gd name="T14" fmla="*/ 41 w 191"/>
                <a:gd name="T15" fmla="*/ 366 h 414"/>
                <a:gd name="T16" fmla="*/ 20 w 191"/>
                <a:gd name="T17" fmla="*/ 60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1"/>
                <a:gd name="T28" fmla="*/ 0 h 414"/>
                <a:gd name="T29" fmla="*/ 191 w 191"/>
                <a:gd name="T30" fmla="*/ 414 h 4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1" h="414">
                  <a:moveTo>
                    <a:pt x="20" y="60"/>
                  </a:moveTo>
                  <a:cubicBezTo>
                    <a:pt x="40" y="1"/>
                    <a:pt x="137" y="0"/>
                    <a:pt x="164" y="12"/>
                  </a:cubicBezTo>
                  <a:cubicBezTo>
                    <a:pt x="191" y="24"/>
                    <a:pt x="182" y="102"/>
                    <a:pt x="185" y="132"/>
                  </a:cubicBezTo>
                  <a:cubicBezTo>
                    <a:pt x="188" y="162"/>
                    <a:pt x="186" y="174"/>
                    <a:pt x="185" y="195"/>
                  </a:cubicBezTo>
                  <a:cubicBezTo>
                    <a:pt x="184" y="216"/>
                    <a:pt x="182" y="237"/>
                    <a:pt x="176" y="258"/>
                  </a:cubicBezTo>
                  <a:cubicBezTo>
                    <a:pt x="170" y="279"/>
                    <a:pt x="161" y="304"/>
                    <a:pt x="149" y="321"/>
                  </a:cubicBezTo>
                  <a:cubicBezTo>
                    <a:pt x="137" y="338"/>
                    <a:pt x="122" y="350"/>
                    <a:pt x="104" y="357"/>
                  </a:cubicBezTo>
                  <a:cubicBezTo>
                    <a:pt x="86" y="364"/>
                    <a:pt x="56" y="414"/>
                    <a:pt x="41" y="366"/>
                  </a:cubicBezTo>
                  <a:cubicBezTo>
                    <a:pt x="26" y="318"/>
                    <a:pt x="0" y="119"/>
                    <a:pt x="20" y="60"/>
                  </a:cubicBez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2" name="Text Box 84"/>
            <p:cNvSpPr txBox="1">
              <a:spLocks noChangeArrowheads="1"/>
            </p:cNvSpPr>
            <p:nvPr/>
          </p:nvSpPr>
          <p:spPr bwMode="auto">
            <a:xfrm>
              <a:off x="1608" y="3032"/>
              <a:ext cx="89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1800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0673" name="Freeform 87"/>
            <p:cNvSpPr>
              <a:spLocks/>
            </p:cNvSpPr>
            <p:nvPr/>
          </p:nvSpPr>
          <p:spPr bwMode="auto">
            <a:xfrm>
              <a:off x="1728" y="2400"/>
              <a:ext cx="720" cy="732"/>
            </a:xfrm>
            <a:custGeom>
              <a:avLst/>
              <a:gdLst>
                <a:gd name="T0" fmla="*/ 0 w 1008"/>
                <a:gd name="T1" fmla="*/ 0 h 1056"/>
                <a:gd name="T2" fmla="*/ 0 w 1008"/>
                <a:gd name="T3" fmla="*/ 1 h 1056"/>
                <a:gd name="T4" fmla="*/ 1 w 1008"/>
                <a:gd name="T5" fmla="*/ 1 h 1056"/>
                <a:gd name="T6" fmla="*/ 0 60000 65536"/>
                <a:gd name="T7" fmla="*/ 0 60000 65536"/>
                <a:gd name="T8" fmla="*/ 0 60000 65536"/>
                <a:gd name="T9" fmla="*/ 0 w 1008"/>
                <a:gd name="T10" fmla="*/ 0 h 1056"/>
                <a:gd name="T11" fmla="*/ 1008 w 1008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056">
                  <a:moveTo>
                    <a:pt x="0" y="0"/>
                  </a:moveTo>
                  <a:lnTo>
                    <a:pt x="0" y="1056"/>
                  </a:lnTo>
                  <a:lnTo>
                    <a:pt x="1008" y="1056"/>
                  </a:lnTo>
                </a:path>
              </a:pathLst>
            </a:custGeom>
            <a:noFill/>
            <a:ln w="3175">
              <a:solidFill>
                <a:schemeClr val="tx1"/>
              </a:solidFill>
              <a:miter lim="800000"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4" name="Oval 92"/>
            <p:cNvSpPr>
              <a:spLocks noChangeArrowheads="1"/>
            </p:cNvSpPr>
            <p:nvPr/>
          </p:nvSpPr>
          <p:spPr bwMode="auto">
            <a:xfrm>
              <a:off x="1707" y="3126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5" name="Freeform 93"/>
            <p:cNvSpPr>
              <a:spLocks/>
            </p:cNvSpPr>
            <p:nvPr/>
          </p:nvSpPr>
          <p:spPr bwMode="auto">
            <a:xfrm>
              <a:off x="1728" y="2976"/>
              <a:ext cx="131" cy="399"/>
            </a:xfrm>
            <a:custGeom>
              <a:avLst/>
              <a:gdLst>
                <a:gd name="T0" fmla="*/ 96 w 131"/>
                <a:gd name="T1" fmla="*/ 0 h 399"/>
                <a:gd name="T2" fmla="*/ 126 w 131"/>
                <a:gd name="T3" fmla="*/ 120 h 399"/>
                <a:gd name="T4" fmla="*/ 126 w 131"/>
                <a:gd name="T5" fmla="*/ 210 h 399"/>
                <a:gd name="T6" fmla="*/ 108 w 131"/>
                <a:gd name="T7" fmla="*/ 282 h 399"/>
                <a:gd name="T8" fmla="*/ 63 w 131"/>
                <a:gd name="T9" fmla="*/ 363 h 399"/>
                <a:gd name="T10" fmla="*/ 0 w 131"/>
                <a:gd name="T11" fmla="*/ 399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1"/>
                <a:gd name="T19" fmla="*/ 0 h 399"/>
                <a:gd name="T20" fmla="*/ 131 w 13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1" h="399">
                  <a:moveTo>
                    <a:pt x="96" y="0"/>
                  </a:moveTo>
                  <a:cubicBezTo>
                    <a:pt x="108" y="42"/>
                    <a:pt x="121" y="85"/>
                    <a:pt x="126" y="120"/>
                  </a:cubicBezTo>
                  <a:cubicBezTo>
                    <a:pt x="131" y="155"/>
                    <a:pt x="129" y="183"/>
                    <a:pt x="126" y="210"/>
                  </a:cubicBezTo>
                  <a:cubicBezTo>
                    <a:pt x="123" y="237"/>
                    <a:pt x="118" y="257"/>
                    <a:pt x="108" y="282"/>
                  </a:cubicBezTo>
                  <a:cubicBezTo>
                    <a:pt x="98" y="307"/>
                    <a:pt x="81" y="344"/>
                    <a:pt x="63" y="363"/>
                  </a:cubicBezTo>
                  <a:cubicBezTo>
                    <a:pt x="45" y="382"/>
                    <a:pt x="13" y="395"/>
                    <a:pt x="0" y="3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6" name="Line 94"/>
            <p:cNvSpPr>
              <a:spLocks noChangeShapeType="1"/>
            </p:cNvSpPr>
            <p:nvPr/>
          </p:nvSpPr>
          <p:spPr bwMode="auto">
            <a:xfrm flipH="1">
              <a:off x="1188" y="3141"/>
              <a:ext cx="54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677" name="AutoShape 95"/>
            <p:cNvSpPr>
              <a:spLocks noChangeArrowheads="1"/>
            </p:cNvSpPr>
            <p:nvPr/>
          </p:nvSpPr>
          <p:spPr bwMode="auto">
            <a:xfrm>
              <a:off x="1710" y="2853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8" name="AutoShape 96"/>
            <p:cNvSpPr>
              <a:spLocks noChangeArrowheads="1"/>
            </p:cNvSpPr>
            <p:nvPr/>
          </p:nvSpPr>
          <p:spPr bwMode="auto">
            <a:xfrm rot="5400000">
              <a:off x="1843" y="300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79" name="AutoShape 97"/>
            <p:cNvSpPr>
              <a:spLocks noChangeArrowheads="1"/>
            </p:cNvSpPr>
            <p:nvPr/>
          </p:nvSpPr>
          <p:spPr bwMode="auto">
            <a:xfrm rot="-8100000">
              <a:off x="1599" y="3115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80" name="Text Box 81"/>
            <p:cNvSpPr txBox="1">
              <a:spLocks noChangeArrowheads="1"/>
            </p:cNvSpPr>
            <p:nvPr/>
          </p:nvSpPr>
          <p:spPr bwMode="auto">
            <a:xfrm>
              <a:off x="1894" y="3148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0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1" name="Text Box 98"/>
            <p:cNvSpPr txBox="1">
              <a:spLocks noChangeArrowheads="1"/>
            </p:cNvSpPr>
            <p:nvPr/>
          </p:nvSpPr>
          <p:spPr bwMode="auto">
            <a:xfrm>
              <a:off x="1789" y="2871"/>
              <a:ext cx="29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sy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2" name="Text Box 99"/>
            <p:cNvSpPr txBox="1">
              <a:spLocks noChangeArrowheads="1"/>
            </p:cNvSpPr>
            <p:nvPr/>
          </p:nvSpPr>
          <p:spPr bwMode="auto">
            <a:xfrm>
              <a:off x="1367" y="3026"/>
              <a:ext cx="24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sz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3" name="AutoShape 100"/>
            <p:cNvSpPr>
              <a:spLocks noChangeArrowheads="1"/>
            </p:cNvSpPr>
            <p:nvPr/>
          </p:nvSpPr>
          <p:spPr bwMode="auto">
            <a:xfrm>
              <a:off x="1707" y="258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84" name="Text Box 83"/>
            <p:cNvSpPr txBox="1">
              <a:spLocks noChangeArrowheads="1"/>
            </p:cNvSpPr>
            <p:nvPr/>
          </p:nvSpPr>
          <p:spPr bwMode="auto">
            <a:xfrm>
              <a:off x="2112" y="3146"/>
              <a:ext cx="9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0685" name="AutoShape 101"/>
            <p:cNvSpPr>
              <a:spLocks noChangeArrowheads="1"/>
            </p:cNvSpPr>
            <p:nvPr/>
          </p:nvSpPr>
          <p:spPr bwMode="auto">
            <a:xfrm rot="5400000">
              <a:off x="2110" y="2997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86" name="AutoShape 102"/>
            <p:cNvSpPr>
              <a:spLocks noChangeArrowheads="1"/>
            </p:cNvSpPr>
            <p:nvPr/>
          </p:nvSpPr>
          <p:spPr bwMode="auto">
            <a:xfrm rot="-8100000">
              <a:off x="1407" y="3301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0687" name="Text Box 103"/>
            <p:cNvSpPr txBox="1">
              <a:spLocks noChangeArrowheads="1"/>
            </p:cNvSpPr>
            <p:nvPr/>
          </p:nvSpPr>
          <p:spPr bwMode="auto">
            <a:xfrm>
              <a:off x="1764" y="2640"/>
              <a:ext cx="25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8" name="Text Box 104"/>
            <p:cNvSpPr txBox="1">
              <a:spLocks noChangeArrowheads="1"/>
            </p:cNvSpPr>
            <p:nvPr/>
          </p:nvSpPr>
          <p:spPr bwMode="auto">
            <a:xfrm>
              <a:off x="1437" y="3411"/>
              <a:ext cx="25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689" name="Text Box 105"/>
            <p:cNvSpPr txBox="1">
              <a:spLocks noChangeArrowheads="1"/>
            </p:cNvSpPr>
            <p:nvPr/>
          </p:nvSpPr>
          <p:spPr bwMode="auto">
            <a:xfrm>
              <a:off x="2361" y="2955"/>
              <a:ext cx="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0690" name="Text Box 106"/>
            <p:cNvSpPr txBox="1">
              <a:spLocks noChangeArrowheads="1"/>
            </p:cNvSpPr>
            <p:nvPr/>
          </p:nvSpPr>
          <p:spPr bwMode="auto">
            <a:xfrm>
              <a:off x="1776" y="2326"/>
              <a:ext cx="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0691" name="Text Box 107"/>
            <p:cNvSpPr txBox="1">
              <a:spLocks noChangeArrowheads="1"/>
            </p:cNvSpPr>
            <p:nvPr/>
          </p:nvSpPr>
          <p:spPr bwMode="auto">
            <a:xfrm>
              <a:off x="1248" y="3622"/>
              <a:ext cx="5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z</a:t>
              </a:r>
            </a:p>
          </p:txBody>
        </p:sp>
      </p:grpSp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375728" y="1031955"/>
            <a:ext cx="459730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5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内力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Internal Force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sz="2400" b="1" dirty="0"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在外力作用下，构件内各质点的相应位置发生了变化，从而引起的各质点间相互作用力的改变量，又称“附加内力”。</a:t>
            </a:r>
          </a:p>
        </p:txBody>
      </p:sp>
      <p:sp>
        <p:nvSpPr>
          <p:cNvPr id="61" name="Rectangle 25"/>
          <p:cNvSpPr>
            <a:spLocks noChangeArrowheads="1"/>
          </p:cNvSpPr>
          <p:nvPr/>
        </p:nvSpPr>
        <p:spPr bwMode="auto">
          <a:xfrm>
            <a:off x="357188" y="407909"/>
            <a:ext cx="3148013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  <p:sp>
        <p:nvSpPr>
          <p:cNvPr id="59" name="Text Box 41">
            <a:extLst>
              <a:ext uri="{FF2B5EF4-FFF2-40B4-BE49-F238E27FC236}">
                <a16:creationId xmlns:a16="http://schemas.microsoft.com/office/drawing/2014/main" xmlns="" id="{95AE440B-4B71-C445-1E2C-94B3AEA1F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571" y="5908030"/>
            <a:ext cx="1731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空间固定端</a:t>
            </a:r>
          </a:p>
        </p:txBody>
      </p:sp>
    </p:spTree>
    <p:extLst>
      <p:ext uri="{BB962C8B-B14F-4D97-AF65-F5344CB8AC3E}">
        <p14:creationId xmlns:p14="http://schemas.microsoft.com/office/powerpoint/2010/main" val="33465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9" grpId="0" autoUpdateAnimBg="0"/>
      <p:bldP spid="39980" grpId="0" autoUpdateAnimBg="0"/>
      <p:bldP spid="60" grpId="0" build="p" autoUpdateAnimBg="0"/>
      <p:bldP spid="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67" name="Rectangle 35"/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745106" y="1628637"/>
            <a:ext cx="4300538" cy="238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：产生轴向的伸长</a:t>
            </a:r>
          </a:p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或缩短变形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en-US" altLang="zh-CN" sz="2400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sy</a:t>
            </a:r>
            <a:r>
              <a:rPr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 </a:t>
            </a:r>
            <a:r>
              <a:rPr lang="en-US" altLang="zh-CN" sz="2400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sz</a:t>
            </a:r>
            <a:r>
              <a:rPr lang="en-US" altLang="zh-CN" sz="2400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剪力或切力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产生剪切变形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扭矩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：产生扭转变形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M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弯矩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产生弯曲变形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graphicFrame>
        <p:nvGraphicFramePr>
          <p:cNvPr id="44158" name="Object 12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6690242"/>
              </p:ext>
            </p:extLst>
          </p:nvPr>
        </p:nvGraphicFramePr>
        <p:xfrm>
          <a:off x="2321751" y="4153075"/>
          <a:ext cx="4770438" cy="21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133360" imgH="965160" progId="Equation.DSMT4">
                  <p:embed/>
                </p:oleObj>
              </mc:Choice>
              <mc:Fallback>
                <p:oleObj name="Equation" r:id="rId3" imgW="2133360" imgH="96516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51" y="4153075"/>
                        <a:ext cx="4770438" cy="21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0" name="Group 99"/>
          <p:cNvGrpSpPr>
            <a:grpSpLocks/>
          </p:cNvGrpSpPr>
          <p:nvPr/>
        </p:nvGrpSpPr>
        <p:grpSpPr bwMode="auto">
          <a:xfrm>
            <a:off x="5148064" y="1261146"/>
            <a:ext cx="3217863" cy="3000375"/>
            <a:chOff x="792" y="2326"/>
            <a:chExt cx="1728" cy="1634"/>
          </a:xfrm>
        </p:grpSpPr>
        <p:grpSp>
          <p:nvGrpSpPr>
            <p:cNvPr id="1031" name="Group 100"/>
            <p:cNvGrpSpPr>
              <a:grpSpLocks/>
            </p:cNvGrpSpPr>
            <p:nvPr/>
          </p:nvGrpSpPr>
          <p:grpSpPr bwMode="auto">
            <a:xfrm>
              <a:off x="792" y="2418"/>
              <a:ext cx="1728" cy="1286"/>
              <a:chOff x="792" y="2418"/>
              <a:chExt cx="1728" cy="1286"/>
            </a:xfrm>
          </p:grpSpPr>
          <p:pic>
            <p:nvPicPr>
              <p:cNvPr id="1054" name="Picture 101"/>
              <p:cNvPicPr>
                <a:picLocks noChangeArrowheads="1"/>
              </p:cNvPicPr>
              <p:nvPr/>
            </p:nvPicPr>
            <p:blipFill>
              <a:blip r:embed="rId5">
                <a:lum bright="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2" y="2418"/>
                <a:ext cx="1728" cy="1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5" name="Text Box 102"/>
              <p:cNvSpPr txBox="1">
                <a:spLocks noChangeArrowheads="1"/>
              </p:cNvSpPr>
              <p:nvPr/>
            </p:nvSpPr>
            <p:spPr bwMode="auto">
              <a:xfrm>
                <a:off x="811" y="2472"/>
                <a:ext cx="234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6" name="Text Box 103"/>
              <p:cNvSpPr txBox="1">
                <a:spLocks noChangeArrowheads="1"/>
              </p:cNvSpPr>
              <p:nvPr/>
            </p:nvSpPr>
            <p:spPr bwMode="auto">
              <a:xfrm>
                <a:off x="792" y="3488"/>
                <a:ext cx="313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32" name="Freeform 104"/>
            <p:cNvSpPr>
              <a:spLocks/>
            </p:cNvSpPr>
            <p:nvPr/>
          </p:nvSpPr>
          <p:spPr bwMode="auto">
            <a:xfrm>
              <a:off x="1700" y="2727"/>
              <a:ext cx="648" cy="1233"/>
            </a:xfrm>
            <a:custGeom>
              <a:avLst/>
              <a:gdLst>
                <a:gd name="T0" fmla="*/ 546 w 648"/>
                <a:gd name="T1" fmla="*/ 0 h 1233"/>
                <a:gd name="T2" fmla="*/ 0 w 648"/>
                <a:gd name="T3" fmla="*/ 396 h 1233"/>
                <a:gd name="T4" fmla="*/ 351 w 648"/>
                <a:gd name="T5" fmla="*/ 1062 h 1233"/>
                <a:gd name="T6" fmla="*/ 432 w 648"/>
                <a:gd name="T7" fmla="*/ 1233 h 1233"/>
                <a:gd name="T8" fmla="*/ 504 w 648"/>
                <a:gd name="T9" fmla="*/ 1179 h 1233"/>
                <a:gd name="T10" fmla="*/ 648 w 648"/>
                <a:gd name="T11" fmla="*/ 1179 h 1233"/>
                <a:gd name="T12" fmla="*/ 546 w 648"/>
                <a:gd name="T13" fmla="*/ 0 h 1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8"/>
                <a:gd name="T22" fmla="*/ 0 h 1233"/>
                <a:gd name="T23" fmla="*/ 648 w 648"/>
                <a:gd name="T24" fmla="*/ 1233 h 1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8" h="1233">
                  <a:moveTo>
                    <a:pt x="546" y="0"/>
                  </a:moveTo>
                  <a:lnTo>
                    <a:pt x="0" y="396"/>
                  </a:lnTo>
                  <a:cubicBezTo>
                    <a:pt x="117" y="618"/>
                    <a:pt x="235" y="839"/>
                    <a:pt x="351" y="1062"/>
                  </a:cubicBezTo>
                  <a:cubicBezTo>
                    <a:pt x="379" y="1116"/>
                    <a:pt x="382" y="1199"/>
                    <a:pt x="432" y="1233"/>
                  </a:cubicBezTo>
                  <a:cubicBezTo>
                    <a:pt x="497" y="1217"/>
                    <a:pt x="451" y="1214"/>
                    <a:pt x="504" y="1179"/>
                  </a:cubicBezTo>
                  <a:cubicBezTo>
                    <a:pt x="544" y="1185"/>
                    <a:pt x="614" y="1213"/>
                    <a:pt x="648" y="1179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33" name="Freeform 105"/>
            <p:cNvSpPr>
              <a:spLocks/>
            </p:cNvSpPr>
            <p:nvPr/>
          </p:nvSpPr>
          <p:spPr bwMode="auto">
            <a:xfrm>
              <a:off x="1668" y="2973"/>
              <a:ext cx="191" cy="414"/>
            </a:xfrm>
            <a:custGeom>
              <a:avLst/>
              <a:gdLst>
                <a:gd name="T0" fmla="*/ 20 w 191"/>
                <a:gd name="T1" fmla="*/ 60 h 414"/>
                <a:gd name="T2" fmla="*/ 164 w 191"/>
                <a:gd name="T3" fmla="*/ 12 h 414"/>
                <a:gd name="T4" fmla="*/ 185 w 191"/>
                <a:gd name="T5" fmla="*/ 132 h 414"/>
                <a:gd name="T6" fmla="*/ 185 w 191"/>
                <a:gd name="T7" fmla="*/ 195 h 414"/>
                <a:gd name="T8" fmla="*/ 176 w 191"/>
                <a:gd name="T9" fmla="*/ 258 h 414"/>
                <a:gd name="T10" fmla="*/ 149 w 191"/>
                <a:gd name="T11" fmla="*/ 321 h 414"/>
                <a:gd name="T12" fmla="*/ 104 w 191"/>
                <a:gd name="T13" fmla="*/ 357 h 414"/>
                <a:gd name="T14" fmla="*/ 41 w 191"/>
                <a:gd name="T15" fmla="*/ 366 h 414"/>
                <a:gd name="T16" fmla="*/ 20 w 191"/>
                <a:gd name="T17" fmla="*/ 60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1"/>
                <a:gd name="T28" fmla="*/ 0 h 414"/>
                <a:gd name="T29" fmla="*/ 191 w 191"/>
                <a:gd name="T30" fmla="*/ 414 h 4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1" h="414">
                  <a:moveTo>
                    <a:pt x="20" y="60"/>
                  </a:moveTo>
                  <a:cubicBezTo>
                    <a:pt x="40" y="1"/>
                    <a:pt x="137" y="0"/>
                    <a:pt x="164" y="12"/>
                  </a:cubicBezTo>
                  <a:cubicBezTo>
                    <a:pt x="191" y="24"/>
                    <a:pt x="182" y="102"/>
                    <a:pt x="185" y="132"/>
                  </a:cubicBezTo>
                  <a:cubicBezTo>
                    <a:pt x="188" y="162"/>
                    <a:pt x="186" y="174"/>
                    <a:pt x="185" y="195"/>
                  </a:cubicBezTo>
                  <a:cubicBezTo>
                    <a:pt x="184" y="216"/>
                    <a:pt x="182" y="237"/>
                    <a:pt x="176" y="258"/>
                  </a:cubicBezTo>
                  <a:cubicBezTo>
                    <a:pt x="170" y="279"/>
                    <a:pt x="161" y="304"/>
                    <a:pt x="149" y="321"/>
                  </a:cubicBezTo>
                  <a:cubicBezTo>
                    <a:pt x="137" y="338"/>
                    <a:pt x="122" y="350"/>
                    <a:pt x="104" y="357"/>
                  </a:cubicBezTo>
                  <a:cubicBezTo>
                    <a:pt x="86" y="364"/>
                    <a:pt x="56" y="414"/>
                    <a:pt x="41" y="366"/>
                  </a:cubicBezTo>
                  <a:cubicBezTo>
                    <a:pt x="26" y="318"/>
                    <a:pt x="0" y="119"/>
                    <a:pt x="20" y="60"/>
                  </a:cubicBez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34" name="Text Box 106"/>
            <p:cNvSpPr txBox="1">
              <a:spLocks noChangeArrowheads="1"/>
            </p:cNvSpPr>
            <p:nvPr/>
          </p:nvSpPr>
          <p:spPr bwMode="auto">
            <a:xfrm>
              <a:off x="1608" y="3032"/>
              <a:ext cx="89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1800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035" name="Freeform 107"/>
            <p:cNvSpPr>
              <a:spLocks/>
            </p:cNvSpPr>
            <p:nvPr/>
          </p:nvSpPr>
          <p:spPr bwMode="auto">
            <a:xfrm>
              <a:off x="1728" y="2400"/>
              <a:ext cx="720" cy="732"/>
            </a:xfrm>
            <a:custGeom>
              <a:avLst/>
              <a:gdLst>
                <a:gd name="T0" fmla="*/ 0 w 1008"/>
                <a:gd name="T1" fmla="*/ 0 h 1056"/>
                <a:gd name="T2" fmla="*/ 0 w 1008"/>
                <a:gd name="T3" fmla="*/ 1 h 1056"/>
                <a:gd name="T4" fmla="*/ 1 w 1008"/>
                <a:gd name="T5" fmla="*/ 1 h 1056"/>
                <a:gd name="T6" fmla="*/ 0 60000 65536"/>
                <a:gd name="T7" fmla="*/ 0 60000 65536"/>
                <a:gd name="T8" fmla="*/ 0 60000 65536"/>
                <a:gd name="T9" fmla="*/ 0 w 1008"/>
                <a:gd name="T10" fmla="*/ 0 h 1056"/>
                <a:gd name="T11" fmla="*/ 1008 w 1008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056">
                  <a:moveTo>
                    <a:pt x="0" y="0"/>
                  </a:moveTo>
                  <a:lnTo>
                    <a:pt x="0" y="1056"/>
                  </a:lnTo>
                  <a:lnTo>
                    <a:pt x="1008" y="1056"/>
                  </a:lnTo>
                </a:path>
              </a:pathLst>
            </a:custGeom>
            <a:noFill/>
            <a:ln w="3175">
              <a:solidFill>
                <a:schemeClr val="tx1"/>
              </a:solidFill>
              <a:miter lim="800000"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36" name="Oval 108"/>
            <p:cNvSpPr>
              <a:spLocks noChangeArrowheads="1"/>
            </p:cNvSpPr>
            <p:nvPr/>
          </p:nvSpPr>
          <p:spPr bwMode="auto">
            <a:xfrm>
              <a:off x="1707" y="3126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37" name="Freeform 109"/>
            <p:cNvSpPr>
              <a:spLocks/>
            </p:cNvSpPr>
            <p:nvPr/>
          </p:nvSpPr>
          <p:spPr bwMode="auto">
            <a:xfrm>
              <a:off x="1728" y="2976"/>
              <a:ext cx="131" cy="399"/>
            </a:xfrm>
            <a:custGeom>
              <a:avLst/>
              <a:gdLst>
                <a:gd name="T0" fmla="*/ 96 w 131"/>
                <a:gd name="T1" fmla="*/ 0 h 399"/>
                <a:gd name="T2" fmla="*/ 126 w 131"/>
                <a:gd name="T3" fmla="*/ 120 h 399"/>
                <a:gd name="T4" fmla="*/ 126 w 131"/>
                <a:gd name="T5" fmla="*/ 210 h 399"/>
                <a:gd name="T6" fmla="*/ 108 w 131"/>
                <a:gd name="T7" fmla="*/ 282 h 399"/>
                <a:gd name="T8" fmla="*/ 63 w 131"/>
                <a:gd name="T9" fmla="*/ 363 h 399"/>
                <a:gd name="T10" fmla="*/ 0 w 131"/>
                <a:gd name="T11" fmla="*/ 399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1"/>
                <a:gd name="T19" fmla="*/ 0 h 399"/>
                <a:gd name="T20" fmla="*/ 131 w 13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1" h="399">
                  <a:moveTo>
                    <a:pt x="96" y="0"/>
                  </a:moveTo>
                  <a:cubicBezTo>
                    <a:pt x="108" y="42"/>
                    <a:pt x="121" y="85"/>
                    <a:pt x="126" y="120"/>
                  </a:cubicBezTo>
                  <a:cubicBezTo>
                    <a:pt x="131" y="155"/>
                    <a:pt x="129" y="183"/>
                    <a:pt x="126" y="210"/>
                  </a:cubicBezTo>
                  <a:cubicBezTo>
                    <a:pt x="123" y="237"/>
                    <a:pt x="118" y="257"/>
                    <a:pt x="108" y="282"/>
                  </a:cubicBezTo>
                  <a:cubicBezTo>
                    <a:pt x="98" y="307"/>
                    <a:pt x="81" y="344"/>
                    <a:pt x="63" y="363"/>
                  </a:cubicBezTo>
                  <a:cubicBezTo>
                    <a:pt x="45" y="382"/>
                    <a:pt x="13" y="395"/>
                    <a:pt x="0" y="3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38" name="Line 110"/>
            <p:cNvSpPr>
              <a:spLocks noChangeShapeType="1"/>
            </p:cNvSpPr>
            <p:nvPr/>
          </p:nvSpPr>
          <p:spPr bwMode="auto">
            <a:xfrm flipH="1">
              <a:off x="1188" y="3141"/>
              <a:ext cx="54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9" name="AutoShape 111"/>
            <p:cNvSpPr>
              <a:spLocks noChangeArrowheads="1"/>
            </p:cNvSpPr>
            <p:nvPr/>
          </p:nvSpPr>
          <p:spPr bwMode="auto">
            <a:xfrm>
              <a:off x="1710" y="2853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40" name="AutoShape 112"/>
            <p:cNvSpPr>
              <a:spLocks noChangeArrowheads="1"/>
            </p:cNvSpPr>
            <p:nvPr/>
          </p:nvSpPr>
          <p:spPr bwMode="auto">
            <a:xfrm rot="5400000">
              <a:off x="1843" y="300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41" name="AutoShape 113"/>
            <p:cNvSpPr>
              <a:spLocks noChangeArrowheads="1"/>
            </p:cNvSpPr>
            <p:nvPr/>
          </p:nvSpPr>
          <p:spPr bwMode="auto">
            <a:xfrm rot="-8100000">
              <a:off x="1599" y="3115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42" name="Text Box 114"/>
            <p:cNvSpPr txBox="1">
              <a:spLocks noChangeArrowheads="1"/>
            </p:cNvSpPr>
            <p:nvPr/>
          </p:nvSpPr>
          <p:spPr bwMode="auto">
            <a:xfrm>
              <a:off x="1824" y="3168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0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43" name="Text Box 115"/>
            <p:cNvSpPr txBox="1">
              <a:spLocks noChangeArrowheads="1"/>
            </p:cNvSpPr>
            <p:nvPr/>
          </p:nvSpPr>
          <p:spPr bwMode="auto">
            <a:xfrm>
              <a:off x="1764" y="2880"/>
              <a:ext cx="25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sy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44" name="Text Box 116"/>
            <p:cNvSpPr txBox="1">
              <a:spLocks noChangeArrowheads="1"/>
            </p:cNvSpPr>
            <p:nvPr/>
          </p:nvSpPr>
          <p:spPr bwMode="auto">
            <a:xfrm>
              <a:off x="1350" y="3035"/>
              <a:ext cx="24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sz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45" name="AutoShape 117"/>
            <p:cNvSpPr>
              <a:spLocks noChangeArrowheads="1"/>
            </p:cNvSpPr>
            <p:nvPr/>
          </p:nvSpPr>
          <p:spPr bwMode="auto">
            <a:xfrm>
              <a:off x="1707" y="258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>
                <a:solidFill>
                  <a:srgbClr val="000099"/>
                </a:solidFill>
              </a:endParaRPr>
            </a:p>
          </p:txBody>
        </p:sp>
        <p:sp>
          <p:nvSpPr>
            <p:cNvPr id="1046" name="Text Box 118"/>
            <p:cNvSpPr txBox="1">
              <a:spLocks noChangeArrowheads="1"/>
            </p:cNvSpPr>
            <p:nvPr/>
          </p:nvSpPr>
          <p:spPr bwMode="auto">
            <a:xfrm>
              <a:off x="2112" y="3146"/>
              <a:ext cx="9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47" name="AutoShape 119"/>
            <p:cNvSpPr>
              <a:spLocks noChangeArrowheads="1"/>
            </p:cNvSpPr>
            <p:nvPr/>
          </p:nvSpPr>
          <p:spPr bwMode="auto">
            <a:xfrm rot="5400000">
              <a:off x="2110" y="2997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48" name="AutoShape 120"/>
            <p:cNvSpPr>
              <a:spLocks noChangeArrowheads="1"/>
            </p:cNvSpPr>
            <p:nvPr/>
          </p:nvSpPr>
          <p:spPr bwMode="auto">
            <a:xfrm rot="-8100000">
              <a:off x="1407" y="3301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1049" name="Text Box 121"/>
            <p:cNvSpPr txBox="1">
              <a:spLocks noChangeArrowheads="1"/>
            </p:cNvSpPr>
            <p:nvPr/>
          </p:nvSpPr>
          <p:spPr bwMode="auto">
            <a:xfrm>
              <a:off x="1764" y="2640"/>
              <a:ext cx="25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0" name="Text Box 122"/>
            <p:cNvSpPr txBox="1">
              <a:spLocks noChangeArrowheads="1"/>
            </p:cNvSpPr>
            <p:nvPr/>
          </p:nvSpPr>
          <p:spPr bwMode="auto">
            <a:xfrm>
              <a:off x="1437" y="3411"/>
              <a:ext cx="25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1" name="Text Box 123"/>
            <p:cNvSpPr txBox="1">
              <a:spLocks noChangeArrowheads="1"/>
            </p:cNvSpPr>
            <p:nvPr/>
          </p:nvSpPr>
          <p:spPr bwMode="auto">
            <a:xfrm>
              <a:off x="2386" y="2957"/>
              <a:ext cx="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052" name="Text Box 124"/>
            <p:cNvSpPr txBox="1">
              <a:spLocks noChangeArrowheads="1"/>
            </p:cNvSpPr>
            <p:nvPr/>
          </p:nvSpPr>
          <p:spPr bwMode="auto">
            <a:xfrm>
              <a:off x="1776" y="2326"/>
              <a:ext cx="6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053" name="Text Box 125"/>
            <p:cNvSpPr txBox="1">
              <a:spLocks noChangeArrowheads="1"/>
            </p:cNvSpPr>
            <p:nvPr/>
          </p:nvSpPr>
          <p:spPr bwMode="auto">
            <a:xfrm>
              <a:off x="1248" y="3622"/>
              <a:ext cx="53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z</a:t>
              </a:r>
            </a:p>
          </p:txBody>
        </p:sp>
      </p:grp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357188" y="407909"/>
            <a:ext cx="3148013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777996" y="1031258"/>
            <a:ext cx="138796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6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内力</a:t>
            </a:r>
            <a:endParaRPr kumimoji="1" lang="zh-CN" altLang="en-US" sz="2400" b="1" dirty="0">
              <a:solidFill>
                <a:srgbClr val="080808"/>
              </a:solidFill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773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7" grpId="0" uiExpand="1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1666" y="1379501"/>
            <a:ext cx="701667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内力随外力的增加而增加，直至构件发生破坏；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38915" y="4459349"/>
            <a:ext cx="294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）一分为二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913777" y="4459349"/>
            <a:ext cx="3021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）去一留一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77540" y="4459349"/>
            <a:ext cx="3049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）平衡求解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5119800" y="3316485"/>
            <a:ext cx="1928812" cy="708025"/>
            <a:chOff x="3249" y="2321"/>
            <a:chExt cx="1215" cy="446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254" y="2321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3874" y="2494"/>
              <a:ext cx="590" cy="27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3249" y="2639"/>
              <a:ext cx="63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714295" y="3345060"/>
            <a:ext cx="3959225" cy="706437"/>
            <a:chOff x="382" y="2322"/>
            <a:chExt cx="2494" cy="445"/>
          </a:xfrm>
        </p:grpSpPr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2152" y="2639"/>
              <a:ext cx="63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H="1">
              <a:off x="389" y="2639"/>
              <a:ext cx="635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382" y="2330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1017" y="2494"/>
              <a:ext cx="1134" cy="27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514" y="2322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</p:grpSp>
      <p:grpSp>
        <p:nvGrpSpPr>
          <p:cNvPr id="16" name="Group 18"/>
          <p:cNvGrpSpPr>
            <a:grpSpLocks/>
          </p:cNvGrpSpPr>
          <p:nvPr/>
        </p:nvGrpSpPr>
        <p:grpSpPr bwMode="auto">
          <a:xfrm>
            <a:off x="7034325" y="3318073"/>
            <a:ext cx="1309687" cy="503237"/>
            <a:chOff x="4455" y="2322"/>
            <a:chExt cx="825" cy="317"/>
          </a:xfrm>
        </p:grpSpPr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4455" y="2639"/>
              <a:ext cx="635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4918" y="2322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</a:p>
          </p:txBody>
        </p:sp>
      </p:grp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2600245" y="3316485"/>
            <a:ext cx="0" cy="10493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644525" y="5171949"/>
            <a:ext cx="7815050" cy="85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内力在截面上是连续分布的，截面法只能确定截面上分布内力的合力（或合力偶矩）。</a:t>
            </a:r>
            <a:endParaRPr kumimoji="1" lang="el-GR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651666" y="604040"/>
            <a:ext cx="3148013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  <p:sp>
        <p:nvSpPr>
          <p:cNvPr id="22" name="矩形 21"/>
          <p:cNvSpPr/>
          <p:nvPr/>
        </p:nvSpPr>
        <p:spPr>
          <a:xfrm>
            <a:off x="651666" y="2587426"/>
            <a:ext cx="7632214" cy="465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截面法</a:t>
            </a:r>
            <a:r>
              <a:rPr lang="en-US" altLang="zh-CN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Method of Section</a:t>
            </a:r>
            <a:r>
              <a:rPr lang="en-US" altLang="zh-CN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是确定内力的一种方法；</a:t>
            </a:r>
          </a:p>
        </p:txBody>
      </p:sp>
      <p:sp>
        <p:nvSpPr>
          <p:cNvPr id="23" name="矩形 22"/>
          <p:cNvSpPr/>
          <p:nvPr/>
        </p:nvSpPr>
        <p:spPr>
          <a:xfrm>
            <a:off x="651666" y="1971467"/>
            <a:ext cx="7160694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外力作用处未必破坏；内力才是杆件破坏的原因。</a:t>
            </a:r>
          </a:p>
        </p:txBody>
      </p:sp>
    </p:spTree>
    <p:extLst>
      <p:ext uri="{BB962C8B-B14F-4D97-AF65-F5344CB8AC3E}">
        <p14:creationId xmlns:p14="http://schemas.microsoft.com/office/powerpoint/2010/main" val="142956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1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 autoUpdateAnimBg="0"/>
      <p:bldP spid="19" grpId="0" animBg="1"/>
      <p:bldP spid="20" grpId="0" build="p" autoUpdateAnimBg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474662" y="651230"/>
            <a:ext cx="53863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  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已知：</a:t>
            </a:r>
            <a:r>
              <a:rPr kumimoji="1" lang="en-US" altLang="zh-CN" sz="2400" b="1" i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F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， 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L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， 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kumimoji="1" lang="en-US" altLang="zh-CN" sz="2400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 (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暂不考虑自重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。</a:t>
            </a:r>
            <a:endParaRPr kumimoji="1" lang="en-US" altLang="zh-CN" sz="2400" b="1" dirty="0">
              <a:solidFill>
                <a:srgbClr val="080808"/>
              </a:solidFill>
              <a:latin typeface="+mn-lt"/>
              <a:ea typeface="楷体" panose="02010609060101010101" pitchFamily="49" charset="-122"/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求：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m-m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截面上的内力。</a:t>
            </a:r>
          </a:p>
        </p:txBody>
      </p:sp>
      <p:grpSp>
        <p:nvGrpSpPr>
          <p:cNvPr id="150531" name="Group 3"/>
          <p:cNvGrpSpPr>
            <a:grpSpLocks/>
          </p:cNvGrpSpPr>
          <p:nvPr/>
        </p:nvGrpSpPr>
        <p:grpSpPr bwMode="auto">
          <a:xfrm>
            <a:off x="5868200" y="699730"/>
            <a:ext cx="2325694" cy="2801278"/>
            <a:chOff x="4003" y="240"/>
            <a:chExt cx="1636" cy="2256"/>
          </a:xfrm>
        </p:grpSpPr>
        <p:sp>
          <p:nvSpPr>
            <p:cNvPr id="150532" name="Text Box 4"/>
            <p:cNvSpPr txBox="1">
              <a:spLocks noChangeArrowheads="1"/>
            </p:cNvSpPr>
            <p:nvPr/>
          </p:nvSpPr>
          <p:spPr bwMode="auto">
            <a:xfrm>
              <a:off x="5293" y="258"/>
              <a:ext cx="34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50533" name="Rectangle 5"/>
            <p:cNvSpPr>
              <a:spLocks noChangeArrowheads="1"/>
            </p:cNvSpPr>
            <p:nvPr/>
          </p:nvSpPr>
          <p:spPr bwMode="auto">
            <a:xfrm>
              <a:off x="4779" y="240"/>
              <a:ext cx="384" cy="2160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34" name="Line 6"/>
            <p:cNvSpPr>
              <a:spLocks noChangeShapeType="1"/>
            </p:cNvSpPr>
            <p:nvPr/>
          </p:nvSpPr>
          <p:spPr bwMode="auto">
            <a:xfrm>
              <a:off x="4539" y="2400"/>
              <a:ext cx="864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5" name="Line 7"/>
            <p:cNvSpPr>
              <a:spLocks noChangeAspect="1" noChangeShapeType="1"/>
            </p:cNvSpPr>
            <p:nvPr/>
          </p:nvSpPr>
          <p:spPr bwMode="auto">
            <a:xfrm>
              <a:off x="4587" y="2400"/>
              <a:ext cx="96" cy="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6" name="Line 8"/>
            <p:cNvSpPr>
              <a:spLocks noChangeAspect="1" noChangeShapeType="1"/>
            </p:cNvSpPr>
            <p:nvPr/>
          </p:nvSpPr>
          <p:spPr bwMode="auto">
            <a:xfrm>
              <a:off x="5211" y="2400"/>
              <a:ext cx="96" cy="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7" name="Line 9"/>
            <p:cNvSpPr>
              <a:spLocks noChangeAspect="1" noChangeShapeType="1"/>
            </p:cNvSpPr>
            <p:nvPr/>
          </p:nvSpPr>
          <p:spPr bwMode="auto">
            <a:xfrm>
              <a:off x="4899" y="2400"/>
              <a:ext cx="96" cy="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8" name="Line 10"/>
            <p:cNvSpPr>
              <a:spLocks noChangeAspect="1" noChangeShapeType="1"/>
            </p:cNvSpPr>
            <p:nvPr/>
          </p:nvSpPr>
          <p:spPr bwMode="auto">
            <a:xfrm>
              <a:off x="5055" y="2400"/>
              <a:ext cx="96" cy="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39" name="Line 11"/>
            <p:cNvSpPr>
              <a:spLocks noChangeAspect="1" noChangeShapeType="1"/>
            </p:cNvSpPr>
            <p:nvPr/>
          </p:nvSpPr>
          <p:spPr bwMode="auto">
            <a:xfrm>
              <a:off x="4743" y="2400"/>
              <a:ext cx="96" cy="9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0" name="Line 12"/>
            <p:cNvSpPr>
              <a:spLocks noChangeShapeType="1"/>
            </p:cNvSpPr>
            <p:nvPr/>
          </p:nvSpPr>
          <p:spPr bwMode="auto">
            <a:xfrm>
              <a:off x="4971" y="240"/>
              <a:ext cx="52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1" name="Line 13"/>
            <p:cNvSpPr>
              <a:spLocks noChangeShapeType="1"/>
            </p:cNvSpPr>
            <p:nvPr/>
          </p:nvSpPr>
          <p:spPr bwMode="auto">
            <a:xfrm flipV="1">
              <a:off x="4203" y="240"/>
              <a:ext cx="0" cy="216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2" name="Line 14"/>
            <p:cNvSpPr>
              <a:spLocks noChangeShapeType="1"/>
            </p:cNvSpPr>
            <p:nvPr/>
          </p:nvSpPr>
          <p:spPr bwMode="auto">
            <a:xfrm>
              <a:off x="4099" y="240"/>
              <a:ext cx="23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3" name="Text Box 15"/>
            <p:cNvSpPr txBox="1">
              <a:spLocks noChangeArrowheads="1"/>
            </p:cNvSpPr>
            <p:nvPr/>
          </p:nvSpPr>
          <p:spPr bwMode="auto">
            <a:xfrm>
              <a:off x="4003" y="1064"/>
              <a:ext cx="233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</a:p>
          </p:txBody>
        </p:sp>
        <p:sp>
          <p:nvSpPr>
            <p:cNvPr id="150544" name="Line 16"/>
            <p:cNvSpPr>
              <a:spLocks noChangeShapeType="1"/>
            </p:cNvSpPr>
            <p:nvPr/>
          </p:nvSpPr>
          <p:spPr bwMode="auto">
            <a:xfrm>
              <a:off x="4483" y="1488"/>
              <a:ext cx="90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5" name="Line 17"/>
            <p:cNvSpPr>
              <a:spLocks noChangeShapeType="1"/>
            </p:cNvSpPr>
            <p:nvPr/>
          </p:nvSpPr>
          <p:spPr bwMode="auto">
            <a:xfrm>
              <a:off x="4099" y="2408"/>
              <a:ext cx="23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6" name="Line 18"/>
            <p:cNvSpPr>
              <a:spLocks noChangeShapeType="1"/>
            </p:cNvSpPr>
            <p:nvPr/>
          </p:nvSpPr>
          <p:spPr bwMode="auto">
            <a:xfrm flipV="1">
              <a:off x="4587" y="240"/>
              <a:ext cx="0" cy="124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7" name="Line 19"/>
            <p:cNvSpPr>
              <a:spLocks noChangeShapeType="1"/>
            </p:cNvSpPr>
            <p:nvPr/>
          </p:nvSpPr>
          <p:spPr bwMode="auto">
            <a:xfrm>
              <a:off x="4475" y="240"/>
              <a:ext cx="23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48" name="Text Box 20"/>
            <p:cNvSpPr txBox="1">
              <a:spLocks noChangeArrowheads="1"/>
            </p:cNvSpPr>
            <p:nvPr/>
          </p:nvSpPr>
          <p:spPr bwMode="auto">
            <a:xfrm>
              <a:off x="4401" y="682"/>
              <a:ext cx="212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50549" name="Text Box 21"/>
            <p:cNvSpPr txBox="1">
              <a:spLocks noChangeArrowheads="1"/>
            </p:cNvSpPr>
            <p:nvPr/>
          </p:nvSpPr>
          <p:spPr bwMode="auto">
            <a:xfrm>
              <a:off x="4241" y="1322"/>
              <a:ext cx="265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</a:p>
          </p:txBody>
        </p:sp>
        <p:sp>
          <p:nvSpPr>
            <p:cNvPr id="150550" name="Text Box 22"/>
            <p:cNvSpPr txBox="1">
              <a:spLocks noChangeArrowheads="1"/>
            </p:cNvSpPr>
            <p:nvPr/>
          </p:nvSpPr>
          <p:spPr bwMode="auto">
            <a:xfrm>
              <a:off x="5363" y="1329"/>
              <a:ext cx="265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</a:p>
          </p:txBody>
        </p:sp>
      </p:grpSp>
      <p:sp>
        <p:nvSpPr>
          <p:cNvPr id="150551" name="Text Box 23"/>
          <p:cNvSpPr txBox="1">
            <a:spLocks noChangeArrowheads="1"/>
          </p:cNvSpPr>
          <p:nvPr/>
        </p:nvSpPr>
        <p:spPr bwMode="auto">
          <a:xfrm>
            <a:off x="482497" y="1652977"/>
            <a:ext cx="534045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解：</a:t>
            </a:r>
            <a:r>
              <a:rPr kumimoji="1" lang="en-US" altLang="zh-CN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1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、在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m-m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截面将构件一分为二；</a:t>
            </a:r>
          </a:p>
        </p:txBody>
      </p:sp>
      <p:sp>
        <p:nvSpPr>
          <p:cNvPr id="150552" name="Text Box 24"/>
          <p:cNvSpPr txBox="1">
            <a:spLocks noChangeArrowheads="1"/>
          </p:cNvSpPr>
          <p:nvPr/>
        </p:nvSpPr>
        <p:spPr bwMode="auto">
          <a:xfrm>
            <a:off x="1095376" y="2181681"/>
            <a:ext cx="520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、取构件上部作为研究对象；</a:t>
            </a:r>
          </a:p>
        </p:txBody>
      </p:sp>
      <p:sp>
        <p:nvSpPr>
          <p:cNvPr id="150553" name="Rectangle 25"/>
          <p:cNvSpPr>
            <a:spLocks noChangeArrowheads="1"/>
          </p:cNvSpPr>
          <p:nvPr/>
        </p:nvSpPr>
        <p:spPr bwMode="auto">
          <a:xfrm>
            <a:off x="6975861" y="3942413"/>
            <a:ext cx="609600" cy="1828800"/>
          </a:xfrm>
          <a:prstGeom prst="rect">
            <a:avLst/>
          </a:prstGeom>
          <a:solidFill>
            <a:schemeClr val="accent1"/>
          </a:solidFill>
          <a:ln w="222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54" name="Text Box 26"/>
          <p:cNvSpPr txBox="1">
            <a:spLocks noChangeArrowheads="1"/>
          </p:cNvSpPr>
          <p:nvPr/>
        </p:nvSpPr>
        <p:spPr bwMode="auto">
          <a:xfrm>
            <a:off x="1098044" y="2752766"/>
            <a:ext cx="25378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、受力分析；</a:t>
            </a:r>
          </a:p>
        </p:txBody>
      </p:sp>
      <p:grpSp>
        <p:nvGrpSpPr>
          <p:cNvPr id="150555" name="Group 27"/>
          <p:cNvGrpSpPr>
            <a:grpSpLocks/>
          </p:cNvGrpSpPr>
          <p:nvPr/>
        </p:nvGrpSpPr>
        <p:grpSpPr bwMode="auto">
          <a:xfrm>
            <a:off x="7280661" y="3947176"/>
            <a:ext cx="904875" cy="498475"/>
            <a:chOff x="4992" y="2736"/>
            <a:chExt cx="570" cy="314"/>
          </a:xfrm>
        </p:grpSpPr>
        <p:sp>
          <p:nvSpPr>
            <p:cNvPr id="150556" name="Line 28"/>
            <p:cNvSpPr>
              <a:spLocks noChangeShapeType="1"/>
            </p:cNvSpPr>
            <p:nvPr/>
          </p:nvSpPr>
          <p:spPr bwMode="auto">
            <a:xfrm>
              <a:off x="4992" y="2736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57" name="Text Box 29"/>
            <p:cNvSpPr txBox="1">
              <a:spLocks noChangeArrowheads="1"/>
            </p:cNvSpPr>
            <p:nvPr/>
          </p:nvSpPr>
          <p:spPr bwMode="auto">
            <a:xfrm>
              <a:off x="5318" y="276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</p:grpSp>
      <p:grpSp>
        <p:nvGrpSpPr>
          <p:cNvPr id="150558" name="Group 30"/>
          <p:cNvGrpSpPr>
            <a:grpSpLocks/>
          </p:cNvGrpSpPr>
          <p:nvPr/>
        </p:nvGrpSpPr>
        <p:grpSpPr bwMode="auto">
          <a:xfrm>
            <a:off x="6290061" y="5542613"/>
            <a:ext cx="1295400" cy="457200"/>
            <a:chOff x="4368" y="3840"/>
            <a:chExt cx="816" cy="288"/>
          </a:xfrm>
        </p:grpSpPr>
        <p:sp>
          <p:nvSpPr>
            <p:cNvPr id="150559" name="Line 31"/>
            <p:cNvSpPr>
              <a:spLocks noChangeShapeType="1"/>
            </p:cNvSpPr>
            <p:nvPr/>
          </p:nvSpPr>
          <p:spPr bwMode="auto">
            <a:xfrm flipH="1">
              <a:off x="4704" y="4032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560" name="Text Box 32"/>
            <p:cNvSpPr txBox="1">
              <a:spLocks noChangeArrowheads="1"/>
            </p:cNvSpPr>
            <p:nvPr/>
          </p:nvSpPr>
          <p:spPr bwMode="auto">
            <a:xfrm>
              <a:off x="4368" y="3840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4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</a:p>
          </p:txBody>
        </p:sp>
      </p:grpSp>
      <p:grpSp>
        <p:nvGrpSpPr>
          <p:cNvPr id="150561" name="Group 33"/>
          <p:cNvGrpSpPr>
            <a:grpSpLocks/>
          </p:cNvGrpSpPr>
          <p:nvPr/>
        </p:nvGrpSpPr>
        <p:grpSpPr bwMode="auto">
          <a:xfrm>
            <a:off x="6975861" y="5695013"/>
            <a:ext cx="1217612" cy="609600"/>
            <a:chOff x="4800" y="3936"/>
            <a:chExt cx="767" cy="384"/>
          </a:xfrm>
        </p:grpSpPr>
        <p:sp>
          <p:nvSpPr>
            <p:cNvPr id="150562" name="Arc 34"/>
            <p:cNvSpPr>
              <a:spLocks/>
            </p:cNvSpPr>
            <p:nvPr/>
          </p:nvSpPr>
          <p:spPr bwMode="auto">
            <a:xfrm rot="2400000" flipV="1">
              <a:off x="4800" y="3936"/>
              <a:ext cx="384" cy="3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lg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63" name="Text Box 35"/>
            <p:cNvSpPr txBox="1">
              <a:spLocks noChangeArrowheads="1"/>
            </p:cNvSpPr>
            <p:nvPr/>
          </p:nvSpPr>
          <p:spPr bwMode="auto">
            <a:xfrm>
              <a:off x="5280" y="396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</a:p>
          </p:txBody>
        </p:sp>
      </p:grpSp>
      <p:sp>
        <p:nvSpPr>
          <p:cNvPr id="150564" name="Text Box 36"/>
          <p:cNvSpPr txBox="1">
            <a:spLocks noChangeArrowheads="1"/>
          </p:cNvSpPr>
          <p:nvPr/>
        </p:nvSpPr>
        <p:spPr bwMode="auto">
          <a:xfrm>
            <a:off x="1110064" y="3315092"/>
            <a:ext cx="339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b="1" dirty="0">
                <a:solidFill>
                  <a:srgbClr val="08080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、列平衡方程：</a:t>
            </a:r>
          </a:p>
        </p:txBody>
      </p:sp>
      <p:sp>
        <p:nvSpPr>
          <p:cNvPr id="150566" name="Text Box 38"/>
          <p:cNvSpPr txBox="1">
            <a:spLocks noChangeArrowheads="1"/>
          </p:cNvSpPr>
          <p:nvPr/>
        </p:nvSpPr>
        <p:spPr bwMode="auto">
          <a:xfrm>
            <a:off x="1500038" y="3929413"/>
            <a:ext cx="2014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∑</a:t>
            </a:r>
            <a:r>
              <a:rPr kumimoji="1" lang="en-US" altLang="zh-CN" sz="2400" i="1" dirty="0" err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400" b="1" i="1" baseline="-25000" dirty="0" err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150567" name="Text Box 39"/>
          <p:cNvSpPr txBox="1">
            <a:spLocks noChangeArrowheads="1"/>
          </p:cNvSpPr>
          <p:nvPr/>
        </p:nvSpPr>
        <p:spPr bwMode="auto">
          <a:xfrm>
            <a:off x="1520171" y="4581665"/>
            <a:ext cx="191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∑</a:t>
            </a:r>
            <a:r>
              <a:rPr kumimoji="1" lang="en-US" altLang="zh-CN" sz="24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150571" name="Text Box 43"/>
          <p:cNvSpPr txBox="1">
            <a:spLocks noChangeArrowheads="1"/>
          </p:cNvSpPr>
          <p:nvPr/>
        </p:nvSpPr>
        <p:spPr bwMode="auto">
          <a:xfrm>
            <a:off x="3466951" y="3905810"/>
            <a:ext cx="1296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400" b="1" i="1" baseline="-250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en-US" altLang="zh-CN" sz="2400" b="1" baseline="-250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sz="24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</a:p>
        </p:txBody>
      </p:sp>
      <p:sp>
        <p:nvSpPr>
          <p:cNvPr id="150572" name="Text Box 44"/>
          <p:cNvSpPr txBox="1">
            <a:spLocks noChangeArrowheads="1"/>
          </p:cNvSpPr>
          <p:nvPr/>
        </p:nvSpPr>
        <p:spPr bwMode="auto">
          <a:xfrm>
            <a:off x="3439458" y="4548103"/>
            <a:ext cx="1512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400" i="1" dirty="0" err="1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Fa</a:t>
            </a:r>
            <a:endParaRPr kumimoji="1" lang="en-US" altLang="zh-CN" sz="2400" i="1" dirty="0">
              <a:solidFill>
                <a:srgbClr val="08080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0573" name="Text Box 45"/>
          <p:cNvSpPr txBox="1">
            <a:spLocks noChangeArrowheads="1"/>
          </p:cNvSpPr>
          <p:nvPr/>
        </p:nvSpPr>
        <p:spPr bwMode="auto">
          <a:xfrm>
            <a:off x="672295" y="5206198"/>
            <a:ext cx="153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讨论：</a:t>
            </a:r>
          </a:p>
        </p:txBody>
      </p:sp>
      <p:sp>
        <p:nvSpPr>
          <p:cNvPr id="150574" name="Text Box 46"/>
          <p:cNvSpPr txBox="1">
            <a:spLocks noChangeArrowheads="1"/>
          </p:cNvSpPr>
          <p:nvPr/>
        </p:nvSpPr>
        <p:spPr bwMode="auto">
          <a:xfrm>
            <a:off x="1803401" y="5201237"/>
            <a:ext cx="4802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240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增大，</a:t>
            </a:r>
            <a:r>
              <a:rPr kumimoji="1" lang="en-US" altLang="zh-CN" sz="240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F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s</a:t>
            </a:r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不变，</a:t>
            </a:r>
            <a:r>
              <a:rPr kumimoji="1" lang="en-US" altLang="zh-CN" sz="240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增大</a:t>
            </a:r>
            <a:endParaRPr kumimoji="1" lang="zh-CN" altLang="en-US" sz="2400" b="1" i="1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150575" name="Text Box 47"/>
          <p:cNvSpPr txBox="1">
            <a:spLocks noChangeArrowheads="1"/>
          </p:cNvSpPr>
          <p:nvPr/>
        </p:nvSpPr>
        <p:spPr bwMode="auto">
          <a:xfrm>
            <a:off x="1816866" y="5734902"/>
            <a:ext cx="4259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、若考虑构件的自重</a:t>
            </a:r>
            <a:r>
              <a:rPr kumimoji="1" lang="en-US" altLang="zh-CN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719701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0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75"/>
                                        <p:tgtEl>
                                          <p:spTgt spid="15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150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150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51" grpId="0" autoUpdateAnimBg="0"/>
      <p:bldP spid="150552" grpId="0" autoUpdateAnimBg="0"/>
      <p:bldP spid="150553" grpId="0" animBg="1"/>
      <p:bldP spid="150554" grpId="0" autoUpdateAnimBg="0"/>
      <p:bldP spid="150564" grpId="0" autoUpdateAnimBg="0"/>
      <p:bldP spid="150566" grpId="0"/>
      <p:bldP spid="150567" grpId="0"/>
      <p:bldP spid="150571" grpId="0"/>
      <p:bldP spid="150572" grpId="0"/>
      <p:bldP spid="150573" grpId="0" autoUpdateAnimBg="0"/>
      <p:bldP spid="150574" grpId="0" autoUpdateAnimBg="0"/>
      <p:bldP spid="15057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490299" y="1063389"/>
            <a:ext cx="48492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问题：</a:t>
            </a:r>
            <a:r>
              <a:rPr kumimoji="1" lang="en-US" altLang="zh-CN" sz="2400" i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i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两根杆件，材料相同，内力是否相等？若</a:t>
            </a:r>
            <a:r>
              <a:rPr kumimoji="1" lang="en-US" altLang="zh-CN" sz="2400" b="1" i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zh-CN" altLang="en-US" sz="2400" b="1" dirty="0">
                <a:solidFill>
                  <a:srgbClr val="080808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同时增加，哪根杆件先发生破坏？</a:t>
            </a:r>
          </a:p>
        </p:txBody>
      </p:sp>
      <p:grpSp>
        <p:nvGrpSpPr>
          <p:cNvPr id="151557" name="Group 5"/>
          <p:cNvGrpSpPr>
            <a:grpSpLocks/>
          </p:cNvGrpSpPr>
          <p:nvPr/>
        </p:nvGrpSpPr>
        <p:grpSpPr bwMode="auto">
          <a:xfrm>
            <a:off x="5600153" y="740029"/>
            <a:ext cx="2808288" cy="2495550"/>
            <a:chOff x="3936" y="588"/>
            <a:chExt cx="1652" cy="1572"/>
          </a:xfrm>
        </p:grpSpPr>
        <p:sp>
          <p:nvSpPr>
            <p:cNvPr id="151558" name="Text Box 6"/>
            <p:cNvSpPr txBox="1">
              <a:spLocks noChangeArrowheads="1"/>
            </p:cNvSpPr>
            <p:nvPr/>
          </p:nvSpPr>
          <p:spPr bwMode="auto">
            <a:xfrm>
              <a:off x="4848" y="590"/>
              <a:ext cx="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51559" name="Text Box 7"/>
            <p:cNvSpPr txBox="1">
              <a:spLocks noChangeArrowheads="1"/>
            </p:cNvSpPr>
            <p:nvPr/>
          </p:nvSpPr>
          <p:spPr bwMode="auto">
            <a:xfrm>
              <a:off x="3989" y="588"/>
              <a:ext cx="6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zh-CN" altLang="en-US" sz="2400" b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</p:txBody>
        </p:sp>
        <p:sp>
          <p:nvSpPr>
            <p:cNvPr id="151560" name="Text Box 8"/>
            <p:cNvSpPr txBox="1">
              <a:spLocks noChangeArrowheads="1"/>
            </p:cNvSpPr>
            <p:nvPr/>
          </p:nvSpPr>
          <p:spPr bwMode="auto">
            <a:xfrm>
              <a:off x="5219" y="1872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51561" name="Rectangle 9" descr="花岗岩"/>
            <p:cNvSpPr>
              <a:spLocks noChangeArrowheads="1"/>
            </p:cNvSpPr>
            <p:nvPr/>
          </p:nvSpPr>
          <p:spPr bwMode="auto">
            <a:xfrm>
              <a:off x="4148" y="924"/>
              <a:ext cx="288" cy="9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2" name="Line 10"/>
            <p:cNvSpPr>
              <a:spLocks noChangeShapeType="1"/>
            </p:cNvSpPr>
            <p:nvPr/>
          </p:nvSpPr>
          <p:spPr bwMode="auto">
            <a:xfrm>
              <a:off x="4292" y="1836"/>
              <a:ext cx="0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3" name="Text Box 11"/>
            <p:cNvSpPr txBox="1">
              <a:spLocks noChangeArrowheads="1"/>
            </p:cNvSpPr>
            <p:nvPr/>
          </p:nvSpPr>
          <p:spPr bwMode="auto">
            <a:xfrm>
              <a:off x="4326" y="1872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51564" name="Rectangle 12" descr="花岗岩"/>
            <p:cNvSpPr>
              <a:spLocks noChangeArrowheads="1"/>
            </p:cNvSpPr>
            <p:nvPr/>
          </p:nvSpPr>
          <p:spPr bwMode="auto">
            <a:xfrm>
              <a:off x="4960" y="924"/>
              <a:ext cx="443" cy="91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5" name="Line 13"/>
            <p:cNvSpPr>
              <a:spLocks noChangeShapeType="1"/>
            </p:cNvSpPr>
            <p:nvPr/>
          </p:nvSpPr>
          <p:spPr bwMode="auto">
            <a:xfrm>
              <a:off x="5184" y="1836"/>
              <a:ext cx="0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1566" name="Group 14"/>
            <p:cNvGrpSpPr>
              <a:grpSpLocks/>
            </p:cNvGrpSpPr>
            <p:nvPr/>
          </p:nvGrpSpPr>
          <p:grpSpPr bwMode="auto">
            <a:xfrm>
              <a:off x="3936" y="828"/>
              <a:ext cx="768" cy="96"/>
              <a:chOff x="720" y="720"/>
              <a:chExt cx="768" cy="96"/>
            </a:xfrm>
          </p:grpSpPr>
          <p:sp>
            <p:nvSpPr>
              <p:cNvPr id="151567" name="Line 15"/>
              <p:cNvSpPr>
                <a:spLocks noChangeShapeType="1"/>
              </p:cNvSpPr>
              <p:nvPr/>
            </p:nvSpPr>
            <p:spPr bwMode="auto">
              <a:xfrm flipH="1">
                <a:off x="72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68" name="Line 16"/>
              <p:cNvSpPr>
                <a:spLocks noChangeShapeType="1"/>
              </p:cNvSpPr>
              <p:nvPr/>
            </p:nvSpPr>
            <p:spPr bwMode="auto">
              <a:xfrm flipH="1">
                <a:off x="105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69" name="Line 17"/>
              <p:cNvSpPr>
                <a:spLocks noChangeShapeType="1"/>
              </p:cNvSpPr>
              <p:nvPr/>
            </p:nvSpPr>
            <p:spPr bwMode="auto">
              <a:xfrm flipH="1">
                <a:off x="98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0" name="Line 18"/>
              <p:cNvSpPr>
                <a:spLocks noChangeShapeType="1"/>
              </p:cNvSpPr>
              <p:nvPr/>
            </p:nvSpPr>
            <p:spPr bwMode="auto">
              <a:xfrm flipH="1">
                <a:off x="90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1" name="Line 19"/>
              <p:cNvSpPr>
                <a:spLocks noChangeShapeType="1"/>
              </p:cNvSpPr>
              <p:nvPr/>
            </p:nvSpPr>
            <p:spPr bwMode="auto">
              <a:xfrm flipH="1">
                <a:off x="83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2" name="Line 20"/>
              <p:cNvSpPr>
                <a:spLocks noChangeShapeType="1"/>
              </p:cNvSpPr>
              <p:nvPr/>
            </p:nvSpPr>
            <p:spPr bwMode="auto">
              <a:xfrm flipH="1">
                <a:off x="75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3" name="Line 21"/>
              <p:cNvSpPr>
                <a:spLocks noChangeShapeType="1"/>
              </p:cNvSpPr>
              <p:nvPr/>
            </p:nvSpPr>
            <p:spPr bwMode="auto">
              <a:xfrm flipH="1">
                <a:off x="1080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4" name="Line 22"/>
              <p:cNvSpPr>
                <a:spLocks noChangeShapeType="1"/>
              </p:cNvSpPr>
              <p:nvPr/>
            </p:nvSpPr>
            <p:spPr bwMode="auto">
              <a:xfrm flipH="1">
                <a:off x="1413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5" name="Line 23"/>
              <p:cNvSpPr>
                <a:spLocks noChangeShapeType="1"/>
              </p:cNvSpPr>
              <p:nvPr/>
            </p:nvSpPr>
            <p:spPr bwMode="auto">
              <a:xfrm flipH="1">
                <a:off x="1340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6" name="Line 24"/>
              <p:cNvSpPr>
                <a:spLocks noChangeShapeType="1"/>
              </p:cNvSpPr>
              <p:nvPr/>
            </p:nvSpPr>
            <p:spPr bwMode="auto">
              <a:xfrm flipH="1">
                <a:off x="1266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7" name="Line 25"/>
              <p:cNvSpPr>
                <a:spLocks noChangeShapeType="1"/>
              </p:cNvSpPr>
              <p:nvPr/>
            </p:nvSpPr>
            <p:spPr bwMode="auto">
              <a:xfrm flipH="1">
                <a:off x="1191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8" name="Line 26"/>
              <p:cNvSpPr>
                <a:spLocks noChangeShapeType="1"/>
              </p:cNvSpPr>
              <p:nvPr/>
            </p:nvSpPr>
            <p:spPr bwMode="auto">
              <a:xfrm flipH="1">
                <a:off x="1117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1579" name="Group 27"/>
            <p:cNvGrpSpPr>
              <a:grpSpLocks/>
            </p:cNvGrpSpPr>
            <p:nvPr/>
          </p:nvGrpSpPr>
          <p:grpSpPr bwMode="auto">
            <a:xfrm>
              <a:off x="4820" y="828"/>
              <a:ext cx="768" cy="96"/>
              <a:chOff x="1584" y="720"/>
              <a:chExt cx="768" cy="96"/>
            </a:xfrm>
          </p:grpSpPr>
          <p:sp>
            <p:nvSpPr>
              <p:cNvPr id="151580" name="Line 28"/>
              <p:cNvSpPr>
                <a:spLocks noChangeShapeType="1"/>
              </p:cNvSpPr>
              <p:nvPr/>
            </p:nvSpPr>
            <p:spPr bwMode="auto">
              <a:xfrm flipH="1">
                <a:off x="1584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1" name="Line 29"/>
              <p:cNvSpPr>
                <a:spLocks noChangeShapeType="1"/>
              </p:cNvSpPr>
              <p:nvPr/>
            </p:nvSpPr>
            <p:spPr bwMode="auto">
              <a:xfrm flipH="1">
                <a:off x="1917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2" name="Line 30"/>
              <p:cNvSpPr>
                <a:spLocks noChangeShapeType="1"/>
              </p:cNvSpPr>
              <p:nvPr/>
            </p:nvSpPr>
            <p:spPr bwMode="auto">
              <a:xfrm flipH="1">
                <a:off x="1844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3" name="Line 31"/>
              <p:cNvSpPr>
                <a:spLocks noChangeShapeType="1"/>
              </p:cNvSpPr>
              <p:nvPr/>
            </p:nvSpPr>
            <p:spPr bwMode="auto">
              <a:xfrm flipH="1">
                <a:off x="1770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4" name="Line 32"/>
              <p:cNvSpPr>
                <a:spLocks noChangeShapeType="1"/>
              </p:cNvSpPr>
              <p:nvPr/>
            </p:nvSpPr>
            <p:spPr bwMode="auto">
              <a:xfrm flipH="1">
                <a:off x="1695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5" name="Line 33"/>
              <p:cNvSpPr>
                <a:spLocks noChangeShapeType="1"/>
              </p:cNvSpPr>
              <p:nvPr/>
            </p:nvSpPr>
            <p:spPr bwMode="auto">
              <a:xfrm flipH="1">
                <a:off x="1621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6" name="Line 34"/>
              <p:cNvSpPr>
                <a:spLocks noChangeShapeType="1"/>
              </p:cNvSpPr>
              <p:nvPr/>
            </p:nvSpPr>
            <p:spPr bwMode="auto">
              <a:xfrm flipH="1">
                <a:off x="1944" y="816"/>
                <a:ext cx="371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7" name="Line 35"/>
              <p:cNvSpPr>
                <a:spLocks noChangeShapeType="1"/>
              </p:cNvSpPr>
              <p:nvPr/>
            </p:nvSpPr>
            <p:spPr bwMode="auto">
              <a:xfrm flipH="1">
                <a:off x="2277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8" name="Line 36"/>
              <p:cNvSpPr>
                <a:spLocks noChangeShapeType="1"/>
              </p:cNvSpPr>
              <p:nvPr/>
            </p:nvSpPr>
            <p:spPr bwMode="auto">
              <a:xfrm flipH="1">
                <a:off x="2204" y="720"/>
                <a:ext cx="73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9" name="Line 37"/>
              <p:cNvSpPr>
                <a:spLocks noChangeShapeType="1"/>
              </p:cNvSpPr>
              <p:nvPr/>
            </p:nvSpPr>
            <p:spPr bwMode="auto">
              <a:xfrm flipH="1">
                <a:off x="2130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90" name="Line 38"/>
              <p:cNvSpPr>
                <a:spLocks noChangeShapeType="1"/>
              </p:cNvSpPr>
              <p:nvPr/>
            </p:nvSpPr>
            <p:spPr bwMode="auto">
              <a:xfrm flipH="1">
                <a:off x="2055" y="720"/>
                <a:ext cx="75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91" name="Line 39"/>
              <p:cNvSpPr>
                <a:spLocks noChangeShapeType="1"/>
              </p:cNvSpPr>
              <p:nvPr/>
            </p:nvSpPr>
            <p:spPr bwMode="auto">
              <a:xfrm flipH="1">
                <a:off x="1981" y="720"/>
                <a:ext cx="74" cy="9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51592" name="Text Box 40"/>
          <p:cNvSpPr txBox="1">
            <a:spLocks noChangeArrowheads="1"/>
          </p:cNvSpPr>
          <p:nvPr/>
        </p:nvSpPr>
        <p:spPr bwMode="auto">
          <a:xfrm>
            <a:off x="481578" y="2732115"/>
            <a:ext cx="432959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应力</a:t>
            </a: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Stress</a:t>
            </a:r>
            <a:r>
              <a:rPr kumimoji="1"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：内力分布的集度</a:t>
            </a:r>
          </a:p>
        </p:txBody>
      </p:sp>
      <p:grpSp>
        <p:nvGrpSpPr>
          <p:cNvPr id="151597" name="Group 45"/>
          <p:cNvGrpSpPr>
            <a:grpSpLocks/>
          </p:cNvGrpSpPr>
          <p:nvPr/>
        </p:nvGrpSpPr>
        <p:grpSpPr bwMode="auto">
          <a:xfrm>
            <a:off x="5752876" y="3899553"/>
            <a:ext cx="1752600" cy="1566862"/>
            <a:chOff x="2208" y="1160"/>
            <a:chExt cx="1114" cy="996"/>
          </a:xfrm>
        </p:grpSpPr>
        <p:sp>
          <p:nvSpPr>
            <p:cNvPr id="151598" name="Arc 46"/>
            <p:cNvSpPr>
              <a:spLocks/>
            </p:cNvSpPr>
            <p:nvPr/>
          </p:nvSpPr>
          <p:spPr bwMode="auto">
            <a:xfrm>
              <a:off x="2383" y="1247"/>
              <a:ext cx="655" cy="34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28 h 21600"/>
                <a:gd name="T2" fmla="*/ 21564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28"/>
                  </a:moveTo>
                  <a:cubicBezTo>
                    <a:pt x="39" y="9640"/>
                    <a:pt x="9676" y="19"/>
                    <a:pt x="21564" y="0"/>
                  </a:cubicBezTo>
                </a:path>
                <a:path w="21600" h="21600" stroke="0" extrusionOk="0">
                  <a:moveTo>
                    <a:pt x="0" y="21528"/>
                  </a:moveTo>
                  <a:cubicBezTo>
                    <a:pt x="39" y="9640"/>
                    <a:pt x="9676" y="19"/>
                    <a:pt x="21564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99" name="Arc 47"/>
            <p:cNvSpPr>
              <a:spLocks/>
            </p:cNvSpPr>
            <p:nvPr/>
          </p:nvSpPr>
          <p:spPr bwMode="auto">
            <a:xfrm>
              <a:off x="2383" y="1592"/>
              <a:ext cx="644" cy="262"/>
            </a:xfrm>
            <a:custGeom>
              <a:avLst/>
              <a:gdLst>
                <a:gd name="G0" fmla="+- 21600 0 0"/>
                <a:gd name="G1" fmla="+- 96 0 0"/>
                <a:gd name="G2" fmla="+- 21600 0 0"/>
                <a:gd name="T0" fmla="*/ 22780 w 22780"/>
                <a:gd name="T1" fmla="*/ 21664 h 21696"/>
                <a:gd name="T2" fmla="*/ 0 w 22780"/>
                <a:gd name="T3" fmla="*/ 0 h 21696"/>
                <a:gd name="T4" fmla="*/ 21600 w 22780"/>
                <a:gd name="T5" fmla="*/ 96 h 2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80" h="21696" fill="none" extrusionOk="0">
                  <a:moveTo>
                    <a:pt x="22779" y="21663"/>
                  </a:moveTo>
                  <a:cubicBezTo>
                    <a:pt x="22387" y="21685"/>
                    <a:pt x="21993" y="21695"/>
                    <a:pt x="21600" y="21696"/>
                  </a:cubicBezTo>
                  <a:cubicBezTo>
                    <a:pt x="9670" y="21696"/>
                    <a:pt x="0" y="12025"/>
                    <a:pt x="0" y="96"/>
                  </a:cubicBezTo>
                  <a:cubicBezTo>
                    <a:pt x="-1" y="64"/>
                    <a:pt x="0" y="32"/>
                    <a:pt x="0" y="0"/>
                  </a:cubicBezTo>
                </a:path>
                <a:path w="22780" h="21696" stroke="0" extrusionOk="0">
                  <a:moveTo>
                    <a:pt x="22779" y="21663"/>
                  </a:moveTo>
                  <a:cubicBezTo>
                    <a:pt x="22387" y="21685"/>
                    <a:pt x="21993" y="21695"/>
                    <a:pt x="21600" y="21696"/>
                  </a:cubicBezTo>
                  <a:cubicBezTo>
                    <a:pt x="9670" y="21696"/>
                    <a:pt x="0" y="12025"/>
                    <a:pt x="0" y="96"/>
                  </a:cubicBezTo>
                  <a:cubicBezTo>
                    <a:pt x="-1" y="64"/>
                    <a:pt x="0" y="32"/>
                    <a:pt x="0" y="0"/>
                  </a:cubicBezTo>
                  <a:lnTo>
                    <a:pt x="21600" y="96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0" name="Oval 48"/>
            <p:cNvSpPr>
              <a:spLocks noChangeArrowheads="1"/>
            </p:cNvSpPr>
            <p:nvPr/>
          </p:nvSpPr>
          <p:spPr bwMode="auto">
            <a:xfrm>
              <a:off x="2955" y="1251"/>
              <a:ext cx="209" cy="59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1" name="Line 49"/>
            <p:cNvSpPr>
              <a:spLocks noChangeShapeType="1"/>
            </p:cNvSpPr>
            <p:nvPr/>
          </p:nvSpPr>
          <p:spPr bwMode="auto">
            <a:xfrm flipH="1" flipV="1">
              <a:off x="2208" y="1160"/>
              <a:ext cx="261" cy="259"/>
            </a:xfrm>
            <a:prstGeom prst="line">
              <a:avLst/>
            </a:prstGeom>
            <a:noFill/>
            <a:ln w="25400">
              <a:solidFill>
                <a:srgbClr val="080808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2" name="Line 50"/>
            <p:cNvSpPr>
              <a:spLocks noChangeShapeType="1"/>
            </p:cNvSpPr>
            <p:nvPr/>
          </p:nvSpPr>
          <p:spPr bwMode="auto">
            <a:xfrm flipH="1">
              <a:off x="2252" y="1592"/>
              <a:ext cx="393" cy="1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3" name="Line 51"/>
            <p:cNvSpPr>
              <a:spLocks noChangeShapeType="1"/>
            </p:cNvSpPr>
            <p:nvPr/>
          </p:nvSpPr>
          <p:spPr bwMode="auto">
            <a:xfrm flipH="1">
              <a:off x="2513" y="1853"/>
              <a:ext cx="174" cy="30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4" name="Rectangle 52"/>
            <p:cNvSpPr>
              <a:spLocks noChangeArrowheads="1"/>
            </p:cNvSpPr>
            <p:nvPr/>
          </p:nvSpPr>
          <p:spPr bwMode="auto">
            <a:xfrm>
              <a:off x="3205" y="1591"/>
              <a:ext cx="1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endParaRPr kumimoji="1" lang="zh-CN" altLang="en-US" sz="24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51616" name="Group 64"/>
          <p:cNvGrpSpPr>
            <a:grpSpLocks/>
          </p:cNvGrpSpPr>
          <p:nvPr/>
        </p:nvGrpSpPr>
        <p:grpSpPr bwMode="auto">
          <a:xfrm>
            <a:off x="6768877" y="4420253"/>
            <a:ext cx="654050" cy="498475"/>
            <a:chOff x="3424" y="2737"/>
            <a:chExt cx="412" cy="314"/>
          </a:xfrm>
        </p:grpSpPr>
        <p:sp>
          <p:nvSpPr>
            <p:cNvPr id="151617" name="AutoShape 65"/>
            <p:cNvSpPr>
              <a:spLocks noChangeArrowheads="1"/>
            </p:cNvSpPr>
            <p:nvPr/>
          </p:nvSpPr>
          <p:spPr bwMode="auto">
            <a:xfrm rot="16200000" flipH="1">
              <a:off x="3572" y="2765"/>
              <a:ext cx="109" cy="53"/>
            </a:xfrm>
            <a:prstGeom prst="parallelogram">
              <a:avLst>
                <a:gd name="adj" fmla="val 51415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18" name="Text Box 66"/>
            <p:cNvSpPr txBox="1">
              <a:spLocks noChangeArrowheads="1"/>
            </p:cNvSpPr>
            <p:nvPr/>
          </p:nvSpPr>
          <p:spPr bwMode="auto">
            <a:xfrm>
              <a:off x="3424" y="2799"/>
              <a:ext cx="41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0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51620" name="Rectangle 68"/>
          <p:cNvSpPr>
            <a:spLocks noChangeArrowheads="1"/>
          </p:cNvSpPr>
          <p:nvPr/>
        </p:nvSpPr>
        <p:spPr bwMode="auto">
          <a:xfrm>
            <a:off x="539750" y="3203575"/>
            <a:ext cx="2232025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全应力</a:t>
            </a:r>
          </a:p>
          <a:p>
            <a:pPr eaLnBrk="0" hangingPunct="0"/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(Whole Stress)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1621" name="Object 6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559920"/>
              </p:ext>
            </p:extLst>
          </p:nvPr>
        </p:nvGraphicFramePr>
        <p:xfrm>
          <a:off x="2762809" y="3353889"/>
          <a:ext cx="17700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761760" imgH="203040" progId="Equation.DSMT4">
                  <p:embed/>
                </p:oleObj>
              </mc:Choice>
              <mc:Fallback>
                <p:oleObj name="Equation" r:id="rId4" imgW="761760" imgH="203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809" y="3353889"/>
                        <a:ext cx="17700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23" name="Rectangle 71"/>
          <p:cNvSpPr>
            <a:spLocks noChangeArrowheads="1"/>
          </p:cNvSpPr>
          <p:nvPr/>
        </p:nvSpPr>
        <p:spPr bwMode="auto">
          <a:xfrm>
            <a:off x="539750" y="4140200"/>
            <a:ext cx="2447925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正应力</a:t>
            </a:r>
          </a:p>
          <a:p>
            <a:pPr eaLnBrk="0" hangingPunct="0"/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(Normal Stress)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1624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399221"/>
              </p:ext>
            </p:extLst>
          </p:nvPr>
        </p:nvGraphicFramePr>
        <p:xfrm>
          <a:off x="2606836" y="4208321"/>
          <a:ext cx="2831554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1409400" imgH="228600" progId="Equation.DSMT4">
                  <p:embed/>
                </p:oleObj>
              </mc:Choice>
              <mc:Fallback>
                <p:oleObj name="Equation" r:id="rId6" imgW="140940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836" y="4208321"/>
                        <a:ext cx="2831554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26" name="Rectangle 74"/>
          <p:cNvSpPr>
            <a:spLocks noChangeArrowheads="1"/>
          </p:cNvSpPr>
          <p:nvPr/>
        </p:nvSpPr>
        <p:spPr bwMode="auto">
          <a:xfrm>
            <a:off x="539750" y="5060950"/>
            <a:ext cx="2376488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切应力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剪应力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/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(Shear Stress)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1627" name="Object 7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495395"/>
              </p:ext>
            </p:extLst>
          </p:nvPr>
        </p:nvGraphicFramePr>
        <p:xfrm>
          <a:off x="2883923" y="5180193"/>
          <a:ext cx="2676791" cy="50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8" imgW="1320480" imgH="228600" progId="Equation.DSMT4">
                  <p:embed/>
                </p:oleObj>
              </mc:Choice>
              <mc:Fallback>
                <p:oleObj name="Equation" r:id="rId8" imgW="132048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923" y="5180193"/>
                        <a:ext cx="2676791" cy="505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28" name="Text Box 76"/>
          <p:cNvSpPr txBox="1">
            <a:spLocks noChangeArrowheads="1"/>
          </p:cNvSpPr>
          <p:nvPr/>
        </p:nvSpPr>
        <p:spPr bwMode="auto">
          <a:xfrm>
            <a:off x="1027572" y="5939952"/>
            <a:ext cx="7037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应力的单位：</a:t>
            </a:r>
            <a:r>
              <a:rPr kumimoji="1" lang="en-US" altLang="zh-CN" sz="2400" dirty="0"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MPa = 10</a:t>
            </a:r>
            <a:r>
              <a:rPr kumimoji="1" lang="en-US" altLang="zh-CN" sz="2400" baseline="300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Pa= 10</a:t>
            </a:r>
            <a:r>
              <a:rPr kumimoji="1" lang="en-US" altLang="zh-CN" sz="2400" baseline="30000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N/m</a:t>
            </a:r>
            <a:r>
              <a:rPr lang="en-US" altLang="zh-CN" baseline="30000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 =1N/mm</a:t>
            </a:r>
            <a:r>
              <a:rPr lang="en-US" altLang="zh-CN" baseline="30000" dirty="0">
                <a:solidFill>
                  <a:srgbClr val="080808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kumimoji="1" lang="en-US" altLang="zh-CN" sz="2400" baseline="30000" dirty="0">
              <a:solidFill>
                <a:srgbClr val="080808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631" name="Rectangle 79"/>
          <p:cNvSpPr>
            <a:spLocks noChangeArrowheads="1"/>
          </p:cNvSpPr>
          <p:nvPr/>
        </p:nvSpPr>
        <p:spPr bwMode="auto">
          <a:xfrm>
            <a:off x="534557" y="465507"/>
            <a:ext cx="3389371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  <p:grpSp>
        <p:nvGrpSpPr>
          <p:cNvPr id="151639" name="Group 87"/>
          <p:cNvGrpSpPr>
            <a:grpSpLocks/>
          </p:cNvGrpSpPr>
          <p:nvPr/>
        </p:nvGrpSpPr>
        <p:grpSpPr bwMode="auto">
          <a:xfrm>
            <a:off x="7102251" y="3559828"/>
            <a:ext cx="1420813" cy="946150"/>
            <a:chOff x="4402" y="2503"/>
            <a:chExt cx="895" cy="596"/>
          </a:xfrm>
        </p:grpSpPr>
        <p:sp>
          <p:nvSpPr>
            <p:cNvPr id="151596" name="Line 44"/>
            <p:cNvSpPr>
              <a:spLocks noChangeShapeType="1"/>
            </p:cNvSpPr>
            <p:nvPr/>
          </p:nvSpPr>
          <p:spPr bwMode="auto">
            <a:xfrm flipV="1">
              <a:off x="4402" y="2711"/>
              <a:ext cx="599" cy="3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7" name="Text Box 85"/>
            <p:cNvSpPr txBox="1">
              <a:spLocks noChangeArrowheads="1"/>
            </p:cNvSpPr>
            <p:nvPr/>
          </p:nvSpPr>
          <p:spPr bwMode="ltGray">
            <a:xfrm>
              <a:off x="4946" y="2503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</a:t>
              </a:r>
              <a:endPara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1638" name="Text Box 86"/>
            <p:cNvSpPr txBox="1">
              <a:spLocks noChangeArrowheads="1"/>
            </p:cNvSpPr>
            <p:nvPr/>
          </p:nvSpPr>
          <p:spPr bwMode="ltGray">
            <a:xfrm>
              <a:off x="4584" y="263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p</a:t>
              </a:r>
            </a:p>
          </p:txBody>
        </p:sp>
      </p:grpSp>
      <p:grpSp>
        <p:nvGrpSpPr>
          <p:cNvPr id="151647" name="Group 95"/>
          <p:cNvGrpSpPr>
            <a:grpSpLocks/>
          </p:cNvGrpSpPr>
          <p:nvPr/>
        </p:nvGrpSpPr>
        <p:grpSpPr bwMode="auto">
          <a:xfrm>
            <a:off x="6826026" y="3455053"/>
            <a:ext cx="1206500" cy="1058862"/>
            <a:chOff x="4228" y="2437"/>
            <a:chExt cx="760" cy="667"/>
          </a:xfrm>
        </p:grpSpPr>
        <p:sp>
          <p:nvSpPr>
            <p:cNvPr id="151612" name="Line 60"/>
            <p:cNvSpPr>
              <a:spLocks noChangeShapeType="1"/>
            </p:cNvSpPr>
            <p:nvPr/>
          </p:nvSpPr>
          <p:spPr bwMode="auto">
            <a:xfrm flipV="1">
              <a:off x="4403" y="2717"/>
              <a:ext cx="0" cy="3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13" name="Line 61"/>
            <p:cNvSpPr>
              <a:spLocks noChangeShapeType="1"/>
            </p:cNvSpPr>
            <p:nvPr/>
          </p:nvSpPr>
          <p:spPr bwMode="auto">
            <a:xfrm>
              <a:off x="4403" y="2717"/>
              <a:ext cx="5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5" name="Text Box 83"/>
            <p:cNvSpPr txBox="1">
              <a:spLocks noChangeArrowheads="1"/>
            </p:cNvSpPr>
            <p:nvPr/>
          </p:nvSpPr>
          <p:spPr bwMode="ltGray">
            <a:xfrm>
              <a:off x="4228" y="2789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151642" name="Text Box 90"/>
            <p:cNvSpPr txBox="1">
              <a:spLocks noChangeArrowheads="1"/>
            </p:cNvSpPr>
            <p:nvPr/>
          </p:nvSpPr>
          <p:spPr bwMode="ltGray">
            <a:xfrm>
              <a:off x="4265" y="2437"/>
              <a:ext cx="4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</a:t>
              </a:r>
              <a:r>
                <a:rPr lang="en-US" altLang="zh-CN" sz="2400" b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s</a:t>
              </a:r>
              <a:endPara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51645" name="Group 93"/>
          <p:cNvGrpSpPr>
            <a:grpSpLocks/>
          </p:cNvGrpSpPr>
          <p:nvPr/>
        </p:nvGrpSpPr>
        <p:grpSpPr bwMode="auto">
          <a:xfrm>
            <a:off x="7126064" y="3878915"/>
            <a:ext cx="1550987" cy="968375"/>
            <a:chOff x="4964" y="2931"/>
            <a:chExt cx="977" cy="610"/>
          </a:xfrm>
        </p:grpSpPr>
        <p:sp>
          <p:nvSpPr>
            <p:cNvPr id="151607" name="Line 55"/>
            <p:cNvSpPr>
              <a:spLocks noChangeShapeType="1"/>
            </p:cNvSpPr>
            <p:nvPr/>
          </p:nvSpPr>
          <p:spPr bwMode="auto">
            <a:xfrm>
              <a:off x="4964" y="3319"/>
              <a:ext cx="5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8" name="Line 56"/>
            <p:cNvSpPr>
              <a:spLocks noChangeShapeType="1"/>
            </p:cNvSpPr>
            <p:nvPr/>
          </p:nvSpPr>
          <p:spPr bwMode="auto">
            <a:xfrm flipV="1">
              <a:off x="5548" y="2931"/>
              <a:ext cx="0" cy="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6" name="Text Box 84"/>
            <p:cNvSpPr txBox="1">
              <a:spLocks noChangeArrowheads="1"/>
            </p:cNvSpPr>
            <p:nvPr/>
          </p:nvSpPr>
          <p:spPr bwMode="ltGray">
            <a:xfrm>
              <a:off x="5067" y="3253"/>
              <a:ext cx="2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</a:t>
              </a:r>
            </a:p>
          </p:txBody>
        </p:sp>
        <p:sp>
          <p:nvSpPr>
            <p:cNvPr id="151644" name="Text Box 92"/>
            <p:cNvSpPr txBox="1">
              <a:spLocks noChangeArrowheads="1"/>
            </p:cNvSpPr>
            <p:nvPr/>
          </p:nvSpPr>
          <p:spPr bwMode="ltGray">
            <a:xfrm>
              <a:off x="5498" y="3169"/>
              <a:ext cx="4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</a:t>
              </a:r>
              <a:r>
                <a:rPr lang="en-US" altLang="zh-CN" sz="2400" b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N</a:t>
              </a:r>
              <a:endPara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348502" y="4171693"/>
            <a:ext cx="401180" cy="307963"/>
            <a:chOff x="7348502" y="4171693"/>
            <a:chExt cx="401180" cy="307963"/>
          </a:xfrm>
        </p:grpSpPr>
        <p:sp>
          <p:nvSpPr>
            <p:cNvPr id="74" name="Arc 213"/>
            <p:cNvSpPr>
              <a:spLocks/>
            </p:cNvSpPr>
            <p:nvPr/>
          </p:nvSpPr>
          <p:spPr bwMode="auto">
            <a:xfrm rot="17280000">
              <a:off x="7365444" y="4293981"/>
              <a:ext cx="168733" cy="202618"/>
            </a:xfrm>
            <a:custGeom>
              <a:avLst/>
              <a:gdLst>
                <a:gd name="T0" fmla="*/ 0 w 22989"/>
                <a:gd name="T1" fmla="*/ 0 h 21600"/>
                <a:gd name="T2" fmla="*/ 0 w 22989"/>
                <a:gd name="T3" fmla="*/ 0 h 21600"/>
                <a:gd name="T4" fmla="*/ 0 w 229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989"/>
                <a:gd name="T10" fmla="*/ 0 h 21600"/>
                <a:gd name="T11" fmla="*/ 22989 w 229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89" h="21600" fill="none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</a:path>
                <a:path w="22989" h="21600" stroke="0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  <a:lnTo>
                    <a:pt x="1629" y="0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75" name="Text Box 214"/>
            <p:cNvSpPr txBox="1">
              <a:spLocks noChangeArrowheads="1"/>
            </p:cNvSpPr>
            <p:nvPr/>
          </p:nvSpPr>
          <p:spPr bwMode="auto">
            <a:xfrm>
              <a:off x="7551427" y="4171693"/>
              <a:ext cx="19825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3600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2"/>
          <p:cNvSpPr txBox="1">
            <a:spLocks noChangeArrowheads="1"/>
          </p:cNvSpPr>
          <p:nvPr/>
        </p:nvSpPr>
        <p:spPr bwMode="auto">
          <a:xfrm>
            <a:off x="507421" y="2208275"/>
            <a:ext cx="1506592" cy="448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10"/>
              </a:buBlip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</a:t>
            </a:r>
            <a:endParaRPr kumimoji="1" lang="zh-CN" altLang="en-US" sz="2400" b="1" dirty="0">
              <a:solidFill>
                <a:srgbClr val="08080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750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5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5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92" grpId="0" autoUpdateAnimBg="0"/>
      <p:bldP spid="151620" grpId="0"/>
      <p:bldP spid="151623" grpId="0"/>
      <p:bldP spid="151626" grpId="0"/>
      <p:bldP spid="15162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673713" y="1848177"/>
            <a:ext cx="79865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●  </a:t>
            </a:r>
            <a:r>
              <a:rPr kumimoji="1" lang="zh-CN" altLang="en-US" sz="2400" b="1" dirty="0">
                <a:latin typeface="+mn-lt"/>
                <a:ea typeface="楷体" panose="02010609060101010101" pitchFamily="49" charset="-122"/>
                <a:cs typeface="Times New Roman" pitchFamily="18" charset="0"/>
              </a:rPr>
              <a:t>材料力学中的“点”是物理点，不是几何点，有大小和形状，通常用围绕某点截取一个无限小的正六面体，称为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itchFamily="18" charset="0"/>
              </a:rPr>
              <a:t>单元体 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itchFamily="18" charset="0"/>
              </a:rPr>
              <a:t>Element Volume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itchFamily="18" charset="0"/>
              </a:rPr>
              <a:t>)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kumimoji="1" lang="zh-CN" altLang="en-US" sz="2400" b="1" dirty="0">
                <a:latin typeface="+mn-lt"/>
                <a:ea typeface="楷体" panose="02010609060101010101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6300192" y="2953402"/>
            <a:ext cx="979488" cy="990600"/>
          </a:xfrm>
          <a:prstGeom prst="cube">
            <a:avLst>
              <a:gd name="adj" fmla="val 25000"/>
            </a:avLst>
          </a:prstGeom>
          <a:solidFill>
            <a:schemeClr val="accent1">
              <a:lumMod val="75000"/>
            </a:schemeClr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755576" y="5011570"/>
            <a:ext cx="7527483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● 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构件中某点的应力既是点的位置的函数，也是过该点的截面方位的函数。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601663" y="1204268"/>
            <a:ext cx="3682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应力概念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的进一步理解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673713" y="3097067"/>
            <a:ext cx="440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● 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单元体很小，可以认为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:</a:t>
            </a:r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1016971" y="3651962"/>
            <a:ext cx="4887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各个面上的应力均匀分布；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1016971" y="4149683"/>
            <a:ext cx="7631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相互平行的平面上，应力大小和性质完全相同。</a:t>
            </a:r>
          </a:p>
        </p:txBody>
      </p:sp>
      <p:sp>
        <p:nvSpPr>
          <p:cNvPr id="11" name="Rectangle 79"/>
          <p:cNvSpPr>
            <a:spLocks noChangeArrowheads="1"/>
          </p:cNvSpPr>
          <p:nvPr/>
        </p:nvSpPr>
        <p:spPr bwMode="auto">
          <a:xfrm>
            <a:off x="637400" y="542925"/>
            <a:ext cx="3389371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</p:spTree>
    <p:extLst>
      <p:ext uri="{BB962C8B-B14F-4D97-AF65-F5344CB8AC3E}">
        <p14:creationId xmlns:p14="http://schemas.microsoft.com/office/powerpoint/2010/main" val="1944880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 autoUpdateAnimBg="0"/>
      <p:bldP spid="4102" grpId="0" animBg="1"/>
      <p:bldP spid="4103" grpId="0" build="p" autoUpdateAnimBg="0"/>
      <p:bldP spid="4105" grpId="0" autoUpdateAnimBg="0"/>
      <p:bldP spid="4106" grpId="0" autoUpdateAnimBg="0"/>
      <p:bldP spid="4107" grpId="0" autoUpdateAnimBg="0"/>
      <p:bldP spid="410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397062" y="1921434"/>
            <a:ext cx="3455987" cy="3432175"/>
            <a:chOff x="4032" y="2336"/>
            <a:chExt cx="1728" cy="1639"/>
          </a:xfrm>
        </p:grpSpPr>
        <p:grpSp>
          <p:nvGrpSpPr>
            <p:cNvPr id="3093" name="Group 39"/>
            <p:cNvGrpSpPr>
              <a:grpSpLocks/>
            </p:cNvGrpSpPr>
            <p:nvPr/>
          </p:nvGrpSpPr>
          <p:grpSpPr bwMode="auto">
            <a:xfrm>
              <a:off x="4032" y="2336"/>
              <a:ext cx="1728" cy="1639"/>
              <a:chOff x="675" y="2330"/>
              <a:chExt cx="1728" cy="1639"/>
            </a:xfrm>
          </p:grpSpPr>
          <p:pic>
            <p:nvPicPr>
              <p:cNvPr id="3102" name="Picture 40"/>
              <p:cNvPicPr>
                <a:picLocks noChangeArrowheads="1"/>
              </p:cNvPicPr>
              <p:nvPr/>
            </p:nvPicPr>
            <p:blipFill>
              <a:blip r:embed="rId3">
                <a:lum bright="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" y="2418"/>
                <a:ext cx="1728" cy="1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103" name="Group 41"/>
              <p:cNvGrpSpPr>
                <a:grpSpLocks/>
              </p:cNvGrpSpPr>
              <p:nvPr/>
            </p:nvGrpSpPr>
            <p:grpSpPr bwMode="auto">
              <a:xfrm>
                <a:off x="738" y="2330"/>
                <a:ext cx="1485" cy="1639"/>
                <a:chOff x="738" y="2330"/>
                <a:chExt cx="1485" cy="1639"/>
              </a:xfrm>
            </p:grpSpPr>
            <p:sp>
              <p:nvSpPr>
                <p:cNvPr id="3104" name="Freeform 42"/>
                <p:cNvSpPr>
                  <a:spLocks/>
                </p:cNvSpPr>
                <p:nvPr/>
              </p:nvSpPr>
              <p:spPr bwMode="auto">
                <a:xfrm>
                  <a:off x="1575" y="2736"/>
                  <a:ext cx="648" cy="1233"/>
                </a:xfrm>
                <a:custGeom>
                  <a:avLst/>
                  <a:gdLst>
                    <a:gd name="T0" fmla="*/ 546 w 648"/>
                    <a:gd name="T1" fmla="*/ 0 h 1233"/>
                    <a:gd name="T2" fmla="*/ 0 w 648"/>
                    <a:gd name="T3" fmla="*/ 396 h 1233"/>
                    <a:gd name="T4" fmla="*/ 351 w 648"/>
                    <a:gd name="T5" fmla="*/ 1062 h 1233"/>
                    <a:gd name="T6" fmla="*/ 432 w 648"/>
                    <a:gd name="T7" fmla="*/ 1233 h 1233"/>
                    <a:gd name="T8" fmla="*/ 504 w 648"/>
                    <a:gd name="T9" fmla="*/ 1179 h 1233"/>
                    <a:gd name="T10" fmla="*/ 648 w 648"/>
                    <a:gd name="T11" fmla="*/ 1179 h 1233"/>
                    <a:gd name="T12" fmla="*/ 546 w 648"/>
                    <a:gd name="T13" fmla="*/ 0 h 12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648"/>
                    <a:gd name="T22" fmla="*/ 0 h 1233"/>
                    <a:gd name="T23" fmla="*/ 648 w 648"/>
                    <a:gd name="T24" fmla="*/ 1233 h 12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648" h="1233">
                      <a:moveTo>
                        <a:pt x="546" y="0"/>
                      </a:moveTo>
                      <a:lnTo>
                        <a:pt x="0" y="396"/>
                      </a:lnTo>
                      <a:cubicBezTo>
                        <a:pt x="117" y="618"/>
                        <a:pt x="235" y="839"/>
                        <a:pt x="351" y="1062"/>
                      </a:cubicBezTo>
                      <a:cubicBezTo>
                        <a:pt x="379" y="1116"/>
                        <a:pt x="382" y="1199"/>
                        <a:pt x="432" y="1233"/>
                      </a:cubicBezTo>
                      <a:cubicBezTo>
                        <a:pt x="497" y="1217"/>
                        <a:pt x="451" y="1214"/>
                        <a:pt x="504" y="1179"/>
                      </a:cubicBezTo>
                      <a:cubicBezTo>
                        <a:pt x="544" y="1185"/>
                        <a:pt x="614" y="1213"/>
                        <a:pt x="648" y="1179"/>
                      </a:cubicBezTo>
                      <a:lnTo>
                        <a:pt x="54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05" name="Freeform 43"/>
                <p:cNvSpPr>
                  <a:spLocks/>
                </p:cNvSpPr>
                <p:nvPr/>
              </p:nvSpPr>
              <p:spPr bwMode="auto">
                <a:xfrm>
                  <a:off x="1551" y="2973"/>
                  <a:ext cx="191" cy="414"/>
                </a:xfrm>
                <a:custGeom>
                  <a:avLst/>
                  <a:gdLst>
                    <a:gd name="T0" fmla="*/ 20 w 191"/>
                    <a:gd name="T1" fmla="*/ 60 h 414"/>
                    <a:gd name="T2" fmla="*/ 164 w 191"/>
                    <a:gd name="T3" fmla="*/ 12 h 414"/>
                    <a:gd name="T4" fmla="*/ 185 w 191"/>
                    <a:gd name="T5" fmla="*/ 132 h 414"/>
                    <a:gd name="T6" fmla="*/ 185 w 191"/>
                    <a:gd name="T7" fmla="*/ 195 h 414"/>
                    <a:gd name="T8" fmla="*/ 176 w 191"/>
                    <a:gd name="T9" fmla="*/ 258 h 414"/>
                    <a:gd name="T10" fmla="*/ 149 w 191"/>
                    <a:gd name="T11" fmla="*/ 321 h 414"/>
                    <a:gd name="T12" fmla="*/ 104 w 191"/>
                    <a:gd name="T13" fmla="*/ 357 h 414"/>
                    <a:gd name="T14" fmla="*/ 41 w 191"/>
                    <a:gd name="T15" fmla="*/ 366 h 414"/>
                    <a:gd name="T16" fmla="*/ 20 w 191"/>
                    <a:gd name="T17" fmla="*/ 60 h 41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91"/>
                    <a:gd name="T28" fmla="*/ 0 h 414"/>
                    <a:gd name="T29" fmla="*/ 191 w 191"/>
                    <a:gd name="T30" fmla="*/ 414 h 41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91" h="414">
                      <a:moveTo>
                        <a:pt x="20" y="60"/>
                      </a:moveTo>
                      <a:cubicBezTo>
                        <a:pt x="40" y="1"/>
                        <a:pt x="137" y="0"/>
                        <a:pt x="164" y="12"/>
                      </a:cubicBezTo>
                      <a:cubicBezTo>
                        <a:pt x="191" y="24"/>
                        <a:pt x="182" y="102"/>
                        <a:pt x="185" y="132"/>
                      </a:cubicBezTo>
                      <a:cubicBezTo>
                        <a:pt x="188" y="162"/>
                        <a:pt x="186" y="174"/>
                        <a:pt x="185" y="195"/>
                      </a:cubicBezTo>
                      <a:cubicBezTo>
                        <a:pt x="184" y="216"/>
                        <a:pt x="182" y="237"/>
                        <a:pt x="176" y="258"/>
                      </a:cubicBezTo>
                      <a:cubicBezTo>
                        <a:pt x="170" y="279"/>
                        <a:pt x="161" y="304"/>
                        <a:pt x="149" y="321"/>
                      </a:cubicBezTo>
                      <a:cubicBezTo>
                        <a:pt x="137" y="338"/>
                        <a:pt x="122" y="350"/>
                        <a:pt x="104" y="357"/>
                      </a:cubicBezTo>
                      <a:cubicBezTo>
                        <a:pt x="86" y="364"/>
                        <a:pt x="56" y="414"/>
                        <a:pt x="41" y="366"/>
                      </a:cubicBezTo>
                      <a:cubicBezTo>
                        <a:pt x="26" y="318"/>
                        <a:pt x="0" y="119"/>
                        <a:pt x="20" y="60"/>
                      </a:cubicBezTo>
                      <a:close/>
                    </a:path>
                  </a:pathLst>
                </a:custGeom>
                <a:solidFill>
                  <a:srgbClr val="CCFFCC"/>
                </a:solidFill>
                <a:ln w="9525">
                  <a:solidFill>
                    <a:srgbClr val="CCFFCC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0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1581" y="3121"/>
                  <a:ext cx="92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3107" name="Freeform 45"/>
                <p:cNvSpPr>
                  <a:spLocks/>
                </p:cNvSpPr>
                <p:nvPr/>
              </p:nvSpPr>
              <p:spPr bwMode="auto">
                <a:xfrm>
                  <a:off x="1611" y="2400"/>
                  <a:ext cx="453" cy="732"/>
                </a:xfrm>
                <a:custGeom>
                  <a:avLst/>
                  <a:gdLst>
                    <a:gd name="T0" fmla="*/ 0 w 1008"/>
                    <a:gd name="T1" fmla="*/ 0 h 1056"/>
                    <a:gd name="T2" fmla="*/ 0 w 1008"/>
                    <a:gd name="T3" fmla="*/ 1 h 1056"/>
                    <a:gd name="T4" fmla="*/ 0 w 1008"/>
                    <a:gd name="T5" fmla="*/ 1 h 1056"/>
                    <a:gd name="T6" fmla="*/ 0 60000 65536"/>
                    <a:gd name="T7" fmla="*/ 0 60000 65536"/>
                    <a:gd name="T8" fmla="*/ 0 60000 65536"/>
                    <a:gd name="T9" fmla="*/ 0 w 1008"/>
                    <a:gd name="T10" fmla="*/ 0 h 1056"/>
                    <a:gd name="T11" fmla="*/ 1008 w 1008"/>
                    <a:gd name="T12" fmla="*/ 1056 h 105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8" h="1056">
                      <a:moveTo>
                        <a:pt x="0" y="0"/>
                      </a:moveTo>
                      <a:lnTo>
                        <a:pt x="0" y="1056"/>
                      </a:lnTo>
                      <a:lnTo>
                        <a:pt x="1008" y="105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 type="triangle" w="sm" len="med"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08" name="Oval 46"/>
                <p:cNvSpPr>
                  <a:spLocks noChangeArrowheads="1"/>
                </p:cNvSpPr>
                <p:nvPr/>
              </p:nvSpPr>
              <p:spPr bwMode="auto">
                <a:xfrm>
                  <a:off x="1590" y="312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09" name="Freeform 47"/>
                <p:cNvSpPr>
                  <a:spLocks/>
                </p:cNvSpPr>
                <p:nvPr/>
              </p:nvSpPr>
              <p:spPr bwMode="auto">
                <a:xfrm>
                  <a:off x="1611" y="2976"/>
                  <a:ext cx="131" cy="399"/>
                </a:xfrm>
                <a:custGeom>
                  <a:avLst/>
                  <a:gdLst>
                    <a:gd name="T0" fmla="*/ 96 w 131"/>
                    <a:gd name="T1" fmla="*/ 0 h 399"/>
                    <a:gd name="T2" fmla="*/ 126 w 131"/>
                    <a:gd name="T3" fmla="*/ 120 h 399"/>
                    <a:gd name="T4" fmla="*/ 126 w 131"/>
                    <a:gd name="T5" fmla="*/ 210 h 399"/>
                    <a:gd name="T6" fmla="*/ 108 w 131"/>
                    <a:gd name="T7" fmla="*/ 282 h 399"/>
                    <a:gd name="T8" fmla="*/ 63 w 131"/>
                    <a:gd name="T9" fmla="*/ 363 h 399"/>
                    <a:gd name="T10" fmla="*/ 0 w 131"/>
                    <a:gd name="T11" fmla="*/ 399 h 39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31"/>
                    <a:gd name="T19" fmla="*/ 0 h 399"/>
                    <a:gd name="T20" fmla="*/ 131 w 131"/>
                    <a:gd name="T21" fmla="*/ 399 h 39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31" h="399">
                      <a:moveTo>
                        <a:pt x="96" y="0"/>
                      </a:moveTo>
                      <a:cubicBezTo>
                        <a:pt x="108" y="42"/>
                        <a:pt x="121" y="85"/>
                        <a:pt x="126" y="120"/>
                      </a:cubicBezTo>
                      <a:cubicBezTo>
                        <a:pt x="131" y="155"/>
                        <a:pt x="129" y="183"/>
                        <a:pt x="126" y="210"/>
                      </a:cubicBezTo>
                      <a:cubicBezTo>
                        <a:pt x="123" y="237"/>
                        <a:pt x="118" y="257"/>
                        <a:pt x="108" y="282"/>
                      </a:cubicBezTo>
                      <a:cubicBezTo>
                        <a:pt x="98" y="307"/>
                        <a:pt x="81" y="344"/>
                        <a:pt x="63" y="363"/>
                      </a:cubicBezTo>
                      <a:cubicBezTo>
                        <a:pt x="45" y="382"/>
                        <a:pt x="13" y="395"/>
                        <a:pt x="0" y="399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10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1200" y="3141"/>
                  <a:ext cx="411" cy="4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11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106" y="3002"/>
                  <a:ext cx="57" cy="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0" i="1" dirty="0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311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659" y="2330"/>
                  <a:ext cx="57" cy="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0" i="1" dirty="0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311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131" y="3472"/>
                  <a:ext cx="50" cy="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r>
                    <a:rPr lang="en-US" altLang="zh-CN" sz="2000" b="0" i="1" dirty="0">
                      <a:latin typeface="Times New Roman" panose="02020603050405020304" pitchFamily="18" charset="0"/>
                    </a:rPr>
                    <a:t>z</a:t>
                  </a:r>
                </a:p>
              </p:txBody>
            </p:sp>
            <p:sp>
              <p:nvSpPr>
                <p:cNvPr id="3114" name="Freeform 52"/>
                <p:cNvSpPr>
                  <a:spLocks/>
                </p:cNvSpPr>
                <p:nvPr/>
              </p:nvSpPr>
              <p:spPr bwMode="auto">
                <a:xfrm>
                  <a:off x="738" y="2412"/>
                  <a:ext cx="378" cy="468"/>
                </a:xfrm>
                <a:custGeom>
                  <a:avLst/>
                  <a:gdLst>
                    <a:gd name="T0" fmla="*/ 270 w 378"/>
                    <a:gd name="T1" fmla="*/ 468 h 468"/>
                    <a:gd name="T2" fmla="*/ 378 w 378"/>
                    <a:gd name="T3" fmla="*/ 405 h 468"/>
                    <a:gd name="T4" fmla="*/ 198 w 378"/>
                    <a:gd name="T5" fmla="*/ 0 h 468"/>
                    <a:gd name="T6" fmla="*/ 0 w 378"/>
                    <a:gd name="T7" fmla="*/ 108 h 468"/>
                    <a:gd name="T8" fmla="*/ 63 w 378"/>
                    <a:gd name="T9" fmla="*/ 225 h 468"/>
                    <a:gd name="T10" fmla="*/ 216 w 378"/>
                    <a:gd name="T11" fmla="*/ 198 h 468"/>
                    <a:gd name="T12" fmla="*/ 162 w 378"/>
                    <a:gd name="T13" fmla="*/ 189 h 468"/>
                    <a:gd name="T14" fmla="*/ 270 w 378"/>
                    <a:gd name="T15" fmla="*/ 468 h 46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78"/>
                    <a:gd name="T25" fmla="*/ 0 h 468"/>
                    <a:gd name="T26" fmla="*/ 378 w 378"/>
                    <a:gd name="T27" fmla="*/ 468 h 46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78" h="468">
                      <a:moveTo>
                        <a:pt x="270" y="468"/>
                      </a:moveTo>
                      <a:lnTo>
                        <a:pt x="378" y="405"/>
                      </a:lnTo>
                      <a:lnTo>
                        <a:pt x="198" y="0"/>
                      </a:lnTo>
                      <a:lnTo>
                        <a:pt x="0" y="108"/>
                      </a:lnTo>
                      <a:lnTo>
                        <a:pt x="63" y="225"/>
                      </a:lnTo>
                      <a:lnTo>
                        <a:pt x="216" y="198"/>
                      </a:lnTo>
                      <a:lnTo>
                        <a:pt x="162" y="189"/>
                      </a:lnTo>
                      <a:lnTo>
                        <a:pt x="270" y="46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  <p:sp>
              <p:nvSpPr>
                <p:cNvPr id="3115" name="Freeform 53"/>
                <p:cNvSpPr>
                  <a:spLocks/>
                </p:cNvSpPr>
                <p:nvPr/>
              </p:nvSpPr>
              <p:spPr bwMode="auto">
                <a:xfrm>
                  <a:off x="765" y="3231"/>
                  <a:ext cx="387" cy="432"/>
                </a:xfrm>
                <a:custGeom>
                  <a:avLst/>
                  <a:gdLst>
                    <a:gd name="T0" fmla="*/ 147 w 387"/>
                    <a:gd name="T1" fmla="*/ 369 h 432"/>
                    <a:gd name="T2" fmla="*/ 147 w 387"/>
                    <a:gd name="T3" fmla="*/ 177 h 432"/>
                    <a:gd name="T4" fmla="*/ 387 w 387"/>
                    <a:gd name="T5" fmla="*/ 54 h 432"/>
                    <a:gd name="T6" fmla="*/ 378 w 387"/>
                    <a:gd name="T7" fmla="*/ 0 h 432"/>
                    <a:gd name="T8" fmla="*/ 0 w 387"/>
                    <a:gd name="T9" fmla="*/ 198 h 432"/>
                    <a:gd name="T10" fmla="*/ 0 w 387"/>
                    <a:gd name="T11" fmla="*/ 432 h 432"/>
                    <a:gd name="T12" fmla="*/ 147 w 387"/>
                    <a:gd name="T13" fmla="*/ 369 h 4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87"/>
                    <a:gd name="T22" fmla="*/ 0 h 432"/>
                    <a:gd name="T23" fmla="*/ 387 w 387"/>
                    <a:gd name="T24" fmla="*/ 432 h 4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87" h="432">
                      <a:moveTo>
                        <a:pt x="147" y="369"/>
                      </a:moveTo>
                      <a:lnTo>
                        <a:pt x="147" y="177"/>
                      </a:lnTo>
                      <a:lnTo>
                        <a:pt x="387" y="54"/>
                      </a:lnTo>
                      <a:lnTo>
                        <a:pt x="378" y="0"/>
                      </a:lnTo>
                      <a:lnTo>
                        <a:pt x="0" y="198"/>
                      </a:lnTo>
                      <a:lnTo>
                        <a:pt x="0" y="432"/>
                      </a:lnTo>
                      <a:lnTo>
                        <a:pt x="147" y="36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algn="just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l" eaLnBrk="1" hangingPunct="1"/>
                  <a:endParaRPr lang="zh-CN" altLang="en-US"/>
                </a:p>
              </p:txBody>
            </p:sp>
          </p:grpSp>
        </p:grpSp>
        <p:sp>
          <p:nvSpPr>
            <p:cNvPr id="3094" name="Rectangle 56"/>
            <p:cNvSpPr>
              <a:spLocks noChangeArrowheads="1"/>
            </p:cNvSpPr>
            <p:nvPr/>
          </p:nvSpPr>
          <p:spPr bwMode="auto">
            <a:xfrm>
              <a:off x="4818" y="3018"/>
              <a:ext cx="178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>
                  <a:latin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</p:txBody>
        </p:sp>
        <p:sp>
          <p:nvSpPr>
            <p:cNvPr id="3095" name="Oval 57"/>
            <p:cNvSpPr>
              <a:spLocks noChangeArrowheads="1"/>
            </p:cNvSpPr>
            <p:nvPr/>
          </p:nvSpPr>
          <p:spPr bwMode="auto">
            <a:xfrm>
              <a:off x="4869" y="3027"/>
              <a:ext cx="27" cy="27"/>
            </a:xfrm>
            <a:prstGeom prst="ellipse">
              <a:avLst/>
            </a:prstGeom>
            <a:solidFill>
              <a:srgbClr val="E2220E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3096" name="AutoShape 59"/>
            <p:cNvSpPr>
              <a:spLocks noChangeArrowheads="1"/>
            </p:cNvSpPr>
            <p:nvPr/>
          </p:nvSpPr>
          <p:spPr bwMode="auto">
            <a:xfrm>
              <a:off x="4895" y="3015"/>
              <a:ext cx="576" cy="25"/>
            </a:xfrm>
            <a:prstGeom prst="rightArrow">
              <a:avLst>
                <a:gd name="adj1" fmla="val 50000"/>
                <a:gd name="adj2" fmla="val 576000"/>
              </a:avLst>
            </a:prstGeom>
            <a:solidFill>
              <a:srgbClr val="FF00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3097" name="AutoShape 60"/>
            <p:cNvSpPr>
              <a:spLocks noChangeArrowheads="1"/>
            </p:cNvSpPr>
            <p:nvPr/>
          </p:nvSpPr>
          <p:spPr bwMode="auto">
            <a:xfrm>
              <a:off x="4870" y="2729"/>
              <a:ext cx="27" cy="288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FF0000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3098" name="Text Box 61"/>
            <p:cNvSpPr txBox="1">
              <a:spLocks noChangeArrowheads="1"/>
            </p:cNvSpPr>
            <p:nvPr/>
          </p:nvSpPr>
          <p:spPr bwMode="auto">
            <a:xfrm>
              <a:off x="4710" y="2592"/>
              <a:ext cx="19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360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i="1">
                  <a:solidFill>
                    <a:srgbClr val="E222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zh-CN" i="1" baseline="-25000">
                  <a:solidFill>
                    <a:srgbClr val="E222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endParaRPr lang="en-US" altLang="zh-CN" i="1">
                <a:solidFill>
                  <a:srgbClr val="E2220E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99" name="Text Box 62"/>
            <p:cNvSpPr txBox="1">
              <a:spLocks noChangeArrowheads="1"/>
            </p:cNvSpPr>
            <p:nvPr/>
          </p:nvSpPr>
          <p:spPr bwMode="auto">
            <a:xfrm>
              <a:off x="5397" y="2835"/>
              <a:ext cx="144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i="1" dirty="0">
                  <a:solidFill>
                    <a:srgbClr val="E222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endParaRPr lang="en-US" altLang="zh-CN" i="1" dirty="0">
                <a:solidFill>
                  <a:srgbClr val="E2220E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00" name="AutoShape 66"/>
            <p:cNvSpPr>
              <a:spLocks noChangeArrowheads="1"/>
            </p:cNvSpPr>
            <p:nvPr/>
          </p:nvSpPr>
          <p:spPr bwMode="auto">
            <a:xfrm rot="-8100000">
              <a:off x="4753" y="3005"/>
              <a:ext cx="27" cy="288"/>
            </a:xfrm>
            <a:prstGeom prst="upArrow">
              <a:avLst>
                <a:gd name="adj1" fmla="val 50000"/>
                <a:gd name="adj2" fmla="val 266667"/>
              </a:avLst>
            </a:prstGeom>
            <a:solidFill>
              <a:srgbClr val="FF0000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3101" name="Text Box 67"/>
            <p:cNvSpPr txBox="1">
              <a:spLocks noChangeArrowheads="1"/>
            </p:cNvSpPr>
            <p:nvPr/>
          </p:nvSpPr>
          <p:spPr bwMode="auto">
            <a:xfrm>
              <a:off x="4567" y="3026"/>
              <a:ext cx="1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360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i="1">
                  <a:solidFill>
                    <a:srgbClr val="E222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zh-CN" i="1" baseline="-25000">
                  <a:solidFill>
                    <a:srgbClr val="E222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z</a:t>
              </a:r>
              <a:endParaRPr lang="en-US" altLang="zh-CN" i="1">
                <a:solidFill>
                  <a:srgbClr val="E2220E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7182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879522"/>
              </p:ext>
            </p:extLst>
          </p:nvPr>
        </p:nvGraphicFramePr>
        <p:xfrm>
          <a:off x="770397" y="2652873"/>
          <a:ext cx="221456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888840" imgH="241200" progId="Equation.DSMT4">
                  <p:embed/>
                </p:oleObj>
              </mc:Choice>
              <mc:Fallback>
                <p:oleObj name="Equation" r:id="rId4" imgW="88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97" y="2652873"/>
                        <a:ext cx="2214563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85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507846"/>
              </p:ext>
            </p:extLst>
          </p:nvPr>
        </p:nvGraphicFramePr>
        <p:xfrm>
          <a:off x="766763" y="3932238"/>
          <a:ext cx="32162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6" imgW="1257120" imgH="279360" progId="Equation.DSMT4">
                  <p:embed/>
                </p:oleObj>
              </mc:Choice>
              <mc:Fallback>
                <p:oleObj name="Equation" r:id="rId6" imgW="1257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3932238"/>
                        <a:ext cx="32162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91" name="Text Box 87"/>
          <p:cNvSpPr txBox="1">
            <a:spLocks noChangeArrowheads="1"/>
          </p:cNvSpPr>
          <p:nvPr/>
        </p:nvSpPr>
        <p:spPr bwMode="auto">
          <a:xfrm>
            <a:off x="4482768" y="4955913"/>
            <a:ext cx="576263" cy="955675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ea typeface="华文中宋" panose="02010600040101010101" pitchFamily="2" charset="-122"/>
              </a:rPr>
              <a:t>外力</a:t>
            </a:r>
          </a:p>
        </p:txBody>
      </p:sp>
      <p:sp>
        <p:nvSpPr>
          <p:cNvPr id="47192" name="Text Box 88"/>
          <p:cNvSpPr txBox="1">
            <a:spLocks noChangeArrowheads="1"/>
          </p:cNvSpPr>
          <p:nvPr/>
        </p:nvSpPr>
        <p:spPr bwMode="auto">
          <a:xfrm>
            <a:off x="6228919" y="4972489"/>
            <a:ext cx="576262" cy="955675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C6061D"/>
                </a:solidFill>
                <a:ea typeface="华文中宋" panose="02010600040101010101" pitchFamily="2" charset="-122"/>
              </a:rPr>
              <a:t>内力</a:t>
            </a:r>
          </a:p>
        </p:txBody>
      </p:sp>
      <p:sp>
        <p:nvSpPr>
          <p:cNvPr id="47193" name="Text Box 89"/>
          <p:cNvSpPr txBox="1">
            <a:spLocks noChangeArrowheads="1"/>
          </p:cNvSpPr>
          <p:nvPr/>
        </p:nvSpPr>
        <p:spPr bwMode="auto">
          <a:xfrm>
            <a:off x="7983106" y="4972489"/>
            <a:ext cx="576263" cy="955675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BE270E"/>
                </a:solidFill>
                <a:ea typeface="华文中宋" panose="02010600040101010101" pitchFamily="2" charset="-122"/>
              </a:rPr>
              <a:t>应力</a:t>
            </a:r>
          </a:p>
        </p:txBody>
      </p:sp>
      <p:sp>
        <p:nvSpPr>
          <p:cNvPr id="47194" name="AutoShape 90"/>
          <p:cNvSpPr>
            <a:spLocks noChangeArrowheads="1"/>
          </p:cNvSpPr>
          <p:nvPr/>
        </p:nvSpPr>
        <p:spPr bwMode="auto">
          <a:xfrm>
            <a:off x="5196636" y="5342191"/>
            <a:ext cx="935038" cy="142875"/>
          </a:xfrm>
          <a:prstGeom prst="leftRightArrow">
            <a:avLst>
              <a:gd name="adj1" fmla="val 50000"/>
              <a:gd name="adj2" fmla="val 1308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47195" name="Text Box 91"/>
          <p:cNvSpPr txBox="1">
            <a:spLocks noChangeArrowheads="1"/>
          </p:cNvSpPr>
          <p:nvPr/>
        </p:nvSpPr>
        <p:spPr bwMode="auto">
          <a:xfrm>
            <a:off x="5266894" y="5461392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楷体_GB2312" pitchFamily="49" charset="-122"/>
              </a:rPr>
              <a:t>平衡</a:t>
            </a:r>
          </a:p>
        </p:txBody>
      </p:sp>
      <p:sp>
        <p:nvSpPr>
          <p:cNvPr id="47196" name="AutoShape 92"/>
          <p:cNvSpPr>
            <a:spLocks noChangeArrowheads="1"/>
          </p:cNvSpPr>
          <p:nvPr/>
        </p:nvSpPr>
        <p:spPr bwMode="auto">
          <a:xfrm>
            <a:off x="6903606" y="5259826"/>
            <a:ext cx="936625" cy="142875"/>
          </a:xfrm>
          <a:prstGeom prst="rightArrow">
            <a:avLst>
              <a:gd name="adj1" fmla="val 50000"/>
              <a:gd name="adj2" fmla="val 16388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47197" name="AutoShape 93"/>
          <p:cNvSpPr>
            <a:spLocks noChangeArrowheads="1"/>
          </p:cNvSpPr>
          <p:nvPr/>
        </p:nvSpPr>
        <p:spPr bwMode="auto">
          <a:xfrm>
            <a:off x="6878206" y="5475726"/>
            <a:ext cx="936625" cy="144463"/>
          </a:xfrm>
          <a:prstGeom prst="leftArrow">
            <a:avLst>
              <a:gd name="adj1" fmla="val 50000"/>
              <a:gd name="adj2" fmla="val 162087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endParaRPr lang="zh-CN" altLang="en-US"/>
          </a:p>
        </p:txBody>
      </p:sp>
      <p:sp>
        <p:nvSpPr>
          <p:cNvPr id="47198" name="Text Box 94"/>
          <p:cNvSpPr txBox="1">
            <a:spLocks noChangeArrowheads="1"/>
          </p:cNvSpPr>
          <p:nvPr/>
        </p:nvSpPr>
        <p:spPr bwMode="auto">
          <a:xfrm>
            <a:off x="6975044" y="4756589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ea typeface="楷体_GB2312" pitchFamily="49" charset="-122"/>
              </a:rPr>
              <a:t>分布</a:t>
            </a:r>
          </a:p>
        </p:txBody>
      </p:sp>
      <p:sp>
        <p:nvSpPr>
          <p:cNvPr id="47199" name="Text Box 95"/>
          <p:cNvSpPr txBox="1">
            <a:spLocks noChangeArrowheads="1"/>
          </p:cNvSpPr>
          <p:nvPr/>
        </p:nvSpPr>
        <p:spPr bwMode="auto">
          <a:xfrm>
            <a:off x="6975044" y="5620189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ea typeface="楷体_GB2312" pitchFamily="49" charset="-122"/>
              </a:rPr>
              <a:t>合成</a:t>
            </a:r>
          </a:p>
        </p:txBody>
      </p:sp>
      <p:graphicFrame>
        <p:nvGraphicFramePr>
          <p:cNvPr id="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463880"/>
              </p:ext>
            </p:extLst>
          </p:nvPr>
        </p:nvGraphicFramePr>
        <p:xfrm>
          <a:off x="802148" y="3355342"/>
          <a:ext cx="21510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8" imgW="863280" imgH="228600" progId="Equation.DSMT4">
                  <p:embed/>
                </p:oleObj>
              </mc:Choice>
              <mc:Fallback>
                <p:oleObj name="Equation" r:id="rId8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148" y="3355342"/>
                        <a:ext cx="21510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79"/>
          <p:cNvSpPr>
            <a:spLocks noChangeArrowheads="1"/>
          </p:cNvSpPr>
          <p:nvPr/>
        </p:nvSpPr>
        <p:spPr bwMode="auto">
          <a:xfrm>
            <a:off x="559999" y="614325"/>
            <a:ext cx="3389371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5-3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内力和应力</a:t>
            </a:r>
          </a:p>
        </p:txBody>
      </p: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669640" y="1317953"/>
            <a:ext cx="3347491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FontTx/>
              <a:buBlip>
                <a:blip r:embed="rId10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内力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与应力的关系</a:t>
            </a:r>
            <a:endParaRPr kumimoji="1" lang="zh-CN" altLang="en-US" sz="2400" b="1" dirty="0">
              <a:solidFill>
                <a:srgbClr val="08080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3" name="Group 99"/>
          <p:cNvGrpSpPr>
            <a:grpSpLocks/>
          </p:cNvGrpSpPr>
          <p:nvPr/>
        </p:nvGrpSpPr>
        <p:grpSpPr bwMode="auto">
          <a:xfrm>
            <a:off x="3999902" y="257776"/>
            <a:ext cx="2721865" cy="2719264"/>
            <a:chOff x="792" y="2326"/>
            <a:chExt cx="1728" cy="1634"/>
          </a:xfrm>
        </p:grpSpPr>
        <p:grpSp>
          <p:nvGrpSpPr>
            <p:cNvPr id="46" name="Group 100"/>
            <p:cNvGrpSpPr>
              <a:grpSpLocks/>
            </p:cNvGrpSpPr>
            <p:nvPr/>
          </p:nvGrpSpPr>
          <p:grpSpPr bwMode="auto">
            <a:xfrm>
              <a:off x="792" y="2418"/>
              <a:ext cx="1728" cy="1286"/>
              <a:chOff x="792" y="2418"/>
              <a:chExt cx="1728" cy="1286"/>
            </a:xfrm>
          </p:grpSpPr>
          <p:pic>
            <p:nvPicPr>
              <p:cNvPr id="69" name="Picture 101"/>
              <p:cNvPicPr>
                <a:picLocks noChangeArrowheads="1"/>
              </p:cNvPicPr>
              <p:nvPr/>
            </p:nvPicPr>
            <p:blipFill>
              <a:blip r:embed="rId3">
                <a:lum bright="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2" y="2418"/>
                <a:ext cx="1728" cy="1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" name="Text Box 102"/>
              <p:cNvSpPr txBox="1">
                <a:spLocks noChangeArrowheads="1"/>
              </p:cNvSpPr>
              <p:nvPr/>
            </p:nvSpPr>
            <p:spPr bwMode="auto">
              <a:xfrm>
                <a:off x="811" y="2472"/>
                <a:ext cx="234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="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" name="Text Box 103"/>
              <p:cNvSpPr txBox="1">
                <a:spLocks noChangeArrowheads="1"/>
              </p:cNvSpPr>
              <p:nvPr/>
            </p:nvSpPr>
            <p:spPr bwMode="auto">
              <a:xfrm>
                <a:off x="792" y="3488"/>
                <a:ext cx="313" cy="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2000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0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" name="Freeform 104"/>
            <p:cNvSpPr>
              <a:spLocks/>
            </p:cNvSpPr>
            <p:nvPr/>
          </p:nvSpPr>
          <p:spPr bwMode="auto">
            <a:xfrm>
              <a:off x="1700" y="2727"/>
              <a:ext cx="648" cy="1233"/>
            </a:xfrm>
            <a:custGeom>
              <a:avLst/>
              <a:gdLst>
                <a:gd name="T0" fmla="*/ 546 w 648"/>
                <a:gd name="T1" fmla="*/ 0 h 1233"/>
                <a:gd name="T2" fmla="*/ 0 w 648"/>
                <a:gd name="T3" fmla="*/ 396 h 1233"/>
                <a:gd name="T4" fmla="*/ 351 w 648"/>
                <a:gd name="T5" fmla="*/ 1062 h 1233"/>
                <a:gd name="T6" fmla="*/ 432 w 648"/>
                <a:gd name="T7" fmla="*/ 1233 h 1233"/>
                <a:gd name="T8" fmla="*/ 504 w 648"/>
                <a:gd name="T9" fmla="*/ 1179 h 1233"/>
                <a:gd name="T10" fmla="*/ 648 w 648"/>
                <a:gd name="T11" fmla="*/ 1179 h 1233"/>
                <a:gd name="T12" fmla="*/ 546 w 648"/>
                <a:gd name="T13" fmla="*/ 0 h 1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8"/>
                <a:gd name="T22" fmla="*/ 0 h 1233"/>
                <a:gd name="T23" fmla="*/ 648 w 648"/>
                <a:gd name="T24" fmla="*/ 1233 h 1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8" h="1233">
                  <a:moveTo>
                    <a:pt x="546" y="0"/>
                  </a:moveTo>
                  <a:lnTo>
                    <a:pt x="0" y="396"/>
                  </a:lnTo>
                  <a:cubicBezTo>
                    <a:pt x="117" y="618"/>
                    <a:pt x="235" y="839"/>
                    <a:pt x="351" y="1062"/>
                  </a:cubicBezTo>
                  <a:cubicBezTo>
                    <a:pt x="379" y="1116"/>
                    <a:pt x="382" y="1199"/>
                    <a:pt x="432" y="1233"/>
                  </a:cubicBezTo>
                  <a:cubicBezTo>
                    <a:pt x="497" y="1217"/>
                    <a:pt x="451" y="1214"/>
                    <a:pt x="504" y="1179"/>
                  </a:cubicBezTo>
                  <a:cubicBezTo>
                    <a:pt x="544" y="1185"/>
                    <a:pt x="614" y="1213"/>
                    <a:pt x="648" y="1179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48" name="Freeform 105"/>
            <p:cNvSpPr>
              <a:spLocks/>
            </p:cNvSpPr>
            <p:nvPr/>
          </p:nvSpPr>
          <p:spPr bwMode="auto">
            <a:xfrm>
              <a:off x="1668" y="2973"/>
              <a:ext cx="191" cy="414"/>
            </a:xfrm>
            <a:custGeom>
              <a:avLst/>
              <a:gdLst>
                <a:gd name="T0" fmla="*/ 20 w 191"/>
                <a:gd name="T1" fmla="*/ 60 h 414"/>
                <a:gd name="T2" fmla="*/ 164 w 191"/>
                <a:gd name="T3" fmla="*/ 12 h 414"/>
                <a:gd name="T4" fmla="*/ 185 w 191"/>
                <a:gd name="T5" fmla="*/ 132 h 414"/>
                <a:gd name="T6" fmla="*/ 185 w 191"/>
                <a:gd name="T7" fmla="*/ 195 h 414"/>
                <a:gd name="T8" fmla="*/ 176 w 191"/>
                <a:gd name="T9" fmla="*/ 258 h 414"/>
                <a:gd name="T10" fmla="*/ 149 w 191"/>
                <a:gd name="T11" fmla="*/ 321 h 414"/>
                <a:gd name="T12" fmla="*/ 104 w 191"/>
                <a:gd name="T13" fmla="*/ 357 h 414"/>
                <a:gd name="T14" fmla="*/ 41 w 191"/>
                <a:gd name="T15" fmla="*/ 366 h 414"/>
                <a:gd name="T16" fmla="*/ 20 w 191"/>
                <a:gd name="T17" fmla="*/ 60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1"/>
                <a:gd name="T28" fmla="*/ 0 h 414"/>
                <a:gd name="T29" fmla="*/ 191 w 191"/>
                <a:gd name="T30" fmla="*/ 414 h 4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1" h="414">
                  <a:moveTo>
                    <a:pt x="20" y="60"/>
                  </a:moveTo>
                  <a:cubicBezTo>
                    <a:pt x="40" y="1"/>
                    <a:pt x="137" y="0"/>
                    <a:pt x="164" y="12"/>
                  </a:cubicBezTo>
                  <a:cubicBezTo>
                    <a:pt x="191" y="24"/>
                    <a:pt x="182" y="102"/>
                    <a:pt x="185" y="132"/>
                  </a:cubicBezTo>
                  <a:cubicBezTo>
                    <a:pt x="188" y="162"/>
                    <a:pt x="186" y="174"/>
                    <a:pt x="185" y="195"/>
                  </a:cubicBezTo>
                  <a:cubicBezTo>
                    <a:pt x="184" y="216"/>
                    <a:pt x="182" y="237"/>
                    <a:pt x="176" y="258"/>
                  </a:cubicBezTo>
                  <a:cubicBezTo>
                    <a:pt x="170" y="279"/>
                    <a:pt x="161" y="304"/>
                    <a:pt x="149" y="321"/>
                  </a:cubicBezTo>
                  <a:cubicBezTo>
                    <a:pt x="137" y="338"/>
                    <a:pt x="122" y="350"/>
                    <a:pt x="104" y="357"/>
                  </a:cubicBezTo>
                  <a:cubicBezTo>
                    <a:pt x="86" y="364"/>
                    <a:pt x="56" y="414"/>
                    <a:pt x="41" y="366"/>
                  </a:cubicBezTo>
                  <a:cubicBezTo>
                    <a:pt x="26" y="318"/>
                    <a:pt x="0" y="119"/>
                    <a:pt x="20" y="60"/>
                  </a:cubicBez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49" name="Text Box 106"/>
            <p:cNvSpPr txBox="1">
              <a:spLocks noChangeArrowheads="1"/>
            </p:cNvSpPr>
            <p:nvPr/>
          </p:nvSpPr>
          <p:spPr bwMode="auto">
            <a:xfrm>
              <a:off x="1608" y="3032"/>
              <a:ext cx="89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1800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1728" y="2400"/>
              <a:ext cx="720" cy="732"/>
            </a:xfrm>
            <a:custGeom>
              <a:avLst/>
              <a:gdLst>
                <a:gd name="T0" fmla="*/ 0 w 1008"/>
                <a:gd name="T1" fmla="*/ 0 h 1056"/>
                <a:gd name="T2" fmla="*/ 0 w 1008"/>
                <a:gd name="T3" fmla="*/ 1 h 1056"/>
                <a:gd name="T4" fmla="*/ 1 w 1008"/>
                <a:gd name="T5" fmla="*/ 1 h 1056"/>
                <a:gd name="T6" fmla="*/ 0 60000 65536"/>
                <a:gd name="T7" fmla="*/ 0 60000 65536"/>
                <a:gd name="T8" fmla="*/ 0 60000 65536"/>
                <a:gd name="T9" fmla="*/ 0 w 1008"/>
                <a:gd name="T10" fmla="*/ 0 h 1056"/>
                <a:gd name="T11" fmla="*/ 1008 w 1008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1056">
                  <a:moveTo>
                    <a:pt x="0" y="0"/>
                  </a:moveTo>
                  <a:lnTo>
                    <a:pt x="0" y="1056"/>
                  </a:lnTo>
                  <a:lnTo>
                    <a:pt x="1008" y="1056"/>
                  </a:lnTo>
                </a:path>
              </a:pathLst>
            </a:custGeom>
            <a:noFill/>
            <a:ln w="3175">
              <a:solidFill>
                <a:schemeClr val="tx1"/>
              </a:solidFill>
              <a:miter lim="800000"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1" name="Oval 108"/>
            <p:cNvSpPr>
              <a:spLocks noChangeArrowheads="1"/>
            </p:cNvSpPr>
            <p:nvPr/>
          </p:nvSpPr>
          <p:spPr bwMode="auto">
            <a:xfrm>
              <a:off x="1707" y="3126"/>
              <a:ext cx="27" cy="2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2" name="Freeform 109"/>
            <p:cNvSpPr>
              <a:spLocks/>
            </p:cNvSpPr>
            <p:nvPr/>
          </p:nvSpPr>
          <p:spPr bwMode="auto">
            <a:xfrm>
              <a:off x="1728" y="2976"/>
              <a:ext cx="131" cy="399"/>
            </a:xfrm>
            <a:custGeom>
              <a:avLst/>
              <a:gdLst>
                <a:gd name="T0" fmla="*/ 96 w 131"/>
                <a:gd name="T1" fmla="*/ 0 h 399"/>
                <a:gd name="T2" fmla="*/ 126 w 131"/>
                <a:gd name="T3" fmla="*/ 120 h 399"/>
                <a:gd name="T4" fmla="*/ 126 w 131"/>
                <a:gd name="T5" fmla="*/ 210 h 399"/>
                <a:gd name="T6" fmla="*/ 108 w 131"/>
                <a:gd name="T7" fmla="*/ 282 h 399"/>
                <a:gd name="T8" fmla="*/ 63 w 131"/>
                <a:gd name="T9" fmla="*/ 363 h 399"/>
                <a:gd name="T10" fmla="*/ 0 w 131"/>
                <a:gd name="T11" fmla="*/ 399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1"/>
                <a:gd name="T19" fmla="*/ 0 h 399"/>
                <a:gd name="T20" fmla="*/ 131 w 13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1" h="399">
                  <a:moveTo>
                    <a:pt x="96" y="0"/>
                  </a:moveTo>
                  <a:cubicBezTo>
                    <a:pt x="108" y="42"/>
                    <a:pt x="121" y="85"/>
                    <a:pt x="126" y="120"/>
                  </a:cubicBezTo>
                  <a:cubicBezTo>
                    <a:pt x="131" y="155"/>
                    <a:pt x="129" y="183"/>
                    <a:pt x="126" y="210"/>
                  </a:cubicBezTo>
                  <a:cubicBezTo>
                    <a:pt x="123" y="237"/>
                    <a:pt x="118" y="257"/>
                    <a:pt x="108" y="282"/>
                  </a:cubicBezTo>
                  <a:cubicBezTo>
                    <a:pt x="98" y="307"/>
                    <a:pt x="81" y="344"/>
                    <a:pt x="63" y="363"/>
                  </a:cubicBezTo>
                  <a:cubicBezTo>
                    <a:pt x="45" y="382"/>
                    <a:pt x="13" y="395"/>
                    <a:pt x="0" y="3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3" name="Line 110"/>
            <p:cNvSpPr>
              <a:spLocks noChangeShapeType="1"/>
            </p:cNvSpPr>
            <p:nvPr/>
          </p:nvSpPr>
          <p:spPr bwMode="auto">
            <a:xfrm flipH="1">
              <a:off x="1188" y="3141"/>
              <a:ext cx="54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AutoShape 111"/>
            <p:cNvSpPr>
              <a:spLocks noChangeArrowheads="1"/>
            </p:cNvSpPr>
            <p:nvPr/>
          </p:nvSpPr>
          <p:spPr bwMode="auto">
            <a:xfrm>
              <a:off x="1710" y="2853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5" name="AutoShape 112"/>
            <p:cNvSpPr>
              <a:spLocks noChangeArrowheads="1"/>
            </p:cNvSpPr>
            <p:nvPr/>
          </p:nvSpPr>
          <p:spPr bwMode="auto">
            <a:xfrm rot="5400000">
              <a:off x="1843" y="300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6" name="AutoShape 113"/>
            <p:cNvSpPr>
              <a:spLocks noChangeArrowheads="1"/>
            </p:cNvSpPr>
            <p:nvPr/>
          </p:nvSpPr>
          <p:spPr bwMode="auto">
            <a:xfrm rot="-8100000">
              <a:off x="1599" y="3115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E2220E"/>
            </a:solidFill>
            <a:ln w="9525">
              <a:solidFill>
                <a:srgbClr val="E2220E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57" name="Text Box 114"/>
            <p:cNvSpPr txBox="1">
              <a:spLocks noChangeArrowheads="1"/>
            </p:cNvSpPr>
            <p:nvPr/>
          </p:nvSpPr>
          <p:spPr bwMode="auto">
            <a:xfrm>
              <a:off x="1824" y="3168"/>
              <a:ext cx="19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b="0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Text Box 115"/>
            <p:cNvSpPr txBox="1">
              <a:spLocks noChangeArrowheads="1"/>
            </p:cNvSpPr>
            <p:nvPr/>
          </p:nvSpPr>
          <p:spPr bwMode="auto">
            <a:xfrm>
              <a:off x="1764" y="2880"/>
              <a:ext cx="25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Sy</a:t>
              </a:r>
            </a:p>
          </p:txBody>
        </p:sp>
        <p:sp>
          <p:nvSpPr>
            <p:cNvPr id="59" name="Text Box 116"/>
            <p:cNvSpPr txBox="1">
              <a:spLocks noChangeArrowheads="1"/>
            </p:cNvSpPr>
            <p:nvPr/>
          </p:nvSpPr>
          <p:spPr bwMode="auto">
            <a:xfrm>
              <a:off x="1306" y="3050"/>
              <a:ext cx="24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</a:rPr>
                <a:t>Sz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AutoShape 117"/>
            <p:cNvSpPr>
              <a:spLocks noChangeArrowheads="1"/>
            </p:cNvSpPr>
            <p:nvPr/>
          </p:nvSpPr>
          <p:spPr bwMode="auto">
            <a:xfrm>
              <a:off x="1707" y="2580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61" name="Text Box 118"/>
            <p:cNvSpPr txBox="1">
              <a:spLocks noChangeArrowheads="1"/>
            </p:cNvSpPr>
            <p:nvPr/>
          </p:nvSpPr>
          <p:spPr bwMode="auto">
            <a:xfrm>
              <a:off x="2112" y="3146"/>
              <a:ext cx="11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2" name="AutoShape 119"/>
            <p:cNvSpPr>
              <a:spLocks noChangeArrowheads="1"/>
            </p:cNvSpPr>
            <p:nvPr/>
          </p:nvSpPr>
          <p:spPr bwMode="auto">
            <a:xfrm rot="5400000">
              <a:off x="2110" y="2997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63" name="AutoShape 120"/>
            <p:cNvSpPr>
              <a:spLocks noChangeArrowheads="1"/>
            </p:cNvSpPr>
            <p:nvPr/>
          </p:nvSpPr>
          <p:spPr bwMode="auto">
            <a:xfrm rot="13500000">
              <a:off x="1413" y="3306"/>
              <a:ext cx="41" cy="268"/>
            </a:xfrm>
            <a:prstGeom prst="upArrow">
              <a:avLst>
                <a:gd name="adj1" fmla="val 50000"/>
                <a:gd name="adj2" fmla="val 163415"/>
              </a:avLst>
            </a:prstGeom>
            <a:solidFill>
              <a:srgbClr val="000099"/>
            </a:soli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64" name="Text Box 121"/>
            <p:cNvSpPr txBox="1">
              <a:spLocks noChangeArrowheads="1"/>
            </p:cNvSpPr>
            <p:nvPr/>
          </p:nvSpPr>
          <p:spPr bwMode="auto">
            <a:xfrm>
              <a:off x="1764" y="2640"/>
              <a:ext cx="25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122"/>
            <p:cNvSpPr txBox="1">
              <a:spLocks noChangeArrowheads="1"/>
            </p:cNvSpPr>
            <p:nvPr/>
          </p:nvSpPr>
          <p:spPr bwMode="auto">
            <a:xfrm>
              <a:off x="1437" y="3411"/>
              <a:ext cx="25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10800" rIns="18000" bIns="10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000" i="1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i="1" baseline="-25000" dirty="0" err="1">
                  <a:solidFill>
                    <a:srgbClr val="000099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Text Box 123"/>
            <p:cNvSpPr txBox="1">
              <a:spLocks noChangeArrowheads="1"/>
            </p:cNvSpPr>
            <p:nvPr/>
          </p:nvSpPr>
          <p:spPr bwMode="auto">
            <a:xfrm>
              <a:off x="2386" y="2957"/>
              <a:ext cx="7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67" name="Text Box 124"/>
            <p:cNvSpPr txBox="1">
              <a:spLocks noChangeArrowheads="1"/>
            </p:cNvSpPr>
            <p:nvPr/>
          </p:nvSpPr>
          <p:spPr bwMode="auto">
            <a:xfrm>
              <a:off x="1776" y="2326"/>
              <a:ext cx="7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68" name="Text Box 125"/>
            <p:cNvSpPr txBox="1">
              <a:spLocks noChangeArrowheads="1"/>
            </p:cNvSpPr>
            <p:nvPr/>
          </p:nvSpPr>
          <p:spPr bwMode="auto">
            <a:xfrm>
              <a:off x="1248" y="3622"/>
              <a:ext cx="63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000" b="0" i="1" dirty="0">
                  <a:latin typeface="Times New Roman" panose="02020603050405020304" pitchFamily="18" charset="0"/>
                </a:rPr>
                <a:t>z</a:t>
              </a:r>
            </a:p>
          </p:txBody>
        </p:sp>
      </p:grpSp>
      <p:graphicFrame>
        <p:nvGraphicFramePr>
          <p:cNvPr id="72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687962"/>
              </p:ext>
            </p:extLst>
          </p:nvPr>
        </p:nvGraphicFramePr>
        <p:xfrm>
          <a:off x="813717" y="1977111"/>
          <a:ext cx="20574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11" imgW="825480" imgH="228600" progId="Equation.DSMT4">
                  <p:embed/>
                </p:oleObj>
              </mc:Choice>
              <mc:Fallback>
                <p:oleObj name="Equation" r:id="rId11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717" y="1977111"/>
                        <a:ext cx="20574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544064"/>
              </p:ext>
            </p:extLst>
          </p:nvPr>
        </p:nvGraphicFramePr>
        <p:xfrm>
          <a:off x="833626" y="4667958"/>
          <a:ext cx="256381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3" imgW="1028520" imgH="241200" progId="Equation.DSMT4">
                  <p:embed/>
                </p:oleObj>
              </mc:Choice>
              <mc:Fallback>
                <p:oleObj name="Equation" r:id="rId13" imgW="1028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626" y="4667958"/>
                        <a:ext cx="2563813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86356"/>
              </p:ext>
            </p:extLst>
          </p:nvPr>
        </p:nvGraphicFramePr>
        <p:xfrm>
          <a:off x="715963" y="5343525"/>
          <a:ext cx="2817812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5" imgW="1130040" imgH="228600" progId="Equation.DSMT4">
                  <p:embed/>
                </p:oleObj>
              </mc:Choice>
              <mc:Fallback>
                <p:oleObj name="Equation" r:id="rId15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343525"/>
                        <a:ext cx="2817812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12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4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4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4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4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500"/>
                                        <p:tgtEl>
                                          <p:spTgt spid="4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500"/>
                                        <p:tgtEl>
                                          <p:spTgt spid="4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91" grpId="0" animBg="1"/>
      <p:bldP spid="47192" grpId="0" animBg="1"/>
      <p:bldP spid="47193" grpId="0" animBg="1"/>
      <p:bldP spid="47194" grpId="0" animBg="1"/>
      <p:bldP spid="47195" grpId="0"/>
      <p:bldP spid="47196" grpId="0" animBg="1"/>
      <p:bldP spid="47197" grpId="0" animBg="1"/>
      <p:bldP spid="47198" grpId="0"/>
      <p:bldP spid="471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46" name="Text Box 118"/>
          <p:cNvSpPr txBox="1">
            <a:spLocks noChangeArrowheads="1"/>
          </p:cNvSpPr>
          <p:nvPr/>
        </p:nvSpPr>
        <p:spPr bwMode="auto">
          <a:xfrm>
            <a:off x="1304260" y="5213494"/>
            <a:ext cx="64727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构件变形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轴线的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线位移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和截面的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角位移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481484" y="3170682"/>
            <a:ext cx="8531225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位移 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Displacement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：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    一点从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位置移动到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位置，</a:t>
            </a:r>
            <a:r>
              <a:rPr kumimoji="1" lang="en-US" altLang="zh-CN" sz="2400" i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连线称为该点的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线位移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    </a:t>
            </a:r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2627784" y="1619560"/>
            <a:ext cx="3132138" cy="1279525"/>
            <a:chOff x="3385" y="512"/>
            <a:chExt cx="1973" cy="806"/>
          </a:xfrm>
        </p:grpSpPr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3385" y="512"/>
              <a:ext cx="1973" cy="806"/>
              <a:chOff x="3385" y="512"/>
              <a:chExt cx="1973" cy="806"/>
            </a:xfrm>
          </p:grpSpPr>
          <p:sp>
            <p:nvSpPr>
              <p:cNvPr id="68" name="Rectangle 7"/>
              <p:cNvSpPr>
                <a:spLocks noChangeArrowheads="1"/>
              </p:cNvSpPr>
              <p:nvPr/>
            </p:nvSpPr>
            <p:spPr bwMode="auto">
              <a:xfrm>
                <a:off x="3685" y="938"/>
                <a:ext cx="1432" cy="232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8"/>
              <p:cNvSpPr>
                <a:spLocks noChangeShapeType="1"/>
              </p:cNvSpPr>
              <p:nvPr/>
            </p:nvSpPr>
            <p:spPr bwMode="auto">
              <a:xfrm>
                <a:off x="4691" y="598"/>
                <a:ext cx="1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0" name="Group 9"/>
              <p:cNvGrpSpPr>
                <a:grpSpLocks/>
              </p:cNvGrpSpPr>
              <p:nvPr/>
            </p:nvGrpSpPr>
            <p:grpSpPr bwMode="auto">
              <a:xfrm rot="-5400000">
                <a:off x="3392" y="1030"/>
                <a:ext cx="480" cy="96"/>
                <a:chOff x="4296" y="1968"/>
                <a:chExt cx="408" cy="96"/>
              </a:xfrm>
            </p:grpSpPr>
            <p:sp>
              <p:nvSpPr>
                <p:cNvPr id="76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296" y="2064"/>
                  <a:ext cx="3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629" y="1968"/>
                  <a:ext cx="75" cy="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4556" y="1968"/>
                  <a:ext cx="73" cy="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4482" y="1968"/>
                  <a:ext cx="74" cy="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407" y="1968"/>
                  <a:ext cx="75" cy="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4333" y="1968"/>
                  <a:ext cx="74" cy="9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Line 16"/>
              <p:cNvSpPr>
                <a:spLocks noChangeShapeType="1"/>
              </p:cNvSpPr>
              <p:nvPr/>
            </p:nvSpPr>
            <p:spPr bwMode="auto">
              <a:xfrm>
                <a:off x="3695" y="1065"/>
                <a:ext cx="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Text Box 17"/>
              <p:cNvSpPr txBox="1">
                <a:spLocks noChangeArrowheads="1"/>
              </p:cNvSpPr>
              <p:nvPr/>
            </p:nvSpPr>
            <p:spPr bwMode="auto">
              <a:xfrm>
                <a:off x="4452" y="512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  <p:sp>
            <p:nvSpPr>
              <p:cNvPr id="73" name="Line 18"/>
              <p:cNvSpPr>
                <a:spLocks noChangeShapeType="1"/>
              </p:cNvSpPr>
              <p:nvPr/>
            </p:nvSpPr>
            <p:spPr bwMode="auto">
              <a:xfrm>
                <a:off x="4691" y="94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Text Box 19"/>
              <p:cNvSpPr txBox="1">
                <a:spLocks noChangeArrowheads="1"/>
              </p:cNvSpPr>
              <p:nvPr/>
            </p:nvSpPr>
            <p:spPr bwMode="auto">
              <a:xfrm>
                <a:off x="5124" y="865"/>
                <a:ext cx="23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i="1" dirty="0">
                    <a:solidFill>
                      <a:srgbClr val="080808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75" name="Text Box 20"/>
              <p:cNvSpPr txBox="1">
                <a:spLocks noChangeArrowheads="1"/>
              </p:cNvSpPr>
              <p:nvPr/>
            </p:nvSpPr>
            <p:spPr bwMode="auto">
              <a:xfrm>
                <a:off x="3385" y="885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 dirty="0">
                    <a:solidFill>
                      <a:srgbClr val="080808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</p:grpSp>
        <p:sp>
          <p:nvSpPr>
            <p:cNvPr id="65" name="Oval 21"/>
            <p:cNvSpPr>
              <a:spLocks noChangeArrowheads="1"/>
            </p:cNvSpPr>
            <p:nvPr/>
          </p:nvSpPr>
          <p:spPr bwMode="auto">
            <a:xfrm>
              <a:off x="4672" y="1032"/>
              <a:ext cx="48" cy="48"/>
            </a:xfrm>
            <a:prstGeom prst="ellipse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Oval 22"/>
            <p:cNvSpPr>
              <a:spLocks noChangeArrowheads="1"/>
            </p:cNvSpPr>
            <p:nvPr/>
          </p:nvSpPr>
          <p:spPr bwMode="auto">
            <a:xfrm>
              <a:off x="5088" y="1032"/>
              <a:ext cx="48" cy="48"/>
            </a:xfrm>
            <a:prstGeom prst="ellipse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" name="Rectangle 69"/>
          <p:cNvSpPr>
            <a:spLocks noChangeArrowheads="1"/>
          </p:cNvSpPr>
          <p:nvPr/>
        </p:nvSpPr>
        <p:spPr bwMode="auto">
          <a:xfrm>
            <a:off x="539260" y="523402"/>
            <a:ext cx="4598195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5-4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位移、变形与应变</a:t>
            </a:r>
          </a:p>
        </p:txBody>
      </p: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560147" y="1044103"/>
            <a:ext cx="6511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变形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Deformation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109371" y="2295969"/>
            <a:ext cx="2532248" cy="1487487"/>
            <a:chOff x="1281874" y="3756850"/>
            <a:chExt cx="2532248" cy="1487487"/>
          </a:xfrm>
        </p:grpSpPr>
        <p:grpSp>
          <p:nvGrpSpPr>
            <p:cNvPr id="82" name="Group 23"/>
            <p:cNvGrpSpPr>
              <a:grpSpLocks/>
            </p:cNvGrpSpPr>
            <p:nvPr/>
          </p:nvGrpSpPr>
          <p:grpSpPr bwMode="auto">
            <a:xfrm>
              <a:off x="1281874" y="3756850"/>
              <a:ext cx="2236787" cy="1487487"/>
              <a:chOff x="4159" y="2183"/>
              <a:chExt cx="1409" cy="937"/>
            </a:xfrm>
          </p:grpSpPr>
          <p:grpSp>
            <p:nvGrpSpPr>
              <p:cNvPr id="83" name="Group 24"/>
              <p:cNvGrpSpPr>
                <a:grpSpLocks/>
              </p:cNvGrpSpPr>
              <p:nvPr/>
            </p:nvGrpSpPr>
            <p:grpSpPr bwMode="auto">
              <a:xfrm>
                <a:off x="4159" y="2183"/>
                <a:ext cx="1409" cy="937"/>
                <a:chOff x="3679" y="944"/>
                <a:chExt cx="1409" cy="937"/>
              </a:xfrm>
            </p:grpSpPr>
            <p:sp>
              <p:nvSpPr>
                <p:cNvPr id="86" name="Line 25"/>
                <p:cNvSpPr>
                  <a:spLocks noChangeShapeType="1"/>
                </p:cNvSpPr>
                <p:nvPr/>
              </p:nvSpPr>
              <p:spPr bwMode="auto">
                <a:xfrm rot="21016033" flipH="1">
                  <a:off x="4597" y="1103"/>
                  <a:ext cx="113" cy="204"/>
                </a:xfrm>
                <a:prstGeom prst="line">
                  <a:avLst/>
                </a:prstGeom>
                <a:noFill/>
                <a:ln w="22225">
                  <a:solidFill>
                    <a:srgbClr val="D6009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Arc 26"/>
                <p:cNvSpPr>
                  <a:spLocks/>
                </p:cNvSpPr>
                <p:nvPr/>
              </p:nvSpPr>
              <p:spPr bwMode="auto">
                <a:xfrm>
                  <a:off x="3679" y="944"/>
                  <a:ext cx="1016" cy="704"/>
                </a:xfrm>
                <a:custGeom>
                  <a:avLst/>
                  <a:gdLst>
                    <a:gd name="G0" fmla="+- 14 0 0"/>
                    <a:gd name="G1" fmla="+- 21600 0 0"/>
                    <a:gd name="G2" fmla="+- 21600 0 0"/>
                    <a:gd name="T0" fmla="*/ 0 w 13952"/>
                    <a:gd name="T1" fmla="*/ 0 h 21600"/>
                    <a:gd name="T2" fmla="*/ 13952 w 13952"/>
                    <a:gd name="T3" fmla="*/ 5099 h 21600"/>
                    <a:gd name="T4" fmla="*/ 14 w 1395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952" h="21600" fill="none" extrusionOk="0">
                      <a:moveTo>
                        <a:pt x="0" y="0"/>
                      </a:moveTo>
                      <a:cubicBezTo>
                        <a:pt x="4" y="0"/>
                        <a:pt x="9" y="-1"/>
                        <a:pt x="14" y="0"/>
                      </a:cubicBezTo>
                      <a:cubicBezTo>
                        <a:pt x="5116" y="0"/>
                        <a:pt x="10054" y="1806"/>
                        <a:pt x="13952" y="5098"/>
                      </a:cubicBezTo>
                    </a:path>
                    <a:path w="13952" h="21600" stroke="0" extrusionOk="0">
                      <a:moveTo>
                        <a:pt x="0" y="0"/>
                      </a:moveTo>
                      <a:cubicBezTo>
                        <a:pt x="4" y="0"/>
                        <a:pt x="9" y="-1"/>
                        <a:pt x="14" y="0"/>
                      </a:cubicBezTo>
                      <a:cubicBezTo>
                        <a:pt x="5116" y="0"/>
                        <a:pt x="10054" y="1806"/>
                        <a:pt x="13952" y="5098"/>
                      </a:cubicBezTo>
                      <a:lnTo>
                        <a:pt x="14" y="21600"/>
                      </a:lnTo>
                      <a:close/>
                    </a:path>
                  </a:pathLst>
                </a:custGeom>
                <a:noFill/>
                <a:ln w="22225" cap="rnd">
                  <a:solidFill>
                    <a:srgbClr val="D6009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Arc 27"/>
                <p:cNvSpPr>
                  <a:spLocks/>
                </p:cNvSpPr>
                <p:nvPr/>
              </p:nvSpPr>
              <p:spPr bwMode="auto">
                <a:xfrm>
                  <a:off x="3679" y="1177"/>
                  <a:ext cx="943" cy="704"/>
                </a:xfrm>
                <a:custGeom>
                  <a:avLst/>
                  <a:gdLst>
                    <a:gd name="G0" fmla="+- 14 0 0"/>
                    <a:gd name="G1" fmla="+- 21600 0 0"/>
                    <a:gd name="G2" fmla="+- 21600 0 0"/>
                    <a:gd name="T0" fmla="*/ 0 w 12961"/>
                    <a:gd name="T1" fmla="*/ 0 h 21600"/>
                    <a:gd name="T2" fmla="*/ 12961 w 12961"/>
                    <a:gd name="T3" fmla="*/ 4310 h 21600"/>
                    <a:gd name="T4" fmla="*/ 14 w 1296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2961" h="21600" fill="none" extrusionOk="0">
                      <a:moveTo>
                        <a:pt x="0" y="0"/>
                      </a:moveTo>
                      <a:cubicBezTo>
                        <a:pt x="4" y="0"/>
                        <a:pt x="9" y="-1"/>
                        <a:pt x="14" y="0"/>
                      </a:cubicBezTo>
                      <a:cubicBezTo>
                        <a:pt x="4681" y="0"/>
                        <a:pt x="9224" y="1512"/>
                        <a:pt x="12960" y="4310"/>
                      </a:cubicBezTo>
                    </a:path>
                    <a:path w="12961" h="21600" stroke="0" extrusionOk="0">
                      <a:moveTo>
                        <a:pt x="0" y="0"/>
                      </a:moveTo>
                      <a:cubicBezTo>
                        <a:pt x="4" y="0"/>
                        <a:pt x="9" y="-1"/>
                        <a:pt x="14" y="0"/>
                      </a:cubicBezTo>
                      <a:cubicBezTo>
                        <a:pt x="4681" y="0"/>
                        <a:pt x="9224" y="1512"/>
                        <a:pt x="12960" y="4310"/>
                      </a:cubicBezTo>
                      <a:lnTo>
                        <a:pt x="14" y="21600"/>
                      </a:lnTo>
                      <a:close/>
                    </a:path>
                  </a:pathLst>
                </a:custGeom>
                <a:noFill/>
                <a:ln w="22225" cap="rnd">
                  <a:solidFill>
                    <a:srgbClr val="D6009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Line 28"/>
                <p:cNvSpPr>
                  <a:spLocks noChangeShapeType="1"/>
                </p:cNvSpPr>
                <p:nvPr/>
              </p:nvSpPr>
              <p:spPr bwMode="auto">
                <a:xfrm>
                  <a:off x="4687" y="1105"/>
                  <a:ext cx="390" cy="120"/>
                </a:xfrm>
                <a:prstGeom prst="line">
                  <a:avLst/>
                </a:prstGeom>
                <a:noFill/>
                <a:ln w="22225">
                  <a:solidFill>
                    <a:srgbClr val="D6009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Line 29"/>
                <p:cNvSpPr>
                  <a:spLocks noChangeShapeType="1"/>
                </p:cNvSpPr>
                <p:nvPr/>
              </p:nvSpPr>
              <p:spPr bwMode="auto">
                <a:xfrm rot="21016033" flipH="1">
                  <a:off x="4975" y="1235"/>
                  <a:ext cx="113" cy="204"/>
                </a:xfrm>
                <a:prstGeom prst="line">
                  <a:avLst/>
                </a:prstGeom>
                <a:noFill/>
                <a:ln w="22225">
                  <a:solidFill>
                    <a:srgbClr val="D6009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Line 30"/>
                <p:cNvSpPr>
                  <a:spLocks noChangeShapeType="1"/>
                </p:cNvSpPr>
                <p:nvPr/>
              </p:nvSpPr>
              <p:spPr bwMode="auto">
                <a:xfrm>
                  <a:off x="4606" y="1312"/>
                  <a:ext cx="390" cy="147"/>
                </a:xfrm>
                <a:prstGeom prst="line">
                  <a:avLst/>
                </a:prstGeom>
                <a:noFill/>
                <a:ln w="22225">
                  <a:solidFill>
                    <a:srgbClr val="D6009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4" name="Oval 31"/>
              <p:cNvSpPr>
                <a:spLocks noChangeArrowheads="1"/>
              </p:cNvSpPr>
              <p:nvPr/>
            </p:nvSpPr>
            <p:spPr bwMode="auto">
              <a:xfrm>
                <a:off x="5488" y="2551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Oval 32"/>
              <p:cNvSpPr>
                <a:spLocks noChangeArrowheads="1"/>
              </p:cNvSpPr>
              <p:nvPr/>
            </p:nvSpPr>
            <p:spPr bwMode="auto">
              <a:xfrm>
                <a:off x="5104" y="2431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3442647" y="4150550"/>
              <a:ext cx="37147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747692" y="1085916"/>
            <a:ext cx="4713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80808"/>
                </a:solidFill>
                <a:ea typeface="黑体" panose="02010609060101010101" pitchFamily="49" charset="-122"/>
              </a:rPr>
              <a:t>构件受力后各部分位置的改变；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79839" y="4582470"/>
            <a:ext cx="789756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CN" altLang="en-US" b="1" dirty="0">
                <a:ea typeface="楷体" panose="02010609060101010101" pitchFamily="49" charset="-122"/>
              </a:rPr>
              <a:t>理力研究刚体位移，材力研究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</a:rPr>
              <a:t>变形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Deformation</a:t>
            </a:r>
            <a:r>
              <a:rPr lang="en-US" altLang="zh-CN" b="1" dirty="0">
                <a:solidFill>
                  <a:srgbClr val="FF0000"/>
                </a:solidFill>
                <a:ea typeface="楷体" panose="02010609060101010101" pitchFamily="49" charset="-122"/>
              </a:rPr>
              <a:t>)</a:t>
            </a:r>
            <a:r>
              <a:rPr lang="zh-CN" altLang="en-US" b="1" dirty="0">
                <a:ea typeface="楷体" panose="02010609060101010101" pitchFamily="49" charset="-122"/>
              </a:rPr>
              <a:t>位移</a:t>
            </a:r>
            <a:r>
              <a:rPr lang="zh-CN" altLang="en-US" b="1" dirty="0">
                <a:ea typeface="楷体_GB2312" pitchFamily="49" charset="-122"/>
              </a:rPr>
              <a:t>。</a:t>
            </a:r>
          </a:p>
        </p:txBody>
      </p:sp>
      <p:sp>
        <p:nvSpPr>
          <p:cNvPr id="38" name="Text Box 118"/>
          <p:cNvSpPr txBox="1">
            <a:spLocks noChangeArrowheads="1"/>
          </p:cNvSpPr>
          <p:nvPr/>
        </p:nvSpPr>
        <p:spPr bwMode="auto">
          <a:xfrm>
            <a:off x="1329850" y="5740133"/>
            <a:ext cx="64727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构件变形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可以看成单元体变形累积的结果。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 flipH="1">
            <a:off x="5245342" y="2476736"/>
            <a:ext cx="128588" cy="46747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8" name="矩形 7"/>
          <p:cNvSpPr/>
          <p:nvPr/>
        </p:nvSpPr>
        <p:spPr>
          <a:xfrm>
            <a:off x="512518" y="4078845"/>
            <a:ext cx="830717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80808"/>
                </a:solidFill>
                <a:ea typeface="黑体" panose="02010609060101010101" pitchFamily="49" charset="-122"/>
              </a:rPr>
              <a:t>一线段或截面发生旋转，转过的角度称为该线段的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角位移</a:t>
            </a:r>
            <a:r>
              <a:rPr lang="zh-CN" altLang="en-US" b="1" dirty="0">
                <a:solidFill>
                  <a:srgbClr val="080808"/>
                </a:solidFill>
                <a:ea typeface="黑体" panose="02010609060101010101" pitchFamily="49" charset="-122"/>
              </a:rPr>
              <a:t>；</a:t>
            </a:r>
            <a:endParaRPr lang="en-US" altLang="zh-CN" b="1" dirty="0">
              <a:solidFill>
                <a:srgbClr val="080808"/>
              </a:solidFill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488895" y="1750947"/>
            <a:ext cx="552450" cy="674515"/>
            <a:chOff x="4488895" y="1750947"/>
            <a:chExt cx="552450" cy="674515"/>
          </a:xfrm>
        </p:grpSpPr>
        <p:sp>
          <p:nvSpPr>
            <p:cNvPr id="43" name="Line 25"/>
            <p:cNvSpPr>
              <a:spLocks noChangeAspect="1" noChangeShapeType="1"/>
            </p:cNvSpPr>
            <p:nvPr/>
          </p:nvSpPr>
          <p:spPr bwMode="auto">
            <a:xfrm rot="21016033" flipH="1">
              <a:off x="4705809" y="1932497"/>
              <a:ext cx="273065" cy="4929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05"/>
            <p:cNvSpPr txBox="1">
              <a:spLocks noChangeArrowheads="1"/>
            </p:cNvSpPr>
            <p:nvPr/>
          </p:nvSpPr>
          <p:spPr bwMode="auto">
            <a:xfrm>
              <a:off x="4488895" y="1750947"/>
              <a:ext cx="5524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0" i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000" b="0" i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498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46" grpId="0" autoUpdateAnimBg="0"/>
      <p:bldP spid="62" grpId="0" uiExpand="1" build="p" autoUpdateAnimBg="0"/>
      <p:bldP spid="34" grpId="0" build="p" autoUpdateAnimBg="0"/>
      <p:bldP spid="3" grpId="0"/>
      <p:bldP spid="4" grpId="0"/>
      <p:bldP spid="38" grpId="0" autoUpdateAnimBg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356449" y="3863283"/>
            <a:ext cx="866136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线应变（正应变）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：线段相对</a:t>
            </a:r>
            <a:r>
              <a:rPr lang="zh-CN" altLang="en-US" b="1" dirty="0">
                <a:solidFill>
                  <a:srgbClr val="080808"/>
                </a:solidFill>
                <a:latin typeface="+mn-lt"/>
                <a:ea typeface="黑体" panose="02010609060101010101" pitchFamily="49" charset="-122"/>
              </a:rPr>
              <a:t>的变形量（单位长度的改变量）</a:t>
            </a:r>
            <a:endParaRPr kumimoji="1" lang="zh-CN" altLang="en-US" sz="2400" b="1" dirty="0">
              <a:solidFill>
                <a:srgbClr val="080808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3669" name="Rectangle 69"/>
          <p:cNvSpPr>
            <a:spLocks noChangeArrowheads="1"/>
          </p:cNvSpPr>
          <p:nvPr/>
        </p:nvSpPr>
        <p:spPr bwMode="auto">
          <a:xfrm>
            <a:off x="448469" y="441703"/>
            <a:ext cx="4598195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5-4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位移、变形与应变</a:t>
            </a:r>
          </a:p>
        </p:txBody>
      </p:sp>
      <p:grpSp>
        <p:nvGrpSpPr>
          <p:cNvPr id="153670" name="Group 70"/>
          <p:cNvGrpSpPr>
            <a:grpSpLocks/>
          </p:cNvGrpSpPr>
          <p:nvPr/>
        </p:nvGrpSpPr>
        <p:grpSpPr bwMode="auto">
          <a:xfrm>
            <a:off x="3357598" y="1651092"/>
            <a:ext cx="1423988" cy="477838"/>
            <a:chOff x="3696" y="1763"/>
            <a:chExt cx="1008" cy="301"/>
          </a:xfrm>
        </p:grpSpPr>
        <p:sp>
          <p:nvSpPr>
            <p:cNvPr id="153671" name="Line 71"/>
            <p:cNvSpPr>
              <a:spLocks noChangeShapeType="1"/>
            </p:cNvSpPr>
            <p:nvPr/>
          </p:nvSpPr>
          <p:spPr bwMode="auto">
            <a:xfrm>
              <a:off x="3696" y="2064"/>
              <a:ext cx="1008" cy="0"/>
            </a:xfrm>
            <a:prstGeom prst="line">
              <a:avLst/>
            </a:prstGeom>
            <a:noFill/>
            <a:ln w="889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2" name="Rectangle 72"/>
            <p:cNvSpPr>
              <a:spLocks noChangeArrowheads="1"/>
            </p:cNvSpPr>
            <p:nvPr/>
          </p:nvSpPr>
          <p:spPr bwMode="auto">
            <a:xfrm>
              <a:off x="4056" y="1763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153673" name="Group 73"/>
          <p:cNvGrpSpPr>
            <a:grpSpLocks/>
          </p:cNvGrpSpPr>
          <p:nvPr/>
        </p:nvGrpSpPr>
        <p:grpSpPr bwMode="auto">
          <a:xfrm>
            <a:off x="3132967" y="2165641"/>
            <a:ext cx="1928813" cy="461963"/>
            <a:chOff x="4464" y="2304"/>
            <a:chExt cx="1215" cy="291"/>
          </a:xfrm>
        </p:grpSpPr>
        <p:sp>
          <p:nvSpPr>
            <p:cNvPr id="153674" name="Line 74"/>
            <p:cNvSpPr>
              <a:spLocks noChangeShapeType="1"/>
            </p:cNvSpPr>
            <p:nvPr/>
          </p:nvSpPr>
          <p:spPr bwMode="auto">
            <a:xfrm>
              <a:off x="4464" y="2592"/>
              <a:ext cx="1215" cy="0"/>
            </a:xfrm>
            <a:prstGeom prst="line">
              <a:avLst/>
            </a:prstGeom>
            <a:noFill/>
            <a:ln w="889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5" name="Rectangle 75"/>
            <p:cNvSpPr>
              <a:spLocks noChangeArrowheads="1"/>
            </p:cNvSpPr>
            <p:nvPr/>
          </p:nvSpPr>
          <p:spPr bwMode="auto">
            <a:xfrm>
              <a:off x="4752" y="2304"/>
              <a:ext cx="6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CN" sz="24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4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u</a:t>
              </a:r>
              <a:endPara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3690" name="Object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558476"/>
              </p:ext>
            </p:extLst>
          </p:nvPr>
        </p:nvGraphicFramePr>
        <p:xfrm>
          <a:off x="3288157" y="2701027"/>
          <a:ext cx="11938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520560" imgH="393480" progId="Equation.DSMT4">
                  <p:embed/>
                </p:oleObj>
              </mc:Choice>
              <mc:Fallback>
                <p:oleObj name="Equation" r:id="rId3" imgW="520560" imgH="3934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157" y="2701027"/>
                        <a:ext cx="11938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96" name="Group 96"/>
          <p:cNvGrpSpPr>
            <a:grpSpLocks/>
          </p:cNvGrpSpPr>
          <p:nvPr/>
        </p:nvGrpSpPr>
        <p:grpSpPr bwMode="auto">
          <a:xfrm>
            <a:off x="5767832" y="1641363"/>
            <a:ext cx="1692275" cy="1309688"/>
            <a:chOff x="3360" y="2496"/>
            <a:chExt cx="1066" cy="825"/>
          </a:xfrm>
        </p:grpSpPr>
        <p:sp>
          <p:nvSpPr>
            <p:cNvPr id="153697" name="Line 97"/>
            <p:cNvSpPr>
              <a:spLocks noChangeShapeType="1"/>
            </p:cNvSpPr>
            <p:nvPr/>
          </p:nvSpPr>
          <p:spPr bwMode="auto">
            <a:xfrm>
              <a:off x="3706" y="3072"/>
              <a:ext cx="7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8" name="Line 98"/>
            <p:cNvSpPr>
              <a:spLocks noChangeShapeType="1"/>
            </p:cNvSpPr>
            <p:nvPr/>
          </p:nvSpPr>
          <p:spPr bwMode="auto">
            <a:xfrm flipV="1">
              <a:off x="3706" y="2496"/>
              <a:ext cx="0" cy="57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9" name="Rectangle 99"/>
            <p:cNvSpPr>
              <a:spLocks noChangeArrowheads="1"/>
            </p:cNvSpPr>
            <p:nvPr/>
          </p:nvSpPr>
          <p:spPr bwMode="auto">
            <a:xfrm>
              <a:off x="3900" y="3030"/>
              <a:ext cx="3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4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153700" name="Rectangle 100"/>
            <p:cNvSpPr>
              <a:spLocks noChangeArrowheads="1"/>
            </p:cNvSpPr>
            <p:nvPr/>
          </p:nvSpPr>
          <p:spPr bwMode="auto">
            <a:xfrm>
              <a:off x="3360" y="2582"/>
              <a:ext cx="3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CN" sz="24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400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53702" name="Text Box 102"/>
          <p:cNvSpPr txBox="1">
            <a:spLocks noChangeArrowheads="1"/>
          </p:cNvSpPr>
          <p:nvPr/>
        </p:nvSpPr>
        <p:spPr bwMode="auto">
          <a:xfrm>
            <a:off x="1903205" y="5128364"/>
            <a:ext cx="6290617" cy="973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FontTx/>
              <a:buBlip>
                <a:blip r:embed="rId5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线应变反映了构件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尺寸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Size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的变化</a:t>
            </a:r>
            <a:r>
              <a:rPr kumimoji="1" lang="zh-CN" altLang="en-US" sz="2400" b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Tx/>
              <a:buBlip>
                <a:blip r:embed="rId5"/>
              </a:buBlip>
            </a:pP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切应变反映了构件</a:t>
            </a:r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形状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Shape</a:t>
            </a:r>
            <a:r>
              <a:rPr kumimoji="1"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solidFill>
                  <a:srgbClr val="080808"/>
                </a:solidFill>
                <a:latin typeface="+mn-lt"/>
                <a:ea typeface="楷体" panose="02010609060101010101" pitchFamily="49" charset="-122"/>
              </a:rPr>
              <a:t>的变化。</a:t>
            </a:r>
            <a:endParaRPr kumimoji="1" lang="zh-CN" altLang="el-GR" sz="2400" b="1" dirty="0">
              <a:solidFill>
                <a:srgbClr val="080808"/>
              </a:solidFill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153704" name="Group 104"/>
          <p:cNvGrpSpPr>
            <a:grpSpLocks/>
          </p:cNvGrpSpPr>
          <p:nvPr/>
        </p:nvGrpSpPr>
        <p:grpSpPr bwMode="auto">
          <a:xfrm>
            <a:off x="6348869" y="1460387"/>
            <a:ext cx="1066802" cy="1066800"/>
            <a:chOff x="4138" y="2669"/>
            <a:chExt cx="672" cy="672"/>
          </a:xfrm>
        </p:grpSpPr>
        <p:sp>
          <p:nvSpPr>
            <p:cNvPr id="153692" name="Line 92"/>
            <p:cNvSpPr>
              <a:spLocks noChangeShapeType="1"/>
            </p:cNvSpPr>
            <p:nvPr/>
          </p:nvSpPr>
          <p:spPr bwMode="auto">
            <a:xfrm flipV="1">
              <a:off x="4138" y="2669"/>
              <a:ext cx="144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3" name="Line 93"/>
            <p:cNvSpPr>
              <a:spLocks noChangeShapeType="1"/>
            </p:cNvSpPr>
            <p:nvPr/>
          </p:nvSpPr>
          <p:spPr bwMode="auto">
            <a:xfrm flipV="1">
              <a:off x="4138" y="3197"/>
              <a:ext cx="672" cy="14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94" name="Arc 94"/>
            <p:cNvSpPr>
              <a:spLocks/>
            </p:cNvSpPr>
            <p:nvPr/>
          </p:nvSpPr>
          <p:spPr bwMode="auto">
            <a:xfrm>
              <a:off x="4189" y="3092"/>
              <a:ext cx="228" cy="183"/>
            </a:xfrm>
            <a:custGeom>
              <a:avLst/>
              <a:gdLst>
                <a:gd name="G0" fmla="+- 64 0 0"/>
                <a:gd name="G1" fmla="+- 21600 0 0"/>
                <a:gd name="G2" fmla="+- 21600 0 0"/>
                <a:gd name="T0" fmla="*/ 0 w 21664"/>
                <a:gd name="T1" fmla="*/ 0 h 21600"/>
                <a:gd name="T2" fmla="*/ 21664 w 21664"/>
                <a:gd name="T3" fmla="*/ 21600 h 21600"/>
                <a:gd name="T4" fmla="*/ 64 w 2166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64" h="21600" fill="none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</a:path>
                <a:path w="21664" h="21600" stroke="0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  <a:lnTo>
                    <a:pt x="64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3" name="Text Box 103"/>
            <p:cNvSpPr txBox="1">
              <a:spLocks noChangeArrowheads="1"/>
            </p:cNvSpPr>
            <p:nvPr/>
          </p:nvSpPr>
          <p:spPr bwMode="ltGray">
            <a:xfrm>
              <a:off x="4266" y="2889"/>
              <a:ext cx="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90</a:t>
              </a:r>
              <a:r>
                <a:rPr lang="en-US" altLang="zh-CN" sz="2000" baseline="30000" dirty="0">
                  <a:ea typeface="楷体_GB2312" pitchFamily="49" charset="-122"/>
                  <a:cs typeface="Times New Roman" panose="02020603050405020304" pitchFamily="18" charset="0"/>
                </a:rPr>
                <a:t>o  </a:t>
              </a:r>
              <a:r>
                <a:rPr lang="en-US" altLang="zh-CN" dirty="0">
                  <a:latin typeface="Times New Roman" panose="02020603050405020304" pitchFamily="18" charset="0"/>
                  <a:ea typeface="楷体_GB2312" pitchFamily="49" charset="-122"/>
                </a:rPr>
                <a:t>̶ </a:t>
              </a:r>
              <a:r>
                <a:rPr lang="en-US" altLang="zh-CN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</a:t>
              </a:r>
            </a:p>
          </p:txBody>
        </p:sp>
      </p:grpSp>
      <p:grpSp>
        <p:nvGrpSpPr>
          <p:cNvPr id="68" name="Group 119"/>
          <p:cNvGrpSpPr>
            <a:grpSpLocks/>
          </p:cNvGrpSpPr>
          <p:nvPr/>
        </p:nvGrpSpPr>
        <p:grpSpPr bwMode="auto">
          <a:xfrm>
            <a:off x="5546695" y="2984444"/>
            <a:ext cx="2875341" cy="420688"/>
            <a:chOff x="4205" y="3279"/>
            <a:chExt cx="1618" cy="265"/>
          </a:xfrm>
        </p:grpSpPr>
        <p:sp>
          <p:nvSpPr>
            <p:cNvPr id="69" name="Rectangle 49"/>
            <p:cNvSpPr>
              <a:spLocks noChangeArrowheads="1"/>
            </p:cNvSpPr>
            <p:nvPr/>
          </p:nvSpPr>
          <p:spPr bwMode="auto">
            <a:xfrm>
              <a:off x="4953" y="3308"/>
              <a:ext cx="8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dirty="0">
                  <a:latin typeface="楷体" panose="02010609060101010101" pitchFamily="49" charset="-122"/>
                  <a:ea typeface="楷体" panose="02010609060101010101" pitchFamily="49" charset="-122"/>
                </a:rPr>
                <a:t>直角改变量</a:t>
              </a:r>
            </a:p>
          </p:txBody>
        </p:sp>
        <p:sp>
          <p:nvSpPr>
            <p:cNvPr id="70" name="Rectangle 50"/>
            <p:cNvSpPr>
              <a:spLocks noChangeArrowheads="1"/>
            </p:cNvSpPr>
            <p:nvPr/>
          </p:nvSpPr>
          <p:spPr bwMode="auto">
            <a:xfrm>
              <a:off x="4795" y="3311"/>
              <a:ext cx="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i="1" dirty="0">
                  <a:latin typeface="Symbol" panose="05050102010706020507" pitchFamily="18" charset="2"/>
                </a:rPr>
                <a:t>b</a:t>
              </a:r>
              <a:endParaRPr lang="en-US" altLang="zh-CN" b="0" dirty="0">
                <a:latin typeface="Book Antiqua" panose="02040602050305030304" pitchFamily="18" charset="0"/>
              </a:endParaRPr>
            </a:p>
          </p:txBody>
        </p:sp>
        <p:sp>
          <p:nvSpPr>
            <p:cNvPr id="71" name="Rectangle 51"/>
            <p:cNvSpPr>
              <a:spLocks noChangeArrowheads="1"/>
            </p:cNvSpPr>
            <p:nvPr/>
          </p:nvSpPr>
          <p:spPr bwMode="auto">
            <a:xfrm>
              <a:off x="4498" y="3301"/>
              <a:ext cx="10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i="1" dirty="0">
                  <a:latin typeface="Symbol" panose="05050102010706020507" pitchFamily="18" charset="2"/>
                </a:rPr>
                <a:t>a</a:t>
              </a:r>
              <a:endParaRPr lang="en-US" altLang="zh-CN" b="0" dirty="0">
                <a:latin typeface="Book Antiqua" panose="02040602050305030304" pitchFamily="18" charset="0"/>
              </a:endParaRPr>
            </a:p>
          </p:txBody>
        </p:sp>
        <p:sp>
          <p:nvSpPr>
            <p:cNvPr id="72" name="Rectangle 52"/>
            <p:cNvSpPr>
              <a:spLocks noChangeArrowheads="1"/>
            </p:cNvSpPr>
            <p:nvPr/>
          </p:nvSpPr>
          <p:spPr bwMode="auto">
            <a:xfrm>
              <a:off x="4205" y="3279"/>
              <a:ext cx="7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i="1" dirty="0">
                  <a:latin typeface="Symbol" panose="05050102010706020507" pitchFamily="18" charset="2"/>
                </a:rPr>
                <a:t>g</a:t>
              </a:r>
              <a:endParaRPr lang="en-US" altLang="zh-CN" b="0" dirty="0">
                <a:latin typeface="Book Antiqua" panose="02040602050305030304" pitchFamily="18" charset="0"/>
              </a:endParaRPr>
            </a:p>
          </p:txBody>
        </p:sp>
        <p:sp>
          <p:nvSpPr>
            <p:cNvPr id="73" name="Rectangle 53"/>
            <p:cNvSpPr>
              <a:spLocks noChangeArrowheads="1"/>
            </p:cNvSpPr>
            <p:nvPr/>
          </p:nvSpPr>
          <p:spPr bwMode="auto">
            <a:xfrm>
              <a:off x="4660" y="3306"/>
              <a:ext cx="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dirty="0">
                  <a:latin typeface="Symbol" panose="05050102010706020507" pitchFamily="18" charset="2"/>
                </a:rPr>
                <a:t>+</a:t>
              </a:r>
              <a:endParaRPr lang="en-US" altLang="zh-CN" b="0" dirty="0">
                <a:latin typeface="Book Antiqua" panose="02040602050305030304" pitchFamily="18" charset="0"/>
              </a:endParaRPr>
            </a:p>
          </p:txBody>
        </p:sp>
        <p:sp>
          <p:nvSpPr>
            <p:cNvPr id="74" name="Rectangle 54"/>
            <p:cNvSpPr>
              <a:spLocks noChangeArrowheads="1"/>
            </p:cNvSpPr>
            <p:nvPr/>
          </p:nvSpPr>
          <p:spPr bwMode="auto">
            <a:xfrm>
              <a:off x="4352" y="3295"/>
              <a:ext cx="9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dirty="0">
                  <a:latin typeface="Symbol" panose="05050102010706020507" pitchFamily="18" charset="2"/>
                </a:rPr>
                <a:t>=</a:t>
              </a:r>
              <a:endParaRPr lang="en-US" altLang="zh-CN" b="0" dirty="0">
                <a:latin typeface="Book Antiqua" panose="02040602050305030304" pitchFamily="18" charset="0"/>
              </a:endParaRPr>
            </a:p>
          </p:txBody>
        </p:sp>
      </p:grpSp>
      <p:grpSp>
        <p:nvGrpSpPr>
          <p:cNvPr id="76" name="Group 104"/>
          <p:cNvGrpSpPr>
            <a:grpSpLocks/>
          </p:cNvGrpSpPr>
          <p:nvPr/>
        </p:nvGrpSpPr>
        <p:grpSpPr bwMode="auto">
          <a:xfrm>
            <a:off x="5760688" y="1131774"/>
            <a:ext cx="690562" cy="715962"/>
            <a:chOff x="2223" y="2496"/>
            <a:chExt cx="435" cy="451"/>
          </a:xfrm>
        </p:grpSpPr>
        <p:sp>
          <p:nvSpPr>
            <p:cNvPr id="77" name="Text Box 105"/>
            <p:cNvSpPr txBox="1">
              <a:spLocks noChangeArrowheads="1"/>
            </p:cNvSpPr>
            <p:nvPr/>
          </p:nvSpPr>
          <p:spPr bwMode="auto">
            <a:xfrm>
              <a:off x="2223" y="2496"/>
              <a:ext cx="3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i="1" dirty="0">
                  <a:solidFill>
                    <a:srgbClr val="BE27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en-US" altLang="zh-CN" b="0" i="1" dirty="0">
                <a:solidFill>
                  <a:srgbClr val="BE270E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Line 106"/>
            <p:cNvSpPr>
              <a:spLocks noChangeShapeType="1"/>
            </p:cNvSpPr>
            <p:nvPr/>
          </p:nvSpPr>
          <p:spPr bwMode="auto">
            <a:xfrm>
              <a:off x="2526" y="2678"/>
              <a:ext cx="132" cy="2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" name="Group 107"/>
          <p:cNvGrpSpPr>
            <a:grpSpLocks/>
          </p:cNvGrpSpPr>
          <p:nvPr/>
        </p:nvGrpSpPr>
        <p:grpSpPr bwMode="auto">
          <a:xfrm>
            <a:off x="7148958" y="2406363"/>
            <a:ext cx="836612" cy="457200"/>
            <a:chOff x="2958" y="3196"/>
            <a:chExt cx="527" cy="288"/>
          </a:xfrm>
        </p:grpSpPr>
        <p:sp>
          <p:nvSpPr>
            <p:cNvPr id="88" name="Text Box 108"/>
            <p:cNvSpPr txBox="1">
              <a:spLocks noChangeArrowheads="1"/>
            </p:cNvSpPr>
            <p:nvPr/>
          </p:nvSpPr>
          <p:spPr bwMode="auto">
            <a:xfrm>
              <a:off x="3138" y="3196"/>
              <a:ext cx="3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0" i="1" dirty="0">
                  <a:solidFill>
                    <a:srgbClr val="BE270E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endParaRPr lang="en-US" altLang="zh-CN" sz="3600" b="0" dirty="0">
                <a:solidFill>
                  <a:srgbClr val="BE270E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" name="Line 109"/>
            <p:cNvSpPr>
              <a:spLocks noChangeShapeType="1"/>
            </p:cNvSpPr>
            <p:nvPr/>
          </p:nvSpPr>
          <p:spPr bwMode="auto">
            <a:xfrm>
              <a:off x="2958" y="3215"/>
              <a:ext cx="24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sm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389520" y="4438093"/>
            <a:ext cx="544937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切应变（角应变）</a:t>
            </a:r>
            <a:r>
              <a:rPr lang="zh-CN" altLang="en-US" b="1" dirty="0">
                <a:solidFill>
                  <a:srgbClr val="080808"/>
                </a:solidFill>
                <a:ea typeface="黑体" panose="02010609060101010101" pitchFamily="49" charset="-122"/>
              </a:rPr>
              <a:t>：直角的改变量</a:t>
            </a:r>
            <a:endParaRPr lang="zh-CN" altLang="el-GR" b="1" dirty="0">
              <a:solidFill>
                <a:srgbClr val="080808"/>
              </a:solidFill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6287" y="1536245"/>
            <a:ext cx="2148998" cy="2039875"/>
            <a:chOff x="649912" y="2764802"/>
            <a:chExt cx="2148998" cy="2039875"/>
          </a:xfrm>
        </p:grpSpPr>
        <p:grpSp>
          <p:nvGrpSpPr>
            <p:cNvPr id="50" name="Group 7"/>
            <p:cNvGrpSpPr>
              <a:grpSpLocks noChangeAspect="1"/>
            </p:cNvGrpSpPr>
            <p:nvPr/>
          </p:nvGrpSpPr>
          <p:grpSpPr bwMode="auto">
            <a:xfrm>
              <a:off x="649912" y="2764802"/>
              <a:ext cx="2148998" cy="2039875"/>
              <a:chOff x="538" y="944"/>
              <a:chExt cx="1600" cy="1519"/>
            </a:xfrm>
          </p:grpSpPr>
          <p:sp>
            <p:nvSpPr>
              <p:cNvPr id="51" name="Text Box 8"/>
              <p:cNvSpPr txBox="1">
                <a:spLocks noChangeAspect="1" noChangeArrowheads="1"/>
              </p:cNvSpPr>
              <p:nvPr/>
            </p:nvSpPr>
            <p:spPr bwMode="auto">
              <a:xfrm>
                <a:off x="779" y="944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52" name="AutoShape 9"/>
              <p:cNvSpPr>
                <a:spLocks noChangeAspect="1" noChangeArrowheads="1"/>
              </p:cNvSpPr>
              <p:nvPr/>
            </p:nvSpPr>
            <p:spPr bwMode="auto">
              <a:xfrm>
                <a:off x="778" y="1350"/>
                <a:ext cx="768" cy="76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3" name="Line 10"/>
              <p:cNvSpPr>
                <a:spLocks noChangeAspect="1" noChangeShapeType="1"/>
              </p:cNvSpPr>
              <p:nvPr/>
            </p:nvSpPr>
            <p:spPr bwMode="auto">
              <a:xfrm flipH="1">
                <a:off x="538" y="2118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11"/>
              <p:cNvSpPr>
                <a:spLocks noChangeAspect="1" noChangeShapeType="1"/>
              </p:cNvSpPr>
              <p:nvPr/>
            </p:nvSpPr>
            <p:spPr bwMode="auto">
              <a:xfrm>
                <a:off x="1546" y="192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12"/>
              <p:cNvSpPr>
                <a:spLocks noChangeAspect="1" noChangeShapeType="1"/>
              </p:cNvSpPr>
              <p:nvPr/>
            </p:nvSpPr>
            <p:spPr bwMode="auto">
              <a:xfrm flipV="1">
                <a:off x="970" y="101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Text Box 21"/>
              <p:cNvSpPr txBox="1">
                <a:spLocks noChangeAspect="1" noChangeArrowheads="1"/>
              </p:cNvSpPr>
              <p:nvPr/>
            </p:nvSpPr>
            <p:spPr bwMode="auto">
              <a:xfrm>
                <a:off x="1916" y="1859"/>
                <a:ext cx="222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65" name="Text Box 22"/>
              <p:cNvSpPr txBox="1">
                <a:spLocks noChangeAspect="1" noChangeArrowheads="1"/>
              </p:cNvSpPr>
              <p:nvPr/>
            </p:nvSpPr>
            <p:spPr bwMode="auto">
              <a:xfrm>
                <a:off x="604" y="2165"/>
                <a:ext cx="211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75" name="Text Box 25"/>
              <p:cNvSpPr txBox="1">
                <a:spLocks noChangeAspect="1" noChangeArrowheads="1"/>
              </p:cNvSpPr>
              <p:nvPr/>
            </p:nvSpPr>
            <p:spPr bwMode="auto">
              <a:xfrm>
                <a:off x="911" y="1870"/>
                <a:ext cx="562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  <a:r>
                  <a:rPr kumimoji="1"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80" name="Text Box 25"/>
            <p:cNvSpPr txBox="1">
              <a:spLocks noChangeAspect="1" noChangeArrowheads="1"/>
            </p:cNvSpPr>
            <p:nvPr/>
          </p:nvSpPr>
          <p:spPr bwMode="auto">
            <a:xfrm>
              <a:off x="1401714" y="3612260"/>
              <a:ext cx="754835" cy="397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Text Box 25"/>
            <p:cNvSpPr txBox="1">
              <a:spLocks noChangeAspect="1" noChangeArrowheads="1"/>
            </p:cNvSpPr>
            <p:nvPr/>
          </p:nvSpPr>
          <p:spPr bwMode="auto">
            <a:xfrm>
              <a:off x="1804998" y="4037970"/>
              <a:ext cx="754835" cy="397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367902" y="1035186"/>
            <a:ext cx="195822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5"/>
              </a:buBlip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应变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Strain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endParaRPr lang="zh-CN" altLang="en-US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1101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53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53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uiExpand="1" build="p" autoUpdateAnimBg="0"/>
      <p:bldP spid="153702" grpId="0" build="p" autoUpdateAnimBg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6372200" y="680222"/>
            <a:ext cx="2224230" cy="2922606"/>
            <a:chOff x="711153" y="1003250"/>
            <a:chExt cx="2224230" cy="2922606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801483" y="2051802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899592" y="2373529"/>
              <a:ext cx="1656000" cy="0"/>
            </a:xfrm>
            <a:prstGeom prst="line">
              <a:avLst/>
            </a:prstGeom>
            <a:noFill/>
            <a:ln w="19050">
              <a:solidFill>
                <a:srgbClr val="7030A0"/>
              </a:solidFill>
              <a:prstDash val="solid"/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711153" y="2340947"/>
              <a:ext cx="36260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</a:t>
              </a:r>
              <a:endParaRPr kumimoji="1" lang="en-US" altLang="zh-CN" sz="20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1465067" y="1962743"/>
              <a:ext cx="59503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45°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187624" y="1361281"/>
              <a:ext cx="132951" cy="2052000"/>
              <a:chOff x="1259107" y="2348881"/>
              <a:chExt cx="132951" cy="2052000"/>
            </a:xfrm>
          </p:grpSpPr>
          <p:sp>
            <p:nvSpPr>
              <p:cNvPr id="5" name="Line 6"/>
              <p:cNvSpPr>
                <a:spLocks noChangeShapeType="1"/>
              </p:cNvSpPr>
              <p:nvPr/>
            </p:nvSpPr>
            <p:spPr bwMode="auto">
              <a:xfrm rot="5400000">
                <a:off x="366058" y="3374881"/>
                <a:ext cx="205200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" name="Line 7"/>
              <p:cNvSpPr>
                <a:spLocks noChangeAspect="1" noChangeShapeType="1"/>
              </p:cNvSpPr>
              <p:nvPr/>
            </p:nvSpPr>
            <p:spPr bwMode="auto">
              <a:xfrm rot="5400000">
                <a:off x="1262862" y="2447531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" name="Line 8"/>
              <p:cNvSpPr>
                <a:spLocks noChangeAspect="1" noChangeShapeType="1"/>
              </p:cNvSpPr>
              <p:nvPr/>
            </p:nvSpPr>
            <p:spPr bwMode="auto">
              <a:xfrm rot="5400000">
                <a:off x="1260667" y="2605783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60665" y="2950173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" name="Line 10"/>
              <p:cNvSpPr>
                <a:spLocks noChangeAspect="1" noChangeShapeType="1"/>
              </p:cNvSpPr>
              <p:nvPr/>
            </p:nvSpPr>
            <p:spPr bwMode="auto">
              <a:xfrm rot="5400000">
                <a:off x="1260666" y="2779584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11"/>
              <p:cNvSpPr>
                <a:spLocks noChangeAspect="1" noChangeShapeType="1"/>
              </p:cNvSpPr>
              <p:nvPr/>
            </p:nvSpPr>
            <p:spPr bwMode="auto">
              <a:xfrm rot="5400000">
                <a:off x="1263939" y="3114433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0998" y="3272685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8940" y="3424748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8940" y="3600820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8940" y="3752534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8940" y="3918234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8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0473" y="4076486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" name="Line 9"/>
              <p:cNvSpPr>
                <a:spLocks noChangeAspect="1" noChangeShapeType="1"/>
              </p:cNvSpPr>
              <p:nvPr/>
            </p:nvSpPr>
            <p:spPr bwMode="auto">
              <a:xfrm rot="5400000">
                <a:off x="1250997" y="4243205"/>
                <a:ext cx="136471" cy="11920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cxnSp>
          <p:nvCxnSpPr>
            <p:cNvPr id="32" name="直接连接符 31"/>
            <p:cNvCxnSpPr/>
            <p:nvPr/>
          </p:nvCxnSpPr>
          <p:spPr bwMode="auto">
            <a:xfrm rot="2700000">
              <a:off x="1137773" y="1915323"/>
              <a:ext cx="1296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 rot="8100000">
              <a:off x="1144528" y="2824537"/>
              <a:ext cx="1296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2529503" y="2163068"/>
              <a:ext cx="40588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</a:t>
              </a:r>
              <a:endParaRPr kumimoji="1" lang="en-US" altLang="zh-CN" sz="2000" i="1" dirty="0">
                <a:solidFill>
                  <a:srgbClr val="080808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35" name="直接连接符 34"/>
            <p:cNvCxnSpPr>
              <a:cxnSpLocks noChangeAspect="1"/>
            </p:cNvCxnSpPr>
            <p:nvPr/>
          </p:nvCxnSpPr>
          <p:spPr bwMode="auto">
            <a:xfrm>
              <a:off x="1306827" y="1441391"/>
              <a:ext cx="1257260" cy="90802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>
              <a:cxnSpLocks noChangeAspect="1"/>
            </p:cNvCxnSpPr>
            <p:nvPr/>
          </p:nvCxnSpPr>
          <p:spPr bwMode="auto">
            <a:xfrm rot="-4320000">
              <a:off x="1315402" y="2389623"/>
              <a:ext cx="1257260" cy="90802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rot="8100000">
              <a:off x="857859" y="3461984"/>
              <a:ext cx="576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 rot="13500000">
              <a:off x="857866" y="1291250"/>
              <a:ext cx="576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  <a:effectLst/>
          </p:spPr>
        </p:cxn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871457" y="3525746"/>
              <a:ext cx="29848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806239" y="1042918"/>
              <a:ext cx="29848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43" name="Arc 213"/>
            <p:cNvSpPr>
              <a:spLocks/>
            </p:cNvSpPr>
            <p:nvPr/>
          </p:nvSpPr>
          <p:spPr bwMode="auto">
            <a:xfrm rot="10440000">
              <a:off x="1795748" y="2106642"/>
              <a:ext cx="176468" cy="290431"/>
            </a:xfrm>
            <a:custGeom>
              <a:avLst/>
              <a:gdLst>
                <a:gd name="T0" fmla="*/ 0 w 22989"/>
                <a:gd name="T1" fmla="*/ 0 h 21600"/>
                <a:gd name="T2" fmla="*/ 0 w 22989"/>
                <a:gd name="T3" fmla="*/ 0 h 21600"/>
                <a:gd name="T4" fmla="*/ 0 w 229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989"/>
                <a:gd name="T10" fmla="*/ 0 h 21600"/>
                <a:gd name="T11" fmla="*/ 22989 w 229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89" h="21600" fill="none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</a:path>
                <a:path w="22989" h="21600" stroke="0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  <a:lnTo>
                    <a:pt x="1629" y="0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44" name="Arc 213"/>
            <p:cNvSpPr>
              <a:spLocks/>
            </p:cNvSpPr>
            <p:nvPr/>
          </p:nvSpPr>
          <p:spPr bwMode="auto">
            <a:xfrm rot="7260000">
              <a:off x="1812906" y="2379027"/>
              <a:ext cx="176468" cy="290431"/>
            </a:xfrm>
            <a:custGeom>
              <a:avLst/>
              <a:gdLst>
                <a:gd name="T0" fmla="*/ 0 w 22989"/>
                <a:gd name="T1" fmla="*/ 0 h 21600"/>
                <a:gd name="T2" fmla="*/ 0 w 22989"/>
                <a:gd name="T3" fmla="*/ 0 h 21600"/>
                <a:gd name="T4" fmla="*/ 0 w 229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989"/>
                <a:gd name="T10" fmla="*/ 0 h 21600"/>
                <a:gd name="T11" fmla="*/ 22989 w 229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89" h="21600" fill="none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</a:path>
                <a:path w="22989" h="21600" stroke="0" extrusionOk="0">
                  <a:moveTo>
                    <a:pt x="22988" y="3212"/>
                  </a:moveTo>
                  <a:cubicBezTo>
                    <a:pt x="21398" y="13782"/>
                    <a:pt x="12317" y="21599"/>
                    <a:pt x="1629" y="21600"/>
                  </a:cubicBezTo>
                  <a:cubicBezTo>
                    <a:pt x="1085" y="21600"/>
                    <a:pt x="542" y="21579"/>
                    <a:pt x="-1" y="21538"/>
                  </a:cubicBezTo>
                  <a:lnTo>
                    <a:pt x="1629" y="0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1448020" y="2472494"/>
              <a:ext cx="59503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45°</a:t>
              </a:r>
            </a:p>
          </p:txBody>
        </p:sp>
        <p:sp>
          <p:nvSpPr>
            <p:cNvPr id="46" name="Text Box 15"/>
            <p:cNvSpPr txBox="1">
              <a:spLocks noChangeArrowheads="1"/>
            </p:cNvSpPr>
            <p:nvPr/>
          </p:nvSpPr>
          <p:spPr bwMode="auto">
            <a:xfrm>
              <a:off x="1300072" y="1114403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1285984" y="3194476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i="1" dirty="0">
                  <a:solidFill>
                    <a:srgbClr val="08080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614718" y="711898"/>
            <a:ext cx="56402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例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 图示三角形平板沿底边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BC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固定，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AB</a:t>
            </a:r>
            <a:r>
              <a:rPr lang="en-US" altLang="zh-CN" b="1" dirty="0">
                <a:latin typeface="+mj-lt"/>
                <a:ea typeface="楷体" panose="02010609060101010101" pitchFamily="49" charset="-122"/>
              </a:rPr>
              <a:t>= 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AC </a:t>
            </a:r>
            <a:r>
              <a:rPr lang="en-US" altLang="zh-CN" b="1" dirty="0">
                <a:latin typeface="+mj-lt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+mj-lt"/>
                <a:ea typeface="楷体" panose="02010609060101010101" pitchFamily="49" charset="-122"/>
              </a:rPr>
              <a:t>800mm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，顶点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A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的水平位移为</a:t>
            </a:r>
            <a:r>
              <a:rPr lang="en-US" altLang="zh-CN" dirty="0">
                <a:latin typeface="+mj-lt"/>
                <a:ea typeface="楷体" panose="02010609060101010101" pitchFamily="49" charset="-122"/>
              </a:rPr>
              <a:t>5mm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。求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A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点的</a:t>
            </a:r>
            <a:r>
              <a:rPr lang="en-US" altLang="zh-CN" dirty="0">
                <a:latin typeface="+mj-lt"/>
                <a:ea typeface="楷体" panose="02010609060101010101" pitchFamily="49" charset="-122"/>
              </a:rPr>
              <a:t>1.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切应变</a:t>
            </a:r>
            <a:r>
              <a:rPr lang="el-GR" altLang="zh-CN" i="1" dirty="0">
                <a:latin typeface="+mj-lt"/>
                <a:ea typeface="楷体" panose="02010609060101010101" pitchFamily="49" charset="-122"/>
              </a:rPr>
              <a:t>γ</a:t>
            </a:r>
            <a:r>
              <a:rPr lang="en-US" altLang="zh-CN" i="1" baseline="-25000" dirty="0" err="1">
                <a:latin typeface="+mj-lt"/>
                <a:ea typeface="楷体" panose="02010609060101010101" pitchFamily="49" charset="-122"/>
              </a:rPr>
              <a:t>xy</a:t>
            </a:r>
            <a:r>
              <a:rPr lang="zh-CN" altLang="en-US" dirty="0">
                <a:latin typeface="+mj-lt"/>
                <a:ea typeface="楷体" panose="02010609060101010101" pitchFamily="49" charset="-122"/>
              </a:rPr>
              <a:t>；</a:t>
            </a:r>
            <a:r>
              <a:rPr lang="en-US" altLang="zh-CN" dirty="0">
                <a:latin typeface="+mj-lt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沿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x</a:t>
            </a:r>
            <a:r>
              <a:rPr lang="zh-CN" altLang="en-US" b="1" dirty="0">
                <a:latin typeface="+mj-lt"/>
                <a:ea typeface="楷体" panose="02010609060101010101" pitchFamily="49" charset="-122"/>
              </a:rPr>
              <a:t>轴的平均线应变</a:t>
            </a:r>
            <a:r>
              <a:rPr lang="zh-CN" altLang="en-US" dirty="0">
                <a:latin typeface="+mj-lt"/>
                <a:ea typeface="楷体" panose="02010609060101010101" pitchFamily="49" charset="-122"/>
              </a:rPr>
              <a:t>；</a:t>
            </a:r>
            <a:r>
              <a:rPr lang="en-US" altLang="zh-CN" dirty="0">
                <a:latin typeface="+mj-lt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ea typeface="楷体" panose="02010609060101010101" pitchFamily="49" charset="-122"/>
              </a:rPr>
              <a:t>沿</a:t>
            </a:r>
            <a:r>
              <a:rPr lang="en-US" altLang="zh-CN" i="1" dirty="0">
                <a:ea typeface="楷体" panose="02010609060101010101" pitchFamily="49" charset="-122"/>
              </a:rPr>
              <a:t>x</a:t>
            </a:r>
            <a:r>
              <a:rPr lang="en-US" altLang="zh-CN" i="1" dirty="0">
                <a:ea typeface="楷体" panose="02010609060101010101" pitchFamily="49" charset="-122"/>
                <a:sym typeface="Symbol" panose="05050102010706020507" pitchFamily="18" charset="2"/>
              </a:rPr>
              <a:t> </a:t>
            </a:r>
            <a:r>
              <a:rPr lang="zh-CN" altLang="en-US" b="1" dirty="0">
                <a:ea typeface="楷体" panose="02010609060101010101" pitchFamily="49" charset="-122"/>
              </a:rPr>
              <a:t>轴的平均线应变</a:t>
            </a:r>
            <a:r>
              <a:rPr lang="zh-CN" altLang="en-US" dirty="0">
                <a:ea typeface="楷体" panose="02010609060101010101" pitchFamily="49" charset="-122"/>
              </a:rPr>
              <a:t>。</a:t>
            </a:r>
            <a:endParaRPr lang="zh-CN" altLang="en-US" dirty="0"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7793992" y="1776889"/>
            <a:ext cx="2920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sz="1600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7793992" y="1985165"/>
            <a:ext cx="2920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sz="1600" i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auto">
          <a:xfrm>
            <a:off x="683568" y="2289772"/>
            <a:ext cx="8689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解：</a:t>
            </a:r>
            <a:endParaRPr kumimoji="1" lang="zh-CN" altLang="en-US" sz="2400" b="1" dirty="0">
              <a:solidFill>
                <a:srgbClr val="080808"/>
              </a:solidFill>
              <a:latin typeface="+mn-lt"/>
              <a:ea typeface="楷体" panose="02010609060101010101" pitchFamily="49" charset="-122"/>
            </a:endParaRPr>
          </a:p>
        </p:txBody>
      </p:sp>
      <p:graphicFrame>
        <p:nvGraphicFramePr>
          <p:cNvPr id="53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127565"/>
              </p:ext>
            </p:extLst>
          </p:nvPr>
        </p:nvGraphicFramePr>
        <p:xfrm>
          <a:off x="1725989" y="2318743"/>
          <a:ext cx="3787380" cy="75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2044440" imgH="419040" progId="Equation.DSMT4">
                  <p:embed/>
                </p:oleObj>
              </mc:Choice>
              <mc:Fallback>
                <p:oleObj name="Equation" r:id="rId3" imgW="2044440" imgH="419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989" y="2318743"/>
                        <a:ext cx="3787380" cy="75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995606"/>
              </p:ext>
            </p:extLst>
          </p:nvPr>
        </p:nvGraphicFramePr>
        <p:xfrm>
          <a:off x="2411760" y="3202718"/>
          <a:ext cx="13652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736560" imgH="203040" progId="Equation.DSMT4">
                  <p:embed/>
                </p:oleObj>
              </mc:Choice>
              <mc:Fallback>
                <p:oleObj name="Equation" r:id="rId5" imgW="736560" imgH="203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202718"/>
                        <a:ext cx="136525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046073"/>
              </p:ext>
            </p:extLst>
          </p:nvPr>
        </p:nvGraphicFramePr>
        <p:xfrm>
          <a:off x="1034644" y="3677678"/>
          <a:ext cx="5319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2869920" imgH="253800" progId="Equation.DSMT4">
                  <p:embed/>
                </p:oleObj>
              </mc:Choice>
              <mc:Fallback>
                <p:oleObj name="Equation" r:id="rId7" imgW="2869920" imgH="2538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644" y="3677678"/>
                        <a:ext cx="5319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7589657"/>
              </p:ext>
            </p:extLst>
          </p:nvPr>
        </p:nvGraphicFramePr>
        <p:xfrm>
          <a:off x="1552169" y="4243126"/>
          <a:ext cx="42846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2311200" imgH="431640" progId="Equation.DSMT4">
                  <p:embed/>
                </p:oleObj>
              </mc:Choice>
              <mc:Fallback>
                <p:oleObj name="Equation" r:id="rId9" imgW="2311200" imgH="4316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169" y="4243126"/>
                        <a:ext cx="42846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913210"/>
              </p:ext>
            </p:extLst>
          </p:nvPr>
        </p:nvGraphicFramePr>
        <p:xfrm>
          <a:off x="2405655" y="5301208"/>
          <a:ext cx="28956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562040" imgH="406080" progId="Equation.DSMT4">
                  <p:embed/>
                </p:oleObj>
              </mc:Choice>
              <mc:Fallback>
                <p:oleObj name="Equation" r:id="rId11" imgW="15620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655" y="5301208"/>
                        <a:ext cx="28956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445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49" name="Line 73"/>
          <p:cNvSpPr>
            <a:spLocks noChangeShapeType="1"/>
          </p:cNvSpPr>
          <p:nvPr/>
        </p:nvSpPr>
        <p:spPr bwMode="auto">
          <a:xfrm flipV="1">
            <a:off x="1248608" y="4178292"/>
            <a:ext cx="609600" cy="11271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25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279330"/>
              </p:ext>
            </p:extLst>
          </p:nvPr>
        </p:nvGraphicFramePr>
        <p:xfrm>
          <a:off x="3417888" y="3979863"/>
          <a:ext cx="12811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469800" imgH="203040" progId="Equation.DSMT4">
                  <p:embed/>
                </p:oleObj>
              </mc:Choice>
              <mc:Fallback>
                <p:oleObj name="Equation" r:id="rId3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3979863"/>
                        <a:ext cx="12811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888246" y="3724605"/>
            <a:ext cx="2373049" cy="1828461"/>
            <a:chOff x="1513" y="2766"/>
            <a:chExt cx="1145" cy="1107"/>
          </a:xfrm>
        </p:grpSpPr>
        <p:sp>
          <p:nvSpPr>
            <p:cNvPr id="5136" name="Line 80"/>
            <p:cNvSpPr>
              <a:spLocks noChangeShapeType="1"/>
            </p:cNvSpPr>
            <p:nvPr/>
          </p:nvSpPr>
          <p:spPr bwMode="auto">
            <a:xfrm>
              <a:off x="1688" y="2880"/>
              <a:ext cx="0" cy="86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7" name="Line 81"/>
            <p:cNvSpPr>
              <a:spLocks noChangeShapeType="1"/>
            </p:cNvSpPr>
            <p:nvPr/>
          </p:nvSpPr>
          <p:spPr bwMode="auto">
            <a:xfrm rot="5400000">
              <a:off x="2112" y="3300"/>
              <a:ext cx="0" cy="86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8" name="Text Box 82"/>
            <p:cNvSpPr txBox="1">
              <a:spLocks noChangeArrowheads="1"/>
            </p:cNvSpPr>
            <p:nvPr/>
          </p:nvSpPr>
          <p:spPr bwMode="auto">
            <a:xfrm>
              <a:off x="1523" y="2766"/>
              <a:ext cx="193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5139" name="Text Box 83"/>
            <p:cNvSpPr txBox="1">
              <a:spLocks noChangeArrowheads="1"/>
            </p:cNvSpPr>
            <p:nvPr/>
          </p:nvSpPr>
          <p:spPr bwMode="auto">
            <a:xfrm>
              <a:off x="2509" y="3558"/>
              <a:ext cx="149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l-GR" altLang="zh-CN" i="1" dirty="0">
                  <a:latin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</a:t>
              </a:r>
              <a:endParaRPr lang="el-GR" altLang="zh-CN" i="1" dirty="0"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40" name="Text Box 84"/>
            <p:cNvSpPr txBox="1">
              <a:spLocks noChangeArrowheads="1"/>
            </p:cNvSpPr>
            <p:nvPr/>
          </p:nvSpPr>
          <p:spPr bwMode="auto">
            <a:xfrm>
              <a:off x="1513" y="3633"/>
              <a:ext cx="17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</p:grpSp>
      <p:grpSp>
        <p:nvGrpSpPr>
          <p:cNvPr id="4" name="Group 85"/>
          <p:cNvGrpSpPr>
            <a:grpSpLocks/>
          </p:cNvGrpSpPr>
          <p:nvPr/>
        </p:nvGrpSpPr>
        <p:grpSpPr bwMode="auto">
          <a:xfrm>
            <a:off x="809883" y="1717891"/>
            <a:ext cx="2286318" cy="1910832"/>
            <a:chOff x="1457" y="1286"/>
            <a:chExt cx="1197" cy="1166"/>
          </a:xfrm>
        </p:grpSpPr>
        <p:sp>
          <p:nvSpPr>
            <p:cNvPr id="5131" name="Text Box 86"/>
            <p:cNvSpPr txBox="1">
              <a:spLocks noChangeArrowheads="1"/>
            </p:cNvSpPr>
            <p:nvPr/>
          </p:nvSpPr>
          <p:spPr bwMode="auto">
            <a:xfrm>
              <a:off x="1457" y="1286"/>
              <a:ext cx="19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endParaRPr lang="en-US" altLang="zh-CN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5132" name="Line 87"/>
            <p:cNvSpPr>
              <a:spLocks noChangeShapeType="1"/>
            </p:cNvSpPr>
            <p:nvPr/>
          </p:nvSpPr>
          <p:spPr bwMode="auto">
            <a:xfrm>
              <a:off x="1665" y="1435"/>
              <a:ext cx="1" cy="86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Line 88"/>
            <p:cNvSpPr>
              <a:spLocks noChangeShapeType="1"/>
            </p:cNvSpPr>
            <p:nvPr/>
          </p:nvSpPr>
          <p:spPr bwMode="auto">
            <a:xfrm rot="5400000">
              <a:off x="2094" y="1870"/>
              <a:ext cx="0" cy="86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4" name="Text Box 89"/>
            <p:cNvSpPr txBox="1">
              <a:spLocks noChangeArrowheads="1"/>
            </p:cNvSpPr>
            <p:nvPr/>
          </p:nvSpPr>
          <p:spPr bwMode="auto">
            <a:xfrm>
              <a:off x="2487" y="2133"/>
              <a:ext cx="167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135" name="Text Box 90"/>
            <p:cNvSpPr txBox="1">
              <a:spLocks noChangeArrowheads="1"/>
            </p:cNvSpPr>
            <p:nvPr/>
          </p:nvSpPr>
          <p:spPr bwMode="auto">
            <a:xfrm>
              <a:off x="1483" y="2208"/>
              <a:ext cx="194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en-US" altLang="zh-CN" sz="2000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50267" name="Line 91"/>
          <p:cNvSpPr>
            <a:spLocks noChangeShapeType="1"/>
          </p:cNvSpPr>
          <p:nvPr/>
        </p:nvSpPr>
        <p:spPr bwMode="auto">
          <a:xfrm flipV="1">
            <a:off x="1222259" y="2249186"/>
            <a:ext cx="609600" cy="11271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69"/>
          <p:cNvSpPr>
            <a:spLocks noChangeArrowheads="1"/>
          </p:cNvSpPr>
          <p:nvPr/>
        </p:nvSpPr>
        <p:spPr bwMode="auto">
          <a:xfrm>
            <a:off x="539552" y="483657"/>
            <a:ext cx="4598195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eaLnBrk="0" hangingPunct="0"/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5-4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位移、变形与应变</a:t>
            </a:r>
          </a:p>
        </p:txBody>
      </p:sp>
      <p:sp>
        <p:nvSpPr>
          <p:cNvPr id="24" name="Text Box 102"/>
          <p:cNvSpPr txBox="1">
            <a:spLocks noChangeArrowheads="1"/>
          </p:cNvSpPr>
          <p:nvPr/>
        </p:nvSpPr>
        <p:spPr bwMode="auto">
          <a:xfrm>
            <a:off x="616376" y="1199581"/>
            <a:ext cx="70860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buBlip>
                <a:blip r:embed="rId5"/>
              </a:buBlip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应力与应变的关系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b="1" spc="-5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新宋体"/>
              </a:rPr>
              <a:t>胡克定</a:t>
            </a:r>
            <a:r>
              <a:rPr lang="zh-CN" altLang="en-US" b="1" spc="-1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新宋体"/>
              </a:rPr>
              <a:t>律</a:t>
            </a:r>
            <a:r>
              <a:rPr lang="zh-CN" altLang="en-US" b="1" spc="-605" dirty="0">
                <a:solidFill>
                  <a:srgbClr val="FF0000"/>
                </a:solidFill>
                <a:latin typeface="新宋体"/>
                <a:cs typeface="新宋体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zh-CN" altLang="en-US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pc="-15" dirty="0">
                <a:solidFill>
                  <a:srgbClr val="FF0000"/>
                </a:solidFill>
                <a:latin typeface="Times New Roman"/>
                <a:cs typeface="Times New Roman"/>
              </a:rPr>
              <a:t>Hooke’s</a:t>
            </a:r>
            <a:r>
              <a:rPr lang="en-US" altLang="zh-CN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/>
                <a:cs typeface="Times New Roman"/>
              </a:rPr>
              <a:t>Law</a:t>
            </a:r>
            <a:r>
              <a:rPr lang="en-US" altLang="zh-CN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lang="en-US" altLang="zh-CN" dirty="0">
              <a:latin typeface="Times New Roman"/>
              <a:cs typeface="Times New Roman"/>
            </a:endParaRPr>
          </a:p>
        </p:txBody>
      </p:sp>
      <p:sp>
        <p:nvSpPr>
          <p:cNvPr id="45" name="object 27"/>
          <p:cNvSpPr txBox="1"/>
          <p:nvPr/>
        </p:nvSpPr>
        <p:spPr>
          <a:xfrm>
            <a:off x="3372072" y="4406453"/>
            <a:ext cx="3782543" cy="898964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--</a:t>
            </a:r>
            <a:r>
              <a:rPr sz="2400" b="1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新宋体"/>
              </a:rPr>
              <a:t>切变模量</a:t>
            </a:r>
            <a:endParaRPr lang="en-US" sz="2400" b="1" spc="-5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新宋体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(Shear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Modulus</a:t>
            </a:r>
            <a:r>
              <a:rPr sz="24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Elasticity)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338374" y="2047382"/>
            <a:ext cx="2018534" cy="1470961"/>
            <a:chOff x="6277564" y="1867654"/>
            <a:chExt cx="2018534" cy="1470961"/>
          </a:xfrm>
        </p:grpSpPr>
        <p:sp>
          <p:nvSpPr>
            <p:cNvPr id="25" name="object 6"/>
            <p:cNvSpPr/>
            <p:nvPr/>
          </p:nvSpPr>
          <p:spPr>
            <a:xfrm>
              <a:off x="6880827" y="2120639"/>
              <a:ext cx="754380" cy="742950"/>
            </a:xfrm>
            <a:custGeom>
              <a:avLst/>
              <a:gdLst/>
              <a:ahLst/>
              <a:cxnLst/>
              <a:rect l="l" t="t" r="r" b="b"/>
              <a:pathLst>
                <a:path w="754379" h="742950">
                  <a:moveTo>
                    <a:pt x="0" y="0"/>
                  </a:moveTo>
                  <a:lnTo>
                    <a:pt x="0" y="742950"/>
                  </a:lnTo>
                  <a:lnTo>
                    <a:pt x="754379" y="742950"/>
                  </a:lnTo>
                  <a:lnTo>
                    <a:pt x="7543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C2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7"/>
            <p:cNvSpPr/>
            <p:nvPr/>
          </p:nvSpPr>
          <p:spPr>
            <a:xfrm>
              <a:off x="7635207" y="1872989"/>
              <a:ext cx="247650" cy="990600"/>
            </a:xfrm>
            <a:custGeom>
              <a:avLst/>
              <a:gdLst/>
              <a:ahLst/>
              <a:cxnLst/>
              <a:rect l="l" t="t" r="r" b="b"/>
              <a:pathLst>
                <a:path w="247650" h="990600">
                  <a:moveTo>
                    <a:pt x="247650" y="742950"/>
                  </a:moveTo>
                  <a:lnTo>
                    <a:pt x="247650" y="0"/>
                  </a:lnTo>
                  <a:lnTo>
                    <a:pt x="0" y="247650"/>
                  </a:lnTo>
                  <a:lnTo>
                    <a:pt x="0" y="990600"/>
                  </a:lnTo>
                  <a:lnTo>
                    <a:pt x="247650" y="742950"/>
                  </a:lnTo>
                  <a:close/>
                </a:path>
              </a:pathLst>
            </a:custGeom>
            <a:solidFill>
              <a:srgbClr val="849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8"/>
            <p:cNvSpPr/>
            <p:nvPr/>
          </p:nvSpPr>
          <p:spPr>
            <a:xfrm>
              <a:off x="6880827" y="1872989"/>
              <a:ext cx="1002030" cy="247650"/>
            </a:xfrm>
            <a:custGeom>
              <a:avLst/>
              <a:gdLst/>
              <a:ahLst/>
              <a:cxnLst/>
              <a:rect l="l" t="t" r="r" b="b"/>
              <a:pathLst>
                <a:path w="1002029" h="247650">
                  <a:moveTo>
                    <a:pt x="1002030" y="0"/>
                  </a:moveTo>
                  <a:lnTo>
                    <a:pt x="247650" y="0"/>
                  </a:lnTo>
                  <a:lnTo>
                    <a:pt x="0" y="247650"/>
                  </a:lnTo>
                  <a:lnTo>
                    <a:pt x="754380" y="247649"/>
                  </a:lnTo>
                  <a:lnTo>
                    <a:pt x="1002030" y="0"/>
                  </a:lnTo>
                  <a:close/>
                </a:path>
              </a:pathLst>
            </a:custGeom>
            <a:solidFill>
              <a:srgbClr val="B6C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9"/>
            <p:cNvSpPr/>
            <p:nvPr/>
          </p:nvSpPr>
          <p:spPr>
            <a:xfrm>
              <a:off x="6876256" y="1867654"/>
              <a:ext cx="1011555" cy="1000760"/>
            </a:xfrm>
            <a:custGeom>
              <a:avLst/>
              <a:gdLst/>
              <a:ahLst/>
              <a:cxnLst/>
              <a:rect l="l" t="t" r="r" b="b"/>
              <a:pathLst>
                <a:path w="1011554" h="1000760">
                  <a:moveTo>
                    <a:pt x="1011174" y="749808"/>
                  </a:moveTo>
                  <a:lnTo>
                    <a:pt x="1011174" y="0"/>
                  </a:lnTo>
                  <a:lnTo>
                    <a:pt x="249936" y="0"/>
                  </a:lnTo>
                  <a:lnTo>
                    <a:pt x="0" y="250698"/>
                  </a:lnTo>
                  <a:lnTo>
                    <a:pt x="0" y="1000506"/>
                  </a:lnTo>
                  <a:lnTo>
                    <a:pt x="4571" y="1000506"/>
                  </a:lnTo>
                  <a:lnTo>
                    <a:pt x="4572" y="247650"/>
                  </a:lnTo>
                  <a:lnTo>
                    <a:pt x="16002" y="247650"/>
                  </a:lnTo>
                  <a:lnTo>
                    <a:pt x="252222" y="11430"/>
                  </a:lnTo>
                  <a:lnTo>
                    <a:pt x="252222" y="9906"/>
                  </a:lnTo>
                  <a:lnTo>
                    <a:pt x="255270" y="8382"/>
                  </a:lnTo>
                  <a:lnTo>
                    <a:pt x="255269" y="9906"/>
                  </a:lnTo>
                  <a:lnTo>
                    <a:pt x="994409" y="9906"/>
                  </a:lnTo>
                  <a:lnTo>
                    <a:pt x="1002791" y="1524"/>
                  </a:lnTo>
                  <a:lnTo>
                    <a:pt x="1009650" y="8382"/>
                  </a:lnTo>
                  <a:lnTo>
                    <a:pt x="1009650" y="751332"/>
                  </a:lnTo>
                  <a:lnTo>
                    <a:pt x="1011174" y="749808"/>
                  </a:lnTo>
                  <a:close/>
                </a:path>
                <a:path w="1011554" h="1000760">
                  <a:moveTo>
                    <a:pt x="16002" y="247650"/>
                  </a:moveTo>
                  <a:lnTo>
                    <a:pt x="4572" y="247650"/>
                  </a:lnTo>
                  <a:lnTo>
                    <a:pt x="4572" y="257556"/>
                  </a:lnTo>
                  <a:lnTo>
                    <a:pt x="7620" y="257556"/>
                  </a:lnTo>
                  <a:lnTo>
                    <a:pt x="7620" y="256032"/>
                  </a:lnTo>
                  <a:lnTo>
                    <a:pt x="9143" y="252984"/>
                  </a:lnTo>
                  <a:lnTo>
                    <a:pt x="9143" y="254508"/>
                  </a:lnTo>
                  <a:lnTo>
                    <a:pt x="16002" y="247650"/>
                  </a:lnTo>
                  <a:close/>
                </a:path>
                <a:path w="1011554" h="1000760">
                  <a:moveTo>
                    <a:pt x="9144" y="990600"/>
                  </a:moveTo>
                  <a:lnTo>
                    <a:pt x="9143" y="257556"/>
                  </a:lnTo>
                  <a:lnTo>
                    <a:pt x="4572" y="257556"/>
                  </a:lnTo>
                  <a:lnTo>
                    <a:pt x="4572" y="990600"/>
                  </a:lnTo>
                  <a:lnTo>
                    <a:pt x="9144" y="990600"/>
                  </a:lnTo>
                  <a:close/>
                </a:path>
                <a:path w="1011554" h="1000760">
                  <a:moveTo>
                    <a:pt x="756666" y="990600"/>
                  </a:moveTo>
                  <a:lnTo>
                    <a:pt x="4572" y="990600"/>
                  </a:lnTo>
                  <a:lnTo>
                    <a:pt x="9144" y="995934"/>
                  </a:lnTo>
                  <a:lnTo>
                    <a:pt x="9143" y="1000506"/>
                  </a:lnTo>
                  <a:lnTo>
                    <a:pt x="753617" y="1000506"/>
                  </a:lnTo>
                  <a:lnTo>
                    <a:pt x="753617" y="995934"/>
                  </a:lnTo>
                  <a:lnTo>
                    <a:pt x="755142" y="995934"/>
                  </a:lnTo>
                  <a:lnTo>
                    <a:pt x="755142" y="992124"/>
                  </a:lnTo>
                  <a:lnTo>
                    <a:pt x="756666" y="990600"/>
                  </a:lnTo>
                  <a:close/>
                </a:path>
                <a:path w="1011554" h="1000760">
                  <a:moveTo>
                    <a:pt x="9143" y="1000506"/>
                  </a:moveTo>
                  <a:lnTo>
                    <a:pt x="9144" y="995934"/>
                  </a:lnTo>
                  <a:lnTo>
                    <a:pt x="4572" y="990600"/>
                  </a:lnTo>
                  <a:lnTo>
                    <a:pt x="4571" y="1000506"/>
                  </a:lnTo>
                  <a:lnTo>
                    <a:pt x="9143" y="1000506"/>
                  </a:lnTo>
                  <a:close/>
                </a:path>
                <a:path w="1011554" h="1000760">
                  <a:moveTo>
                    <a:pt x="9143" y="254508"/>
                  </a:moveTo>
                  <a:lnTo>
                    <a:pt x="9143" y="252984"/>
                  </a:lnTo>
                  <a:lnTo>
                    <a:pt x="7620" y="256032"/>
                  </a:lnTo>
                  <a:lnTo>
                    <a:pt x="9143" y="254508"/>
                  </a:lnTo>
                  <a:close/>
                </a:path>
                <a:path w="1011554" h="1000760">
                  <a:moveTo>
                    <a:pt x="756666" y="247650"/>
                  </a:moveTo>
                  <a:lnTo>
                    <a:pt x="16002" y="247650"/>
                  </a:lnTo>
                  <a:lnTo>
                    <a:pt x="7620" y="256032"/>
                  </a:lnTo>
                  <a:lnTo>
                    <a:pt x="7620" y="257556"/>
                  </a:lnTo>
                  <a:lnTo>
                    <a:pt x="753617" y="257556"/>
                  </a:lnTo>
                  <a:lnTo>
                    <a:pt x="753617" y="252984"/>
                  </a:lnTo>
                  <a:lnTo>
                    <a:pt x="755142" y="252984"/>
                  </a:lnTo>
                  <a:lnTo>
                    <a:pt x="755142" y="249174"/>
                  </a:lnTo>
                  <a:lnTo>
                    <a:pt x="756666" y="247650"/>
                  </a:lnTo>
                  <a:close/>
                </a:path>
                <a:path w="1011554" h="1000760">
                  <a:moveTo>
                    <a:pt x="255270" y="8382"/>
                  </a:moveTo>
                  <a:lnTo>
                    <a:pt x="252222" y="9906"/>
                  </a:lnTo>
                  <a:lnTo>
                    <a:pt x="253746" y="9906"/>
                  </a:lnTo>
                  <a:lnTo>
                    <a:pt x="255270" y="8382"/>
                  </a:lnTo>
                  <a:close/>
                </a:path>
                <a:path w="1011554" h="1000760">
                  <a:moveTo>
                    <a:pt x="253746" y="9906"/>
                  </a:moveTo>
                  <a:lnTo>
                    <a:pt x="252222" y="9906"/>
                  </a:lnTo>
                  <a:lnTo>
                    <a:pt x="252222" y="11430"/>
                  </a:lnTo>
                  <a:lnTo>
                    <a:pt x="253746" y="9906"/>
                  </a:lnTo>
                  <a:close/>
                </a:path>
                <a:path w="1011554" h="1000760">
                  <a:moveTo>
                    <a:pt x="255269" y="9906"/>
                  </a:moveTo>
                  <a:lnTo>
                    <a:pt x="255270" y="8382"/>
                  </a:lnTo>
                  <a:lnTo>
                    <a:pt x="253746" y="9906"/>
                  </a:lnTo>
                  <a:lnTo>
                    <a:pt x="255269" y="9906"/>
                  </a:lnTo>
                  <a:close/>
                </a:path>
                <a:path w="1011554" h="1000760">
                  <a:moveTo>
                    <a:pt x="763523" y="254508"/>
                  </a:moveTo>
                  <a:lnTo>
                    <a:pt x="763523" y="252984"/>
                  </a:lnTo>
                  <a:lnTo>
                    <a:pt x="753617" y="252984"/>
                  </a:lnTo>
                  <a:lnTo>
                    <a:pt x="753617" y="257556"/>
                  </a:lnTo>
                  <a:lnTo>
                    <a:pt x="760476" y="257556"/>
                  </a:lnTo>
                  <a:lnTo>
                    <a:pt x="763523" y="254508"/>
                  </a:lnTo>
                  <a:close/>
                </a:path>
                <a:path w="1011554" h="1000760">
                  <a:moveTo>
                    <a:pt x="763523" y="983742"/>
                  </a:moveTo>
                  <a:lnTo>
                    <a:pt x="763523" y="254508"/>
                  </a:lnTo>
                  <a:lnTo>
                    <a:pt x="760476" y="257556"/>
                  </a:lnTo>
                  <a:lnTo>
                    <a:pt x="753617" y="257556"/>
                  </a:lnTo>
                  <a:lnTo>
                    <a:pt x="753617" y="990600"/>
                  </a:lnTo>
                  <a:lnTo>
                    <a:pt x="756666" y="990600"/>
                  </a:lnTo>
                  <a:lnTo>
                    <a:pt x="763523" y="983742"/>
                  </a:lnTo>
                  <a:close/>
                </a:path>
                <a:path w="1011554" h="1000760">
                  <a:moveTo>
                    <a:pt x="763524" y="997458"/>
                  </a:moveTo>
                  <a:lnTo>
                    <a:pt x="763524" y="995934"/>
                  </a:lnTo>
                  <a:lnTo>
                    <a:pt x="753617" y="995934"/>
                  </a:lnTo>
                  <a:lnTo>
                    <a:pt x="753617" y="1000506"/>
                  </a:lnTo>
                  <a:lnTo>
                    <a:pt x="760476" y="1000506"/>
                  </a:lnTo>
                  <a:lnTo>
                    <a:pt x="763524" y="997458"/>
                  </a:lnTo>
                  <a:close/>
                </a:path>
                <a:path w="1011554" h="1000760">
                  <a:moveTo>
                    <a:pt x="758952" y="247650"/>
                  </a:moveTo>
                  <a:lnTo>
                    <a:pt x="756666" y="247650"/>
                  </a:lnTo>
                  <a:lnTo>
                    <a:pt x="755142" y="249174"/>
                  </a:lnTo>
                  <a:lnTo>
                    <a:pt x="758952" y="247650"/>
                  </a:lnTo>
                  <a:close/>
                </a:path>
                <a:path w="1011554" h="1000760">
                  <a:moveTo>
                    <a:pt x="758952" y="252984"/>
                  </a:moveTo>
                  <a:lnTo>
                    <a:pt x="758952" y="247650"/>
                  </a:lnTo>
                  <a:lnTo>
                    <a:pt x="755142" y="249174"/>
                  </a:lnTo>
                  <a:lnTo>
                    <a:pt x="755142" y="252984"/>
                  </a:lnTo>
                  <a:lnTo>
                    <a:pt x="758952" y="252984"/>
                  </a:lnTo>
                  <a:close/>
                </a:path>
                <a:path w="1011554" h="1000760">
                  <a:moveTo>
                    <a:pt x="758952" y="990600"/>
                  </a:moveTo>
                  <a:lnTo>
                    <a:pt x="756666" y="990600"/>
                  </a:lnTo>
                  <a:lnTo>
                    <a:pt x="755142" y="992124"/>
                  </a:lnTo>
                  <a:lnTo>
                    <a:pt x="758952" y="990600"/>
                  </a:lnTo>
                  <a:close/>
                </a:path>
                <a:path w="1011554" h="1000760">
                  <a:moveTo>
                    <a:pt x="758952" y="995934"/>
                  </a:moveTo>
                  <a:lnTo>
                    <a:pt x="758952" y="990600"/>
                  </a:lnTo>
                  <a:lnTo>
                    <a:pt x="755142" y="992124"/>
                  </a:lnTo>
                  <a:lnTo>
                    <a:pt x="755142" y="995934"/>
                  </a:lnTo>
                  <a:lnTo>
                    <a:pt x="758952" y="995934"/>
                  </a:lnTo>
                  <a:close/>
                </a:path>
                <a:path w="1011554" h="1000760">
                  <a:moveTo>
                    <a:pt x="1006602" y="11430"/>
                  </a:moveTo>
                  <a:lnTo>
                    <a:pt x="1006602" y="9906"/>
                  </a:lnTo>
                  <a:lnTo>
                    <a:pt x="994409" y="9906"/>
                  </a:lnTo>
                  <a:lnTo>
                    <a:pt x="756666" y="247650"/>
                  </a:lnTo>
                  <a:lnTo>
                    <a:pt x="758952" y="247650"/>
                  </a:lnTo>
                  <a:lnTo>
                    <a:pt x="758952" y="252984"/>
                  </a:lnTo>
                  <a:lnTo>
                    <a:pt x="763523" y="252984"/>
                  </a:lnTo>
                  <a:lnTo>
                    <a:pt x="763523" y="254508"/>
                  </a:lnTo>
                  <a:lnTo>
                    <a:pt x="1006602" y="11430"/>
                  </a:lnTo>
                  <a:close/>
                </a:path>
                <a:path w="1011554" h="1000760">
                  <a:moveTo>
                    <a:pt x="1002791" y="744474"/>
                  </a:moveTo>
                  <a:lnTo>
                    <a:pt x="756666" y="990600"/>
                  </a:lnTo>
                  <a:lnTo>
                    <a:pt x="758952" y="990600"/>
                  </a:lnTo>
                  <a:lnTo>
                    <a:pt x="758952" y="995934"/>
                  </a:lnTo>
                  <a:lnTo>
                    <a:pt x="763524" y="995934"/>
                  </a:lnTo>
                  <a:lnTo>
                    <a:pt x="763524" y="997458"/>
                  </a:lnTo>
                  <a:lnTo>
                    <a:pt x="1001268" y="759714"/>
                  </a:lnTo>
                  <a:lnTo>
                    <a:pt x="1001268" y="748284"/>
                  </a:lnTo>
                  <a:lnTo>
                    <a:pt x="1002791" y="744474"/>
                  </a:lnTo>
                  <a:close/>
                </a:path>
                <a:path w="1011554" h="1000760">
                  <a:moveTo>
                    <a:pt x="1009650" y="8382"/>
                  </a:moveTo>
                  <a:lnTo>
                    <a:pt x="1002791" y="1524"/>
                  </a:lnTo>
                  <a:lnTo>
                    <a:pt x="994409" y="9906"/>
                  </a:lnTo>
                  <a:lnTo>
                    <a:pt x="1001268" y="9906"/>
                  </a:lnTo>
                  <a:lnTo>
                    <a:pt x="1001268" y="5334"/>
                  </a:lnTo>
                  <a:lnTo>
                    <a:pt x="1006602" y="9906"/>
                  </a:lnTo>
                  <a:lnTo>
                    <a:pt x="1006602" y="11430"/>
                  </a:lnTo>
                  <a:lnTo>
                    <a:pt x="1009650" y="8382"/>
                  </a:lnTo>
                  <a:close/>
                </a:path>
                <a:path w="1011554" h="1000760">
                  <a:moveTo>
                    <a:pt x="1006602" y="9906"/>
                  </a:moveTo>
                  <a:lnTo>
                    <a:pt x="1001268" y="5334"/>
                  </a:lnTo>
                  <a:lnTo>
                    <a:pt x="1001268" y="9906"/>
                  </a:lnTo>
                  <a:lnTo>
                    <a:pt x="1006602" y="9906"/>
                  </a:lnTo>
                  <a:close/>
                </a:path>
                <a:path w="1011554" h="1000760">
                  <a:moveTo>
                    <a:pt x="1009650" y="751332"/>
                  </a:moveTo>
                  <a:lnTo>
                    <a:pt x="1009650" y="8382"/>
                  </a:lnTo>
                  <a:lnTo>
                    <a:pt x="1001268" y="16764"/>
                  </a:lnTo>
                  <a:lnTo>
                    <a:pt x="1001268" y="745997"/>
                  </a:lnTo>
                  <a:lnTo>
                    <a:pt x="1002791" y="744474"/>
                  </a:lnTo>
                  <a:lnTo>
                    <a:pt x="1002791" y="758190"/>
                  </a:lnTo>
                  <a:lnTo>
                    <a:pt x="1009650" y="751332"/>
                  </a:lnTo>
                  <a:close/>
                </a:path>
                <a:path w="1011554" h="1000760">
                  <a:moveTo>
                    <a:pt x="1002791" y="758190"/>
                  </a:moveTo>
                  <a:lnTo>
                    <a:pt x="1002791" y="744474"/>
                  </a:lnTo>
                  <a:lnTo>
                    <a:pt x="1001268" y="748284"/>
                  </a:lnTo>
                  <a:lnTo>
                    <a:pt x="1001268" y="759714"/>
                  </a:lnTo>
                  <a:lnTo>
                    <a:pt x="1002791" y="75819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0"/>
            <p:cNvSpPr/>
            <p:nvPr/>
          </p:nvSpPr>
          <p:spPr>
            <a:xfrm>
              <a:off x="7752556" y="2358383"/>
              <a:ext cx="462280" cy="76200"/>
            </a:xfrm>
            <a:custGeom>
              <a:avLst/>
              <a:gdLst/>
              <a:ahLst/>
              <a:cxnLst/>
              <a:rect l="l" t="t" r="r" b="b"/>
              <a:pathLst>
                <a:path w="462279" h="76200">
                  <a:moveTo>
                    <a:pt x="347472" y="48006"/>
                  </a:moveTo>
                  <a:lnTo>
                    <a:pt x="347472" y="28956"/>
                  </a:lnTo>
                  <a:lnTo>
                    <a:pt x="0" y="28956"/>
                  </a:lnTo>
                  <a:lnTo>
                    <a:pt x="0" y="48006"/>
                  </a:lnTo>
                  <a:lnTo>
                    <a:pt x="347472" y="48006"/>
                  </a:lnTo>
                  <a:close/>
                </a:path>
                <a:path w="462279" h="76200">
                  <a:moveTo>
                    <a:pt x="461771" y="38100"/>
                  </a:moveTo>
                  <a:lnTo>
                    <a:pt x="334517" y="0"/>
                  </a:lnTo>
                  <a:lnTo>
                    <a:pt x="334517" y="28956"/>
                  </a:lnTo>
                  <a:lnTo>
                    <a:pt x="347472" y="28956"/>
                  </a:lnTo>
                  <a:lnTo>
                    <a:pt x="347472" y="72321"/>
                  </a:lnTo>
                  <a:lnTo>
                    <a:pt x="461771" y="38100"/>
                  </a:lnTo>
                  <a:close/>
                </a:path>
                <a:path w="462279" h="76200">
                  <a:moveTo>
                    <a:pt x="347472" y="72321"/>
                  </a:moveTo>
                  <a:lnTo>
                    <a:pt x="347472" y="48006"/>
                  </a:lnTo>
                  <a:lnTo>
                    <a:pt x="334517" y="48006"/>
                  </a:lnTo>
                  <a:lnTo>
                    <a:pt x="334517" y="76200"/>
                  </a:lnTo>
                  <a:lnTo>
                    <a:pt x="347472" y="7232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1"/>
            <p:cNvSpPr/>
            <p:nvPr/>
          </p:nvSpPr>
          <p:spPr>
            <a:xfrm>
              <a:off x="6454094" y="2368289"/>
              <a:ext cx="384175" cy="76200"/>
            </a:xfrm>
            <a:custGeom>
              <a:avLst/>
              <a:gdLst/>
              <a:ahLst/>
              <a:cxnLst/>
              <a:rect l="l" t="t" r="r" b="b"/>
              <a:pathLst>
                <a:path w="384175" h="76200">
                  <a:moveTo>
                    <a:pt x="126504" y="28193"/>
                  </a:moveTo>
                  <a:lnTo>
                    <a:pt x="126504" y="0"/>
                  </a:lnTo>
                  <a:lnTo>
                    <a:pt x="0" y="38100"/>
                  </a:lnTo>
                  <a:lnTo>
                    <a:pt x="114300" y="72524"/>
                  </a:lnTo>
                  <a:lnTo>
                    <a:pt x="114300" y="28193"/>
                  </a:lnTo>
                  <a:lnTo>
                    <a:pt x="126504" y="28193"/>
                  </a:lnTo>
                  <a:close/>
                </a:path>
                <a:path w="384175" h="76200">
                  <a:moveTo>
                    <a:pt x="384048" y="47243"/>
                  </a:moveTo>
                  <a:lnTo>
                    <a:pt x="384048" y="28193"/>
                  </a:lnTo>
                  <a:lnTo>
                    <a:pt x="114300" y="28193"/>
                  </a:lnTo>
                  <a:lnTo>
                    <a:pt x="114300" y="47243"/>
                  </a:lnTo>
                  <a:lnTo>
                    <a:pt x="384048" y="47243"/>
                  </a:lnTo>
                  <a:close/>
                </a:path>
                <a:path w="384175" h="76200">
                  <a:moveTo>
                    <a:pt x="126504" y="76200"/>
                  </a:moveTo>
                  <a:lnTo>
                    <a:pt x="126504" y="47243"/>
                  </a:lnTo>
                  <a:lnTo>
                    <a:pt x="114300" y="47243"/>
                  </a:lnTo>
                  <a:lnTo>
                    <a:pt x="114300" y="72524"/>
                  </a:lnTo>
                  <a:lnTo>
                    <a:pt x="126504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2"/>
            <p:cNvSpPr txBox="1"/>
            <p:nvPr/>
          </p:nvSpPr>
          <p:spPr>
            <a:xfrm>
              <a:off x="6277564" y="1994274"/>
              <a:ext cx="209550" cy="4121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500" b="1" i="1" spc="80" dirty="0">
                  <a:solidFill>
                    <a:srgbClr val="FF0000"/>
                  </a:solidFill>
                  <a:latin typeface="Symbol"/>
                  <a:cs typeface="Symbol"/>
                </a:rPr>
                <a:t></a:t>
              </a:r>
              <a:endParaRPr sz="2500" dirty="0">
                <a:latin typeface="Symbol"/>
                <a:cs typeface="Symbol"/>
              </a:endParaRPr>
            </a:p>
          </p:txBody>
        </p:sp>
        <p:sp>
          <p:nvSpPr>
            <p:cNvPr id="32" name="object 13"/>
            <p:cNvSpPr txBox="1"/>
            <p:nvPr/>
          </p:nvSpPr>
          <p:spPr>
            <a:xfrm>
              <a:off x="8086548" y="1951159"/>
              <a:ext cx="209550" cy="4121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500" b="1" i="1" spc="80" dirty="0">
                  <a:solidFill>
                    <a:srgbClr val="FF0000"/>
                  </a:solidFill>
                  <a:latin typeface="Symbol"/>
                  <a:cs typeface="Symbol"/>
                </a:rPr>
                <a:t>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46" name="object 28"/>
            <p:cNvSpPr/>
            <p:nvPr/>
          </p:nvSpPr>
          <p:spPr>
            <a:xfrm>
              <a:off x="6800056" y="1962142"/>
              <a:ext cx="1159510" cy="845185"/>
            </a:xfrm>
            <a:custGeom>
              <a:avLst/>
              <a:gdLst/>
              <a:ahLst/>
              <a:cxnLst/>
              <a:rect l="l" t="t" r="r" b="b"/>
              <a:pathLst>
                <a:path w="1159509" h="845185">
                  <a:moveTo>
                    <a:pt x="16000" y="836676"/>
                  </a:moveTo>
                  <a:lnTo>
                    <a:pt x="16000" y="770382"/>
                  </a:lnTo>
                  <a:lnTo>
                    <a:pt x="0" y="770382"/>
                  </a:lnTo>
                  <a:lnTo>
                    <a:pt x="0" y="836676"/>
                  </a:lnTo>
                  <a:lnTo>
                    <a:pt x="7620" y="836676"/>
                  </a:lnTo>
                  <a:lnTo>
                    <a:pt x="7620" y="828294"/>
                  </a:lnTo>
                  <a:lnTo>
                    <a:pt x="10667" y="828294"/>
                  </a:lnTo>
                  <a:lnTo>
                    <a:pt x="10667" y="836676"/>
                  </a:lnTo>
                  <a:lnTo>
                    <a:pt x="16000" y="836676"/>
                  </a:lnTo>
                  <a:close/>
                </a:path>
                <a:path w="1159509" h="845185">
                  <a:moveTo>
                    <a:pt x="10667" y="836676"/>
                  </a:moveTo>
                  <a:lnTo>
                    <a:pt x="10667" y="828294"/>
                  </a:lnTo>
                  <a:lnTo>
                    <a:pt x="7620" y="828294"/>
                  </a:lnTo>
                  <a:lnTo>
                    <a:pt x="7620" y="836676"/>
                  </a:lnTo>
                  <a:lnTo>
                    <a:pt x="10667" y="836676"/>
                  </a:lnTo>
                  <a:close/>
                </a:path>
                <a:path w="1159509" h="845185">
                  <a:moveTo>
                    <a:pt x="10667" y="845058"/>
                  </a:moveTo>
                  <a:lnTo>
                    <a:pt x="10667" y="836676"/>
                  </a:lnTo>
                  <a:lnTo>
                    <a:pt x="7620" y="836676"/>
                  </a:lnTo>
                  <a:lnTo>
                    <a:pt x="7620" y="845058"/>
                  </a:lnTo>
                  <a:lnTo>
                    <a:pt x="10667" y="845058"/>
                  </a:lnTo>
                  <a:close/>
                </a:path>
                <a:path w="1159509" h="845185">
                  <a:moveTo>
                    <a:pt x="16000" y="720852"/>
                  </a:moveTo>
                  <a:lnTo>
                    <a:pt x="16000" y="655320"/>
                  </a:lnTo>
                  <a:lnTo>
                    <a:pt x="0" y="655320"/>
                  </a:lnTo>
                  <a:lnTo>
                    <a:pt x="0" y="720852"/>
                  </a:lnTo>
                  <a:lnTo>
                    <a:pt x="16000" y="720852"/>
                  </a:lnTo>
                  <a:close/>
                </a:path>
                <a:path w="1159509" h="845185">
                  <a:moveTo>
                    <a:pt x="16000" y="605790"/>
                  </a:moveTo>
                  <a:lnTo>
                    <a:pt x="16000" y="539496"/>
                  </a:lnTo>
                  <a:lnTo>
                    <a:pt x="0" y="539496"/>
                  </a:lnTo>
                  <a:lnTo>
                    <a:pt x="0" y="605790"/>
                  </a:lnTo>
                  <a:lnTo>
                    <a:pt x="16000" y="605790"/>
                  </a:lnTo>
                  <a:close/>
                </a:path>
                <a:path w="1159509" h="845185">
                  <a:moveTo>
                    <a:pt x="16000" y="489966"/>
                  </a:moveTo>
                  <a:lnTo>
                    <a:pt x="16000" y="423672"/>
                  </a:lnTo>
                  <a:lnTo>
                    <a:pt x="0" y="423672"/>
                  </a:lnTo>
                  <a:lnTo>
                    <a:pt x="0" y="489966"/>
                  </a:lnTo>
                  <a:lnTo>
                    <a:pt x="16000" y="489966"/>
                  </a:lnTo>
                  <a:close/>
                </a:path>
                <a:path w="1159509" h="845185">
                  <a:moveTo>
                    <a:pt x="16000" y="374142"/>
                  </a:moveTo>
                  <a:lnTo>
                    <a:pt x="16000" y="308610"/>
                  </a:lnTo>
                  <a:lnTo>
                    <a:pt x="0" y="308610"/>
                  </a:lnTo>
                  <a:lnTo>
                    <a:pt x="0" y="374142"/>
                  </a:lnTo>
                  <a:lnTo>
                    <a:pt x="16000" y="374142"/>
                  </a:lnTo>
                  <a:close/>
                </a:path>
                <a:path w="1159509" h="845185">
                  <a:moveTo>
                    <a:pt x="29717" y="204978"/>
                  </a:moveTo>
                  <a:lnTo>
                    <a:pt x="18275" y="193548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7619" y="259080"/>
                  </a:lnTo>
                  <a:lnTo>
                    <a:pt x="7619" y="207264"/>
                  </a:lnTo>
                  <a:lnTo>
                    <a:pt x="27430" y="207264"/>
                  </a:lnTo>
                  <a:lnTo>
                    <a:pt x="29717" y="204978"/>
                  </a:lnTo>
                  <a:close/>
                </a:path>
                <a:path w="1159509" h="845185">
                  <a:moveTo>
                    <a:pt x="27430" y="207264"/>
                  </a:moveTo>
                  <a:lnTo>
                    <a:pt x="7619" y="207264"/>
                  </a:lnTo>
                  <a:lnTo>
                    <a:pt x="7619" y="223266"/>
                  </a:lnTo>
                  <a:lnTo>
                    <a:pt x="13703" y="223266"/>
                  </a:lnTo>
                  <a:lnTo>
                    <a:pt x="13703" y="220980"/>
                  </a:lnTo>
                  <a:lnTo>
                    <a:pt x="15989" y="214884"/>
                  </a:lnTo>
                  <a:lnTo>
                    <a:pt x="15989" y="218695"/>
                  </a:lnTo>
                  <a:lnTo>
                    <a:pt x="27430" y="207264"/>
                  </a:lnTo>
                  <a:close/>
                </a:path>
                <a:path w="1159509" h="845185">
                  <a:moveTo>
                    <a:pt x="15989" y="259080"/>
                  </a:moveTo>
                  <a:lnTo>
                    <a:pt x="15989" y="223266"/>
                  </a:lnTo>
                  <a:lnTo>
                    <a:pt x="7619" y="223266"/>
                  </a:lnTo>
                  <a:lnTo>
                    <a:pt x="7619" y="259080"/>
                  </a:lnTo>
                  <a:lnTo>
                    <a:pt x="15989" y="259080"/>
                  </a:lnTo>
                  <a:close/>
                </a:path>
                <a:path w="1159509" h="845185">
                  <a:moveTo>
                    <a:pt x="15989" y="218695"/>
                  </a:moveTo>
                  <a:lnTo>
                    <a:pt x="15989" y="214884"/>
                  </a:lnTo>
                  <a:lnTo>
                    <a:pt x="13703" y="220980"/>
                  </a:lnTo>
                  <a:lnTo>
                    <a:pt x="15989" y="218695"/>
                  </a:lnTo>
                  <a:close/>
                </a:path>
                <a:path w="1159509" h="845185">
                  <a:moveTo>
                    <a:pt x="73913" y="223266"/>
                  </a:moveTo>
                  <a:lnTo>
                    <a:pt x="73913" y="207264"/>
                  </a:lnTo>
                  <a:lnTo>
                    <a:pt x="27430" y="207264"/>
                  </a:lnTo>
                  <a:lnTo>
                    <a:pt x="13703" y="220980"/>
                  </a:lnTo>
                  <a:lnTo>
                    <a:pt x="13703" y="223266"/>
                  </a:lnTo>
                  <a:lnTo>
                    <a:pt x="73913" y="223266"/>
                  </a:lnTo>
                  <a:close/>
                </a:path>
                <a:path w="1159509" h="845185">
                  <a:moveTo>
                    <a:pt x="111239" y="123444"/>
                  </a:moveTo>
                  <a:lnTo>
                    <a:pt x="99821" y="112014"/>
                  </a:lnTo>
                  <a:lnTo>
                    <a:pt x="52565" y="158496"/>
                  </a:lnTo>
                  <a:lnTo>
                    <a:pt x="64769" y="169926"/>
                  </a:lnTo>
                  <a:lnTo>
                    <a:pt x="111239" y="123444"/>
                  </a:lnTo>
                  <a:close/>
                </a:path>
                <a:path w="1159509" h="845185">
                  <a:moveTo>
                    <a:pt x="192773" y="41910"/>
                  </a:moveTo>
                  <a:lnTo>
                    <a:pt x="181355" y="29718"/>
                  </a:lnTo>
                  <a:lnTo>
                    <a:pt x="134874" y="76962"/>
                  </a:lnTo>
                  <a:lnTo>
                    <a:pt x="146291" y="88392"/>
                  </a:lnTo>
                  <a:lnTo>
                    <a:pt x="192773" y="41910"/>
                  </a:lnTo>
                  <a:close/>
                </a:path>
                <a:path w="1159509" h="845185">
                  <a:moveTo>
                    <a:pt x="291071" y="16002"/>
                  </a:moveTo>
                  <a:lnTo>
                    <a:pt x="291071" y="0"/>
                  </a:lnTo>
                  <a:lnTo>
                    <a:pt x="225539" y="0"/>
                  </a:lnTo>
                  <a:lnTo>
                    <a:pt x="225539" y="16002"/>
                  </a:lnTo>
                  <a:lnTo>
                    <a:pt x="291071" y="16002"/>
                  </a:lnTo>
                  <a:close/>
                </a:path>
                <a:path w="1159509" h="845185">
                  <a:moveTo>
                    <a:pt x="406895" y="16002"/>
                  </a:moveTo>
                  <a:lnTo>
                    <a:pt x="406895" y="0"/>
                  </a:lnTo>
                  <a:lnTo>
                    <a:pt x="340601" y="0"/>
                  </a:lnTo>
                  <a:lnTo>
                    <a:pt x="340601" y="16002"/>
                  </a:lnTo>
                  <a:lnTo>
                    <a:pt x="406895" y="16002"/>
                  </a:lnTo>
                  <a:close/>
                </a:path>
                <a:path w="1159509" h="845185">
                  <a:moveTo>
                    <a:pt x="522719" y="16002"/>
                  </a:moveTo>
                  <a:lnTo>
                    <a:pt x="522719" y="0"/>
                  </a:lnTo>
                  <a:lnTo>
                    <a:pt x="456425" y="0"/>
                  </a:lnTo>
                  <a:lnTo>
                    <a:pt x="456425" y="16002"/>
                  </a:lnTo>
                  <a:lnTo>
                    <a:pt x="522719" y="16002"/>
                  </a:lnTo>
                  <a:close/>
                </a:path>
                <a:path w="1159509" h="845185">
                  <a:moveTo>
                    <a:pt x="637781" y="16002"/>
                  </a:moveTo>
                  <a:lnTo>
                    <a:pt x="637781" y="0"/>
                  </a:lnTo>
                  <a:lnTo>
                    <a:pt x="572249" y="0"/>
                  </a:lnTo>
                  <a:lnTo>
                    <a:pt x="572249" y="16002"/>
                  </a:lnTo>
                  <a:lnTo>
                    <a:pt x="637781" y="16002"/>
                  </a:lnTo>
                  <a:close/>
                </a:path>
                <a:path w="1159509" h="845185">
                  <a:moveTo>
                    <a:pt x="753618" y="16002"/>
                  </a:moveTo>
                  <a:lnTo>
                    <a:pt x="753618" y="0"/>
                  </a:lnTo>
                  <a:lnTo>
                    <a:pt x="687324" y="0"/>
                  </a:lnTo>
                  <a:lnTo>
                    <a:pt x="687324" y="16002"/>
                  </a:lnTo>
                  <a:lnTo>
                    <a:pt x="753618" y="16002"/>
                  </a:lnTo>
                  <a:close/>
                </a:path>
                <a:path w="1159509" h="845185">
                  <a:moveTo>
                    <a:pt x="869442" y="16002"/>
                  </a:moveTo>
                  <a:lnTo>
                    <a:pt x="869442" y="0"/>
                  </a:lnTo>
                  <a:lnTo>
                    <a:pt x="803148" y="0"/>
                  </a:lnTo>
                  <a:lnTo>
                    <a:pt x="803148" y="16002"/>
                  </a:lnTo>
                  <a:lnTo>
                    <a:pt x="869442" y="16002"/>
                  </a:lnTo>
                  <a:close/>
                </a:path>
                <a:path w="1159509" h="845185">
                  <a:moveTo>
                    <a:pt x="984503" y="16002"/>
                  </a:moveTo>
                  <a:lnTo>
                    <a:pt x="984503" y="0"/>
                  </a:lnTo>
                  <a:lnTo>
                    <a:pt x="918971" y="0"/>
                  </a:lnTo>
                  <a:lnTo>
                    <a:pt x="918971" y="16002"/>
                  </a:lnTo>
                  <a:lnTo>
                    <a:pt x="984503" y="16002"/>
                  </a:lnTo>
                  <a:close/>
                </a:path>
                <a:path w="1159509" h="845185">
                  <a:moveTo>
                    <a:pt x="1100327" y="16001"/>
                  </a:moveTo>
                  <a:lnTo>
                    <a:pt x="1100327" y="0"/>
                  </a:lnTo>
                  <a:lnTo>
                    <a:pt x="1034033" y="0"/>
                  </a:lnTo>
                  <a:lnTo>
                    <a:pt x="1034033" y="16001"/>
                  </a:lnTo>
                  <a:lnTo>
                    <a:pt x="1100327" y="16001"/>
                  </a:lnTo>
                  <a:close/>
                </a:path>
                <a:path w="1159509" h="845185">
                  <a:moveTo>
                    <a:pt x="1152143" y="19050"/>
                  </a:moveTo>
                  <a:lnTo>
                    <a:pt x="1139952" y="6857"/>
                  </a:lnTo>
                  <a:lnTo>
                    <a:pt x="1093469" y="54101"/>
                  </a:lnTo>
                  <a:lnTo>
                    <a:pt x="1104900" y="65531"/>
                  </a:lnTo>
                  <a:lnTo>
                    <a:pt x="1152143" y="19050"/>
                  </a:lnTo>
                  <a:close/>
                </a:path>
                <a:path w="1159509" h="845185">
                  <a:moveTo>
                    <a:pt x="1150619" y="16001"/>
                  </a:moveTo>
                  <a:lnTo>
                    <a:pt x="1143000" y="7619"/>
                  </a:lnTo>
                  <a:lnTo>
                    <a:pt x="1143000" y="9906"/>
                  </a:lnTo>
                  <a:lnTo>
                    <a:pt x="1149857" y="16764"/>
                  </a:lnTo>
                  <a:lnTo>
                    <a:pt x="1149857" y="16001"/>
                  </a:lnTo>
                  <a:lnTo>
                    <a:pt x="1150619" y="16001"/>
                  </a:lnTo>
                  <a:close/>
                </a:path>
                <a:path w="1159509" h="845185">
                  <a:moveTo>
                    <a:pt x="1152143" y="73151"/>
                  </a:moveTo>
                  <a:lnTo>
                    <a:pt x="1152143" y="19050"/>
                  </a:lnTo>
                  <a:lnTo>
                    <a:pt x="1143000" y="28046"/>
                  </a:lnTo>
                  <a:lnTo>
                    <a:pt x="1143000" y="73151"/>
                  </a:lnTo>
                  <a:lnTo>
                    <a:pt x="1152143" y="73151"/>
                  </a:lnTo>
                  <a:close/>
                </a:path>
                <a:path w="1159509" h="845185">
                  <a:moveTo>
                    <a:pt x="1159002" y="73151"/>
                  </a:moveTo>
                  <a:lnTo>
                    <a:pt x="1159002" y="0"/>
                  </a:lnTo>
                  <a:lnTo>
                    <a:pt x="1149857" y="0"/>
                  </a:lnTo>
                  <a:lnTo>
                    <a:pt x="1149857" y="15163"/>
                  </a:lnTo>
                  <a:lnTo>
                    <a:pt x="1150619" y="16001"/>
                  </a:lnTo>
                  <a:lnTo>
                    <a:pt x="1150619" y="17525"/>
                  </a:lnTo>
                  <a:lnTo>
                    <a:pt x="1152143" y="19050"/>
                  </a:lnTo>
                  <a:lnTo>
                    <a:pt x="1152143" y="73151"/>
                  </a:lnTo>
                  <a:lnTo>
                    <a:pt x="1159002" y="73151"/>
                  </a:lnTo>
                  <a:close/>
                </a:path>
                <a:path w="1159509" h="845185">
                  <a:moveTo>
                    <a:pt x="1150619" y="17525"/>
                  </a:moveTo>
                  <a:lnTo>
                    <a:pt x="1150619" y="16001"/>
                  </a:lnTo>
                  <a:lnTo>
                    <a:pt x="1149857" y="16001"/>
                  </a:lnTo>
                  <a:lnTo>
                    <a:pt x="1149857" y="16764"/>
                  </a:lnTo>
                  <a:lnTo>
                    <a:pt x="1150619" y="17525"/>
                  </a:lnTo>
                  <a:close/>
                </a:path>
                <a:path w="1159509" h="845185">
                  <a:moveTo>
                    <a:pt x="1159002" y="188213"/>
                  </a:moveTo>
                  <a:lnTo>
                    <a:pt x="1159002" y="122681"/>
                  </a:lnTo>
                  <a:lnTo>
                    <a:pt x="1143000" y="122681"/>
                  </a:lnTo>
                  <a:lnTo>
                    <a:pt x="1143000" y="188213"/>
                  </a:lnTo>
                  <a:lnTo>
                    <a:pt x="1159002" y="188213"/>
                  </a:lnTo>
                  <a:close/>
                </a:path>
                <a:path w="1159509" h="845185">
                  <a:moveTo>
                    <a:pt x="1159002" y="304038"/>
                  </a:moveTo>
                  <a:lnTo>
                    <a:pt x="1159002" y="237744"/>
                  </a:lnTo>
                  <a:lnTo>
                    <a:pt x="1143000" y="237744"/>
                  </a:lnTo>
                  <a:lnTo>
                    <a:pt x="1143000" y="304038"/>
                  </a:lnTo>
                  <a:lnTo>
                    <a:pt x="1159002" y="304038"/>
                  </a:lnTo>
                  <a:close/>
                </a:path>
                <a:path w="1159509" h="845185">
                  <a:moveTo>
                    <a:pt x="1159002" y="419862"/>
                  </a:moveTo>
                  <a:lnTo>
                    <a:pt x="1159002" y="353568"/>
                  </a:lnTo>
                  <a:lnTo>
                    <a:pt x="1143000" y="353568"/>
                  </a:lnTo>
                  <a:lnTo>
                    <a:pt x="1143000" y="419862"/>
                  </a:lnTo>
                  <a:lnTo>
                    <a:pt x="1159002" y="419862"/>
                  </a:lnTo>
                  <a:close/>
                </a:path>
                <a:path w="1159509" h="845185">
                  <a:moveTo>
                    <a:pt x="1159002" y="534923"/>
                  </a:moveTo>
                  <a:lnTo>
                    <a:pt x="1159002" y="469391"/>
                  </a:lnTo>
                  <a:lnTo>
                    <a:pt x="1143000" y="469391"/>
                  </a:lnTo>
                  <a:lnTo>
                    <a:pt x="1143000" y="534923"/>
                  </a:lnTo>
                  <a:lnTo>
                    <a:pt x="1159002" y="534923"/>
                  </a:lnTo>
                  <a:close/>
                </a:path>
                <a:path w="1159509" h="845185">
                  <a:moveTo>
                    <a:pt x="1145273" y="623315"/>
                  </a:moveTo>
                  <a:lnTo>
                    <a:pt x="1130045" y="638556"/>
                  </a:lnTo>
                  <a:lnTo>
                    <a:pt x="1141476" y="649986"/>
                  </a:lnTo>
                  <a:lnTo>
                    <a:pt x="1143000" y="648528"/>
                  </a:lnTo>
                  <a:lnTo>
                    <a:pt x="1143000" y="629412"/>
                  </a:lnTo>
                  <a:lnTo>
                    <a:pt x="1145273" y="623315"/>
                  </a:lnTo>
                  <a:close/>
                </a:path>
                <a:path w="1159509" h="845185">
                  <a:moveTo>
                    <a:pt x="1159002" y="633221"/>
                  </a:moveTo>
                  <a:lnTo>
                    <a:pt x="1159002" y="584453"/>
                  </a:lnTo>
                  <a:lnTo>
                    <a:pt x="1143000" y="584453"/>
                  </a:lnTo>
                  <a:lnTo>
                    <a:pt x="1143000" y="625591"/>
                  </a:lnTo>
                  <a:lnTo>
                    <a:pt x="1145273" y="623315"/>
                  </a:lnTo>
                  <a:lnTo>
                    <a:pt x="1145273" y="646353"/>
                  </a:lnTo>
                  <a:lnTo>
                    <a:pt x="1159002" y="633221"/>
                  </a:lnTo>
                  <a:close/>
                </a:path>
                <a:path w="1159509" h="845185">
                  <a:moveTo>
                    <a:pt x="1145273" y="646353"/>
                  </a:moveTo>
                  <a:lnTo>
                    <a:pt x="1145273" y="623315"/>
                  </a:lnTo>
                  <a:lnTo>
                    <a:pt x="1143000" y="629412"/>
                  </a:lnTo>
                  <a:lnTo>
                    <a:pt x="1143000" y="648528"/>
                  </a:lnTo>
                  <a:lnTo>
                    <a:pt x="1145273" y="646353"/>
                  </a:lnTo>
                  <a:close/>
                </a:path>
                <a:path w="1159509" h="845185">
                  <a:moveTo>
                    <a:pt x="1106424" y="685038"/>
                  </a:moveTo>
                  <a:lnTo>
                    <a:pt x="1094993" y="673607"/>
                  </a:lnTo>
                  <a:lnTo>
                    <a:pt x="1048499" y="720089"/>
                  </a:lnTo>
                  <a:lnTo>
                    <a:pt x="1059929" y="732282"/>
                  </a:lnTo>
                  <a:lnTo>
                    <a:pt x="1106424" y="685038"/>
                  </a:lnTo>
                  <a:close/>
                </a:path>
                <a:path w="1159509" h="845185">
                  <a:moveTo>
                    <a:pt x="1024877" y="767334"/>
                  </a:moveTo>
                  <a:lnTo>
                    <a:pt x="1013447" y="755142"/>
                  </a:lnTo>
                  <a:lnTo>
                    <a:pt x="966977" y="802386"/>
                  </a:lnTo>
                  <a:lnTo>
                    <a:pt x="978407" y="813816"/>
                  </a:lnTo>
                  <a:lnTo>
                    <a:pt x="1024877" y="767334"/>
                  </a:lnTo>
                  <a:close/>
                </a:path>
                <a:path w="1159509" h="845185">
                  <a:moveTo>
                    <a:pt x="934974" y="845058"/>
                  </a:moveTo>
                  <a:lnTo>
                    <a:pt x="934974" y="828294"/>
                  </a:lnTo>
                  <a:lnTo>
                    <a:pt x="868679" y="828294"/>
                  </a:lnTo>
                  <a:lnTo>
                    <a:pt x="868679" y="845058"/>
                  </a:lnTo>
                  <a:lnTo>
                    <a:pt x="934974" y="845058"/>
                  </a:lnTo>
                  <a:close/>
                </a:path>
                <a:path w="1159509" h="845185">
                  <a:moveTo>
                    <a:pt x="819150" y="845058"/>
                  </a:moveTo>
                  <a:lnTo>
                    <a:pt x="819150" y="828294"/>
                  </a:lnTo>
                  <a:lnTo>
                    <a:pt x="753618" y="828294"/>
                  </a:lnTo>
                  <a:lnTo>
                    <a:pt x="753618" y="845058"/>
                  </a:lnTo>
                  <a:lnTo>
                    <a:pt x="819150" y="845058"/>
                  </a:lnTo>
                  <a:close/>
                </a:path>
                <a:path w="1159509" h="845185">
                  <a:moveTo>
                    <a:pt x="704075" y="845058"/>
                  </a:moveTo>
                  <a:lnTo>
                    <a:pt x="704075" y="828294"/>
                  </a:lnTo>
                  <a:lnTo>
                    <a:pt x="637781" y="828294"/>
                  </a:lnTo>
                  <a:lnTo>
                    <a:pt x="637781" y="845058"/>
                  </a:lnTo>
                  <a:lnTo>
                    <a:pt x="704075" y="845058"/>
                  </a:lnTo>
                  <a:close/>
                </a:path>
                <a:path w="1159509" h="845185">
                  <a:moveTo>
                    <a:pt x="588251" y="845058"/>
                  </a:moveTo>
                  <a:lnTo>
                    <a:pt x="588251" y="828294"/>
                  </a:lnTo>
                  <a:lnTo>
                    <a:pt x="521957" y="828294"/>
                  </a:lnTo>
                  <a:lnTo>
                    <a:pt x="521957" y="845058"/>
                  </a:lnTo>
                  <a:lnTo>
                    <a:pt x="588251" y="845058"/>
                  </a:lnTo>
                  <a:close/>
                </a:path>
                <a:path w="1159509" h="845185">
                  <a:moveTo>
                    <a:pt x="472427" y="845058"/>
                  </a:moveTo>
                  <a:lnTo>
                    <a:pt x="472427" y="828294"/>
                  </a:lnTo>
                  <a:lnTo>
                    <a:pt x="406895" y="828294"/>
                  </a:lnTo>
                  <a:lnTo>
                    <a:pt x="406895" y="845058"/>
                  </a:lnTo>
                  <a:lnTo>
                    <a:pt x="472427" y="845058"/>
                  </a:lnTo>
                  <a:close/>
                </a:path>
                <a:path w="1159509" h="845185">
                  <a:moveTo>
                    <a:pt x="357365" y="845058"/>
                  </a:moveTo>
                  <a:lnTo>
                    <a:pt x="357365" y="828294"/>
                  </a:lnTo>
                  <a:lnTo>
                    <a:pt x="291071" y="828294"/>
                  </a:lnTo>
                  <a:lnTo>
                    <a:pt x="291071" y="845058"/>
                  </a:lnTo>
                  <a:lnTo>
                    <a:pt x="357365" y="845058"/>
                  </a:lnTo>
                  <a:close/>
                </a:path>
                <a:path w="1159509" h="845185">
                  <a:moveTo>
                    <a:pt x="241541" y="845058"/>
                  </a:moveTo>
                  <a:lnTo>
                    <a:pt x="241541" y="828294"/>
                  </a:lnTo>
                  <a:lnTo>
                    <a:pt x="175247" y="828294"/>
                  </a:lnTo>
                  <a:lnTo>
                    <a:pt x="175247" y="845058"/>
                  </a:lnTo>
                  <a:lnTo>
                    <a:pt x="241541" y="845058"/>
                  </a:lnTo>
                  <a:close/>
                </a:path>
                <a:path w="1159509" h="845185">
                  <a:moveTo>
                    <a:pt x="125729" y="845058"/>
                  </a:moveTo>
                  <a:lnTo>
                    <a:pt x="125729" y="828294"/>
                  </a:lnTo>
                  <a:lnTo>
                    <a:pt x="60198" y="828294"/>
                  </a:lnTo>
                  <a:lnTo>
                    <a:pt x="60198" y="845058"/>
                  </a:lnTo>
                  <a:lnTo>
                    <a:pt x="125729" y="845058"/>
                  </a:lnTo>
                  <a:close/>
                </a:path>
                <a:path w="1159509" h="845185">
                  <a:moveTo>
                    <a:pt x="189737" y="223266"/>
                  </a:moveTo>
                  <a:lnTo>
                    <a:pt x="189737" y="207264"/>
                  </a:lnTo>
                  <a:lnTo>
                    <a:pt x="123443" y="207264"/>
                  </a:lnTo>
                  <a:lnTo>
                    <a:pt x="123443" y="223266"/>
                  </a:lnTo>
                  <a:lnTo>
                    <a:pt x="189737" y="223266"/>
                  </a:lnTo>
                  <a:close/>
                </a:path>
                <a:path w="1159509" h="845185">
                  <a:moveTo>
                    <a:pt x="304799" y="223266"/>
                  </a:moveTo>
                  <a:lnTo>
                    <a:pt x="304799" y="207264"/>
                  </a:lnTo>
                  <a:lnTo>
                    <a:pt x="239267" y="207264"/>
                  </a:lnTo>
                  <a:lnTo>
                    <a:pt x="239267" y="223266"/>
                  </a:lnTo>
                  <a:lnTo>
                    <a:pt x="304799" y="223266"/>
                  </a:lnTo>
                  <a:close/>
                </a:path>
                <a:path w="1159509" h="845185">
                  <a:moveTo>
                    <a:pt x="420624" y="223266"/>
                  </a:moveTo>
                  <a:lnTo>
                    <a:pt x="420624" y="207264"/>
                  </a:lnTo>
                  <a:lnTo>
                    <a:pt x="354329" y="207264"/>
                  </a:lnTo>
                  <a:lnTo>
                    <a:pt x="354329" y="223266"/>
                  </a:lnTo>
                  <a:lnTo>
                    <a:pt x="420624" y="223266"/>
                  </a:lnTo>
                  <a:close/>
                </a:path>
                <a:path w="1159509" h="845185">
                  <a:moveTo>
                    <a:pt x="536435" y="223266"/>
                  </a:moveTo>
                  <a:lnTo>
                    <a:pt x="536435" y="207264"/>
                  </a:lnTo>
                  <a:lnTo>
                    <a:pt x="470141" y="207264"/>
                  </a:lnTo>
                  <a:lnTo>
                    <a:pt x="470141" y="223266"/>
                  </a:lnTo>
                  <a:lnTo>
                    <a:pt x="536435" y="223266"/>
                  </a:lnTo>
                  <a:close/>
                </a:path>
                <a:path w="1159509" h="845185">
                  <a:moveTo>
                    <a:pt x="651497" y="223266"/>
                  </a:moveTo>
                  <a:lnTo>
                    <a:pt x="651497" y="207264"/>
                  </a:lnTo>
                  <a:lnTo>
                    <a:pt x="585965" y="207264"/>
                  </a:lnTo>
                  <a:lnTo>
                    <a:pt x="585965" y="223266"/>
                  </a:lnTo>
                  <a:lnTo>
                    <a:pt x="651497" y="223266"/>
                  </a:lnTo>
                  <a:close/>
                </a:path>
                <a:path w="1159509" h="845185">
                  <a:moveTo>
                    <a:pt x="767321" y="223266"/>
                  </a:moveTo>
                  <a:lnTo>
                    <a:pt x="767321" y="207264"/>
                  </a:lnTo>
                  <a:lnTo>
                    <a:pt x="701027" y="207264"/>
                  </a:lnTo>
                  <a:lnTo>
                    <a:pt x="701027" y="223266"/>
                  </a:lnTo>
                  <a:lnTo>
                    <a:pt x="767321" y="223266"/>
                  </a:lnTo>
                  <a:close/>
                </a:path>
                <a:path w="1159509" h="845185">
                  <a:moveTo>
                    <a:pt x="883145" y="223266"/>
                  </a:moveTo>
                  <a:lnTo>
                    <a:pt x="883145" y="207264"/>
                  </a:lnTo>
                  <a:lnTo>
                    <a:pt x="816851" y="207264"/>
                  </a:lnTo>
                  <a:lnTo>
                    <a:pt x="816851" y="223266"/>
                  </a:lnTo>
                  <a:lnTo>
                    <a:pt x="883145" y="223266"/>
                  </a:lnTo>
                  <a:close/>
                </a:path>
                <a:path w="1159509" h="845185">
                  <a:moveTo>
                    <a:pt x="940307" y="207264"/>
                  </a:moveTo>
                  <a:lnTo>
                    <a:pt x="932675" y="207264"/>
                  </a:lnTo>
                  <a:lnTo>
                    <a:pt x="932675" y="223266"/>
                  </a:lnTo>
                  <a:lnTo>
                    <a:pt x="935723" y="223266"/>
                  </a:lnTo>
                  <a:lnTo>
                    <a:pt x="935723" y="214884"/>
                  </a:lnTo>
                  <a:lnTo>
                    <a:pt x="938021" y="214884"/>
                  </a:lnTo>
                  <a:lnTo>
                    <a:pt x="938021" y="209550"/>
                  </a:lnTo>
                  <a:lnTo>
                    <a:pt x="940307" y="207264"/>
                  </a:lnTo>
                  <a:close/>
                </a:path>
                <a:path w="1159509" h="845185">
                  <a:moveTo>
                    <a:pt x="951725" y="218694"/>
                  </a:moveTo>
                  <a:lnTo>
                    <a:pt x="951725" y="214884"/>
                  </a:lnTo>
                  <a:lnTo>
                    <a:pt x="935723" y="214884"/>
                  </a:lnTo>
                  <a:lnTo>
                    <a:pt x="935723" y="223266"/>
                  </a:lnTo>
                  <a:lnTo>
                    <a:pt x="947153" y="223266"/>
                  </a:lnTo>
                  <a:lnTo>
                    <a:pt x="951725" y="218694"/>
                  </a:lnTo>
                  <a:close/>
                </a:path>
                <a:path w="1159509" h="845185">
                  <a:moveTo>
                    <a:pt x="951725" y="281178"/>
                  </a:moveTo>
                  <a:lnTo>
                    <a:pt x="951725" y="218694"/>
                  </a:lnTo>
                  <a:lnTo>
                    <a:pt x="947153" y="223266"/>
                  </a:lnTo>
                  <a:lnTo>
                    <a:pt x="935723" y="223266"/>
                  </a:lnTo>
                  <a:lnTo>
                    <a:pt x="935723" y="281178"/>
                  </a:lnTo>
                  <a:lnTo>
                    <a:pt x="951725" y="281178"/>
                  </a:lnTo>
                  <a:close/>
                </a:path>
                <a:path w="1159509" h="845185">
                  <a:moveTo>
                    <a:pt x="944117" y="207264"/>
                  </a:moveTo>
                  <a:lnTo>
                    <a:pt x="940307" y="207264"/>
                  </a:lnTo>
                  <a:lnTo>
                    <a:pt x="938021" y="209550"/>
                  </a:lnTo>
                  <a:lnTo>
                    <a:pt x="944117" y="207264"/>
                  </a:lnTo>
                  <a:close/>
                </a:path>
                <a:path w="1159509" h="845185">
                  <a:moveTo>
                    <a:pt x="944117" y="214884"/>
                  </a:moveTo>
                  <a:lnTo>
                    <a:pt x="944117" y="207264"/>
                  </a:lnTo>
                  <a:lnTo>
                    <a:pt x="938021" y="209550"/>
                  </a:lnTo>
                  <a:lnTo>
                    <a:pt x="938021" y="214884"/>
                  </a:lnTo>
                  <a:lnTo>
                    <a:pt x="944117" y="214884"/>
                  </a:lnTo>
                  <a:close/>
                </a:path>
                <a:path w="1159509" h="845185">
                  <a:moveTo>
                    <a:pt x="988301" y="182118"/>
                  </a:moveTo>
                  <a:lnTo>
                    <a:pt x="976883" y="170688"/>
                  </a:lnTo>
                  <a:lnTo>
                    <a:pt x="940307" y="207264"/>
                  </a:lnTo>
                  <a:lnTo>
                    <a:pt x="944117" y="207264"/>
                  </a:lnTo>
                  <a:lnTo>
                    <a:pt x="944117" y="214884"/>
                  </a:lnTo>
                  <a:lnTo>
                    <a:pt x="951725" y="214884"/>
                  </a:lnTo>
                  <a:lnTo>
                    <a:pt x="951725" y="218694"/>
                  </a:lnTo>
                  <a:lnTo>
                    <a:pt x="988301" y="182118"/>
                  </a:lnTo>
                  <a:close/>
                </a:path>
                <a:path w="1159509" h="845185">
                  <a:moveTo>
                    <a:pt x="1069848" y="100583"/>
                  </a:moveTo>
                  <a:lnTo>
                    <a:pt x="1058417" y="89153"/>
                  </a:lnTo>
                  <a:lnTo>
                    <a:pt x="1011923" y="135636"/>
                  </a:lnTo>
                  <a:lnTo>
                    <a:pt x="1023353" y="147066"/>
                  </a:lnTo>
                  <a:lnTo>
                    <a:pt x="1069848" y="100583"/>
                  </a:lnTo>
                  <a:close/>
                </a:path>
                <a:path w="1159509" h="845185">
                  <a:moveTo>
                    <a:pt x="951725" y="397002"/>
                  </a:moveTo>
                  <a:lnTo>
                    <a:pt x="951725" y="330708"/>
                  </a:lnTo>
                  <a:lnTo>
                    <a:pt x="935723" y="330708"/>
                  </a:lnTo>
                  <a:lnTo>
                    <a:pt x="935723" y="397002"/>
                  </a:lnTo>
                  <a:lnTo>
                    <a:pt x="951725" y="397002"/>
                  </a:lnTo>
                  <a:close/>
                </a:path>
                <a:path w="1159509" h="845185">
                  <a:moveTo>
                    <a:pt x="951725" y="512064"/>
                  </a:moveTo>
                  <a:lnTo>
                    <a:pt x="951725" y="446532"/>
                  </a:lnTo>
                  <a:lnTo>
                    <a:pt x="935723" y="446532"/>
                  </a:lnTo>
                  <a:lnTo>
                    <a:pt x="935723" y="512064"/>
                  </a:lnTo>
                  <a:lnTo>
                    <a:pt x="951725" y="512064"/>
                  </a:lnTo>
                  <a:close/>
                </a:path>
                <a:path w="1159509" h="845185">
                  <a:moveTo>
                    <a:pt x="951725" y="627888"/>
                  </a:moveTo>
                  <a:lnTo>
                    <a:pt x="951725" y="561594"/>
                  </a:lnTo>
                  <a:lnTo>
                    <a:pt x="935723" y="561594"/>
                  </a:lnTo>
                  <a:lnTo>
                    <a:pt x="935723" y="627888"/>
                  </a:lnTo>
                  <a:lnTo>
                    <a:pt x="951725" y="627888"/>
                  </a:lnTo>
                  <a:close/>
                </a:path>
                <a:path w="1159509" h="845185">
                  <a:moveTo>
                    <a:pt x="951725" y="743712"/>
                  </a:moveTo>
                  <a:lnTo>
                    <a:pt x="951725" y="677418"/>
                  </a:lnTo>
                  <a:lnTo>
                    <a:pt x="935723" y="677418"/>
                  </a:lnTo>
                  <a:lnTo>
                    <a:pt x="935723" y="743712"/>
                  </a:lnTo>
                  <a:lnTo>
                    <a:pt x="951725" y="743712"/>
                  </a:lnTo>
                  <a:close/>
                </a:path>
                <a:path w="1159509" h="845185">
                  <a:moveTo>
                    <a:pt x="951725" y="836676"/>
                  </a:moveTo>
                  <a:lnTo>
                    <a:pt x="951725" y="793242"/>
                  </a:lnTo>
                  <a:lnTo>
                    <a:pt x="935723" y="793242"/>
                  </a:lnTo>
                  <a:lnTo>
                    <a:pt x="935723" y="836676"/>
                  </a:lnTo>
                  <a:lnTo>
                    <a:pt x="951725" y="836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8"/>
            <p:cNvSpPr txBox="1"/>
            <p:nvPr/>
          </p:nvSpPr>
          <p:spPr>
            <a:xfrm>
              <a:off x="6732746" y="2947455"/>
              <a:ext cx="125095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新宋体"/>
                </a:rPr>
                <a:t>尺寸改变</a:t>
              </a:r>
              <a:endParaRPr sz="2400" dirty="0">
                <a:latin typeface="楷体" panose="02010609060101010101" pitchFamily="49" charset="-122"/>
                <a:ea typeface="楷体" panose="02010609060101010101" pitchFamily="49" charset="-122"/>
                <a:cs typeface="新宋体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975031" y="3673282"/>
            <a:ext cx="1454795" cy="1906331"/>
            <a:chOff x="7657471" y="4048952"/>
            <a:chExt cx="1454795" cy="1906331"/>
          </a:xfrm>
        </p:grpSpPr>
        <p:sp>
          <p:nvSpPr>
            <p:cNvPr id="33" name="object 14"/>
            <p:cNvSpPr/>
            <p:nvPr/>
          </p:nvSpPr>
          <p:spPr>
            <a:xfrm>
              <a:off x="7839341" y="4599432"/>
              <a:ext cx="719455" cy="750570"/>
            </a:xfrm>
            <a:custGeom>
              <a:avLst/>
              <a:gdLst/>
              <a:ahLst/>
              <a:cxnLst/>
              <a:rect l="l" t="t" r="r" b="b"/>
              <a:pathLst>
                <a:path w="719454" h="750570">
                  <a:moveTo>
                    <a:pt x="0" y="0"/>
                  </a:moveTo>
                  <a:lnTo>
                    <a:pt x="0" y="750570"/>
                  </a:lnTo>
                  <a:lnTo>
                    <a:pt x="719327" y="750570"/>
                  </a:lnTo>
                  <a:lnTo>
                    <a:pt x="7193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C2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5"/>
            <p:cNvSpPr/>
            <p:nvPr/>
          </p:nvSpPr>
          <p:spPr>
            <a:xfrm>
              <a:off x="8558669" y="4359402"/>
              <a:ext cx="240029" cy="990600"/>
            </a:xfrm>
            <a:custGeom>
              <a:avLst/>
              <a:gdLst/>
              <a:ahLst/>
              <a:cxnLst/>
              <a:rect l="l" t="t" r="r" b="b"/>
              <a:pathLst>
                <a:path w="240029" h="990600">
                  <a:moveTo>
                    <a:pt x="240030" y="750569"/>
                  </a:moveTo>
                  <a:lnTo>
                    <a:pt x="240029" y="0"/>
                  </a:lnTo>
                  <a:lnTo>
                    <a:pt x="0" y="240029"/>
                  </a:lnTo>
                  <a:lnTo>
                    <a:pt x="0" y="990599"/>
                  </a:lnTo>
                  <a:lnTo>
                    <a:pt x="240030" y="750569"/>
                  </a:lnTo>
                  <a:close/>
                </a:path>
              </a:pathLst>
            </a:custGeom>
            <a:solidFill>
              <a:srgbClr val="849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6"/>
            <p:cNvSpPr/>
            <p:nvPr/>
          </p:nvSpPr>
          <p:spPr>
            <a:xfrm>
              <a:off x="7839341" y="4359402"/>
              <a:ext cx="959485" cy="240029"/>
            </a:xfrm>
            <a:custGeom>
              <a:avLst/>
              <a:gdLst/>
              <a:ahLst/>
              <a:cxnLst/>
              <a:rect l="l" t="t" r="r" b="b"/>
              <a:pathLst>
                <a:path w="959484" h="240029">
                  <a:moveTo>
                    <a:pt x="959358" y="0"/>
                  </a:moveTo>
                  <a:lnTo>
                    <a:pt x="240029" y="0"/>
                  </a:lnTo>
                  <a:lnTo>
                    <a:pt x="0" y="240029"/>
                  </a:lnTo>
                  <a:lnTo>
                    <a:pt x="719328" y="240029"/>
                  </a:lnTo>
                  <a:lnTo>
                    <a:pt x="959358" y="0"/>
                  </a:lnTo>
                  <a:close/>
                </a:path>
              </a:pathLst>
            </a:custGeom>
            <a:solidFill>
              <a:srgbClr val="B6CE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7"/>
            <p:cNvSpPr/>
            <p:nvPr/>
          </p:nvSpPr>
          <p:spPr>
            <a:xfrm>
              <a:off x="7834769" y="4354829"/>
              <a:ext cx="969010" cy="1000125"/>
            </a:xfrm>
            <a:custGeom>
              <a:avLst/>
              <a:gdLst/>
              <a:ahLst/>
              <a:cxnLst/>
              <a:rect l="l" t="t" r="r" b="b"/>
              <a:pathLst>
                <a:path w="969009" h="1000125">
                  <a:moveTo>
                    <a:pt x="968502" y="757427"/>
                  </a:moveTo>
                  <a:lnTo>
                    <a:pt x="968502" y="0"/>
                  </a:lnTo>
                  <a:lnTo>
                    <a:pt x="242315" y="0"/>
                  </a:lnTo>
                  <a:lnTo>
                    <a:pt x="0" y="242315"/>
                  </a:lnTo>
                  <a:lnTo>
                    <a:pt x="0" y="999743"/>
                  </a:lnTo>
                  <a:lnTo>
                    <a:pt x="4572" y="999743"/>
                  </a:lnTo>
                  <a:lnTo>
                    <a:pt x="4572" y="239267"/>
                  </a:lnTo>
                  <a:lnTo>
                    <a:pt x="16737" y="239267"/>
                  </a:lnTo>
                  <a:lnTo>
                    <a:pt x="244602" y="10677"/>
                  </a:lnTo>
                  <a:lnTo>
                    <a:pt x="244602" y="9143"/>
                  </a:lnTo>
                  <a:lnTo>
                    <a:pt x="247650" y="7619"/>
                  </a:lnTo>
                  <a:lnTo>
                    <a:pt x="247650" y="9143"/>
                  </a:lnTo>
                  <a:lnTo>
                    <a:pt x="952500" y="9143"/>
                  </a:lnTo>
                  <a:lnTo>
                    <a:pt x="960119" y="1523"/>
                  </a:lnTo>
                  <a:lnTo>
                    <a:pt x="966978" y="7619"/>
                  </a:lnTo>
                  <a:lnTo>
                    <a:pt x="966978" y="758951"/>
                  </a:lnTo>
                  <a:lnTo>
                    <a:pt x="968502" y="757427"/>
                  </a:lnTo>
                  <a:close/>
                </a:path>
                <a:path w="969009" h="1000125">
                  <a:moveTo>
                    <a:pt x="16737" y="239267"/>
                  </a:moveTo>
                  <a:lnTo>
                    <a:pt x="4572" y="239267"/>
                  </a:lnTo>
                  <a:lnTo>
                    <a:pt x="4572" y="249173"/>
                  </a:lnTo>
                  <a:lnTo>
                    <a:pt x="8382" y="249173"/>
                  </a:lnTo>
                  <a:lnTo>
                    <a:pt x="8382" y="247649"/>
                  </a:lnTo>
                  <a:lnTo>
                    <a:pt x="9906" y="244601"/>
                  </a:lnTo>
                  <a:lnTo>
                    <a:pt x="9906" y="246121"/>
                  </a:lnTo>
                  <a:lnTo>
                    <a:pt x="16737" y="239267"/>
                  </a:lnTo>
                  <a:close/>
                </a:path>
                <a:path w="969009" h="1000125">
                  <a:moveTo>
                    <a:pt x="9906" y="990599"/>
                  </a:moveTo>
                  <a:lnTo>
                    <a:pt x="9906" y="249173"/>
                  </a:lnTo>
                  <a:lnTo>
                    <a:pt x="4572" y="249173"/>
                  </a:lnTo>
                  <a:lnTo>
                    <a:pt x="4572" y="990599"/>
                  </a:lnTo>
                  <a:lnTo>
                    <a:pt x="9906" y="990599"/>
                  </a:lnTo>
                  <a:close/>
                </a:path>
                <a:path w="969009" h="1000125">
                  <a:moveTo>
                    <a:pt x="722371" y="990599"/>
                  </a:moveTo>
                  <a:lnTo>
                    <a:pt x="4572" y="990599"/>
                  </a:lnTo>
                  <a:lnTo>
                    <a:pt x="9906" y="995171"/>
                  </a:lnTo>
                  <a:lnTo>
                    <a:pt x="9906" y="999743"/>
                  </a:lnTo>
                  <a:lnTo>
                    <a:pt x="719328" y="999743"/>
                  </a:lnTo>
                  <a:lnTo>
                    <a:pt x="719328" y="995171"/>
                  </a:lnTo>
                  <a:lnTo>
                    <a:pt x="720852" y="995171"/>
                  </a:lnTo>
                  <a:lnTo>
                    <a:pt x="720852" y="992123"/>
                  </a:lnTo>
                  <a:lnTo>
                    <a:pt x="722371" y="990599"/>
                  </a:lnTo>
                  <a:close/>
                </a:path>
                <a:path w="969009" h="1000125">
                  <a:moveTo>
                    <a:pt x="9906" y="999743"/>
                  </a:moveTo>
                  <a:lnTo>
                    <a:pt x="9906" y="995171"/>
                  </a:lnTo>
                  <a:lnTo>
                    <a:pt x="4572" y="990599"/>
                  </a:lnTo>
                  <a:lnTo>
                    <a:pt x="4572" y="999743"/>
                  </a:lnTo>
                  <a:lnTo>
                    <a:pt x="9906" y="999743"/>
                  </a:lnTo>
                  <a:close/>
                </a:path>
                <a:path w="969009" h="1000125">
                  <a:moveTo>
                    <a:pt x="9906" y="246121"/>
                  </a:moveTo>
                  <a:lnTo>
                    <a:pt x="9906" y="244601"/>
                  </a:lnTo>
                  <a:lnTo>
                    <a:pt x="8382" y="247649"/>
                  </a:lnTo>
                  <a:lnTo>
                    <a:pt x="9906" y="246121"/>
                  </a:lnTo>
                  <a:close/>
                </a:path>
                <a:path w="969009" h="1000125">
                  <a:moveTo>
                    <a:pt x="722376" y="239267"/>
                  </a:moveTo>
                  <a:lnTo>
                    <a:pt x="16737" y="239267"/>
                  </a:lnTo>
                  <a:lnTo>
                    <a:pt x="8382" y="247649"/>
                  </a:lnTo>
                  <a:lnTo>
                    <a:pt x="8382" y="249173"/>
                  </a:lnTo>
                  <a:lnTo>
                    <a:pt x="719328" y="249173"/>
                  </a:lnTo>
                  <a:lnTo>
                    <a:pt x="719328" y="244601"/>
                  </a:lnTo>
                  <a:lnTo>
                    <a:pt x="720852" y="244601"/>
                  </a:lnTo>
                  <a:lnTo>
                    <a:pt x="720852" y="240791"/>
                  </a:lnTo>
                  <a:lnTo>
                    <a:pt x="722376" y="239267"/>
                  </a:lnTo>
                  <a:close/>
                </a:path>
                <a:path w="969009" h="1000125">
                  <a:moveTo>
                    <a:pt x="247650" y="7619"/>
                  </a:moveTo>
                  <a:lnTo>
                    <a:pt x="244602" y="9143"/>
                  </a:lnTo>
                  <a:lnTo>
                    <a:pt x="246130" y="9143"/>
                  </a:lnTo>
                  <a:lnTo>
                    <a:pt x="247650" y="7619"/>
                  </a:lnTo>
                  <a:close/>
                </a:path>
                <a:path w="969009" h="1000125">
                  <a:moveTo>
                    <a:pt x="246130" y="9143"/>
                  </a:moveTo>
                  <a:lnTo>
                    <a:pt x="244602" y="9143"/>
                  </a:lnTo>
                  <a:lnTo>
                    <a:pt x="244602" y="10677"/>
                  </a:lnTo>
                  <a:lnTo>
                    <a:pt x="246130" y="9143"/>
                  </a:lnTo>
                  <a:close/>
                </a:path>
                <a:path w="969009" h="1000125">
                  <a:moveTo>
                    <a:pt x="247650" y="9143"/>
                  </a:moveTo>
                  <a:lnTo>
                    <a:pt x="247650" y="7619"/>
                  </a:lnTo>
                  <a:lnTo>
                    <a:pt x="246130" y="9143"/>
                  </a:lnTo>
                  <a:lnTo>
                    <a:pt x="247650" y="9143"/>
                  </a:lnTo>
                  <a:close/>
                </a:path>
                <a:path w="969009" h="1000125">
                  <a:moveTo>
                    <a:pt x="728472" y="246880"/>
                  </a:moveTo>
                  <a:lnTo>
                    <a:pt x="728472" y="244601"/>
                  </a:lnTo>
                  <a:lnTo>
                    <a:pt x="719328" y="244601"/>
                  </a:lnTo>
                  <a:lnTo>
                    <a:pt x="719328" y="249173"/>
                  </a:lnTo>
                  <a:lnTo>
                    <a:pt x="726186" y="249173"/>
                  </a:lnTo>
                  <a:lnTo>
                    <a:pt x="728472" y="246880"/>
                  </a:lnTo>
                  <a:close/>
                </a:path>
                <a:path w="969009" h="1000125">
                  <a:moveTo>
                    <a:pt x="728472" y="984479"/>
                  </a:moveTo>
                  <a:lnTo>
                    <a:pt x="728472" y="246880"/>
                  </a:lnTo>
                  <a:lnTo>
                    <a:pt x="726186" y="249173"/>
                  </a:lnTo>
                  <a:lnTo>
                    <a:pt x="719328" y="249173"/>
                  </a:lnTo>
                  <a:lnTo>
                    <a:pt x="719328" y="990599"/>
                  </a:lnTo>
                  <a:lnTo>
                    <a:pt x="722376" y="990595"/>
                  </a:lnTo>
                  <a:lnTo>
                    <a:pt x="728472" y="984479"/>
                  </a:lnTo>
                  <a:close/>
                </a:path>
                <a:path w="969009" h="1000125">
                  <a:moveTo>
                    <a:pt x="728472" y="997457"/>
                  </a:moveTo>
                  <a:lnTo>
                    <a:pt x="728472" y="995171"/>
                  </a:lnTo>
                  <a:lnTo>
                    <a:pt x="719328" y="995171"/>
                  </a:lnTo>
                  <a:lnTo>
                    <a:pt x="719328" y="999743"/>
                  </a:lnTo>
                  <a:lnTo>
                    <a:pt x="726186" y="999743"/>
                  </a:lnTo>
                  <a:lnTo>
                    <a:pt x="728472" y="997457"/>
                  </a:lnTo>
                  <a:close/>
                </a:path>
                <a:path w="969009" h="1000125">
                  <a:moveTo>
                    <a:pt x="723900" y="239267"/>
                  </a:moveTo>
                  <a:lnTo>
                    <a:pt x="722371" y="239272"/>
                  </a:lnTo>
                  <a:lnTo>
                    <a:pt x="720852" y="240791"/>
                  </a:lnTo>
                  <a:lnTo>
                    <a:pt x="723900" y="239267"/>
                  </a:lnTo>
                  <a:close/>
                </a:path>
                <a:path w="969009" h="1000125">
                  <a:moveTo>
                    <a:pt x="723900" y="244601"/>
                  </a:moveTo>
                  <a:lnTo>
                    <a:pt x="723900" y="239267"/>
                  </a:lnTo>
                  <a:lnTo>
                    <a:pt x="720852" y="240791"/>
                  </a:lnTo>
                  <a:lnTo>
                    <a:pt x="720852" y="244601"/>
                  </a:lnTo>
                  <a:lnTo>
                    <a:pt x="723900" y="244601"/>
                  </a:lnTo>
                  <a:close/>
                </a:path>
                <a:path w="969009" h="1000125">
                  <a:moveTo>
                    <a:pt x="723900" y="990599"/>
                  </a:moveTo>
                  <a:lnTo>
                    <a:pt x="722371" y="990599"/>
                  </a:lnTo>
                  <a:lnTo>
                    <a:pt x="720852" y="992123"/>
                  </a:lnTo>
                  <a:lnTo>
                    <a:pt x="723900" y="990599"/>
                  </a:lnTo>
                  <a:close/>
                </a:path>
                <a:path w="969009" h="1000125">
                  <a:moveTo>
                    <a:pt x="723900" y="995171"/>
                  </a:moveTo>
                  <a:lnTo>
                    <a:pt x="723900" y="990599"/>
                  </a:lnTo>
                  <a:lnTo>
                    <a:pt x="720852" y="992123"/>
                  </a:lnTo>
                  <a:lnTo>
                    <a:pt x="720852" y="995171"/>
                  </a:lnTo>
                  <a:lnTo>
                    <a:pt x="723900" y="995171"/>
                  </a:lnTo>
                  <a:close/>
                </a:path>
                <a:path w="969009" h="1000125">
                  <a:moveTo>
                    <a:pt x="960119" y="752093"/>
                  </a:moveTo>
                  <a:lnTo>
                    <a:pt x="722371" y="990599"/>
                  </a:lnTo>
                  <a:lnTo>
                    <a:pt x="723900" y="990599"/>
                  </a:lnTo>
                  <a:lnTo>
                    <a:pt x="723900" y="995171"/>
                  </a:lnTo>
                  <a:lnTo>
                    <a:pt x="728472" y="995171"/>
                  </a:lnTo>
                  <a:lnTo>
                    <a:pt x="728472" y="997457"/>
                  </a:lnTo>
                  <a:lnTo>
                    <a:pt x="958596" y="767333"/>
                  </a:lnTo>
                  <a:lnTo>
                    <a:pt x="958596" y="755141"/>
                  </a:lnTo>
                  <a:lnTo>
                    <a:pt x="960119" y="752093"/>
                  </a:lnTo>
                  <a:close/>
                </a:path>
                <a:path w="969009" h="1000125">
                  <a:moveTo>
                    <a:pt x="963930" y="10677"/>
                  </a:moveTo>
                  <a:lnTo>
                    <a:pt x="963930" y="9143"/>
                  </a:lnTo>
                  <a:lnTo>
                    <a:pt x="952500" y="9143"/>
                  </a:lnTo>
                  <a:lnTo>
                    <a:pt x="722376" y="239267"/>
                  </a:lnTo>
                  <a:lnTo>
                    <a:pt x="723900" y="239267"/>
                  </a:lnTo>
                  <a:lnTo>
                    <a:pt x="723900" y="244601"/>
                  </a:lnTo>
                  <a:lnTo>
                    <a:pt x="728472" y="244601"/>
                  </a:lnTo>
                  <a:lnTo>
                    <a:pt x="728472" y="246880"/>
                  </a:lnTo>
                  <a:lnTo>
                    <a:pt x="963930" y="10677"/>
                  </a:lnTo>
                  <a:close/>
                </a:path>
                <a:path w="969009" h="1000125">
                  <a:moveTo>
                    <a:pt x="966978" y="7619"/>
                  </a:moveTo>
                  <a:lnTo>
                    <a:pt x="960119" y="1523"/>
                  </a:lnTo>
                  <a:lnTo>
                    <a:pt x="952500" y="9143"/>
                  </a:lnTo>
                  <a:lnTo>
                    <a:pt x="958596" y="9143"/>
                  </a:lnTo>
                  <a:lnTo>
                    <a:pt x="958596" y="4571"/>
                  </a:lnTo>
                  <a:lnTo>
                    <a:pt x="963930" y="9143"/>
                  </a:lnTo>
                  <a:lnTo>
                    <a:pt x="963930" y="10677"/>
                  </a:lnTo>
                  <a:lnTo>
                    <a:pt x="966978" y="7619"/>
                  </a:lnTo>
                  <a:close/>
                </a:path>
                <a:path w="969009" h="1000125">
                  <a:moveTo>
                    <a:pt x="963930" y="9143"/>
                  </a:moveTo>
                  <a:lnTo>
                    <a:pt x="958596" y="4571"/>
                  </a:lnTo>
                  <a:lnTo>
                    <a:pt x="958596" y="9143"/>
                  </a:lnTo>
                  <a:lnTo>
                    <a:pt x="963930" y="9143"/>
                  </a:lnTo>
                  <a:close/>
                </a:path>
                <a:path w="969009" h="1000125">
                  <a:moveTo>
                    <a:pt x="966978" y="758951"/>
                  </a:moveTo>
                  <a:lnTo>
                    <a:pt x="966978" y="7619"/>
                  </a:lnTo>
                  <a:lnTo>
                    <a:pt x="958596" y="16028"/>
                  </a:lnTo>
                  <a:lnTo>
                    <a:pt x="958596" y="753622"/>
                  </a:lnTo>
                  <a:lnTo>
                    <a:pt x="960119" y="752093"/>
                  </a:lnTo>
                  <a:lnTo>
                    <a:pt x="960119" y="765809"/>
                  </a:lnTo>
                  <a:lnTo>
                    <a:pt x="966978" y="758951"/>
                  </a:lnTo>
                  <a:close/>
                </a:path>
                <a:path w="969009" h="1000125">
                  <a:moveTo>
                    <a:pt x="960119" y="765809"/>
                  </a:moveTo>
                  <a:lnTo>
                    <a:pt x="960119" y="752093"/>
                  </a:lnTo>
                  <a:lnTo>
                    <a:pt x="958596" y="755141"/>
                  </a:lnTo>
                  <a:lnTo>
                    <a:pt x="958596" y="767333"/>
                  </a:lnTo>
                  <a:lnTo>
                    <a:pt x="960119" y="76580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8"/>
            <p:cNvSpPr/>
            <p:nvPr/>
          </p:nvSpPr>
          <p:spPr>
            <a:xfrm>
              <a:off x="7985645" y="4435602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127241" y="28194"/>
                  </a:moveTo>
                  <a:lnTo>
                    <a:pt x="127241" y="0"/>
                  </a:lnTo>
                  <a:lnTo>
                    <a:pt x="0" y="38100"/>
                  </a:lnTo>
                  <a:lnTo>
                    <a:pt x="114300" y="72324"/>
                  </a:lnTo>
                  <a:lnTo>
                    <a:pt x="114300" y="28194"/>
                  </a:lnTo>
                  <a:lnTo>
                    <a:pt x="127241" y="28194"/>
                  </a:lnTo>
                  <a:close/>
                </a:path>
                <a:path w="609600" h="76200">
                  <a:moveTo>
                    <a:pt x="609600" y="47244"/>
                  </a:moveTo>
                  <a:lnTo>
                    <a:pt x="609600" y="28194"/>
                  </a:lnTo>
                  <a:lnTo>
                    <a:pt x="114300" y="28194"/>
                  </a:lnTo>
                  <a:lnTo>
                    <a:pt x="114300" y="47244"/>
                  </a:lnTo>
                  <a:lnTo>
                    <a:pt x="609600" y="47244"/>
                  </a:lnTo>
                  <a:close/>
                </a:path>
                <a:path w="609600" h="76200">
                  <a:moveTo>
                    <a:pt x="127241" y="76200"/>
                  </a:moveTo>
                  <a:lnTo>
                    <a:pt x="127241" y="47244"/>
                  </a:lnTo>
                  <a:lnTo>
                    <a:pt x="114300" y="47244"/>
                  </a:lnTo>
                  <a:lnTo>
                    <a:pt x="114300" y="72324"/>
                  </a:lnTo>
                  <a:lnTo>
                    <a:pt x="127241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9"/>
            <p:cNvSpPr/>
            <p:nvPr/>
          </p:nvSpPr>
          <p:spPr>
            <a:xfrm>
              <a:off x="8649348" y="4626102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76200" y="329946"/>
                  </a:moveTo>
                  <a:lnTo>
                    <a:pt x="0" y="329946"/>
                  </a:lnTo>
                  <a:lnTo>
                    <a:pt x="28193" y="424113"/>
                  </a:lnTo>
                  <a:lnTo>
                    <a:pt x="28193" y="342900"/>
                  </a:lnTo>
                  <a:lnTo>
                    <a:pt x="47243" y="342900"/>
                  </a:lnTo>
                  <a:lnTo>
                    <a:pt x="47243" y="426659"/>
                  </a:lnTo>
                  <a:lnTo>
                    <a:pt x="76200" y="329946"/>
                  </a:lnTo>
                  <a:close/>
                </a:path>
                <a:path w="76200" h="457200">
                  <a:moveTo>
                    <a:pt x="47243" y="329946"/>
                  </a:moveTo>
                  <a:lnTo>
                    <a:pt x="47243" y="0"/>
                  </a:lnTo>
                  <a:lnTo>
                    <a:pt x="28193" y="0"/>
                  </a:lnTo>
                  <a:lnTo>
                    <a:pt x="28193" y="329946"/>
                  </a:lnTo>
                  <a:lnTo>
                    <a:pt x="47243" y="329946"/>
                  </a:lnTo>
                  <a:close/>
                </a:path>
                <a:path w="76200" h="457200">
                  <a:moveTo>
                    <a:pt x="47243" y="426659"/>
                  </a:moveTo>
                  <a:lnTo>
                    <a:pt x="47243" y="342900"/>
                  </a:lnTo>
                  <a:lnTo>
                    <a:pt x="28193" y="342900"/>
                  </a:lnTo>
                  <a:lnTo>
                    <a:pt x="28193" y="424113"/>
                  </a:lnTo>
                  <a:lnTo>
                    <a:pt x="38100" y="457200"/>
                  </a:lnTo>
                  <a:lnTo>
                    <a:pt x="47243" y="42665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/>
            <p:cNvSpPr txBox="1"/>
            <p:nvPr/>
          </p:nvSpPr>
          <p:spPr>
            <a:xfrm>
              <a:off x="7657471" y="4048952"/>
              <a:ext cx="159385" cy="41211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500" b="1" i="1" spc="-50" dirty="0">
                  <a:solidFill>
                    <a:srgbClr val="FF0000"/>
                  </a:solidFill>
                  <a:latin typeface="Symbol"/>
                  <a:cs typeface="Symbol"/>
                </a:rPr>
                <a:t></a:t>
              </a:r>
              <a:endParaRPr sz="2500">
                <a:latin typeface="Symbol"/>
                <a:cs typeface="Symbol"/>
              </a:endParaRPr>
            </a:p>
          </p:txBody>
        </p:sp>
        <p:sp>
          <p:nvSpPr>
            <p:cNvPr id="40" name="object 21"/>
            <p:cNvSpPr txBox="1"/>
            <p:nvPr/>
          </p:nvSpPr>
          <p:spPr>
            <a:xfrm>
              <a:off x="8850011" y="4793426"/>
              <a:ext cx="262255" cy="402033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500" b="1" i="1" spc="-45" dirty="0">
                  <a:solidFill>
                    <a:srgbClr val="FF0000"/>
                  </a:solidFill>
                  <a:latin typeface="Symbol"/>
                  <a:cs typeface="Symbol"/>
                </a:rPr>
                <a:t></a:t>
              </a:r>
              <a:r>
                <a:rPr lang="zh-CN" altLang="en-US" sz="2400" b="1" i="1" dirty="0">
                  <a:solidFill>
                    <a:srgbClr val="FF0000"/>
                  </a:solidFill>
                  <a:latin typeface="Times New Roman"/>
                  <a:cs typeface="Times New Roman"/>
                  <a:sym typeface="Symbol" panose="05050102010706020507" pitchFamily="18" charset="2"/>
                </a:rPr>
                <a:t></a:t>
              </a:r>
              <a:endParaRPr sz="2400" dirty="0">
                <a:latin typeface="Times New Roman"/>
                <a:cs typeface="Times New Roman"/>
              </a:endParaRPr>
            </a:p>
          </p:txBody>
        </p:sp>
        <p:sp>
          <p:nvSpPr>
            <p:cNvPr id="47" name="object 29"/>
            <p:cNvSpPr/>
            <p:nvPr/>
          </p:nvSpPr>
          <p:spPr>
            <a:xfrm>
              <a:off x="7753984" y="4581144"/>
              <a:ext cx="92710" cy="756920"/>
            </a:xfrm>
            <a:custGeom>
              <a:avLst/>
              <a:gdLst/>
              <a:ahLst/>
              <a:cxnLst/>
              <a:rect l="l" t="t" r="r" b="b"/>
              <a:pathLst>
                <a:path w="92709" h="756920">
                  <a:moveTo>
                    <a:pt x="92202" y="755141"/>
                  </a:moveTo>
                  <a:lnTo>
                    <a:pt x="85344" y="689609"/>
                  </a:lnTo>
                  <a:lnTo>
                    <a:pt x="69342" y="691133"/>
                  </a:lnTo>
                  <a:lnTo>
                    <a:pt x="75438" y="756665"/>
                  </a:lnTo>
                  <a:lnTo>
                    <a:pt x="92202" y="755141"/>
                  </a:lnTo>
                  <a:close/>
                </a:path>
                <a:path w="92709" h="756920">
                  <a:moveTo>
                    <a:pt x="80772" y="640079"/>
                  </a:moveTo>
                  <a:lnTo>
                    <a:pt x="73914" y="574547"/>
                  </a:lnTo>
                  <a:lnTo>
                    <a:pt x="57912" y="576071"/>
                  </a:lnTo>
                  <a:lnTo>
                    <a:pt x="64008" y="641603"/>
                  </a:lnTo>
                  <a:lnTo>
                    <a:pt x="80772" y="640079"/>
                  </a:lnTo>
                  <a:close/>
                </a:path>
                <a:path w="92709" h="756920">
                  <a:moveTo>
                    <a:pt x="69342" y="525017"/>
                  </a:moveTo>
                  <a:lnTo>
                    <a:pt x="62484" y="459485"/>
                  </a:lnTo>
                  <a:lnTo>
                    <a:pt x="46482" y="461009"/>
                  </a:lnTo>
                  <a:lnTo>
                    <a:pt x="52578" y="527303"/>
                  </a:lnTo>
                  <a:lnTo>
                    <a:pt x="69342" y="525017"/>
                  </a:lnTo>
                  <a:close/>
                </a:path>
                <a:path w="92709" h="756920">
                  <a:moveTo>
                    <a:pt x="57912" y="409955"/>
                  </a:moveTo>
                  <a:lnTo>
                    <a:pt x="51054" y="344423"/>
                  </a:lnTo>
                  <a:lnTo>
                    <a:pt x="35052" y="345947"/>
                  </a:lnTo>
                  <a:lnTo>
                    <a:pt x="41148" y="412241"/>
                  </a:lnTo>
                  <a:lnTo>
                    <a:pt x="57912" y="409955"/>
                  </a:lnTo>
                  <a:close/>
                </a:path>
                <a:path w="92709" h="756920">
                  <a:moveTo>
                    <a:pt x="46482" y="295655"/>
                  </a:moveTo>
                  <a:lnTo>
                    <a:pt x="39624" y="229361"/>
                  </a:lnTo>
                  <a:lnTo>
                    <a:pt x="22860" y="230885"/>
                  </a:lnTo>
                  <a:lnTo>
                    <a:pt x="29718" y="297179"/>
                  </a:lnTo>
                  <a:lnTo>
                    <a:pt x="46482" y="295655"/>
                  </a:lnTo>
                  <a:close/>
                </a:path>
                <a:path w="92709" h="756920">
                  <a:moveTo>
                    <a:pt x="35052" y="180593"/>
                  </a:moveTo>
                  <a:lnTo>
                    <a:pt x="28194" y="114299"/>
                  </a:lnTo>
                  <a:lnTo>
                    <a:pt x="11430" y="116585"/>
                  </a:lnTo>
                  <a:lnTo>
                    <a:pt x="18288" y="182117"/>
                  </a:lnTo>
                  <a:lnTo>
                    <a:pt x="35052" y="180593"/>
                  </a:lnTo>
                  <a:close/>
                </a:path>
                <a:path w="92709" h="756920">
                  <a:moveTo>
                    <a:pt x="22860" y="65531"/>
                  </a:moveTo>
                  <a:lnTo>
                    <a:pt x="16764" y="0"/>
                  </a:lnTo>
                  <a:lnTo>
                    <a:pt x="0" y="1523"/>
                  </a:lnTo>
                  <a:lnTo>
                    <a:pt x="6858" y="67055"/>
                  </a:lnTo>
                  <a:lnTo>
                    <a:pt x="22860" y="65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0"/>
            <p:cNvSpPr/>
            <p:nvPr/>
          </p:nvSpPr>
          <p:spPr>
            <a:xfrm>
              <a:off x="8477884" y="4666488"/>
              <a:ext cx="92710" cy="757555"/>
            </a:xfrm>
            <a:custGeom>
              <a:avLst/>
              <a:gdLst/>
              <a:ahLst/>
              <a:cxnLst/>
              <a:rect l="l" t="t" r="r" b="b"/>
              <a:pathLst>
                <a:path w="92709" h="757554">
                  <a:moveTo>
                    <a:pt x="92202" y="755903"/>
                  </a:moveTo>
                  <a:lnTo>
                    <a:pt x="85344" y="689609"/>
                  </a:lnTo>
                  <a:lnTo>
                    <a:pt x="69342" y="691895"/>
                  </a:lnTo>
                  <a:lnTo>
                    <a:pt x="75438" y="757427"/>
                  </a:lnTo>
                  <a:lnTo>
                    <a:pt x="92202" y="755903"/>
                  </a:lnTo>
                  <a:close/>
                </a:path>
                <a:path w="92709" h="757554">
                  <a:moveTo>
                    <a:pt x="80772" y="640841"/>
                  </a:moveTo>
                  <a:lnTo>
                    <a:pt x="73914" y="575309"/>
                  </a:lnTo>
                  <a:lnTo>
                    <a:pt x="57912" y="576833"/>
                  </a:lnTo>
                  <a:lnTo>
                    <a:pt x="64008" y="642365"/>
                  </a:lnTo>
                  <a:lnTo>
                    <a:pt x="80772" y="640841"/>
                  </a:lnTo>
                  <a:close/>
                </a:path>
                <a:path w="92709" h="757554">
                  <a:moveTo>
                    <a:pt x="69342" y="525779"/>
                  </a:moveTo>
                  <a:lnTo>
                    <a:pt x="62484" y="460247"/>
                  </a:lnTo>
                  <a:lnTo>
                    <a:pt x="46482" y="461771"/>
                  </a:lnTo>
                  <a:lnTo>
                    <a:pt x="52578" y="527303"/>
                  </a:lnTo>
                  <a:lnTo>
                    <a:pt x="69342" y="525779"/>
                  </a:lnTo>
                  <a:close/>
                </a:path>
                <a:path w="92709" h="757554">
                  <a:moveTo>
                    <a:pt x="57912" y="410717"/>
                  </a:moveTo>
                  <a:lnTo>
                    <a:pt x="51054" y="345185"/>
                  </a:lnTo>
                  <a:lnTo>
                    <a:pt x="35052" y="346709"/>
                  </a:lnTo>
                  <a:lnTo>
                    <a:pt x="41148" y="412241"/>
                  </a:lnTo>
                  <a:lnTo>
                    <a:pt x="57912" y="410717"/>
                  </a:lnTo>
                  <a:close/>
                </a:path>
                <a:path w="92709" h="757554">
                  <a:moveTo>
                    <a:pt x="46482" y="295655"/>
                  </a:moveTo>
                  <a:lnTo>
                    <a:pt x="39624" y="230123"/>
                  </a:lnTo>
                  <a:lnTo>
                    <a:pt x="22860" y="231647"/>
                  </a:lnTo>
                  <a:lnTo>
                    <a:pt x="29718" y="297179"/>
                  </a:lnTo>
                  <a:lnTo>
                    <a:pt x="46482" y="295655"/>
                  </a:lnTo>
                  <a:close/>
                </a:path>
                <a:path w="92709" h="757554">
                  <a:moveTo>
                    <a:pt x="35052" y="180593"/>
                  </a:moveTo>
                  <a:lnTo>
                    <a:pt x="28194" y="115061"/>
                  </a:lnTo>
                  <a:lnTo>
                    <a:pt x="11430" y="116585"/>
                  </a:lnTo>
                  <a:lnTo>
                    <a:pt x="18288" y="182117"/>
                  </a:lnTo>
                  <a:lnTo>
                    <a:pt x="35052" y="180593"/>
                  </a:lnTo>
                  <a:close/>
                </a:path>
                <a:path w="92709" h="757554">
                  <a:moveTo>
                    <a:pt x="22860" y="65531"/>
                  </a:moveTo>
                  <a:lnTo>
                    <a:pt x="16764" y="0"/>
                  </a:lnTo>
                  <a:lnTo>
                    <a:pt x="0" y="1523"/>
                  </a:lnTo>
                  <a:lnTo>
                    <a:pt x="6858" y="67055"/>
                  </a:lnTo>
                  <a:lnTo>
                    <a:pt x="22860" y="65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1"/>
            <p:cNvSpPr/>
            <p:nvPr/>
          </p:nvSpPr>
          <p:spPr>
            <a:xfrm>
              <a:off x="7824089" y="5329428"/>
              <a:ext cx="745490" cy="98425"/>
            </a:xfrm>
            <a:custGeom>
              <a:avLst/>
              <a:gdLst/>
              <a:ahLst/>
              <a:cxnLst/>
              <a:rect l="l" t="t" r="r" b="b"/>
              <a:pathLst>
                <a:path w="745490" h="98425">
                  <a:moveTo>
                    <a:pt x="67817" y="6857"/>
                  </a:moveTo>
                  <a:lnTo>
                    <a:pt x="2285" y="0"/>
                  </a:lnTo>
                  <a:lnTo>
                    <a:pt x="0" y="16002"/>
                  </a:lnTo>
                  <a:lnTo>
                    <a:pt x="65531" y="23621"/>
                  </a:lnTo>
                  <a:lnTo>
                    <a:pt x="67817" y="6857"/>
                  </a:lnTo>
                  <a:close/>
                </a:path>
                <a:path w="745490" h="98425">
                  <a:moveTo>
                    <a:pt x="182879" y="19811"/>
                  </a:moveTo>
                  <a:lnTo>
                    <a:pt x="116585" y="12191"/>
                  </a:lnTo>
                  <a:lnTo>
                    <a:pt x="115061" y="28955"/>
                  </a:lnTo>
                  <a:lnTo>
                    <a:pt x="180593" y="35813"/>
                  </a:lnTo>
                  <a:lnTo>
                    <a:pt x="182879" y="19811"/>
                  </a:lnTo>
                  <a:close/>
                </a:path>
                <a:path w="745490" h="98425">
                  <a:moveTo>
                    <a:pt x="297179" y="32765"/>
                  </a:moveTo>
                  <a:lnTo>
                    <a:pt x="231647" y="25145"/>
                  </a:lnTo>
                  <a:lnTo>
                    <a:pt x="230123" y="41909"/>
                  </a:lnTo>
                  <a:lnTo>
                    <a:pt x="295655" y="48767"/>
                  </a:lnTo>
                  <a:lnTo>
                    <a:pt x="297179" y="32765"/>
                  </a:lnTo>
                  <a:close/>
                </a:path>
                <a:path w="745490" h="98425">
                  <a:moveTo>
                    <a:pt x="412241" y="44957"/>
                  </a:moveTo>
                  <a:lnTo>
                    <a:pt x="346709" y="38099"/>
                  </a:lnTo>
                  <a:lnTo>
                    <a:pt x="345185" y="54101"/>
                  </a:lnTo>
                  <a:lnTo>
                    <a:pt x="410717" y="61721"/>
                  </a:lnTo>
                  <a:lnTo>
                    <a:pt x="412241" y="44957"/>
                  </a:lnTo>
                  <a:close/>
                </a:path>
                <a:path w="745490" h="98425">
                  <a:moveTo>
                    <a:pt x="527303" y="57911"/>
                  </a:moveTo>
                  <a:lnTo>
                    <a:pt x="461771" y="51053"/>
                  </a:lnTo>
                  <a:lnTo>
                    <a:pt x="459485" y="67055"/>
                  </a:lnTo>
                  <a:lnTo>
                    <a:pt x="525017" y="74675"/>
                  </a:lnTo>
                  <a:lnTo>
                    <a:pt x="527303" y="57911"/>
                  </a:lnTo>
                  <a:close/>
                </a:path>
                <a:path w="745490" h="98425">
                  <a:moveTo>
                    <a:pt x="642365" y="70865"/>
                  </a:moveTo>
                  <a:lnTo>
                    <a:pt x="576071" y="63245"/>
                  </a:lnTo>
                  <a:lnTo>
                    <a:pt x="574547" y="80009"/>
                  </a:lnTo>
                  <a:lnTo>
                    <a:pt x="640079" y="86867"/>
                  </a:lnTo>
                  <a:lnTo>
                    <a:pt x="642365" y="70865"/>
                  </a:lnTo>
                  <a:close/>
                </a:path>
                <a:path w="745490" h="98425">
                  <a:moveTo>
                    <a:pt x="745235" y="82295"/>
                  </a:moveTo>
                  <a:lnTo>
                    <a:pt x="691133" y="76199"/>
                  </a:lnTo>
                  <a:lnTo>
                    <a:pt x="689609" y="92963"/>
                  </a:lnTo>
                  <a:lnTo>
                    <a:pt x="742949" y="98297"/>
                  </a:lnTo>
                  <a:lnTo>
                    <a:pt x="745235" y="82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2"/>
            <p:cNvSpPr/>
            <p:nvPr/>
          </p:nvSpPr>
          <p:spPr>
            <a:xfrm>
              <a:off x="7760855" y="4573523"/>
              <a:ext cx="744855" cy="99060"/>
            </a:xfrm>
            <a:custGeom>
              <a:avLst/>
              <a:gdLst/>
              <a:ahLst/>
              <a:cxnLst/>
              <a:rect l="l" t="t" r="r" b="b"/>
              <a:pathLst>
                <a:path w="744854" h="99060">
                  <a:moveTo>
                    <a:pt x="67818" y="6857"/>
                  </a:moveTo>
                  <a:lnTo>
                    <a:pt x="1524" y="0"/>
                  </a:lnTo>
                  <a:lnTo>
                    <a:pt x="0" y="16002"/>
                  </a:lnTo>
                  <a:lnTo>
                    <a:pt x="65532" y="23621"/>
                  </a:lnTo>
                  <a:lnTo>
                    <a:pt x="67818" y="6857"/>
                  </a:lnTo>
                  <a:close/>
                </a:path>
                <a:path w="744854" h="99060">
                  <a:moveTo>
                    <a:pt x="182118" y="19811"/>
                  </a:moveTo>
                  <a:lnTo>
                    <a:pt x="116586" y="12953"/>
                  </a:lnTo>
                  <a:lnTo>
                    <a:pt x="115062" y="28955"/>
                  </a:lnTo>
                  <a:lnTo>
                    <a:pt x="180594" y="36575"/>
                  </a:lnTo>
                  <a:lnTo>
                    <a:pt x="182118" y="19811"/>
                  </a:lnTo>
                  <a:close/>
                </a:path>
                <a:path w="744854" h="99060">
                  <a:moveTo>
                    <a:pt x="297180" y="32765"/>
                  </a:moveTo>
                  <a:lnTo>
                    <a:pt x="231648" y="25145"/>
                  </a:lnTo>
                  <a:lnTo>
                    <a:pt x="229362" y="41909"/>
                  </a:lnTo>
                  <a:lnTo>
                    <a:pt x="295656" y="48767"/>
                  </a:lnTo>
                  <a:lnTo>
                    <a:pt x="297180" y="32765"/>
                  </a:lnTo>
                  <a:close/>
                </a:path>
                <a:path w="744854" h="99060">
                  <a:moveTo>
                    <a:pt x="412242" y="45719"/>
                  </a:moveTo>
                  <a:lnTo>
                    <a:pt x="346710" y="38099"/>
                  </a:lnTo>
                  <a:lnTo>
                    <a:pt x="344424" y="54863"/>
                  </a:lnTo>
                  <a:lnTo>
                    <a:pt x="409956" y="61721"/>
                  </a:lnTo>
                  <a:lnTo>
                    <a:pt x="412242" y="45719"/>
                  </a:lnTo>
                  <a:close/>
                </a:path>
                <a:path w="744854" h="99060">
                  <a:moveTo>
                    <a:pt x="527304" y="57911"/>
                  </a:moveTo>
                  <a:lnTo>
                    <a:pt x="461010" y="51053"/>
                  </a:lnTo>
                  <a:lnTo>
                    <a:pt x="459486" y="67055"/>
                  </a:lnTo>
                  <a:lnTo>
                    <a:pt x="525018" y="74675"/>
                  </a:lnTo>
                  <a:lnTo>
                    <a:pt x="527304" y="57911"/>
                  </a:lnTo>
                  <a:close/>
                </a:path>
                <a:path w="744854" h="99060">
                  <a:moveTo>
                    <a:pt x="641604" y="70865"/>
                  </a:moveTo>
                  <a:lnTo>
                    <a:pt x="576072" y="64007"/>
                  </a:lnTo>
                  <a:lnTo>
                    <a:pt x="574548" y="80009"/>
                  </a:lnTo>
                  <a:lnTo>
                    <a:pt x="640080" y="87629"/>
                  </a:lnTo>
                  <a:lnTo>
                    <a:pt x="641604" y="70865"/>
                  </a:lnTo>
                  <a:close/>
                </a:path>
                <a:path w="744854" h="99060">
                  <a:moveTo>
                    <a:pt x="744474" y="82295"/>
                  </a:moveTo>
                  <a:lnTo>
                    <a:pt x="691134" y="76199"/>
                  </a:lnTo>
                  <a:lnTo>
                    <a:pt x="688848" y="92963"/>
                  </a:lnTo>
                  <a:lnTo>
                    <a:pt x="742950" y="99059"/>
                  </a:lnTo>
                  <a:lnTo>
                    <a:pt x="744474" y="82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3"/>
            <p:cNvSpPr/>
            <p:nvPr/>
          </p:nvSpPr>
          <p:spPr>
            <a:xfrm>
              <a:off x="8021446" y="4322826"/>
              <a:ext cx="744855" cy="99060"/>
            </a:xfrm>
            <a:custGeom>
              <a:avLst/>
              <a:gdLst/>
              <a:ahLst/>
              <a:cxnLst/>
              <a:rect l="l" t="t" r="r" b="b"/>
              <a:pathLst>
                <a:path w="744854" h="99060">
                  <a:moveTo>
                    <a:pt x="67056" y="6857"/>
                  </a:moveTo>
                  <a:lnTo>
                    <a:pt x="1524" y="0"/>
                  </a:lnTo>
                  <a:lnTo>
                    <a:pt x="0" y="16002"/>
                  </a:lnTo>
                  <a:lnTo>
                    <a:pt x="65532" y="23621"/>
                  </a:lnTo>
                  <a:lnTo>
                    <a:pt x="67056" y="6857"/>
                  </a:lnTo>
                  <a:close/>
                </a:path>
                <a:path w="744854" h="99060">
                  <a:moveTo>
                    <a:pt x="182118" y="19811"/>
                  </a:moveTo>
                  <a:lnTo>
                    <a:pt x="116586" y="12191"/>
                  </a:lnTo>
                  <a:lnTo>
                    <a:pt x="114300" y="28955"/>
                  </a:lnTo>
                  <a:lnTo>
                    <a:pt x="180594" y="36575"/>
                  </a:lnTo>
                  <a:lnTo>
                    <a:pt x="182118" y="19811"/>
                  </a:lnTo>
                  <a:close/>
                </a:path>
                <a:path w="744854" h="99060">
                  <a:moveTo>
                    <a:pt x="297180" y="32765"/>
                  </a:moveTo>
                  <a:lnTo>
                    <a:pt x="231648" y="25145"/>
                  </a:lnTo>
                  <a:lnTo>
                    <a:pt x="229362" y="41909"/>
                  </a:lnTo>
                  <a:lnTo>
                    <a:pt x="294894" y="48767"/>
                  </a:lnTo>
                  <a:lnTo>
                    <a:pt x="297180" y="32765"/>
                  </a:lnTo>
                  <a:close/>
                </a:path>
                <a:path w="744854" h="99060">
                  <a:moveTo>
                    <a:pt x="411480" y="45719"/>
                  </a:moveTo>
                  <a:lnTo>
                    <a:pt x="345948" y="38099"/>
                  </a:lnTo>
                  <a:lnTo>
                    <a:pt x="344424" y="54101"/>
                  </a:lnTo>
                  <a:lnTo>
                    <a:pt x="409956" y="61721"/>
                  </a:lnTo>
                  <a:lnTo>
                    <a:pt x="411480" y="45719"/>
                  </a:lnTo>
                  <a:close/>
                </a:path>
                <a:path w="744854" h="99060">
                  <a:moveTo>
                    <a:pt x="526542" y="57911"/>
                  </a:moveTo>
                  <a:lnTo>
                    <a:pt x="461010" y="51053"/>
                  </a:lnTo>
                  <a:lnTo>
                    <a:pt x="459486" y="67055"/>
                  </a:lnTo>
                  <a:lnTo>
                    <a:pt x="525018" y="74675"/>
                  </a:lnTo>
                  <a:lnTo>
                    <a:pt x="526542" y="57911"/>
                  </a:lnTo>
                  <a:close/>
                </a:path>
                <a:path w="744854" h="99060">
                  <a:moveTo>
                    <a:pt x="641604" y="70865"/>
                  </a:moveTo>
                  <a:lnTo>
                    <a:pt x="576072" y="63245"/>
                  </a:lnTo>
                  <a:lnTo>
                    <a:pt x="573786" y="80009"/>
                  </a:lnTo>
                  <a:lnTo>
                    <a:pt x="640080" y="87629"/>
                  </a:lnTo>
                  <a:lnTo>
                    <a:pt x="641604" y="70865"/>
                  </a:lnTo>
                  <a:close/>
                </a:path>
                <a:path w="744854" h="99060">
                  <a:moveTo>
                    <a:pt x="744474" y="82295"/>
                  </a:moveTo>
                  <a:lnTo>
                    <a:pt x="691134" y="76199"/>
                  </a:lnTo>
                  <a:lnTo>
                    <a:pt x="688848" y="92963"/>
                  </a:lnTo>
                  <a:lnTo>
                    <a:pt x="742950" y="99059"/>
                  </a:lnTo>
                  <a:lnTo>
                    <a:pt x="744474" y="82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4"/>
            <p:cNvSpPr/>
            <p:nvPr/>
          </p:nvSpPr>
          <p:spPr>
            <a:xfrm>
              <a:off x="7759318" y="4307585"/>
              <a:ext cx="287655" cy="273685"/>
            </a:xfrm>
            <a:custGeom>
              <a:avLst/>
              <a:gdLst/>
              <a:ahLst/>
              <a:cxnLst/>
              <a:rect l="l" t="t" r="r" b="b"/>
              <a:pathLst>
                <a:path w="287654" h="273685">
                  <a:moveTo>
                    <a:pt x="59435" y="228600"/>
                  </a:moveTo>
                  <a:lnTo>
                    <a:pt x="48005" y="216408"/>
                  </a:lnTo>
                  <a:lnTo>
                    <a:pt x="0" y="261366"/>
                  </a:lnTo>
                  <a:lnTo>
                    <a:pt x="11429" y="273558"/>
                  </a:lnTo>
                  <a:lnTo>
                    <a:pt x="59435" y="228600"/>
                  </a:lnTo>
                  <a:close/>
                </a:path>
                <a:path w="287654" h="273685">
                  <a:moveTo>
                    <a:pt x="143255" y="148590"/>
                  </a:moveTo>
                  <a:lnTo>
                    <a:pt x="131825" y="136398"/>
                  </a:lnTo>
                  <a:lnTo>
                    <a:pt x="83819" y="182118"/>
                  </a:lnTo>
                  <a:lnTo>
                    <a:pt x="95249" y="194310"/>
                  </a:lnTo>
                  <a:lnTo>
                    <a:pt x="143255" y="148590"/>
                  </a:lnTo>
                  <a:close/>
                </a:path>
                <a:path w="287654" h="273685">
                  <a:moveTo>
                    <a:pt x="227075" y="69342"/>
                  </a:moveTo>
                  <a:lnTo>
                    <a:pt x="215645" y="57150"/>
                  </a:lnTo>
                  <a:lnTo>
                    <a:pt x="167639" y="102870"/>
                  </a:lnTo>
                  <a:lnTo>
                    <a:pt x="179069" y="114300"/>
                  </a:lnTo>
                  <a:lnTo>
                    <a:pt x="227075" y="69342"/>
                  </a:lnTo>
                  <a:close/>
                </a:path>
                <a:path w="287654" h="273685">
                  <a:moveTo>
                    <a:pt x="287273" y="11430"/>
                  </a:moveTo>
                  <a:lnTo>
                    <a:pt x="275843" y="0"/>
                  </a:lnTo>
                  <a:lnTo>
                    <a:pt x="251459" y="22860"/>
                  </a:lnTo>
                  <a:lnTo>
                    <a:pt x="262889" y="35052"/>
                  </a:lnTo>
                  <a:lnTo>
                    <a:pt x="287273" y="11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5"/>
            <p:cNvSpPr/>
            <p:nvPr/>
          </p:nvSpPr>
          <p:spPr>
            <a:xfrm>
              <a:off x="8480170" y="4402835"/>
              <a:ext cx="287655" cy="273685"/>
            </a:xfrm>
            <a:custGeom>
              <a:avLst/>
              <a:gdLst/>
              <a:ahLst/>
              <a:cxnLst/>
              <a:rect l="l" t="t" r="r" b="b"/>
              <a:pathLst>
                <a:path w="287654" h="273685">
                  <a:moveTo>
                    <a:pt x="59435" y="228600"/>
                  </a:moveTo>
                  <a:lnTo>
                    <a:pt x="48005" y="216408"/>
                  </a:lnTo>
                  <a:lnTo>
                    <a:pt x="0" y="261366"/>
                  </a:lnTo>
                  <a:lnTo>
                    <a:pt x="11429" y="273558"/>
                  </a:lnTo>
                  <a:lnTo>
                    <a:pt x="59435" y="228600"/>
                  </a:lnTo>
                  <a:close/>
                </a:path>
                <a:path w="287654" h="273685">
                  <a:moveTo>
                    <a:pt x="143255" y="148590"/>
                  </a:moveTo>
                  <a:lnTo>
                    <a:pt x="131825" y="136398"/>
                  </a:lnTo>
                  <a:lnTo>
                    <a:pt x="83819" y="182118"/>
                  </a:lnTo>
                  <a:lnTo>
                    <a:pt x="95249" y="194310"/>
                  </a:lnTo>
                  <a:lnTo>
                    <a:pt x="143255" y="148590"/>
                  </a:lnTo>
                  <a:close/>
                </a:path>
                <a:path w="287654" h="273685">
                  <a:moveTo>
                    <a:pt x="227075" y="69342"/>
                  </a:moveTo>
                  <a:lnTo>
                    <a:pt x="215645" y="57150"/>
                  </a:lnTo>
                  <a:lnTo>
                    <a:pt x="167639" y="102870"/>
                  </a:lnTo>
                  <a:lnTo>
                    <a:pt x="179069" y="114300"/>
                  </a:lnTo>
                  <a:lnTo>
                    <a:pt x="227075" y="69342"/>
                  </a:lnTo>
                  <a:close/>
                </a:path>
                <a:path w="287654" h="273685">
                  <a:moveTo>
                    <a:pt x="287273" y="11430"/>
                  </a:moveTo>
                  <a:lnTo>
                    <a:pt x="275843" y="0"/>
                  </a:lnTo>
                  <a:lnTo>
                    <a:pt x="251459" y="22860"/>
                  </a:lnTo>
                  <a:lnTo>
                    <a:pt x="262889" y="35052"/>
                  </a:lnTo>
                  <a:lnTo>
                    <a:pt x="287273" y="11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36"/>
            <p:cNvSpPr/>
            <p:nvPr/>
          </p:nvSpPr>
          <p:spPr>
            <a:xfrm>
              <a:off x="8559418" y="5142738"/>
              <a:ext cx="287655" cy="273685"/>
            </a:xfrm>
            <a:custGeom>
              <a:avLst/>
              <a:gdLst/>
              <a:ahLst/>
              <a:cxnLst/>
              <a:rect l="l" t="t" r="r" b="b"/>
              <a:pathLst>
                <a:path w="287654" h="273685">
                  <a:moveTo>
                    <a:pt x="59435" y="227838"/>
                  </a:moveTo>
                  <a:lnTo>
                    <a:pt x="48005" y="216408"/>
                  </a:lnTo>
                  <a:lnTo>
                    <a:pt x="0" y="261366"/>
                  </a:lnTo>
                  <a:lnTo>
                    <a:pt x="11429" y="273558"/>
                  </a:lnTo>
                  <a:lnTo>
                    <a:pt x="59435" y="227838"/>
                  </a:lnTo>
                  <a:close/>
                </a:path>
                <a:path w="287654" h="273685">
                  <a:moveTo>
                    <a:pt x="143255" y="148590"/>
                  </a:moveTo>
                  <a:lnTo>
                    <a:pt x="131825" y="136398"/>
                  </a:lnTo>
                  <a:lnTo>
                    <a:pt x="83819" y="182118"/>
                  </a:lnTo>
                  <a:lnTo>
                    <a:pt x="95249" y="194310"/>
                  </a:lnTo>
                  <a:lnTo>
                    <a:pt x="143255" y="148590"/>
                  </a:lnTo>
                  <a:close/>
                </a:path>
                <a:path w="287654" h="273685">
                  <a:moveTo>
                    <a:pt x="227075" y="69342"/>
                  </a:moveTo>
                  <a:lnTo>
                    <a:pt x="215645" y="57150"/>
                  </a:lnTo>
                  <a:lnTo>
                    <a:pt x="167639" y="102870"/>
                  </a:lnTo>
                  <a:lnTo>
                    <a:pt x="179069" y="114300"/>
                  </a:lnTo>
                  <a:lnTo>
                    <a:pt x="227075" y="69342"/>
                  </a:lnTo>
                  <a:close/>
                </a:path>
                <a:path w="287654" h="273685">
                  <a:moveTo>
                    <a:pt x="287273" y="11430"/>
                  </a:moveTo>
                  <a:lnTo>
                    <a:pt x="275843" y="0"/>
                  </a:lnTo>
                  <a:lnTo>
                    <a:pt x="251459" y="22860"/>
                  </a:lnTo>
                  <a:lnTo>
                    <a:pt x="262889" y="35052"/>
                  </a:lnTo>
                  <a:lnTo>
                    <a:pt x="287273" y="11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7"/>
            <p:cNvSpPr/>
            <p:nvPr/>
          </p:nvSpPr>
          <p:spPr>
            <a:xfrm>
              <a:off x="8744584" y="4415790"/>
              <a:ext cx="92710" cy="757555"/>
            </a:xfrm>
            <a:custGeom>
              <a:avLst/>
              <a:gdLst/>
              <a:ahLst/>
              <a:cxnLst/>
              <a:rect l="l" t="t" r="r" b="b"/>
              <a:pathLst>
                <a:path w="92709" h="757554">
                  <a:moveTo>
                    <a:pt x="92202" y="755903"/>
                  </a:moveTo>
                  <a:lnTo>
                    <a:pt x="85344" y="689609"/>
                  </a:lnTo>
                  <a:lnTo>
                    <a:pt x="69342" y="691133"/>
                  </a:lnTo>
                  <a:lnTo>
                    <a:pt x="75438" y="757427"/>
                  </a:lnTo>
                  <a:lnTo>
                    <a:pt x="92202" y="755903"/>
                  </a:lnTo>
                  <a:close/>
                </a:path>
                <a:path w="92709" h="757554">
                  <a:moveTo>
                    <a:pt x="80772" y="640841"/>
                  </a:moveTo>
                  <a:lnTo>
                    <a:pt x="73914" y="574547"/>
                  </a:lnTo>
                  <a:lnTo>
                    <a:pt x="57912" y="576833"/>
                  </a:lnTo>
                  <a:lnTo>
                    <a:pt x="64008" y="642365"/>
                  </a:lnTo>
                  <a:lnTo>
                    <a:pt x="80772" y="640841"/>
                  </a:lnTo>
                  <a:close/>
                </a:path>
                <a:path w="92709" h="757554">
                  <a:moveTo>
                    <a:pt x="69342" y="525779"/>
                  </a:moveTo>
                  <a:lnTo>
                    <a:pt x="62484" y="459485"/>
                  </a:lnTo>
                  <a:lnTo>
                    <a:pt x="46482" y="461771"/>
                  </a:lnTo>
                  <a:lnTo>
                    <a:pt x="52578" y="527303"/>
                  </a:lnTo>
                  <a:lnTo>
                    <a:pt x="69342" y="525779"/>
                  </a:lnTo>
                  <a:close/>
                </a:path>
                <a:path w="92709" h="757554">
                  <a:moveTo>
                    <a:pt x="57912" y="410717"/>
                  </a:moveTo>
                  <a:lnTo>
                    <a:pt x="51054" y="345185"/>
                  </a:lnTo>
                  <a:lnTo>
                    <a:pt x="35052" y="346709"/>
                  </a:lnTo>
                  <a:lnTo>
                    <a:pt x="41148" y="412241"/>
                  </a:lnTo>
                  <a:lnTo>
                    <a:pt x="57912" y="410717"/>
                  </a:lnTo>
                  <a:close/>
                </a:path>
                <a:path w="92709" h="757554">
                  <a:moveTo>
                    <a:pt x="46482" y="295655"/>
                  </a:moveTo>
                  <a:lnTo>
                    <a:pt x="39624" y="230123"/>
                  </a:lnTo>
                  <a:lnTo>
                    <a:pt x="22860" y="231647"/>
                  </a:lnTo>
                  <a:lnTo>
                    <a:pt x="29718" y="297179"/>
                  </a:lnTo>
                  <a:lnTo>
                    <a:pt x="46482" y="295655"/>
                  </a:lnTo>
                  <a:close/>
                </a:path>
                <a:path w="92709" h="757554">
                  <a:moveTo>
                    <a:pt x="35052" y="180593"/>
                  </a:moveTo>
                  <a:lnTo>
                    <a:pt x="28194" y="115061"/>
                  </a:lnTo>
                  <a:lnTo>
                    <a:pt x="11430" y="116585"/>
                  </a:lnTo>
                  <a:lnTo>
                    <a:pt x="18288" y="182117"/>
                  </a:lnTo>
                  <a:lnTo>
                    <a:pt x="35052" y="180593"/>
                  </a:lnTo>
                  <a:close/>
                </a:path>
                <a:path w="92709" h="757554">
                  <a:moveTo>
                    <a:pt x="22860" y="65531"/>
                  </a:moveTo>
                  <a:lnTo>
                    <a:pt x="16764" y="0"/>
                  </a:lnTo>
                  <a:lnTo>
                    <a:pt x="0" y="1523"/>
                  </a:lnTo>
                  <a:lnTo>
                    <a:pt x="6858" y="67055"/>
                  </a:lnTo>
                  <a:lnTo>
                    <a:pt x="22860" y="65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39"/>
            <p:cNvSpPr txBox="1"/>
            <p:nvPr/>
          </p:nvSpPr>
          <p:spPr>
            <a:xfrm>
              <a:off x="7737163" y="5564123"/>
              <a:ext cx="125095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新宋体"/>
                </a:rPr>
                <a:t>形状改变</a:t>
              </a:r>
              <a:endParaRPr sz="2400" dirty="0">
                <a:latin typeface="楷体" panose="02010609060101010101" pitchFamily="49" charset="-122"/>
                <a:ea typeface="楷体" panose="02010609060101010101" pitchFamily="49" charset="-122"/>
                <a:cs typeface="新宋体"/>
              </a:endParaRPr>
            </a:p>
          </p:txBody>
        </p:sp>
      </p:grpSp>
      <p:graphicFrame>
        <p:nvGraphicFramePr>
          <p:cNvPr id="61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18936"/>
              </p:ext>
            </p:extLst>
          </p:nvPr>
        </p:nvGraphicFramePr>
        <p:xfrm>
          <a:off x="3418450" y="2159262"/>
          <a:ext cx="1396997" cy="501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6" imgW="495000" imgH="177480" progId="Equation.DSMT4">
                  <p:embed/>
                </p:oleObj>
              </mc:Choice>
              <mc:Fallback>
                <p:oleObj name="Equation" r:id="rId6" imgW="4950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450" y="2159262"/>
                        <a:ext cx="1396997" cy="501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293026" y="2762863"/>
            <a:ext cx="30645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altLang="zh-CN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altLang="zh-CN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--</a:t>
            </a:r>
            <a:r>
              <a:rPr lang="zh-CN" altLang="en-US" b="1" spc="-5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新宋体"/>
              </a:rPr>
              <a:t>弹性模量</a:t>
            </a:r>
            <a:endParaRPr lang="en-US" altLang="zh-CN" b="1" spc="-5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新宋体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-5" dirty="0">
                <a:solidFill>
                  <a:srgbClr val="0000FF"/>
                </a:solidFill>
                <a:latin typeface="Times New Roman"/>
                <a:cs typeface="Times New Roman"/>
              </a:rPr>
              <a:t>(Modulus</a:t>
            </a:r>
            <a:r>
              <a:rPr lang="en-US" altLang="zh-CN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lang="en-US" altLang="zh-CN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cs typeface="Times New Roman"/>
              </a:rPr>
              <a:t>Elasticity)</a:t>
            </a:r>
            <a:endParaRPr lang="en-US" altLang="zh-CN" dirty="0">
              <a:latin typeface="Times New Roman"/>
              <a:cs typeface="Times New Roman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62812" y="5553066"/>
            <a:ext cx="4609730" cy="751488"/>
            <a:chOff x="2362812" y="5553066"/>
            <a:chExt cx="4609730" cy="751488"/>
          </a:xfrm>
        </p:grpSpPr>
        <p:sp>
          <p:nvSpPr>
            <p:cNvPr id="63" name="object 40"/>
            <p:cNvSpPr/>
            <p:nvPr/>
          </p:nvSpPr>
          <p:spPr>
            <a:xfrm>
              <a:off x="2362812" y="5656462"/>
              <a:ext cx="213359" cy="2209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41"/>
            <p:cNvSpPr/>
            <p:nvPr/>
          </p:nvSpPr>
          <p:spPr>
            <a:xfrm>
              <a:off x="2371891" y="5992750"/>
              <a:ext cx="213359" cy="2209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42"/>
            <p:cNvSpPr txBox="1"/>
            <p:nvPr/>
          </p:nvSpPr>
          <p:spPr>
            <a:xfrm>
              <a:off x="2658352" y="5553066"/>
              <a:ext cx="4314190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spcBef>
                  <a:spcPts val="100"/>
                </a:spcBef>
              </a:pPr>
              <a:r>
                <a:rPr sz="2400" b="1" dirty="0">
                  <a:latin typeface="楷体" panose="02010609060101010101" pitchFamily="49" charset="-122"/>
                  <a:ea typeface="楷体" panose="02010609060101010101" pitchFamily="49" charset="-122"/>
                  <a:cs typeface="新宋体"/>
                </a:rPr>
                <a:t>正应力引起单元体尺寸的改变； 切应力引起单元体形状的改变。</a:t>
              </a:r>
              <a:endParaRPr sz="2400" dirty="0">
                <a:latin typeface="楷体" panose="02010609060101010101" pitchFamily="49" charset="-122"/>
                <a:ea typeface="楷体" panose="02010609060101010101" pitchFamily="49" charset="-122"/>
                <a:cs typeface="新宋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20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5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5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49" grpId="0" animBg="1"/>
      <p:bldP spid="50267" grpId="0" animBg="1"/>
      <p:bldP spid="45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/>
          <p:cNvSpPr>
            <a:spLocks noChangeArrowheads="1"/>
          </p:cNvSpPr>
          <p:nvPr/>
        </p:nvSpPr>
        <p:spPr bwMode="auto">
          <a:xfrm>
            <a:off x="865188" y="388041"/>
            <a:ext cx="57594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5-5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杆件变形的基本形式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141820" y="1303635"/>
            <a:ext cx="996060" cy="823913"/>
            <a:chOff x="599" y="2030"/>
            <a:chExt cx="293" cy="519"/>
          </a:xfrm>
        </p:grpSpPr>
        <p:sp>
          <p:nvSpPr>
            <p:cNvPr id="4" name="Text Box 10"/>
            <p:cNvSpPr txBox="1">
              <a:spLocks noChangeArrowheads="1"/>
            </p:cNvSpPr>
            <p:nvPr/>
          </p:nvSpPr>
          <p:spPr bwMode="auto">
            <a:xfrm>
              <a:off x="599" y="2152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轴线</a:t>
              </a:r>
            </a:p>
          </p:txBody>
        </p:sp>
        <p:sp>
          <p:nvSpPr>
            <p:cNvPr id="5" name="AutoShape 11"/>
            <p:cNvSpPr>
              <a:spLocks/>
            </p:cNvSpPr>
            <p:nvPr/>
          </p:nvSpPr>
          <p:spPr bwMode="auto">
            <a:xfrm>
              <a:off x="849" y="2030"/>
              <a:ext cx="43" cy="519"/>
            </a:xfrm>
            <a:prstGeom prst="leftBrace">
              <a:avLst>
                <a:gd name="adj1" fmla="val 54321"/>
                <a:gd name="adj2" fmla="val 51704"/>
              </a:avLst>
            </a:prstGeom>
            <a:noFill/>
            <a:ln w="222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123728" y="1187437"/>
            <a:ext cx="850435" cy="940304"/>
            <a:chOff x="2123728" y="1187437"/>
            <a:chExt cx="850435" cy="940304"/>
          </a:xfrm>
        </p:grpSpPr>
        <p:sp>
          <p:nvSpPr>
            <p:cNvPr id="6" name="Text Box 10"/>
            <p:cNvSpPr txBox="1">
              <a:spLocks noChangeArrowheads="1"/>
            </p:cNvSpPr>
            <p:nvPr/>
          </p:nvSpPr>
          <p:spPr bwMode="auto">
            <a:xfrm>
              <a:off x="2123728" y="1187437"/>
              <a:ext cx="8362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直杆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137880" y="1666076"/>
              <a:ext cx="8362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曲杆</a:t>
              </a:r>
            </a:p>
          </p:txBody>
        </p:sp>
      </p:grp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3829157" y="1257740"/>
            <a:ext cx="1421000" cy="823913"/>
            <a:chOff x="474" y="2030"/>
            <a:chExt cx="418" cy="519"/>
          </a:xfrm>
        </p:grpSpPr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474" y="2152"/>
              <a:ext cx="37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横截面</a:t>
              </a:r>
            </a:p>
          </p:txBody>
        </p:sp>
        <p:sp>
          <p:nvSpPr>
            <p:cNvPr id="10" name="AutoShape 11"/>
            <p:cNvSpPr>
              <a:spLocks/>
            </p:cNvSpPr>
            <p:nvPr/>
          </p:nvSpPr>
          <p:spPr bwMode="auto">
            <a:xfrm>
              <a:off x="849" y="2030"/>
              <a:ext cx="43" cy="519"/>
            </a:xfrm>
            <a:prstGeom prst="leftBrace">
              <a:avLst>
                <a:gd name="adj1" fmla="val 54321"/>
                <a:gd name="adj2" fmla="val 51704"/>
              </a:avLst>
            </a:prstGeom>
            <a:noFill/>
            <a:ln w="222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41442" y="1182112"/>
            <a:ext cx="1518114" cy="949673"/>
            <a:chOff x="5241442" y="1182112"/>
            <a:chExt cx="1518114" cy="949673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5292023" y="1182112"/>
              <a:ext cx="13498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等直杆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5241442" y="1670120"/>
              <a:ext cx="15181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变截面杆</a:t>
              </a:r>
            </a:p>
          </p:txBody>
        </p:sp>
      </p:grpSp>
      <p:pic>
        <p:nvPicPr>
          <p:cNvPr id="13" name="Picture 19" descr="p5_1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75" b="9386"/>
          <a:stretch>
            <a:fillRect/>
          </a:stretch>
        </p:blipFill>
        <p:spPr bwMode="auto">
          <a:xfrm>
            <a:off x="1015952" y="2496589"/>
            <a:ext cx="3916422" cy="364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652120" y="3140968"/>
            <a:ext cx="2514228" cy="129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主要几何因素：</a:t>
            </a:r>
            <a:endParaRPr lang="en-US" altLang="zh-CN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横截面、轴线</a:t>
            </a:r>
          </a:p>
        </p:txBody>
      </p:sp>
    </p:spTree>
    <p:extLst>
      <p:ext uri="{BB962C8B-B14F-4D97-AF65-F5344CB8AC3E}">
        <p14:creationId xmlns:p14="http://schemas.microsoft.com/office/powerpoint/2010/main" val="19932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7"/>
          <p:cNvGrpSpPr>
            <a:grpSpLocks/>
          </p:cNvGrpSpPr>
          <p:nvPr/>
        </p:nvGrpSpPr>
        <p:grpSpPr bwMode="auto">
          <a:xfrm>
            <a:off x="2367117" y="5404468"/>
            <a:ext cx="1657350" cy="1174750"/>
            <a:chOff x="2608" y="3539"/>
            <a:chExt cx="1044" cy="740"/>
          </a:xfrm>
        </p:grpSpPr>
        <p:sp>
          <p:nvSpPr>
            <p:cNvPr id="3122" name="Line 163"/>
            <p:cNvSpPr>
              <a:spLocks noChangeShapeType="1"/>
            </p:cNvSpPr>
            <p:nvPr/>
          </p:nvSpPr>
          <p:spPr bwMode="auto">
            <a:xfrm>
              <a:off x="3563" y="3908"/>
              <a:ext cx="0" cy="343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3" name="AutoShape 161"/>
            <p:cNvSpPr>
              <a:spLocks noChangeArrowheads="1"/>
            </p:cNvSpPr>
            <p:nvPr/>
          </p:nvSpPr>
          <p:spPr bwMode="ltGray">
            <a:xfrm rot="5400000" flipH="1">
              <a:off x="2948" y="3199"/>
              <a:ext cx="363" cy="1044"/>
            </a:xfrm>
            <a:prstGeom prst="can">
              <a:avLst>
                <a:gd name="adj" fmla="val 47654"/>
              </a:avLst>
            </a:prstGeom>
            <a:solidFill>
              <a:srgbClr val="CC99FF"/>
            </a:solidFill>
            <a:ln w="349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124" name="Arc 162"/>
            <p:cNvSpPr>
              <a:spLocks/>
            </p:cNvSpPr>
            <p:nvPr/>
          </p:nvSpPr>
          <p:spPr bwMode="auto">
            <a:xfrm flipH="1">
              <a:off x="2657" y="3540"/>
              <a:ext cx="93" cy="360"/>
            </a:xfrm>
            <a:custGeom>
              <a:avLst/>
              <a:gdLst>
                <a:gd name="T0" fmla="*/ 0 w 21600"/>
                <a:gd name="T1" fmla="*/ 0 h 42137"/>
                <a:gd name="T2" fmla="*/ 0 w 21600"/>
                <a:gd name="T3" fmla="*/ 0 h 42137"/>
                <a:gd name="T4" fmla="*/ 0 w 21600"/>
                <a:gd name="T5" fmla="*/ 0 h 4213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137"/>
                <a:gd name="T11" fmla="*/ 21600 w 21600"/>
                <a:gd name="T12" fmla="*/ 42137 h 42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137" fill="none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</a:path>
                <a:path w="21600" h="42137" stroke="0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  <a:lnTo>
                    <a:pt x="21600" y="21347"/>
                  </a:lnTo>
                  <a:lnTo>
                    <a:pt x="15739" y="42136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dash"/>
              <a:round/>
              <a:headEnd type="non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5" name="Line 169"/>
            <p:cNvSpPr>
              <a:spLocks noChangeShapeType="1"/>
            </p:cNvSpPr>
            <p:nvPr/>
          </p:nvSpPr>
          <p:spPr bwMode="auto">
            <a:xfrm>
              <a:off x="2677" y="3720"/>
              <a:ext cx="79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6" name="Rectangle 164"/>
            <p:cNvSpPr>
              <a:spLocks noChangeArrowheads="1"/>
            </p:cNvSpPr>
            <p:nvPr/>
          </p:nvSpPr>
          <p:spPr bwMode="auto">
            <a:xfrm>
              <a:off x="3289" y="3991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</p:grpSp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423846" y="1193570"/>
            <a:ext cx="5276991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拉伸与压缩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Tension and Compression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zh-CN" altLang="en-US" sz="2400" b="1" dirty="0">
              <a:solidFill>
                <a:srgbClr val="080808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4634" name="Rectangle 10"/>
          <p:cNvSpPr>
            <a:spLocks noChangeArrowheads="1"/>
          </p:cNvSpPr>
          <p:nvPr/>
        </p:nvSpPr>
        <p:spPr bwMode="auto">
          <a:xfrm>
            <a:off x="411771" y="2938990"/>
            <a:ext cx="257175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扭转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Torsion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zh-CN" altLang="en-US" sz="2400" b="1" dirty="0">
              <a:solidFill>
                <a:srgbClr val="080808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4635" name="Rectangle 11"/>
          <p:cNvSpPr>
            <a:spLocks noChangeArrowheads="1"/>
          </p:cNvSpPr>
          <p:nvPr/>
        </p:nvSpPr>
        <p:spPr bwMode="auto">
          <a:xfrm>
            <a:off x="429977" y="3884252"/>
            <a:ext cx="1686286" cy="8316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弯曲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Bending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zh-CN" altLang="en-US" sz="2400" b="1" dirty="0">
              <a:solidFill>
                <a:srgbClr val="080808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4648" name="Rectangle 24"/>
          <p:cNvSpPr>
            <a:spLocks noChangeArrowheads="1"/>
          </p:cNvSpPr>
          <p:nvPr/>
        </p:nvSpPr>
        <p:spPr bwMode="auto">
          <a:xfrm>
            <a:off x="459411" y="5454302"/>
            <a:ext cx="2005012" cy="4623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剪切</a:t>
            </a:r>
            <a:r>
              <a:rPr kumimoji="1" lang="en-US" altLang="zh-CN" sz="2400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(Shear</a:t>
            </a:r>
            <a:r>
              <a:rPr kumimoji="1" lang="en-US" altLang="zh-CN" sz="24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zh-CN" altLang="en-US" sz="2400" b="1" dirty="0">
              <a:solidFill>
                <a:srgbClr val="080808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079" name="Rectangle 71"/>
          <p:cNvSpPr>
            <a:spLocks noChangeArrowheads="1"/>
          </p:cNvSpPr>
          <p:nvPr/>
        </p:nvSpPr>
        <p:spPr bwMode="auto">
          <a:xfrm>
            <a:off x="865188" y="388041"/>
            <a:ext cx="57594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5-5  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杆件变形的基本形式</a:t>
            </a:r>
          </a:p>
        </p:txBody>
      </p:sp>
      <p:grpSp>
        <p:nvGrpSpPr>
          <p:cNvPr id="3" name="Group 107"/>
          <p:cNvGrpSpPr>
            <a:grpSpLocks/>
          </p:cNvGrpSpPr>
          <p:nvPr/>
        </p:nvGrpSpPr>
        <p:grpSpPr bwMode="auto">
          <a:xfrm>
            <a:off x="2181833" y="1736662"/>
            <a:ext cx="4292600" cy="792162"/>
            <a:chOff x="158" y="1167"/>
            <a:chExt cx="2704" cy="499"/>
          </a:xfrm>
        </p:grpSpPr>
        <p:sp>
          <p:nvSpPr>
            <p:cNvPr id="3115" name="AutoShape 89"/>
            <p:cNvSpPr>
              <a:spLocks noChangeArrowheads="1"/>
            </p:cNvSpPr>
            <p:nvPr/>
          </p:nvSpPr>
          <p:spPr bwMode="ltGray">
            <a:xfrm rot="5400000" flipH="1">
              <a:off x="1284" y="555"/>
              <a:ext cx="363" cy="1860"/>
            </a:xfrm>
            <a:prstGeom prst="can">
              <a:avLst>
                <a:gd name="adj" fmla="val 32950"/>
              </a:avLst>
            </a:prstGeom>
            <a:solidFill>
              <a:srgbClr val="CC99FF"/>
            </a:solidFill>
            <a:ln w="349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116" name="Line 5"/>
            <p:cNvSpPr>
              <a:spLocks noChangeShapeType="1"/>
            </p:cNvSpPr>
            <p:nvPr/>
          </p:nvSpPr>
          <p:spPr bwMode="auto">
            <a:xfrm flipH="1">
              <a:off x="194" y="1484"/>
              <a:ext cx="336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7" name="Line 6"/>
            <p:cNvSpPr>
              <a:spLocks noChangeShapeType="1"/>
            </p:cNvSpPr>
            <p:nvPr/>
          </p:nvSpPr>
          <p:spPr bwMode="auto">
            <a:xfrm>
              <a:off x="2345" y="1484"/>
              <a:ext cx="432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8" name="Line 7"/>
            <p:cNvSpPr>
              <a:spLocks noChangeShapeType="1"/>
            </p:cNvSpPr>
            <p:nvPr/>
          </p:nvSpPr>
          <p:spPr bwMode="auto">
            <a:xfrm>
              <a:off x="605" y="1484"/>
              <a:ext cx="172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9" name="Rectangle 8"/>
            <p:cNvSpPr>
              <a:spLocks noChangeArrowheads="1"/>
            </p:cNvSpPr>
            <p:nvPr/>
          </p:nvSpPr>
          <p:spPr bwMode="auto">
            <a:xfrm>
              <a:off x="158" y="116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3120" name="Rectangle 9"/>
            <p:cNvSpPr>
              <a:spLocks noChangeArrowheads="1"/>
            </p:cNvSpPr>
            <p:nvPr/>
          </p:nvSpPr>
          <p:spPr bwMode="auto">
            <a:xfrm>
              <a:off x="2618" y="119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3121" name="Arc 106"/>
            <p:cNvSpPr>
              <a:spLocks/>
            </p:cNvSpPr>
            <p:nvPr/>
          </p:nvSpPr>
          <p:spPr bwMode="auto">
            <a:xfrm flipH="1">
              <a:off x="570" y="1301"/>
              <a:ext cx="93" cy="360"/>
            </a:xfrm>
            <a:custGeom>
              <a:avLst/>
              <a:gdLst>
                <a:gd name="T0" fmla="*/ 0 w 21600"/>
                <a:gd name="T1" fmla="*/ 0 h 42137"/>
                <a:gd name="T2" fmla="*/ 0 w 21600"/>
                <a:gd name="T3" fmla="*/ 0 h 42137"/>
                <a:gd name="T4" fmla="*/ 0 w 21600"/>
                <a:gd name="T5" fmla="*/ 0 h 4213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137"/>
                <a:gd name="T11" fmla="*/ 21600 w 21600"/>
                <a:gd name="T12" fmla="*/ 42137 h 42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137" fill="none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</a:path>
                <a:path w="21600" h="42137" stroke="0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  <a:lnTo>
                    <a:pt x="21600" y="21347"/>
                  </a:lnTo>
                  <a:lnTo>
                    <a:pt x="15739" y="42136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dash"/>
              <a:round/>
              <a:headEnd type="non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8"/>
          <p:cNvGrpSpPr>
            <a:grpSpLocks/>
          </p:cNvGrpSpPr>
          <p:nvPr/>
        </p:nvGrpSpPr>
        <p:grpSpPr bwMode="auto">
          <a:xfrm>
            <a:off x="2668239" y="2787299"/>
            <a:ext cx="3913188" cy="782638"/>
            <a:chOff x="3138" y="1168"/>
            <a:chExt cx="2465" cy="493"/>
          </a:xfrm>
        </p:grpSpPr>
        <p:sp>
          <p:nvSpPr>
            <p:cNvPr id="3108" name="AutoShape 92"/>
            <p:cNvSpPr>
              <a:spLocks noChangeArrowheads="1"/>
            </p:cNvSpPr>
            <p:nvPr/>
          </p:nvSpPr>
          <p:spPr bwMode="ltGray">
            <a:xfrm rot="5400000" flipH="1">
              <a:off x="4182" y="550"/>
              <a:ext cx="363" cy="1860"/>
            </a:xfrm>
            <a:prstGeom prst="can">
              <a:avLst>
                <a:gd name="adj" fmla="val 32950"/>
              </a:avLst>
            </a:prstGeom>
            <a:solidFill>
              <a:srgbClr val="CC99FF"/>
            </a:solidFill>
            <a:ln w="349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109" name="Rectangle 44"/>
            <p:cNvSpPr>
              <a:spLocks noChangeArrowheads="1"/>
            </p:cNvSpPr>
            <p:nvPr/>
          </p:nvSpPr>
          <p:spPr bwMode="auto">
            <a:xfrm>
              <a:off x="3138" y="1168"/>
              <a:ext cx="3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kumimoji="1" lang="en-US" altLang="zh-CN" sz="24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kumimoji="1"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3110" name="Rectangle 45"/>
            <p:cNvSpPr>
              <a:spLocks noChangeArrowheads="1"/>
            </p:cNvSpPr>
            <p:nvPr/>
          </p:nvSpPr>
          <p:spPr bwMode="auto">
            <a:xfrm>
              <a:off x="5267" y="121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kumimoji="1" lang="en-US" altLang="zh-CN" sz="24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</a:p>
          </p:txBody>
        </p:sp>
        <p:sp>
          <p:nvSpPr>
            <p:cNvPr id="3111" name="Arc 98"/>
            <p:cNvSpPr>
              <a:spLocks/>
            </p:cNvSpPr>
            <p:nvPr/>
          </p:nvSpPr>
          <p:spPr bwMode="auto">
            <a:xfrm>
              <a:off x="5118" y="1324"/>
              <a:ext cx="90" cy="336"/>
            </a:xfrm>
            <a:custGeom>
              <a:avLst/>
              <a:gdLst>
                <a:gd name="T0" fmla="*/ 0 w 21600"/>
                <a:gd name="T1" fmla="*/ 0 h 39458"/>
                <a:gd name="T2" fmla="*/ 0 w 21600"/>
                <a:gd name="T3" fmla="*/ 0 h 39458"/>
                <a:gd name="T4" fmla="*/ 0 w 21600"/>
                <a:gd name="T5" fmla="*/ 0 h 3945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458"/>
                <a:gd name="T11" fmla="*/ 21600 w 21600"/>
                <a:gd name="T12" fmla="*/ 39458 h 39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458" fill="none" extrusionOk="0">
                  <a:moveTo>
                    <a:pt x="15739" y="39457"/>
                  </a:moveTo>
                  <a:cubicBezTo>
                    <a:pt x="6429" y="36833"/>
                    <a:pt x="0" y="28340"/>
                    <a:pt x="0" y="18668"/>
                  </a:cubicBezTo>
                  <a:cubicBezTo>
                    <a:pt x="-1" y="10977"/>
                    <a:pt x="4088" y="3867"/>
                    <a:pt x="10734" y="-1"/>
                  </a:cubicBezTo>
                </a:path>
                <a:path w="21600" h="39458" stroke="0" extrusionOk="0">
                  <a:moveTo>
                    <a:pt x="15739" y="39457"/>
                  </a:moveTo>
                  <a:cubicBezTo>
                    <a:pt x="6429" y="36833"/>
                    <a:pt x="0" y="28340"/>
                    <a:pt x="0" y="18668"/>
                  </a:cubicBezTo>
                  <a:cubicBezTo>
                    <a:pt x="-1" y="10977"/>
                    <a:pt x="4088" y="3867"/>
                    <a:pt x="10734" y="-1"/>
                  </a:cubicBezTo>
                  <a:lnTo>
                    <a:pt x="21600" y="18668"/>
                  </a:lnTo>
                  <a:lnTo>
                    <a:pt x="15739" y="39457"/>
                  </a:lnTo>
                  <a:close/>
                </a:path>
              </a:pathLst>
            </a:custGeom>
            <a:noFill/>
            <a:ln w="34925" cap="rnd">
              <a:solidFill>
                <a:srgbClr val="FF0000"/>
              </a:solidFill>
              <a:round/>
              <a:headEnd type="triangl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2" name="Line 117"/>
            <p:cNvSpPr>
              <a:spLocks noChangeShapeType="1"/>
            </p:cNvSpPr>
            <p:nvPr/>
          </p:nvSpPr>
          <p:spPr bwMode="auto">
            <a:xfrm>
              <a:off x="3515" y="1475"/>
              <a:ext cx="172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3" name="Arc 116"/>
            <p:cNvSpPr>
              <a:spLocks/>
            </p:cNvSpPr>
            <p:nvPr/>
          </p:nvSpPr>
          <p:spPr bwMode="auto">
            <a:xfrm flipH="1">
              <a:off x="3465" y="1298"/>
              <a:ext cx="93" cy="360"/>
            </a:xfrm>
            <a:custGeom>
              <a:avLst/>
              <a:gdLst>
                <a:gd name="T0" fmla="*/ 0 w 21600"/>
                <a:gd name="T1" fmla="*/ 0 h 42137"/>
                <a:gd name="T2" fmla="*/ 0 w 21600"/>
                <a:gd name="T3" fmla="*/ 0 h 42137"/>
                <a:gd name="T4" fmla="*/ 0 w 21600"/>
                <a:gd name="T5" fmla="*/ 0 h 4213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137"/>
                <a:gd name="T11" fmla="*/ 21600 w 21600"/>
                <a:gd name="T12" fmla="*/ 42137 h 42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137" fill="none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</a:path>
                <a:path w="21600" h="42137" stroke="0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  <a:lnTo>
                    <a:pt x="21600" y="21347"/>
                  </a:lnTo>
                  <a:lnTo>
                    <a:pt x="15739" y="42136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dash"/>
              <a:round/>
              <a:headEnd type="non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4" name="Arc 81"/>
            <p:cNvSpPr>
              <a:spLocks/>
            </p:cNvSpPr>
            <p:nvPr/>
          </p:nvSpPr>
          <p:spPr bwMode="auto">
            <a:xfrm flipV="1">
              <a:off x="3476" y="1308"/>
              <a:ext cx="90" cy="336"/>
            </a:xfrm>
            <a:custGeom>
              <a:avLst/>
              <a:gdLst>
                <a:gd name="T0" fmla="*/ 0 w 21600"/>
                <a:gd name="T1" fmla="*/ 0 h 39458"/>
                <a:gd name="T2" fmla="*/ 0 w 21600"/>
                <a:gd name="T3" fmla="*/ 0 h 39458"/>
                <a:gd name="T4" fmla="*/ 0 w 21600"/>
                <a:gd name="T5" fmla="*/ 0 h 3945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458"/>
                <a:gd name="T11" fmla="*/ 21600 w 21600"/>
                <a:gd name="T12" fmla="*/ 39458 h 394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458" fill="none" extrusionOk="0">
                  <a:moveTo>
                    <a:pt x="15739" y="39457"/>
                  </a:moveTo>
                  <a:cubicBezTo>
                    <a:pt x="6429" y="36833"/>
                    <a:pt x="0" y="28340"/>
                    <a:pt x="0" y="18668"/>
                  </a:cubicBezTo>
                  <a:cubicBezTo>
                    <a:pt x="-1" y="10977"/>
                    <a:pt x="4088" y="3867"/>
                    <a:pt x="10734" y="-1"/>
                  </a:cubicBezTo>
                </a:path>
                <a:path w="21600" h="39458" stroke="0" extrusionOk="0">
                  <a:moveTo>
                    <a:pt x="15739" y="39457"/>
                  </a:moveTo>
                  <a:cubicBezTo>
                    <a:pt x="6429" y="36833"/>
                    <a:pt x="0" y="28340"/>
                    <a:pt x="0" y="18668"/>
                  </a:cubicBezTo>
                  <a:cubicBezTo>
                    <a:pt x="-1" y="10977"/>
                    <a:pt x="4088" y="3867"/>
                    <a:pt x="10734" y="-1"/>
                  </a:cubicBezTo>
                  <a:lnTo>
                    <a:pt x="21600" y="18668"/>
                  </a:lnTo>
                  <a:lnTo>
                    <a:pt x="15739" y="39457"/>
                  </a:lnTo>
                  <a:close/>
                </a:path>
              </a:pathLst>
            </a:custGeom>
            <a:noFill/>
            <a:ln w="34925" cap="rnd">
              <a:solidFill>
                <a:srgbClr val="FF0000"/>
              </a:solidFill>
              <a:round/>
              <a:headEnd type="triangl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24"/>
          <p:cNvGrpSpPr>
            <a:grpSpLocks/>
          </p:cNvGrpSpPr>
          <p:nvPr/>
        </p:nvGrpSpPr>
        <p:grpSpPr bwMode="auto">
          <a:xfrm>
            <a:off x="1590007" y="3780059"/>
            <a:ext cx="4208463" cy="1081087"/>
            <a:chOff x="120" y="2167"/>
            <a:chExt cx="2651" cy="681"/>
          </a:xfrm>
        </p:grpSpPr>
        <p:sp>
          <p:nvSpPr>
            <p:cNvPr id="3100" name="Rectangle 18"/>
            <p:cNvSpPr>
              <a:spLocks noChangeArrowheads="1"/>
            </p:cNvSpPr>
            <p:nvPr/>
          </p:nvSpPr>
          <p:spPr bwMode="auto">
            <a:xfrm>
              <a:off x="120" y="2167"/>
              <a:ext cx="2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</a:p>
          </p:txBody>
        </p:sp>
        <p:sp>
          <p:nvSpPr>
            <p:cNvPr id="3101" name="Arc 86"/>
            <p:cNvSpPr>
              <a:spLocks/>
            </p:cNvSpPr>
            <p:nvPr/>
          </p:nvSpPr>
          <p:spPr bwMode="auto">
            <a:xfrm flipH="1">
              <a:off x="353" y="2295"/>
              <a:ext cx="192" cy="545"/>
            </a:xfrm>
            <a:custGeom>
              <a:avLst/>
              <a:gdLst>
                <a:gd name="T0" fmla="*/ 0 w 21600"/>
                <a:gd name="T1" fmla="*/ 0 h 40891"/>
                <a:gd name="T2" fmla="*/ 0 w 21600"/>
                <a:gd name="T3" fmla="*/ 0 h 40891"/>
                <a:gd name="T4" fmla="*/ 0 w 21600"/>
                <a:gd name="T5" fmla="*/ 0 h 408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891"/>
                <a:gd name="T11" fmla="*/ 21600 w 21600"/>
                <a:gd name="T12" fmla="*/ 40891 h 40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891" fill="none" extrusionOk="0">
                  <a:moveTo>
                    <a:pt x="3006" y="0"/>
                  </a:moveTo>
                  <a:cubicBezTo>
                    <a:pt x="13669" y="1499"/>
                    <a:pt x="21600" y="10622"/>
                    <a:pt x="21600" y="21390"/>
                  </a:cubicBezTo>
                  <a:cubicBezTo>
                    <a:pt x="21600" y="29720"/>
                    <a:pt x="16809" y="37308"/>
                    <a:pt x="9288" y="40891"/>
                  </a:cubicBezTo>
                </a:path>
                <a:path w="21600" h="40891" stroke="0" extrusionOk="0">
                  <a:moveTo>
                    <a:pt x="3006" y="0"/>
                  </a:moveTo>
                  <a:cubicBezTo>
                    <a:pt x="13669" y="1499"/>
                    <a:pt x="21600" y="10622"/>
                    <a:pt x="21600" y="21390"/>
                  </a:cubicBezTo>
                  <a:cubicBezTo>
                    <a:pt x="21600" y="29720"/>
                    <a:pt x="16809" y="37308"/>
                    <a:pt x="9288" y="40891"/>
                  </a:cubicBezTo>
                  <a:lnTo>
                    <a:pt x="0" y="21390"/>
                  </a:lnTo>
                  <a:lnTo>
                    <a:pt x="3006" y="0"/>
                  </a:lnTo>
                  <a:close/>
                </a:path>
              </a:pathLst>
            </a:custGeom>
            <a:noFill/>
            <a:ln w="34290" cap="rnd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02" name="Group 120"/>
            <p:cNvGrpSpPr>
              <a:grpSpLocks/>
            </p:cNvGrpSpPr>
            <p:nvPr/>
          </p:nvGrpSpPr>
          <p:grpSpPr bwMode="auto">
            <a:xfrm>
              <a:off x="528" y="2388"/>
              <a:ext cx="1860" cy="368"/>
              <a:chOff x="-1868" y="2200"/>
              <a:chExt cx="1860" cy="368"/>
            </a:xfrm>
          </p:grpSpPr>
          <p:sp>
            <p:nvSpPr>
              <p:cNvPr id="3105" name="AutoShape 109"/>
              <p:cNvSpPr>
                <a:spLocks noChangeArrowheads="1"/>
              </p:cNvSpPr>
              <p:nvPr/>
            </p:nvSpPr>
            <p:spPr bwMode="ltGray">
              <a:xfrm rot="5400000" flipH="1">
                <a:off x="-1120" y="1457"/>
                <a:ext cx="363" cy="1860"/>
              </a:xfrm>
              <a:prstGeom prst="can">
                <a:avLst>
                  <a:gd name="adj" fmla="val 32950"/>
                </a:avLst>
              </a:prstGeom>
              <a:solidFill>
                <a:srgbClr val="CC99FF"/>
              </a:solidFill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106" name="Line 112"/>
              <p:cNvSpPr>
                <a:spLocks noChangeShapeType="1"/>
              </p:cNvSpPr>
              <p:nvPr/>
            </p:nvSpPr>
            <p:spPr bwMode="auto">
              <a:xfrm>
                <a:off x="-1799" y="2386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7" name="Arc 115"/>
              <p:cNvSpPr>
                <a:spLocks/>
              </p:cNvSpPr>
              <p:nvPr/>
            </p:nvSpPr>
            <p:spPr bwMode="auto">
              <a:xfrm flipH="1">
                <a:off x="-1834" y="2200"/>
                <a:ext cx="93" cy="360"/>
              </a:xfrm>
              <a:custGeom>
                <a:avLst/>
                <a:gdLst>
                  <a:gd name="T0" fmla="*/ 0 w 21600"/>
                  <a:gd name="T1" fmla="*/ 0 h 42137"/>
                  <a:gd name="T2" fmla="*/ 0 w 21600"/>
                  <a:gd name="T3" fmla="*/ 0 h 42137"/>
                  <a:gd name="T4" fmla="*/ 0 w 21600"/>
                  <a:gd name="T5" fmla="*/ 0 h 42137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137"/>
                  <a:gd name="T11" fmla="*/ 21600 w 21600"/>
                  <a:gd name="T12" fmla="*/ 42137 h 421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137" fill="none" extrusionOk="0">
                    <a:moveTo>
                      <a:pt x="15739" y="42136"/>
                    </a:moveTo>
                    <a:cubicBezTo>
                      <a:pt x="6429" y="39512"/>
                      <a:pt x="0" y="31019"/>
                      <a:pt x="0" y="21347"/>
                    </a:cubicBezTo>
                    <a:cubicBezTo>
                      <a:pt x="-1" y="10689"/>
                      <a:pt x="7772" y="1625"/>
                      <a:pt x="18304" y="-1"/>
                    </a:cubicBezTo>
                  </a:path>
                  <a:path w="21600" h="42137" stroke="0" extrusionOk="0">
                    <a:moveTo>
                      <a:pt x="15739" y="42136"/>
                    </a:moveTo>
                    <a:cubicBezTo>
                      <a:pt x="6429" y="39512"/>
                      <a:pt x="0" y="31019"/>
                      <a:pt x="0" y="21347"/>
                    </a:cubicBezTo>
                    <a:cubicBezTo>
                      <a:pt x="-1" y="10689"/>
                      <a:pt x="7772" y="1625"/>
                      <a:pt x="18304" y="-1"/>
                    </a:cubicBezTo>
                    <a:lnTo>
                      <a:pt x="21600" y="21347"/>
                    </a:lnTo>
                    <a:lnTo>
                      <a:pt x="15739" y="42136"/>
                    </a:lnTo>
                    <a:close/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dash"/>
                <a:round/>
                <a:headEnd type="none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03" name="Arc 121"/>
            <p:cNvSpPr>
              <a:spLocks/>
            </p:cNvSpPr>
            <p:nvPr/>
          </p:nvSpPr>
          <p:spPr bwMode="auto">
            <a:xfrm>
              <a:off x="2340" y="2303"/>
              <a:ext cx="192" cy="545"/>
            </a:xfrm>
            <a:custGeom>
              <a:avLst/>
              <a:gdLst>
                <a:gd name="T0" fmla="*/ 0 w 21600"/>
                <a:gd name="T1" fmla="*/ 0 h 40891"/>
                <a:gd name="T2" fmla="*/ 0 w 21600"/>
                <a:gd name="T3" fmla="*/ 0 h 40891"/>
                <a:gd name="T4" fmla="*/ 0 w 21600"/>
                <a:gd name="T5" fmla="*/ 0 h 408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0891"/>
                <a:gd name="T11" fmla="*/ 21600 w 21600"/>
                <a:gd name="T12" fmla="*/ 40891 h 408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0891" fill="none" extrusionOk="0">
                  <a:moveTo>
                    <a:pt x="3006" y="0"/>
                  </a:moveTo>
                  <a:cubicBezTo>
                    <a:pt x="13669" y="1499"/>
                    <a:pt x="21600" y="10622"/>
                    <a:pt x="21600" y="21390"/>
                  </a:cubicBezTo>
                  <a:cubicBezTo>
                    <a:pt x="21600" y="29720"/>
                    <a:pt x="16809" y="37308"/>
                    <a:pt x="9288" y="40891"/>
                  </a:cubicBezTo>
                </a:path>
                <a:path w="21600" h="40891" stroke="0" extrusionOk="0">
                  <a:moveTo>
                    <a:pt x="3006" y="0"/>
                  </a:moveTo>
                  <a:cubicBezTo>
                    <a:pt x="13669" y="1499"/>
                    <a:pt x="21600" y="10622"/>
                    <a:pt x="21600" y="21390"/>
                  </a:cubicBezTo>
                  <a:cubicBezTo>
                    <a:pt x="21600" y="29720"/>
                    <a:pt x="16809" y="37308"/>
                    <a:pt x="9288" y="40891"/>
                  </a:cubicBezTo>
                  <a:lnTo>
                    <a:pt x="0" y="21390"/>
                  </a:lnTo>
                  <a:lnTo>
                    <a:pt x="3006" y="0"/>
                  </a:lnTo>
                  <a:close/>
                </a:path>
              </a:pathLst>
            </a:custGeom>
            <a:noFill/>
            <a:ln w="34290" cap="rnd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4" name="Rectangle 122"/>
            <p:cNvSpPr>
              <a:spLocks noChangeArrowheads="1"/>
            </p:cNvSpPr>
            <p:nvPr/>
          </p:nvSpPr>
          <p:spPr bwMode="auto">
            <a:xfrm>
              <a:off x="2492" y="2210"/>
              <a:ext cx="2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</a:p>
          </p:txBody>
        </p:sp>
      </p:grpSp>
      <p:grpSp>
        <p:nvGrpSpPr>
          <p:cNvPr id="7" name="Group 140"/>
          <p:cNvGrpSpPr>
            <a:grpSpLocks/>
          </p:cNvGrpSpPr>
          <p:nvPr/>
        </p:nvGrpSpPr>
        <p:grpSpPr bwMode="auto">
          <a:xfrm>
            <a:off x="5395244" y="3406815"/>
            <a:ext cx="3548063" cy="1871662"/>
            <a:chOff x="3266" y="1969"/>
            <a:chExt cx="2235" cy="1179"/>
          </a:xfrm>
        </p:grpSpPr>
        <p:sp>
          <p:nvSpPr>
            <p:cNvPr id="3090" name="Rectangle 126"/>
            <p:cNvSpPr>
              <a:spLocks noChangeArrowheads="1"/>
            </p:cNvSpPr>
            <p:nvPr/>
          </p:nvSpPr>
          <p:spPr bwMode="auto">
            <a:xfrm>
              <a:off x="3266" y="286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grpSp>
          <p:nvGrpSpPr>
            <p:cNvPr id="3091" name="Group 128"/>
            <p:cNvGrpSpPr>
              <a:grpSpLocks/>
            </p:cNvGrpSpPr>
            <p:nvPr/>
          </p:nvGrpSpPr>
          <p:grpSpPr bwMode="auto">
            <a:xfrm>
              <a:off x="3459" y="2391"/>
              <a:ext cx="1860" cy="368"/>
              <a:chOff x="-1868" y="2200"/>
              <a:chExt cx="1860" cy="368"/>
            </a:xfrm>
          </p:grpSpPr>
          <p:sp>
            <p:nvSpPr>
              <p:cNvPr id="3097" name="AutoShape 129"/>
              <p:cNvSpPr>
                <a:spLocks noChangeArrowheads="1"/>
              </p:cNvSpPr>
              <p:nvPr/>
            </p:nvSpPr>
            <p:spPr bwMode="ltGray">
              <a:xfrm rot="5400000" flipH="1">
                <a:off x="-1120" y="1457"/>
                <a:ext cx="363" cy="1860"/>
              </a:xfrm>
              <a:prstGeom prst="can">
                <a:avLst>
                  <a:gd name="adj" fmla="val 32950"/>
                </a:avLst>
              </a:prstGeom>
              <a:solidFill>
                <a:srgbClr val="CC99FF"/>
              </a:solidFill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098" name="Line 130"/>
              <p:cNvSpPr>
                <a:spLocks noChangeShapeType="1"/>
              </p:cNvSpPr>
              <p:nvPr/>
            </p:nvSpPr>
            <p:spPr bwMode="auto">
              <a:xfrm>
                <a:off x="-1799" y="2386"/>
                <a:ext cx="1723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prstDash val="dashDot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99" name="Arc 131"/>
              <p:cNvSpPr>
                <a:spLocks/>
              </p:cNvSpPr>
              <p:nvPr/>
            </p:nvSpPr>
            <p:spPr bwMode="auto">
              <a:xfrm flipH="1">
                <a:off x="-1834" y="2200"/>
                <a:ext cx="93" cy="360"/>
              </a:xfrm>
              <a:custGeom>
                <a:avLst/>
                <a:gdLst>
                  <a:gd name="T0" fmla="*/ 0 w 21600"/>
                  <a:gd name="T1" fmla="*/ 0 h 42137"/>
                  <a:gd name="T2" fmla="*/ 0 w 21600"/>
                  <a:gd name="T3" fmla="*/ 0 h 42137"/>
                  <a:gd name="T4" fmla="*/ 0 w 21600"/>
                  <a:gd name="T5" fmla="*/ 0 h 42137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137"/>
                  <a:gd name="T11" fmla="*/ 21600 w 21600"/>
                  <a:gd name="T12" fmla="*/ 42137 h 421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137" fill="none" extrusionOk="0">
                    <a:moveTo>
                      <a:pt x="15739" y="42136"/>
                    </a:moveTo>
                    <a:cubicBezTo>
                      <a:pt x="6429" y="39512"/>
                      <a:pt x="0" y="31019"/>
                      <a:pt x="0" y="21347"/>
                    </a:cubicBezTo>
                    <a:cubicBezTo>
                      <a:pt x="-1" y="10689"/>
                      <a:pt x="7772" y="1625"/>
                      <a:pt x="18304" y="-1"/>
                    </a:cubicBezTo>
                  </a:path>
                  <a:path w="21600" h="42137" stroke="0" extrusionOk="0">
                    <a:moveTo>
                      <a:pt x="15739" y="42136"/>
                    </a:moveTo>
                    <a:cubicBezTo>
                      <a:pt x="6429" y="39512"/>
                      <a:pt x="0" y="31019"/>
                      <a:pt x="0" y="21347"/>
                    </a:cubicBezTo>
                    <a:cubicBezTo>
                      <a:pt x="-1" y="10689"/>
                      <a:pt x="7772" y="1625"/>
                      <a:pt x="18304" y="-1"/>
                    </a:cubicBezTo>
                    <a:lnTo>
                      <a:pt x="21600" y="21347"/>
                    </a:lnTo>
                    <a:lnTo>
                      <a:pt x="15739" y="42136"/>
                    </a:lnTo>
                    <a:close/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dash"/>
                <a:round/>
                <a:headEnd type="none" w="med" len="lg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92" name="Line 134"/>
            <p:cNvSpPr>
              <a:spLocks noChangeShapeType="1"/>
            </p:cNvSpPr>
            <p:nvPr/>
          </p:nvSpPr>
          <p:spPr bwMode="auto">
            <a:xfrm>
              <a:off x="3515" y="2765"/>
              <a:ext cx="0" cy="343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" name="Rectangle 135"/>
            <p:cNvSpPr>
              <a:spLocks noChangeArrowheads="1"/>
            </p:cNvSpPr>
            <p:nvPr/>
          </p:nvSpPr>
          <p:spPr bwMode="auto">
            <a:xfrm>
              <a:off x="5257" y="284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3094" name="Line 136"/>
            <p:cNvSpPr>
              <a:spLocks noChangeShapeType="1"/>
            </p:cNvSpPr>
            <p:nvPr/>
          </p:nvSpPr>
          <p:spPr bwMode="auto">
            <a:xfrm>
              <a:off x="5241" y="2751"/>
              <a:ext cx="1" cy="313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5" name="Rectangle 137"/>
            <p:cNvSpPr>
              <a:spLocks noChangeArrowheads="1"/>
            </p:cNvSpPr>
            <p:nvPr/>
          </p:nvSpPr>
          <p:spPr bwMode="auto">
            <a:xfrm>
              <a:off x="4377" y="1969"/>
              <a:ext cx="4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kumimoji="1"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3096" name="Line 138"/>
            <p:cNvSpPr>
              <a:spLocks noChangeShapeType="1"/>
            </p:cNvSpPr>
            <p:nvPr/>
          </p:nvSpPr>
          <p:spPr bwMode="auto">
            <a:xfrm flipV="1">
              <a:off x="4378" y="2044"/>
              <a:ext cx="0" cy="343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176"/>
          <p:cNvGrpSpPr>
            <a:grpSpLocks/>
          </p:cNvGrpSpPr>
          <p:nvPr/>
        </p:nvGrpSpPr>
        <p:grpSpPr bwMode="auto">
          <a:xfrm>
            <a:off x="3805392" y="4750418"/>
            <a:ext cx="1658937" cy="1231900"/>
            <a:chOff x="3514" y="3125"/>
            <a:chExt cx="1045" cy="776"/>
          </a:xfrm>
        </p:grpSpPr>
        <p:sp>
          <p:nvSpPr>
            <p:cNvPr id="3085" name="Rectangle 165"/>
            <p:cNvSpPr>
              <a:spLocks noChangeArrowheads="1"/>
            </p:cNvSpPr>
            <p:nvPr/>
          </p:nvSpPr>
          <p:spPr bwMode="auto">
            <a:xfrm>
              <a:off x="3582" y="3125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3086" name="Line 166"/>
            <p:cNvSpPr>
              <a:spLocks noChangeShapeType="1"/>
            </p:cNvSpPr>
            <p:nvPr/>
          </p:nvSpPr>
          <p:spPr bwMode="auto">
            <a:xfrm flipV="1">
              <a:off x="3584" y="3186"/>
              <a:ext cx="0" cy="343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7" name="AutoShape 167"/>
            <p:cNvSpPr>
              <a:spLocks noChangeArrowheads="1"/>
            </p:cNvSpPr>
            <p:nvPr/>
          </p:nvSpPr>
          <p:spPr bwMode="ltGray">
            <a:xfrm rot="5400000" flipH="1">
              <a:off x="3855" y="3197"/>
              <a:ext cx="363" cy="1045"/>
            </a:xfrm>
            <a:prstGeom prst="can">
              <a:avLst>
                <a:gd name="adj" fmla="val 44621"/>
              </a:avLst>
            </a:prstGeom>
            <a:solidFill>
              <a:srgbClr val="CC99FF"/>
            </a:solidFill>
            <a:ln w="349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3088" name="Arc 170"/>
            <p:cNvSpPr>
              <a:spLocks/>
            </p:cNvSpPr>
            <p:nvPr/>
          </p:nvSpPr>
          <p:spPr bwMode="auto">
            <a:xfrm flipH="1">
              <a:off x="3559" y="3534"/>
              <a:ext cx="93" cy="360"/>
            </a:xfrm>
            <a:custGeom>
              <a:avLst/>
              <a:gdLst>
                <a:gd name="T0" fmla="*/ 0 w 21600"/>
                <a:gd name="T1" fmla="*/ 0 h 42137"/>
                <a:gd name="T2" fmla="*/ 0 w 21600"/>
                <a:gd name="T3" fmla="*/ 0 h 42137"/>
                <a:gd name="T4" fmla="*/ 0 w 21600"/>
                <a:gd name="T5" fmla="*/ 0 h 4213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137"/>
                <a:gd name="T11" fmla="*/ 21600 w 21600"/>
                <a:gd name="T12" fmla="*/ 42137 h 42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137" fill="none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</a:path>
                <a:path w="21600" h="42137" stroke="0" extrusionOk="0">
                  <a:moveTo>
                    <a:pt x="15739" y="42136"/>
                  </a:moveTo>
                  <a:cubicBezTo>
                    <a:pt x="6429" y="39512"/>
                    <a:pt x="0" y="31019"/>
                    <a:pt x="0" y="21347"/>
                  </a:cubicBezTo>
                  <a:cubicBezTo>
                    <a:pt x="-1" y="10689"/>
                    <a:pt x="7772" y="1625"/>
                    <a:pt x="18304" y="-1"/>
                  </a:cubicBezTo>
                  <a:lnTo>
                    <a:pt x="21600" y="21347"/>
                  </a:lnTo>
                  <a:lnTo>
                    <a:pt x="15739" y="42136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prstDash val="dash"/>
              <a:round/>
              <a:headEnd type="none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9" name="Line 171"/>
            <p:cNvSpPr>
              <a:spLocks noChangeShapeType="1"/>
            </p:cNvSpPr>
            <p:nvPr/>
          </p:nvSpPr>
          <p:spPr bwMode="auto">
            <a:xfrm>
              <a:off x="3593" y="3716"/>
              <a:ext cx="89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6524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1.85185E-6 L 0.00069 0.0525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34" grpId="0" autoUpdateAnimBg="0"/>
      <p:bldP spid="154635" grpId="0" autoUpdateAnimBg="0"/>
      <p:bldP spid="15464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62" name="Text Box 50"/>
          <p:cNvSpPr txBox="1">
            <a:spLocks noChangeArrowheads="1"/>
          </p:cNvSpPr>
          <p:nvPr/>
        </p:nvSpPr>
        <p:spPr bwMode="auto">
          <a:xfrm>
            <a:off x="683568" y="764704"/>
            <a:ext cx="1006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7171" name="Text Box 51"/>
          <p:cNvSpPr txBox="1">
            <a:spLocks noChangeArrowheads="1"/>
          </p:cNvSpPr>
          <p:nvPr/>
        </p:nvSpPr>
        <p:spPr bwMode="auto">
          <a:xfrm>
            <a:off x="2117873" y="1019497"/>
            <a:ext cx="295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64564" name="Text Box 52"/>
          <p:cNvSpPr txBox="1">
            <a:spLocks noChangeArrowheads="1"/>
          </p:cNvSpPr>
          <p:nvPr/>
        </p:nvSpPr>
        <p:spPr bwMode="auto">
          <a:xfrm>
            <a:off x="2264717" y="803597"/>
            <a:ext cx="3529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材料力学的任务</a:t>
            </a:r>
          </a:p>
        </p:txBody>
      </p:sp>
      <p:sp>
        <p:nvSpPr>
          <p:cNvPr id="64566" name="Text Box 54"/>
          <p:cNvSpPr txBox="1">
            <a:spLocks noChangeArrowheads="1"/>
          </p:cNvSpPr>
          <p:nvPr/>
        </p:nvSpPr>
        <p:spPr bwMode="auto">
          <a:xfrm>
            <a:off x="5345261" y="803597"/>
            <a:ext cx="210524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安全、经济</a:t>
            </a:r>
          </a:p>
        </p:txBody>
      </p:sp>
      <p:sp>
        <p:nvSpPr>
          <p:cNvPr id="64567" name="Text Box 55"/>
          <p:cNvSpPr txBox="1">
            <a:spLocks noChangeArrowheads="1"/>
          </p:cNvSpPr>
          <p:nvPr/>
        </p:nvSpPr>
        <p:spPr bwMode="auto">
          <a:xfrm>
            <a:off x="662757" y="2421309"/>
            <a:ext cx="615553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构件承载能力</a:t>
            </a:r>
          </a:p>
        </p:txBody>
      </p:sp>
      <p:graphicFrame>
        <p:nvGraphicFramePr>
          <p:cNvPr id="64568" name="Object 5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676809289"/>
              </p:ext>
            </p:extLst>
          </p:nvPr>
        </p:nvGraphicFramePr>
        <p:xfrm>
          <a:off x="1134794" y="1965702"/>
          <a:ext cx="544513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公式" r:id="rId3" imgW="164885" imgH="215619" progId="Equation.3">
                  <p:embed/>
                </p:oleObj>
              </mc:Choice>
              <mc:Fallback>
                <p:oleObj name="公式" r:id="rId3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794" y="1965702"/>
                        <a:ext cx="544513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76" name="Object 6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725287915"/>
              </p:ext>
            </p:extLst>
          </p:nvPr>
        </p:nvGraphicFramePr>
        <p:xfrm>
          <a:off x="5489514" y="1664434"/>
          <a:ext cx="360362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公式" r:id="rId5" imgW="164885" imgH="215619" progId="Equation.3">
                  <p:embed/>
                </p:oleObj>
              </mc:Choice>
              <mc:Fallback>
                <p:oleObj name="公式" r:id="rId5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14" y="1664434"/>
                        <a:ext cx="360362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00" name="Object 8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67578874"/>
              </p:ext>
            </p:extLst>
          </p:nvPr>
        </p:nvGraphicFramePr>
        <p:xfrm>
          <a:off x="5682502" y="3413608"/>
          <a:ext cx="3460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公式" r:id="rId7" imgW="164885" imgH="215619" progId="Equation.3">
                  <p:embed/>
                </p:oleObj>
              </mc:Choice>
              <mc:Fallback>
                <p:oleObj name="公式" r:id="rId7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2502" y="3413608"/>
                        <a:ext cx="3460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1" name="Text Box 59"/>
          <p:cNvSpPr txBox="1">
            <a:spLocks noChangeArrowheads="1"/>
          </p:cNvSpPr>
          <p:nvPr/>
        </p:nvSpPr>
        <p:spPr bwMode="auto">
          <a:xfrm>
            <a:off x="1425947" y="2022054"/>
            <a:ext cx="1223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强度</a:t>
            </a:r>
          </a:p>
        </p:txBody>
      </p:sp>
      <p:sp>
        <p:nvSpPr>
          <p:cNvPr id="64572" name="Line 60"/>
          <p:cNvSpPr>
            <a:spLocks noChangeShapeType="1"/>
          </p:cNvSpPr>
          <p:nvPr/>
        </p:nvSpPr>
        <p:spPr bwMode="auto">
          <a:xfrm>
            <a:off x="2303835" y="2295104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3" name="Text Box 61"/>
          <p:cNvSpPr txBox="1">
            <a:spLocks noChangeArrowheads="1"/>
          </p:cNvSpPr>
          <p:nvPr/>
        </p:nvSpPr>
        <p:spPr bwMode="auto">
          <a:xfrm>
            <a:off x="2784277" y="1842362"/>
            <a:ext cx="147796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内力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（截面法）</a:t>
            </a:r>
          </a:p>
        </p:txBody>
      </p:sp>
      <p:sp>
        <p:nvSpPr>
          <p:cNvPr id="64574" name="Line 62"/>
          <p:cNvSpPr>
            <a:spLocks noChangeShapeType="1"/>
          </p:cNvSpPr>
          <p:nvPr/>
        </p:nvSpPr>
        <p:spPr bwMode="auto">
          <a:xfrm>
            <a:off x="4215036" y="2357809"/>
            <a:ext cx="57626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5" name="Text Box 63"/>
          <p:cNvSpPr txBox="1">
            <a:spLocks noChangeArrowheads="1"/>
          </p:cNvSpPr>
          <p:nvPr/>
        </p:nvSpPr>
        <p:spPr bwMode="auto">
          <a:xfrm>
            <a:off x="4764196" y="2090998"/>
            <a:ext cx="1050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</a:t>
            </a:r>
          </a:p>
        </p:txBody>
      </p:sp>
      <p:sp>
        <p:nvSpPr>
          <p:cNvPr id="64579" name="Text Box 67"/>
          <p:cNvSpPr txBox="1">
            <a:spLocks noChangeArrowheads="1"/>
          </p:cNvSpPr>
          <p:nvPr/>
        </p:nvSpPr>
        <p:spPr bwMode="auto">
          <a:xfrm>
            <a:off x="5648352" y="1537866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全应力</a:t>
            </a:r>
          </a:p>
        </p:txBody>
      </p:sp>
      <p:sp>
        <p:nvSpPr>
          <p:cNvPr id="64580" name="Text Box 68"/>
          <p:cNvSpPr txBox="1">
            <a:spLocks noChangeArrowheads="1"/>
          </p:cNvSpPr>
          <p:nvPr/>
        </p:nvSpPr>
        <p:spPr bwMode="auto">
          <a:xfrm>
            <a:off x="5628277" y="2096369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正应力</a:t>
            </a:r>
          </a:p>
        </p:txBody>
      </p:sp>
      <p:sp>
        <p:nvSpPr>
          <p:cNvPr id="64581" name="Text Box 69"/>
          <p:cNvSpPr txBox="1">
            <a:spLocks noChangeArrowheads="1"/>
          </p:cNvSpPr>
          <p:nvPr/>
        </p:nvSpPr>
        <p:spPr bwMode="auto">
          <a:xfrm>
            <a:off x="5616154" y="2676229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切应力</a:t>
            </a:r>
          </a:p>
        </p:txBody>
      </p:sp>
      <p:sp>
        <p:nvSpPr>
          <p:cNvPr id="64588" name="Text Box 76"/>
          <p:cNvSpPr txBox="1">
            <a:spLocks noChangeArrowheads="1"/>
          </p:cNvSpPr>
          <p:nvPr/>
        </p:nvSpPr>
        <p:spPr bwMode="auto">
          <a:xfrm>
            <a:off x="1437060" y="3709566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刚度</a:t>
            </a:r>
          </a:p>
        </p:txBody>
      </p:sp>
      <p:sp>
        <p:nvSpPr>
          <p:cNvPr id="64589" name="Line 77"/>
          <p:cNvSpPr>
            <a:spLocks noChangeShapeType="1"/>
          </p:cNvSpPr>
          <p:nvPr/>
        </p:nvSpPr>
        <p:spPr bwMode="auto">
          <a:xfrm>
            <a:off x="2299113" y="3998491"/>
            <a:ext cx="5762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90" name="Text Box 78"/>
          <p:cNvSpPr txBox="1">
            <a:spLocks noChangeArrowheads="1"/>
          </p:cNvSpPr>
          <p:nvPr/>
        </p:nvSpPr>
        <p:spPr bwMode="auto">
          <a:xfrm>
            <a:off x="2862168" y="3749087"/>
            <a:ext cx="906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位移</a:t>
            </a:r>
          </a:p>
        </p:txBody>
      </p:sp>
      <p:sp>
        <p:nvSpPr>
          <p:cNvPr id="64591" name="Line 79"/>
          <p:cNvSpPr>
            <a:spLocks noChangeShapeType="1"/>
          </p:cNvSpPr>
          <p:nvPr/>
        </p:nvSpPr>
        <p:spPr bwMode="auto">
          <a:xfrm>
            <a:off x="4450511" y="3991143"/>
            <a:ext cx="5762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93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671917"/>
              </p:ext>
            </p:extLst>
          </p:nvPr>
        </p:nvGraphicFramePr>
        <p:xfrm>
          <a:off x="6710735" y="2121272"/>
          <a:ext cx="355600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公式" r:id="rId9" imgW="164885" imgH="215619" progId="Equation.3">
                  <p:embed/>
                </p:oleObj>
              </mc:Choice>
              <mc:Fallback>
                <p:oleObj name="公式" r:id="rId9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735" y="2121272"/>
                        <a:ext cx="355600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03" name="Text Box 91"/>
          <p:cNvSpPr txBox="1">
            <a:spLocks noChangeArrowheads="1"/>
          </p:cNvSpPr>
          <p:nvPr/>
        </p:nvSpPr>
        <p:spPr bwMode="auto">
          <a:xfrm>
            <a:off x="3648033" y="4158696"/>
            <a:ext cx="1282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角位移</a:t>
            </a:r>
          </a:p>
        </p:txBody>
      </p:sp>
      <p:sp>
        <p:nvSpPr>
          <p:cNvPr id="64604" name="Text Box 92"/>
          <p:cNvSpPr txBox="1">
            <a:spLocks noChangeArrowheads="1"/>
          </p:cNvSpPr>
          <p:nvPr/>
        </p:nvSpPr>
        <p:spPr bwMode="auto">
          <a:xfrm>
            <a:off x="3668291" y="3349903"/>
            <a:ext cx="1208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线位移</a:t>
            </a:r>
          </a:p>
        </p:txBody>
      </p:sp>
      <p:sp>
        <p:nvSpPr>
          <p:cNvPr id="64607" name="Text Box 95"/>
          <p:cNvSpPr txBox="1">
            <a:spLocks noChangeArrowheads="1"/>
          </p:cNvSpPr>
          <p:nvPr/>
        </p:nvSpPr>
        <p:spPr bwMode="auto">
          <a:xfrm>
            <a:off x="5815121" y="4105563"/>
            <a:ext cx="1282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切应变</a:t>
            </a:r>
          </a:p>
        </p:txBody>
      </p:sp>
      <p:sp>
        <p:nvSpPr>
          <p:cNvPr id="64608" name="Text Box 96"/>
          <p:cNvSpPr txBox="1">
            <a:spLocks noChangeArrowheads="1"/>
          </p:cNvSpPr>
          <p:nvPr/>
        </p:nvSpPr>
        <p:spPr bwMode="auto">
          <a:xfrm>
            <a:off x="5832338" y="3400004"/>
            <a:ext cx="1208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线应变</a:t>
            </a:r>
          </a:p>
        </p:txBody>
      </p:sp>
      <p:sp>
        <p:nvSpPr>
          <p:cNvPr id="64610" name="Text Box 98"/>
          <p:cNvSpPr txBox="1">
            <a:spLocks noChangeArrowheads="1"/>
          </p:cNvSpPr>
          <p:nvPr/>
        </p:nvSpPr>
        <p:spPr bwMode="auto">
          <a:xfrm>
            <a:off x="4974804" y="3746778"/>
            <a:ext cx="1282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变形</a:t>
            </a:r>
          </a:p>
        </p:txBody>
      </p:sp>
      <p:sp>
        <p:nvSpPr>
          <p:cNvPr id="64611" name="Text Box 99"/>
          <p:cNvSpPr txBox="1">
            <a:spLocks noChangeArrowheads="1"/>
          </p:cNvSpPr>
          <p:nvPr/>
        </p:nvSpPr>
        <p:spPr bwMode="auto">
          <a:xfrm>
            <a:off x="7054904" y="2683247"/>
            <a:ext cx="49244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胡克定律</a:t>
            </a:r>
          </a:p>
        </p:txBody>
      </p:sp>
      <p:graphicFrame>
        <p:nvGraphicFramePr>
          <p:cNvPr id="64612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250106"/>
              </p:ext>
            </p:extLst>
          </p:nvPr>
        </p:nvGraphicFramePr>
        <p:xfrm>
          <a:off x="7450510" y="2624510"/>
          <a:ext cx="1403994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公式" r:id="rId11" imgW="571500" imgH="457200" progId="Equation.3">
                  <p:embed/>
                </p:oleObj>
              </mc:Choice>
              <mc:Fallback>
                <p:oleObj name="公式" r:id="rId11" imgW="571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0510" y="2624510"/>
                        <a:ext cx="1403994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4" name="Text Box 102"/>
          <p:cNvSpPr txBox="1">
            <a:spLocks noChangeArrowheads="1"/>
          </p:cNvSpPr>
          <p:nvPr/>
        </p:nvSpPr>
        <p:spPr bwMode="auto">
          <a:xfrm>
            <a:off x="1406500" y="4698002"/>
            <a:ext cx="1928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稳定性</a:t>
            </a:r>
          </a:p>
        </p:txBody>
      </p:sp>
      <p:sp>
        <p:nvSpPr>
          <p:cNvPr id="32" name="Text Box 52"/>
          <p:cNvSpPr txBox="1">
            <a:spLocks noChangeArrowheads="1"/>
          </p:cNvSpPr>
          <p:nvPr/>
        </p:nvSpPr>
        <p:spPr bwMode="auto">
          <a:xfrm>
            <a:off x="816698" y="5440351"/>
            <a:ext cx="78949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杆件的基本变形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拉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压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、扭转、弯曲、剪切 </a:t>
            </a:r>
          </a:p>
        </p:txBody>
      </p:sp>
      <p:graphicFrame>
        <p:nvGraphicFramePr>
          <p:cNvPr id="33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242850"/>
              </p:ext>
            </p:extLst>
          </p:nvPr>
        </p:nvGraphicFramePr>
        <p:xfrm>
          <a:off x="3539419" y="3468235"/>
          <a:ext cx="3460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公式" r:id="rId13" imgW="164885" imgH="215619" progId="Equation.3">
                  <p:embed/>
                </p:oleObj>
              </mc:Choice>
              <mc:Fallback>
                <p:oleObj name="公式" r:id="rId13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419" y="3468235"/>
                        <a:ext cx="3460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749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4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6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0" dur="75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750"/>
                                        <p:tgtEl>
                                          <p:spTgt spid="6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0" dur="750"/>
                                        <p:tgtEl>
                                          <p:spTgt spid="6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6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6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64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6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6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6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6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6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4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4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4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4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1" dur="500"/>
                                        <p:tgtEl>
                                          <p:spTgt spid="6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64" grpId="0"/>
      <p:bldP spid="64566" grpId="0"/>
      <p:bldP spid="64567" grpId="0"/>
      <p:bldP spid="64571" grpId="0"/>
      <p:bldP spid="64572" grpId="0" animBg="1"/>
      <p:bldP spid="64573" grpId="0"/>
      <p:bldP spid="64574" grpId="0" animBg="1"/>
      <p:bldP spid="64575" grpId="0"/>
      <p:bldP spid="64579" grpId="0"/>
      <p:bldP spid="64580" grpId="0"/>
      <p:bldP spid="64581" grpId="0"/>
      <p:bldP spid="64588" grpId="0"/>
      <p:bldP spid="64589" grpId="0" animBg="1"/>
      <p:bldP spid="64590" grpId="0"/>
      <p:bldP spid="64591" grpId="0" animBg="1"/>
      <p:bldP spid="64603" grpId="0"/>
      <p:bldP spid="64604" grpId="0"/>
      <p:bldP spid="64607" grpId="0"/>
      <p:bldP spid="64608" grpId="0"/>
      <p:bldP spid="64610" grpId="0"/>
      <p:bldP spid="64611" grpId="0"/>
      <p:bldP spid="64614" grpId="0"/>
      <p:bldP spid="3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1735</Words>
  <Application>Microsoft Office PowerPoint</Application>
  <PresentationFormat>全屏显示(4:3)</PresentationFormat>
  <Paragraphs>366</Paragraphs>
  <Slides>26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Monotype Sorts</vt:lpstr>
      <vt:lpstr>黑体</vt:lpstr>
      <vt:lpstr>华文中宋</vt:lpstr>
      <vt:lpstr>楷体</vt:lpstr>
      <vt:lpstr>楷体_GB2312</vt:lpstr>
      <vt:lpstr>隶书</vt:lpstr>
      <vt:lpstr>宋体</vt:lpstr>
      <vt:lpstr>新宋体</vt:lpstr>
      <vt:lpstr>Arial</vt:lpstr>
      <vt:lpstr>Book Antiqua</vt:lpstr>
      <vt:lpstr>Symbol</vt:lpstr>
      <vt:lpstr>Tahoma</vt:lpstr>
      <vt:lpstr>Times New Roman</vt:lpstr>
      <vt:lpstr>Wingdings</vt:lpstr>
      <vt:lpstr>默认设计模板</vt:lpstr>
      <vt:lpstr>Image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liujie</dc:creator>
  <cp:lastModifiedBy>User</cp:lastModifiedBy>
  <cp:revision>331</cp:revision>
  <dcterms:created xsi:type="dcterms:W3CDTF">2003-11-13T15:45:13Z</dcterms:created>
  <dcterms:modified xsi:type="dcterms:W3CDTF">2026-07-27T01:42:02Z</dcterms:modified>
</cp:coreProperties>
</file>