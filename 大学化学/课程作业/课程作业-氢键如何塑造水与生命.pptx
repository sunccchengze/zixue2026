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5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30352"/>
            <a:ext cx="45720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a:ea="Microsoft YaHei">
                <a:solidFill>
                  <a:srgbClr val="8ED4C9"/>
                </a:solidFill>
                <a:latin typeface="Microsoft YaHei"/>
              </a:rPr>
              <a:t>大学化学 · 概念分享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43000"/>
            <a:ext cx="45720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4600" b="1" a:ea="Microsoft YaHei">
                <a:solidFill>
                  <a:srgbClr val="FFFFFF"/>
                </a:solidFill>
                <a:latin typeface="Microsoft YaHei"/>
              </a:rPr>
              <a:t>氢键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057400"/>
            <a:ext cx="5852160" cy="1298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 a:ea="Microsoft YaHei">
                <a:solidFill>
                  <a:srgbClr val="E9F1F1"/>
                </a:solidFill>
                <a:latin typeface="Microsoft YaHei"/>
              </a:rPr>
              <a:t>一条看不见的相互作用，
怎样塑造水与生命？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30752"/>
            <a:ext cx="59436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 a:ea="Microsoft YaHei">
                <a:solidFill>
                  <a:srgbClr val="B8C9CF"/>
                </a:solidFill>
                <a:latin typeface="Microsoft YaHei"/>
              </a:rPr>
              <a:t>从 D—H···A 的微观图景，到水的反常性质、DNA 与蛋白质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4700016"/>
            <a:ext cx="5120640" cy="713232"/>
          </a:xfrm>
          <a:prstGeom prst="roundRect">
            <a:avLst/>
          </a:prstGeom>
          <a:solidFill>
            <a:srgbClr val="203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4882896"/>
            <a:ext cx="47548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a:ea="Microsoft YaHei">
                <a:solidFill>
                  <a:srgbClr val="FFFFFF"/>
                </a:solidFill>
                <a:latin typeface="Microsoft YaHei"/>
              </a:rPr>
              <a:t>孙承泽  |  能动强基2501  |  2253710052</a:t>
            </a:r>
          </a:p>
        </p:txBody>
      </p:sp>
      <p:sp>
        <p:nvSpPr>
          <p:cNvPr id="8" name="Oval 7"/>
          <p:cNvSpPr/>
          <p:nvPr/>
        </p:nvSpPr>
        <p:spPr>
          <a:xfrm>
            <a:off x="8284463" y="1883664"/>
            <a:ext cx="713232" cy="713232"/>
          </a:xfrm>
          <a:prstGeom prst="ellipse">
            <a:avLst/>
          </a:prstGeom>
          <a:solidFill>
            <a:srgbClr val="1F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84463" y="1892807"/>
            <a:ext cx="713232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a:ea="Microsoft YaHei">
                <a:solidFill>
                  <a:srgbClr val="FFFFFF"/>
                </a:solidFill>
                <a:latin typeface="Microsoft YaHei"/>
              </a:rPr>
              <a:t>O</a:t>
            </a:r>
          </a:p>
        </p:txBody>
      </p:sp>
      <p:sp>
        <p:nvSpPr>
          <p:cNvPr id="10" name="Oval 9"/>
          <p:cNvSpPr/>
          <p:nvPr/>
        </p:nvSpPr>
        <p:spPr>
          <a:xfrm>
            <a:off x="7694676" y="2683764"/>
            <a:ext cx="393192" cy="3931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94676" y="2692908"/>
            <a:ext cx="393192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a:ea="Microsoft YaHei">
                <a:solidFill>
                  <a:srgbClr val="172B3A"/>
                </a:solidFill>
                <a:latin typeface="Microsoft YaHei"/>
              </a:rPr>
              <a:t>H</a:t>
            </a:r>
          </a:p>
        </p:txBody>
      </p:sp>
      <p:sp>
        <p:nvSpPr>
          <p:cNvPr id="12" name="Oval 11"/>
          <p:cNvSpPr/>
          <p:nvPr/>
        </p:nvSpPr>
        <p:spPr>
          <a:xfrm>
            <a:off x="9194292" y="2683764"/>
            <a:ext cx="393192" cy="3931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94292" y="2692908"/>
            <a:ext cx="393192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a:ea="Microsoft YaHei">
                <a:solidFill>
                  <a:srgbClr val="172B3A"/>
                </a:solidFill>
                <a:latin typeface="Microsoft YaHei"/>
              </a:rPr>
              <a:t>H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8065008" y="2496312"/>
            <a:ext cx="301752" cy="219456"/>
          </a:xfrm>
          <a:prstGeom prst="line">
            <a:avLst/>
          </a:prstGeom>
          <a:ln w="25400">
            <a:solidFill>
              <a:srgbClr val="B9D6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915400" y="2496312"/>
            <a:ext cx="301752" cy="219456"/>
          </a:xfrm>
          <a:prstGeom prst="line">
            <a:avLst/>
          </a:prstGeom>
          <a:ln w="25400">
            <a:solidFill>
              <a:srgbClr val="B9D6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10387584" y="3648456"/>
            <a:ext cx="713232" cy="713232"/>
          </a:xfrm>
          <a:prstGeom prst="ellipse">
            <a:avLst/>
          </a:prstGeom>
          <a:solidFill>
            <a:srgbClr val="F07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87584" y="3657599"/>
            <a:ext cx="713232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a:ea="Microsoft YaHei">
                <a:solidFill>
                  <a:srgbClr val="FFFFFF"/>
                </a:solidFill>
                <a:latin typeface="Microsoft YaHei"/>
              </a:rPr>
              <a:t>O</a:t>
            </a:r>
          </a:p>
        </p:txBody>
      </p:sp>
      <p:sp>
        <p:nvSpPr>
          <p:cNvPr id="18" name="Oval 17"/>
          <p:cNvSpPr/>
          <p:nvPr/>
        </p:nvSpPr>
        <p:spPr>
          <a:xfrm>
            <a:off x="9797796" y="4448556"/>
            <a:ext cx="393192" cy="3931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97796" y="4457700"/>
            <a:ext cx="393192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a:ea="Microsoft YaHei">
                <a:solidFill>
                  <a:srgbClr val="172B3A"/>
                </a:solidFill>
                <a:latin typeface="Microsoft YaHei"/>
              </a:rPr>
              <a:t>H</a:t>
            </a:r>
          </a:p>
        </p:txBody>
      </p:sp>
      <p:sp>
        <p:nvSpPr>
          <p:cNvPr id="20" name="Oval 19"/>
          <p:cNvSpPr/>
          <p:nvPr/>
        </p:nvSpPr>
        <p:spPr>
          <a:xfrm>
            <a:off x="11297412" y="4448556"/>
            <a:ext cx="393192" cy="3931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297412" y="4457700"/>
            <a:ext cx="393192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a:ea="Microsoft YaHei">
                <a:solidFill>
                  <a:srgbClr val="172B3A"/>
                </a:solidFill>
                <a:latin typeface="Microsoft YaHei"/>
              </a:rPr>
              <a:t>H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10168128" y="4261104"/>
            <a:ext cx="301752" cy="219456"/>
          </a:xfrm>
          <a:prstGeom prst="line">
            <a:avLst/>
          </a:prstGeom>
          <a:ln w="25400">
            <a:solidFill>
              <a:srgbClr val="B9D6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1018520" y="4261104"/>
            <a:ext cx="301752" cy="219456"/>
          </a:xfrm>
          <a:prstGeom prst="line">
            <a:avLst/>
          </a:prstGeom>
          <a:ln w="25400">
            <a:solidFill>
              <a:srgbClr val="B9D6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083296" y="3054096"/>
            <a:ext cx="1655064" cy="1216152"/>
          </a:xfrm>
          <a:prstGeom prst="line">
            <a:avLst/>
          </a:prstGeom>
          <a:ln w="25400">
            <a:solidFill>
              <a:srgbClr val="EABF6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549640" y="3547872"/>
            <a:ext cx="10058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 a:ea="Microsoft YaHei">
                <a:solidFill>
                  <a:srgbClr val="EABF62"/>
                </a:solidFill>
                <a:latin typeface="Microsoft YaHei"/>
              </a:rPr>
              <a:t>氢键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67344" y="5605272"/>
            <a:ext cx="21031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100" b="1" a:ea="Microsoft YaHei">
                <a:solidFill>
                  <a:srgbClr val="FFFFFF"/>
                </a:solidFill>
                <a:latin typeface="Microsoft YaHei"/>
              </a:rPr>
              <a:t>D—H···A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10528"/>
            <a:ext cx="36576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 a:ea="Microsoft YaHei">
                <a:solidFill>
                  <a:srgbClr val="A9BBC2"/>
                </a:solidFill>
                <a:latin typeface="Microsoft YaHei"/>
              </a:rPr>
              <a:t>大学化学 · 课堂分享作业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27080" y="6492240"/>
            <a:ext cx="7315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 a:ea="Microsoft YaHei">
                <a:solidFill>
                  <a:srgbClr val="A9BBC2"/>
                </a:solidFill>
                <a:latin typeface="Microsoft YaHei"/>
              </a:rPr>
              <a:t>01 / 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058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a:ea="Microsoft YaHei">
                <a:solidFill>
                  <a:srgbClr val="1F9D91"/>
                </a:solidFill>
                <a:latin typeface="Microsoft YaHei"/>
              </a:rPr>
              <a:t>01 · 先看反常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 a:ea="Microsoft YaHei">
                <a:solidFill>
                  <a:srgbClr val="172B3A"/>
                </a:solidFill>
                <a:latin typeface="Microsoft YaHei"/>
              </a:rPr>
              <a:t>水为什么“不按常理出牌”？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789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 a:ea="Microsoft YaHei">
                <a:solidFill>
                  <a:srgbClr val="58707E"/>
                </a:solidFill>
                <a:latin typeface="Microsoft YaHei"/>
              </a:rPr>
              <a:t>两个日常事实，把问题指向分子间作用力。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29968"/>
            <a:ext cx="5212080" cy="3310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63640" y="2029968"/>
            <a:ext cx="5212080" cy="3310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340864"/>
            <a:ext cx="44805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 a:ea="Microsoft YaHei">
                <a:solidFill>
                  <a:srgbClr val="1F9D91"/>
                </a:solidFill>
                <a:latin typeface="Microsoft YaHei"/>
              </a:rPr>
              <a:t>01  沸点偏高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889504"/>
            <a:ext cx="443484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 a:ea="Microsoft YaHei">
                <a:solidFill>
                  <a:srgbClr val="172B3A"/>
                </a:solidFill>
                <a:latin typeface="Microsoft YaHei"/>
              </a:rPr>
              <a:t>同族氢化物里，水的沸点显著高于 H₂S。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3968496"/>
            <a:ext cx="438912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 a:ea="Microsoft YaHei">
                <a:solidFill>
                  <a:srgbClr val="58707E"/>
                </a:solidFill>
                <a:latin typeface="Microsoft YaHei"/>
              </a:rPr>
              <a:t>只看分子量与色散力，解释不了全部差异。
水分子之间还有方向性较强的吸引。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5392" y="2340864"/>
            <a:ext cx="44805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 a:ea="Microsoft YaHei">
                <a:solidFill>
                  <a:srgbClr val="F07962"/>
                </a:solidFill>
                <a:latin typeface="Microsoft YaHei"/>
              </a:rPr>
              <a:t>02  冰会浮在水上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2889504"/>
            <a:ext cx="443484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 a:ea="Microsoft YaHei">
                <a:solidFill>
                  <a:srgbClr val="172B3A"/>
                </a:solidFill>
                <a:latin typeface="Microsoft YaHei"/>
              </a:rPr>
              <a:t>结冰后，水的密度反而变小。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3968496"/>
            <a:ext cx="443484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 a:ea="Microsoft YaHei">
                <a:solidFill>
                  <a:srgbClr val="58707E"/>
                </a:solidFill>
                <a:latin typeface="Microsoft YaHei"/>
              </a:rPr>
              <a:t>冰的氢键网络形成较开放的排列；融化时，
部分网络塌缩，分子能排得更紧。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57400" y="5605272"/>
            <a:ext cx="8092440" cy="502920"/>
          </a:xfrm>
          <a:prstGeom prst="roundRect">
            <a:avLst/>
          </a:prstGeom>
          <a:solidFill>
            <a:srgbClr val="DD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40280" y="5705856"/>
            <a:ext cx="7726679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 a:ea="Microsoft YaHei">
                <a:solidFill>
                  <a:srgbClr val="172B3A"/>
                </a:solidFill>
                <a:latin typeface="Microsoft YaHei"/>
              </a:rPr>
              <a:t>主问题：一种分子间吸引，如何从“微观很小”累积成“宏观很大”？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36576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 a:ea="Microsoft YaHei">
                <a:solidFill>
                  <a:srgbClr val="58707E"/>
                </a:solidFill>
                <a:latin typeface="Microsoft YaHei"/>
              </a:rPr>
              <a:t>大学化学 · 课堂分享作业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27080" y="6492240"/>
            <a:ext cx="7315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 a:ea="Microsoft YaHei">
                <a:solidFill>
                  <a:srgbClr val="58707E"/>
                </a:solidFill>
                <a:latin typeface="Microsoft YaHei"/>
              </a:rPr>
              <a:t>02 / 09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058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a:ea="Microsoft YaHei">
                <a:solidFill>
                  <a:srgbClr val="1F9D91"/>
                </a:solidFill>
                <a:latin typeface="Microsoft YaHei"/>
              </a:rPr>
              <a:t>02 · 看分子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 a:ea="Microsoft YaHei">
                <a:solidFill>
                  <a:srgbClr val="172B3A"/>
                </a:solidFill>
                <a:latin typeface="Microsoft YaHei"/>
              </a:rPr>
              <a:t>氢键要先凑齐“供体”与“受体”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789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 a:ea="Microsoft YaHei">
                <a:solidFill>
                  <a:srgbClr val="58707E"/>
                </a:solidFill>
                <a:latin typeface="Microsoft YaHei"/>
              </a:rPr>
              <a:t>典型教学模型：D—H···A；重点不是看到 H 就判氢键。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57400"/>
            <a:ext cx="5166360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166360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2386584"/>
            <a:ext cx="44805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 a:ea="Microsoft YaHei">
                <a:solidFill>
                  <a:srgbClr val="1F9D91"/>
                </a:solidFill>
                <a:latin typeface="Microsoft YaHei"/>
              </a:rPr>
              <a:t>供体 donor：D—H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" y="2907792"/>
            <a:ext cx="4434840" cy="7863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0" a:ea="Microsoft YaHei">
                <a:solidFill>
                  <a:srgbClr val="172B3A"/>
                </a:solidFill>
                <a:latin typeface="Microsoft YaHei"/>
              </a:rPr>
              <a:t>D 与 H 之间的共价键极化，让 H 带有较强的部分正电。</a:t>
            </a:r>
          </a:p>
        </p:txBody>
      </p:sp>
      <p:sp>
        <p:nvSpPr>
          <p:cNvPr id="9" name="Oval 8"/>
          <p:cNvSpPr/>
          <p:nvPr/>
        </p:nvSpPr>
        <p:spPr>
          <a:xfrm>
            <a:off x="1938528" y="4041648"/>
            <a:ext cx="603504" cy="603504"/>
          </a:xfrm>
          <a:prstGeom prst="ellipse">
            <a:avLst/>
          </a:prstGeom>
          <a:solidFill>
            <a:srgbClr val="1F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38528" y="4050791"/>
            <a:ext cx="603504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a:ea="Microsoft YaHei">
                <a:solidFill>
                  <a:srgbClr val="FFFFFF"/>
                </a:solidFill>
                <a:latin typeface="Microsoft YaHei"/>
              </a:rPr>
              <a:t>O</a:t>
            </a:r>
          </a:p>
        </p:txBody>
      </p:sp>
      <p:sp>
        <p:nvSpPr>
          <p:cNvPr id="11" name="Oval 10"/>
          <p:cNvSpPr/>
          <p:nvPr/>
        </p:nvSpPr>
        <p:spPr>
          <a:xfrm>
            <a:off x="3195828" y="4137660"/>
            <a:ext cx="411480" cy="4114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95828" y="4146804"/>
            <a:ext cx="411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a:ea="Microsoft YaHei">
                <a:solidFill>
                  <a:srgbClr val="172B3A"/>
                </a:solidFill>
                <a:latin typeface="Microsoft YaHei"/>
              </a:rPr>
              <a:t>H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32888" y="4343400"/>
            <a:ext cx="658368" cy="0"/>
          </a:xfrm>
          <a:prstGeom prst="line">
            <a:avLst/>
          </a:prstGeom>
          <a:ln w="38100">
            <a:solidFill>
              <a:srgbClr val="17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039112" y="4709160"/>
            <a:ext cx="457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a:ea="Microsoft YaHei">
                <a:solidFill>
                  <a:srgbClr val="1F9D91"/>
                </a:solidFill>
                <a:latin typeface="Microsoft YaHei"/>
              </a:rPr>
              <a:t>δ−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4709160"/>
            <a:ext cx="457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a:ea="Microsoft YaHei">
                <a:solidFill>
                  <a:srgbClr val="F07962"/>
                </a:solidFill>
                <a:latin typeface="Microsoft YaHei"/>
              </a:rPr>
              <a:t>δ+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2386584"/>
            <a:ext cx="44805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 a:ea="Microsoft YaHei">
                <a:solidFill>
                  <a:srgbClr val="F07962"/>
                </a:solidFill>
                <a:latin typeface="Microsoft YaHei"/>
              </a:rPr>
              <a:t>受体 acceptor：富电子区域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2907792"/>
            <a:ext cx="443484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0" a:ea="Microsoft YaHei">
                <a:solidFill>
                  <a:srgbClr val="172B3A"/>
                </a:solidFill>
                <a:latin typeface="Microsoft YaHei"/>
              </a:rPr>
              <a:t>常见为带孤对电子的原子；也可能是 π 电子等富电子区域。</a:t>
            </a:r>
          </a:p>
        </p:txBody>
      </p:sp>
      <p:sp>
        <p:nvSpPr>
          <p:cNvPr id="18" name="Oval 17"/>
          <p:cNvSpPr/>
          <p:nvPr/>
        </p:nvSpPr>
        <p:spPr>
          <a:xfrm>
            <a:off x="8019288" y="4041648"/>
            <a:ext cx="603504" cy="603504"/>
          </a:xfrm>
          <a:prstGeom prst="ellipse">
            <a:avLst/>
          </a:prstGeom>
          <a:solidFill>
            <a:srgbClr val="F07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19288" y="4050791"/>
            <a:ext cx="603504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a:ea="Microsoft YaHei">
                <a:solidFill>
                  <a:srgbClr val="FFFFFF"/>
                </a:solidFill>
                <a:latin typeface="Microsoft YaHei"/>
              </a:rPr>
              <a:t>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13648" y="4069080"/>
            <a:ext cx="411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 a:ea="Microsoft YaHei">
                <a:solidFill>
                  <a:srgbClr val="172B3A"/>
                </a:solidFill>
                <a:latin typeface="Microsoft YaHei"/>
              </a:rPr>
              <a:t>••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25712" y="4224528"/>
            <a:ext cx="1463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a:ea="Microsoft YaHei">
                <a:solidFill>
                  <a:srgbClr val="58707E"/>
                </a:solidFill>
                <a:latin typeface="Microsoft YaHei"/>
              </a:rPr>
              <a:t>孤对电子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28800" y="5687568"/>
            <a:ext cx="8549640" cy="512064"/>
          </a:xfrm>
          <a:prstGeom prst="roundRect">
            <a:avLst/>
          </a:prstGeom>
          <a:solidFill>
            <a:srgbClr val="EA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93392" y="5797296"/>
            <a:ext cx="8229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 a:ea="Microsoft YaHei">
                <a:solidFill>
                  <a:srgbClr val="172B3A"/>
                </a:solidFill>
                <a:latin typeface="Microsoft YaHei"/>
              </a:rPr>
              <a:t>常见强氢键组合是 O—H、N—H、F—H 作供体；受体范围不只限于 O / N / F。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36576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 a:ea="Microsoft YaHei">
                <a:solidFill>
                  <a:srgbClr val="58707E"/>
                </a:solidFill>
                <a:latin typeface="Microsoft YaHei"/>
              </a:rPr>
              <a:t>大学化学 · 课堂分享作业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27080" y="6492240"/>
            <a:ext cx="7315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 a:ea="Microsoft YaHei">
                <a:solidFill>
                  <a:srgbClr val="58707E"/>
                </a:solidFill>
                <a:latin typeface="Microsoft YaHei"/>
              </a:rPr>
              <a:t>03 / 09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058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a:ea="Microsoft YaHei">
                <a:solidFill>
                  <a:srgbClr val="1F9D91"/>
                </a:solidFill>
                <a:latin typeface="Microsoft YaHei"/>
              </a:rPr>
              <a:t>03 · 符号落地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 a:ea="Microsoft YaHei">
                <a:solidFill>
                  <a:srgbClr val="172B3A"/>
                </a:solidFill>
                <a:latin typeface="Microsoft YaHei"/>
              </a:rPr>
              <a:t>把氢键写成：D—H···A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789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 a:ea="Microsoft YaHei">
                <a:solidFill>
                  <a:srgbClr val="58707E"/>
                </a:solidFill>
                <a:latin typeface="Microsoft YaHei"/>
              </a:rPr>
              <a:t>实线是共价键；点线表示氢键相互作用，不是另一根普通共价键。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10561320" cy="3611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59736" y="3310128"/>
            <a:ext cx="841248" cy="841248"/>
          </a:xfrm>
          <a:prstGeom prst="ellipse">
            <a:avLst/>
          </a:prstGeom>
          <a:solidFill>
            <a:srgbClr val="1F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59736" y="3319272"/>
            <a:ext cx="841248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a:ea="Microsoft YaHei">
                <a:solidFill>
                  <a:srgbClr val="FFFFFF"/>
                </a:solidFill>
                <a:latin typeface="Microsoft YaHei"/>
              </a:rPr>
              <a:t>D</a:t>
            </a:r>
          </a:p>
        </p:txBody>
      </p:sp>
      <p:sp>
        <p:nvSpPr>
          <p:cNvPr id="8" name="Oval 7"/>
          <p:cNvSpPr/>
          <p:nvPr/>
        </p:nvSpPr>
        <p:spPr>
          <a:xfrm>
            <a:off x="4480560" y="3410712"/>
            <a:ext cx="640080" cy="640080"/>
          </a:xfrm>
          <a:prstGeom prst="ellipse">
            <a:avLst/>
          </a:prstGeom>
          <a:solidFill>
            <a:srgbClr val="EABF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3419856"/>
            <a:ext cx="6400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100" b="1" a:ea="Microsoft YaHei">
                <a:solidFill>
                  <a:srgbClr val="172B3A"/>
                </a:solidFill>
                <a:latin typeface="Microsoft YaHei"/>
              </a:rPr>
              <a:t>H</a:t>
            </a:r>
          </a:p>
        </p:txBody>
      </p:sp>
      <p:sp>
        <p:nvSpPr>
          <p:cNvPr id="10" name="Oval 9"/>
          <p:cNvSpPr/>
          <p:nvPr/>
        </p:nvSpPr>
        <p:spPr>
          <a:xfrm>
            <a:off x="7168896" y="3310128"/>
            <a:ext cx="841248" cy="841248"/>
          </a:xfrm>
          <a:prstGeom prst="ellipse">
            <a:avLst/>
          </a:prstGeom>
          <a:solidFill>
            <a:srgbClr val="F07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68896" y="3319272"/>
            <a:ext cx="841248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a:ea="Microsoft YaHei">
                <a:solidFill>
                  <a:srgbClr val="FFFFFF"/>
                </a:solidFill>
                <a:latin typeface="Microsoft YaHei"/>
              </a:rPr>
              <a:t>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300984" y="3730752"/>
            <a:ext cx="1179576" cy="0"/>
          </a:xfrm>
          <a:prstGeom prst="line">
            <a:avLst/>
          </a:prstGeom>
          <a:ln w="38100">
            <a:solidFill>
              <a:srgbClr val="17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120640" y="3730752"/>
            <a:ext cx="2029968" cy="0"/>
          </a:xfrm>
          <a:prstGeom prst="line">
            <a:avLst/>
          </a:prstGeom>
          <a:ln w="25400">
            <a:solidFill>
              <a:srgbClr val="1F9D9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920240" y="2496312"/>
            <a:ext cx="3474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 a:ea="Microsoft YaHei">
                <a:solidFill>
                  <a:srgbClr val="1F9D91"/>
                </a:solidFill>
                <a:latin typeface="Microsoft YaHei"/>
              </a:rPr>
              <a:t>供体部分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496312"/>
            <a:ext cx="24688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 a:ea="Microsoft YaHei">
                <a:solidFill>
                  <a:srgbClr val="F07962"/>
                </a:solidFill>
                <a:latin typeface="Microsoft YaHei"/>
              </a:rPr>
              <a:t>受体（富电子区）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4160520"/>
            <a:ext cx="1828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0" a:ea="Microsoft YaHei">
                <a:solidFill>
                  <a:srgbClr val="58707E"/>
                </a:solidFill>
                <a:latin typeface="Microsoft YaHei"/>
              </a:rPr>
              <a:t>D—H 共价键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4160520"/>
            <a:ext cx="19202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 a:ea="Microsoft YaHei">
                <a:solidFill>
                  <a:srgbClr val="1F9D91"/>
                </a:solidFill>
                <a:latin typeface="Microsoft YaHei"/>
              </a:rPr>
              <a:t>H···A 氢键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892040"/>
            <a:ext cx="96012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0" a:ea="Microsoft YaHei">
                <a:solidFill>
                  <a:srgbClr val="172B3A"/>
                </a:solidFill>
                <a:latin typeface="Microsoft YaHei"/>
              </a:rPr>
              <a:t>相互作用常有方向性：D—H···A 越接近线性，通常越有利；但不能把某个角度阈值当成所有体系的硬性定义。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5925312"/>
            <a:ext cx="9144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0" a:ea="Microsoft YaHei">
                <a:solidFill>
                  <a:srgbClr val="58707E"/>
                </a:solidFill>
                <a:latin typeface="Microsoft YaHei"/>
              </a:rPr>
              <a:t>例：水分子之间 O—H···O；DNA 碱基之间 N—H···O / N。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36576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 a:ea="Microsoft YaHei">
                <a:solidFill>
                  <a:srgbClr val="58707E"/>
                </a:solidFill>
                <a:latin typeface="Microsoft YaHei"/>
              </a:rPr>
              <a:t>大学化学 · 课堂分享作业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27080" y="6492240"/>
            <a:ext cx="7315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 a:ea="Microsoft YaHei">
                <a:solidFill>
                  <a:srgbClr val="58707E"/>
                </a:solidFill>
                <a:latin typeface="Microsoft YaHei"/>
              </a:rPr>
              <a:t>04 / 09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058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a:ea="Microsoft YaHei">
                <a:solidFill>
                  <a:srgbClr val="1F9D91"/>
                </a:solidFill>
                <a:latin typeface="Microsoft YaHei"/>
              </a:rPr>
              <a:t>04 · 追问本质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 a:ea="Microsoft YaHei">
                <a:solidFill>
                  <a:srgbClr val="172B3A"/>
                </a:solidFill>
                <a:latin typeface="Microsoft YaHei"/>
              </a:rPr>
              <a:t>它不是“一种神秘胶水”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789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 a:ea="Microsoft YaHei">
                <a:solidFill>
                  <a:srgbClr val="58707E"/>
                </a:solidFill>
                <a:latin typeface="Microsoft YaHei"/>
              </a:rPr>
              <a:t>氢键是多种物理贡献共同形成的吸引；教材入门可先抓住静电图像。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2011680"/>
            <a:ext cx="6720840" cy="39502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2331720"/>
            <a:ext cx="59436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 a:ea="Microsoft YaHei">
                <a:solidFill>
                  <a:srgbClr val="172B3A"/>
                </a:solidFill>
                <a:latin typeface="Microsoft YaHei"/>
              </a:rPr>
              <a:t>一个够用、但不冒充完整的图像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907792"/>
            <a:ext cx="5989320" cy="2514600"/>
          </a:xfrm>
          <a:prstGeom prst="rect">
            <a:avLst/>
          </a:prstGeom>
          <a:noFill/>
        </p:spPr>
        <p:txBody>
          <a:bodyPr wrap="square" lIns="45720" rIns="45720" bIns="18288">
            <a:spAutoFit/>
          </a:bodyPr>
          <a:lstStyle/>
          <a:p>
            <a:pPr>
              <a:spcAft>
                <a:spcPts val="1300"/>
              </a:spcAft>
            </a:pPr>
            <a:r>
              <a:rPr sz="1500" b="1" a:ea="Microsoft YaHei">
                <a:solidFill>
                  <a:srgbClr val="1F9D91"/>
                </a:solidFill>
                <a:latin typeface="Microsoft YaHei"/>
              </a:rPr>
              <a:t>静电吸引：</a:t>
            </a:r>
            <a:r>
              <a:rPr sz="1500" a:ea="Microsoft YaHei">
                <a:solidFill>
                  <a:srgbClr val="172B3A"/>
                </a:solidFill>
                <a:latin typeface="Microsoft YaHei"/>
              </a:rPr>
              <a:t>极化的 Hδ+ 与受体富电子区域相互吸引，是直觉起点。</a:t>
            </a:r>
          </a:p>
          <a:p>
            <a:pPr>
              <a:spcAft>
                <a:spcPts val="1300"/>
              </a:spcAft>
            </a:pPr>
            <a:r>
              <a:rPr sz="1500" b="1" a:ea="Microsoft YaHei">
                <a:solidFill>
                  <a:srgbClr val="1F9D91"/>
                </a:solidFill>
                <a:latin typeface="Microsoft YaHei"/>
              </a:rPr>
              <a:t>电子重排：</a:t>
            </a:r>
            <a:r>
              <a:rPr sz="1500" a:ea="Microsoft YaHei">
                <a:solidFill>
                  <a:srgbClr val="172B3A"/>
                </a:solidFill>
                <a:latin typeface="Microsoft YaHei"/>
              </a:rPr>
              <a:t>受体电子云可被极化；部分体系还有供体—受体电荷转移贡献。</a:t>
            </a:r>
          </a:p>
          <a:p>
            <a:pPr>
              <a:spcAft>
                <a:spcPts val="1300"/>
              </a:spcAft>
            </a:pPr>
            <a:r>
              <a:rPr sz="1500" b="1" a:ea="Microsoft YaHei">
                <a:solidFill>
                  <a:srgbClr val="1F9D91"/>
                </a:solidFill>
                <a:latin typeface="Microsoft YaHei"/>
              </a:rPr>
              <a:t>方向性：</a:t>
            </a:r>
            <a:r>
              <a:rPr sz="1500" a:ea="Microsoft YaHei">
                <a:solidFill>
                  <a:srgbClr val="172B3A"/>
                </a:solidFill>
                <a:latin typeface="Microsoft YaHei"/>
              </a:rPr>
              <a:t>相对取向改变轨道重叠与静电分布，因此氢键不是各向同性的“球形粘住”。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54112" y="2011680"/>
            <a:ext cx="3730752" cy="3950208"/>
          </a:xfrm>
          <a:prstGeom prst="roundRect">
            <a:avLst>
              <a:gd name="adj" fmla="val 12000"/>
            </a:avLst>
          </a:prstGeom>
          <a:solidFill>
            <a:srgbClr val="102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65008" y="2350008"/>
            <a:ext cx="30175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 a:ea="Microsoft YaHei">
                <a:solidFill>
                  <a:srgbClr val="8ED4C9"/>
                </a:solidFill>
                <a:latin typeface="Microsoft YaHei"/>
              </a:rPr>
              <a:t>避免两个误区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65008" y="2953512"/>
            <a:ext cx="2971800" cy="2011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 a:ea="Microsoft YaHei">
                <a:solidFill>
                  <a:srgbClr val="FFFFFF"/>
                </a:solidFill>
                <a:latin typeface="Microsoft YaHei"/>
              </a:rPr>
              <a:t>×  把氢键说成普通共价键
×  认为只有静电力、没有其他贡献
×  认为任意 X—H 都能形成强氢键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65008" y="5330952"/>
            <a:ext cx="30175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a:ea="Microsoft YaHei">
                <a:solidFill>
                  <a:srgbClr val="EABF62"/>
                </a:solidFill>
                <a:latin typeface="Microsoft YaHei"/>
              </a:rPr>
              <a:t>定义看证据；模型看尺度。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6126480"/>
            <a:ext cx="1024128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0" a:ea="Microsoft YaHei">
                <a:solidFill>
                  <a:srgbClr val="58707E"/>
                </a:solidFill>
                <a:latin typeface="Microsoft YaHei"/>
              </a:rPr>
              <a:t>能量不是固定常数：受分子、几何、溶剂与环境影响，存在连续谱。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36576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 a:ea="Microsoft YaHei">
                <a:solidFill>
                  <a:srgbClr val="58707E"/>
                </a:solidFill>
                <a:latin typeface="Microsoft YaHei"/>
              </a:rPr>
              <a:t>大学化学 · 课堂分享作业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27080" y="6492240"/>
            <a:ext cx="7315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 a:ea="Microsoft YaHei">
                <a:solidFill>
                  <a:srgbClr val="58707E"/>
                </a:solidFill>
                <a:latin typeface="Microsoft YaHei"/>
              </a:rPr>
              <a:t>05 / 09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058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a:ea="Microsoft YaHei">
                <a:solidFill>
                  <a:srgbClr val="1F9D91"/>
                </a:solidFill>
                <a:latin typeface="Microsoft YaHei"/>
              </a:rPr>
              <a:t>05 · 从微观到宏观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 a:ea="Microsoft YaHei">
                <a:solidFill>
                  <a:srgbClr val="172B3A"/>
                </a:solidFill>
                <a:latin typeface="Microsoft YaHei"/>
              </a:rPr>
              <a:t>单个不必惊人，网络可以改变世界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789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 a:ea="Microsoft YaHei">
                <a:solidFill>
                  <a:srgbClr val="58707E"/>
                </a:solidFill>
                <a:latin typeface="Microsoft YaHei"/>
              </a:rPr>
              <a:t>液态水中氢键持续形成、断裂与重组；宏观性质来自动态网络，不是静态“每分子固定绑四根”。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93392"/>
            <a:ext cx="5212080" cy="3611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36208" y="1993392"/>
            <a:ext cx="5212080" cy="3611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44805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 a:ea="Microsoft YaHei">
                <a:solidFill>
                  <a:srgbClr val="1F9D91"/>
                </a:solidFill>
                <a:latin typeface="Microsoft YaHei"/>
              </a:rPr>
              <a:t>液态水：动态网络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28800" y="3401568"/>
            <a:ext cx="1170432" cy="0"/>
          </a:xfrm>
          <a:prstGeom prst="line">
            <a:avLst/>
          </a:prstGeom>
          <a:ln w="19050">
            <a:solidFill>
              <a:srgbClr val="EABF6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999232" y="3401568"/>
            <a:ext cx="1161288" cy="0"/>
          </a:xfrm>
          <a:prstGeom prst="line">
            <a:avLst/>
          </a:prstGeom>
          <a:ln w="19050">
            <a:solidFill>
              <a:srgbClr val="EABF6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28800" y="3401568"/>
            <a:ext cx="585216" cy="1005840"/>
          </a:xfrm>
          <a:prstGeom prst="line">
            <a:avLst/>
          </a:prstGeom>
          <a:ln w="19050">
            <a:solidFill>
              <a:srgbClr val="EABF6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2414016" y="3401568"/>
            <a:ext cx="585216" cy="1005840"/>
          </a:xfrm>
          <a:prstGeom prst="line">
            <a:avLst/>
          </a:prstGeom>
          <a:ln w="19050">
            <a:solidFill>
              <a:srgbClr val="EABF6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999232" y="3401568"/>
            <a:ext cx="585216" cy="1005840"/>
          </a:xfrm>
          <a:prstGeom prst="line">
            <a:avLst/>
          </a:prstGeom>
          <a:ln w="19050">
            <a:solidFill>
              <a:srgbClr val="EABF6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3584448" y="3401568"/>
            <a:ext cx="576072" cy="1005840"/>
          </a:xfrm>
          <a:prstGeom prst="line">
            <a:avLst/>
          </a:prstGeom>
          <a:ln w="19050">
            <a:solidFill>
              <a:srgbClr val="EABF6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414016" y="4407408"/>
            <a:ext cx="1170432" cy="0"/>
          </a:xfrm>
          <a:prstGeom prst="line">
            <a:avLst/>
          </a:prstGeom>
          <a:ln w="19050">
            <a:solidFill>
              <a:srgbClr val="EABF6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584448" y="4407408"/>
            <a:ext cx="1170432" cy="0"/>
          </a:xfrm>
          <a:prstGeom prst="line">
            <a:avLst/>
          </a:prstGeom>
          <a:ln w="19050">
            <a:solidFill>
              <a:srgbClr val="EABF6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1623060" y="3195828"/>
            <a:ext cx="411480" cy="411480"/>
          </a:xfrm>
          <a:prstGeom prst="ellipse">
            <a:avLst/>
          </a:prstGeom>
          <a:solidFill>
            <a:srgbClr val="1F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23060" y="3204972"/>
            <a:ext cx="411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a:ea="Microsoft YaHei">
                <a:solidFill>
                  <a:srgbClr val="FFFFFF"/>
                </a:solidFill>
                <a:latin typeface="Microsoft YaHei"/>
              </a:rPr>
              <a:t>O</a:t>
            </a:r>
          </a:p>
        </p:txBody>
      </p:sp>
      <p:sp>
        <p:nvSpPr>
          <p:cNvPr id="18" name="Oval 17"/>
          <p:cNvSpPr/>
          <p:nvPr/>
        </p:nvSpPr>
        <p:spPr>
          <a:xfrm>
            <a:off x="2793491" y="3195828"/>
            <a:ext cx="411480" cy="411480"/>
          </a:xfrm>
          <a:prstGeom prst="ellipse">
            <a:avLst/>
          </a:prstGeom>
          <a:solidFill>
            <a:srgbClr val="1F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93491" y="3204972"/>
            <a:ext cx="411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a:ea="Microsoft YaHei">
                <a:solidFill>
                  <a:srgbClr val="FFFFFF"/>
                </a:solidFill>
                <a:latin typeface="Microsoft YaHei"/>
              </a:rPr>
              <a:t>O</a:t>
            </a:r>
          </a:p>
        </p:txBody>
      </p:sp>
      <p:sp>
        <p:nvSpPr>
          <p:cNvPr id="20" name="Oval 19"/>
          <p:cNvSpPr/>
          <p:nvPr/>
        </p:nvSpPr>
        <p:spPr>
          <a:xfrm>
            <a:off x="3954780" y="3195828"/>
            <a:ext cx="411480" cy="411480"/>
          </a:xfrm>
          <a:prstGeom prst="ellipse">
            <a:avLst/>
          </a:prstGeom>
          <a:solidFill>
            <a:srgbClr val="1F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54780" y="3204972"/>
            <a:ext cx="411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a:ea="Microsoft YaHei">
                <a:solidFill>
                  <a:srgbClr val="FFFFFF"/>
                </a:solidFill>
                <a:latin typeface="Microsoft YaHei"/>
              </a:rPr>
              <a:t>O</a:t>
            </a:r>
          </a:p>
        </p:txBody>
      </p:sp>
      <p:sp>
        <p:nvSpPr>
          <p:cNvPr id="22" name="Oval 21"/>
          <p:cNvSpPr/>
          <p:nvPr/>
        </p:nvSpPr>
        <p:spPr>
          <a:xfrm>
            <a:off x="2208276" y="4201668"/>
            <a:ext cx="411480" cy="411480"/>
          </a:xfrm>
          <a:prstGeom prst="ellipse">
            <a:avLst/>
          </a:prstGeom>
          <a:solidFill>
            <a:srgbClr val="1F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08276" y="4210812"/>
            <a:ext cx="411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a:ea="Microsoft YaHei">
                <a:solidFill>
                  <a:srgbClr val="FFFFFF"/>
                </a:solidFill>
                <a:latin typeface="Microsoft YaHei"/>
              </a:rPr>
              <a:t>O</a:t>
            </a:r>
          </a:p>
        </p:txBody>
      </p:sp>
      <p:sp>
        <p:nvSpPr>
          <p:cNvPr id="24" name="Oval 23"/>
          <p:cNvSpPr/>
          <p:nvPr/>
        </p:nvSpPr>
        <p:spPr>
          <a:xfrm>
            <a:off x="3378708" y="4201668"/>
            <a:ext cx="411480" cy="411480"/>
          </a:xfrm>
          <a:prstGeom prst="ellipse">
            <a:avLst/>
          </a:prstGeom>
          <a:solidFill>
            <a:srgbClr val="1F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78708" y="4210812"/>
            <a:ext cx="411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a:ea="Microsoft YaHei">
                <a:solidFill>
                  <a:srgbClr val="FFFFFF"/>
                </a:solidFill>
                <a:latin typeface="Microsoft YaHei"/>
              </a:rPr>
              <a:t>O</a:t>
            </a:r>
          </a:p>
        </p:txBody>
      </p:sp>
      <p:sp>
        <p:nvSpPr>
          <p:cNvPr id="26" name="Oval 25"/>
          <p:cNvSpPr/>
          <p:nvPr/>
        </p:nvSpPr>
        <p:spPr>
          <a:xfrm>
            <a:off x="4549140" y="4201668"/>
            <a:ext cx="411480" cy="411480"/>
          </a:xfrm>
          <a:prstGeom prst="ellipse">
            <a:avLst/>
          </a:prstGeom>
          <a:solidFill>
            <a:srgbClr val="1F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49140" y="4210812"/>
            <a:ext cx="411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a:ea="Microsoft YaHei">
                <a:solidFill>
                  <a:srgbClr val="FFFFFF"/>
                </a:solidFill>
                <a:latin typeface="Microsoft YaHei"/>
              </a:rPr>
              <a:t>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" y="4910328"/>
            <a:ext cx="4572000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0" a:ea="Microsoft YaHei">
                <a:solidFill>
                  <a:srgbClr val="172B3A"/>
                </a:solidFill>
                <a:latin typeface="Microsoft YaHei"/>
              </a:rPr>
              <a:t>重排与断裂需要能量 → 沸点、热容等性质被显著改变。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47104" y="2304288"/>
            <a:ext cx="44805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 a:ea="Microsoft YaHei">
                <a:solidFill>
                  <a:srgbClr val="F07962"/>
                </a:solidFill>
                <a:latin typeface="Microsoft YaHei"/>
              </a:rPr>
              <a:t>冰：较开放的网络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851392" y="2898648"/>
            <a:ext cx="855245" cy="493776"/>
          </a:xfrm>
          <a:prstGeom prst="line">
            <a:avLst/>
          </a:prstGeom>
          <a:ln w="21590">
            <a:solidFill>
              <a:srgbClr val="EABF6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706637" y="3392424"/>
            <a:ext cx="0" cy="987552"/>
          </a:xfrm>
          <a:prstGeom prst="line">
            <a:avLst/>
          </a:prstGeom>
          <a:ln w="21590">
            <a:solidFill>
              <a:srgbClr val="EABF6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8851392" y="4379976"/>
            <a:ext cx="855245" cy="493776"/>
          </a:xfrm>
          <a:prstGeom prst="line">
            <a:avLst/>
          </a:prstGeom>
          <a:ln w="21590">
            <a:solidFill>
              <a:srgbClr val="EABF6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 flipV="1">
            <a:off x="7996146" y="4379976"/>
            <a:ext cx="855246" cy="493776"/>
          </a:xfrm>
          <a:prstGeom prst="line">
            <a:avLst/>
          </a:prstGeom>
          <a:ln w="21590">
            <a:solidFill>
              <a:srgbClr val="EABF6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7996146" y="3392424"/>
            <a:ext cx="0" cy="987552"/>
          </a:xfrm>
          <a:prstGeom prst="line">
            <a:avLst/>
          </a:prstGeom>
          <a:ln w="21590">
            <a:solidFill>
              <a:srgbClr val="EABF6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7996146" y="2898648"/>
            <a:ext cx="855246" cy="493776"/>
          </a:xfrm>
          <a:prstGeom prst="line">
            <a:avLst/>
          </a:prstGeom>
          <a:ln w="21590">
            <a:solidFill>
              <a:srgbClr val="EABF6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8677656" y="2724912"/>
            <a:ext cx="347472" cy="347472"/>
          </a:xfrm>
          <a:prstGeom prst="ellipse">
            <a:avLst/>
          </a:prstGeom>
          <a:solidFill>
            <a:srgbClr val="F07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77656" y="2734056"/>
            <a:ext cx="34747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a:ea="Microsoft YaHei">
                <a:solidFill>
                  <a:srgbClr val="FFFFFF"/>
                </a:solidFill>
                <a:latin typeface="Microsoft YaHei"/>
              </a:rPr>
              <a:t>O</a:t>
            </a:r>
          </a:p>
        </p:txBody>
      </p:sp>
      <p:sp>
        <p:nvSpPr>
          <p:cNvPr id="38" name="Oval 37"/>
          <p:cNvSpPr/>
          <p:nvPr/>
        </p:nvSpPr>
        <p:spPr>
          <a:xfrm>
            <a:off x="9532901" y="3218688"/>
            <a:ext cx="347472" cy="347472"/>
          </a:xfrm>
          <a:prstGeom prst="ellipse">
            <a:avLst/>
          </a:prstGeom>
          <a:solidFill>
            <a:srgbClr val="F07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32901" y="3227832"/>
            <a:ext cx="34747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a:ea="Microsoft YaHei">
                <a:solidFill>
                  <a:srgbClr val="FFFFFF"/>
                </a:solidFill>
                <a:latin typeface="Microsoft YaHei"/>
              </a:rPr>
              <a:t>O</a:t>
            </a:r>
          </a:p>
        </p:txBody>
      </p:sp>
      <p:sp>
        <p:nvSpPr>
          <p:cNvPr id="40" name="Oval 39"/>
          <p:cNvSpPr/>
          <p:nvPr/>
        </p:nvSpPr>
        <p:spPr>
          <a:xfrm>
            <a:off x="9532901" y="4206240"/>
            <a:ext cx="347472" cy="347472"/>
          </a:xfrm>
          <a:prstGeom prst="ellipse">
            <a:avLst/>
          </a:prstGeom>
          <a:solidFill>
            <a:srgbClr val="F07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32901" y="4215383"/>
            <a:ext cx="34747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a:ea="Microsoft YaHei">
                <a:solidFill>
                  <a:srgbClr val="FFFFFF"/>
                </a:solidFill>
                <a:latin typeface="Microsoft YaHei"/>
              </a:rPr>
              <a:t>O</a:t>
            </a:r>
          </a:p>
        </p:txBody>
      </p:sp>
      <p:sp>
        <p:nvSpPr>
          <p:cNvPr id="42" name="Oval 41"/>
          <p:cNvSpPr/>
          <p:nvPr/>
        </p:nvSpPr>
        <p:spPr>
          <a:xfrm>
            <a:off x="8677656" y="4700016"/>
            <a:ext cx="347472" cy="347472"/>
          </a:xfrm>
          <a:prstGeom prst="ellipse">
            <a:avLst/>
          </a:prstGeom>
          <a:solidFill>
            <a:srgbClr val="F07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77656" y="4709159"/>
            <a:ext cx="34747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a:ea="Microsoft YaHei">
                <a:solidFill>
                  <a:srgbClr val="FFFFFF"/>
                </a:solidFill>
                <a:latin typeface="Microsoft YaHei"/>
              </a:rPr>
              <a:t>O</a:t>
            </a:r>
          </a:p>
        </p:txBody>
      </p:sp>
      <p:sp>
        <p:nvSpPr>
          <p:cNvPr id="44" name="Oval 43"/>
          <p:cNvSpPr/>
          <p:nvPr/>
        </p:nvSpPr>
        <p:spPr>
          <a:xfrm>
            <a:off x="7822410" y="4206240"/>
            <a:ext cx="347472" cy="347472"/>
          </a:xfrm>
          <a:prstGeom prst="ellipse">
            <a:avLst/>
          </a:prstGeom>
          <a:solidFill>
            <a:srgbClr val="F07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822410" y="4215383"/>
            <a:ext cx="34747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a:ea="Microsoft YaHei">
                <a:solidFill>
                  <a:srgbClr val="FFFFFF"/>
                </a:solidFill>
                <a:latin typeface="Microsoft YaHei"/>
              </a:rPr>
              <a:t>O</a:t>
            </a:r>
          </a:p>
        </p:txBody>
      </p:sp>
      <p:sp>
        <p:nvSpPr>
          <p:cNvPr id="46" name="Oval 45"/>
          <p:cNvSpPr/>
          <p:nvPr/>
        </p:nvSpPr>
        <p:spPr>
          <a:xfrm>
            <a:off x="7822410" y="3218688"/>
            <a:ext cx="347472" cy="347472"/>
          </a:xfrm>
          <a:prstGeom prst="ellipse">
            <a:avLst/>
          </a:prstGeom>
          <a:solidFill>
            <a:srgbClr val="F07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22410" y="3227832"/>
            <a:ext cx="34747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a:ea="Microsoft YaHei">
                <a:solidFill>
                  <a:srgbClr val="FFFFFF"/>
                </a:solidFill>
                <a:latin typeface="Microsoft YaHei"/>
              </a:rPr>
              <a:t>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92240" y="4910328"/>
            <a:ext cx="4572000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0" a:ea="Microsoft YaHei">
                <a:solidFill>
                  <a:srgbClr val="172B3A"/>
                </a:solidFill>
                <a:latin typeface="Microsoft YaHei"/>
              </a:rPr>
              <a:t>开放晶格占空间更多 → 同质量体积更大 → 冰密度更小。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892807" y="5833872"/>
            <a:ext cx="8412480" cy="438912"/>
          </a:xfrm>
          <a:prstGeom prst="roundRect">
            <a:avLst/>
          </a:prstGeom>
          <a:solidFill>
            <a:srgbClr val="DD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057400" y="5925312"/>
            <a:ext cx="80924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 a:ea="Microsoft YaHei">
                <a:solidFill>
                  <a:srgbClr val="172B3A"/>
                </a:solidFill>
                <a:latin typeface="Microsoft YaHei"/>
              </a:rPr>
              <a:t>宏观效应的关键：相互作用 × 数量 × 几何网络 × 热运动。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510528"/>
            <a:ext cx="36576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 a:ea="Microsoft YaHei">
                <a:solidFill>
                  <a:srgbClr val="58707E"/>
                </a:solidFill>
                <a:latin typeface="Microsoft YaHei"/>
              </a:rPr>
              <a:t>大学化学 · 课堂分享作业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27080" y="6492240"/>
            <a:ext cx="7315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 a:ea="Microsoft YaHei">
                <a:solidFill>
                  <a:srgbClr val="58707E"/>
                </a:solidFill>
                <a:latin typeface="Microsoft YaHei"/>
              </a:rPr>
              <a:t>06 / 09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058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a:ea="Microsoft YaHei">
                <a:solidFill>
                  <a:srgbClr val="1F9D91"/>
                </a:solidFill>
                <a:latin typeface="Microsoft YaHei"/>
              </a:rPr>
              <a:t>06 · 走进生命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 a:ea="Microsoft YaHei">
                <a:solidFill>
                  <a:srgbClr val="172B3A"/>
                </a:solidFill>
                <a:latin typeface="Microsoft YaHei"/>
              </a:rPr>
              <a:t>DNA 与蛋白质：氢键帮忙“认准形状”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789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 a:ea="Microsoft YaHei">
                <a:solidFill>
                  <a:srgbClr val="58707E"/>
                </a:solidFill>
                <a:latin typeface="Microsoft YaHei"/>
              </a:rPr>
              <a:t>氢键提供方向性与可逆性；但它不是生命大分子稳定性的唯一来源。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230368" cy="36393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2011680"/>
            <a:ext cx="5230368" cy="36393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5" y="2331720"/>
            <a:ext cx="44805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 a:ea="Microsoft YaHei">
                <a:solidFill>
                  <a:srgbClr val="1F9D91"/>
                </a:solidFill>
                <a:latin typeface="Microsoft YaHei"/>
              </a:rPr>
              <a:t>DNA 碱基配对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063240"/>
            <a:ext cx="41605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700" b="1" a:ea="Microsoft YaHei">
                <a:solidFill>
                  <a:srgbClr val="172B3A"/>
                </a:solidFill>
                <a:latin typeface="Microsoft YaHei"/>
              </a:rPr>
              <a:t>A  ···  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822191"/>
            <a:ext cx="41605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700" b="1" a:ea="Microsoft YaHei">
                <a:solidFill>
                  <a:srgbClr val="172B3A"/>
                </a:solidFill>
                <a:latin typeface="Microsoft YaHei"/>
              </a:rPr>
              <a:t>G  ··· 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645152"/>
            <a:ext cx="443484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0" a:ea="Microsoft YaHei">
                <a:solidFill>
                  <a:srgbClr val="58707E"/>
                </a:solidFill>
                <a:latin typeface="Microsoft YaHei"/>
              </a:rPr>
              <a:t>典型 Watson–Crick 配对：A—T 两条氢键；G—C 三条。
互补供受体图样参与分子识别。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8816" y="2331720"/>
            <a:ext cx="44805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 a:ea="Microsoft YaHei">
                <a:solidFill>
                  <a:srgbClr val="F07962"/>
                </a:solidFill>
                <a:latin typeface="Microsoft YaHei"/>
              </a:rPr>
              <a:t>蛋白质折叠</a:t>
            </a:r>
          </a:p>
        </p:txBody>
      </p:sp>
      <p:sp>
        <p:nvSpPr>
          <p:cNvPr id="12" name="Oval 11"/>
          <p:cNvSpPr/>
          <p:nvPr/>
        </p:nvSpPr>
        <p:spPr>
          <a:xfrm>
            <a:off x="6926580" y="3067812"/>
            <a:ext cx="137160" cy="137160"/>
          </a:xfrm>
          <a:prstGeom prst="ellipse">
            <a:avLst/>
          </a:prstGeom>
          <a:solidFill>
            <a:srgbClr val="1F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26580" y="3076956"/>
            <a:ext cx="137160" cy="118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1" a:ea="Microsoft YaHei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14" name="Oval 13"/>
          <p:cNvSpPr/>
          <p:nvPr/>
        </p:nvSpPr>
        <p:spPr>
          <a:xfrm>
            <a:off x="8069580" y="3067812"/>
            <a:ext cx="137160" cy="137160"/>
          </a:xfrm>
          <a:prstGeom prst="ellipse">
            <a:avLst/>
          </a:prstGeom>
          <a:solidFill>
            <a:srgbClr val="F07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69580" y="3076956"/>
            <a:ext cx="137160" cy="118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1" a:ea="Microsoft YaHei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077456" y="3136392"/>
            <a:ext cx="978408" cy="0"/>
          </a:xfrm>
          <a:prstGeom prst="line">
            <a:avLst/>
          </a:prstGeom>
          <a:ln w="19050">
            <a:solidFill>
              <a:srgbClr val="EABF6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7310628" y="3369564"/>
            <a:ext cx="137160" cy="137160"/>
          </a:xfrm>
          <a:prstGeom prst="ellipse">
            <a:avLst/>
          </a:prstGeom>
          <a:solidFill>
            <a:srgbClr val="1F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0628" y="3378708"/>
            <a:ext cx="137160" cy="118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1" a:ea="Microsoft YaHei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19" name="Oval 18"/>
          <p:cNvSpPr/>
          <p:nvPr/>
        </p:nvSpPr>
        <p:spPr>
          <a:xfrm>
            <a:off x="8453628" y="3369564"/>
            <a:ext cx="137160" cy="137160"/>
          </a:xfrm>
          <a:prstGeom prst="ellipse">
            <a:avLst/>
          </a:prstGeom>
          <a:solidFill>
            <a:srgbClr val="F07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53628" y="3378708"/>
            <a:ext cx="137160" cy="118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1" a:ea="Microsoft YaHei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461504" y="3438144"/>
            <a:ext cx="978408" cy="0"/>
          </a:xfrm>
          <a:prstGeom prst="line">
            <a:avLst/>
          </a:prstGeom>
          <a:ln w="19050">
            <a:solidFill>
              <a:srgbClr val="EABF6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926580" y="3671315"/>
            <a:ext cx="137160" cy="137160"/>
          </a:xfrm>
          <a:prstGeom prst="ellipse">
            <a:avLst/>
          </a:prstGeom>
          <a:solidFill>
            <a:srgbClr val="1F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26580" y="3680459"/>
            <a:ext cx="137160" cy="118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1" a:ea="Microsoft YaHei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24" name="Oval 23"/>
          <p:cNvSpPr/>
          <p:nvPr/>
        </p:nvSpPr>
        <p:spPr>
          <a:xfrm>
            <a:off x="8069580" y="3671315"/>
            <a:ext cx="137160" cy="137160"/>
          </a:xfrm>
          <a:prstGeom prst="ellipse">
            <a:avLst/>
          </a:prstGeom>
          <a:solidFill>
            <a:srgbClr val="F07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69580" y="3680459"/>
            <a:ext cx="137160" cy="118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1" a:ea="Microsoft YaHei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077456" y="3739896"/>
            <a:ext cx="978408" cy="0"/>
          </a:xfrm>
          <a:prstGeom prst="line">
            <a:avLst/>
          </a:prstGeom>
          <a:ln w="19050">
            <a:solidFill>
              <a:srgbClr val="EABF6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7310628" y="3973068"/>
            <a:ext cx="137160" cy="137160"/>
          </a:xfrm>
          <a:prstGeom prst="ellipse">
            <a:avLst/>
          </a:prstGeom>
          <a:solidFill>
            <a:srgbClr val="1F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0628" y="3982211"/>
            <a:ext cx="137160" cy="118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1" a:ea="Microsoft YaHei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29" name="Oval 28"/>
          <p:cNvSpPr/>
          <p:nvPr/>
        </p:nvSpPr>
        <p:spPr>
          <a:xfrm>
            <a:off x="8453628" y="3973068"/>
            <a:ext cx="137160" cy="137160"/>
          </a:xfrm>
          <a:prstGeom prst="ellipse">
            <a:avLst/>
          </a:prstGeom>
          <a:solidFill>
            <a:srgbClr val="F07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53628" y="3982211"/>
            <a:ext cx="137160" cy="118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1" a:ea="Microsoft YaHei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461504" y="4041648"/>
            <a:ext cx="978408" cy="0"/>
          </a:xfrm>
          <a:prstGeom prst="line">
            <a:avLst/>
          </a:prstGeom>
          <a:ln w="19050">
            <a:solidFill>
              <a:srgbClr val="EABF6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6926580" y="4274820"/>
            <a:ext cx="137160" cy="137160"/>
          </a:xfrm>
          <a:prstGeom prst="ellipse">
            <a:avLst/>
          </a:prstGeom>
          <a:solidFill>
            <a:srgbClr val="1F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26580" y="4283964"/>
            <a:ext cx="137160" cy="118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1" a:ea="Microsoft YaHei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34" name="Oval 33"/>
          <p:cNvSpPr/>
          <p:nvPr/>
        </p:nvSpPr>
        <p:spPr>
          <a:xfrm>
            <a:off x="8069580" y="4274820"/>
            <a:ext cx="137160" cy="137160"/>
          </a:xfrm>
          <a:prstGeom prst="ellipse">
            <a:avLst/>
          </a:prstGeom>
          <a:solidFill>
            <a:srgbClr val="F07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69580" y="4283964"/>
            <a:ext cx="137160" cy="118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1" a:ea="Microsoft YaHei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077456" y="4343400"/>
            <a:ext cx="978408" cy="0"/>
          </a:xfrm>
          <a:prstGeom prst="line">
            <a:avLst/>
          </a:prstGeom>
          <a:ln w="19050">
            <a:solidFill>
              <a:srgbClr val="EABF6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7310628" y="4576572"/>
            <a:ext cx="137160" cy="137160"/>
          </a:xfrm>
          <a:prstGeom prst="ellipse">
            <a:avLst/>
          </a:prstGeom>
          <a:solidFill>
            <a:srgbClr val="1F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0628" y="4585716"/>
            <a:ext cx="137160" cy="118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1" a:ea="Microsoft YaHei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39" name="Oval 38"/>
          <p:cNvSpPr/>
          <p:nvPr/>
        </p:nvSpPr>
        <p:spPr>
          <a:xfrm>
            <a:off x="8453628" y="4576572"/>
            <a:ext cx="137160" cy="137160"/>
          </a:xfrm>
          <a:prstGeom prst="ellipse">
            <a:avLst/>
          </a:prstGeom>
          <a:solidFill>
            <a:srgbClr val="F07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53628" y="4585716"/>
            <a:ext cx="137160" cy="118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1" a:ea="Microsoft YaHei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461504" y="4645152"/>
            <a:ext cx="978408" cy="0"/>
          </a:xfrm>
          <a:prstGeom prst="line">
            <a:avLst/>
          </a:prstGeom>
          <a:ln w="19050">
            <a:solidFill>
              <a:srgbClr val="EABF6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510528" y="5010912"/>
            <a:ext cx="44805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0" a:ea="Microsoft YaHei">
                <a:solidFill>
                  <a:srgbClr val="58707E"/>
                </a:solidFill>
                <a:latin typeface="Microsoft YaHei"/>
              </a:rPr>
              <a:t>骨架 C=O 与 N—H 可形成氢键，帮助稳定 α 螺旋、β 折叠等二级结构。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5989320"/>
            <a:ext cx="10332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 a:ea="Microsoft YaHei">
                <a:solidFill>
                  <a:srgbClr val="172B3A"/>
                </a:solidFill>
                <a:latin typeface="Microsoft YaHei"/>
              </a:rPr>
              <a:t>提醒：DNA 还受碱基堆积等作用稳定；蛋白质还涉及疏水效应、静电与范德华作用。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510528"/>
            <a:ext cx="36576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 a:ea="Microsoft YaHei">
                <a:solidFill>
                  <a:srgbClr val="58707E"/>
                </a:solidFill>
                <a:latin typeface="Microsoft YaHei"/>
              </a:rPr>
              <a:t>大学化学 · 课堂分享作业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27080" y="6492240"/>
            <a:ext cx="7315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 a:ea="Microsoft YaHei">
                <a:solidFill>
                  <a:srgbClr val="58707E"/>
                </a:solidFill>
                <a:latin typeface="Microsoft YaHei"/>
              </a:rPr>
              <a:t>07 / 09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5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3891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a:ea="Microsoft YaHei">
                <a:solidFill>
                  <a:srgbClr val="8ED4C9"/>
                </a:solidFill>
                <a:latin typeface="Microsoft YaHei"/>
              </a:rPr>
              <a:t>07 · 自测闭环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868680"/>
            <a:ext cx="1051560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100" b="1" a:ea="Microsoft YaHei">
                <a:solidFill>
                  <a:srgbClr val="FFFFFF"/>
                </a:solidFill>
                <a:latin typeface="Microsoft YaHei"/>
              </a:rPr>
              <a:t>不看上一页，试着解释</a:t>
            </a:r>
          </a:p>
        </p:txBody>
      </p:sp>
      <p:sp>
        <p:nvSpPr>
          <p:cNvPr id="4" name="Oval 3"/>
          <p:cNvSpPr/>
          <p:nvPr/>
        </p:nvSpPr>
        <p:spPr>
          <a:xfrm>
            <a:off x="804672" y="1828800"/>
            <a:ext cx="475488" cy="475488"/>
          </a:xfrm>
          <a:prstGeom prst="ellipse">
            <a:avLst/>
          </a:prstGeom>
          <a:solidFill>
            <a:srgbClr val="1F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920240"/>
            <a:ext cx="47548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 a:ea="Microsoft YaHei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810512"/>
            <a:ext cx="969264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 a:ea="Microsoft YaHei">
                <a:solidFill>
                  <a:srgbClr val="FFFFFF"/>
                </a:solidFill>
                <a:latin typeface="Microsoft YaHei"/>
              </a:rPr>
              <a:t>乙醇与二甲醚分子量相同，乙醇沸点更高；氢键如何解释？</a:t>
            </a:r>
          </a:p>
        </p:txBody>
      </p:sp>
      <p:sp>
        <p:nvSpPr>
          <p:cNvPr id="7" name="Oval 6"/>
          <p:cNvSpPr/>
          <p:nvPr/>
        </p:nvSpPr>
        <p:spPr>
          <a:xfrm>
            <a:off x="804672" y="2999232"/>
            <a:ext cx="475488" cy="475488"/>
          </a:xfrm>
          <a:prstGeom prst="ellipse">
            <a:avLst/>
          </a:prstGeom>
          <a:solidFill>
            <a:srgbClr val="1F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3090672"/>
            <a:ext cx="47548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 a:ea="Microsoft YaHei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980944"/>
            <a:ext cx="969264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 a:ea="Microsoft YaHei">
                <a:solidFill>
                  <a:srgbClr val="FFFFFF"/>
                </a:solidFill>
                <a:latin typeface="Microsoft YaHei"/>
              </a:rPr>
              <a:t>水分子里哪个原子可作氢键供体？哪个可作受体？</a:t>
            </a:r>
          </a:p>
        </p:txBody>
      </p:sp>
      <p:sp>
        <p:nvSpPr>
          <p:cNvPr id="10" name="Oval 9"/>
          <p:cNvSpPr/>
          <p:nvPr/>
        </p:nvSpPr>
        <p:spPr>
          <a:xfrm>
            <a:off x="804672" y="4169664"/>
            <a:ext cx="475488" cy="475488"/>
          </a:xfrm>
          <a:prstGeom prst="ellipse">
            <a:avLst/>
          </a:prstGeom>
          <a:solidFill>
            <a:srgbClr val="1F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4261104"/>
            <a:ext cx="47548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 a:ea="Microsoft YaHei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151376"/>
            <a:ext cx="969264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 a:ea="Microsoft YaHei">
                <a:solidFill>
                  <a:srgbClr val="FFFFFF"/>
                </a:solidFill>
                <a:latin typeface="Microsoft YaHei"/>
              </a:rPr>
              <a:t>“氢键越多，物质沸点一定越高”这句话完整吗？还要考虑什么？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5632704"/>
            <a:ext cx="96926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a:ea="Microsoft YaHei">
                <a:solidFill>
                  <a:srgbClr val="B8C9CF"/>
                </a:solidFill>
                <a:latin typeface="Microsoft YaHei"/>
              </a:rPr>
              <a:t>思考提示：供体 / 受体 · 分子间作用力 · 分子结构与形状 · 温度下的动态网络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36576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 a:ea="Microsoft YaHei">
                <a:solidFill>
                  <a:srgbClr val="A9BBC2"/>
                </a:solidFill>
                <a:latin typeface="Microsoft YaHei"/>
              </a:rPr>
              <a:t>大学化学 · 课堂分享作业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27080" y="6492240"/>
            <a:ext cx="7315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 a:ea="Microsoft YaHei">
                <a:solidFill>
                  <a:srgbClr val="A9BBC2"/>
                </a:solidFill>
                <a:latin typeface="Microsoft YaHei"/>
              </a:rPr>
              <a:t>08 / 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058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a:ea="Microsoft YaHei">
                <a:solidFill>
                  <a:srgbClr val="1F9D91"/>
                </a:solidFill>
                <a:latin typeface="Microsoft YaHei"/>
              </a:rPr>
              <a:t>08 · 一句话收束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 a:ea="Microsoft YaHei">
                <a:solidFill>
                  <a:srgbClr val="172B3A"/>
                </a:solidFill>
                <a:latin typeface="Microsoft YaHei"/>
              </a:rPr>
              <a:t>氢键：局部定向吸引，集体塑造宏观结构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789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 a:ea="Microsoft YaHei">
                <a:solidFill>
                  <a:srgbClr val="58707E"/>
                </a:solidFill>
                <a:latin typeface="Microsoft YaHei"/>
              </a:rPr>
              <a:t>记住这条因果链，就能从符号走回真实物质。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468880"/>
            <a:ext cx="205740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2697480"/>
            <a:ext cx="178308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900" b="1" a:ea="Microsoft YaHei">
                <a:solidFill>
                  <a:srgbClr val="1F9D91"/>
                </a:solidFill>
                <a:latin typeface="Microsoft YaHei"/>
              </a:rPr>
              <a:t>极化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" y="3218688"/>
            <a:ext cx="17830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0" a:ea="Microsoft YaHei">
                <a:solidFill>
                  <a:srgbClr val="172B3A"/>
                </a:solidFill>
                <a:latin typeface="Microsoft YaHei"/>
              </a:rPr>
              <a:t>D—H 让 H 带部分正电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99232" y="2971800"/>
            <a:ext cx="5486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400" b="1" a:ea="Microsoft YaHei">
                <a:solidFill>
                  <a:srgbClr val="EABF62"/>
                </a:solidFill>
                <a:latin typeface="Microsoft YaHe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2468880"/>
            <a:ext cx="205740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85615" y="2697480"/>
            <a:ext cx="178308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900" b="1" a:ea="Microsoft YaHei">
                <a:solidFill>
                  <a:srgbClr val="1F9D91"/>
                </a:solidFill>
                <a:latin typeface="Microsoft YaHei"/>
              </a:rPr>
              <a:t>识别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85615" y="3218688"/>
            <a:ext cx="17830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0" a:ea="Microsoft YaHei">
                <a:solidFill>
                  <a:srgbClr val="172B3A"/>
                </a:solidFill>
                <a:latin typeface="Microsoft YaHei"/>
              </a:rPr>
              <a:t>H···A 富电子区相互吸引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33872" y="2971800"/>
            <a:ext cx="5486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400" b="1" a:ea="Microsoft YaHei">
                <a:solidFill>
                  <a:srgbClr val="EABF62"/>
                </a:solidFill>
                <a:latin typeface="Microsoft YaHe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2468880"/>
            <a:ext cx="205740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0255" y="2697480"/>
            <a:ext cx="178308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900" b="1" a:ea="Microsoft YaHei">
                <a:solidFill>
                  <a:srgbClr val="1F9D91"/>
                </a:solidFill>
                <a:latin typeface="Microsoft YaHei"/>
              </a:rPr>
              <a:t>成网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5" y="3218688"/>
            <a:ext cx="17830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0" a:ea="Microsoft YaHei">
                <a:solidFill>
                  <a:srgbClr val="172B3A"/>
                </a:solidFill>
                <a:latin typeface="Microsoft YaHei"/>
              </a:rPr>
              <a:t>方向性与环境决定排列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8512" y="2971800"/>
            <a:ext cx="5486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400" b="1" a:ea="Microsoft YaHei">
                <a:solidFill>
                  <a:srgbClr val="EABF62"/>
                </a:solidFill>
                <a:latin typeface="Microsoft YaHe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0" y="2468880"/>
            <a:ext cx="205740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54896" y="2697480"/>
            <a:ext cx="178308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900" b="1" a:ea="Microsoft YaHei">
                <a:solidFill>
                  <a:srgbClr val="F07962"/>
                </a:solidFill>
                <a:latin typeface="Microsoft YaHei"/>
              </a:rPr>
              <a:t>显性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54896" y="3218688"/>
            <a:ext cx="17830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0" a:ea="Microsoft YaHei">
                <a:solidFill>
                  <a:srgbClr val="172B3A"/>
                </a:solidFill>
                <a:latin typeface="Microsoft YaHei"/>
              </a:rPr>
              <a:t>沸点、密度、生物结构改变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4617720"/>
            <a:ext cx="10195560" cy="749808"/>
          </a:xfrm>
          <a:prstGeom prst="roundRect">
            <a:avLst/>
          </a:prstGeom>
          <a:solidFill>
            <a:srgbClr val="102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4440" y="4828032"/>
            <a:ext cx="96469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 a:ea="Microsoft YaHei">
                <a:solidFill>
                  <a:srgbClr val="FFFFFF"/>
                </a:solidFill>
                <a:latin typeface="Microsoft YaHei"/>
              </a:rPr>
              <a:t>下一步：用氢键与偶极—偶极、色散力对照，解释“结构相似，性质为何不同”。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5870448"/>
            <a:ext cx="106984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0" a:ea="Microsoft YaHei">
                <a:solidFill>
                  <a:srgbClr val="58707E"/>
                </a:solidFill>
                <a:latin typeface="Microsoft YaHei"/>
              </a:rPr>
              <a:t>参考：Arunan et al., Pure Appl. Chem. 83 (2011), 1637–1641, IUPAC Recommendations. DOI: 10.1351/PAC-REC-10-01-02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36576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 a:ea="Microsoft YaHei">
                <a:solidFill>
                  <a:srgbClr val="58707E"/>
                </a:solidFill>
                <a:latin typeface="Microsoft YaHei"/>
              </a:rPr>
              <a:t>大学化学 · 课堂分享作业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27080" y="6492240"/>
            <a:ext cx="7315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 a:ea="Microsoft YaHei">
                <a:solidFill>
                  <a:srgbClr val="58707E"/>
                </a:solidFill>
                <a:latin typeface="Microsoft YaHei"/>
              </a:rPr>
              <a:t>09 / 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氢键：一条看不见的相互作用，怎样塑造水与生命？</dc:title>
  <dc:subject>大学化学课程分享作业</dc:subject>
  <dc:creator>孙承泽</dc:creator>
  <cp:keywords>氢键, D-H···A, 水, DNA, 蛋白质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