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20" y="164"/>
      </p:cViewPr>
      <p:guideLst>
        <p:guide orient="horz" pos="226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2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45E25-1961-4722-84BE-0676CA10A3C2}" type="slidenum">
              <a:r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round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14"/>
          <p:cNvSpPr/>
          <p:nvPr userDrawn="1"/>
        </p:nvSpPr>
        <p:spPr>
          <a:xfrm>
            <a:off x="3225410" y="0"/>
            <a:ext cx="8966591" cy="6858000"/>
          </a:xfrm>
          <a:custGeom>
            <a:avLst/>
            <a:gdLst>
              <a:gd name="connsiteX0" fmla="*/ 4457400 w 8966591"/>
              <a:gd name="connsiteY0" fmla="*/ 0 h 6858000"/>
              <a:gd name="connsiteX1" fmla="*/ 8966591 w 8966591"/>
              <a:gd name="connsiteY1" fmla="*/ 0 h 6858000"/>
              <a:gd name="connsiteX2" fmla="*/ 8966591 w 8966591"/>
              <a:gd name="connsiteY2" fmla="*/ 6858000 h 6858000"/>
              <a:gd name="connsiteX3" fmla="*/ 0 w 8966591"/>
              <a:gd name="connsiteY3" fmla="*/ 6858000 h 6858000"/>
              <a:gd name="connsiteX4" fmla="*/ 61754 w 8966591"/>
              <a:gd name="connsiteY4" fmla="*/ 6833651 h 6858000"/>
              <a:gd name="connsiteX5" fmla="*/ 4462324 w 8966591"/>
              <a:gd name="connsiteY5" fmla="*/ 1947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66591" h="6858000">
                <a:moveTo>
                  <a:pt x="4457400" y="0"/>
                </a:moveTo>
                <a:lnTo>
                  <a:pt x="8966591" y="0"/>
                </a:lnTo>
                <a:lnTo>
                  <a:pt x="8966591" y="6858000"/>
                </a:lnTo>
                <a:lnTo>
                  <a:pt x="0" y="6858000"/>
                </a:lnTo>
                <a:lnTo>
                  <a:pt x="61754" y="6833651"/>
                </a:lnTo>
                <a:cubicBezTo>
                  <a:pt x="2647785" y="5739852"/>
                  <a:pt x="4462324" y="3179197"/>
                  <a:pt x="4462324" y="194733"/>
                </a:cubicBezTo>
                <a:close/>
              </a:path>
            </a:pathLst>
          </a:custGeom>
          <a:gradFill>
            <a:gsLst>
              <a:gs pos="0">
                <a:srgbClr val="FF5363"/>
              </a:gs>
              <a:gs pos="100000">
                <a:srgbClr val="FF7D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14516" y="2285998"/>
            <a:ext cx="10962968" cy="3429001"/>
          </a:xfrm>
          <a:custGeom>
            <a:avLst/>
            <a:gdLst>
              <a:gd name="connsiteX0" fmla="*/ 34418 w 10962968"/>
              <a:gd name="connsiteY0" fmla="*/ 0 h 3657600"/>
              <a:gd name="connsiteX1" fmla="*/ 10928550 w 10962968"/>
              <a:gd name="connsiteY1" fmla="*/ 0 h 3657600"/>
              <a:gd name="connsiteX2" fmla="*/ 10962968 w 10962968"/>
              <a:gd name="connsiteY2" fmla="*/ 34418 h 3657600"/>
              <a:gd name="connsiteX3" fmla="*/ 10962968 w 10962968"/>
              <a:gd name="connsiteY3" fmla="*/ 3623182 h 3657600"/>
              <a:gd name="connsiteX4" fmla="*/ 10928550 w 10962968"/>
              <a:gd name="connsiteY4" fmla="*/ 3657600 h 3657600"/>
              <a:gd name="connsiteX5" fmla="*/ 34418 w 10962968"/>
              <a:gd name="connsiteY5" fmla="*/ 3657600 h 3657600"/>
              <a:gd name="connsiteX6" fmla="*/ 0 w 10962968"/>
              <a:gd name="connsiteY6" fmla="*/ 3623182 h 3657600"/>
              <a:gd name="connsiteX7" fmla="*/ 0 w 10962968"/>
              <a:gd name="connsiteY7" fmla="*/ 34418 h 3657600"/>
              <a:gd name="connsiteX8" fmla="*/ 34418 w 10962968"/>
              <a:gd name="connsiteY8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2968" h="3657600">
                <a:moveTo>
                  <a:pt x="34418" y="0"/>
                </a:moveTo>
                <a:lnTo>
                  <a:pt x="10928550" y="0"/>
                </a:lnTo>
                <a:cubicBezTo>
                  <a:pt x="10947559" y="0"/>
                  <a:pt x="10962968" y="15409"/>
                  <a:pt x="10962968" y="34418"/>
                </a:cubicBezTo>
                <a:lnTo>
                  <a:pt x="10962968" y="3623182"/>
                </a:lnTo>
                <a:cubicBezTo>
                  <a:pt x="10962968" y="3642191"/>
                  <a:pt x="10947559" y="3657600"/>
                  <a:pt x="10928550" y="3657600"/>
                </a:cubicBezTo>
                <a:lnTo>
                  <a:pt x="34418" y="3657600"/>
                </a:lnTo>
                <a:cubicBezTo>
                  <a:pt x="15409" y="3657600"/>
                  <a:pt x="0" y="3642191"/>
                  <a:pt x="0" y="3623182"/>
                </a:cubicBezTo>
                <a:lnTo>
                  <a:pt x="0" y="34418"/>
                </a:lnTo>
                <a:cubicBezTo>
                  <a:pt x="0" y="15409"/>
                  <a:pt x="15409" y="0"/>
                  <a:pt x="34418" y="0"/>
                </a:cubicBez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effectLst>
            <a:outerShdw blurRad="152400" dist="101600" dir="5400000" sx="97000" sy="97000" algn="t" rotWithShape="0">
              <a:prstClr val="black">
                <a:alpha val="23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644189" y="1302997"/>
            <a:ext cx="3785436" cy="4252007"/>
          </a:xfrm>
          <a:custGeom>
            <a:avLst/>
            <a:gdLst>
              <a:gd name="connsiteX0" fmla="*/ 1736628 w 3473256"/>
              <a:gd name="connsiteY0" fmla="*/ 0 h 3901349"/>
              <a:gd name="connsiteX1" fmla="*/ 1919971 w 3473256"/>
              <a:gd name="connsiteY1" fmla="*/ 42891 h 3901349"/>
              <a:gd name="connsiteX2" fmla="*/ 3245911 w 3473256"/>
              <a:gd name="connsiteY2" fmla="*/ 705704 h 3901349"/>
              <a:gd name="connsiteX3" fmla="*/ 3473256 w 3473256"/>
              <a:gd name="connsiteY3" fmla="*/ 1073769 h 3901349"/>
              <a:gd name="connsiteX4" fmla="*/ 3473256 w 3473256"/>
              <a:gd name="connsiteY4" fmla="*/ 2827581 h 3901349"/>
              <a:gd name="connsiteX5" fmla="*/ 3245911 w 3473256"/>
              <a:gd name="connsiteY5" fmla="*/ 3195646 h 3901349"/>
              <a:gd name="connsiteX6" fmla="*/ 1919971 w 3473256"/>
              <a:gd name="connsiteY6" fmla="*/ 3858458 h 3901349"/>
              <a:gd name="connsiteX7" fmla="*/ 1553285 w 3473256"/>
              <a:gd name="connsiteY7" fmla="*/ 3858458 h 3901349"/>
              <a:gd name="connsiteX8" fmla="*/ 227347 w 3473256"/>
              <a:gd name="connsiteY8" fmla="*/ 3195646 h 3901349"/>
              <a:gd name="connsiteX9" fmla="*/ 0 w 3473256"/>
              <a:gd name="connsiteY9" fmla="*/ 2827581 h 3901349"/>
              <a:gd name="connsiteX10" fmla="*/ 0 w 3473256"/>
              <a:gd name="connsiteY10" fmla="*/ 1073769 h 3901349"/>
              <a:gd name="connsiteX11" fmla="*/ 227347 w 3473256"/>
              <a:gd name="connsiteY11" fmla="*/ 705704 h 3901349"/>
              <a:gd name="connsiteX12" fmla="*/ 1553285 w 3473256"/>
              <a:gd name="connsiteY12" fmla="*/ 42891 h 3901349"/>
              <a:gd name="connsiteX13" fmla="*/ 1736628 w 3473256"/>
              <a:gd name="connsiteY13" fmla="*/ 0 h 390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73256" h="3901349">
                <a:moveTo>
                  <a:pt x="1736628" y="0"/>
                </a:moveTo>
                <a:cubicBezTo>
                  <a:pt x="1799332" y="0"/>
                  <a:pt x="1862036" y="14297"/>
                  <a:pt x="1919971" y="42891"/>
                </a:cubicBezTo>
                <a:cubicBezTo>
                  <a:pt x="1919971" y="42891"/>
                  <a:pt x="1919971" y="42891"/>
                  <a:pt x="3245911" y="705704"/>
                </a:cubicBezTo>
                <a:cubicBezTo>
                  <a:pt x="3385251" y="776091"/>
                  <a:pt x="3473256" y="918331"/>
                  <a:pt x="3473256" y="1073769"/>
                </a:cubicBezTo>
                <a:cubicBezTo>
                  <a:pt x="3473256" y="1073769"/>
                  <a:pt x="3473256" y="1073769"/>
                  <a:pt x="3473256" y="2827581"/>
                </a:cubicBezTo>
                <a:cubicBezTo>
                  <a:pt x="3473256" y="2983018"/>
                  <a:pt x="3385251" y="3125260"/>
                  <a:pt x="3245911" y="3195646"/>
                </a:cubicBezTo>
                <a:cubicBezTo>
                  <a:pt x="3245911" y="3195646"/>
                  <a:pt x="3245911" y="3195646"/>
                  <a:pt x="1919971" y="3858458"/>
                </a:cubicBezTo>
                <a:cubicBezTo>
                  <a:pt x="1804099" y="3915647"/>
                  <a:pt x="1669157" y="3915647"/>
                  <a:pt x="1553285" y="3858458"/>
                </a:cubicBezTo>
                <a:cubicBezTo>
                  <a:pt x="1553285" y="3858458"/>
                  <a:pt x="1553285" y="3858458"/>
                  <a:pt x="227347" y="3195646"/>
                </a:cubicBezTo>
                <a:cubicBezTo>
                  <a:pt x="88005" y="3125260"/>
                  <a:pt x="0" y="2983018"/>
                  <a:pt x="0" y="2827581"/>
                </a:cubicBezTo>
                <a:cubicBezTo>
                  <a:pt x="0" y="2827581"/>
                  <a:pt x="0" y="2827581"/>
                  <a:pt x="0" y="1073769"/>
                </a:cubicBezTo>
                <a:cubicBezTo>
                  <a:pt x="0" y="918331"/>
                  <a:pt x="88005" y="776091"/>
                  <a:pt x="227347" y="705704"/>
                </a:cubicBezTo>
                <a:cubicBezTo>
                  <a:pt x="227347" y="705704"/>
                  <a:pt x="227347" y="705704"/>
                  <a:pt x="1553285" y="42891"/>
                </a:cubicBezTo>
                <a:cubicBezTo>
                  <a:pt x="1611222" y="14297"/>
                  <a:pt x="1673926" y="0"/>
                  <a:pt x="1736628" y="0"/>
                </a:cubicBez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736600" dist="254000" dir="5400000" sx="93000" sy="93000" algn="t" rotWithShape="0">
              <a:schemeClr val="tx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sz="1400" b="0">
                <a:solidFill>
                  <a:schemeClr val="tx1">
                    <a:lumMod val="65000"/>
                    <a:lumOff val="35000"/>
                    <a:alpha val="40000"/>
                  </a:schemeClr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/>
          </a:p>
        </p:txBody>
      </p:sp>
      <p:sp>
        <p:nvSpPr>
          <p:cNvPr id="1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/>
              <a:t>2025/9/24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6095998" cy="4807974"/>
          </a:xfrm>
          <a:custGeom>
            <a:avLst/>
            <a:gdLst>
              <a:gd name="connsiteX0" fmla="*/ 0 w 5633884"/>
              <a:gd name="connsiteY0" fmla="*/ 0 h 5160109"/>
              <a:gd name="connsiteX1" fmla="*/ 5633884 w 5633884"/>
              <a:gd name="connsiteY1" fmla="*/ 0 h 5160109"/>
              <a:gd name="connsiteX2" fmla="*/ 5633884 w 5633884"/>
              <a:gd name="connsiteY2" fmla="*/ 5160109 h 5160109"/>
              <a:gd name="connsiteX3" fmla="*/ 0 w 5633884"/>
              <a:gd name="connsiteY3" fmla="*/ 5160109 h 516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3884" h="5160109">
                <a:moveTo>
                  <a:pt x="0" y="0"/>
                </a:moveTo>
                <a:lnTo>
                  <a:pt x="5633884" y="0"/>
                </a:lnTo>
                <a:lnTo>
                  <a:pt x="5633884" y="5160109"/>
                </a:lnTo>
                <a:lnTo>
                  <a:pt x="0" y="516010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6"/>
          <p:cNvSpPr/>
          <p:nvPr userDrawn="1"/>
        </p:nvSpPr>
        <p:spPr>
          <a:xfrm>
            <a:off x="-1" y="4807974"/>
            <a:ext cx="12192001" cy="2050026"/>
          </a:xfrm>
          <a:prstGeom prst="rect">
            <a:avLst/>
          </a:prstGeom>
          <a:gradFill flip="none" rotWithShape="1">
            <a:gsLst>
              <a:gs pos="0">
                <a:srgbClr val="FF5E64"/>
              </a:gs>
              <a:gs pos="100000">
                <a:srgbClr val="FF876A">
                  <a:alpha val="81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4832577" y="1820452"/>
            <a:ext cx="2526846" cy="2838291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6" y="0"/>
                  <a:pt x="1263423" y="0"/>
                </a:cubicBez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330200" dist="114300" dir="5400000" sx="97000" sy="97000" algn="t" rotWithShape="0">
              <a:schemeClr val="tx1">
                <a:alpha val="18000"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29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1140646" y="1820452"/>
            <a:ext cx="2526846" cy="2838291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5" y="0"/>
                  <a:pt x="1263423" y="0"/>
                </a:cubicBez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330200" dist="114300" dir="5400000" sx="97000" sy="97000" algn="t" rotWithShape="0">
              <a:schemeClr val="tx1">
                <a:alpha val="18000"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3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8524508" y="1820452"/>
            <a:ext cx="2526846" cy="2838291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8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8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7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7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8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8" y="2324881"/>
                </a:cubicBezTo>
                <a:cubicBezTo>
                  <a:pt x="2361448" y="2324881"/>
                  <a:pt x="2361448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7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7" y="513410"/>
                </a:cubicBezTo>
                <a:cubicBezTo>
                  <a:pt x="165397" y="513410"/>
                  <a:pt x="165397" y="513410"/>
                  <a:pt x="1130038" y="31204"/>
                </a:cubicBezTo>
                <a:cubicBezTo>
                  <a:pt x="1172188" y="10401"/>
                  <a:pt x="1217805" y="0"/>
                  <a:pt x="1263423" y="0"/>
                </a:cubicBez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330200" dist="114300" dir="5400000" sx="97000" sy="97000" algn="t" rotWithShape="0">
              <a:schemeClr val="tx1">
                <a:alpha val="18000"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Slide">
    <p:bg>
      <p:bgPr>
        <a:gradFill flip="none" rotWithShape="1">
          <a:gsLst>
            <a:gs pos="30000">
              <a:srgbClr val="FF5E64">
                <a:alpha val="100000"/>
              </a:srgbClr>
            </a:gs>
            <a:gs pos="100000">
              <a:srgbClr val="FF876A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l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/>
          </a:p>
          <a:p>
            <a:pPr lvl="1"/>
            <a:r>
              <a:rPr lang="zh-CN" altLang="en-US" dirty="0"/>
              <a:t>第二级</a:t>
            </a:r>
            <a:endParaRPr/>
          </a:p>
          <a:p>
            <a:pPr lvl="2"/>
            <a:r>
              <a:rPr lang="zh-CN" altLang="en-US" dirty="0"/>
              <a:t>第三级</a:t>
            </a:r>
            <a:endParaRPr/>
          </a:p>
          <a:p>
            <a:pPr lvl="3"/>
            <a:r>
              <a:rPr lang="zh-CN" altLang="en-US" dirty="0"/>
              <a:t>第四级</a:t>
            </a:r>
            <a:endParaRPr/>
          </a:p>
          <a:p>
            <a:pPr lvl="4"/>
            <a:r>
              <a:rPr lang="zh-CN" altLang="en-US" dirty="0"/>
              <a:t>第五级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1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lum bright="12000" contrast="30000"/>
          </a:blip>
          <a:srcRect l="1834" r="141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Rectangle 11"/>
          <p:cNvSpPr/>
          <p:nvPr/>
        </p:nvSpPr>
        <p:spPr>
          <a:xfrm>
            <a:off x="1169035" y="871855"/>
            <a:ext cx="9853295" cy="4914265"/>
          </a:xfrm>
          <a:prstGeom prst="round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8" descr="校标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4751070" y="1468755"/>
            <a:ext cx="2688407" cy="72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1159695-3F92-1B6E-B0E6-8E23B24B9FEE}"/>
              </a:ext>
            </a:extLst>
          </p:cNvPr>
          <p:cNvSpPr txBox="1"/>
          <p:nvPr/>
        </p:nvSpPr>
        <p:spPr>
          <a:xfrm>
            <a:off x="1931213" y="2392070"/>
            <a:ext cx="86319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                         </a:t>
            </a:r>
            <a:r>
              <a:rPr lang="zh-CN" altLang="en-US" sz="2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新生常见问题解答</a:t>
            </a:r>
            <a:endParaRPr lang="en-US" altLang="zh-CN" sz="2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zh-CN" altLang="en-US" sz="2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                 与</a:t>
            </a:r>
            <a:endParaRPr lang="en-US" altLang="zh-CN" sz="2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zh-CN" altLang="en-US" sz="2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        朋辅工作介绍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71B91F-1E59-EC23-D6E2-355A28C52F60}"/>
              </a:ext>
            </a:extLst>
          </p:cNvPr>
          <p:cNvSpPr txBox="1"/>
          <p:nvPr/>
        </p:nvSpPr>
        <p:spPr>
          <a:xfrm>
            <a:off x="3108960" y="4089197"/>
            <a:ext cx="5464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          </a:t>
            </a:r>
            <a:r>
              <a:rPr lang="zh-CN" altLang="en-US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能</a:t>
            </a:r>
            <a:r>
              <a:rPr lang="en-US" altLang="zh-CN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B2305 </a:t>
            </a:r>
            <a:r>
              <a:rPr lang="zh-CN" altLang="en-US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谭杰尹</a:t>
            </a:r>
            <a:endParaRPr lang="en-US" altLang="zh-CN" sz="1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n-US" altLang="zh-CN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                     2025</a:t>
            </a:r>
            <a:r>
              <a:rPr lang="zh-CN" altLang="en-US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年</a:t>
            </a:r>
            <a:r>
              <a:rPr lang="en-US" altLang="zh-CN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9</a:t>
            </a:r>
            <a:r>
              <a:rPr lang="zh-CN" altLang="en-US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月</a:t>
            </a:r>
            <a:r>
              <a:rPr lang="en-US" altLang="zh-CN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24</a:t>
            </a:r>
            <a:r>
              <a:rPr lang="zh-CN" altLang="en-US" sz="1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4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 14"/>
          <p:cNvSpPr/>
          <p:nvPr/>
        </p:nvSpPr>
        <p:spPr>
          <a:xfrm>
            <a:off x="4415155" y="-4445"/>
            <a:ext cx="7776845" cy="6862445"/>
          </a:xfrm>
          <a:custGeom>
            <a:avLst/>
            <a:gdLst>
              <a:gd name="connsiteX0" fmla="*/ 12247 w 12247"/>
              <a:gd name="connsiteY0" fmla="*/ 12 h 10779"/>
              <a:gd name="connsiteX1" fmla="*/ 12247 w 12247"/>
              <a:gd name="connsiteY1" fmla="*/ 10779 h 10779"/>
              <a:gd name="connsiteX2" fmla="*/ 0 w 12247"/>
              <a:gd name="connsiteY2" fmla="*/ 10779 h 10779"/>
              <a:gd name="connsiteX3" fmla="*/ 5146 w 12247"/>
              <a:gd name="connsiteY3" fmla="*/ 0 h 10779"/>
              <a:gd name="connsiteX4" fmla="*/ 12247 w 12247"/>
              <a:gd name="connsiteY4" fmla="*/ 12 h 1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" h="10779">
                <a:moveTo>
                  <a:pt x="12247" y="12"/>
                </a:moveTo>
                <a:lnTo>
                  <a:pt x="12247" y="10779"/>
                </a:lnTo>
                <a:lnTo>
                  <a:pt x="0" y="10779"/>
                </a:lnTo>
                <a:cubicBezTo>
                  <a:pt x="2368" y="9370"/>
                  <a:pt x="5688" y="5885"/>
                  <a:pt x="5146" y="0"/>
                </a:cubicBezTo>
                <a:lnTo>
                  <a:pt x="12247" y="12"/>
                </a:lnTo>
              </a:path>
            </a:pathLst>
          </a:custGeom>
          <a:blipFill rotWithShape="1">
            <a:blip r:embed="rId4" cstate="email"/>
            <a:tile tx="717550" ty="-1854200" sx="100000" sy="100000" flip="xy" algn="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: Shape 25"/>
          <p:cNvSpPr/>
          <p:nvPr/>
        </p:nvSpPr>
        <p:spPr>
          <a:xfrm>
            <a:off x="9960033" y="3283013"/>
            <a:ext cx="2231967" cy="3574987"/>
          </a:xfrm>
          <a:custGeom>
            <a:avLst/>
            <a:gdLst>
              <a:gd name="connsiteX0" fmla="*/ 2231967 w 2231967"/>
              <a:gd name="connsiteY0" fmla="*/ 0 h 3574987"/>
              <a:gd name="connsiteX1" fmla="*/ 2231967 w 2231967"/>
              <a:gd name="connsiteY1" fmla="*/ 3574987 h 3574987"/>
              <a:gd name="connsiteX2" fmla="*/ 0 w 2231967"/>
              <a:gd name="connsiteY2" fmla="*/ 3574987 h 3574987"/>
              <a:gd name="connsiteX3" fmla="*/ 6122 w 2231967"/>
              <a:gd name="connsiteY3" fmla="*/ 3526811 h 3574987"/>
              <a:gd name="connsiteX4" fmla="*/ 2047230 w 2231967"/>
              <a:gd name="connsiteY4" fmla="*/ 131370 h 357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1967" h="3574987">
                <a:moveTo>
                  <a:pt x="2231967" y="0"/>
                </a:moveTo>
                <a:lnTo>
                  <a:pt x="2231967" y="3574987"/>
                </a:lnTo>
                <a:lnTo>
                  <a:pt x="0" y="3574987"/>
                </a:lnTo>
                <a:lnTo>
                  <a:pt x="6122" y="3526811"/>
                </a:lnTo>
                <a:cubicBezTo>
                  <a:pt x="217814" y="2141364"/>
                  <a:pt x="972981" y="934752"/>
                  <a:pt x="2047230" y="131370"/>
                </a:cubicBezTo>
                <a:close/>
              </a:path>
            </a:pathLst>
          </a:custGeom>
          <a:gradFill>
            <a:gsLst>
              <a:gs pos="0">
                <a:srgbClr val="FF8A6B"/>
              </a:gs>
              <a:gs pos="100000">
                <a:srgbClr val="FF3D5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F09FE35-FD8C-E872-4B66-397FF34B1847}"/>
              </a:ext>
            </a:extLst>
          </p:cNvPr>
          <p:cNvSpPr/>
          <p:nvPr/>
        </p:nvSpPr>
        <p:spPr>
          <a:xfrm>
            <a:off x="-327259" y="173255"/>
            <a:ext cx="7353701" cy="558265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2000">
                <a:schemeClr val="accent4">
                  <a:lumMod val="60000"/>
                  <a:lumOff val="40000"/>
                  <a:alpha val="58000"/>
                </a:schemeClr>
              </a:gs>
              <a:gs pos="36000">
                <a:schemeClr val="accent4">
                  <a:lumMod val="60000"/>
                  <a:lumOff val="40000"/>
                  <a:alpha val="41000"/>
                </a:schemeClr>
              </a:gs>
              <a:gs pos="69000">
                <a:schemeClr val="accent4">
                  <a:lumMod val="60000"/>
                  <a:lumOff val="40000"/>
                  <a:alpha val="1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3F3C22-8B9B-BD22-0DE2-718EEAE413C9}"/>
              </a:ext>
            </a:extLst>
          </p:cNvPr>
          <p:cNvSpPr txBox="1"/>
          <p:nvPr/>
        </p:nvSpPr>
        <p:spPr>
          <a:xfrm>
            <a:off x="0" y="221554"/>
            <a:ext cx="707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一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朋辈辅导员工作介绍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54963D-A85A-20DE-1388-CBF2D02499B2}"/>
              </a:ext>
            </a:extLst>
          </p:cNvPr>
          <p:cNvSpPr/>
          <p:nvPr/>
        </p:nvSpPr>
        <p:spPr>
          <a:xfrm>
            <a:off x="0" y="1025091"/>
            <a:ext cx="1078029" cy="49088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152953-D55E-5639-0922-57CD84FAC22B}"/>
              </a:ext>
            </a:extLst>
          </p:cNvPr>
          <p:cNvSpPr txBox="1"/>
          <p:nvPr/>
        </p:nvSpPr>
        <p:spPr>
          <a:xfrm>
            <a:off x="105877" y="1085869"/>
            <a:ext cx="866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 组成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64C0FA-1BFC-FC43-F043-572B4088B945}"/>
              </a:ext>
            </a:extLst>
          </p:cNvPr>
          <p:cNvSpPr txBox="1"/>
          <p:nvPr/>
        </p:nvSpPr>
        <p:spPr>
          <a:xfrm>
            <a:off x="1325083" y="1106782"/>
            <a:ext cx="468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两位朋辈辅导员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一位正式辅导员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604A492-E528-B4DB-6091-99C9ACC666A6}"/>
              </a:ext>
            </a:extLst>
          </p:cNvPr>
          <p:cNvSpPr/>
          <p:nvPr/>
        </p:nvSpPr>
        <p:spPr>
          <a:xfrm>
            <a:off x="-1" y="2605718"/>
            <a:ext cx="1270536" cy="49088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工作内容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75B9642F-0756-8D91-6305-44887C6E62E3}"/>
              </a:ext>
            </a:extLst>
          </p:cNvPr>
          <p:cNvSpPr/>
          <p:nvPr/>
        </p:nvSpPr>
        <p:spPr>
          <a:xfrm>
            <a:off x="1325084" y="1809549"/>
            <a:ext cx="118706" cy="2271563"/>
          </a:xfrm>
          <a:prstGeom prst="leftBrace">
            <a:avLst>
              <a:gd name="adj1" fmla="val 84235"/>
              <a:gd name="adj2" fmla="val 50000"/>
            </a:avLst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A7A474-87C0-98D3-729C-70814CEE53A3}"/>
              </a:ext>
            </a:extLst>
          </p:cNvPr>
          <p:cNvSpPr txBox="1"/>
          <p:nvPr/>
        </p:nvSpPr>
        <p:spPr>
          <a:xfrm>
            <a:off x="1617044" y="1719801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思想引领与党团工作（入党（团）推优，评优评先）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D98F6D-14C9-7F03-6066-15717110FEC3}"/>
              </a:ext>
            </a:extLst>
          </p:cNvPr>
          <p:cNvSpPr txBox="1"/>
          <p:nvPr/>
        </p:nvSpPr>
        <p:spPr>
          <a:xfrm>
            <a:off x="1614204" y="2078493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学业规划与生涯规划指导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3E125C-835D-4C52-D308-6A93A8C19F2E}"/>
              </a:ext>
            </a:extLst>
          </p:cNvPr>
          <p:cNvSpPr txBox="1"/>
          <p:nvPr/>
        </p:nvSpPr>
        <p:spPr>
          <a:xfrm>
            <a:off x="1591388" y="2444307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学业辅导与帮扶（彭康学业辅导团）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79D0E9-2A99-CE06-6B72-38F011F63142}"/>
              </a:ext>
            </a:extLst>
          </p:cNvPr>
          <p:cNvSpPr txBox="1"/>
          <p:nvPr/>
        </p:nvSpPr>
        <p:spPr>
          <a:xfrm>
            <a:off x="1575341" y="2792358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宿舍文化建设与安全教育（优秀宿舍）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91D814-8998-8E39-E1A1-2CD3F949975A}"/>
              </a:ext>
            </a:extLst>
          </p:cNvPr>
          <p:cNvSpPr txBox="1"/>
          <p:nvPr/>
        </p:nvSpPr>
        <p:spPr>
          <a:xfrm>
            <a:off x="1575341" y="3136891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心理健康教育（心理班会）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F857DB-BDE1-432D-53B7-6FFC9A5AFEC5}"/>
              </a:ext>
            </a:extLst>
          </p:cNvPr>
          <p:cNvSpPr txBox="1"/>
          <p:nvPr/>
        </p:nvSpPr>
        <p:spPr>
          <a:xfrm>
            <a:off x="1591388" y="3506223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第二课堂教育指导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6639B2-6208-E09D-FC79-E0D2C32C5356}"/>
              </a:ext>
            </a:extLst>
          </p:cNvPr>
          <p:cNvSpPr txBox="1"/>
          <p:nvPr/>
        </p:nvSpPr>
        <p:spPr>
          <a:xfrm>
            <a:off x="1575341" y="3859696"/>
            <a:ext cx="540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班级与学风建设指导（团建活动）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8CAF04-D4F9-C99C-AA4A-AEDE02A9C270}"/>
              </a:ext>
            </a:extLst>
          </p:cNvPr>
          <p:cNvSpPr/>
          <p:nvPr/>
        </p:nvSpPr>
        <p:spPr>
          <a:xfrm>
            <a:off x="-1" y="4666838"/>
            <a:ext cx="1270536" cy="49088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工作目的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7895CF-8EDC-F625-03D0-34DE8897A8F5}"/>
              </a:ext>
            </a:extLst>
          </p:cNvPr>
          <p:cNvSpPr txBox="1"/>
          <p:nvPr/>
        </p:nvSpPr>
        <p:spPr>
          <a:xfrm>
            <a:off x="1443790" y="4312118"/>
            <a:ext cx="4379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解决学业和生活问题，尽早适应大学生活；树立良好的价值观；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关注心理健康，培养积极向上的心态；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规划人生方向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83FC67B-9A9B-30BB-7059-FA3A561FB8F3}"/>
              </a:ext>
            </a:extLst>
          </p:cNvPr>
          <p:cNvSpPr/>
          <p:nvPr/>
        </p:nvSpPr>
        <p:spPr>
          <a:xfrm>
            <a:off x="19250" y="6017204"/>
            <a:ext cx="1270536" cy="49088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朋辅优势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DBB8A1-8599-68EB-BA72-AD8A388B1719}"/>
              </a:ext>
            </a:extLst>
          </p:cNvPr>
          <p:cNvSpPr txBox="1"/>
          <p:nvPr/>
        </p:nvSpPr>
        <p:spPr>
          <a:xfrm>
            <a:off x="1328288" y="5800983"/>
            <a:ext cx="3506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以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“朋友”</a:t>
            </a:r>
            <a:r>
              <a:rPr lang="zh-CN" altLang="en-US" dirty="0">
                <a:solidFill>
                  <a:srgbClr val="00B050"/>
                </a:solidFill>
              </a:rPr>
              <a:t>的身份相处，易于交流沟通，及时发现问题并反馈；学习经历类似，提高解答效率。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allAtOnce"/>
      <p:bldP spid="7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19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4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占位符 13" descr="图片1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>
            <a:fillRect/>
          </a:stretch>
        </p:blipFill>
        <p:spPr>
          <a:xfrm>
            <a:off x="650437" y="3063240"/>
            <a:ext cx="10656570" cy="3358515"/>
          </a:xfrm>
          <a:prstGeom prst="rect">
            <a:avLst/>
          </a:prstGeom>
        </p:spPr>
      </p:pic>
      <p:sp>
        <p:nvSpPr>
          <p:cNvPr id="63" name="Rectangle: Rounded Corners 1"/>
          <p:cNvSpPr/>
          <p:nvPr/>
        </p:nvSpPr>
        <p:spPr>
          <a:xfrm>
            <a:off x="649704" y="3061663"/>
            <a:ext cx="10656570" cy="3359150"/>
          </a:xfrm>
          <a:prstGeom prst="roundRect">
            <a:avLst>
              <a:gd name="adj" fmla="val 941"/>
            </a:avLst>
          </a:prstGeom>
          <a:gradFill flip="none" rotWithShape="1">
            <a:gsLst>
              <a:gs pos="0">
                <a:srgbClr val="FF5E64"/>
              </a:gs>
              <a:gs pos="100000">
                <a:srgbClr val="FF876A">
                  <a:alpha val="62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9"/>
          <p:cNvGrpSpPr/>
          <p:nvPr/>
        </p:nvGrpSpPr>
        <p:grpSpPr>
          <a:xfrm>
            <a:off x="4502785" y="3818307"/>
            <a:ext cx="3186430" cy="1992630"/>
            <a:chOff x="4502665" y="3959942"/>
            <a:chExt cx="3186669" cy="1323959"/>
          </a:xfrm>
        </p:grpSpPr>
        <p:sp>
          <p:nvSpPr>
            <p:cNvPr id="67" name="Rectangle: Rounded Corners 20"/>
            <p:cNvSpPr/>
            <p:nvPr/>
          </p:nvSpPr>
          <p:spPr>
            <a:xfrm>
              <a:off x="4502665" y="3959942"/>
              <a:ext cx="3186669" cy="1323959"/>
            </a:xfrm>
            <a:prstGeom prst="roundRect">
              <a:avLst>
                <a:gd name="adj" fmla="val 4748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"/>
            <p:cNvGrpSpPr/>
            <p:nvPr/>
          </p:nvGrpSpPr>
          <p:grpSpPr>
            <a:xfrm>
              <a:off x="4671811" y="3963385"/>
              <a:ext cx="2836149" cy="1161912"/>
              <a:chOff x="4671811" y="3963385"/>
              <a:chExt cx="2836149" cy="1161912"/>
            </a:xfrm>
          </p:grpSpPr>
          <p:sp>
            <p:nvSpPr>
              <p:cNvPr id="69" name="TextBox 22"/>
              <p:cNvSpPr txBox="1"/>
              <p:nvPr/>
            </p:nvSpPr>
            <p:spPr>
              <a:xfrm>
                <a:off x="4671811" y="3963385"/>
                <a:ext cx="2823921" cy="244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856A"/>
                    </a:solidFill>
                    <a:latin typeface="黑体" panose="02010609060101010101" charset="-122"/>
                    <a:ea typeface="黑体" panose="02010609060101010101" charset="-122"/>
                    <a:cs typeface="Catamaran Bold" panose="00000800000000000000" pitchFamily="2" charset="0"/>
                  </a:rPr>
                  <a:t>02</a:t>
                </a:r>
                <a:endParaRPr/>
              </a:p>
            </p:txBody>
          </p:sp>
          <p:sp>
            <p:nvSpPr>
              <p:cNvPr id="70" name="TextBox 23"/>
              <p:cNvSpPr txBox="1"/>
              <p:nvPr/>
            </p:nvSpPr>
            <p:spPr>
              <a:xfrm>
                <a:off x="4684039" y="4420385"/>
                <a:ext cx="2823921" cy="704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未来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《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概率论与数理统计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》《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复变函数</a:t>
                </a:r>
                <a:r>
                  <a:rPr lang="en-US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》</a:t>
                </a:r>
                <a:r>
                  <a:rPr lang="zh-CN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等学科需要用到</a:t>
                </a:r>
                <a:endParaRPr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71" name="Group 10"/>
          <p:cNvGrpSpPr/>
          <p:nvPr/>
        </p:nvGrpSpPr>
        <p:grpSpPr>
          <a:xfrm>
            <a:off x="8053717" y="3818307"/>
            <a:ext cx="3186430" cy="1992630"/>
            <a:chOff x="7947776" y="3959942"/>
            <a:chExt cx="3186669" cy="1323959"/>
          </a:xfrm>
        </p:grpSpPr>
        <p:sp>
          <p:nvSpPr>
            <p:cNvPr id="72" name="Rectangle: Rounded Corners 25"/>
            <p:cNvSpPr/>
            <p:nvPr/>
          </p:nvSpPr>
          <p:spPr>
            <a:xfrm>
              <a:off x="7947776" y="3959942"/>
              <a:ext cx="3186669" cy="1323959"/>
            </a:xfrm>
            <a:prstGeom prst="roundRect">
              <a:avLst>
                <a:gd name="adj" fmla="val 4748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"/>
            <p:cNvGrpSpPr/>
            <p:nvPr/>
          </p:nvGrpSpPr>
          <p:grpSpPr>
            <a:xfrm>
              <a:off x="8164585" y="3968744"/>
              <a:ext cx="2862917" cy="1219141"/>
              <a:chOff x="8164585" y="3968744"/>
              <a:chExt cx="2862917" cy="1219141"/>
            </a:xfrm>
          </p:grpSpPr>
          <p:sp>
            <p:nvSpPr>
              <p:cNvPr id="74" name="TextBox 27"/>
              <p:cNvSpPr txBox="1"/>
              <p:nvPr/>
            </p:nvSpPr>
            <p:spPr>
              <a:xfrm>
                <a:off x="8203581" y="3968744"/>
                <a:ext cx="2823921" cy="244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856A"/>
                    </a:solidFill>
                    <a:latin typeface="黑体" panose="02010609060101010101" charset="-122"/>
                    <a:ea typeface="黑体" panose="02010609060101010101" charset="-122"/>
                    <a:cs typeface="Catamaran Bold" panose="00000800000000000000" pitchFamily="2" charset="0"/>
                  </a:rPr>
                  <a:t>03</a:t>
                </a:r>
                <a:endParaRPr/>
              </a:p>
            </p:txBody>
          </p:sp>
          <p:sp>
            <p:nvSpPr>
              <p:cNvPr id="75" name="TextBox 28"/>
              <p:cNvSpPr txBox="1"/>
              <p:nvPr/>
            </p:nvSpPr>
            <p:spPr>
              <a:xfrm>
                <a:off x="8164585" y="4411484"/>
                <a:ext cx="2823921" cy="776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挂科容易，高分难。迎接更难的</a:t>
                </a:r>
                <a:r>
                  <a:rPr lang="en-US" altLang="zh-CN" sz="2000" dirty="0">
                    <a:solidFill>
                      <a:schemeClr val="accent6">
                        <a:lumMod val="75000"/>
                      </a:schemeClr>
                    </a:solidFill>
                  </a:rPr>
                  <a:t>《</a:t>
                </a:r>
                <a:r>
                  <a:rPr lang="zh-CN" alt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机械设计基础</a:t>
                </a:r>
                <a:r>
                  <a:rPr lang="en-US" altLang="zh-CN" sz="2000" dirty="0">
                    <a:solidFill>
                      <a:schemeClr val="accent6">
                        <a:lumMod val="75000"/>
                      </a:schemeClr>
                    </a:solidFill>
                  </a:rPr>
                  <a:t>》</a:t>
                </a:r>
                <a:endParaRPr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76" name="Group 8"/>
          <p:cNvGrpSpPr/>
          <p:nvPr/>
        </p:nvGrpSpPr>
        <p:grpSpPr>
          <a:xfrm>
            <a:off x="951853" y="3808953"/>
            <a:ext cx="3186430" cy="2001984"/>
            <a:chOff x="1057448" y="3953726"/>
            <a:chExt cx="3186669" cy="1330174"/>
          </a:xfrm>
        </p:grpSpPr>
        <p:sp>
          <p:nvSpPr>
            <p:cNvPr id="77" name="Rectangle: Rounded Corners 11"/>
            <p:cNvSpPr/>
            <p:nvPr/>
          </p:nvSpPr>
          <p:spPr>
            <a:xfrm>
              <a:off x="1057448" y="3959941"/>
              <a:ext cx="3186669" cy="1323959"/>
            </a:xfrm>
            <a:prstGeom prst="roundRect">
              <a:avLst>
                <a:gd name="adj" fmla="val 4748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5"/>
            <p:cNvGrpSpPr/>
            <p:nvPr/>
          </p:nvGrpSpPr>
          <p:grpSpPr>
            <a:xfrm>
              <a:off x="1194098" y="3953726"/>
              <a:ext cx="2868752" cy="1118025"/>
              <a:chOff x="1194098" y="3953726"/>
              <a:chExt cx="2868752" cy="1118025"/>
            </a:xfrm>
          </p:grpSpPr>
          <p:sp>
            <p:nvSpPr>
              <p:cNvPr id="79" name="TextBox 15"/>
              <p:cNvSpPr txBox="1"/>
              <p:nvPr/>
            </p:nvSpPr>
            <p:spPr>
              <a:xfrm>
                <a:off x="1194098" y="3953726"/>
                <a:ext cx="2823921" cy="244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856A"/>
                    </a:solidFill>
                    <a:latin typeface="黑体" panose="02010609060101010101" charset="-122"/>
                    <a:ea typeface="黑体" panose="02010609060101010101" charset="-122"/>
                    <a:cs typeface="Catamaran Bold" panose="00000800000000000000" pitchFamily="2" charset="0"/>
                  </a:rPr>
                  <a:t>01</a:t>
                </a:r>
                <a:endParaRPr dirty="0"/>
              </a:p>
            </p:txBody>
          </p:sp>
          <p:sp>
            <p:nvSpPr>
              <p:cNvPr id="80" name="TextBox 16"/>
              <p:cNvSpPr txBox="1"/>
              <p:nvPr/>
            </p:nvSpPr>
            <p:spPr>
              <a:xfrm>
                <a:off x="1194099" y="4438369"/>
                <a:ext cx="2868751" cy="633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非常重要！！！占据</a:t>
                </a:r>
                <a:r>
                  <a:rPr lang="en-US" altLang="zh-CN" sz="1600" dirty="0">
                    <a:solidFill>
                      <a:schemeClr val="accent6">
                        <a:lumMod val="75000"/>
                      </a:schemeClr>
                    </a:solidFill>
                  </a:rPr>
                  <a:t>12</a:t>
                </a:r>
                <a:r>
                  <a:rPr lang="zh-CN" alt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学分，智育成绩影响很大！！！（大学生数学竞赛，数学建模比赛）</a:t>
                </a:r>
                <a:endParaRPr sz="11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81" name="Group 54"/>
          <p:cNvGrpSpPr/>
          <p:nvPr/>
        </p:nvGrpSpPr>
        <p:grpSpPr>
          <a:xfrm>
            <a:off x="9527707" y="3186480"/>
            <a:ext cx="479425" cy="480060"/>
            <a:chOff x="6449755" y="2932609"/>
            <a:chExt cx="369038" cy="369038"/>
          </a:xfrm>
        </p:grpSpPr>
        <p:sp>
          <p:nvSpPr>
            <p:cNvPr id="82" name="Oval 35"/>
            <p:cNvSpPr/>
            <p:nvPr/>
          </p:nvSpPr>
          <p:spPr>
            <a:xfrm>
              <a:off x="6449755" y="2932609"/>
              <a:ext cx="369038" cy="3690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 204"/>
            <p:cNvSpPr>
              <a:spLocks noEditPoints="1"/>
            </p:cNvSpPr>
            <p:nvPr/>
          </p:nvSpPr>
          <p:spPr bwMode="auto">
            <a:xfrm>
              <a:off x="6537140" y="3052545"/>
              <a:ext cx="194267" cy="129167"/>
            </a:xfrm>
            <a:custGeom>
              <a:avLst/>
              <a:gdLst>
                <a:gd name="T0" fmla="*/ 295020 w 87"/>
                <a:gd name="T1" fmla="*/ 51320 h 58"/>
                <a:gd name="T2" fmla="*/ 150940 w 87"/>
                <a:gd name="T3" fmla="*/ 99219 h 58"/>
                <a:gd name="T4" fmla="*/ 147510 w 87"/>
                <a:gd name="T5" fmla="*/ 99219 h 58"/>
                <a:gd name="T6" fmla="*/ 147510 w 87"/>
                <a:gd name="T7" fmla="*/ 99219 h 58"/>
                <a:gd name="T8" fmla="*/ 61748 w 87"/>
                <a:gd name="T9" fmla="*/ 71848 h 58"/>
                <a:gd name="T10" fmla="*/ 48026 w 87"/>
                <a:gd name="T11" fmla="*/ 109483 h 58"/>
                <a:gd name="T12" fmla="*/ 58318 w 87"/>
                <a:gd name="T13" fmla="*/ 123168 h 58"/>
                <a:gd name="T14" fmla="*/ 51457 w 87"/>
                <a:gd name="T15" fmla="*/ 136854 h 58"/>
                <a:gd name="T16" fmla="*/ 58318 w 87"/>
                <a:gd name="T17" fmla="*/ 191595 h 58"/>
                <a:gd name="T18" fmla="*/ 54887 w 87"/>
                <a:gd name="T19" fmla="*/ 195017 h 58"/>
                <a:gd name="T20" fmla="*/ 54887 w 87"/>
                <a:gd name="T21" fmla="*/ 198438 h 58"/>
                <a:gd name="T22" fmla="*/ 27444 w 87"/>
                <a:gd name="T23" fmla="*/ 198438 h 58"/>
                <a:gd name="T24" fmla="*/ 24013 w 87"/>
                <a:gd name="T25" fmla="*/ 195017 h 58"/>
                <a:gd name="T26" fmla="*/ 24013 w 87"/>
                <a:gd name="T27" fmla="*/ 191595 h 58"/>
                <a:gd name="T28" fmla="*/ 30874 w 87"/>
                <a:gd name="T29" fmla="*/ 136854 h 58"/>
                <a:gd name="T30" fmla="*/ 24013 w 87"/>
                <a:gd name="T31" fmla="*/ 123168 h 58"/>
                <a:gd name="T32" fmla="*/ 34305 w 87"/>
                <a:gd name="T33" fmla="*/ 109483 h 58"/>
                <a:gd name="T34" fmla="*/ 44596 w 87"/>
                <a:gd name="T35" fmla="*/ 65006 h 58"/>
                <a:gd name="T36" fmla="*/ 3430 w 87"/>
                <a:gd name="T37" fmla="*/ 51320 h 58"/>
                <a:gd name="T38" fmla="*/ 0 w 87"/>
                <a:gd name="T39" fmla="*/ 47899 h 58"/>
                <a:gd name="T40" fmla="*/ 3430 w 87"/>
                <a:gd name="T41" fmla="*/ 44477 h 58"/>
                <a:gd name="T42" fmla="*/ 147510 w 87"/>
                <a:gd name="T43" fmla="*/ 0 h 58"/>
                <a:gd name="T44" fmla="*/ 147510 w 87"/>
                <a:gd name="T45" fmla="*/ 0 h 58"/>
                <a:gd name="T46" fmla="*/ 150940 w 87"/>
                <a:gd name="T47" fmla="*/ 0 h 58"/>
                <a:gd name="T48" fmla="*/ 295020 w 87"/>
                <a:gd name="T49" fmla="*/ 44477 h 58"/>
                <a:gd name="T50" fmla="*/ 298450 w 87"/>
                <a:gd name="T51" fmla="*/ 47899 h 58"/>
                <a:gd name="T52" fmla="*/ 295020 w 87"/>
                <a:gd name="T53" fmla="*/ 51320 h 58"/>
                <a:gd name="T54" fmla="*/ 233271 w 87"/>
                <a:gd name="T55" fmla="*/ 130011 h 58"/>
                <a:gd name="T56" fmla="*/ 147510 w 87"/>
                <a:gd name="T57" fmla="*/ 164225 h 58"/>
                <a:gd name="T58" fmla="*/ 65179 w 87"/>
                <a:gd name="T59" fmla="*/ 130011 h 58"/>
                <a:gd name="T60" fmla="*/ 68609 w 87"/>
                <a:gd name="T61" fmla="*/ 88955 h 58"/>
                <a:gd name="T62" fmla="*/ 144079 w 87"/>
                <a:gd name="T63" fmla="*/ 112904 h 58"/>
                <a:gd name="T64" fmla="*/ 147510 w 87"/>
                <a:gd name="T65" fmla="*/ 116326 h 58"/>
                <a:gd name="T66" fmla="*/ 154371 w 87"/>
                <a:gd name="T67" fmla="*/ 112904 h 58"/>
                <a:gd name="T68" fmla="*/ 229841 w 87"/>
                <a:gd name="T69" fmla="*/ 88955 h 58"/>
                <a:gd name="T70" fmla="*/ 233271 w 87"/>
                <a:gd name="T71" fmla="*/ 130011 h 5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7" h="58">
                  <a:moveTo>
                    <a:pt x="86" y="15"/>
                  </a:moveTo>
                  <a:cubicBezTo>
                    <a:pt x="44" y="29"/>
                    <a:pt x="44" y="29"/>
                    <a:pt x="44" y="29"/>
                  </a:cubicBezTo>
                  <a:cubicBezTo>
                    <a:pt x="44" y="29"/>
                    <a:pt x="44" y="29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6" y="23"/>
                    <a:pt x="15" y="27"/>
                    <a:pt x="14" y="32"/>
                  </a:cubicBezTo>
                  <a:cubicBezTo>
                    <a:pt x="16" y="33"/>
                    <a:pt x="17" y="34"/>
                    <a:pt x="17" y="36"/>
                  </a:cubicBezTo>
                  <a:cubicBezTo>
                    <a:pt x="17" y="38"/>
                    <a:pt x="16" y="39"/>
                    <a:pt x="15" y="40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7"/>
                    <a:pt x="17" y="57"/>
                    <a:pt x="16" y="57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7" y="57"/>
                  </a:cubicBezTo>
                  <a:cubicBezTo>
                    <a:pt x="7" y="57"/>
                    <a:pt x="7" y="57"/>
                    <a:pt x="7" y="56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8" y="39"/>
                    <a:pt x="7" y="38"/>
                    <a:pt x="7" y="36"/>
                  </a:cubicBezTo>
                  <a:cubicBezTo>
                    <a:pt x="7" y="34"/>
                    <a:pt x="8" y="33"/>
                    <a:pt x="10" y="32"/>
                  </a:cubicBezTo>
                  <a:cubicBezTo>
                    <a:pt x="10" y="27"/>
                    <a:pt x="11" y="23"/>
                    <a:pt x="13" y="19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7" y="13"/>
                    <a:pt x="87" y="14"/>
                    <a:pt x="87" y="14"/>
                  </a:cubicBezTo>
                  <a:cubicBezTo>
                    <a:pt x="87" y="15"/>
                    <a:pt x="87" y="15"/>
                    <a:pt x="86" y="15"/>
                  </a:cubicBezTo>
                  <a:close/>
                  <a:moveTo>
                    <a:pt x="68" y="38"/>
                  </a:moveTo>
                  <a:cubicBezTo>
                    <a:pt x="68" y="44"/>
                    <a:pt x="57" y="48"/>
                    <a:pt x="43" y="48"/>
                  </a:cubicBezTo>
                  <a:cubicBezTo>
                    <a:pt x="30" y="48"/>
                    <a:pt x="19" y="44"/>
                    <a:pt x="19" y="38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3" y="34"/>
                    <a:pt x="43" y="34"/>
                  </a:cubicBezTo>
                  <a:cubicBezTo>
                    <a:pt x="44" y="34"/>
                    <a:pt x="45" y="33"/>
                    <a:pt x="45" y="33"/>
                  </a:cubicBezTo>
                  <a:cubicBezTo>
                    <a:pt x="67" y="26"/>
                    <a:pt x="67" y="26"/>
                    <a:pt x="67" y="26"/>
                  </a:cubicBezTo>
                  <a:lnTo>
                    <a:pt x="68" y="38"/>
                  </a:lnTo>
                  <a:close/>
                </a:path>
              </a:pathLst>
            </a:custGeom>
            <a:solidFill>
              <a:srgbClr val="FF876A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4" name="Group 55"/>
          <p:cNvGrpSpPr/>
          <p:nvPr/>
        </p:nvGrpSpPr>
        <p:grpSpPr>
          <a:xfrm>
            <a:off x="5823581" y="3177044"/>
            <a:ext cx="479425" cy="480060"/>
            <a:chOff x="5911481" y="2932609"/>
            <a:chExt cx="369038" cy="369038"/>
          </a:xfrm>
          <a:solidFill>
            <a:schemeClr val="bg1"/>
          </a:solidFill>
        </p:grpSpPr>
        <p:sp>
          <p:nvSpPr>
            <p:cNvPr id="85" name="Oval 34"/>
            <p:cNvSpPr/>
            <p:nvPr/>
          </p:nvSpPr>
          <p:spPr>
            <a:xfrm>
              <a:off x="5911481" y="2932609"/>
              <a:ext cx="369038" cy="369038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230"/>
            <p:cNvSpPr>
              <a:spLocks noEditPoints="1"/>
            </p:cNvSpPr>
            <p:nvPr/>
          </p:nvSpPr>
          <p:spPr bwMode="auto">
            <a:xfrm>
              <a:off x="6030898" y="3052028"/>
              <a:ext cx="130201" cy="130201"/>
            </a:xfrm>
            <a:custGeom>
              <a:avLst/>
              <a:gdLst>
                <a:gd name="T0" fmla="*/ 165538 w 58"/>
                <a:gd name="T1" fmla="*/ 89666 h 58"/>
                <a:gd name="T2" fmla="*/ 55179 w 58"/>
                <a:gd name="T3" fmla="*/ 200025 h 58"/>
                <a:gd name="T4" fmla="*/ 0 w 58"/>
                <a:gd name="T5" fmla="*/ 200025 h 58"/>
                <a:gd name="T6" fmla="*/ 0 w 58"/>
                <a:gd name="T7" fmla="*/ 144846 h 58"/>
                <a:gd name="T8" fmla="*/ 110359 w 58"/>
                <a:gd name="T9" fmla="*/ 34487 h 58"/>
                <a:gd name="T10" fmla="*/ 165538 w 58"/>
                <a:gd name="T11" fmla="*/ 89666 h 58"/>
                <a:gd name="T12" fmla="*/ 62077 w 58"/>
                <a:gd name="T13" fmla="*/ 172435 h 58"/>
                <a:gd name="T14" fmla="*/ 31038 w 58"/>
                <a:gd name="T15" fmla="*/ 141397 h 58"/>
                <a:gd name="T16" fmla="*/ 17244 w 58"/>
                <a:gd name="T17" fmla="*/ 151743 h 58"/>
                <a:gd name="T18" fmla="*/ 17244 w 58"/>
                <a:gd name="T19" fmla="*/ 165538 h 58"/>
                <a:gd name="T20" fmla="*/ 34487 w 58"/>
                <a:gd name="T21" fmla="*/ 165538 h 58"/>
                <a:gd name="T22" fmla="*/ 34487 w 58"/>
                <a:gd name="T23" fmla="*/ 182781 h 58"/>
                <a:gd name="T24" fmla="*/ 48282 w 58"/>
                <a:gd name="T25" fmla="*/ 182781 h 58"/>
                <a:gd name="T26" fmla="*/ 62077 w 58"/>
                <a:gd name="T27" fmla="*/ 172435 h 58"/>
                <a:gd name="T28" fmla="*/ 113807 w 58"/>
                <a:gd name="T29" fmla="*/ 58628 h 58"/>
                <a:gd name="T30" fmla="*/ 113807 w 58"/>
                <a:gd name="T31" fmla="*/ 58628 h 58"/>
                <a:gd name="T32" fmla="*/ 41384 w 58"/>
                <a:gd name="T33" fmla="*/ 131051 h 58"/>
                <a:gd name="T34" fmla="*/ 41384 w 58"/>
                <a:gd name="T35" fmla="*/ 131051 h 58"/>
                <a:gd name="T36" fmla="*/ 44833 w 58"/>
                <a:gd name="T37" fmla="*/ 134500 h 58"/>
                <a:gd name="T38" fmla="*/ 44833 w 58"/>
                <a:gd name="T39" fmla="*/ 134500 h 58"/>
                <a:gd name="T40" fmla="*/ 117256 w 58"/>
                <a:gd name="T41" fmla="*/ 62077 h 58"/>
                <a:gd name="T42" fmla="*/ 117256 w 58"/>
                <a:gd name="T43" fmla="*/ 62077 h 58"/>
                <a:gd name="T44" fmla="*/ 113807 w 58"/>
                <a:gd name="T45" fmla="*/ 58628 h 58"/>
                <a:gd name="T46" fmla="*/ 196576 w 58"/>
                <a:gd name="T47" fmla="*/ 62077 h 58"/>
                <a:gd name="T48" fmla="*/ 172435 w 58"/>
                <a:gd name="T49" fmla="*/ 82769 h 58"/>
                <a:gd name="T50" fmla="*/ 117256 w 58"/>
                <a:gd name="T51" fmla="*/ 27590 h 58"/>
                <a:gd name="T52" fmla="*/ 141397 w 58"/>
                <a:gd name="T53" fmla="*/ 6897 h 58"/>
                <a:gd name="T54" fmla="*/ 151743 w 58"/>
                <a:gd name="T55" fmla="*/ 0 h 58"/>
                <a:gd name="T56" fmla="*/ 165538 w 58"/>
                <a:gd name="T57" fmla="*/ 6897 h 58"/>
                <a:gd name="T58" fmla="*/ 196576 w 58"/>
                <a:gd name="T59" fmla="*/ 37936 h 58"/>
                <a:gd name="T60" fmla="*/ 200025 w 58"/>
                <a:gd name="T61" fmla="*/ 48282 h 58"/>
                <a:gd name="T62" fmla="*/ 196576 w 58"/>
                <a:gd name="T63" fmla="*/ 62077 h 5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8" h="58">
                  <a:moveTo>
                    <a:pt x="48" y="26"/>
                  </a:moveTo>
                  <a:cubicBezTo>
                    <a:pt x="16" y="58"/>
                    <a:pt x="16" y="58"/>
                    <a:pt x="16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32" y="10"/>
                    <a:pt x="32" y="10"/>
                    <a:pt x="32" y="10"/>
                  </a:cubicBezTo>
                  <a:lnTo>
                    <a:pt x="48" y="26"/>
                  </a:lnTo>
                  <a:close/>
                  <a:moveTo>
                    <a:pt x="18" y="50"/>
                  </a:moveTo>
                  <a:cubicBezTo>
                    <a:pt x="9" y="41"/>
                    <a:pt x="9" y="41"/>
                    <a:pt x="9" y="41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4" y="53"/>
                    <a:pt x="14" y="53"/>
                    <a:pt x="14" y="53"/>
                  </a:cubicBezTo>
                  <a:lnTo>
                    <a:pt x="18" y="50"/>
                  </a:lnTo>
                  <a:close/>
                  <a:moveTo>
                    <a:pt x="33" y="17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12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4" y="17"/>
                    <a:pt x="33" y="17"/>
                  </a:cubicBezTo>
                  <a:close/>
                  <a:moveTo>
                    <a:pt x="57" y="18"/>
                  </a:moveTo>
                  <a:cubicBezTo>
                    <a:pt x="50" y="24"/>
                    <a:pt x="50" y="24"/>
                    <a:pt x="50" y="24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1"/>
                    <a:pt x="43" y="0"/>
                    <a:pt x="44" y="0"/>
                  </a:cubicBezTo>
                  <a:cubicBezTo>
                    <a:pt x="45" y="0"/>
                    <a:pt x="47" y="1"/>
                    <a:pt x="48" y="2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2"/>
                    <a:pt x="58" y="13"/>
                    <a:pt x="58" y="14"/>
                  </a:cubicBezTo>
                  <a:cubicBezTo>
                    <a:pt x="58" y="15"/>
                    <a:pt x="57" y="17"/>
                    <a:pt x="57" y="18"/>
                  </a:cubicBezTo>
                  <a:close/>
                </a:path>
              </a:pathLst>
            </a:custGeom>
            <a:solidFill>
              <a:srgbClr val="FF876A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7" name="Group 56"/>
          <p:cNvGrpSpPr/>
          <p:nvPr/>
        </p:nvGrpSpPr>
        <p:grpSpPr>
          <a:xfrm>
            <a:off x="2314486" y="3187662"/>
            <a:ext cx="479425" cy="480060"/>
            <a:chOff x="5373207" y="2932609"/>
            <a:chExt cx="369038" cy="369038"/>
          </a:xfrm>
        </p:grpSpPr>
        <p:sp>
          <p:nvSpPr>
            <p:cNvPr id="88" name="Oval 33"/>
            <p:cNvSpPr/>
            <p:nvPr/>
          </p:nvSpPr>
          <p:spPr>
            <a:xfrm>
              <a:off x="5373207" y="2932609"/>
              <a:ext cx="369038" cy="3690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245"/>
            <p:cNvSpPr/>
            <p:nvPr/>
          </p:nvSpPr>
          <p:spPr bwMode="auto">
            <a:xfrm>
              <a:off x="5481775" y="3041178"/>
              <a:ext cx="151901" cy="151901"/>
            </a:xfrm>
            <a:custGeom>
              <a:avLst/>
              <a:gdLst>
                <a:gd name="T0" fmla="*/ 233363 w 68"/>
                <a:gd name="T1" fmla="*/ 10295 h 68"/>
                <a:gd name="T2" fmla="*/ 199045 w 68"/>
                <a:gd name="T3" fmla="*/ 209340 h 68"/>
                <a:gd name="T4" fmla="*/ 195613 w 68"/>
                <a:gd name="T5" fmla="*/ 216204 h 68"/>
                <a:gd name="T6" fmla="*/ 192181 w 68"/>
                <a:gd name="T7" fmla="*/ 216204 h 68"/>
                <a:gd name="T8" fmla="*/ 188749 w 68"/>
                <a:gd name="T9" fmla="*/ 216204 h 68"/>
                <a:gd name="T10" fmla="*/ 130409 w 68"/>
                <a:gd name="T11" fmla="*/ 192181 h 68"/>
                <a:gd name="T12" fmla="*/ 96091 w 68"/>
                <a:gd name="T13" fmla="*/ 229931 h 68"/>
                <a:gd name="T14" fmla="*/ 89227 w 68"/>
                <a:gd name="T15" fmla="*/ 233363 h 68"/>
                <a:gd name="T16" fmla="*/ 89227 w 68"/>
                <a:gd name="T17" fmla="*/ 233363 h 68"/>
                <a:gd name="T18" fmla="*/ 82363 w 68"/>
                <a:gd name="T19" fmla="*/ 223068 h 68"/>
                <a:gd name="T20" fmla="*/ 82363 w 68"/>
                <a:gd name="T21" fmla="*/ 178454 h 68"/>
                <a:gd name="T22" fmla="*/ 195613 w 68"/>
                <a:gd name="T23" fmla="*/ 41182 h 68"/>
                <a:gd name="T24" fmla="*/ 54909 w 68"/>
                <a:gd name="T25" fmla="*/ 161295 h 68"/>
                <a:gd name="T26" fmla="*/ 3432 w 68"/>
                <a:gd name="T27" fmla="*/ 140704 h 68"/>
                <a:gd name="T28" fmla="*/ 0 w 68"/>
                <a:gd name="T29" fmla="*/ 133841 h 68"/>
                <a:gd name="T30" fmla="*/ 3432 w 68"/>
                <a:gd name="T31" fmla="*/ 123545 h 68"/>
                <a:gd name="T32" fmla="*/ 219636 w 68"/>
                <a:gd name="T33" fmla="*/ 0 h 68"/>
                <a:gd name="T34" fmla="*/ 223068 w 68"/>
                <a:gd name="T35" fmla="*/ 0 h 68"/>
                <a:gd name="T36" fmla="*/ 229931 w 68"/>
                <a:gd name="T37" fmla="*/ 0 h 68"/>
                <a:gd name="T38" fmla="*/ 233363 w 68"/>
                <a:gd name="T39" fmla="*/ 10295 h 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7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5" y="67"/>
                    <a:pt x="24" y="66"/>
                    <a:pt x="24" y="65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6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</a:path>
              </a:pathLst>
            </a:custGeom>
            <a:solidFill>
              <a:srgbClr val="FF5E64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0" name="TextBox 16"/>
          <p:cNvSpPr txBox="1"/>
          <p:nvPr/>
        </p:nvSpPr>
        <p:spPr>
          <a:xfrm>
            <a:off x="1177935" y="4042493"/>
            <a:ext cx="2823921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高等数学</a:t>
            </a:r>
            <a:endParaRPr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1" name="TextBox 16"/>
          <p:cNvSpPr txBox="1"/>
          <p:nvPr/>
        </p:nvSpPr>
        <p:spPr>
          <a:xfrm>
            <a:off x="4717665" y="4128890"/>
            <a:ext cx="282392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线性代数</a:t>
            </a:r>
            <a:endParaRPr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2" name="TextBox 16"/>
          <p:cNvSpPr txBox="1"/>
          <p:nvPr/>
        </p:nvSpPr>
        <p:spPr>
          <a:xfrm>
            <a:off x="8309396" y="4138022"/>
            <a:ext cx="282392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工图</a:t>
            </a:r>
            <a:endParaRPr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DE2B8AA-CB92-5FE8-6FC1-1FB28324F97A}"/>
              </a:ext>
            </a:extLst>
          </p:cNvPr>
          <p:cNvSpPr/>
          <p:nvPr/>
        </p:nvSpPr>
        <p:spPr>
          <a:xfrm>
            <a:off x="-2643154" y="112803"/>
            <a:ext cx="9428964" cy="558265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2000">
                <a:schemeClr val="accent4">
                  <a:lumMod val="60000"/>
                  <a:lumOff val="40000"/>
                  <a:alpha val="58000"/>
                </a:schemeClr>
              </a:gs>
              <a:gs pos="35000">
                <a:schemeClr val="accent4">
                  <a:lumMod val="60000"/>
                  <a:lumOff val="40000"/>
                  <a:alpha val="71000"/>
                </a:schemeClr>
              </a:gs>
              <a:gs pos="69000">
                <a:schemeClr val="accent4">
                  <a:lumMod val="60000"/>
                  <a:lumOff val="40000"/>
                  <a:alpha val="51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EF67A5-E388-50EB-54F8-265864347097}"/>
              </a:ext>
            </a:extLst>
          </p:cNvPr>
          <p:cNvSpPr txBox="1"/>
          <p:nvPr/>
        </p:nvSpPr>
        <p:spPr>
          <a:xfrm>
            <a:off x="134754" y="147968"/>
            <a:ext cx="3339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二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学业问题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1A7523-B99C-CA12-AC89-FDDDB82E0DB9}"/>
              </a:ext>
            </a:extLst>
          </p:cNvPr>
          <p:cNvSpPr/>
          <p:nvPr/>
        </p:nvSpPr>
        <p:spPr>
          <a:xfrm>
            <a:off x="0" y="715987"/>
            <a:ext cx="924025" cy="5582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选课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F63897-D291-64C4-F633-986AC5993605}"/>
              </a:ext>
            </a:extLst>
          </p:cNvPr>
          <p:cNvSpPr txBox="1"/>
          <p:nvPr/>
        </p:nvSpPr>
        <p:spPr>
          <a:xfrm>
            <a:off x="924025" y="800102"/>
            <a:ext cx="10521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按照学院要求，合理安排时间，修满相应模块的通识课（注：相关课程要求请直接咨询教务老师）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8AB0603-14D0-804A-8FC1-A0DF36DF3CCF}"/>
              </a:ext>
            </a:extLst>
          </p:cNvPr>
          <p:cNvSpPr/>
          <p:nvPr/>
        </p:nvSpPr>
        <p:spPr>
          <a:xfrm>
            <a:off x="-1" y="1312713"/>
            <a:ext cx="1318661" cy="5582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软件下载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B27F8A-8354-9B03-1A2D-5855F246B1C7}"/>
              </a:ext>
            </a:extLst>
          </p:cNvPr>
          <p:cNvSpPr txBox="1"/>
          <p:nvPr/>
        </p:nvSpPr>
        <p:spPr>
          <a:xfrm>
            <a:off x="1394499" y="1407195"/>
            <a:ext cx="8499108" cy="366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MATLAB</a:t>
            </a:r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、</a:t>
            </a:r>
            <a:r>
              <a:rPr lang="en-US" altLang="zh-CN" dirty="0" err="1">
                <a:solidFill>
                  <a:schemeClr val="accent4">
                    <a:lumMod val="50000"/>
                  </a:schemeClr>
                </a:solidFill>
              </a:rPr>
              <a:t>Solidworks</a:t>
            </a:r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等学习软件可在“西安交通大学网络信息中心”下载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C8BA58-70DE-6E2E-34D6-981E5BE9D06D}"/>
              </a:ext>
            </a:extLst>
          </p:cNvPr>
          <p:cNvSpPr/>
          <p:nvPr/>
        </p:nvSpPr>
        <p:spPr>
          <a:xfrm>
            <a:off x="-10360" y="1903433"/>
            <a:ext cx="1318661" cy="5582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学业导师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F7FF52-8303-6FAF-F370-5C67B75D8029}"/>
              </a:ext>
            </a:extLst>
          </p:cNvPr>
          <p:cNvSpPr txBox="1"/>
          <p:nvPr/>
        </p:nvSpPr>
        <p:spPr>
          <a:xfrm>
            <a:off x="1394499" y="2036055"/>
            <a:ext cx="8357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学业规划，科研项目参与（腾飞杯、挑战杯、国创赛、节能减排等）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59F7F9-C594-A069-B2E6-538138673064}"/>
              </a:ext>
            </a:extLst>
          </p:cNvPr>
          <p:cNvSpPr txBox="1"/>
          <p:nvPr/>
        </p:nvSpPr>
        <p:spPr>
          <a:xfrm>
            <a:off x="779646" y="5938787"/>
            <a:ext cx="1046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</a:rPr>
              <a:t>                    好好上课，认真独立完成作业，考前认真复习，</a:t>
            </a:r>
            <a:r>
              <a:rPr lang="en-US" altLang="zh-CN" sz="2000" dirty="0">
                <a:solidFill>
                  <a:schemeClr val="tx2"/>
                </a:solidFill>
              </a:rPr>
              <a:t>90+</a:t>
            </a:r>
            <a:r>
              <a:rPr lang="zh-CN" altLang="en-US" sz="2000" dirty="0">
                <a:solidFill>
                  <a:schemeClr val="tx2"/>
                </a:solidFill>
              </a:rPr>
              <a:t>非你莫属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E1CBA3C-873F-527F-14FC-D4EF125CCBE6}"/>
              </a:ext>
            </a:extLst>
          </p:cNvPr>
          <p:cNvSpPr/>
          <p:nvPr/>
        </p:nvSpPr>
        <p:spPr>
          <a:xfrm>
            <a:off x="-10360" y="2501862"/>
            <a:ext cx="1318661" cy="4778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英语学习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2419A3-4C52-0D07-7CDB-F5E4765972D9}"/>
              </a:ext>
            </a:extLst>
          </p:cNvPr>
          <p:cNvSpPr txBox="1"/>
          <p:nvPr/>
        </p:nvSpPr>
        <p:spPr>
          <a:xfrm>
            <a:off x="1394499" y="2560426"/>
            <a:ext cx="10592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请大家保持良好的英语学习习惯，对于当前的英语课程、四六级甚至以后的出国留学、工作都是可贵的</a:t>
            </a:r>
          </a:p>
        </p:txBody>
      </p:sp>
      <p:pic>
        <p:nvPicPr>
          <p:cNvPr id="14" name="图片 13" descr="手机屏幕截图&#10;&#10;AI 生成的内容可能不正确。">
            <a:extLst>
              <a:ext uri="{FF2B5EF4-FFF2-40B4-BE49-F238E27FC236}">
                <a16:creationId xmlns:a16="http://schemas.microsoft.com/office/drawing/2014/main" id="{42DEBE58-83AB-EA8F-C1D4-17993C2CA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43" y="90444"/>
            <a:ext cx="1493557" cy="1742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90" grpId="0"/>
      <p:bldP spid="91" grpId="0"/>
      <p:bldP spid="92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: Shape 2"/>
          <p:cNvSpPr/>
          <p:nvPr/>
        </p:nvSpPr>
        <p:spPr>
          <a:xfrm>
            <a:off x="10049499" y="376463"/>
            <a:ext cx="1916911" cy="2153178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6" y="0"/>
                  <a:pt x="126342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5E64"/>
              </a:gs>
              <a:gs pos="100000">
                <a:srgbClr val="FF876A">
                  <a:alpha val="70000"/>
                </a:srgb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b="1" dirty="0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96" name="Freeform: Shape 21"/>
          <p:cNvSpPr/>
          <p:nvPr/>
        </p:nvSpPr>
        <p:spPr>
          <a:xfrm>
            <a:off x="852657" y="1391662"/>
            <a:ext cx="3253914" cy="1330633"/>
          </a:xfrm>
          <a:custGeom>
            <a:avLst/>
            <a:gdLst>
              <a:gd name="connsiteX0" fmla="*/ 0 w 3185651"/>
              <a:gd name="connsiteY0" fmla="*/ 0 h 1533833"/>
              <a:gd name="connsiteX1" fmla="*/ 884903 w 3185651"/>
              <a:gd name="connsiteY1" fmla="*/ 796413 h 1533833"/>
              <a:gd name="connsiteX2" fmla="*/ 2595716 w 3185651"/>
              <a:gd name="connsiteY2" fmla="*/ 943897 h 1533833"/>
              <a:gd name="connsiteX3" fmla="*/ 3185651 w 3185651"/>
              <a:gd name="connsiteY3" fmla="*/ 1533833 h 1533833"/>
              <a:gd name="connsiteX0-1" fmla="*/ 0 w 3185651"/>
              <a:gd name="connsiteY0-2" fmla="*/ 0 h 1533833"/>
              <a:gd name="connsiteX1-3" fmla="*/ 884903 w 3185651"/>
              <a:gd name="connsiteY1-4" fmla="*/ 796413 h 1533833"/>
              <a:gd name="connsiteX2-5" fmla="*/ 2552173 w 3185651"/>
              <a:gd name="connsiteY2-6" fmla="*/ 1074525 h 1533833"/>
              <a:gd name="connsiteX3-7" fmla="*/ 3185651 w 3185651"/>
              <a:gd name="connsiteY3-8" fmla="*/ 1533833 h 1533833"/>
              <a:gd name="connsiteX0-9" fmla="*/ 0 w 3185651"/>
              <a:gd name="connsiteY0-10" fmla="*/ 0 h 1533833"/>
              <a:gd name="connsiteX1-11" fmla="*/ 572483 w 3185651"/>
              <a:gd name="connsiteY1-12" fmla="*/ 842133 h 1533833"/>
              <a:gd name="connsiteX2-13" fmla="*/ 2552173 w 3185651"/>
              <a:gd name="connsiteY2-14" fmla="*/ 1074525 h 1533833"/>
              <a:gd name="connsiteX3-15" fmla="*/ 3185651 w 3185651"/>
              <a:gd name="connsiteY3-16" fmla="*/ 1533833 h 1533833"/>
              <a:gd name="connsiteX0-17" fmla="*/ 0 w 3185651"/>
              <a:gd name="connsiteY0-18" fmla="*/ 0 h 1533833"/>
              <a:gd name="connsiteX1-19" fmla="*/ 572483 w 3185651"/>
              <a:gd name="connsiteY1-20" fmla="*/ 842133 h 1533833"/>
              <a:gd name="connsiteX2-21" fmla="*/ 2552173 w 3185651"/>
              <a:gd name="connsiteY2-22" fmla="*/ 1074525 h 1533833"/>
              <a:gd name="connsiteX3-23" fmla="*/ 3185651 w 3185651"/>
              <a:gd name="connsiteY3-24" fmla="*/ 1533833 h 1533833"/>
              <a:gd name="connsiteX0-25" fmla="*/ 0 w 3185651"/>
              <a:gd name="connsiteY0-26" fmla="*/ 0 h 1533833"/>
              <a:gd name="connsiteX1-27" fmla="*/ 572483 w 3185651"/>
              <a:gd name="connsiteY1-28" fmla="*/ 842133 h 1533833"/>
              <a:gd name="connsiteX2-29" fmla="*/ 2552173 w 3185651"/>
              <a:gd name="connsiteY2-30" fmla="*/ 1074525 h 1533833"/>
              <a:gd name="connsiteX3-31" fmla="*/ 3185651 w 3185651"/>
              <a:gd name="connsiteY3-32" fmla="*/ 1533833 h 1533833"/>
              <a:gd name="connsiteX0-33" fmla="*/ 0 w 3185651"/>
              <a:gd name="connsiteY0-34" fmla="*/ 0 h 1533833"/>
              <a:gd name="connsiteX1-35" fmla="*/ 572483 w 3185651"/>
              <a:gd name="connsiteY1-36" fmla="*/ 842133 h 1533833"/>
              <a:gd name="connsiteX2-37" fmla="*/ 2552173 w 3185651"/>
              <a:gd name="connsiteY2-38" fmla="*/ 1074525 h 1533833"/>
              <a:gd name="connsiteX3-39" fmla="*/ 3185651 w 3185651"/>
              <a:gd name="connsiteY3-40" fmla="*/ 1533833 h 1533833"/>
              <a:gd name="connsiteX0-41" fmla="*/ 0 w 3204701"/>
              <a:gd name="connsiteY0-42" fmla="*/ 0 h 1400483"/>
              <a:gd name="connsiteX1-43" fmla="*/ 591533 w 3204701"/>
              <a:gd name="connsiteY1-44" fmla="*/ 708783 h 1400483"/>
              <a:gd name="connsiteX2-45" fmla="*/ 2571223 w 3204701"/>
              <a:gd name="connsiteY2-46" fmla="*/ 941175 h 1400483"/>
              <a:gd name="connsiteX3-47" fmla="*/ 3204701 w 3204701"/>
              <a:gd name="connsiteY3-48" fmla="*/ 1400483 h 1400483"/>
              <a:gd name="connsiteX0-49" fmla="*/ 0 w 3204701"/>
              <a:gd name="connsiteY0-50" fmla="*/ 0 h 1400483"/>
              <a:gd name="connsiteX1-51" fmla="*/ 591533 w 3204701"/>
              <a:gd name="connsiteY1-52" fmla="*/ 708783 h 1400483"/>
              <a:gd name="connsiteX2-53" fmla="*/ 2571223 w 3204701"/>
              <a:gd name="connsiteY2-54" fmla="*/ 941175 h 1400483"/>
              <a:gd name="connsiteX3-55" fmla="*/ 3204701 w 3204701"/>
              <a:gd name="connsiteY3-56" fmla="*/ 1400483 h 1400483"/>
              <a:gd name="connsiteX0-57" fmla="*/ 0 w 3192001"/>
              <a:gd name="connsiteY0-58" fmla="*/ 0 h 1463983"/>
              <a:gd name="connsiteX1-59" fmla="*/ 578833 w 3192001"/>
              <a:gd name="connsiteY1-60" fmla="*/ 772283 h 1463983"/>
              <a:gd name="connsiteX2-61" fmla="*/ 2558523 w 3192001"/>
              <a:gd name="connsiteY2-62" fmla="*/ 1004675 h 1463983"/>
              <a:gd name="connsiteX3-63" fmla="*/ 3192001 w 3192001"/>
              <a:gd name="connsiteY3-64" fmla="*/ 1463983 h 1463983"/>
              <a:gd name="connsiteX0-65" fmla="*/ 5702 w 3197703"/>
              <a:gd name="connsiteY0-66" fmla="*/ 0 h 1463983"/>
              <a:gd name="connsiteX1-67" fmla="*/ 584535 w 3197703"/>
              <a:gd name="connsiteY1-68" fmla="*/ 772283 h 1463983"/>
              <a:gd name="connsiteX2-69" fmla="*/ 2564225 w 3197703"/>
              <a:gd name="connsiteY2-70" fmla="*/ 1004675 h 1463983"/>
              <a:gd name="connsiteX3-71" fmla="*/ 3197703 w 3197703"/>
              <a:gd name="connsiteY3-72" fmla="*/ 1463983 h 1463983"/>
              <a:gd name="connsiteX0-73" fmla="*/ 5428 w 3197429"/>
              <a:gd name="connsiteY0-74" fmla="*/ 0 h 1463983"/>
              <a:gd name="connsiteX1-75" fmla="*/ 596961 w 3197429"/>
              <a:gd name="connsiteY1-76" fmla="*/ 854833 h 1463983"/>
              <a:gd name="connsiteX2-77" fmla="*/ 2563951 w 3197429"/>
              <a:gd name="connsiteY2-78" fmla="*/ 1004675 h 1463983"/>
              <a:gd name="connsiteX3-79" fmla="*/ 3197429 w 3197429"/>
              <a:gd name="connsiteY3-80" fmla="*/ 1463983 h 1463983"/>
              <a:gd name="connsiteX0-81" fmla="*/ 4527 w 3258441"/>
              <a:gd name="connsiteY0-82" fmla="*/ 0 h 1330633"/>
              <a:gd name="connsiteX1-83" fmla="*/ 657973 w 3258441"/>
              <a:gd name="connsiteY1-84" fmla="*/ 721483 h 1330633"/>
              <a:gd name="connsiteX2-85" fmla="*/ 2624963 w 3258441"/>
              <a:gd name="connsiteY2-86" fmla="*/ 871325 h 1330633"/>
              <a:gd name="connsiteX3-87" fmla="*/ 3258441 w 3258441"/>
              <a:gd name="connsiteY3-88" fmla="*/ 1330633 h 1330633"/>
              <a:gd name="connsiteX0-89" fmla="*/ 0 w 3253914"/>
              <a:gd name="connsiteY0-90" fmla="*/ 0 h 1330633"/>
              <a:gd name="connsiteX1-91" fmla="*/ 653446 w 3253914"/>
              <a:gd name="connsiteY1-92" fmla="*/ 721483 h 1330633"/>
              <a:gd name="connsiteX2-93" fmla="*/ 2620436 w 3253914"/>
              <a:gd name="connsiteY2-94" fmla="*/ 871325 h 1330633"/>
              <a:gd name="connsiteX3-95" fmla="*/ 3253914 w 3253914"/>
              <a:gd name="connsiteY3-96" fmla="*/ 1330633 h 13306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3914" h="1330633">
                <a:moveTo>
                  <a:pt x="0" y="0"/>
                </a:moveTo>
                <a:cubicBezTo>
                  <a:pt x="52787" y="368443"/>
                  <a:pt x="216707" y="576262"/>
                  <a:pt x="653446" y="721483"/>
                </a:cubicBezTo>
                <a:cubicBezTo>
                  <a:pt x="1090185" y="866704"/>
                  <a:pt x="2187025" y="769800"/>
                  <a:pt x="2620436" y="871325"/>
                </a:cubicBezTo>
                <a:cubicBezTo>
                  <a:pt x="3053847" y="972850"/>
                  <a:pt x="3173535" y="1127596"/>
                  <a:pt x="3253914" y="1330633"/>
                </a:cubicBezTo>
              </a:path>
            </a:pathLst>
          </a:custGeom>
          <a:noFill/>
          <a:ln w="38100" cap="rnd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9" name="Group 1"/>
          <p:cNvGrpSpPr/>
          <p:nvPr/>
        </p:nvGrpSpPr>
        <p:grpSpPr>
          <a:xfrm>
            <a:off x="10796670" y="845372"/>
            <a:ext cx="422568" cy="416117"/>
            <a:chOff x="7197121" y="8332916"/>
            <a:chExt cx="553830" cy="543285"/>
          </a:xfrm>
          <a:solidFill>
            <a:schemeClr val="bg1"/>
          </a:solidFill>
        </p:grpSpPr>
        <p:sp>
          <p:nvSpPr>
            <p:cNvPr id="100" name="Freeform 31"/>
            <p:cNvSpPr>
              <a:spLocks noChangeArrowheads="1"/>
            </p:cNvSpPr>
            <p:nvPr/>
          </p:nvSpPr>
          <p:spPr bwMode="auto">
            <a:xfrm>
              <a:off x="7197121" y="8332916"/>
              <a:ext cx="553830" cy="543285"/>
            </a:xfrm>
            <a:custGeom>
              <a:avLst/>
              <a:gdLst>
                <a:gd name="T0" fmla="*/ 276915 w 462"/>
                <a:gd name="T1" fmla="*/ 0 h 453"/>
                <a:gd name="T2" fmla="*/ 276915 w 462"/>
                <a:gd name="T3" fmla="*/ 0 h 453"/>
                <a:gd name="T4" fmla="*/ 0 w 462"/>
                <a:gd name="T5" fmla="*/ 266246 h 453"/>
                <a:gd name="T6" fmla="*/ 276915 w 462"/>
                <a:gd name="T7" fmla="*/ 542086 h 453"/>
                <a:gd name="T8" fmla="*/ 552631 w 462"/>
                <a:gd name="T9" fmla="*/ 266246 h 453"/>
                <a:gd name="T10" fmla="*/ 276915 w 462"/>
                <a:gd name="T11" fmla="*/ 0 h 453"/>
                <a:gd name="T12" fmla="*/ 276915 w 462"/>
                <a:gd name="T13" fmla="*/ 478523 h 453"/>
                <a:gd name="T14" fmla="*/ 276915 w 462"/>
                <a:gd name="T15" fmla="*/ 478523 h 453"/>
                <a:gd name="T16" fmla="*/ 63535 w 462"/>
                <a:gd name="T17" fmla="*/ 266246 h 453"/>
                <a:gd name="T18" fmla="*/ 276915 w 462"/>
                <a:gd name="T19" fmla="*/ 53969 h 453"/>
                <a:gd name="T20" fmla="*/ 489097 w 462"/>
                <a:gd name="T21" fmla="*/ 266246 h 453"/>
                <a:gd name="T22" fmla="*/ 276915 w 462"/>
                <a:gd name="T23" fmla="*/ 478523 h 4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62" h="453">
                  <a:moveTo>
                    <a:pt x="231" y="0"/>
                  </a:moveTo>
                  <a:lnTo>
                    <a:pt x="231" y="0"/>
                  </a:lnTo>
                  <a:cubicBezTo>
                    <a:pt x="106" y="0"/>
                    <a:pt x="0" y="98"/>
                    <a:pt x="0" y="222"/>
                  </a:cubicBezTo>
                  <a:cubicBezTo>
                    <a:pt x="0" y="346"/>
                    <a:pt x="106" y="452"/>
                    <a:pt x="231" y="452"/>
                  </a:cubicBezTo>
                  <a:cubicBezTo>
                    <a:pt x="355" y="452"/>
                    <a:pt x="461" y="346"/>
                    <a:pt x="461" y="222"/>
                  </a:cubicBezTo>
                  <a:cubicBezTo>
                    <a:pt x="461" y="98"/>
                    <a:pt x="355" y="0"/>
                    <a:pt x="231" y="0"/>
                  </a:cubicBezTo>
                  <a:close/>
                  <a:moveTo>
                    <a:pt x="231" y="399"/>
                  </a:moveTo>
                  <a:lnTo>
                    <a:pt x="231" y="399"/>
                  </a:lnTo>
                  <a:cubicBezTo>
                    <a:pt x="133" y="399"/>
                    <a:pt x="53" y="319"/>
                    <a:pt x="53" y="222"/>
                  </a:cubicBezTo>
                  <a:cubicBezTo>
                    <a:pt x="53" y="124"/>
                    <a:pt x="133" y="45"/>
                    <a:pt x="231" y="45"/>
                  </a:cubicBezTo>
                  <a:cubicBezTo>
                    <a:pt x="328" y="45"/>
                    <a:pt x="408" y="124"/>
                    <a:pt x="408" y="222"/>
                  </a:cubicBezTo>
                  <a:cubicBezTo>
                    <a:pt x="408" y="319"/>
                    <a:pt x="328" y="399"/>
                    <a:pt x="231" y="3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1" name="Freeform 32"/>
            <p:cNvSpPr>
              <a:spLocks noChangeArrowheads="1"/>
            </p:cNvSpPr>
            <p:nvPr/>
          </p:nvSpPr>
          <p:spPr bwMode="auto">
            <a:xfrm>
              <a:off x="7450784" y="8450839"/>
              <a:ext cx="126832" cy="261114"/>
            </a:xfrm>
            <a:custGeom>
              <a:avLst/>
              <a:gdLst>
                <a:gd name="T0" fmla="*/ 42672 w 107"/>
                <a:gd name="T1" fmla="*/ 0 h 222"/>
                <a:gd name="T2" fmla="*/ 0 w 107"/>
                <a:gd name="T3" fmla="*/ 0 h 222"/>
                <a:gd name="T4" fmla="*/ 0 w 107"/>
                <a:gd name="T5" fmla="*/ 156433 h 222"/>
                <a:gd name="T6" fmla="*/ 105496 w 107"/>
                <a:gd name="T7" fmla="*/ 259938 h 222"/>
                <a:gd name="T8" fmla="*/ 125647 w 107"/>
                <a:gd name="T9" fmla="*/ 229357 h 222"/>
                <a:gd name="T10" fmla="*/ 42672 w 107"/>
                <a:gd name="T11" fmla="*/ 134086 h 222"/>
                <a:gd name="T12" fmla="*/ 42672 w 107"/>
                <a:gd name="T13" fmla="*/ 0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222">
                  <a:moveTo>
                    <a:pt x="36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89" y="221"/>
                  </a:lnTo>
                  <a:lnTo>
                    <a:pt x="106" y="195"/>
                  </a:lnTo>
                  <a:lnTo>
                    <a:pt x="36" y="114"/>
                  </a:lnTo>
                  <a:lnTo>
                    <a:pt x="36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02" name="Freeform: Shape 2"/>
          <p:cNvSpPr/>
          <p:nvPr/>
        </p:nvSpPr>
        <p:spPr>
          <a:xfrm>
            <a:off x="8282739" y="2766552"/>
            <a:ext cx="3830955" cy="4076700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6" y="0"/>
                  <a:pt x="1263423" y="0"/>
                </a:cubicBezTo>
                <a:close/>
              </a:path>
            </a:pathLst>
          </a:custGeom>
          <a:blipFill rotWithShape="1">
            <a:blip r:embed="rId4" cstate="email"/>
            <a:tile tx="-4305300" ty="-781050" sx="88000" sy="88000"/>
          </a:blip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B069AC5-2773-8869-D33A-443FE7632BC0}"/>
              </a:ext>
            </a:extLst>
          </p:cNvPr>
          <p:cNvSpPr/>
          <p:nvPr/>
        </p:nvSpPr>
        <p:spPr>
          <a:xfrm>
            <a:off x="-1850881" y="86334"/>
            <a:ext cx="9428964" cy="558265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2000">
                <a:schemeClr val="accent4">
                  <a:lumMod val="60000"/>
                  <a:lumOff val="40000"/>
                  <a:alpha val="58000"/>
                </a:schemeClr>
              </a:gs>
              <a:gs pos="35000">
                <a:schemeClr val="accent4">
                  <a:lumMod val="60000"/>
                  <a:lumOff val="40000"/>
                  <a:alpha val="71000"/>
                </a:schemeClr>
              </a:gs>
              <a:gs pos="69000">
                <a:schemeClr val="accent4">
                  <a:lumMod val="60000"/>
                  <a:lumOff val="40000"/>
                  <a:alpha val="51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364AAF-AD74-110D-DE3A-6523D89C6A66}"/>
              </a:ext>
            </a:extLst>
          </p:cNvPr>
          <p:cNvSpPr txBox="1"/>
          <p:nvPr/>
        </p:nvSpPr>
        <p:spPr>
          <a:xfrm>
            <a:off x="0" y="157799"/>
            <a:ext cx="5390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三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奖学金与保研（考研）政策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A6BAA1-3D1E-DCB3-BBF9-A5A949ED39B2}"/>
              </a:ext>
            </a:extLst>
          </p:cNvPr>
          <p:cNvSpPr txBox="1"/>
          <p:nvPr/>
        </p:nvSpPr>
        <p:spPr>
          <a:xfrm>
            <a:off x="-132202" y="1410033"/>
            <a:ext cx="1261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以一学年为单位评选，按照当学年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智育成绩（含通识课）：德育成绩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=8:2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比例计算综测成绩，按比例获得各级奖学金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7AC77DE-A228-0728-50DB-4613D79147D1}"/>
              </a:ext>
            </a:extLst>
          </p:cNvPr>
          <p:cNvSpPr/>
          <p:nvPr/>
        </p:nvSpPr>
        <p:spPr>
          <a:xfrm>
            <a:off x="81794" y="709784"/>
            <a:ext cx="1169740" cy="6431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奖学金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AC0565-2CEC-0520-BEFB-FF3EC814B0D8}"/>
              </a:ext>
            </a:extLst>
          </p:cNvPr>
          <p:cNvSpPr/>
          <p:nvPr/>
        </p:nvSpPr>
        <p:spPr>
          <a:xfrm>
            <a:off x="-429890" y="1875328"/>
            <a:ext cx="13048610" cy="4480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705DCE-F0C4-E5A1-4AF4-63E3E33DBD56}"/>
              </a:ext>
            </a:extLst>
          </p:cNvPr>
          <p:cNvSpPr txBox="1"/>
          <p:nvPr/>
        </p:nvSpPr>
        <p:spPr>
          <a:xfrm>
            <a:off x="-22850" y="1893453"/>
            <a:ext cx="1284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  国奖（前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3%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校特（前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3%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校一（前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7%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校二（前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15%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校三（前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25%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各种行业与社会奖学金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F107465-6018-0ED6-3FEA-57E4AC12B547}"/>
              </a:ext>
            </a:extLst>
          </p:cNvPr>
          <p:cNvSpPr/>
          <p:nvPr/>
        </p:nvSpPr>
        <p:spPr>
          <a:xfrm>
            <a:off x="3332220" y="2799727"/>
            <a:ext cx="1548702" cy="6431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保研政策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B9BC64-3089-1D58-4AA8-9330EB3B50C6}"/>
              </a:ext>
            </a:extLst>
          </p:cNvPr>
          <p:cNvSpPr txBox="1"/>
          <p:nvPr/>
        </p:nvSpPr>
        <p:spPr>
          <a:xfrm>
            <a:off x="176270" y="3429000"/>
            <a:ext cx="799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</a:rPr>
              <a:t>按照我校规定，由前三学年的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智育成绩（不含通识课成绩）与德育成绩按照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9:1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</a:rPr>
              <a:t>的比例计算保研成绩，根据排名确定预推免名额。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EB1754-53CD-51DD-AD88-BBCF22096784}"/>
              </a:ext>
            </a:extLst>
          </p:cNvPr>
          <p:cNvSpPr txBox="1"/>
          <p:nvPr/>
        </p:nvSpPr>
        <p:spPr>
          <a:xfrm>
            <a:off x="176270" y="4424667"/>
            <a:ext cx="743638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智育成绩很重要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切不可只追求德育（因做科研、打比赛）而荒废根本</a:t>
            </a:r>
            <a:endParaRPr lang="en-US" altLang="zh-CN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但是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有例外，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SCI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顶刊论文，美赛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奖、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奖、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奖，国奖（数模国赛，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RM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、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RC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等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AB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类竞赛）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等可直接加综测分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822292D-AF9E-F82A-B4B2-328F739B1486}"/>
              </a:ext>
            </a:extLst>
          </p:cNvPr>
          <p:cNvSpPr/>
          <p:nvPr/>
        </p:nvSpPr>
        <p:spPr>
          <a:xfrm>
            <a:off x="23671" y="6148216"/>
            <a:ext cx="1548702" cy="6431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考研政策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1BCCC6-338A-B702-6D05-8F42219BF6C6}"/>
              </a:ext>
            </a:extLst>
          </p:cNvPr>
          <p:cNvSpPr txBox="1"/>
          <p:nvPr/>
        </p:nvSpPr>
        <p:spPr>
          <a:xfrm>
            <a:off x="1572373" y="6285131"/>
            <a:ext cx="6251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快乐度过前两个学年再作决定，谁也不知道会发生什么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102" grpId="0" animBg="1"/>
      <p:bldP spid="4" grpId="0"/>
      <p:bldP spid="5" grpId="0" animBg="1"/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直角三角形 4"/>
          <p:cNvSpPr/>
          <p:nvPr/>
        </p:nvSpPr>
        <p:spPr>
          <a:xfrm>
            <a:off x="0" y="5743575"/>
            <a:ext cx="1117600" cy="1114425"/>
          </a:xfrm>
          <a:prstGeom prst="rtTriangle">
            <a:avLst/>
          </a:prstGeom>
          <a:solidFill>
            <a:srgbClr val="FF8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连接符 257"/>
          <p:cNvCxnSpPr>
            <a:stCxn id="114" idx="2"/>
          </p:cNvCxnSpPr>
          <p:nvPr/>
        </p:nvCxnSpPr>
        <p:spPr>
          <a:xfrm flipH="1">
            <a:off x="8456930" y="-71120"/>
            <a:ext cx="3746500" cy="374713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258"/>
          <p:cNvCxnSpPr/>
          <p:nvPr/>
        </p:nvCxnSpPr>
        <p:spPr>
          <a:xfrm flipH="1">
            <a:off x="10212070" y="3319145"/>
            <a:ext cx="1982470" cy="198310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259"/>
          <p:cNvCxnSpPr/>
          <p:nvPr/>
        </p:nvCxnSpPr>
        <p:spPr>
          <a:xfrm flipH="1">
            <a:off x="6384290" y="-59055"/>
            <a:ext cx="2038350" cy="203898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260"/>
          <p:cNvCxnSpPr/>
          <p:nvPr/>
        </p:nvCxnSpPr>
        <p:spPr>
          <a:xfrm>
            <a:off x="8377555" y="-128905"/>
            <a:ext cx="3820160" cy="343979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275"/>
          <p:cNvGrpSpPr/>
          <p:nvPr/>
        </p:nvGrpSpPr>
        <p:grpSpPr>
          <a:xfrm>
            <a:off x="3885565" y="-1521183"/>
            <a:ext cx="9496425" cy="8487133"/>
            <a:chOff x="6119" y="-2396"/>
            <a:chExt cx="14955" cy="13366"/>
          </a:xfrm>
        </p:grpSpPr>
        <p:grpSp>
          <p:nvGrpSpPr>
            <p:cNvPr id="120" name="组合 272"/>
            <p:cNvGrpSpPr/>
            <p:nvPr/>
          </p:nvGrpSpPr>
          <p:grpSpPr>
            <a:xfrm>
              <a:off x="6119" y="-2396"/>
              <a:ext cx="14955" cy="13366"/>
              <a:chOff x="6101" y="-2395"/>
              <a:chExt cx="14955" cy="13366"/>
            </a:xfrm>
          </p:grpSpPr>
          <p:sp>
            <p:nvSpPr>
              <p:cNvPr id="114" name="直角三角形 3"/>
              <p:cNvSpPr/>
              <p:nvPr/>
            </p:nvSpPr>
            <p:spPr>
              <a:xfrm rot="10800000">
                <a:off x="6432" y="-111"/>
                <a:ext cx="12768" cy="11022"/>
              </a:xfrm>
              <a:prstGeom prst="rtTriangle">
                <a:avLst/>
              </a:prstGeom>
              <a:blipFill rotWithShape="0">
                <a:blip r:embed="rId4" cstate="email"/>
                <a:tile tx="698500" ty="247650" sx="70000" sy="50000" flip="xy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任意多边形 261"/>
              <p:cNvSpPr/>
              <p:nvPr/>
            </p:nvSpPr>
            <p:spPr>
              <a:xfrm rot="19080000">
                <a:off x="7440" y="-2395"/>
                <a:ext cx="5087" cy="4813"/>
              </a:xfrm>
              <a:custGeom>
                <a:avLst/>
                <a:gdLst>
                  <a:gd name="connsiteX0" fmla="*/ 609 w 5087"/>
                  <a:gd name="connsiteY0" fmla="*/ 4813 h 4813"/>
                  <a:gd name="connsiteX1" fmla="*/ 0 w 5087"/>
                  <a:gd name="connsiteY1" fmla="*/ 0 h 4813"/>
                  <a:gd name="connsiteX2" fmla="*/ 5087 w 5087"/>
                  <a:gd name="connsiteY2" fmla="*/ 4513 h 4813"/>
                  <a:gd name="connsiteX3" fmla="*/ 609 w 5087"/>
                  <a:gd name="connsiteY3" fmla="*/ 4813 h 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7" h="4813">
                    <a:moveTo>
                      <a:pt x="609" y="4813"/>
                    </a:moveTo>
                    <a:lnTo>
                      <a:pt x="0" y="0"/>
                    </a:lnTo>
                    <a:lnTo>
                      <a:pt x="5087" y="4513"/>
                    </a:lnTo>
                    <a:lnTo>
                      <a:pt x="609" y="4813"/>
                    </a:lnTo>
                    <a:close/>
                  </a:path>
                </a:pathLst>
              </a:custGeom>
              <a:solidFill>
                <a:srgbClr val="FF856A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任意多边形 262"/>
              <p:cNvSpPr/>
              <p:nvPr/>
            </p:nvSpPr>
            <p:spPr>
              <a:xfrm rot="3120000">
                <a:off x="16585" y="6151"/>
                <a:ext cx="4621" cy="4320"/>
              </a:xfrm>
              <a:custGeom>
                <a:avLst/>
                <a:gdLst>
                  <a:gd name="connsiteX0" fmla="*/ 662 w 4621"/>
                  <a:gd name="connsiteY0" fmla="*/ 4320 h 4320"/>
                  <a:gd name="connsiteX1" fmla="*/ 0 w 4621"/>
                  <a:gd name="connsiteY1" fmla="*/ 0 h 4320"/>
                  <a:gd name="connsiteX2" fmla="*/ 4621 w 4621"/>
                  <a:gd name="connsiteY2" fmla="*/ 3500 h 4320"/>
                  <a:gd name="connsiteX3" fmla="*/ 662 w 4621"/>
                  <a:gd name="connsiteY3" fmla="*/ 4320 h 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21" h="4320">
                    <a:moveTo>
                      <a:pt x="662" y="4320"/>
                    </a:moveTo>
                    <a:lnTo>
                      <a:pt x="0" y="0"/>
                    </a:lnTo>
                    <a:lnTo>
                      <a:pt x="4621" y="3500"/>
                    </a:lnTo>
                    <a:lnTo>
                      <a:pt x="662" y="4320"/>
                    </a:lnTo>
                    <a:close/>
                  </a:path>
                </a:pathLst>
              </a:custGeom>
              <a:solidFill>
                <a:srgbClr val="FF856A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任意多边形 263"/>
              <p:cNvSpPr/>
              <p:nvPr/>
            </p:nvSpPr>
            <p:spPr>
              <a:xfrm rot="3120000">
                <a:off x="16815" y="846"/>
                <a:ext cx="4283" cy="3903"/>
              </a:xfrm>
              <a:custGeom>
                <a:avLst/>
                <a:gdLst>
                  <a:gd name="connsiteX0" fmla="*/ 503 w 4283"/>
                  <a:gd name="connsiteY0" fmla="*/ 3903 h 3903"/>
                  <a:gd name="connsiteX1" fmla="*/ 0 w 4283"/>
                  <a:gd name="connsiteY1" fmla="*/ 0 h 3903"/>
                  <a:gd name="connsiteX2" fmla="*/ 4283 w 4283"/>
                  <a:gd name="connsiteY2" fmla="*/ 3256 h 3903"/>
                  <a:gd name="connsiteX3" fmla="*/ 503 w 4283"/>
                  <a:gd name="connsiteY3" fmla="*/ 3903 h 3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3" h="3903">
                    <a:moveTo>
                      <a:pt x="503" y="3903"/>
                    </a:moveTo>
                    <a:lnTo>
                      <a:pt x="0" y="0"/>
                    </a:lnTo>
                    <a:lnTo>
                      <a:pt x="4283" y="3256"/>
                    </a:lnTo>
                    <a:lnTo>
                      <a:pt x="503" y="3903"/>
                    </a:lnTo>
                    <a:close/>
                  </a:path>
                </a:pathLst>
              </a:custGeom>
              <a:solidFill>
                <a:srgbClr val="FF856A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4" name="直接连接符 270"/>
              <p:cNvCxnSpPr/>
              <p:nvPr/>
            </p:nvCxnSpPr>
            <p:spPr>
              <a:xfrm>
                <a:off x="6101" y="-165"/>
                <a:ext cx="2435" cy="2088"/>
              </a:xfrm>
              <a:prstGeom prst="line">
                <a:avLst/>
              </a:prstGeom>
              <a:ln w="25400">
                <a:solidFill>
                  <a:srgbClr val="F196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271"/>
              <p:cNvCxnSpPr/>
              <p:nvPr/>
            </p:nvCxnSpPr>
            <p:spPr>
              <a:xfrm>
                <a:off x="13228" y="6090"/>
                <a:ext cx="5726" cy="4881"/>
              </a:xfrm>
              <a:prstGeom prst="line">
                <a:avLst/>
              </a:prstGeom>
              <a:ln w="25400">
                <a:solidFill>
                  <a:srgbClr val="F196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6" name="直接连接符 273"/>
            <p:cNvCxnSpPr/>
            <p:nvPr/>
          </p:nvCxnSpPr>
          <p:spPr>
            <a:xfrm flipH="1">
              <a:off x="13228" y="2396"/>
              <a:ext cx="3484" cy="3485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274"/>
            <p:cNvCxnSpPr>
              <a:endCxn id="121" idx="2"/>
            </p:cNvCxnSpPr>
            <p:nvPr/>
          </p:nvCxnSpPr>
          <p:spPr>
            <a:xfrm flipH="1" flipV="1">
              <a:off x="13301" y="-126"/>
              <a:ext cx="3525" cy="3171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A3D4D6-12D4-F47C-A5D2-7A7696EE71CE}"/>
              </a:ext>
            </a:extLst>
          </p:cNvPr>
          <p:cNvSpPr/>
          <p:nvPr/>
        </p:nvSpPr>
        <p:spPr>
          <a:xfrm>
            <a:off x="110169" y="143219"/>
            <a:ext cx="2467778" cy="70507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德育分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8C7427-F095-CAE9-BB5E-BCC16797BAB5}"/>
              </a:ext>
            </a:extLst>
          </p:cNvPr>
          <p:cNvSpPr txBox="1"/>
          <p:nvPr/>
        </p:nvSpPr>
        <p:spPr>
          <a:xfrm>
            <a:off x="626473" y="947957"/>
            <a:ext cx="2467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如何获得</a:t>
            </a:r>
            <a:r>
              <a:rPr lang="zh-CN" altLang="en-US" sz="5400" dirty="0">
                <a:solidFill>
                  <a:schemeClr val="accent6">
                    <a:lumMod val="75000"/>
                  </a:schemeClr>
                </a:solidFill>
              </a:rPr>
              <a:t>？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DB490CBD-CF1F-40AF-C503-4D0FFD65C0A9}"/>
              </a:ext>
            </a:extLst>
          </p:cNvPr>
          <p:cNvSpPr/>
          <p:nvPr/>
        </p:nvSpPr>
        <p:spPr>
          <a:xfrm>
            <a:off x="5595194" y="3717756"/>
            <a:ext cx="3830955" cy="4209415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6" y="0"/>
                  <a:pt x="1263423" y="0"/>
                </a:cubicBezTo>
                <a:close/>
              </a:path>
            </a:pathLst>
          </a:custGeom>
          <a:blipFill dpi="0" rotWithShape="1">
            <a:blip r:embed="rId5" cstate="email">
              <a:alphaModFix amt="46000"/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1E4D23-307B-4BDD-BF7E-016B2A1C0291}"/>
              </a:ext>
            </a:extLst>
          </p:cNvPr>
          <p:cNvSpPr txBox="1"/>
          <p:nvPr/>
        </p:nvSpPr>
        <p:spPr>
          <a:xfrm>
            <a:off x="110169" y="1896815"/>
            <a:ext cx="768977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基准分  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+70</a:t>
            </a:r>
          </a:p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班级活动（班会等）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集体活动证明（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个）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+3</a:t>
            </a:r>
          </a:p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工时（一学年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32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工时） 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+1</a:t>
            </a:r>
          </a:p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社会实践（学分要求 ）  合格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+1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，优秀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+2</a:t>
            </a:r>
          </a:p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任职分（班委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团委，书院或学校学生组织） 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+1-2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不等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</a:rPr>
              <a:t>科创竞赛（美赛，数模，数学（物理）竞赛等）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</a:rPr>
              <a:t>+10</a:t>
            </a:r>
          </a:p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</a:rPr>
              <a:t>文体竞赛（运动会） 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</a:rPr>
              <a:t>+6</a:t>
            </a:r>
          </a:p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</a:rPr>
              <a:t>论文发表   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</a:rPr>
              <a:t>+4-10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</a:rPr>
              <a:t>不等</a:t>
            </a:r>
            <a:endParaRPr lang="en-US" altLang="zh-CN" sz="24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</a:rPr>
              <a:t>思想政治理论学习（党课等）  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</a:rPr>
              <a:t>+3</a:t>
            </a:r>
          </a:p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奖励分（心理班会，五星团支部，先锋集体）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+1</a:t>
            </a:r>
          </a:p>
          <a:p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34652E-1F64-EE93-E2CE-85CFCF89D56E}"/>
              </a:ext>
            </a:extLst>
          </p:cNvPr>
          <p:cNvSpPr/>
          <p:nvPr/>
        </p:nvSpPr>
        <p:spPr>
          <a:xfrm>
            <a:off x="738130" y="5860973"/>
            <a:ext cx="1117600" cy="55084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小建议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B8F3BB-605C-B4E6-3D2F-F1868031FCC4}"/>
              </a:ext>
            </a:extLst>
          </p:cNvPr>
          <p:cNvSpPr txBox="1"/>
          <p:nvPr/>
        </p:nvSpPr>
        <p:spPr>
          <a:xfrm>
            <a:off x="1855731" y="5860973"/>
            <a:ext cx="2898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学学</a:t>
            </a:r>
            <a:r>
              <a:rPr lang="en-US" altLang="zh-CN" dirty="0"/>
              <a:t>PPT</a:t>
            </a:r>
            <a:r>
              <a:rPr lang="zh-CN" altLang="en-US" dirty="0"/>
              <a:t>制作，</a:t>
            </a:r>
            <a:r>
              <a:rPr lang="en-US" altLang="zh-CN" dirty="0"/>
              <a:t>PS</a:t>
            </a:r>
            <a:r>
              <a:rPr lang="zh-CN" altLang="en-US" dirty="0"/>
              <a:t>，</a:t>
            </a:r>
            <a:r>
              <a:rPr lang="en-US" altLang="zh-CN" dirty="0"/>
              <a:t>CAD</a:t>
            </a:r>
            <a:r>
              <a:rPr lang="zh-CN" altLang="en-US" dirty="0"/>
              <a:t>等，技多不压身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占位符 5" descr="Snipaste_2021-11-18_09-27-38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/>
          <a:stretch>
            <a:fillRect/>
          </a:stretch>
        </p:blipFill>
        <p:spPr>
          <a:xfrm>
            <a:off x="0" y="635"/>
            <a:ext cx="6096000" cy="4809490"/>
          </a:xfrm>
          <a:prstGeom prst="rect">
            <a:avLst/>
          </a:prstGeom>
        </p:spPr>
      </p:pic>
      <p:grpSp>
        <p:nvGrpSpPr>
          <p:cNvPr id="131" name="Group 33"/>
          <p:cNvGrpSpPr/>
          <p:nvPr/>
        </p:nvGrpSpPr>
        <p:grpSpPr>
          <a:xfrm>
            <a:off x="653519" y="5193583"/>
            <a:ext cx="3357808" cy="1278808"/>
            <a:chOff x="653519" y="5193583"/>
            <a:chExt cx="3357808" cy="1278808"/>
          </a:xfrm>
        </p:grpSpPr>
        <p:sp>
          <p:nvSpPr>
            <p:cNvPr id="132" name="Rectangle: Rounded Corners 8"/>
            <p:cNvSpPr/>
            <p:nvPr/>
          </p:nvSpPr>
          <p:spPr>
            <a:xfrm>
              <a:off x="653519" y="5193583"/>
              <a:ext cx="3357808" cy="1278808"/>
            </a:xfrm>
            <a:prstGeom prst="roundRect">
              <a:avLst>
                <a:gd name="adj" fmla="val 2180"/>
              </a:avLst>
            </a:prstGeom>
            <a:solidFill>
              <a:schemeClr val="bg1"/>
            </a:solidFill>
            <a:ln>
              <a:noFill/>
            </a:ln>
            <a:effectLst>
              <a:outerShdw blurRad="304800" dist="635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133" name="Group 9"/>
            <p:cNvGrpSpPr/>
            <p:nvPr/>
          </p:nvGrpSpPr>
          <p:grpSpPr>
            <a:xfrm>
              <a:off x="822444" y="5410693"/>
              <a:ext cx="3019959" cy="1047081"/>
              <a:chOff x="8277306" y="1913565"/>
              <a:chExt cx="3019959" cy="1047081"/>
            </a:xfrm>
          </p:grpSpPr>
          <p:sp>
            <p:nvSpPr>
              <p:cNvPr id="134" name="TextBox 10"/>
              <p:cNvSpPr txBox="1"/>
              <p:nvPr/>
            </p:nvSpPr>
            <p:spPr>
              <a:xfrm>
                <a:off x="8277307" y="1913565"/>
                <a:ext cx="99305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gradFill>
                      <a:gsLst>
                        <a:gs pos="0">
                          <a:srgbClr val="FE4444"/>
                        </a:gs>
                        <a:gs pos="100000">
                          <a:srgbClr val="FF7B69"/>
                        </a:gs>
                      </a:gsLst>
                      <a:lin scaled="0"/>
                    </a:gradFill>
                    <a:latin typeface="+mj-lt"/>
                  </a:rPr>
                  <a:t>团会</a:t>
                </a:r>
                <a:endParaRPr dirty="0"/>
              </a:p>
            </p:txBody>
          </p:sp>
          <p:sp>
            <p:nvSpPr>
              <p:cNvPr id="135" name="TextBox 11"/>
              <p:cNvSpPr txBox="1"/>
              <p:nvPr/>
            </p:nvSpPr>
            <p:spPr>
              <a:xfrm>
                <a:off x="8277306" y="2222623"/>
                <a:ext cx="3019959" cy="738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FF0000"/>
                    </a:solidFill>
                    <a:sym typeface="+mn-ea"/>
                  </a:rPr>
                  <a:t>团支书负责各项入团入党事宜，在班级内公平公开竞选，两位朋辅应到尽到，做好回忆记录</a:t>
                </a:r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36" name="Group 32"/>
          <p:cNvGrpSpPr/>
          <p:nvPr/>
        </p:nvGrpSpPr>
        <p:grpSpPr>
          <a:xfrm>
            <a:off x="4417096" y="5193583"/>
            <a:ext cx="3357808" cy="1278808"/>
            <a:chOff x="4417096" y="5193583"/>
            <a:chExt cx="3357808" cy="1278808"/>
          </a:xfrm>
        </p:grpSpPr>
        <p:sp>
          <p:nvSpPr>
            <p:cNvPr id="137" name="Rectangle: Rounded Corners 13"/>
            <p:cNvSpPr/>
            <p:nvPr/>
          </p:nvSpPr>
          <p:spPr>
            <a:xfrm>
              <a:off x="4417096" y="5193583"/>
              <a:ext cx="3357808" cy="1278808"/>
            </a:xfrm>
            <a:prstGeom prst="roundRect">
              <a:avLst>
                <a:gd name="adj" fmla="val 2180"/>
              </a:avLst>
            </a:prstGeom>
            <a:solidFill>
              <a:schemeClr val="bg1"/>
            </a:solidFill>
            <a:ln>
              <a:noFill/>
            </a:ln>
            <a:effectLst>
              <a:outerShdw blurRad="304800" dist="635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138" name="Group 14"/>
            <p:cNvGrpSpPr/>
            <p:nvPr/>
          </p:nvGrpSpPr>
          <p:grpSpPr>
            <a:xfrm>
              <a:off x="4586021" y="5410693"/>
              <a:ext cx="3019959" cy="825481"/>
              <a:chOff x="8277306" y="1913565"/>
              <a:chExt cx="3019959" cy="825481"/>
            </a:xfrm>
          </p:grpSpPr>
          <p:sp>
            <p:nvSpPr>
              <p:cNvPr id="139" name="TextBox 15"/>
              <p:cNvSpPr txBox="1"/>
              <p:nvPr/>
            </p:nvSpPr>
            <p:spPr>
              <a:xfrm>
                <a:off x="8277307" y="1913565"/>
                <a:ext cx="13988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gradFill>
                      <a:gsLst>
                        <a:gs pos="0">
                          <a:srgbClr val="FE4444"/>
                        </a:gs>
                        <a:gs pos="100000">
                          <a:srgbClr val="FF7B69"/>
                        </a:gs>
                      </a:gsLst>
                      <a:lin scaled="0"/>
                    </a:gradFill>
                    <a:latin typeface="+mj-lt"/>
                  </a:rPr>
                  <a:t>最佳团日</a:t>
                </a:r>
                <a:endParaRPr dirty="0"/>
              </a:p>
            </p:txBody>
          </p:sp>
          <p:sp>
            <p:nvSpPr>
              <p:cNvPr id="140" name="TextBox 16"/>
              <p:cNvSpPr txBox="1"/>
              <p:nvPr/>
            </p:nvSpPr>
            <p:spPr>
              <a:xfrm>
                <a:off x="8277306" y="2222623"/>
                <a:ext cx="3019959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FF0000"/>
                    </a:solidFill>
                  </a:rPr>
                  <a:t>大一学年班级团委的重要事宜，借此提升团支部星级，成为五星团支部</a:t>
                </a:r>
              </a:p>
            </p:txBody>
          </p:sp>
        </p:grpSp>
      </p:grpSp>
      <p:grpSp>
        <p:nvGrpSpPr>
          <p:cNvPr id="141" name="Group 31"/>
          <p:cNvGrpSpPr/>
          <p:nvPr/>
        </p:nvGrpSpPr>
        <p:grpSpPr>
          <a:xfrm>
            <a:off x="8180673" y="5193583"/>
            <a:ext cx="3357808" cy="1278808"/>
            <a:chOff x="8180673" y="5193583"/>
            <a:chExt cx="3357808" cy="1278808"/>
          </a:xfrm>
        </p:grpSpPr>
        <p:sp>
          <p:nvSpPr>
            <p:cNvPr id="142" name="Rectangle: Rounded Corners 18"/>
            <p:cNvSpPr/>
            <p:nvPr/>
          </p:nvSpPr>
          <p:spPr>
            <a:xfrm>
              <a:off x="8180673" y="5193583"/>
              <a:ext cx="3357808" cy="1278808"/>
            </a:xfrm>
            <a:prstGeom prst="roundRect">
              <a:avLst>
                <a:gd name="adj" fmla="val 2180"/>
              </a:avLst>
            </a:prstGeom>
            <a:solidFill>
              <a:schemeClr val="bg1"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143" name="Group 19"/>
            <p:cNvGrpSpPr/>
            <p:nvPr/>
          </p:nvGrpSpPr>
          <p:grpSpPr>
            <a:xfrm>
              <a:off x="8349598" y="5410693"/>
              <a:ext cx="3019959" cy="896142"/>
              <a:chOff x="8277306" y="1913565"/>
              <a:chExt cx="3019959" cy="896142"/>
            </a:xfrm>
          </p:grpSpPr>
          <p:sp>
            <p:nvSpPr>
              <p:cNvPr id="144" name="TextBox 20"/>
              <p:cNvSpPr txBox="1"/>
              <p:nvPr/>
            </p:nvSpPr>
            <p:spPr>
              <a:xfrm>
                <a:off x="8277307" y="1913565"/>
                <a:ext cx="13695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+mj-lt"/>
                  </a:rPr>
                  <a:t>注意事项</a:t>
                </a:r>
                <a:endParaRPr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45" name="TextBox 21"/>
              <p:cNvSpPr txBox="1"/>
              <p:nvPr/>
            </p:nvSpPr>
            <p:spPr>
              <a:xfrm>
                <a:off x="8277306" y="2222623"/>
                <a:ext cx="3019959" cy="587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accent5">
                        <a:lumMod val="75000"/>
                      </a:schemeClr>
                    </a:solidFill>
                  </a:rPr>
                  <a:t>在推优期间，请谨言慎行，否则取消推优资格</a:t>
                </a:r>
                <a:endParaRPr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150" name="矩形 3"/>
          <p:cNvSpPr/>
          <p:nvPr/>
        </p:nvSpPr>
        <p:spPr>
          <a:xfrm>
            <a:off x="168910" y="635"/>
            <a:ext cx="5927090" cy="4813300"/>
          </a:xfrm>
          <a:prstGeom prst="rect">
            <a:avLst/>
          </a:prstGeom>
          <a:solidFill>
            <a:srgbClr val="FF5E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DBA924B-69D3-B0CF-D549-5F5E4DFCD8C5}"/>
              </a:ext>
            </a:extLst>
          </p:cNvPr>
          <p:cNvSpPr/>
          <p:nvPr/>
        </p:nvSpPr>
        <p:spPr>
          <a:xfrm>
            <a:off x="6643172" y="82645"/>
            <a:ext cx="7326217" cy="760164"/>
          </a:xfrm>
          <a:prstGeom prst="roundRect">
            <a:avLst/>
          </a:prstGeom>
          <a:gradFill>
            <a:gsLst>
              <a:gs pos="38000">
                <a:srgbClr val="FF8E68">
                  <a:alpha val="80000"/>
                </a:srgbClr>
              </a:gs>
              <a:gs pos="0">
                <a:srgbClr val="FF5E64">
                  <a:alpha val="83000"/>
                </a:srgbClr>
              </a:gs>
              <a:gs pos="68000">
                <a:srgbClr val="FFA66A">
                  <a:alpha val="63000"/>
                </a:srgbClr>
              </a:gs>
              <a:gs pos="100000">
                <a:srgbClr val="FFBD6B">
                  <a:alpha val="61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     四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入团入党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FBEA738-7F11-1469-FE7C-3961D094897A}"/>
              </a:ext>
            </a:extLst>
          </p:cNvPr>
          <p:cNvSpPr/>
          <p:nvPr/>
        </p:nvSpPr>
        <p:spPr>
          <a:xfrm>
            <a:off x="6264910" y="939319"/>
            <a:ext cx="5927090" cy="859316"/>
          </a:xfrm>
          <a:prstGeom prst="ellipse">
            <a:avLst/>
          </a:prstGeom>
          <a:gradFill>
            <a:gsLst>
              <a:gs pos="38000">
                <a:srgbClr val="FF8E68">
                  <a:alpha val="80000"/>
                </a:srgbClr>
              </a:gs>
              <a:gs pos="0">
                <a:srgbClr val="FF5E64">
                  <a:alpha val="83000"/>
                </a:srgbClr>
              </a:gs>
              <a:gs pos="68000">
                <a:srgbClr val="FFA66A">
                  <a:alpha val="63000"/>
                </a:srgbClr>
              </a:gs>
              <a:gs pos="100000">
                <a:srgbClr val="FFBD6B">
                  <a:alpha val="61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每学期两名推优名额，在班级内竞选</a:t>
            </a:r>
          </a:p>
        </p:txBody>
      </p:sp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3E1EC5D0-8B47-1952-813B-F9DEBC324C59}"/>
              </a:ext>
            </a:extLst>
          </p:cNvPr>
          <p:cNvCxnSpPr/>
          <p:nvPr/>
        </p:nvCxnSpPr>
        <p:spPr>
          <a:xfrm>
            <a:off x="7282149" y="1696598"/>
            <a:ext cx="3426246" cy="2804243"/>
          </a:xfrm>
          <a:prstGeom prst="curvedConnector3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00D99F-AA2B-9CA7-74E2-9ED6717F9EF5}"/>
              </a:ext>
            </a:extLst>
          </p:cNvPr>
          <p:cNvSpPr/>
          <p:nvPr/>
        </p:nvSpPr>
        <p:spPr>
          <a:xfrm>
            <a:off x="6782635" y="1965209"/>
            <a:ext cx="1341053" cy="526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党课结业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783EC04-E71D-246C-B9B8-8AFA25E17F25}"/>
              </a:ext>
            </a:extLst>
          </p:cNvPr>
          <p:cNvSpPr/>
          <p:nvPr/>
        </p:nvSpPr>
        <p:spPr>
          <a:xfrm>
            <a:off x="8961547" y="2243696"/>
            <a:ext cx="1743168" cy="526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入党积极分子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B04235-0A48-0830-BBA8-1F129D06DA46}"/>
              </a:ext>
            </a:extLst>
          </p:cNvPr>
          <p:cNvSpPr/>
          <p:nvPr/>
        </p:nvSpPr>
        <p:spPr>
          <a:xfrm>
            <a:off x="7624174" y="3079439"/>
            <a:ext cx="1341053" cy="526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发展对象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687D43-0167-2F70-7C4C-25CF930CA98A}"/>
              </a:ext>
            </a:extLst>
          </p:cNvPr>
          <p:cNvSpPr/>
          <p:nvPr/>
        </p:nvSpPr>
        <p:spPr>
          <a:xfrm>
            <a:off x="9438618" y="3429000"/>
            <a:ext cx="1341053" cy="526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预备党员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7B8CC41-D1AD-1DE9-9D9A-101FDEF8D577}"/>
              </a:ext>
            </a:extLst>
          </p:cNvPr>
          <p:cNvSpPr/>
          <p:nvPr/>
        </p:nvSpPr>
        <p:spPr>
          <a:xfrm>
            <a:off x="10779671" y="4141247"/>
            <a:ext cx="1341053" cy="526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正式党员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F3170C6E-CD0D-C6EA-FE94-A97815D336A8}"/>
              </a:ext>
            </a:extLst>
          </p:cNvPr>
          <p:cNvSpPr/>
          <p:nvPr/>
        </p:nvSpPr>
        <p:spPr>
          <a:xfrm rot="1426908">
            <a:off x="6777494" y="2356525"/>
            <a:ext cx="120616" cy="52616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66774A-DDAC-9C46-B7EF-D7F9BCD55491}"/>
              </a:ext>
            </a:extLst>
          </p:cNvPr>
          <p:cNvSpPr txBox="1"/>
          <p:nvPr/>
        </p:nvSpPr>
        <p:spPr>
          <a:xfrm>
            <a:off x="6169623" y="2880712"/>
            <a:ext cx="1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优秀学员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21CE7260-6A97-476C-181B-EA18AC6EB483}"/>
              </a:ext>
            </a:extLst>
          </p:cNvPr>
          <p:cNvSpPr/>
          <p:nvPr/>
        </p:nvSpPr>
        <p:spPr>
          <a:xfrm rot="13958521">
            <a:off x="10777420" y="2086525"/>
            <a:ext cx="207025" cy="52616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6A21A7-14CB-B5F8-8FC9-1D5A6C8FC653}"/>
              </a:ext>
            </a:extLst>
          </p:cNvPr>
          <p:cNvSpPr txBox="1"/>
          <p:nvPr/>
        </p:nvSpPr>
        <p:spPr>
          <a:xfrm>
            <a:off x="11063105" y="1885113"/>
            <a:ext cx="1378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学习会</a:t>
            </a:r>
            <a:endParaRPr lang="en-US" altLang="zh-CN" dirty="0"/>
          </a:p>
          <a:p>
            <a:r>
              <a:rPr lang="zh-CN" altLang="en-US" dirty="0"/>
              <a:t>一年</a:t>
            </a: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5B492471-3B52-277B-A34D-C6A329400497}"/>
              </a:ext>
            </a:extLst>
          </p:cNvPr>
          <p:cNvSpPr/>
          <p:nvPr/>
        </p:nvSpPr>
        <p:spPr>
          <a:xfrm rot="2119413">
            <a:off x="7450561" y="3522938"/>
            <a:ext cx="207025" cy="52616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ED94F2-49CB-4B89-E4C9-4184407FF1CD}"/>
              </a:ext>
            </a:extLst>
          </p:cNvPr>
          <p:cNvSpPr txBox="1"/>
          <p:nvPr/>
        </p:nvSpPr>
        <p:spPr>
          <a:xfrm>
            <a:off x="6745425" y="3942786"/>
            <a:ext cx="1748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发展对象培训</a:t>
            </a:r>
            <a:endParaRPr lang="en-US" altLang="zh-CN" dirty="0"/>
          </a:p>
          <a:p>
            <a:r>
              <a:rPr lang="zh-CN" altLang="en-US" dirty="0"/>
              <a:t>一个月</a:t>
            </a: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2211DAEB-924C-E182-757B-5AF69E2D6B7B}"/>
              </a:ext>
            </a:extLst>
          </p:cNvPr>
          <p:cNvSpPr/>
          <p:nvPr/>
        </p:nvSpPr>
        <p:spPr>
          <a:xfrm rot="13958521">
            <a:off x="10831231" y="3319556"/>
            <a:ext cx="207025" cy="52616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B5112E-8C5D-5647-161C-CE7BB0A7C2A7}"/>
              </a:ext>
            </a:extLst>
          </p:cNvPr>
          <p:cNvSpPr txBox="1"/>
          <p:nvPr/>
        </p:nvSpPr>
        <p:spPr>
          <a:xfrm>
            <a:off x="11152859" y="3250044"/>
            <a:ext cx="120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一年转正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/>
      <p:bldP spid="14" grpId="0"/>
      <p:bldP spid="16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3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: Shape 111"/>
          <p:cNvSpPr/>
          <p:nvPr/>
        </p:nvSpPr>
        <p:spPr>
          <a:xfrm>
            <a:off x="0" y="3722454"/>
            <a:ext cx="11205210" cy="2513965"/>
          </a:xfrm>
          <a:custGeom>
            <a:avLst/>
            <a:gdLst>
              <a:gd name="connsiteX0" fmla="*/ 3291229 w 10186247"/>
              <a:gd name="connsiteY0" fmla="*/ 2177 h 3059276"/>
              <a:gd name="connsiteX1" fmla="*/ 5575156 w 10186247"/>
              <a:gd name="connsiteY1" fmla="*/ 860119 h 3059276"/>
              <a:gd name="connsiteX2" fmla="*/ 7999073 w 10186247"/>
              <a:gd name="connsiteY2" fmla="*/ 1260347 h 3059276"/>
              <a:gd name="connsiteX3" fmla="*/ 9528084 w 10186247"/>
              <a:gd name="connsiteY3" fmla="*/ 480415 h 3059276"/>
              <a:gd name="connsiteX4" fmla="*/ 9911615 w 10186247"/>
              <a:gd name="connsiteY4" fmla="*/ 1927395 h 3059276"/>
              <a:gd name="connsiteX5" fmla="*/ 6132555 w 10186247"/>
              <a:gd name="connsiteY5" fmla="*/ 2927966 h 3059276"/>
              <a:gd name="connsiteX6" fmla="*/ 2997827 w 10186247"/>
              <a:gd name="connsiteY6" fmla="*/ 1696494 h 3059276"/>
              <a:gd name="connsiteX7" fmla="*/ 1346086 w 10186247"/>
              <a:gd name="connsiteY7" fmla="*/ 2476426 h 3059276"/>
              <a:gd name="connsiteX8" fmla="*/ 36966 w 10186247"/>
              <a:gd name="connsiteY8" fmla="*/ 2148034 h 3059276"/>
              <a:gd name="connsiteX9" fmla="*/ 2179627 w 10186247"/>
              <a:gd name="connsiteY9" fmla="*/ 136629 h 3059276"/>
              <a:gd name="connsiteX10" fmla="*/ 3291229 w 10186247"/>
              <a:gd name="connsiteY10" fmla="*/ 2177 h 30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86247" h="3059276">
                <a:moveTo>
                  <a:pt x="3291229" y="2177"/>
                </a:moveTo>
                <a:cubicBezTo>
                  <a:pt x="4317174" y="38496"/>
                  <a:pt x="5084237" y="521464"/>
                  <a:pt x="5575156" y="860119"/>
                </a:cubicBezTo>
                <a:cubicBezTo>
                  <a:pt x="6229716" y="1311659"/>
                  <a:pt x="7088826" y="1629789"/>
                  <a:pt x="7999073" y="1260347"/>
                </a:cubicBezTo>
                <a:cubicBezTo>
                  <a:pt x="8914434" y="890906"/>
                  <a:pt x="8914434" y="480415"/>
                  <a:pt x="9528084" y="480415"/>
                </a:cubicBezTo>
                <a:cubicBezTo>
                  <a:pt x="10141734" y="480415"/>
                  <a:pt x="10443445" y="1424544"/>
                  <a:pt x="9911615" y="1927395"/>
                </a:cubicBezTo>
                <a:cubicBezTo>
                  <a:pt x="8587154" y="3189654"/>
                  <a:pt x="7359855" y="3174261"/>
                  <a:pt x="6132555" y="2927966"/>
                </a:cubicBezTo>
                <a:cubicBezTo>
                  <a:pt x="4905255" y="2681672"/>
                  <a:pt x="4030804" y="1614396"/>
                  <a:pt x="2997827" y="1696494"/>
                </a:cubicBezTo>
                <a:cubicBezTo>
                  <a:pt x="1959736" y="1778592"/>
                  <a:pt x="1346086" y="2476426"/>
                  <a:pt x="1346086" y="2476426"/>
                </a:cubicBezTo>
                <a:cubicBezTo>
                  <a:pt x="896076" y="2902311"/>
                  <a:pt x="256857" y="2722721"/>
                  <a:pt x="36966" y="2148034"/>
                </a:cubicBezTo>
                <a:cubicBezTo>
                  <a:pt x="-182925" y="1573347"/>
                  <a:pt x="584137" y="572775"/>
                  <a:pt x="2179627" y="136629"/>
                </a:cubicBezTo>
                <a:cubicBezTo>
                  <a:pt x="2578500" y="27592"/>
                  <a:pt x="2949246" y="-9929"/>
                  <a:pt x="3291229" y="2177"/>
                </a:cubicBezTo>
                <a:close/>
              </a:path>
            </a:pathLst>
          </a:custGeom>
          <a:blipFill rotWithShape="1">
            <a:blip r:embed="rId4" cstate="email"/>
            <a:stretch>
              <a:fillRect l="-2000" t="-6000" r="1000" b="-6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Freeform: Shape 111"/>
          <p:cNvSpPr/>
          <p:nvPr/>
        </p:nvSpPr>
        <p:spPr>
          <a:xfrm>
            <a:off x="0" y="3715469"/>
            <a:ext cx="11205210" cy="2520950"/>
          </a:xfrm>
          <a:custGeom>
            <a:avLst/>
            <a:gdLst>
              <a:gd name="connsiteX0" fmla="*/ 3291229 w 10186247"/>
              <a:gd name="connsiteY0" fmla="*/ 2177 h 3059276"/>
              <a:gd name="connsiteX1" fmla="*/ 5575156 w 10186247"/>
              <a:gd name="connsiteY1" fmla="*/ 860119 h 3059276"/>
              <a:gd name="connsiteX2" fmla="*/ 7999073 w 10186247"/>
              <a:gd name="connsiteY2" fmla="*/ 1260347 h 3059276"/>
              <a:gd name="connsiteX3" fmla="*/ 9528084 w 10186247"/>
              <a:gd name="connsiteY3" fmla="*/ 480415 h 3059276"/>
              <a:gd name="connsiteX4" fmla="*/ 9911615 w 10186247"/>
              <a:gd name="connsiteY4" fmla="*/ 1927395 h 3059276"/>
              <a:gd name="connsiteX5" fmla="*/ 6132555 w 10186247"/>
              <a:gd name="connsiteY5" fmla="*/ 2927966 h 3059276"/>
              <a:gd name="connsiteX6" fmla="*/ 2997827 w 10186247"/>
              <a:gd name="connsiteY6" fmla="*/ 1696494 h 3059276"/>
              <a:gd name="connsiteX7" fmla="*/ 1346086 w 10186247"/>
              <a:gd name="connsiteY7" fmla="*/ 2476426 h 3059276"/>
              <a:gd name="connsiteX8" fmla="*/ 36966 w 10186247"/>
              <a:gd name="connsiteY8" fmla="*/ 2148034 h 3059276"/>
              <a:gd name="connsiteX9" fmla="*/ 2179627 w 10186247"/>
              <a:gd name="connsiteY9" fmla="*/ 136629 h 3059276"/>
              <a:gd name="connsiteX10" fmla="*/ 3291229 w 10186247"/>
              <a:gd name="connsiteY10" fmla="*/ 2177 h 305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86247" h="3059276">
                <a:moveTo>
                  <a:pt x="3291229" y="2177"/>
                </a:moveTo>
                <a:cubicBezTo>
                  <a:pt x="4317174" y="38496"/>
                  <a:pt x="5084237" y="521464"/>
                  <a:pt x="5575156" y="860119"/>
                </a:cubicBezTo>
                <a:cubicBezTo>
                  <a:pt x="6229716" y="1311659"/>
                  <a:pt x="7088826" y="1629789"/>
                  <a:pt x="7999073" y="1260347"/>
                </a:cubicBezTo>
                <a:cubicBezTo>
                  <a:pt x="8914434" y="890906"/>
                  <a:pt x="8914434" y="480415"/>
                  <a:pt x="9528084" y="480415"/>
                </a:cubicBezTo>
                <a:cubicBezTo>
                  <a:pt x="10141734" y="480415"/>
                  <a:pt x="10443445" y="1424544"/>
                  <a:pt x="9911615" y="1927395"/>
                </a:cubicBezTo>
                <a:cubicBezTo>
                  <a:pt x="8587154" y="3189654"/>
                  <a:pt x="7359855" y="3174261"/>
                  <a:pt x="6132555" y="2927966"/>
                </a:cubicBezTo>
                <a:cubicBezTo>
                  <a:pt x="4905255" y="2681672"/>
                  <a:pt x="4030804" y="1614396"/>
                  <a:pt x="2997827" y="1696494"/>
                </a:cubicBezTo>
                <a:cubicBezTo>
                  <a:pt x="1959736" y="1778592"/>
                  <a:pt x="1346086" y="2476426"/>
                  <a:pt x="1346086" y="2476426"/>
                </a:cubicBezTo>
                <a:cubicBezTo>
                  <a:pt x="896076" y="2902311"/>
                  <a:pt x="256857" y="2722721"/>
                  <a:pt x="36966" y="2148034"/>
                </a:cubicBezTo>
                <a:cubicBezTo>
                  <a:pt x="-182925" y="1573347"/>
                  <a:pt x="584137" y="572775"/>
                  <a:pt x="2179627" y="136629"/>
                </a:cubicBezTo>
                <a:cubicBezTo>
                  <a:pt x="2578500" y="27592"/>
                  <a:pt x="2949246" y="-9929"/>
                  <a:pt x="3291229" y="2177"/>
                </a:cubicBezTo>
                <a:close/>
              </a:path>
            </a:pathLst>
          </a:custGeom>
          <a:solidFill>
            <a:srgbClr val="FF7D69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Freeform: Shape 2"/>
          <p:cNvSpPr/>
          <p:nvPr/>
        </p:nvSpPr>
        <p:spPr>
          <a:xfrm>
            <a:off x="4531443" y="3141415"/>
            <a:ext cx="2564765" cy="2881630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6" y="0"/>
                  <a:pt x="1263423" y="0"/>
                </a:cubicBezTo>
                <a:close/>
              </a:path>
            </a:pathLst>
          </a:custGeom>
          <a:solidFill>
            <a:schemeClr val="bg1"/>
          </a:solidFill>
          <a:ln w="63500">
            <a:solidFill>
              <a:srgbClr val="FF876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88" name="Freeform: Shape 2"/>
          <p:cNvSpPr/>
          <p:nvPr/>
        </p:nvSpPr>
        <p:spPr>
          <a:xfrm>
            <a:off x="8335366" y="4234681"/>
            <a:ext cx="2277745" cy="2558415"/>
          </a:xfrm>
          <a:custGeom>
            <a:avLst/>
            <a:gdLst>
              <a:gd name="connsiteX0" fmla="*/ 1263423 w 2526846"/>
              <a:gd name="connsiteY0" fmla="*/ 0 h 2838291"/>
              <a:gd name="connsiteX1" fmla="*/ 1396808 w 2526846"/>
              <a:gd name="connsiteY1" fmla="*/ 31204 h 2838291"/>
              <a:gd name="connsiteX2" fmla="*/ 2361449 w 2526846"/>
              <a:gd name="connsiteY2" fmla="*/ 513410 h 2838291"/>
              <a:gd name="connsiteX3" fmla="*/ 2526846 w 2526846"/>
              <a:gd name="connsiteY3" fmla="*/ 781183 h 2838291"/>
              <a:gd name="connsiteX4" fmla="*/ 2526846 w 2526846"/>
              <a:gd name="connsiteY4" fmla="*/ 2057108 h 2838291"/>
              <a:gd name="connsiteX5" fmla="*/ 2361449 w 2526846"/>
              <a:gd name="connsiteY5" fmla="*/ 2324881 h 2838291"/>
              <a:gd name="connsiteX6" fmla="*/ 1396808 w 2526846"/>
              <a:gd name="connsiteY6" fmla="*/ 2807087 h 2838291"/>
              <a:gd name="connsiteX7" fmla="*/ 1130038 w 2526846"/>
              <a:gd name="connsiteY7" fmla="*/ 2807087 h 2838291"/>
              <a:gd name="connsiteX8" fmla="*/ 165398 w 2526846"/>
              <a:gd name="connsiteY8" fmla="*/ 2324881 h 2838291"/>
              <a:gd name="connsiteX9" fmla="*/ 0 w 2526846"/>
              <a:gd name="connsiteY9" fmla="*/ 2057108 h 2838291"/>
              <a:gd name="connsiteX10" fmla="*/ 0 w 2526846"/>
              <a:gd name="connsiteY10" fmla="*/ 781183 h 2838291"/>
              <a:gd name="connsiteX11" fmla="*/ 165398 w 2526846"/>
              <a:gd name="connsiteY11" fmla="*/ 513410 h 2838291"/>
              <a:gd name="connsiteX12" fmla="*/ 1130038 w 2526846"/>
              <a:gd name="connsiteY12" fmla="*/ 31204 h 2838291"/>
              <a:gd name="connsiteX13" fmla="*/ 1263423 w 2526846"/>
              <a:gd name="connsiteY13" fmla="*/ 0 h 28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6846" h="2838291">
                <a:moveTo>
                  <a:pt x="1263423" y="0"/>
                </a:moveTo>
                <a:cubicBezTo>
                  <a:pt x="1309041" y="0"/>
                  <a:pt x="1354659" y="10401"/>
                  <a:pt x="1396808" y="31204"/>
                </a:cubicBezTo>
                <a:cubicBezTo>
                  <a:pt x="1396808" y="31204"/>
                  <a:pt x="1396808" y="31204"/>
                  <a:pt x="2361449" y="513410"/>
                </a:cubicBezTo>
                <a:cubicBezTo>
                  <a:pt x="2462821" y="564618"/>
                  <a:pt x="2526846" y="668100"/>
                  <a:pt x="2526846" y="781183"/>
                </a:cubicBezTo>
                <a:cubicBezTo>
                  <a:pt x="2526846" y="781183"/>
                  <a:pt x="2526846" y="781183"/>
                  <a:pt x="2526846" y="2057108"/>
                </a:cubicBezTo>
                <a:cubicBezTo>
                  <a:pt x="2526846" y="2170191"/>
                  <a:pt x="2462821" y="2273674"/>
                  <a:pt x="2361449" y="2324881"/>
                </a:cubicBezTo>
                <a:cubicBezTo>
                  <a:pt x="2361449" y="2324881"/>
                  <a:pt x="2361449" y="2324881"/>
                  <a:pt x="1396808" y="2807087"/>
                </a:cubicBezTo>
                <a:cubicBezTo>
                  <a:pt x="1312509" y="2848693"/>
                  <a:pt x="1214337" y="2848693"/>
                  <a:pt x="1130038" y="2807087"/>
                </a:cubicBezTo>
                <a:cubicBezTo>
                  <a:pt x="1130038" y="2807087"/>
                  <a:pt x="1130038" y="2807087"/>
                  <a:pt x="165398" y="2324881"/>
                </a:cubicBezTo>
                <a:cubicBezTo>
                  <a:pt x="64025" y="2273674"/>
                  <a:pt x="0" y="2170191"/>
                  <a:pt x="0" y="2057108"/>
                </a:cubicBezTo>
                <a:cubicBezTo>
                  <a:pt x="0" y="2057108"/>
                  <a:pt x="0" y="2057108"/>
                  <a:pt x="0" y="781183"/>
                </a:cubicBezTo>
                <a:cubicBezTo>
                  <a:pt x="0" y="668100"/>
                  <a:pt x="64025" y="564618"/>
                  <a:pt x="165398" y="513410"/>
                </a:cubicBezTo>
                <a:cubicBezTo>
                  <a:pt x="165398" y="513410"/>
                  <a:pt x="165398" y="513410"/>
                  <a:pt x="1130038" y="31204"/>
                </a:cubicBezTo>
                <a:cubicBezTo>
                  <a:pt x="1172188" y="10401"/>
                  <a:pt x="1217806" y="0"/>
                  <a:pt x="1263423" y="0"/>
                </a:cubicBezTo>
                <a:close/>
              </a:path>
            </a:pathLst>
          </a:custGeom>
          <a:solidFill>
            <a:schemeClr val="bg1"/>
          </a:solidFill>
          <a:ln w="63500">
            <a:solidFill>
              <a:srgbClr val="FF876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grpSp>
        <p:nvGrpSpPr>
          <p:cNvPr id="189" name="Group 2"/>
          <p:cNvGrpSpPr/>
          <p:nvPr/>
        </p:nvGrpSpPr>
        <p:grpSpPr>
          <a:xfrm>
            <a:off x="4683967" y="4788834"/>
            <a:ext cx="2259715" cy="1070933"/>
            <a:chOff x="6460888" y="3758451"/>
            <a:chExt cx="2259715" cy="1070933"/>
          </a:xfrm>
        </p:grpSpPr>
        <p:sp>
          <p:nvSpPr>
            <p:cNvPr id="190" name="Freeform: Shape 99"/>
            <p:cNvSpPr/>
            <p:nvPr/>
          </p:nvSpPr>
          <p:spPr>
            <a:xfrm>
              <a:off x="6460888" y="3758451"/>
              <a:ext cx="2259715" cy="1070933"/>
            </a:xfrm>
            <a:custGeom>
              <a:avLst/>
              <a:gdLst>
                <a:gd name="connsiteX0" fmla="*/ 1129857 w 2259715"/>
                <a:gd name="connsiteY0" fmla="*/ 0 h 1070933"/>
                <a:gd name="connsiteX1" fmla="*/ 1263242 w 2259715"/>
                <a:gd name="connsiteY1" fmla="*/ 31204 h 1070933"/>
                <a:gd name="connsiteX2" fmla="*/ 2227883 w 2259715"/>
                <a:gd name="connsiteY2" fmla="*/ 513410 h 1070933"/>
                <a:gd name="connsiteX3" fmla="*/ 2259715 w 2259715"/>
                <a:gd name="connsiteY3" fmla="*/ 535467 h 1070933"/>
                <a:gd name="connsiteX4" fmla="*/ 2227883 w 2259715"/>
                <a:gd name="connsiteY4" fmla="*/ 557523 h 1070933"/>
                <a:gd name="connsiteX5" fmla="*/ 1263242 w 2259715"/>
                <a:gd name="connsiteY5" fmla="*/ 1039729 h 1070933"/>
                <a:gd name="connsiteX6" fmla="*/ 996472 w 2259715"/>
                <a:gd name="connsiteY6" fmla="*/ 1039729 h 1070933"/>
                <a:gd name="connsiteX7" fmla="*/ 31832 w 2259715"/>
                <a:gd name="connsiteY7" fmla="*/ 557523 h 1070933"/>
                <a:gd name="connsiteX8" fmla="*/ 0 w 2259715"/>
                <a:gd name="connsiteY8" fmla="*/ 535467 h 1070933"/>
                <a:gd name="connsiteX9" fmla="*/ 31832 w 2259715"/>
                <a:gd name="connsiteY9" fmla="*/ 513410 h 1070933"/>
                <a:gd name="connsiteX10" fmla="*/ 996472 w 2259715"/>
                <a:gd name="connsiteY10" fmla="*/ 31204 h 1070933"/>
                <a:gd name="connsiteX11" fmla="*/ 1129857 w 2259715"/>
                <a:gd name="connsiteY11" fmla="*/ 0 h 10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9715" h="1070933">
                  <a:moveTo>
                    <a:pt x="1129857" y="0"/>
                  </a:moveTo>
                  <a:cubicBezTo>
                    <a:pt x="1175475" y="0"/>
                    <a:pt x="1221093" y="10401"/>
                    <a:pt x="1263242" y="31204"/>
                  </a:cubicBezTo>
                  <a:cubicBezTo>
                    <a:pt x="1263242" y="31204"/>
                    <a:pt x="1263242" y="31204"/>
                    <a:pt x="2227883" y="513410"/>
                  </a:cubicBezTo>
                  <a:lnTo>
                    <a:pt x="2259715" y="535467"/>
                  </a:lnTo>
                  <a:lnTo>
                    <a:pt x="2227883" y="557523"/>
                  </a:lnTo>
                  <a:cubicBezTo>
                    <a:pt x="2227883" y="557523"/>
                    <a:pt x="2227883" y="557523"/>
                    <a:pt x="1263242" y="1039729"/>
                  </a:cubicBezTo>
                  <a:cubicBezTo>
                    <a:pt x="1178943" y="1081335"/>
                    <a:pt x="1080771" y="1081335"/>
                    <a:pt x="996472" y="1039729"/>
                  </a:cubicBezTo>
                  <a:cubicBezTo>
                    <a:pt x="996472" y="1039729"/>
                    <a:pt x="996472" y="1039729"/>
                    <a:pt x="31832" y="557523"/>
                  </a:cubicBezTo>
                  <a:lnTo>
                    <a:pt x="0" y="535467"/>
                  </a:lnTo>
                  <a:lnTo>
                    <a:pt x="31832" y="513410"/>
                  </a:lnTo>
                  <a:cubicBezTo>
                    <a:pt x="31832" y="513410"/>
                    <a:pt x="31832" y="513410"/>
                    <a:pt x="996472" y="31204"/>
                  </a:cubicBezTo>
                  <a:cubicBezTo>
                    <a:pt x="1038622" y="10401"/>
                    <a:pt x="1084240" y="0"/>
                    <a:pt x="1129857" y="0"/>
                  </a:cubicBezTo>
                  <a:close/>
                </a:path>
              </a:pathLst>
            </a:custGeom>
            <a:gradFill>
              <a:gsLst>
                <a:gs pos="0">
                  <a:srgbClr val="FF5E64"/>
                </a:gs>
                <a:gs pos="100000">
                  <a:srgbClr val="FF876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TextBox 69"/>
            <p:cNvSpPr txBox="1"/>
            <p:nvPr/>
          </p:nvSpPr>
          <p:spPr>
            <a:xfrm>
              <a:off x="6799348" y="4034715"/>
              <a:ext cx="15827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2026</a:t>
              </a:r>
              <a:endParaRPr lang="en-US" sz="2400" b="1" dirty="0">
                <a:solidFill>
                  <a:schemeClr val="bg1"/>
                </a:solidFill>
                <a:latin typeface="+mj-lt"/>
                <a:cs typeface="Catamaran Bold" panose="00000800000000000000" pitchFamily="2" charset="0"/>
              </a:endParaRPr>
            </a:p>
          </p:txBody>
        </p:sp>
      </p:grpSp>
      <p:grpSp>
        <p:nvGrpSpPr>
          <p:cNvPr id="192" name="Group 3"/>
          <p:cNvGrpSpPr/>
          <p:nvPr/>
        </p:nvGrpSpPr>
        <p:grpSpPr>
          <a:xfrm>
            <a:off x="8344380" y="4597367"/>
            <a:ext cx="2259715" cy="1070933"/>
            <a:chOff x="8667090" y="4114875"/>
            <a:chExt cx="2259715" cy="1070933"/>
          </a:xfrm>
        </p:grpSpPr>
        <p:sp>
          <p:nvSpPr>
            <p:cNvPr id="193" name="Freeform: Shape 102"/>
            <p:cNvSpPr/>
            <p:nvPr/>
          </p:nvSpPr>
          <p:spPr>
            <a:xfrm>
              <a:off x="8667090" y="4114875"/>
              <a:ext cx="2259715" cy="1070933"/>
            </a:xfrm>
            <a:custGeom>
              <a:avLst/>
              <a:gdLst>
                <a:gd name="connsiteX0" fmla="*/ 1129857 w 2259715"/>
                <a:gd name="connsiteY0" fmla="*/ 0 h 1070933"/>
                <a:gd name="connsiteX1" fmla="*/ 1263242 w 2259715"/>
                <a:gd name="connsiteY1" fmla="*/ 31204 h 1070933"/>
                <a:gd name="connsiteX2" fmla="*/ 2227883 w 2259715"/>
                <a:gd name="connsiteY2" fmla="*/ 513410 h 1070933"/>
                <a:gd name="connsiteX3" fmla="*/ 2259715 w 2259715"/>
                <a:gd name="connsiteY3" fmla="*/ 535467 h 1070933"/>
                <a:gd name="connsiteX4" fmla="*/ 2227883 w 2259715"/>
                <a:gd name="connsiteY4" fmla="*/ 557523 h 1070933"/>
                <a:gd name="connsiteX5" fmla="*/ 1263242 w 2259715"/>
                <a:gd name="connsiteY5" fmla="*/ 1039729 h 1070933"/>
                <a:gd name="connsiteX6" fmla="*/ 996472 w 2259715"/>
                <a:gd name="connsiteY6" fmla="*/ 1039729 h 1070933"/>
                <a:gd name="connsiteX7" fmla="*/ 31832 w 2259715"/>
                <a:gd name="connsiteY7" fmla="*/ 557523 h 1070933"/>
                <a:gd name="connsiteX8" fmla="*/ 0 w 2259715"/>
                <a:gd name="connsiteY8" fmla="*/ 535467 h 1070933"/>
                <a:gd name="connsiteX9" fmla="*/ 31832 w 2259715"/>
                <a:gd name="connsiteY9" fmla="*/ 513410 h 1070933"/>
                <a:gd name="connsiteX10" fmla="*/ 996472 w 2259715"/>
                <a:gd name="connsiteY10" fmla="*/ 31204 h 1070933"/>
                <a:gd name="connsiteX11" fmla="*/ 1129857 w 2259715"/>
                <a:gd name="connsiteY11" fmla="*/ 0 h 10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9715" h="1070933">
                  <a:moveTo>
                    <a:pt x="1129857" y="0"/>
                  </a:moveTo>
                  <a:cubicBezTo>
                    <a:pt x="1175475" y="0"/>
                    <a:pt x="1221093" y="10401"/>
                    <a:pt x="1263242" y="31204"/>
                  </a:cubicBezTo>
                  <a:cubicBezTo>
                    <a:pt x="1263242" y="31204"/>
                    <a:pt x="1263242" y="31204"/>
                    <a:pt x="2227883" y="513410"/>
                  </a:cubicBezTo>
                  <a:lnTo>
                    <a:pt x="2259715" y="535467"/>
                  </a:lnTo>
                  <a:lnTo>
                    <a:pt x="2227883" y="557523"/>
                  </a:lnTo>
                  <a:cubicBezTo>
                    <a:pt x="2227883" y="557523"/>
                    <a:pt x="2227883" y="557523"/>
                    <a:pt x="1263242" y="1039729"/>
                  </a:cubicBezTo>
                  <a:cubicBezTo>
                    <a:pt x="1178943" y="1081335"/>
                    <a:pt x="1080771" y="1081335"/>
                    <a:pt x="996472" y="1039729"/>
                  </a:cubicBezTo>
                  <a:cubicBezTo>
                    <a:pt x="996472" y="1039729"/>
                    <a:pt x="996472" y="1039729"/>
                    <a:pt x="31832" y="557523"/>
                  </a:cubicBezTo>
                  <a:lnTo>
                    <a:pt x="0" y="535467"/>
                  </a:lnTo>
                  <a:lnTo>
                    <a:pt x="31832" y="513410"/>
                  </a:lnTo>
                  <a:cubicBezTo>
                    <a:pt x="31832" y="513410"/>
                    <a:pt x="31832" y="513410"/>
                    <a:pt x="996472" y="31204"/>
                  </a:cubicBezTo>
                  <a:cubicBezTo>
                    <a:pt x="1038622" y="10401"/>
                    <a:pt x="1084240" y="0"/>
                    <a:pt x="1129857" y="0"/>
                  </a:cubicBezTo>
                  <a:close/>
                </a:path>
              </a:pathLst>
            </a:custGeom>
            <a:solidFill>
              <a:schemeClr val="bg1"/>
            </a:solidFill>
            <a:ln w="63500">
              <a:gradFill>
                <a:gsLst>
                  <a:gs pos="0">
                    <a:srgbClr val="FF5E64"/>
                  </a:gs>
                  <a:gs pos="100000">
                    <a:srgbClr val="FFBD6B">
                      <a:lumMod val="97000"/>
                    </a:srgb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TextBox 103"/>
            <p:cNvSpPr txBox="1"/>
            <p:nvPr/>
          </p:nvSpPr>
          <p:spPr>
            <a:xfrm>
              <a:off x="9005548" y="4420153"/>
              <a:ext cx="15827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tamaran Bold" panose="00000800000000000000" pitchFamily="2" charset="0"/>
                </a:rPr>
                <a:t>2027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tamaran Bold" panose="00000800000000000000" pitchFamily="2" charset="0"/>
              </a:endParaRPr>
            </a:p>
          </p:txBody>
        </p:sp>
      </p:grpSp>
      <p:grpSp>
        <p:nvGrpSpPr>
          <p:cNvPr id="197" name="Group 3"/>
          <p:cNvGrpSpPr/>
          <p:nvPr/>
        </p:nvGrpSpPr>
        <p:grpSpPr>
          <a:xfrm>
            <a:off x="1218133" y="4788833"/>
            <a:ext cx="2259715" cy="1070933"/>
            <a:chOff x="8363485" y="5811820"/>
            <a:chExt cx="2259715" cy="1070933"/>
          </a:xfrm>
        </p:grpSpPr>
        <p:sp>
          <p:nvSpPr>
            <p:cNvPr id="198" name="Freeform: Shape 102"/>
            <p:cNvSpPr/>
            <p:nvPr/>
          </p:nvSpPr>
          <p:spPr>
            <a:xfrm>
              <a:off x="8363485" y="5811820"/>
              <a:ext cx="2259715" cy="1070933"/>
            </a:xfrm>
            <a:custGeom>
              <a:avLst/>
              <a:gdLst>
                <a:gd name="connsiteX0" fmla="*/ 1129857 w 2259715"/>
                <a:gd name="connsiteY0" fmla="*/ 0 h 1070933"/>
                <a:gd name="connsiteX1" fmla="*/ 1263242 w 2259715"/>
                <a:gd name="connsiteY1" fmla="*/ 31204 h 1070933"/>
                <a:gd name="connsiteX2" fmla="*/ 2227883 w 2259715"/>
                <a:gd name="connsiteY2" fmla="*/ 513410 h 1070933"/>
                <a:gd name="connsiteX3" fmla="*/ 2259715 w 2259715"/>
                <a:gd name="connsiteY3" fmla="*/ 535467 h 1070933"/>
                <a:gd name="connsiteX4" fmla="*/ 2227883 w 2259715"/>
                <a:gd name="connsiteY4" fmla="*/ 557523 h 1070933"/>
                <a:gd name="connsiteX5" fmla="*/ 1263242 w 2259715"/>
                <a:gd name="connsiteY5" fmla="*/ 1039729 h 1070933"/>
                <a:gd name="connsiteX6" fmla="*/ 996472 w 2259715"/>
                <a:gd name="connsiteY6" fmla="*/ 1039729 h 1070933"/>
                <a:gd name="connsiteX7" fmla="*/ 31832 w 2259715"/>
                <a:gd name="connsiteY7" fmla="*/ 557523 h 1070933"/>
                <a:gd name="connsiteX8" fmla="*/ 0 w 2259715"/>
                <a:gd name="connsiteY8" fmla="*/ 535467 h 1070933"/>
                <a:gd name="connsiteX9" fmla="*/ 31832 w 2259715"/>
                <a:gd name="connsiteY9" fmla="*/ 513410 h 1070933"/>
                <a:gd name="connsiteX10" fmla="*/ 996472 w 2259715"/>
                <a:gd name="connsiteY10" fmla="*/ 31204 h 1070933"/>
                <a:gd name="connsiteX11" fmla="*/ 1129857 w 2259715"/>
                <a:gd name="connsiteY11" fmla="*/ 0 h 10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9715" h="1070933">
                  <a:moveTo>
                    <a:pt x="1129857" y="0"/>
                  </a:moveTo>
                  <a:cubicBezTo>
                    <a:pt x="1175475" y="0"/>
                    <a:pt x="1221093" y="10401"/>
                    <a:pt x="1263242" y="31204"/>
                  </a:cubicBezTo>
                  <a:cubicBezTo>
                    <a:pt x="1263242" y="31204"/>
                    <a:pt x="1263242" y="31204"/>
                    <a:pt x="2227883" y="513410"/>
                  </a:cubicBezTo>
                  <a:lnTo>
                    <a:pt x="2259715" y="535467"/>
                  </a:lnTo>
                  <a:lnTo>
                    <a:pt x="2227883" y="557523"/>
                  </a:lnTo>
                  <a:cubicBezTo>
                    <a:pt x="2227883" y="557523"/>
                    <a:pt x="2227883" y="557523"/>
                    <a:pt x="1263242" y="1039729"/>
                  </a:cubicBezTo>
                  <a:cubicBezTo>
                    <a:pt x="1178943" y="1081335"/>
                    <a:pt x="1080771" y="1081335"/>
                    <a:pt x="996472" y="1039729"/>
                  </a:cubicBezTo>
                  <a:cubicBezTo>
                    <a:pt x="996472" y="1039729"/>
                    <a:pt x="996472" y="1039729"/>
                    <a:pt x="31832" y="557523"/>
                  </a:cubicBezTo>
                  <a:lnTo>
                    <a:pt x="0" y="535467"/>
                  </a:lnTo>
                  <a:lnTo>
                    <a:pt x="31832" y="513410"/>
                  </a:lnTo>
                  <a:cubicBezTo>
                    <a:pt x="31832" y="513410"/>
                    <a:pt x="31832" y="513410"/>
                    <a:pt x="996472" y="31204"/>
                  </a:cubicBezTo>
                  <a:cubicBezTo>
                    <a:pt x="1038622" y="10401"/>
                    <a:pt x="1084240" y="0"/>
                    <a:pt x="1129857" y="0"/>
                  </a:cubicBezTo>
                  <a:close/>
                </a:path>
              </a:pathLst>
            </a:custGeom>
            <a:solidFill>
              <a:schemeClr val="bg1"/>
            </a:solidFill>
            <a:ln w="63500">
              <a:gradFill>
                <a:gsLst>
                  <a:gs pos="0">
                    <a:srgbClr val="FF5E64"/>
                  </a:gs>
                  <a:gs pos="100000">
                    <a:srgbClr val="FFB860">
                      <a:lumMod val="88000"/>
                    </a:srgb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TextBox 103"/>
            <p:cNvSpPr txBox="1"/>
            <p:nvPr/>
          </p:nvSpPr>
          <p:spPr>
            <a:xfrm>
              <a:off x="8679670" y="6088085"/>
              <a:ext cx="1582797" cy="460375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tamaran Bold" panose="00000800000000000000" pitchFamily="2" charset="0"/>
                </a:rPr>
                <a:t>2025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tamaran Bold" panose="00000800000000000000" pitchFamily="2" charset="0"/>
              </a:endParaRP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563308-DD25-EE18-5C51-84345C11EF08}"/>
              </a:ext>
            </a:extLst>
          </p:cNvPr>
          <p:cNvSpPr/>
          <p:nvPr/>
        </p:nvSpPr>
        <p:spPr>
          <a:xfrm>
            <a:off x="-2610104" y="97330"/>
            <a:ext cx="9428964" cy="558265"/>
          </a:xfrm>
          <a:prstGeom prst="round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2000">
                <a:schemeClr val="accent4">
                  <a:lumMod val="60000"/>
                  <a:lumOff val="40000"/>
                  <a:alpha val="58000"/>
                </a:schemeClr>
              </a:gs>
              <a:gs pos="35000">
                <a:schemeClr val="accent4">
                  <a:lumMod val="60000"/>
                  <a:lumOff val="40000"/>
                  <a:alpha val="71000"/>
                </a:schemeClr>
              </a:gs>
              <a:gs pos="69000">
                <a:schemeClr val="accent4">
                  <a:lumMod val="60000"/>
                  <a:lumOff val="40000"/>
                  <a:alpha val="51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B8258-ADFD-025C-5356-6C454A2AAA98}"/>
              </a:ext>
            </a:extLst>
          </p:cNvPr>
          <p:cNvSpPr txBox="1"/>
          <p:nvPr/>
        </p:nvSpPr>
        <p:spPr>
          <a:xfrm>
            <a:off x="178576" y="145629"/>
            <a:ext cx="4747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五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900F3F-5396-03CD-8CBD-D043BB6866BD}"/>
              </a:ext>
            </a:extLst>
          </p:cNvPr>
          <p:cNvSpPr txBox="1"/>
          <p:nvPr/>
        </p:nvSpPr>
        <p:spPr>
          <a:xfrm>
            <a:off x="276182" y="682920"/>
            <a:ext cx="11086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以上内容如有错误和遗漏，请各位谅解。当然这部分讲述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不是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为了让大家疯狂地加入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“内卷”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的队伍，而是让大家对大学四年有一个粗略的了解，以形成自己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初步的、正确的、合理的规划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健康的身体，积极的心态，良好的学习习惯与人际关系，丰富的大学生活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大学的容错率很低，原诸位在保持身心健康，遵纪守法的前提下，勇敢地尝试，跳出自己的舒适圈，不断地提升自己，保持优秀，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为世界之光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AA9180-13DD-017F-AC98-6513193AAD00}"/>
              </a:ext>
            </a:extLst>
          </p:cNvPr>
          <p:cNvSpPr txBox="1"/>
          <p:nvPr/>
        </p:nvSpPr>
        <p:spPr>
          <a:xfrm>
            <a:off x="5170147" y="3568529"/>
            <a:ext cx="1292662" cy="12397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 忠恕任事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果毅力行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  敦笃励志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精勤求学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F2933B-B20A-7064-5C87-A5A92179366F}"/>
              </a:ext>
            </a:extLst>
          </p:cNvPr>
          <p:cNvSpPr txBox="1"/>
          <p:nvPr/>
        </p:nvSpPr>
        <p:spPr>
          <a:xfrm>
            <a:off x="241252" y="5998079"/>
            <a:ext cx="11611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最后感谢各位学弟学妹的支持，特别是班委，便捷了我们的工作。以后相处见面的时间还长，有什么问题可以直接询问，不用吝惜你们的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@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，这是我们的工作。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 animBg="1"/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alphaModFix amt="33000"/>
          </a:blip>
          <a:stretch>
            <a:fillRect l="-2000" t="-6000" r="1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3"/>
          <p:cNvSpPr/>
          <p:nvPr/>
        </p:nvSpPr>
        <p:spPr>
          <a:xfrm>
            <a:off x="0" y="1605526"/>
            <a:ext cx="12192000" cy="2717800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5010D5-8E50-7CA6-EA5B-2E637ECC71FE}"/>
              </a:ext>
            </a:extLst>
          </p:cNvPr>
          <p:cNvSpPr txBox="1"/>
          <p:nvPr/>
        </p:nvSpPr>
        <p:spPr>
          <a:xfrm>
            <a:off x="101600" y="2050473"/>
            <a:ext cx="1107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                          祝学弟学妹生活快乐，学习愉快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B56AAE-94DD-FB19-F103-1831C050F30A}"/>
              </a:ext>
            </a:extLst>
          </p:cNvPr>
          <p:cNvSpPr txBox="1"/>
          <p:nvPr/>
        </p:nvSpPr>
        <p:spPr>
          <a:xfrm>
            <a:off x="2955636" y="3057236"/>
            <a:ext cx="6345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</a:rPr>
              <a:t>                感谢聆听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996</Words>
  <Application>Microsoft Office PowerPoint</Application>
  <PresentationFormat>宽屏</PresentationFormat>
  <Paragraphs>108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黑体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yanf lee</dc:creator>
  <cp:lastModifiedBy>a27487</cp:lastModifiedBy>
  <cp:revision>5</cp:revision>
  <dcterms:created xsi:type="dcterms:W3CDTF">2025-01-23T21:02:06Z</dcterms:created>
  <dcterms:modified xsi:type="dcterms:W3CDTF">2025-09-24T15:20:50Z</dcterms:modified>
</cp:coreProperties>
</file>