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b.png"/>
          <p:cNvPicPr>
            <a:picLocks noChangeAspect="1"/>
          </p:cNvPicPr>
          <p:nvPr/>
        </p:nvPicPr>
        <p:blipFill>
          <a:blip r:embed="rId3"/>
          <a:srcRect l="46" r="4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crim_l.png"/>
          <p:cNvPicPr>
            <a:picLocks noChangeAspect="1"/>
          </p:cNvPicPr>
          <p:nvPr/>
        </p:nvPicPr>
        <p:blipFill>
          <a:blip r:embed="rId4"/>
          <a:srcRect l="46" r="4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85248" y="1755648"/>
            <a:ext cx="117043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44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R E S E A R C H   P R E S E N T A T I O N   ·   2 0 2 6   A C 0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9326880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 a Disposable Mask
Be Reused?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874519" cy="5080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61104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0ECF6"/>
                </a:solidFill>
                <a:latin typeface="Microsoft YaHei"/>
                <a:ea typeface="Microsoft YaHei"/>
                <a:cs typeface="Microsoft YaHei"/>
              </a:rPr>
              <a:t>A qualification review of hot-water decontamination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0ECF6"/>
                </a:solidFill>
                <a:latin typeface="Microsoft YaHei"/>
                <a:ea typeface="Microsoft YaHei"/>
                <a:cs typeface="Microsoft YaHei"/>
              </a:rPr>
              <a:t>and charge regeneration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5838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AD4"/>
                </a:solidFill>
                <a:latin typeface="Microsoft YaHei"/>
                <a:ea typeface="Microsoft YaHei"/>
                <a:cs typeface="Microsoft YaHei"/>
              </a:rPr>
              <a:t>Wang D. et al.  ·  Engineering 6 (2020) 1115–1121  ·  Beijing University of Chemical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42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PRESENTED BY   甲   ·   乙   ·   丙   ·   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83696" y="1847088"/>
            <a:ext cx="13970" cy="3931920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28248" y="1847088"/>
            <a:ext cx="100584" cy="100584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28248" y="5678424"/>
            <a:ext cx="100584" cy="100584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Tm="0">
    <p:fade/>
  </p:transition>
  <p:timing>
    <p:tnLst>
      <p:par>
        <p:cTn id="1062" dur="indefinite" fill="hold" nodeType="tmRoot" presetSubtype="0" grpId="0" restart="never">
          <p:childTnLst>
            <p:seq concurrent="1" nextAc="seek">
              <p:cTn id="1061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0 1   ·   C O N T E X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877824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In early 2020 a disposable mask stopped being disposable — it became a strategic resource.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6949440" cy="1024128"/>
          </a:xfrm>
          <a:prstGeom prst="rect">
            <a:avLst/>
          </a:prstGeom>
          <a:gradFill rotWithShape="1">
            <a:gsLst>
              <a:gs pos="0">
                <a:srgbClr val="11243A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64008" cy="1024128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231136"/>
            <a:ext cx="26517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  <a:p>
            <a:r>
              <a:rPr sz="1150" b="1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MILLION MASKS /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Total mask production in China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33472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Reported for 23 January 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91840"/>
            <a:ext cx="6949440" cy="1024128"/>
          </a:xfrm>
          <a:prstGeom prst="rect">
            <a:avLst/>
          </a:prstGeom>
          <a:gradFill rotWithShape="1">
            <a:gsLst>
              <a:gs pos="0">
                <a:srgbClr val="11243A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291840"/>
            <a:ext cx="64008" cy="1024128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419856"/>
            <a:ext cx="26517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1.4</a:t>
            </a:r>
          </a:p>
          <a:p>
            <a:r>
              <a:rPr sz="1150" b="1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BILLION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74720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population that supply had to 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22191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The demand–supply gap was enormous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0560"/>
            <a:ext cx="6949440" cy="1024128"/>
          </a:xfrm>
          <a:prstGeom prst="rect">
            <a:avLst/>
          </a:prstGeom>
          <a:gradFill rotWithShape="1">
            <a:gsLst>
              <a:gs pos="0">
                <a:srgbClr val="11243A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480560"/>
            <a:ext cx="64008" cy="1024128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608576"/>
            <a:ext cx="26517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r>
              <a:rPr sz="1150" b="1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DAYS TO ACCEPT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663440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 submission to 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10912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Received 26 May · Accepted 29 May 2020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11247120" y="2103120"/>
            <a:ext cx="292608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C6E0"/>
                </a:solidFill>
                <a:latin typeface="Microsoft YaHei"/>
                <a:ea typeface="Microsoft YaHei"/>
                <a:cs typeface="Microsoft YaHei"/>
              </a:rPr>
              <a:t>CHINA  ·  JANUARY 2020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760720"/>
            <a:ext cx="10545775" cy="530352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760720"/>
            <a:ext cx="68580" cy="530352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760720"/>
            <a:ext cx="9841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 the question became urgent: is there a way to make one mask last longer — safely?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SPEAKER 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34" dur="indefinite" fill="hold" nodeType="tmRoot" presetSubtype="0" grpId="0" restart="never">
          <p:childTnLst>
            <p:seq concurrent="1" nextAc="seek">
              <p:cTn id="1133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0 2   ·   F R A M E W O R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Three Questions for a Qualification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This paper is not a discovery. It is a qualification campaign — and any review must answer three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84831"/>
            <a:ext cx="3328416" cy="4041648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3328416" cy="59436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9151"/>
            <a:ext cx="28163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45535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KILL?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4096512"/>
            <a:ext cx="658368" cy="22860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297679"/>
            <a:ext cx="2816352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Does the procedure actually inactivate the virus?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084831"/>
            <a:ext cx="3328416" cy="4041648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084831"/>
            <a:ext cx="3328416" cy="5943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359151"/>
            <a:ext cx="28163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145535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FILTER?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4096512"/>
            <a:ext cx="658368" cy="228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4297679"/>
            <a:ext cx="2816352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Does the mask still capture particles afterwards?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1" y="2084831"/>
            <a:ext cx="3328416" cy="4041648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2084831"/>
            <a:ext cx="3328416" cy="59436"/>
          </a:xfrm>
          <a:prstGeom prst="rect">
            <a:avLst/>
          </a:prstGeom>
          <a:solidFill>
            <a:srgbClr val="36C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2359151"/>
            <a:ext cx="28163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145535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SURVIVE?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3" y="4096512"/>
            <a:ext cx="658368" cy="22860"/>
          </a:xfrm>
          <a:prstGeom prst="rect">
            <a:avLst/>
          </a:prstGeom>
          <a:solidFill>
            <a:srgbClr val="36C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3" y="4297679"/>
            <a:ext cx="2816352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Does it hold up after real hours of wear?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SPEAKER 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28" dur="indefinite" fill="hold" nodeType="tmRoot" presetSubtype="0" grpId="0" restart="never">
          <p:childTnLst>
            <p:seq concurrent="1" nextAc="seek">
              <p:cTn id="1127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0 3   ·   M E T H O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5852160" cy="582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4846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Two steps, no chemicals, no special equipment.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56 °C water, then a hair dryer.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7024" y="1783080"/>
            <a:ext cx="12700" cy="4434840"/>
          </a:xfrm>
          <a:prstGeom prst="rect">
            <a:avLst/>
          </a:prstGeom>
          <a:solidFill>
            <a:srgbClr val="486886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4754880" cy="1417320"/>
          </a:xfrm>
          <a:prstGeom prst="rect">
            <a:avLst/>
          </a:prstGeom>
          <a:gradFill rotWithShape="1">
            <a:gsLst>
              <a:gs pos="0">
                <a:srgbClr val="0F2136"/>
              </a:gs>
              <a:gs pos="100000">
                <a:srgbClr val="09132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212848"/>
            <a:ext cx="64008" cy="1417320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537460"/>
            <a:ext cx="1965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56 °C</a:t>
            </a:r>
          </a:p>
          <a:p>
            <a:r>
              <a:rPr sz="1150" b="1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FOR 30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9572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 ·  SOAK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43200"/>
            <a:ext cx="182880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The envelope protein of the virus denatures and the virus loses its ability to infect.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58768"/>
            <a:ext cx="4754880" cy="1417320"/>
          </a:xfrm>
          <a:prstGeom prst="rect">
            <a:avLst/>
          </a:prstGeom>
          <a:gradFill rotWithShape="1">
            <a:gsLst>
              <a:gs pos="0">
                <a:srgbClr val="0F2136"/>
              </a:gs>
              <a:gs pos="100000">
                <a:srgbClr val="09132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858768"/>
            <a:ext cx="64008" cy="141732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183380"/>
            <a:ext cx="1965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  <a:p>
            <a:r>
              <a:rPr sz="1150" b="1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MINUTES, HAIR DRYER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04164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 ·  DRY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389120"/>
            <a:ext cx="182880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Recharges the melt-blown filter layer with static electricity.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468112"/>
            <a:ext cx="4754880" cy="603504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468112"/>
            <a:ext cx="68580" cy="603504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468112"/>
            <a:ext cx="40507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 CHEMICALS   ·   NO SPECIAL EQUIPMENT   ·   DOABLE IN A KITCHEN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37360"/>
            <a:ext cx="5852160" cy="3446652"/>
          </a:xfrm>
          <a:prstGeom prst="rect">
            <a:avLst/>
          </a:prstGeom>
          <a:solidFill>
            <a:srgbClr val="EEF4FA"/>
          </a:solidFill>
          <a:ln w="11430">
            <a:solidFill>
              <a:srgbClr val="C4D4E4"/>
            </a:solidFill>
          </a:ln>
          <a:effectLst>
            <a:outerShdw blurRad="228600" dist="88900" dir="315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56231"/>
            <a:ext cx="5614416" cy="28980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91072" y="4799964"/>
            <a:ext cx="5614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85E74"/>
                </a:solidFill>
                <a:latin typeface="Microsoft YaHei"/>
                <a:ea typeface="Microsoft YaHei"/>
                <a:cs typeface="Microsoft YaHei"/>
              </a:rPr>
              <a:t>Fig. 1 — Household containers, water temperature over 30 min, and a used mask under 365 nm UV light, before and after treatment.   Wang et al. (2020).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737360"/>
            <a:ext cx="54864" cy="3712463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SPEAKER 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28" dur="indefinite" fill="hold" nodeType="tmRoot" presetSubtype="0" grpId="0" restart="never">
          <p:childTnLst>
            <p:seq concurrent="1" nextAc="seek">
              <p:cTn id="1127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0 4   ·   M E T H O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058400" cy="531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Does the Water Stay Hot Enough?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6675120" cy="3675887"/>
          </a:xfrm>
          <a:prstGeom prst="rect">
            <a:avLst/>
          </a:prstGeom>
          <a:gradFill rotWithShape="1">
            <a:gsLst>
              <a:gs pos="0">
                <a:srgbClr val="0E1F34"/>
              </a:gs>
              <a:gs pos="100000">
                <a:srgbClr val="08111D"/>
              </a:gs>
            </a:gsLst>
            <a:lin scaled="0" ang="13500000"/>
          </a:gradFill>
          <a:ln w="11430">
            <a:solidFill>
              <a:srgbClr val="3A5A78"/>
            </a:solidFill>
          </a:ln>
          <a:effectLst>
            <a:outerShdw blurRad="254000" dist="101600" dir="3150000" algn="tl" rotWithShape="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19" y="4736592"/>
            <a:ext cx="5440680" cy="8890"/>
          </a:xfrm>
          <a:prstGeom prst="rect">
            <a:avLst/>
          </a:prstGeom>
          <a:solidFill>
            <a:srgbClr val="58789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5" y="4636007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4A0B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19" y="4272076"/>
            <a:ext cx="5440680" cy="8890"/>
          </a:xfrm>
          <a:prstGeom prst="rect">
            <a:avLst/>
          </a:prstGeom>
          <a:solidFill>
            <a:srgbClr val="58789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5" y="417149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4A0B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19" y="3807561"/>
            <a:ext cx="5440680" cy="8890"/>
          </a:xfrm>
          <a:prstGeom prst="rect">
            <a:avLst/>
          </a:prstGeom>
          <a:solidFill>
            <a:srgbClr val="58789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5" y="3706977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4A0BA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19" y="3343046"/>
            <a:ext cx="5440680" cy="8890"/>
          </a:xfrm>
          <a:prstGeom prst="rect">
            <a:avLst/>
          </a:prstGeom>
          <a:solidFill>
            <a:srgbClr val="58789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5" y="324246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4A0BA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2878531"/>
            <a:ext cx="5440680" cy="8890"/>
          </a:xfrm>
          <a:prstGeom prst="rect">
            <a:avLst/>
          </a:prstGeom>
          <a:solidFill>
            <a:srgbClr val="58789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5" y="2777947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4A0BA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2414016"/>
            <a:ext cx="5440680" cy="8890"/>
          </a:xfrm>
          <a:prstGeom prst="rect">
            <a:avLst/>
          </a:prstGeom>
          <a:solidFill>
            <a:srgbClr val="58789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5" y="231343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4A0B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19" y="4736592"/>
            <a:ext cx="5440680" cy="14630"/>
          </a:xfrm>
          <a:prstGeom prst="rect">
            <a:avLst/>
          </a:prstGeom>
          <a:solidFill>
            <a:srgbClr val="8CACC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32076" y="2646273"/>
            <a:ext cx="361736" cy="2090318"/>
          </a:xfrm>
          <a:prstGeom prst="rect">
            <a:avLst/>
          </a:prstGeom>
          <a:gradFill rotWithShape="1">
            <a:gsLst>
              <a:gs pos="0">
                <a:srgbClr val="497FB5"/>
              </a:gs>
              <a:gs pos="100000">
                <a:srgbClr val="3E6C9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2076" y="2399385"/>
            <a:ext cx="361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52700" y="3343046"/>
            <a:ext cx="361736" cy="1393545"/>
          </a:xfrm>
          <a:prstGeom prst="rect">
            <a:avLst/>
          </a:prstGeom>
          <a:gradFill rotWithShape="1">
            <a:gsLst>
              <a:gs pos="0">
                <a:srgbClr val="42E9FF"/>
              </a:gs>
              <a:gs pos="100000">
                <a:srgbClr val="38C6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2700" y="3096158"/>
            <a:ext cx="361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837176"/>
            <a:ext cx="1813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AEA"/>
                </a:solidFill>
                <a:latin typeface="Microsoft YaHei"/>
                <a:ea typeface="Microsoft YaHei"/>
                <a:cs typeface="Microsoft YaHei"/>
              </a:rPr>
              <a:t>Aluminium
basin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5636" y="2646273"/>
            <a:ext cx="361736" cy="2090318"/>
          </a:xfrm>
          <a:prstGeom prst="rect">
            <a:avLst/>
          </a:prstGeom>
          <a:gradFill rotWithShape="1">
            <a:gsLst>
              <a:gs pos="0">
                <a:srgbClr val="497FB5"/>
              </a:gs>
              <a:gs pos="100000">
                <a:srgbClr val="3E6C9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45636" y="2399385"/>
            <a:ext cx="361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90°C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6260" y="3343046"/>
            <a:ext cx="361736" cy="1393545"/>
          </a:xfrm>
          <a:prstGeom prst="rect">
            <a:avLst/>
          </a:prstGeom>
          <a:gradFill rotWithShape="1">
            <a:gsLst>
              <a:gs pos="0">
                <a:srgbClr val="42E9FF"/>
              </a:gs>
              <a:gs pos="100000">
                <a:srgbClr val="38C6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6260" y="3096158"/>
            <a:ext cx="361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4837176"/>
            <a:ext cx="1813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AEA"/>
                </a:solidFill>
                <a:latin typeface="Microsoft YaHei"/>
                <a:ea typeface="Microsoft YaHei"/>
                <a:cs typeface="Microsoft YaHei"/>
              </a:rPr>
              <a:t>Plastic
lunch 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59196" y="2646273"/>
            <a:ext cx="361736" cy="2090318"/>
          </a:xfrm>
          <a:prstGeom prst="rect">
            <a:avLst/>
          </a:prstGeom>
          <a:gradFill rotWithShape="1">
            <a:gsLst>
              <a:gs pos="0">
                <a:srgbClr val="497FB5"/>
              </a:gs>
              <a:gs pos="100000">
                <a:srgbClr val="3E6C9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9196" y="2399385"/>
            <a:ext cx="361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90°C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9820" y="2762402"/>
            <a:ext cx="361736" cy="1974189"/>
          </a:xfrm>
          <a:prstGeom prst="rect">
            <a:avLst/>
          </a:prstGeom>
          <a:gradFill rotWithShape="1">
            <a:gsLst>
              <a:gs pos="0">
                <a:srgbClr val="42E9FF"/>
              </a:gs>
              <a:gs pos="100000">
                <a:srgbClr val="38C6E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9820" y="2515514"/>
            <a:ext cx="361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85°C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3040" y="4837176"/>
            <a:ext cx="1813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AEA"/>
                </a:solidFill>
                <a:latin typeface="Microsoft YaHei"/>
                <a:ea typeface="Microsoft YaHei"/>
                <a:cs typeface="Microsoft YaHei"/>
              </a:rPr>
              <a:t>Stainless
thermos cup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435949"/>
            <a:ext cx="5440680" cy="23774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152485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56 °C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138928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WATER TEMPERATURE (°C)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1874519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THE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066543"/>
            <a:ext cx="356616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1638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°C — FOR 30 MINUTES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3547872"/>
            <a:ext cx="731520" cy="3048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3785615"/>
            <a:ext cx="3566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D4E4F2"/>
                </a:solidFill>
                <a:latin typeface="Microsoft YaHei"/>
                <a:ea typeface="Microsoft YaHei"/>
                <a:cs typeface="Microsoft YaHei"/>
              </a:rPr>
              <a:t>Boiling water starts near 90 °C in all three containers.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After 30 minutes the basin and the lunch box are still around 60 °C; the thermos holds 85 °C.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The requirement is met with things people already own.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742432"/>
            <a:ext cx="10545775" cy="530352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5742432"/>
            <a:ext cx="68580" cy="530352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568" y="5742432"/>
            <a:ext cx="9841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Three everyday containers — and the water is still hot enough after half an hour.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SPEAKER 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254" dur="indefinite" fill="hold" nodeType="tmRoot" presetSubtype="0" grpId="0" restart="never">
          <p:childTnLst>
            <p:seq concurrent="1" nextAc="seek">
              <p:cTn id="1253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34" fill="hold" presetSubtype="0" grpId="0">
                            <p:childTnLst>
                              <p:par>
                                <p:cTn id="113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6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8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0" fill="hold" presetSubtype="0" grpId="0">
                            <p:childTnLst>
                              <p:par>
                                <p:cTn id="114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2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44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6" fill="hold" presetSubtype="0" grpId="0">
                            <p:childTnLst>
                              <p:par>
                                <p:cTn id="114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8" dur="1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50" dur="420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52" fill="hold" presetSubtype="0" grpId="0">
                            <p:childTnLst>
                              <p:par>
                                <p:cTn id="115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54" dur="1" fill="hold" presetSubtype="0" grpId="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56" dur="420" fill="hold" presetSubtype="0" grpId="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58" fill="hold" presetSubtype="0" grpId="0">
                            <p:childTnLst>
                              <p:par>
                                <p:cTn id="115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60" dur="1" fill="hold" presetSubtype="0" grpId="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62" dur="420" fill="hold" presetSubtype="0" grpId="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64" fill="hold" presetSubtype="0" grpId="0">
                            <p:childTnLst>
                              <p:par>
                                <p:cTn id="116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66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68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70" fill="hold" presetSubtype="0" grpId="0">
                            <p:childTnLst>
                              <p:par>
                                <p:cTn id="117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72" dur="1" fill="hold" presetSubtype="0" grpId="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74" dur="420" fill="hold" presetSubtype="0" grpId="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76" fill="hold" presetSubtype="0" grpId="0">
                            <p:childTnLst>
                              <p:par>
                                <p:cTn id="117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78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80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82" fill="hold" presetSubtype="0" grpId="0">
                            <p:childTnLst>
                              <p:par>
                                <p:cTn id="118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84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86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88" fill="hold" presetSubtype="0" grpId="0">
                            <p:childTnLst>
                              <p:par>
                                <p:cTn id="118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90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92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94" fill="hold" presetSubtype="0" grpId="0">
                            <p:childTnLst>
                              <p:par>
                                <p:cTn id="119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96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98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00" fill="hold" presetSubtype="0" grpId="0">
                            <p:childTnLst>
                              <p:par>
                                <p:cTn id="120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0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0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06" fill="hold" presetSubtype="0" grpId="0">
                            <p:childTnLst>
                              <p:par>
                                <p:cTn id="120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08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10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12" fill="hold" presetSubtype="0" grpId="0">
                            <p:childTnLst>
                              <p:par>
                                <p:cTn id="121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14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16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18" fill="hold" presetSubtype="0" grpId="0">
                            <p:childTnLst>
                              <p:par>
                                <p:cTn id="121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20" dur="1" fill="hold" presetSubtype="0" grpId="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22" dur="420" fill="hold" presetSubtype="0" grpId="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24" fill="hold" presetSubtype="0" grpId="0">
                            <p:childTnLst>
                              <p:par>
                                <p:cTn id="122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26" dur="1" fill="hold" presetSubtype="0" grpId="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28" dur="420" fill="hold" presetSubtype="0" grpId="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30" fill="hold" presetSubtype="0" grpId="0">
                            <p:childTnLst>
                              <p:par>
                                <p:cTn id="123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32" dur="1" fill="hold" presetSubtype="0" grpId="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34" dur="420" fill="hold" presetSubtype="0" grpId="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236" fill="hold" presetSubtype="0" grpId="0">
                            <p:childTnLst>
                              <p:par>
                                <p:cTn id="123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38" dur="1" fill="hold" presetSubtype="0" grpId="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40" dur="420" fill="hold" presetSubtype="0" grpId="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42" fill="hold" presetSubtype="0" grpId="0">
                            <p:childTnLst>
                              <p:par>
                                <p:cTn id="124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44" dur="1" fill="hold" presetSubtype="0" grpId="0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46" dur="420" fill="hold" presetSubtype="0" grpId="0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48" fill="hold" presetSubtype="0" grpId="0">
                            <p:childTnLst>
                              <p:par>
                                <p:cTn id="124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50" dur="1" fill="hold" presetSubtype="0" grpId="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52" dur="420" fill="hold" presetSubtype="0" grpId="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0 5   ·   M E T H O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607040" cy="531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Hidden Problem: Static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Hot water kills the virus — and it also destroys the charge that makes the mask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 mask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2258568"/>
            <a:ext cx="3154680" cy="493776"/>
          </a:xfrm>
          <a:prstGeom prst="rect">
            <a:avLst/>
          </a:prstGeom>
          <a:solidFill>
            <a:srgbClr val="1A304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5848" y="2258568"/>
            <a:ext cx="3154680" cy="493776"/>
          </a:xfrm>
          <a:prstGeom prst="rect">
            <a:avLst/>
          </a:prstGeom>
          <a:gradFill rotWithShape="1">
            <a:gsLst>
              <a:gs pos="0">
                <a:srgbClr val="6894C3"/>
              </a:gs>
              <a:gs pos="100000">
                <a:srgbClr val="567AA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130552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67AA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1985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Air-dried 10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447288"/>
            <a:ext cx="3154680" cy="493776"/>
          </a:xfrm>
          <a:prstGeom prst="rect">
            <a:avLst/>
          </a:prstGeom>
          <a:solidFill>
            <a:srgbClr val="1A304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3447288"/>
            <a:ext cx="1892808" cy="493776"/>
          </a:xfrm>
          <a:prstGeom prst="rect">
            <a:avLst/>
          </a:prstGeom>
          <a:gradFill rotWithShape="1">
            <a:gsLst>
              <a:gs pos="0">
                <a:srgbClr val="FFDB4B"/>
              </a:gs>
              <a:gs pos="100000">
                <a:srgbClr val="F3B43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3319272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959352"/>
            <a:ext cx="4690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08DA8"/>
                </a:solidFill>
                <a:latin typeface="Microsoft YaHei"/>
                <a:ea typeface="Microsoft YaHei"/>
                <a:cs typeface="Microsoft YaHei"/>
              </a:rPr>
              <a:t>too slow; bacteria can grow in a wet mask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08575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Hair dryer 10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4636007"/>
            <a:ext cx="3154680" cy="493776"/>
          </a:xfrm>
          <a:prstGeom prst="rect">
            <a:avLst/>
          </a:prstGeom>
          <a:solidFill>
            <a:srgbClr val="1A304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5848" y="4636007"/>
            <a:ext cx="2839212" cy="493776"/>
          </a:xfrm>
          <a:prstGeom prst="rect">
            <a:avLst/>
          </a:prstGeom>
          <a:gradFill rotWithShape="1">
            <a:gsLst>
              <a:gs pos="0">
                <a:srgbClr val="41F49C"/>
              </a:gs>
              <a:gs pos="100000">
                <a:srgbClr val="36C88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507992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5148072"/>
            <a:ext cx="4690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08DA8"/>
                </a:solidFill>
                <a:latin typeface="Microsoft YaHei"/>
                <a:ea typeface="Microsoft YaHei"/>
                <a:cs typeface="Microsoft YaHei"/>
              </a:rPr>
              <a:t>fast, and recovers most of the charge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50992"/>
            <a:ext cx="7223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RECOVERY OF ELECTROSTATIC CHARGE ON THE FILTER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128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WHY IT MATTERS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523744"/>
            <a:ext cx="731520" cy="30480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74320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Electrostatic adsorption is the only mechanism that captures nano-sized particles while keeping the mask easy to breathe through.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Hot water removes that charge. So the charge has to be put back — that is what the hair-dryer step is for.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Drying fast also stops bacteria from growing inside a wet mask.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870448"/>
            <a:ext cx="10545775" cy="475488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870448"/>
            <a:ext cx="68580" cy="475488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870448"/>
            <a:ext cx="984168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recipe: hot water, 56 °C, 30 minutes; hair dryer, 10 minutes.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SPEAKER 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46" dur="indefinite" fill="hold" nodeType="tmRoot" presetSubtype="0" grpId="0" restart="never">
          <p:childTnLst>
            <p:seq concurrent="1" nextAc="seek">
              <p:cTn id="1145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34" fill="hold" presetSubtype="0" grpId="0">
                            <p:childTnLst>
                              <p:par>
                                <p:cTn id="113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6" dur="1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8" dur="420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0" fill="hold" presetSubtype="0" grpId="0">
                            <p:childTnLst>
                              <p:par>
                                <p:cTn id="114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2" dur="1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44" dur="420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low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0 6   ·   S T R U C T U R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6400800" cy="582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What’s Inside a 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Three layers of non-woven fabric — one of them does almost all of the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29968"/>
            <a:ext cx="4892040" cy="932688"/>
          </a:xfrm>
          <a:prstGeom prst="rect">
            <a:avLst/>
          </a:prstGeom>
          <a:gradFill rotWithShape="1">
            <a:gsLst>
              <a:gs pos="0">
                <a:srgbClr val="0C1A2B"/>
              </a:gs>
              <a:gs pos="100000">
                <a:srgbClr val="08101B"/>
              </a:gs>
            </a:gsLst>
            <a:lin scaled="0" ang="0"/>
          </a:gradFill>
          <a:ln w="8890">
            <a:solidFill>
              <a:srgbClr val="304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29968"/>
            <a:ext cx="68580" cy="932688"/>
          </a:xfrm>
          <a:prstGeom prst="rect">
            <a:avLst/>
          </a:prstGeom>
          <a:solidFill>
            <a:srgbClr val="4C7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037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749E"/>
                </a:solidFill>
                <a:latin typeface="Microsoft YaHei"/>
                <a:ea typeface="Microsoft YaHei"/>
                <a:cs typeface="Microsoft YaHei"/>
              </a:rPr>
              <a:t>OUTER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0545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Waterproof non-woven. Blocks liquid droplets sprayed by others.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27248"/>
            <a:ext cx="4892040" cy="1353312"/>
          </a:xfrm>
          <a:prstGeom prst="rect">
            <a:avLst/>
          </a:prstGeom>
          <a:gradFill rotWithShape="1">
            <a:gsLst>
              <a:gs pos="0">
                <a:srgbClr val="102338"/>
              </a:gs>
              <a:gs pos="100000">
                <a:srgbClr val="09121E"/>
              </a:gs>
            </a:gsLst>
            <a:lin scaled="0" ang="0"/>
          </a:gradFill>
          <a:ln w="13970">
            <a:solidFill>
              <a:srgbClr val="F3B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27248"/>
            <a:ext cx="68580" cy="1353312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30098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FILTER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02736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fibres 1–10 µm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041648"/>
            <a:ext cx="4434840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EE8F2"/>
                </a:solidFill>
                <a:latin typeface="Microsoft YaHei"/>
                <a:ea typeface="Microsoft YaHei"/>
                <a:cs typeface="Microsoft YaHei"/>
              </a:rPr>
              <a:t>Polypropylene melt-blown, 100–1000 µm thick. This is the working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45152"/>
            <a:ext cx="4892040" cy="932688"/>
          </a:xfrm>
          <a:prstGeom prst="rect">
            <a:avLst/>
          </a:prstGeom>
          <a:gradFill rotWithShape="1">
            <a:gsLst>
              <a:gs pos="0">
                <a:srgbClr val="0C1A2B"/>
              </a:gs>
              <a:gs pos="100000">
                <a:srgbClr val="08101B"/>
              </a:gs>
            </a:gsLst>
            <a:lin scaled="0" ang="0"/>
          </a:gradFill>
          <a:ln w="8890">
            <a:solidFill>
              <a:srgbClr val="304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645152"/>
            <a:ext cx="68580" cy="932688"/>
          </a:xfrm>
          <a:prstGeom prst="rect">
            <a:avLst/>
          </a:prstGeom>
          <a:solidFill>
            <a:srgbClr val="4C7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81888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749E"/>
                </a:solidFill>
                <a:latin typeface="Microsoft YaHei"/>
                <a:ea typeface="Microsoft YaHei"/>
                <a:cs typeface="Microsoft YaHei"/>
              </a:rPr>
              <a:t>INNER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1206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Ordinary non-woven. Absorbs moisture released by the wearer.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60720"/>
            <a:ext cx="4892040" cy="530352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760720"/>
            <a:ext cx="68580" cy="530352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760720"/>
            <a:ext cx="418795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filter layer is where everything happens.</a:t>
            </a:r>
          </a:p>
        </p:txBody>
      </p:sp>
      <p:pic>
        <p:nvPicPr>
          <p:cNvPr id="23" name="Picture 22" descr="fi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49808"/>
            <a:ext cx="4370832" cy="5377038"/>
          </a:xfrm>
          <a:prstGeom prst="rect">
            <a:avLst/>
          </a:prstGeom>
          <a:effectLst>
            <a:outerShdw blurRad="279400" dist="127000" dir="3150000" algn="tl" rotWithShape="0">
              <a:srgbClr val="000000">
                <a:alpha val="52000"/>
              </a:srgbClr>
            </a:outerShdw>
          </a:effectLst>
        </p:spPr>
      </p:pic>
      <p:sp>
        <p:nvSpPr>
          <p:cNvPr id="24" name="Rectangle 23"/>
          <p:cNvSpPr/>
          <p:nvPr/>
        </p:nvSpPr>
        <p:spPr>
          <a:xfrm>
            <a:off x="6035040" y="3877056"/>
            <a:ext cx="2514600" cy="2379262"/>
          </a:xfrm>
          <a:prstGeom prst="rect">
            <a:avLst/>
          </a:prstGeom>
          <a:noFill/>
          <a:ln w="13970">
            <a:solidFill>
              <a:srgbClr val="F3B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1456000">
            <a:off x="5925312" y="3767328"/>
            <a:ext cx="2514600" cy="2379262"/>
          </a:xfrm>
          <a:prstGeom prst="rect">
            <a:avLst/>
          </a:prstGeom>
          <a:solidFill>
            <a:srgbClr val="EEF4FA"/>
          </a:solidFill>
          <a:ln w="11430">
            <a:solidFill>
              <a:srgbClr val="C4D4E4"/>
            </a:solidFill>
          </a:ln>
          <a:effectLst>
            <a:outerShdw blurRad="228600" dist="88900" dir="315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56000">
            <a:off x="6044184" y="3886200"/>
            <a:ext cx="2276856" cy="21415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25312" y="614476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894B0"/>
                </a:solidFill>
                <a:latin typeface="Microsoft YaHei"/>
                <a:ea typeface="Microsoft YaHei"/>
                <a:cs typeface="Microsoft YaHei"/>
              </a:rPr>
              <a:t>Fig. 3 — waterproof test, SEM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SPEAKER 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46" dur="indefinite" fill="hold" nodeType="tmRoot" presetSubtype="0" grpId="0" restart="never">
          <p:childTnLst>
            <p:seq concurrent="1" nextAc="seek">
              <p:cTn id="1145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34" fill="hold" presetSubtype="0" grpId="0">
                            <p:childTnLst>
                              <p:par>
                                <p:cTn id="113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6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8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0" fill="hold" presetSubtype="0" grpId="0">
                            <p:childTnLst>
                              <p:par>
                                <p:cTn id="114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2" dur="1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44" dur="420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0 7   ·   M E C H A N I S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0584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Five Filtration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A mask does not work like a sieve. Five mechanisms act together — one of them dominates.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75104"/>
            <a:ext cx="1920240" cy="3383280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75104"/>
            <a:ext cx="1920240" cy="5943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49424"/>
            <a:ext cx="14081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35808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Brownian
diffusion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3986784"/>
            <a:ext cx="658368" cy="228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187952"/>
            <a:ext cx="1408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Random motion drives the smallest particles into fibres.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2194560"/>
            <a:ext cx="457200" cy="457200"/>
          </a:xfrm>
          <a:prstGeom prst="ellipse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12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" y="3218688"/>
            <a:ext cx="566928" cy="20320"/>
          </a:xfrm>
          <a:prstGeom prst="rect">
            <a:avLst/>
          </a:prstGeom>
          <a:solidFill>
            <a:srgbClr val="4E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78658" y="1975104"/>
            <a:ext cx="1920240" cy="3383280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8658" y="1975104"/>
            <a:ext cx="1920240" cy="5943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4689" y="2249424"/>
            <a:ext cx="14081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4689" y="3035808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Entrapment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4689" y="3986784"/>
            <a:ext cx="658368" cy="228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4689" y="4187952"/>
            <a:ext cx="1408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Particles too large to follow the air stream get stuck.</a:t>
            </a:r>
          </a:p>
        </p:txBody>
      </p:sp>
      <p:sp>
        <p:nvSpPr>
          <p:cNvPr id="22" name="Oval 21"/>
          <p:cNvSpPr/>
          <p:nvPr/>
        </p:nvSpPr>
        <p:spPr>
          <a:xfrm>
            <a:off x="3234689" y="2194560"/>
            <a:ext cx="457200" cy="457200"/>
          </a:xfrm>
          <a:prstGeom prst="ellipse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4689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12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8113" y="3218688"/>
            <a:ext cx="566928" cy="20320"/>
          </a:xfrm>
          <a:prstGeom prst="rect">
            <a:avLst/>
          </a:prstGeom>
          <a:solidFill>
            <a:srgbClr val="4E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356" y="1975104"/>
            <a:ext cx="1920240" cy="3383280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4356" y="1975104"/>
            <a:ext cx="1920240" cy="5943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0388" y="2249424"/>
            <a:ext cx="14081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0388" y="3035808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Inertial
collision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0388" y="3986784"/>
            <a:ext cx="658368" cy="228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0388" y="4187952"/>
            <a:ext cx="1408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Heavier particles cannot turn with the air and hit a fibre.</a:t>
            </a:r>
          </a:p>
        </p:txBody>
      </p:sp>
      <p:sp>
        <p:nvSpPr>
          <p:cNvPr id="31" name="Oval 30"/>
          <p:cNvSpPr/>
          <p:nvPr/>
        </p:nvSpPr>
        <p:spPr>
          <a:xfrm>
            <a:off x="5390388" y="2194560"/>
            <a:ext cx="457200" cy="457200"/>
          </a:xfrm>
          <a:prstGeom prst="ellipse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0388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12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53812" y="3218688"/>
            <a:ext cx="566928" cy="20320"/>
          </a:xfrm>
          <a:prstGeom prst="rect">
            <a:avLst/>
          </a:prstGeom>
          <a:solidFill>
            <a:srgbClr val="4E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0054" y="1975104"/>
            <a:ext cx="1920240" cy="3383280"/>
          </a:xfrm>
          <a:prstGeom prst="rect">
            <a:avLst/>
          </a:prstGeom>
          <a:gradFill rotWithShape="1">
            <a:gsLst>
              <a:gs pos="0">
                <a:srgbClr val="0D1D30"/>
              </a:gs>
              <a:gs pos="100000">
                <a:srgbClr val="09121F"/>
              </a:gs>
            </a:gsLst>
            <a:lin scaled="0" ang="16200000"/>
          </a:gradFill>
          <a:ln w="8890">
            <a:solidFill>
              <a:srgbClr val="345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90054" y="1975104"/>
            <a:ext cx="1920240" cy="5943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6086" y="2249424"/>
            <a:ext cx="14081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6086" y="3035808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Gravity
sedimentation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6086" y="3986784"/>
            <a:ext cx="658368" cy="228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6086" y="4187952"/>
            <a:ext cx="1408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Large particles simply settle out of the airflow.</a:t>
            </a:r>
          </a:p>
        </p:txBody>
      </p:sp>
      <p:sp>
        <p:nvSpPr>
          <p:cNvPr id="40" name="Oval 39"/>
          <p:cNvSpPr/>
          <p:nvPr/>
        </p:nvSpPr>
        <p:spPr>
          <a:xfrm>
            <a:off x="7546086" y="2194560"/>
            <a:ext cx="457200" cy="457200"/>
          </a:xfrm>
          <a:prstGeom prst="ellipse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6086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12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09510" y="3218688"/>
            <a:ext cx="566928" cy="20320"/>
          </a:xfrm>
          <a:prstGeom prst="rect">
            <a:avLst/>
          </a:prstGeom>
          <a:solidFill>
            <a:srgbClr val="4E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45752" y="1975104"/>
            <a:ext cx="1920240" cy="3383280"/>
          </a:xfrm>
          <a:prstGeom prst="rect">
            <a:avLst/>
          </a:prstGeom>
          <a:gradFill rotWithShape="1">
            <a:gsLst>
              <a:gs pos="0">
                <a:srgbClr val="1E2C22"/>
              </a:gs>
              <a:gs pos="100000">
                <a:srgbClr val="101A1A"/>
              </a:gs>
            </a:gsLst>
            <a:lin scaled="0" ang="16200000"/>
          </a:gradFill>
          <a:ln w="13970">
            <a:solidFill>
              <a:srgbClr val="F3B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45752" y="1975104"/>
            <a:ext cx="1920240" cy="5943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1784" y="2249424"/>
            <a:ext cx="14081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1784" y="3035808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Electrostatic
adsorption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01784" y="3986784"/>
            <a:ext cx="658368" cy="228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01784" y="4187952"/>
            <a:ext cx="1408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6E4F2"/>
                </a:solidFill>
                <a:latin typeface="Microsoft YaHei"/>
                <a:ea typeface="Microsoft YaHei"/>
                <a:cs typeface="Microsoft YaHei"/>
              </a:rPr>
              <a:t>Charge pulls nano-sized particles in — at almost no cost to breathing resistance.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01784" y="4846320"/>
            <a:ext cx="1408176" cy="329184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01784" y="4846320"/>
            <a:ext cx="14081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624"/>
                </a:solidFill>
                <a:latin typeface="Microsoft YaHei"/>
                <a:ea typeface="Microsoft YaHei"/>
                <a:cs typeface="Microsoft YaHei"/>
              </a:rPr>
              <a:t>THE KEY</a:t>
            </a:r>
          </a:p>
        </p:txBody>
      </p:sp>
      <p:sp>
        <p:nvSpPr>
          <p:cNvPr id="51" name="Oval 50"/>
          <p:cNvSpPr/>
          <p:nvPr/>
        </p:nvSpPr>
        <p:spPr>
          <a:xfrm>
            <a:off x="9701784" y="2194560"/>
            <a:ext cx="457200" cy="457200"/>
          </a:xfrm>
          <a:prstGeom prst="ellipse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01784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1A2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65208" y="3218688"/>
            <a:ext cx="566928" cy="2032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" y="5486400"/>
            <a:ext cx="68580" cy="73152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" y="5486400"/>
            <a:ext cx="984168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ONE THAT MATTERS — Electrostatic adsorption is the only mechanism that captures nano-sized particles while keeping the mask breathable, and it is exactly the one that hot water destroys.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SPEAKER 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320" dur="indefinite" fill="hold" nodeType="tmRoot" presetSubtype="0" grpId="0" restart="never">
          <p:childTnLst>
            <p:seq concurrent="1" nextAc="seek">
              <p:cTn id="1319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34" fill="hold" presetSubtype="0" grpId="0">
                            <p:childTnLst>
                              <p:par>
                                <p:cTn id="113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6" dur="1" fill="hold" presetSubtype="0" grpId="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8" dur="420" fill="hold" presetSubtype="0" grpId="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0" fill="hold" presetSubtype="0" grpId="0">
                            <p:childTnLst>
                              <p:par>
                                <p:cTn id="114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2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44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6" fill="hold" presetSubtype="0" grpId="0">
                            <p:childTnLst>
                              <p:par>
                                <p:cTn id="114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8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50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52" fill="hold" presetSubtype="0" grpId="0">
                            <p:childTnLst>
                              <p:par>
                                <p:cTn id="115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54" dur="1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56" dur="420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58" fill="hold" presetSubtype="0" grpId="0">
                            <p:childTnLst>
                              <p:par>
                                <p:cTn id="115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60" dur="1" fill="hold" presetSubtype="0" grpId="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62" dur="420" fill="hold" presetSubtype="0" grpId="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64" fill="hold" presetSubtype="0" grpId="0">
                            <p:childTnLst>
                              <p:par>
                                <p:cTn id="116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66" dur="1" fill="hold" presetSubtype="0" grpId="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68" dur="420" fill="hold" presetSubtype="0" grpId="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70" fill="hold" presetSubtype="0" grpId="0">
                            <p:childTnLst>
                              <p:par>
                                <p:cTn id="117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72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74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76" fill="hold" presetSubtype="0" grpId="0">
                            <p:childTnLst>
                              <p:par>
                                <p:cTn id="117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78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80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82" fill="hold" presetSubtype="0" grpId="0">
                            <p:childTnLst>
                              <p:par>
                                <p:cTn id="118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84" dur="1" fill="hold" presetSubtype="0" grpId="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86" dur="420" fill="hold" presetSubtype="0" grpId="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88" fill="hold" presetSubtype="0" grpId="0">
                            <p:childTnLst>
                              <p:par>
                                <p:cTn id="118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90" dur="1" fill="hold" presetSubtype="0" grpId="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92" dur="420" fill="hold" presetSubtype="0" grpId="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94" fill="hold" presetSubtype="0" grpId="0">
                            <p:childTnLst>
                              <p:par>
                                <p:cTn id="119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96" dur="1" fill="hold" presetSubtype="0" grpId="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98" dur="420" fill="hold" presetSubtype="0" grpId="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00" fill="hold" presetSubtype="0" grpId="0">
                            <p:childTnLst>
                              <p:par>
                                <p:cTn id="120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02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04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06" fill="hold" presetSubtype="0" grpId="0">
                            <p:childTnLst>
                              <p:par>
                                <p:cTn id="120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08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10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12" fill="hold" presetSubtype="0" grpId="0">
                            <p:childTnLst>
                              <p:par>
                                <p:cTn id="121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14" dur="1" fill="hold" presetSubtype="0" grpId="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16" dur="420" fill="hold" presetSubtype="0" grpId="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18" fill="hold" presetSubtype="0" grpId="0">
                            <p:childTnLst>
                              <p:par>
                                <p:cTn id="121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20" dur="1" fill="hold" presetSubtype="0" grpId="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22" dur="420" fill="hold" presetSubtype="0" grpId="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24" fill="hold" presetSubtype="0" grpId="0">
                            <p:childTnLst>
                              <p:par>
                                <p:cTn id="122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26" dur="1" fill="hold" presetSubtype="0" grpId="0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28" dur="420" fill="hold" presetSubtype="0" grpId="0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30" fill="hold" presetSubtype="0" grpId="0">
                            <p:childTnLst>
                              <p:par>
                                <p:cTn id="123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32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34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36" fill="hold" presetSubtype="0" grpId="0">
                            <p:childTnLst>
                              <p:par>
                                <p:cTn id="123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38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40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42" fill="hold" presetSubtype="0" grpId="0">
                            <p:childTnLst>
                              <p:par>
                                <p:cTn id="124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44" dur="1" fill="hold" presetSubtype="0" grpId="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46" dur="420" fill="hold" presetSubtype="0" grpId="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48" fill="hold" presetSubtype="0" grpId="0">
                            <p:childTnLst>
                              <p:par>
                                <p:cTn id="124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50" dur="1" fill="hold" presetSubtype="0" grpId="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52" dur="420" fill="hold" presetSubtype="0" grpId="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54" fill="hold" presetSubtype="0" grpId="0">
                            <p:childTnLst>
                              <p:par>
                                <p:cTn id="125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56" dur="1" fill="hold" presetSubtype="0" grpId="0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58" dur="420" fill="hold" presetSubtype="0" grpId="0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60" fill="hold" presetSubtype="0" grpId="0">
                            <p:childTnLst>
                              <p:par>
                                <p:cTn id="126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62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64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66" fill="hold" presetSubtype="0" grpId="0">
                            <p:childTnLst>
                              <p:par>
                                <p:cTn id="126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68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70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72" fill="hold" presetSubtype="0" grpId="0">
                            <p:childTnLst>
                              <p:par>
                                <p:cTn id="127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74" dur="1" fill="hold" presetSubtype="0" grpId="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76" dur="420" fill="hold" presetSubtype="0" grpId="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78" fill="hold" presetSubtype="0" grpId="0">
                            <p:childTnLst>
                              <p:par>
                                <p:cTn id="127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80" dur="1" fill="hold" presetSubtype="0" grpId="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82" dur="420" fill="hold" presetSubtype="0" grpId="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84" fill="hold" presetSubtype="0" grpId="0">
                            <p:childTnLst>
                              <p:par>
                                <p:cTn id="128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86" dur="1" fill="hold" presetSubtype="0" grpId="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88" dur="420" fill="hold" presetSubtype="0" grpId="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90" fill="hold" presetSubtype="0" grpId="0">
                            <p:childTnLst>
                              <p:par>
                                <p:cTn id="129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92" dur="1" fill="hold" presetSubtype="0" grpId="0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294" dur="420" fill="hold" presetSubtype="0" grpId="0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296" fill="hold" presetSubtype="0" grpId="0">
                            <p:childTnLst>
                              <p:par>
                                <p:cTn id="129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298" dur="1" fill="hold" presetSubtype="0" grpId="0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300" dur="420" fill="hold" presetSubtype="0" grpId="0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1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302" fill="hold" presetSubtype="0" grpId="0">
                            <p:childTnLst>
                              <p:par>
                                <p:cTn id="13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304" dur="1" fill="hold" presetSubtype="0" grpId="0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306" dur="420" fill="hold" presetSubtype="0" grpId="0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308" fill="hold" presetSubtype="0" grpId="0">
                            <p:childTnLst>
                              <p:par>
                                <p:cTn id="13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310" dur="1" fill="hold" presetSubtype="0" grpId="0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312" dur="420" fill="hold" presetSubtype="0" grpId="0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314" fill="hold" presetSubtype="0" grpId="0">
                            <p:childTnLst>
                              <p:par>
                                <p:cTn id="13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316" dur="1" fill="hold" presetSubtype="0" grpId="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318" dur="420" fill="hold" presetSubtype="0" grpId="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6C88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0 8   ·   E V I D E N C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73152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 Results vs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5852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Measured with a TSI 8130 against NaCl aerosol, following the Chinese national standards.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38528"/>
            <a:ext cx="5074920" cy="1133856"/>
          </a:xfrm>
          <a:prstGeom prst="rect">
            <a:avLst/>
          </a:prstGeom>
          <a:gradFill rotWithShape="1">
            <a:gsLst>
              <a:gs pos="0">
                <a:srgbClr val="0F2136"/>
              </a:gs>
              <a:gs pos="100000">
                <a:srgbClr val="09132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38528"/>
            <a:ext cx="64008" cy="1133856"/>
          </a:xfrm>
          <a:prstGeom prst="rect">
            <a:avLst/>
          </a:prstGeom>
          <a:solidFill>
            <a:srgbClr val="36C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121408"/>
            <a:ext cx="16459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&gt;95</a:t>
            </a:r>
          </a:p>
          <a:p>
            <a:r>
              <a:rPr sz="1150" b="1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%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21408"/>
            <a:ext cx="2468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Bacterial filtration — BFE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24688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Required ≥ 95%   ·   YY/T 0969–2013 · YY 0469–2011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5074920" cy="1133856"/>
          </a:xfrm>
          <a:prstGeom prst="rect">
            <a:avLst/>
          </a:prstGeom>
          <a:gradFill rotWithShape="1">
            <a:gsLst>
              <a:gs pos="0">
                <a:srgbClr val="0F2136"/>
              </a:gs>
              <a:gs pos="100000">
                <a:srgbClr val="09132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64008" cy="113385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383280"/>
            <a:ext cx="16459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92.3</a:t>
            </a:r>
          </a:p>
          <a:p>
            <a:r>
              <a:rPr sz="1150" b="1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%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83280"/>
            <a:ext cx="2468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Particle filtration — surgical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730752"/>
            <a:ext cx="24688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Required ≥ 30%   ·   YY 0469–2011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62272"/>
            <a:ext cx="5074920" cy="1133856"/>
          </a:xfrm>
          <a:prstGeom prst="rect">
            <a:avLst/>
          </a:prstGeom>
          <a:gradFill rotWithShape="1">
            <a:gsLst>
              <a:gs pos="0">
                <a:srgbClr val="0F2136"/>
              </a:gs>
              <a:gs pos="100000">
                <a:srgbClr val="09132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462272"/>
            <a:ext cx="64008" cy="1133856"/>
          </a:xfrm>
          <a:prstGeom prst="rect">
            <a:avLst/>
          </a:prstGeom>
          <a:solidFill>
            <a:srgbClr val="36C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645152"/>
            <a:ext cx="16459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&gt;95</a:t>
            </a:r>
          </a:p>
          <a:p>
            <a:r>
              <a:rPr sz="1150" b="1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% 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645152"/>
            <a:ext cx="2468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Particle filtration — KN95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92624"/>
            <a:ext cx="24688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Required ≥ 95%   ·   GB 2626–2019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724144"/>
            <a:ext cx="5074920" cy="457200"/>
          </a:xfrm>
          <a:prstGeom prst="rect">
            <a:avLst/>
          </a:prstGeom>
          <a:gradFill rotWithShape="1">
            <a:gsLst>
              <a:gs pos="0">
                <a:srgbClr val="0D1C2E"/>
              </a:gs>
              <a:gs pos="100000">
                <a:srgbClr val="0912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24144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2AEC8"/>
                </a:solidFill>
                <a:latin typeface="Microsoft YaHei"/>
                <a:ea typeface="Microsoft YaHei"/>
                <a:cs typeface="Microsoft YaHei"/>
              </a:rPr>
              <a:t>NaCl aerosol · 0.075 µm · 30 L/min (medical, surgical) · 85 L/min (KN95)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6872" y="1700784"/>
            <a:ext cx="5047488" cy="4239570"/>
          </a:xfrm>
          <a:prstGeom prst="rect">
            <a:avLst/>
          </a:prstGeom>
          <a:solidFill>
            <a:srgbClr val="EEF4FA"/>
          </a:solidFill>
          <a:ln w="11430">
            <a:solidFill>
              <a:srgbClr val="C4D4E4"/>
            </a:solidFill>
          </a:ln>
          <a:effectLst>
            <a:outerShdw blurRad="228600" dist="88900" dir="315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819656"/>
            <a:ext cx="4809744" cy="36909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95744" y="5556306"/>
            <a:ext cx="4809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85E74"/>
                </a:solidFill>
                <a:latin typeface="Microsoft YaHei"/>
                <a:ea typeface="Microsoft YaHei"/>
                <a:cs typeface="Microsoft YaHei"/>
              </a:rPr>
              <a:t>Fig. 4 — BFE and PFE of regenerated masks, performance after 10 cycles, and after sterilisation at 121 °C.   Wang et al. (2020).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76872" y="1700784"/>
            <a:ext cx="54864" cy="4590288"/>
          </a:xfrm>
          <a:prstGeom prst="rect">
            <a:avLst/>
          </a:prstGeom>
          <a:solidFill>
            <a:srgbClr val="36C88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SPEAKER 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46" dur="indefinite" fill="hold" nodeType="tmRoot" presetSubtype="0" grpId="0" restart="never">
          <p:childTnLst>
            <p:seq concurrent="1" nextAc="seek">
              <p:cTn id="1145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34" fill="hold" presetSubtype="0" grpId="0">
                            <p:childTnLst>
                              <p:par>
                                <p:cTn id="113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6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8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0" fill="hold" presetSubtype="0" grpId="0">
                            <p:childTnLst>
                              <p:par>
                                <p:cTn id="114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2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44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C6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0 9   ·   D U R A B I L I T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058400" cy="5829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After Ten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11480" y="118872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30000" b="1" i="0">
                <a:solidFill>
                  <a:srgbClr val="1E4C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920240"/>
            <a:ext cx="7205472" cy="1975104"/>
          </a:xfrm>
          <a:prstGeom prst="rect">
            <a:avLst/>
          </a:prstGeom>
          <a:gradFill rotWithShape="1">
            <a:gsLst>
              <a:gs pos="0">
                <a:srgbClr val="0E1F34"/>
              </a:gs>
              <a:gs pos="100000">
                <a:srgbClr val="08111D"/>
              </a:gs>
            </a:gsLst>
            <a:lin scaled="0" ang="14400000"/>
          </a:gradFill>
          <a:ln w="11430">
            <a:solidFill>
              <a:srgbClr val="3A5A78"/>
            </a:solidFill>
          </a:ln>
          <a:effectLst>
            <a:outerShdw blurRad="254000" dist="101600" dir="3150000" algn="tl" rotWithShape="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0520" y="1920240"/>
            <a:ext cx="68580" cy="1975104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396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TEN FULL SOAK-AND-DRY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05456"/>
            <a:ext cx="6446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DEEAF6"/>
                </a:solidFill>
                <a:latin typeface="Microsoft YaHei"/>
                <a:ea typeface="Microsoft YaHei"/>
                <a:cs typeface="Microsoft YaHei"/>
              </a:rPr>
              <a:t>Five brands of masks were put through ten full cycles of hot-water soaking and hair-dryer charging.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Filtration performance barely changed.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B4CCE2"/>
                </a:solidFill>
                <a:latin typeface="Microsoft YaHei"/>
                <a:ea typeface="Microsoft YaHei"/>
                <a:cs typeface="Microsoft YaHei"/>
              </a:rPr>
              <a:t>Ten cycles — essentially a fatigue-life test for a disposable mask.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4078224"/>
            <a:ext cx="7205472" cy="1975104"/>
          </a:xfrm>
          <a:prstGeom prst="rect">
            <a:avLst/>
          </a:prstGeom>
          <a:gradFill rotWithShape="1">
            <a:gsLst>
              <a:gs pos="0">
                <a:srgbClr val="0E1F34"/>
              </a:gs>
              <a:gs pos="100000">
                <a:srgbClr val="08111D"/>
              </a:gs>
            </a:gsLst>
            <a:lin scaled="0" ang="14400000"/>
          </a:gradFill>
          <a:ln w="11430">
            <a:solidFill>
              <a:srgbClr val="3A5A78"/>
            </a:solidFill>
          </a:ln>
          <a:effectLst>
            <a:outerShdw blurRad="254000" dist="101600" dir="3150000" algn="tl" rotWithShape="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4078224"/>
            <a:ext cx="68580" cy="1975104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29768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PUSHED FURTHER — PRESSURISED STEAM AT 121 °C, 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7000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3M 1860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4727448"/>
            <a:ext cx="2834640" cy="365760"/>
          </a:xfrm>
          <a:prstGeom prst="rect">
            <a:avLst/>
          </a:prstGeom>
          <a:solidFill>
            <a:srgbClr val="1A304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16168" y="4727448"/>
            <a:ext cx="2811962" cy="365760"/>
          </a:xfrm>
          <a:prstGeom prst="rect">
            <a:avLst/>
          </a:prstGeom>
          <a:gradFill rotWithShape="1">
            <a:gsLst>
              <a:gs pos="0">
                <a:srgbClr val="41F49C"/>
              </a:gs>
              <a:gs pos="100000">
                <a:srgbClr val="36C88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4599432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99.2%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26694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KF94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6168" y="5294376"/>
            <a:ext cx="2834640" cy="365760"/>
          </a:xfrm>
          <a:prstGeom prst="rect">
            <a:avLst/>
          </a:prstGeom>
          <a:solidFill>
            <a:srgbClr val="1A304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6168" y="5294376"/>
            <a:ext cx="2738262" cy="365760"/>
          </a:xfrm>
          <a:prstGeom prst="rect">
            <a:avLst/>
          </a:prstGeom>
          <a:gradFill rotWithShape="1">
            <a:gsLst>
              <a:gs pos="0">
                <a:srgbClr val="44F1FF"/>
              </a:gs>
              <a:gs pos="100000">
                <a:srgbClr val="38C6E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5166360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96.6%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484632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95%
min.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SPEAKER 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16" dur="indefinite" fill="hold" nodeType="tmRoot" presetSubtype="0" grpId="0" restart="never">
          <p:childTnLst>
            <p:seq concurrent="1" nextAc="seek">
              <p:cTn id="1115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1 0   ·   F I E L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0584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Real Wear, Real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Laboratory tests are clean. Real life is not — so the authors ran both.</a:t>
            </a:r>
          </a:p>
        </p:txBody>
      </p:sp>
      <p:pic>
        <p:nvPicPr>
          <p:cNvPr id="7" name="Picture 6" descr="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0"/>
            <a:ext cx="5212080" cy="5029200"/>
          </a:xfrm>
          <a:prstGeom prst="rect">
            <a:avLst/>
          </a:prstGeom>
          <a:effectLst>
            <a:outerShdw blurRad="304800" dist="0" dir="3150000" algn="tl" rotWithShape="0">
              <a:srgbClr val="000000">
                <a:alpha val="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0" y="1828800"/>
            <a:ext cx="5212080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122,500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28032"/>
            <a:ext cx="1554480" cy="3810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010912"/>
            <a:ext cx="4434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Zhejiang Runtu Co. · over 4,000 staff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E2F0"/>
                </a:solidFill>
                <a:latin typeface="Microsoft YaHei"/>
                <a:ea typeface="Microsoft YaHei"/>
                <a:cs typeface="Microsoft YaHei"/>
              </a:rPr>
              <a:t>20 February – 30 March 2020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One mask per person per day  →  one mask every three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1847088"/>
            <a:ext cx="54864" cy="822960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8" y="1865376"/>
            <a:ext cx="3639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WATERPROOF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2103120"/>
            <a:ext cx="3639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 mL in 20 s, vacuum 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359152"/>
            <a:ext cx="3639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After 10 cycles: no seepage. SEM shows the fibres intact.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2798064"/>
            <a:ext cx="3931920" cy="10160"/>
          </a:xfrm>
          <a:prstGeom prst="rect">
            <a:avLst/>
          </a:prstGeom>
          <a:solidFill>
            <a:srgbClr val="4868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2852928"/>
            <a:ext cx="54864" cy="82296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2871216"/>
            <a:ext cx="3639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8 HOURS OF REAL WEAR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3108960"/>
            <a:ext cx="3639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Surgical vs KN95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3364992"/>
            <a:ext cx="3639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Surgical fell by 0.5–12% (15 samples). All 10 KN95 stayed above 95%.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3803904"/>
            <a:ext cx="3931920" cy="10160"/>
          </a:xfrm>
          <a:prstGeom prst="rect">
            <a:avLst/>
          </a:prstGeom>
          <a:solidFill>
            <a:srgbClr val="4868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3858768"/>
            <a:ext cx="54864" cy="822960"/>
          </a:xfrm>
          <a:prstGeom prst="rect">
            <a:avLst/>
          </a:prstGeom>
          <a:solidFill>
            <a:srgbClr val="36C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4728" y="3877056"/>
            <a:ext cx="3639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THE REAL CULPRIT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4114800"/>
            <a:ext cx="3639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It is not the hot water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4728" y="4370832"/>
            <a:ext cx="3639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Dirt and oil from the skin change the wettability of the fibres.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1947672"/>
            <a:ext cx="1719072" cy="2786265"/>
          </a:xfrm>
          <a:prstGeom prst="rect">
            <a:avLst/>
          </a:prstGeom>
          <a:noFill/>
          <a:ln w="13970">
            <a:solidFill>
              <a:srgbClr val="F3B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56000">
            <a:off x="9646920" y="1847088"/>
            <a:ext cx="1719072" cy="2786265"/>
          </a:xfrm>
          <a:prstGeom prst="rect">
            <a:avLst/>
          </a:prstGeom>
          <a:solidFill>
            <a:srgbClr val="EEF4FA"/>
          </a:solidFill>
          <a:ln w="11430">
            <a:solidFill>
              <a:srgbClr val="C4D4E4"/>
            </a:solidFill>
          </a:ln>
          <a:effectLst>
            <a:outerShdw blurRad="228600" dist="88900" dir="315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6000">
            <a:off x="9765792" y="1965960"/>
            <a:ext cx="1481328" cy="254852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646920" y="47548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894B0"/>
                </a:solidFill>
                <a:latin typeface="Microsoft YaHei"/>
                <a:ea typeface="Microsoft YaHei"/>
                <a:cs typeface="Microsoft YaHei"/>
              </a:rPr>
              <a:t>Fig. 5 — fluorescent
penetrant inspection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5321808"/>
            <a:ext cx="5833872" cy="950976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5321808"/>
            <a:ext cx="68580" cy="950976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4728" y="549554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FROM THE LAB TO THE FACTORY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5751576"/>
            <a:ext cx="512978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EEAF6"/>
                </a:solidFill>
                <a:latin typeface="Microsoft YaHei"/>
                <a:ea typeface="Microsoft YaHei"/>
                <a:cs typeface="Microsoft YaHei"/>
              </a:rPr>
              <a:t>Deployed at scale: one company cut mask use to a third in five weeks.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SPEAKER 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82" dur="indefinite" fill="hold" nodeType="tmRoot" presetSubtype="0" grpId="0" restart="never">
          <p:childTnLst>
            <p:seq concurrent="1" nextAc="seek">
              <p:cTn id="1181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6" fill="hold" presetSubtype="0" grpId="0">
                            <p:childTnLst>
                              <p:par>
                                <p:cTn id="111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8" dur="1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0" dur="420" fill="hold" presetSubtype="0" grpId="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2" fill="hold" presetSubtype="0" grpId="0">
                            <p:childTnLst>
                              <p:par>
                                <p:cTn id="112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24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26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28" fill="hold" presetSubtype="0" grpId="0">
                            <p:childTnLst>
                              <p:par>
                                <p:cTn id="112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0" dur="1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2" dur="420" fill="hold" presetSubtype="0" grpId="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34" fill="hold" presetSubtype="0" grpId="0">
                            <p:childTnLst>
                              <p:par>
                                <p:cTn id="113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36" dur="1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38" dur="420" fill="hold" presetSubtype="0" grpId="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0" fill="hold" presetSubtype="0" grpId="0">
                            <p:childTnLst>
                              <p:par>
                                <p:cTn id="114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2" dur="1" fill="hold" presetSubtype="0" grpId="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44" dur="420" fill="hold" presetSubtype="0" grpId="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46" fill="hold" presetSubtype="0" grpId="0">
                            <p:childTnLst>
                              <p:par>
                                <p:cTn id="114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48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50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52" fill="hold" presetSubtype="0" grpId="0">
                            <p:childTnLst>
                              <p:par>
                                <p:cTn id="115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54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56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58" fill="hold" presetSubtype="0" grpId="0">
                            <p:childTnLst>
                              <p:par>
                                <p:cTn id="115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60" dur="1" fill="hold" presetSubtype="0" grpId="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62" dur="420" fill="hold" presetSubtype="0" grpId="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64" fill="hold" presetSubtype="0" grpId="0">
                            <p:childTnLst>
                              <p:par>
                                <p:cTn id="116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66" dur="1" fill="hold" presetSubtype="0" grpId="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68" dur="420" fill="hold" presetSubtype="0" grpId="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9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170" fill="hold" presetSubtype="0" grpId="0">
                            <p:childTnLst>
                              <p:par>
                                <p:cTn id="117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72" dur="1" fill="hold" presetSubtype="0" grpId="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74" dur="420" fill="hold" presetSubtype="0" grpId="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76" fill="hold" presetSubtype="0" grpId="0">
                            <p:childTnLst>
                              <p:par>
                                <p:cTn id="117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78" dur="1" fill="hold" presetSubtype="0" grpId="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80" dur="420" fill="hold" presetSubtype="0" grpId="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6C88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1 1   ·   V E R D I C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76656"/>
            <a:ext cx="100584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Verdict: Approved — With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BAD0"/>
                </a:solidFill>
                <a:latin typeface="Microsoft YaHei"/>
                <a:ea typeface="Microsoft YaHei"/>
                <a:cs typeface="Microsoft YaHei"/>
              </a:rPr>
              <a:t>What the evidence supports — and what it simply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9904" y="1847088"/>
            <a:ext cx="12700" cy="3017520"/>
          </a:xfrm>
          <a:prstGeom prst="rect">
            <a:avLst/>
          </a:prstGeom>
          <a:solidFill>
            <a:srgbClr val="486886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P R O V E 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05840" cy="33020"/>
          </a:xfrm>
          <a:prstGeom prst="rect">
            <a:avLst/>
          </a:prstGeom>
          <a:solidFill>
            <a:srgbClr val="36C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Hot water plus a hair dryer keeps the filtration performance of disposable, surgical and KN95 masks essentially intact for up to 10 cycles — and it was deployed at scale, with measurable savings.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874519"/>
            <a:ext cx="5001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A674C"/>
                </a:solidFill>
                <a:latin typeface="Microsoft YaHei"/>
                <a:ea typeface="Microsoft YaHei"/>
                <a:cs typeface="Microsoft YaHei"/>
              </a:rPr>
              <a:t>N O T   P R O V E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2377440"/>
            <a:ext cx="1005840" cy="33020"/>
          </a:xfrm>
          <a:prstGeom prst="rect">
            <a:avLst/>
          </a:prstGeom>
          <a:solidFill>
            <a:srgbClr val="EA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560320"/>
            <a:ext cx="50017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DCD6"/>
                </a:solidFill>
                <a:latin typeface="Microsoft YaHei"/>
                <a:ea typeface="Microsoft YaHei"/>
                <a:cs typeface="Microsoft YaHei"/>
              </a:rPr>
              <a:t>• Virus killing was never measured directly
• NaCl particles, not the actual virus
• Only six products were tested
• Fit and seal were never tested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33087"/>
            <a:ext cx="10545775" cy="932688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33087"/>
            <a:ext cx="68580" cy="932688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30682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ONE INCONSISTENCY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562855"/>
            <a:ext cx="9841687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EEAF6"/>
                </a:solidFill>
                <a:latin typeface="Microsoft YaHei"/>
                <a:ea typeface="Microsoft YaHei"/>
                <a:cs typeface="Microsoft YaHei"/>
              </a:rPr>
              <a:t>In §3.5 the worn KN95 masks were treated with hot water; in the Conclusions the same result is described as pressurised steam at 121 °C. Two different treatments — the conclusion stands, but published papers still need careful reading.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230368"/>
            <a:ext cx="10545775" cy="969264"/>
          </a:xfrm>
          <a:prstGeom prst="rect">
            <a:avLst/>
          </a:prstGeom>
          <a:gradFill rotWithShape="1">
            <a:gsLst>
              <a:gs pos="0">
                <a:srgbClr val="0E1E31"/>
              </a:gs>
              <a:gs pos="100000">
                <a:srgbClr val="0A152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230368"/>
            <a:ext cx="68580" cy="969264"/>
          </a:xfrm>
          <a:prstGeom prst="rect">
            <a:avLst/>
          </a:prstGeom>
          <a:solidFill>
            <a:srgbClr val="38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404104"/>
            <a:ext cx="2377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40410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8C6E0"/>
                </a:solidFill>
                <a:latin typeface="Microsoft YaHei"/>
                <a:ea typeface="Microsoft YaHei"/>
                <a:cs typeface="Microsoft YaHei"/>
              </a:rPr>
              <a:t>COMPARED TO WHAT?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5660136"/>
            <a:ext cx="7327087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EEAF6"/>
                </a:solidFill>
                <a:latin typeface="Microsoft YaHei"/>
                <a:ea typeface="Microsoft YaHei"/>
                <a:cs typeface="Microsoft YaHei"/>
              </a:rPr>
              <a:t>For surgical masks the required PFE is only 30%. So “92.3%” sounds impressive partly because the bar is low. A good reviewer always asks: impressive compared to what?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6C880"/>
                </a:solidFill>
                <a:latin typeface="Microsoft YaHei"/>
                <a:ea typeface="Microsoft YaHei"/>
                <a:cs typeface="Microsoft YaHei"/>
              </a:rPr>
              <a:t>SPEAKER 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116" dur="indefinite" fill="hold" nodeType="tmRoot" presetSubtype="0" grpId="0" restart="never">
          <p:childTnLst>
            <p:seq concurrent="1" nextAc="seek">
              <p:cTn id="1115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44" fill="hold" presetSubtype="0" grpId="0">
                            <p:childTnLst>
                              <p:par>
                                <p:cTn id="104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6" dur="1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8" dur="420" fill="hold" presetSubtype="0" grpId="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0" fill="hold" presetSubtype="0" grpId="0">
                            <p:childTnLst>
                              <p:par>
                                <p:cTn id="105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2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54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56" fill="hold" presetSubtype="0" grpId="0">
                            <p:childTnLst>
                              <p:par>
                                <p:cTn id="105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58" dur="1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0" dur="420" fill="hold" presetSubtype="0" grpId="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2" fill="hold" presetSubtype="0" grpId="0">
                            <p:childTnLst>
                              <p:par>
                                <p:cTn id="106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64" dur="1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66" dur="420" fill="hold" presetSubtype="0" grpId="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68" fill="hold" presetSubtype="0" grpId="0">
                            <p:childTnLst>
                              <p:par>
                                <p:cTn id="106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0" dur="1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2" dur="420" fill="hold" presetSubtype="0" grpId="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74" fill="hold" presetSubtype="0" grpId="0">
                            <p:childTnLst>
                              <p:par>
                                <p:cTn id="107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76" dur="1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78" dur="420" fill="hold" presetSubtype="0" grpId="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0" fill="hold" presetSubtype="0" grpId="0">
                            <p:childTnLst>
                              <p:par>
                                <p:cTn id="108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2" dur="1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84" dur="420" fill="hold" presetSubtype="0" grpId="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86" fill="hold" presetSubtype="0" grpId="0">
                            <p:childTnLst>
                              <p:par>
                                <p:cTn id="108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88" dur="1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0" dur="420" fill="hold" presetSubtype="0" grpId="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92" fill="hold" presetSubtype="0" grpId="0">
                            <p:childTnLst>
                              <p:par>
                                <p:cTn id="109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94" dur="1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96" dur="420" fill="hold" presetSubtype="0" grpId="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98" fill="hold" presetSubtype="0" grpId="0">
                            <p:childTnLst>
                              <p:par>
                                <p:cTn id="109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0" dur="1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2" dur="420" fill="hold" presetSubtype="0" grpId="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04" fill="hold" presetSubtype="0" grpId="0">
                            <p:childTnLst>
                              <p:par>
                                <p:cTn id="110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06" dur="1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08" dur="420" fill="hold" presetSubtype="0" grpId="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110" fill="hold" presetSubtype="0" grpId="0">
                            <p:childTnLst>
                              <p:par>
                                <p:cTn id="111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112" dur="1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114" dur="420" fill="hold" presetSubtype="0" grpId="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411480"/>
            <a:ext cx="3108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1" i="0">
                <a:solidFill>
                  <a:srgbClr val="224A64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1 2   ·   W H Y   T H I S   P A P E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9326880" cy="720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We Chose This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70048"/>
            <a:ext cx="1874519" cy="50800"/>
          </a:xfrm>
          <a:prstGeom prst="rect">
            <a:avLst/>
          </a:prstGeom>
          <a:solidFill>
            <a:srgbClr val="F3B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80944"/>
            <a:ext cx="877824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8E6F4"/>
                </a:solidFill>
                <a:latin typeface="Microsoft YaHei"/>
                <a:ea typeface="Microsoft YaHei"/>
                <a:cs typeface="Microsoft YaHei"/>
              </a:rPr>
              <a:t>This is not a discovery. It is a qualification campaign: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set the acceptance criteria, run to N cycles, inspect, then release.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C4D6E8"/>
                </a:solidFill>
                <a:latin typeface="Microsoft YaHei"/>
                <a:ea typeface="Microsoft YaHei"/>
                <a:cs typeface="Microsoft YaHei"/>
              </a:rPr>
              <a:t>That is exactly what engineers do to turbine blades and filters.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F0F8"/>
                </a:solidFill>
                <a:latin typeface="Microsoft YaHei"/>
                <a:ea typeface="Microsoft YaHei"/>
                <a:cs typeface="Microsoft YaHei"/>
              </a:rPr>
              <a:t>And in an emergency, the best engineering is often not the most advanced —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it is the kind that works with a pot of hot water and a hair dryer.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5099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 H A N K   Y O 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83696" y="1298448"/>
            <a:ext cx="13970" cy="4206240"/>
          </a:xfrm>
          <a:prstGeom prst="rect">
            <a:avLst/>
          </a:prstGeom>
          <a:solidFill>
            <a:srgbClr val="F3B4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6345936"/>
            <a:ext cx="10545775" cy="10160"/>
          </a:xfrm>
          <a:prstGeom prst="rect">
            <a:avLst/>
          </a:prstGeom>
          <a:solidFill>
            <a:srgbClr val="3A567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885A0"/>
                </a:solidFill>
                <a:latin typeface="Microsoft YaHei"/>
                <a:ea typeface="Microsoft YaHei"/>
                <a:cs typeface="Microsoft YaHei"/>
              </a:rPr>
              <a:t>QUALIFICATION REVIEW  ·  WANG ET AL. 2020  ·  ENGINEERING 6, 1115–1121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8375" y="6419088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B43E"/>
                </a:solidFill>
                <a:latin typeface="Microsoft YaHei"/>
                <a:ea typeface="Microsoft YaHei"/>
                <a:cs typeface="Microsoft YaHei"/>
              </a:rPr>
              <a:t>SPEAKER 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2855" y="641908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6B2CC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</p:cSld>
  <p:clrMapOvr>
    <a:masterClrMapping/>
  </p:clrMapOvr>
  <p:transition spd="med" advTm="0">
    <p:fade/>
  </p:transition>
  <p:timing>
    <p:tnLst>
      <p:par>
        <p:cTn id="1044" dur="indefinite" fill="hold" nodeType="tmRoot" presetSubtype="0" grpId="0" restart="never">
          <p:childTnLst>
            <p:seq concurrent="1" nextAc="seek">
              <p:cTn id="1043" dur="indefinite" nodeType="mainSeq">
                <p:childTnLst>
                  <p:par>
                    <p:cTn id="1001" fill="hold" nodeType="clickEffect" presetSubtype="0" grpId="0">
                      <p:stCondLst>
                        <p:cond delay="indefinite"/>
                      </p:stCondLst>
                      <p:childTnLst>
                        <p:par>
                          <p:cTn id="1002" fill="hold" presetSubtype="0" grpId="0">
                            <p:childTnLst>
                              <p:par>
                                <p:cTn id="100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04" dur="1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06" dur="420" fill="hold" presetSubtype="0" grpId="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08" fill="hold" presetSubtype="0" grpId="0">
                            <p:childTnLst>
                              <p:par>
                                <p:cTn id="100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0" dur="1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2" dur="420" fill="hold" presetSubtype="0" grpId="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14" fill="hold" presetSubtype="0" grpId="0">
                            <p:childTnLst>
                              <p:par>
                                <p:cTn id="1015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16" dur="1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18" dur="420" fill="hold" presetSubtype="0" grpId="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20" fill="hold" presetSubtype="0" grpId="0">
                            <p:childTnLst>
                              <p:par>
                                <p:cTn id="1021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2" dur="1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24" dur="420" fill="hold" presetSubtype="0" grpId="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26" fill="hold" presetSubtype="0" grpId="0">
                            <p:childTnLst>
                              <p:par>
                                <p:cTn id="1027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28" dur="1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0" dur="420" fill="hold" presetSubtype="0" grpId="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 nodeType="withEffect" presetSubtype="0" grpId="0">
                      <p:stCondLst>
                        <p:cond delay="0"/>
                      </p:stCondLst>
                      <p:childTnLst>
                        <p:par>
                          <p:cTn id="1032" fill="hold" presetSubtype="0" grpId="0">
                            <p:childTnLst>
                              <p:par>
                                <p:cTn id="1033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34" dur="1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36" dur="420" fill="hold" presetSubtype="0" grpId="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 nodeType="afterEffect" presetSubtype="0" grpId="0">
                      <p:stCondLst>
                        <p:cond delay="180"/>
                      </p:stCondLst>
                      <p:childTnLst>
                        <p:par>
                          <p:cTn id="1038" fill="hold" presetSubtype="0" grpId="0">
                            <p:childTnLst>
                              <p:par>
                                <p:cTn id="1039" fill="hold" nodeType="withGroup" presetID="10" presetClass="1" presetSubtype="0" grpId="0">
                                  <p:childTnLst>
                                    <p:set>
                                      <p:cBhvr>
                                        <p:cTn id="1040" dur="1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fill="hold" nodeType="withGroup" presetID="11" presetSubtype="0" grpId="0">
                                  <p:childTnLst>
                                    <p:anim calcMode="lin">
                                      <p:cBhvr>
                                        <p:cTn id="1042" dur="420" fill="hold" presetSubtype="0" grpId="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