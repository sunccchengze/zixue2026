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开场：今天不讲公式推导，就讲一件事——电脑怎么从一堆数据里“自己学出规律”。用到的是我的一道作业：预测首尔共享单车的租车数量。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先给具体场景。公司手里有 100 天（训练集）的完整记录：天气、季节，以及当天真实的租车数。问题：能不能用天气预测租车数？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这就是机器学习的三步：训练、测试、预测。关键在于——它不靠人把规则写死，而是让机器从数据里自己把规则找出来。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关键概念只有两个：特征（输入）和目标（输出）。还要说明：文字类别要转成 0/1 数字，机器才能计算，这一步叫“数据处理”。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机器不猜“公式的复杂形状”，先猜一个最简单的：直线。b 是起点，w 是斜率——但这两个数不是人定的，是算出来的。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每一条候选直线都会产生误差。把所有点的误差平方加起来，总和最小的那条线，就是最好的线——这就是“最小二乘”。平方是为了让正负误差不互相抵消，也惩罚大错误。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公式解干净利落；梯度下降像下山，摸着“最陡的方向”一点点往下走。真实世界的复杂模型大多走路，因为算不出公式解。这里两种都做了，结果一致。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这里对应“过拟合”：如果只在训练数据上表现好，就等于把答案背下来了。测试集像高考——只有没见过的数据，才能反映真实水平。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R² = 0.345 的通俗解释：租车数量的起伏里，约 35% 能被天气和季节解释；其余来自数据里没有的信息（比如几点钟、星期几）。对小模型来说这是有效信号。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权重就是“每变化一个单位，租车数平均变化多少”。可以顺带讲：样本太少（比如只有 7 个节假日）时，权重就不稳定，这也是数据科学里的常见坑。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诚实评估模型也是机器学习的一部分。并引出下一个主题：特征工程——用你的理解去设计更好的输入，往往比换更复杂的模型更有效。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强调性价比排序：加特征 &gt; 改特征 &gt; 换模型。初学者最爱换模型，其实前两步收益最大。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这三条比任何公式都重要。做题、考试、以后做研究，都是同一个套路：建模—验证—迭代。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展示作业里的代码和结果文件（共享单车_线性回归_分析.py / results.json），让学生看到“可复现”本身也是一种素养。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留 3-5 分钟提问。可以引导学生想：如果让你用同样的方法预测“食堂排队长短”，特征会是什么？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74519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46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机器学习，到底是什么？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8803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400" b="0">
                <a:solidFill>
                  <a:srgbClr val="C55A11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—— 从“预测共享单车需求”这道作业讲起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794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700" b="0">
                <a:solidFill>
                  <a:srgbClr val="6E767E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面向零基础的入门讲解 · 全程只用真实的 100 条数据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806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500" b="0">
                <a:solidFill>
                  <a:srgbClr val="6E767E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主讲人：____________     班级：____________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56692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33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先看一个具体的问题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5" y="117043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00" b="0">
                <a:solidFill>
                  <a:srgbClr val="6E767E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首尔的共享单车公司，每天要面对同一个问题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99669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1600"/>
              </a:spcAft>
            </a:pPr>
            <a:r>
              <a:rPr sz="2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 明天大概会有多少人租车？</a:t>
            </a:r>
          </a:p>
          <a:p>
            <a:pPr>
              <a:lnSpc>
                <a:spcPct val="128000"/>
              </a:lnSpc>
              <a:spcAft>
                <a:spcPts val="1600"/>
              </a:spcAft>
            </a:pPr>
            <a:r>
              <a:rPr sz="2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 要提前把车调到哪里、调多少辆？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383280"/>
            <a:ext cx="10058400" cy="2011680"/>
          </a:xfrm>
          <a:prstGeom prst="rect">
            <a:avLst/>
          </a:prstGeom>
          <a:solidFill>
            <a:srgbClr val="EEF4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611880"/>
            <a:ext cx="94183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他们的历史记录里，每天都有两个信息：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① 客观条件：温度、湿度、风速、降雨、降雪、季节、是否节假日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② 结果：那一天租出去了多少辆车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56692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33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机器学习，其实就是三步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5" y="117043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00" b="0">
                <a:solidFill>
                  <a:srgbClr val="6E767E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和准备高考几乎一模一样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1783080"/>
            <a:ext cx="3200400" cy="3749039"/>
          </a:xfrm>
          <a:prstGeom prst="rect">
            <a:avLst/>
          </a:prstGeom>
          <a:solidFill>
            <a:srgbClr val="FFFFFF"/>
          </a:solidFill>
          <a:ln w="317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103120"/>
            <a:ext cx="2651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6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① 学习
（训练）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291840"/>
            <a:ext cx="2651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用已经知道答案的 100 天数据，
找出“天气 → 租车数”的规律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783080"/>
            <a:ext cx="3200400" cy="3749039"/>
          </a:xfrm>
          <a:prstGeom prst="rect">
            <a:avLst/>
          </a:prstGeom>
          <a:solidFill>
            <a:srgbClr val="FFFFFF"/>
          </a:solidFill>
          <a:ln w="317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103120"/>
            <a:ext cx="2651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600" b="1">
                <a:solidFill>
                  <a:srgbClr val="C55A11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② 检验
（测试）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291840"/>
            <a:ext cx="2651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拿 60 天没见过的新数据
考一考它，看规律灵不灵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783080"/>
            <a:ext cx="3200400" cy="3749039"/>
          </a:xfrm>
          <a:prstGeom prst="rect">
            <a:avLst/>
          </a:prstGeom>
          <a:solidFill>
            <a:srgbClr val="FFFFFF"/>
          </a:solidFill>
          <a:ln w="31750">
            <a:solidFill>
              <a:srgbClr val="54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103120"/>
            <a:ext cx="2651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600" b="1">
                <a:solidFill>
                  <a:srgbClr val="547A30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③ 使用
（预测）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291840"/>
            <a:ext cx="2651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以后只要输入明天的天气，
就能给出预测的租车数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56692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33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第一步：把一天，变成一行数字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5" y="117043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00" b="0">
                <a:solidFill>
                  <a:srgbClr val="6E767E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这行数字叫“特征”，要预测的答案叫“目标”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51560" y="1874519"/>
          <a:ext cx="10058396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9204"/>
                <a:gridCol w="1186665"/>
                <a:gridCol w="1299680"/>
                <a:gridCol w="1130157"/>
                <a:gridCol w="1130157"/>
                <a:gridCol w="1017141"/>
                <a:gridCol w="1017141"/>
                <a:gridCol w="1808251"/>
              </a:tblGrid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温度(°C)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湿度(%)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风速(m/s)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降雨(mm)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降雪(cm)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季节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节假日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租车数（答案）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27.0</a:t>
                      </a:r>
                    </a:p>
                  </a:txBody>
                  <a:tcPr marL="54864" marR="54864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</a:t>
                      </a:r>
                    </a:p>
                  </a:txBody>
                  <a:tcPr marL="54864" marR="54864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</a:t>
                      </a:r>
                    </a:p>
                  </a:txBody>
                  <a:tcPr marL="54864" marR="54864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春季</a:t>
                      </a:r>
                    </a:p>
                  </a:txBody>
                  <a:tcPr marL="54864" marR="54864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4864" marR="54864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2020</a:t>
                      </a:r>
                    </a:p>
                  </a:txBody>
                  <a:tcPr marL="54864" marR="54864" marT="18288" marB="18288" anchor="ctr">
                    <a:solidFill>
                      <a:srgbClr val="EEF4FA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夏季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9.7</a:t>
                      </a:r>
                    </a:p>
                  </a:txBody>
                  <a:tcPr marL="54864" marR="54864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56</a:t>
                      </a:r>
                    </a:p>
                  </a:txBody>
                  <a:tcPr marL="54864" marR="54864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</a:t>
                      </a:r>
                    </a:p>
                  </a:txBody>
                  <a:tcPr marL="54864" marR="54864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秋季</a:t>
                      </a:r>
                    </a:p>
                  </a:txBody>
                  <a:tcPr marL="54864" marR="54864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4864" marR="54864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851</a:t>
                      </a:r>
                    </a:p>
                  </a:txBody>
                  <a:tcPr marL="54864" marR="54864" marT="18288" marB="18288" anchor="ctr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51560" y="3977639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机器只认识数字：季节“春季 / 夏季 / 秋季 / 冬季”要变成 0 和 1（哪里是 1，就是哪个季节）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8006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1">
                <a:solidFill>
                  <a:srgbClr val="C55A11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前 7 列 = 特征（已知条件）  最后一列 = 目标（要学的答案）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56692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33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第二步：猜一个“公式”的样子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5" y="117043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00" b="0">
                <a:solidFill>
                  <a:srgbClr val="6E767E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先只看一个特征：温度</a:t>
            </a:r>
          </a:p>
        </p:txBody>
      </p:sp>
      <p:pic>
        <p:nvPicPr>
          <p:cNvPr id="5" name="Picture 4" descr="teach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828800"/>
            <a:ext cx="6675120" cy="369427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001000" y="2148840"/>
            <a:ext cx="3108960" cy="2834640"/>
          </a:xfrm>
          <a:prstGeom prst="rect">
            <a:avLst/>
          </a:prstGeom>
          <a:solidFill>
            <a:srgbClr val="EEF4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2423160"/>
            <a:ext cx="26517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8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模型的一种样子：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2200" b="1">
                <a:solidFill>
                  <a:srgbClr val="C55A11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y = b + w × 温度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把“温度”换成全部 9 个特征：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y = b + w1·x1 + … + w9·x9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00" b="0">
                <a:solidFill>
                  <a:srgbClr val="6E767E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b、w 是待学习的数字，
由数据决定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56692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33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怎么知道哪条线“最好”？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5" y="117043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00" b="0">
                <a:solidFill>
                  <a:srgbClr val="6E767E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看误差：预测值和真实值差多少</a:t>
            </a:r>
          </a:p>
        </p:txBody>
      </p:sp>
      <p:pic>
        <p:nvPicPr>
          <p:cNvPr id="5" name="Picture 4" descr="teach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737360"/>
            <a:ext cx="8503920" cy="47064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56692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33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“最好的线”怎么算出来？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5" y="117043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00" b="0">
                <a:solidFill>
                  <a:srgbClr val="6E767E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两条路，殊途同归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1828800"/>
            <a:ext cx="475488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2062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21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方法一：一步到位（公式解）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800" b="0">
                <a:solidFill>
                  <a:srgbClr val="262626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用数学推导直接求出最优的
b 和 w —— 就像解一道方程
题，答案唯一。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828800"/>
            <a:ext cx="475488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48840"/>
            <a:ext cx="42062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2100" b="1">
                <a:solidFill>
                  <a:srgbClr val="C55A11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方法二：一步一步试（梯度下降）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800" b="0">
                <a:solidFill>
                  <a:srgbClr val="262626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先随便画一条线，算误差，
然后让线往“误差变小”的方向
挪一小步，重复 3 万次。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4406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700" b="0">
                <a:solidFill>
                  <a:srgbClr val="6E767E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两种方法算出的答案完全一样（差异小于 0.000000000001）——互相验证，才能说明没算错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56692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33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最重要的一步：用“没见过的数据”检验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5" y="117043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00" b="0">
                <a:solidFill>
                  <a:srgbClr val="6E767E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机器学习里最容易被忽视、也最关键的纪律</a:t>
            </a:r>
          </a:p>
        </p:txBody>
      </p:sp>
      <p:pic>
        <p:nvPicPr>
          <p:cNvPr id="5" name="Picture 4" descr="teach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737360"/>
            <a:ext cx="8686800" cy="33063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5230368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900" b="0">
                <a:solidFill>
                  <a:srgbClr val="262626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为什么不能拿训练数据检验？背熟了 100 道题的答案，不代表会做新题。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9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所以：100 条练手（训练集），60 条留到最后考试（测试集），考之前不许偷看。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56692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33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考试结果：它真的学会了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5" y="117043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00" b="0">
                <a:solidFill>
                  <a:srgbClr val="6E767E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R² 可以理解为“解释了多少”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51560" y="1874519"/>
          <a:ext cx="1005839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5182"/>
                <a:gridCol w="2186608"/>
                <a:gridCol w="2186608"/>
              </a:tblGrid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训练集（练习卷）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测试集（高考卷）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预测误差 RMSE（平均差多少辆）</a:t>
                      </a:r>
                    </a:p>
                  </a:txBody>
                  <a:tcPr marL="54864" marR="54864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471 辆</a:t>
                      </a:r>
                    </a:p>
                  </a:txBody>
                  <a:tcPr marL="54864" marR="54864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508 辆</a:t>
                      </a:r>
                    </a:p>
                  </a:txBody>
                  <a:tcPr marL="54864" marR="54864" marT="18288" marB="18288" anchor="ctr">
                    <a:solidFill>
                      <a:srgbClr val="EEF4FA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R²（解释了多少规律）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51560" y="434340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参照物：完全不学，直接回答“每天都是平均值”，误差是 631 辆。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200" b="1">
                <a:solidFill>
                  <a:srgbClr val="C55A11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模型把误差降到了 508 辆 —— 比“瞎猜”准了约 20%。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56692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33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它从数据里学到的“规律”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5" y="117043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00" b="0">
                <a:solidFill>
                  <a:srgbClr val="6E767E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每一个特征配一个权重，可正可负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51560" y="1828800"/>
          <a:ext cx="10058398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084"/>
                <a:gridCol w="3582443"/>
                <a:gridCol w="3306871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特征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学到的权重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怎么读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温度</a:t>
                      </a:r>
                    </a:p>
                  </a:txBody>
                  <a:tcPr marL="54864" marR="54864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+39.2 辆 / 每升高 1°C</a:t>
                      </a:r>
                    </a:p>
                  </a:txBody>
                  <a:tcPr marL="54864" marR="54864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越热越好骑，影响最大</a:t>
                      </a:r>
                    </a:p>
                  </a:txBody>
                  <a:tcPr marL="54864" marR="54864" marT="18288" marB="18288" anchor="ctr">
                    <a:solidFill>
                      <a:srgbClr val="EEF4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湿度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−11.0 辆 / 每升高 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越潮湿骑的人越少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降雨</a:t>
                      </a:r>
                    </a:p>
                  </a:txBody>
                  <a:tcPr marL="54864" marR="54864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−233.8 辆 / 每多 1 毫米</a:t>
                      </a:r>
                    </a:p>
                  </a:txBody>
                  <a:tcPr marL="54864" marR="54864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一下雨，需求明显减少</a:t>
                      </a:r>
                    </a:p>
                  </a:txBody>
                  <a:tcPr marL="54864" marR="54864" marT="18288" marB="18288" anchor="ctr">
                    <a:solidFill>
                      <a:srgbClr val="EEF4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风速 / 降雪 / 季节 / 节假日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接近 0，且不稳定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这 100 天数据里看不出可靠规律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51560" y="48920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800" b="0">
                <a:solidFill>
                  <a:srgbClr val="6E767E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注意最后一行：数据里没有信号的特征，权重就会趋于“说不准”——不是每个特征都能派上用场。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56692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33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诚实地说：它还很不完美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5" y="117043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00" b="0">
                <a:solidFill>
                  <a:srgbClr val="6E767E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线性模型的天花板在哪里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996696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1800"/>
              </a:spcAft>
            </a:pPr>
            <a:r>
              <a:rPr sz="2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 数据里少了关键信息：几点钟？星期几？——而租车的真正高峰是按“小时”来的</a:t>
            </a:r>
          </a:p>
          <a:p>
            <a:pPr>
              <a:lnSpc>
                <a:spcPct val="128000"/>
              </a:lnSpc>
              <a:spcAft>
                <a:spcPts val="1800"/>
              </a:spcAft>
            </a:pPr>
            <a:r>
              <a:rPr sz="2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 预测总被“拉向平均”：高需求的日子被低估，低需求的日子被高估</a:t>
            </a:r>
          </a:p>
          <a:p>
            <a:pPr>
              <a:lnSpc>
                <a:spcPct val="128000"/>
              </a:lnSpc>
              <a:spcAft>
                <a:spcPts val="1800"/>
              </a:spcAft>
            </a:pPr>
            <a:r>
              <a:rPr sz="2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 直线永远是直线：温度、季节的真实影响其实是弯曲的、互相纠缠的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617720"/>
            <a:ext cx="10058400" cy="1234440"/>
          </a:xfrm>
          <a:prstGeom prst="rect">
            <a:avLst/>
          </a:prstGeom>
          <a:solidFill>
            <a:srgbClr val="FBF0E5"/>
          </a:solidFill>
          <a:ln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828032"/>
            <a:ext cx="9418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900" b="1">
                <a:solidFill>
                  <a:srgbClr val="C55A11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把“温度×温度”和“温度×季节”也加进去，测试成绩从 0.345 升到 0.461 ——
换一种更聪明的特征，比硬算更重要。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56692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33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想让预测更准，往哪里使劲？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5" y="117043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00" b="0">
                <a:solidFill>
                  <a:srgbClr val="6E767E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三种常用思路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1828800"/>
            <a:ext cx="50292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83664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810512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2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① 喂更多信息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810512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把“几点、星期几、是不是早晚高峰”
变成新特征 —— 往往提升最大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3200400"/>
            <a:ext cx="50292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255264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182112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2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② 允许弯曲和组合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182112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给模型加“温度²”“温度×季节”
这类新列，让直线变弯曲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4572000"/>
            <a:ext cx="50292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626864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553712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2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③ 换更强的模型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553712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决策树、随机森林、神经网络
（但训练原理仍是最小化误差）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56692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33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带走这三个思维就够了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5" y="117043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00" b="0">
                <a:solidFill>
                  <a:srgbClr val="6E767E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它们和学数学、学任何科目都是相通的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731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3400" b="1">
                <a:solidFill>
                  <a:srgbClr val="C55A11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73736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把问题翻译成“数据 + 答案”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350008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700" b="0">
                <a:solidFill>
                  <a:srgbClr val="6E767E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现实问题 → 一行行特征 → 一个目标值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00400"/>
            <a:ext cx="731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3400" b="1">
                <a:solidFill>
                  <a:srgbClr val="C55A11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1546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永远用没见过的数据检验自己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67328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700" b="0">
                <a:solidFill>
                  <a:srgbClr val="6E767E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刷过的题不算数，新题才算数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617720"/>
            <a:ext cx="731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3400" b="1">
                <a:solidFill>
                  <a:srgbClr val="C55A11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57200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先有基线，再谈进步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184648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700" b="0">
                <a:solidFill>
                  <a:srgbClr val="6E767E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“猜平均数”就是基线：知道差在哪，才知道往哪改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82296" cy="56692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33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一个小彩蛋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5" y="117043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00" b="0">
                <a:solidFill>
                  <a:srgbClr val="6E767E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你今天看到的所有图表，都是“算”出来的，不是“画”出来的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99669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1600"/>
              </a:spcAft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 一份 30 行的 Python 脚本，30 秒跑完 100 条数据：训练、考试、画图、出报告</a:t>
            </a:r>
          </a:p>
          <a:p>
            <a:pPr>
              <a:lnSpc>
                <a:spcPct val="128000"/>
              </a:lnSpc>
              <a:spcAft>
                <a:spcPts val="1600"/>
              </a:spcAft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 报告里的每个数字——误差、权重、R²——都是脚本自动算出的，没有手写</a:t>
            </a:r>
          </a:p>
          <a:p>
            <a:pPr>
              <a:lnSpc>
                <a:spcPct val="128000"/>
              </a:lnSpc>
              <a:spcAft>
                <a:spcPts val="1600"/>
              </a:spcAft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 想改预测目标？把那列数字换掉，重新跑一遍就行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480560"/>
            <a:ext cx="10058400" cy="1371600"/>
          </a:xfrm>
          <a:prstGeom prst="rect">
            <a:avLst/>
          </a:prstGeom>
          <a:solidFill>
            <a:srgbClr val="EEF4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709160"/>
            <a:ext cx="9418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900" b="0">
                <a:solidFill>
                  <a:srgbClr val="262626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这就是机器学习最迷人的地方：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1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你负责理解问题、准备数据；寻找规律这件事，交给机器。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2860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4400" b="1">
                <a:solidFill>
                  <a:srgbClr val="1F4E79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C55A11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作业可以抄不了，思路可以带走：数据 → 规律 → 预测。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00" b="0">
                <a:solidFill>
                  <a:srgbClr val="6E767E"/>
                </a:solidFill>
                <a:latin typeface="微软雅黑"/>
                <a:ea typeface="微软雅黑"/>
                <a:cs typeface="微软雅黑"/>
                <a:ea typeface="微软雅黑"/>
                <a:cs typeface="微软雅黑"/>
              </a:rPr>
              <a:t>完整报告、代码与讲解 PPT 均可拷走，欢迎提问。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