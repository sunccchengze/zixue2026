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4"/>
  </p:notesMasterIdLst>
  <p:handoutMasterIdLst>
    <p:handoutMasterId r:id="rId65"/>
  </p:handoutMasterIdLst>
  <p:sldIdLst>
    <p:sldId id="257" r:id="rId2"/>
    <p:sldId id="305" r:id="rId3"/>
    <p:sldId id="306" r:id="rId4"/>
    <p:sldId id="315" r:id="rId5"/>
    <p:sldId id="307" r:id="rId6"/>
    <p:sldId id="309" r:id="rId7"/>
    <p:sldId id="310" r:id="rId8"/>
    <p:sldId id="311" r:id="rId9"/>
    <p:sldId id="312" r:id="rId10"/>
    <p:sldId id="304" r:id="rId11"/>
    <p:sldId id="263" r:id="rId12"/>
    <p:sldId id="264" r:id="rId13"/>
    <p:sldId id="265" r:id="rId14"/>
    <p:sldId id="331" r:id="rId15"/>
    <p:sldId id="318" r:id="rId16"/>
    <p:sldId id="319" r:id="rId17"/>
    <p:sldId id="320" r:id="rId18"/>
    <p:sldId id="335" r:id="rId19"/>
    <p:sldId id="295" r:id="rId20"/>
    <p:sldId id="266" r:id="rId21"/>
    <p:sldId id="337" r:id="rId22"/>
    <p:sldId id="270" r:id="rId23"/>
    <p:sldId id="271" r:id="rId24"/>
    <p:sldId id="273" r:id="rId25"/>
    <p:sldId id="272" r:id="rId26"/>
    <p:sldId id="274" r:id="rId27"/>
    <p:sldId id="278" r:id="rId28"/>
    <p:sldId id="339" r:id="rId29"/>
    <p:sldId id="340" r:id="rId30"/>
    <p:sldId id="328" r:id="rId31"/>
    <p:sldId id="275" r:id="rId32"/>
    <p:sldId id="296" r:id="rId33"/>
    <p:sldId id="297" r:id="rId34"/>
    <p:sldId id="298" r:id="rId35"/>
    <p:sldId id="299" r:id="rId36"/>
    <p:sldId id="341" r:id="rId37"/>
    <p:sldId id="342" r:id="rId38"/>
    <p:sldId id="301" r:id="rId39"/>
    <p:sldId id="302" r:id="rId40"/>
    <p:sldId id="314" r:id="rId41"/>
    <p:sldId id="293" r:id="rId42"/>
    <p:sldId id="343" r:id="rId43"/>
    <p:sldId id="344" r:id="rId44"/>
    <p:sldId id="345" r:id="rId45"/>
    <p:sldId id="346" r:id="rId46"/>
    <p:sldId id="347" r:id="rId47"/>
    <p:sldId id="348" r:id="rId48"/>
    <p:sldId id="349" r:id="rId49"/>
    <p:sldId id="350" r:id="rId50"/>
    <p:sldId id="360" r:id="rId51"/>
    <p:sldId id="352" r:id="rId52"/>
    <p:sldId id="353" r:id="rId53"/>
    <p:sldId id="354" r:id="rId54"/>
    <p:sldId id="355" r:id="rId55"/>
    <p:sldId id="356" r:id="rId56"/>
    <p:sldId id="357" r:id="rId57"/>
    <p:sldId id="358" r:id="rId58"/>
    <p:sldId id="365" r:id="rId59"/>
    <p:sldId id="361" r:id="rId60"/>
    <p:sldId id="362" r:id="rId61"/>
    <p:sldId id="363" r:id="rId62"/>
    <p:sldId id="364" r:id="rId63"/>
  </p:sldIdLst>
  <p:sldSz cx="9144000" cy="6858000" type="screen4x3"/>
  <p:notesSz cx="6742113" cy="987266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modifyVerifier cryptProviderType="rsaAES" cryptAlgorithmClass="hash" cryptAlgorithmType="typeAny" cryptAlgorithmSid="14" spinCount="100000" saltData="B9um5FPmSQ51Ei12v+T/AA==" hashData="utRlJtgtpU/nU+wV04JPMl7oEK2LoxupiB5Evg5vAHWXftcShjr0JegcYx4azMluVNFasCNfUxPLAELi4JaDyw=="/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3399FF"/>
    <a:srgbClr val="333399"/>
    <a:srgbClr val="CC0099"/>
    <a:srgbClr val="660033"/>
    <a:srgbClr val="660066"/>
    <a:srgbClr val="666633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69" autoAdjust="0"/>
    <p:restoredTop sz="95074" autoAdjust="0"/>
  </p:normalViewPr>
  <p:slideViewPr>
    <p:cSldViewPr>
      <p:cViewPr varScale="1">
        <p:scale>
          <a:sx n="115" d="100"/>
          <a:sy n="115" d="100"/>
        </p:scale>
        <p:origin x="9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4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7" Type="http://schemas.openxmlformats.org/officeDocument/2006/relationships/image" Target="../media/image21.wmf"/><Relationship Id="rId2" Type="http://schemas.openxmlformats.org/officeDocument/2006/relationships/image" Target="../media/image16.emf"/><Relationship Id="rId1" Type="http://schemas.openxmlformats.org/officeDocument/2006/relationships/image" Target="../media/image15.emf"/><Relationship Id="rId6" Type="http://schemas.openxmlformats.org/officeDocument/2006/relationships/image" Target="../media/image20.emf"/><Relationship Id="rId5" Type="http://schemas.openxmlformats.org/officeDocument/2006/relationships/image" Target="../media/image19.emf"/><Relationship Id="rId4" Type="http://schemas.openxmlformats.org/officeDocument/2006/relationships/image" Target="../media/image18.e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13" Type="http://schemas.openxmlformats.org/officeDocument/2006/relationships/image" Target="../media/image35.emf"/><Relationship Id="rId18" Type="http://schemas.openxmlformats.org/officeDocument/2006/relationships/image" Target="../media/image40.emf"/><Relationship Id="rId3" Type="http://schemas.openxmlformats.org/officeDocument/2006/relationships/image" Target="../media/image25.emf"/><Relationship Id="rId7" Type="http://schemas.openxmlformats.org/officeDocument/2006/relationships/image" Target="../media/image29.emf"/><Relationship Id="rId12" Type="http://schemas.openxmlformats.org/officeDocument/2006/relationships/image" Target="../media/image34.emf"/><Relationship Id="rId17" Type="http://schemas.openxmlformats.org/officeDocument/2006/relationships/image" Target="../media/image39.emf"/><Relationship Id="rId2" Type="http://schemas.openxmlformats.org/officeDocument/2006/relationships/image" Target="../media/image24.emf"/><Relationship Id="rId16" Type="http://schemas.openxmlformats.org/officeDocument/2006/relationships/image" Target="../media/image38.emf"/><Relationship Id="rId1" Type="http://schemas.openxmlformats.org/officeDocument/2006/relationships/image" Target="../media/image23.emf"/><Relationship Id="rId6" Type="http://schemas.openxmlformats.org/officeDocument/2006/relationships/image" Target="../media/image28.emf"/><Relationship Id="rId11" Type="http://schemas.openxmlformats.org/officeDocument/2006/relationships/image" Target="../media/image33.emf"/><Relationship Id="rId5" Type="http://schemas.openxmlformats.org/officeDocument/2006/relationships/image" Target="../media/image27.emf"/><Relationship Id="rId15" Type="http://schemas.openxmlformats.org/officeDocument/2006/relationships/image" Target="../media/image37.emf"/><Relationship Id="rId10" Type="http://schemas.openxmlformats.org/officeDocument/2006/relationships/image" Target="../media/image32.emf"/><Relationship Id="rId4" Type="http://schemas.openxmlformats.org/officeDocument/2006/relationships/image" Target="../media/image26.emf"/><Relationship Id="rId9" Type="http://schemas.openxmlformats.org/officeDocument/2006/relationships/image" Target="../media/image31.emf"/><Relationship Id="rId14" Type="http://schemas.openxmlformats.org/officeDocument/2006/relationships/image" Target="../media/image36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Relationship Id="rId6" Type="http://schemas.openxmlformats.org/officeDocument/2006/relationships/image" Target="../media/image47.wmf"/><Relationship Id="rId5" Type="http://schemas.openxmlformats.org/officeDocument/2006/relationships/image" Target="../media/image46.wmf"/><Relationship Id="rId4" Type="http://schemas.openxmlformats.org/officeDocument/2006/relationships/image" Target="../media/image45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4" Type="http://schemas.openxmlformats.org/officeDocument/2006/relationships/image" Target="../media/image54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wmf"/><Relationship Id="rId1" Type="http://schemas.openxmlformats.org/officeDocument/2006/relationships/image" Target="../media/image57.wmf"/><Relationship Id="rId4" Type="http://schemas.openxmlformats.org/officeDocument/2006/relationships/image" Target="../media/image60.png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2" Type="http://schemas.openxmlformats.org/officeDocument/2006/relationships/image" Target="../media/image65.emf"/><Relationship Id="rId1" Type="http://schemas.openxmlformats.org/officeDocument/2006/relationships/image" Target="../media/image64.emf"/><Relationship Id="rId4" Type="http://schemas.openxmlformats.org/officeDocument/2006/relationships/image" Target="../media/image67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image" Target="../media/image69.emf"/><Relationship Id="rId1" Type="http://schemas.openxmlformats.org/officeDocument/2006/relationships/image" Target="../media/image68.wmf"/><Relationship Id="rId6" Type="http://schemas.openxmlformats.org/officeDocument/2006/relationships/image" Target="../media/image73.emf"/><Relationship Id="rId5" Type="http://schemas.openxmlformats.org/officeDocument/2006/relationships/image" Target="../media/image72.emf"/><Relationship Id="rId4" Type="http://schemas.openxmlformats.org/officeDocument/2006/relationships/image" Target="../media/image71.e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6.wmf"/><Relationship Id="rId3" Type="http://schemas.openxmlformats.org/officeDocument/2006/relationships/image" Target="../media/image76.wmf"/><Relationship Id="rId7" Type="http://schemas.openxmlformats.org/officeDocument/2006/relationships/image" Target="../media/image80.wmf"/><Relationship Id="rId12" Type="http://schemas.openxmlformats.org/officeDocument/2006/relationships/image" Target="../media/image85.emf"/><Relationship Id="rId2" Type="http://schemas.openxmlformats.org/officeDocument/2006/relationships/image" Target="../media/image75.emf"/><Relationship Id="rId16" Type="http://schemas.openxmlformats.org/officeDocument/2006/relationships/image" Target="../media/image89.wmf"/><Relationship Id="rId1" Type="http://schemas.openxmlformats.org/officeDocument/2006/relationships/image" Target="../media/image74.wmf"/><Relationship Id="rId6" Type="http://schemas.openxmlformats.org/officeDocument/2006/relationships/image" Target="../media/image79.wmf"/><Relationship Id="rId11" Type="http://schemas.openxmlformats.org/officeDocument/2006/relationships/image" Target="../media/image84.wmf"/><Relationship Id="rId5" Type="http://schemas.openxmlformats.org/officeDocument/2006/relationships/image" Target="../media/image78.emf"/><Relationship Id="rId15" Type="http://schemas.openxmlformats.org/officeDocument/2006/relationships/image" Target="../media/image88.wmf"/><Relationship Id="rId10" Type="http://schemas.openxmlformats.org/officeDocument/2006/relationships/image" Target="../media/image83.wmf"/><Relationship Id="rId4" Type="http://schemas.openxmlformats.org/officeDocument/2006/relationships/image" Target="../media/image77.wmf"/><Relationship Id="rId9" Type="http://schemas.openxmlformats.org/officeDocument/2006/relationships/image" Target="../media/image82.wmf"/><Relationship Id="rId14" Type="http://schemas.openxmlformats.org/officeDocument/2006/relationships/image" Target="../media/image87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0.png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93.wmf"/><Relationship Id="rId2" Type="http://schemas.openxmlformats.org/officeDocument/2006/relationships/image" Target="../media/image92.wmf"/><Relationship Id="rId1" Type="http://schemas.openxmlformats.org/officeDocument/2006/relationships/image" Target="../media/image91.wmf"/><Relationship Id="rId6" Type="http://schemas.openxmlformats.org/officeDocument/2006/relationships/image" Target="../media/image96.emf"/><Relationship Id="rId5" Type="http://schemas.openxmlformats.org/officeDocument/2006/relationships/image" Target="../media/image95.emf"/><Relationship Id="rId4" Type="http://schemas.openxmlformats.org/officeDocument/2006/relationships/image" Target="../media/image94.e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wmf"/><Relationship Id="rId3" Type="http://schemas.openxmlformats.org/officeDocument/2006/relationships/image" Target="../media/image99.emf"/><Relationship Id="rId7" Type="http://schemas.openxmlformats.org/officeDocument/2006/relationships/image" Target="../media/image103.emf"/><Relationship Id="rId2" Type="http://schemas.openxmlformats.org/officeDocument/2006/relationships/image" Target="../media/image98.emf"/><Relationship Id="rId1" Type="http://schemas.openxmlformats.org/officeDocument/2006/relationships/image" Target="../media/image97.wmf"/><Relationship Id="rId6" Type="http://schemas.openxmlformats.org/officeDocument/2006/relationships/image" Target="../media/image102.emf"/><Relationship Id="rId5" Type="http://schemas.openxmlformats.org/officeDocument/2006/relationships/image" Target="../media/image101.emf"/><Relationship Id="rId10" Type="http://schemas.openxmlformats.org/officeDocument/2006/relationships/image" Target="../media/image106.emf"/><Relationship Id="rId4" Type="http://schemas.openxmlformats.org/officeDocument/2006/relationships/image" Target="../media/image100.emf"/><Relationship Id="rId9" Type="http://schemas.openxmlformats.org/officeDocument/2006/relationships/image" Target="../media/image105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image" Target="../media/image109.png"/><Relationship Id="rId4" Type="http://schemas.openxmlformats.org/officeDocument/2006/relationships/image" Target="../media/image112.png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image" Target="../media/image113.png"/><Relationship Id="rId6" Type="http://schemas.openxmlformats.org/officeDocument/2006/relationships/image" Target="../media/image118.png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wmf"/><Relationship Id="rId7" Type="http://schemas.openxmlformats.org/officeDocument/2006/relationships/image" Target="../media/image127.wmf"/><Relationship Id="rId2" Type="http://schemas.openxmlformats.org/officeDocument/2006/relationships/image" Target="../media/image122.png"/><Relationship Id="rId1" Type="http://schemas.openxmlformats.org/officeDocument/2006/relationships/image" Target="../media/image121.png"/><Relationship Id="rId6" Type="http://schemas.openxmlformats.org/officeDocument/2006/relationships/image" Target="../media/image126.png"/><Relationship Id="rId5" Type="http://schemas.openxmlformats.org/officeDocument/2006/relationships/image" Target="../media/image125.wmf"/><Relationship Id="rId4" Type="http://schemas.openxmlformats.org/officeDocument/2006/relationships/image" Target="../media/image124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2.png"/><Relationship Id="rId1" Type="http://schemas.openxmlformats.org/officeDocument/2006/relationships/image" Target="../media/image121.png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emf"/><Relationship Id="rId3" Type="http://schemas.openxmlformats.org/officeDocument/2006/relationships/image" Target="../media/image130.emf"/><Relationship Id="rId7" Type="http://schemas.openxmlformats.org/officeDocument/2006/relationships/image" Target="../media/image134.emf"/><Relationship Id="rId2" Type="http://schemas.openxmlformats.org/officeDocument/2006/relationships/image" Target="../media/image129.emf"/><Relationship Id="rId1" Type="http://schemas.openxmlformats.org/officeDocument/2006/relationships/image" Target="../media/image128.emf"/><Relationship Id="rId6" Type="http://schemas.openxmlformats.org/officeDocument/2006/relationships/image" Target="../media/image133.wmf"/><Relationship Id="rId5" Type="http://schemas.openxmlformats.org/officeDocument/2006/relationships/image" Target="../media/image132.wmf"/><Relationship Id="rId4" Type="http://schemas.openxmlformats.org/officeDocument/2006/relationships/image" Target="../media/image131.emf"/><Relationship Id="rId9" Type="http://schemas.openxmlformats.org/officeDocument/2006/relationships/image" Target="../media/image136.e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wmf"/><Relationship Id="rId2" Type="http://schemas.openxmlformats.org/officeDocument/2006/relationships/image" Target="../media/image138.wmf"/><Relationship Id="rId1" Type="http://schemas.openxmlformats.org/officeDocument/2006/relationships/image" Target="../media/image137.emf"/><Relationship Id="rId6" Type="http://schemas.openxmlformats.org/officeDocument/2006/relationships/image" Target="../media/image142.emf"/><Relationship Id="rId5" Type="http://schemas.openxmlformats.org/officeDocument/2006/relationships/image" Target="../media/image141.wmf"/><Relationship Id="rId4" Type="http://schemas.openxmlformats.org/officeDocument/2006/relationships/image" Target="../media/image140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wmf"/><Relationship Id="rId13" Type="http://schemas.openxmlformats.org/officeDocument/2006/relationships/image" Target="../media/image155.wmf"/><Relationship Id="rId3" Type="http://schemas.openxmlformats.org/officeDocument/2006/relationships/image" Target="../media/image145.wmf"/><Relationship Id="rId7" Type="http://schemas.openxmlformats.org/officeDocument/2006/relationships/image" Target="../media/image149.wmf"/><Relationship Id="rId12" Type="http://schemas.openxmlformats.org/officeDocument/2006/relationships/image" Target="../media/image154.wmf"/><Relationship Id="rId2" Type="http://schemas.openxmlformats.org/officeDocument/2006/relationships/image" Target="../media/image144.png"/><Relationship Id="rId1" Type="http://schemas.openxmlformats.org/officeDocument/2006/relationships/image" Target="../media/image143.png"/><Relationship Id="rId6" Type="http://schemas.openxmlformats.org/officeDocument/2006/relationships/image" Target="../media/image148.png"/><Relationship Id="rId11" Type="http://schemas.openxmlformats.org/officeDocument/2006/relationships/image" Target="../media/image153.wmf"/><Relationship Id="rId5" Type="http://schemas.openxmlformats.org/officeDocument/2006/relationships/image" Target="../media/image147.wmf"/><Relationship Id="rId10" Type="http://schemas.openxmlformats.org/officeDocument/2006/relationships/image" Target="../media/image152.wmf"/><Relationship Id="rId4" Type="http://schemas.openxmlformats.org/officeDocument/2006/relationships/image" Target="../media/image146.wmf"/><Relationship Id="rId9" Type="http://schemas.openxmlformats.org/officeDocument/2006/relationships/image" Target="../media/image151.wmf"/><Relationship Id="rId14" Type="http://schemas.openxmlformats.org/officeDocument/2006/relationships/image" Target="../media/image156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emf"/><Relationship Id="rId3" Type="http://schemas.openxmlformats.org/officeDocument/2006/relationships/image" Target="../media/image160.emf"/><Relationship Id="rId7" Type="http://schemas.openxmlformats.org/officeDocument/2006/relationships/image" Target="../media/image164.emf"/><Relationship Id="rId2" Type="http://schemas.openxmlformats.org/officeDocument/2006/relationships/image" Target="../media/image159.emf"/><Relationship Id="rId1" Type="http://schemas.openxmlformats.org/officeDocument/2006/relationships/image" Target="../media/image158.emf"/><Relationship Id="rId6" Type="http://schemas.openxmlformats.org/officeDocument/2006/relationships/image" Target="../media/image163.emf"/><Relationship Id="rId5" Type="http://schemas.openxmlformats.org/officeDocument/2006/relationships/image" Target="../media/image162.emf"/><Relationship Id="rId4" Type="http://schemas.openxmlformats.org/officeDocument/2006/relationships/image" Target="../media/image161.emf"/><Relationship Id="rId9" Type="http://schemas.openxmlformats.org/officeDocument/2006/relationships/image" Target="../media/image166.e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emf"/><Relationship Id="rId3" Type="http://schemas.openxmlformats.org/officeDocument/2006/relationships/image" Target="../media/image172.emf"/><Relationship Id="rId7" Type="http://schemas.openxmlformats.org/officeDocument/2006/relationships/image" Target="../media/image176.emf"/><Relationship Id="rId2" Type="http://schemas.openxmlformats.org/officeDocument/2006/relationships/image" Target="../media/image171.emf"/><Relationship Id="rId1" Type="http://schemas.openxmlformats.org/officeDocument/2006/relationships/image" Target="../media/image170.emf"/><Relationship Id="rId6" Type="http://schemas.openxmlformats.org/officeDocument/2006/relationships/image" Target="../media/image175.emf"/><Relationship Id="rId5" Type="http://schemas.openxmlformats.org/officeDocument/2006/relationships/image" Target="../media/image174.emf"/><Relationship Id="rId4" Type="http://schemas.openxmlformats.org/officeDocument/2006/relationships/image" Target="../media/image173.e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wmf"/><Relationship Id="rId13" Type="http://schemas.openxmlformats.org/officeDocument/2006/relationships/image" Target="../media/image190.wmf"/><Relationship Id="rId3" Type="http://schemas.openxmlformats.org/officeDocument/2006/relationships/image" Target="../media/image180.wmf"/><Relationship Id="rId7" Type="http://schemas.openxmlformats.org/officeDocument/2006/relationships/image" Target="../media/image184.wmf"/><Relationship Id="rId12" Type="http://schemas.openxmlformats.org/officeDocument/2006/relationships/image" Target="../media/image189.wmf"/><Relationship Id="rId2" Type="http://schemas.openxmlformats.org/officeDocument/2006/relationships/image" Target="../media/image179.wmf"/><Relationship Id="rId1" Type="http://schemas.openxmlformats.org/officeDocument/2006/relationships/image" Target="../media/image178.wmf"/><Relationship Id="rId6" Type="http://schemas.openxmlformats.org/officeDocument/2006/relationships/image" Target="../media/image183.wmf"/><Relationship Id="rId11" Type="http://schemas.openxmlformats.org/officeDocument/2006/relationships/image" Target="../media/image188.wmf"/><Relationship Id="rId5" Type="http://schemas.openxmlformats.org/officeDocument/2006/relationships/image" Target="../media/image182.wmf"/><Relationship Id="rId15" Type="http://schemas.openxmlformats.org/officeDocument/2006/relationships/image" Target="../media/image192.wmf"/><Relationship Id="rId10" Type="http://schemas.openxmlformats.org/officeDocument/2006/relationships/image" Target="../media/image187.wmf"/><Relationship Id="rId4" Type="http://schemas.openxmlformats.org/officeDocument/2006/relationships/image" Target="../media/image181.wmf"/><Relationship Id="rId9" Type="http://schemas.openxmlformats.org/officeDocument/2006/relationships/image" Target="../media/image186.wmf"/><Relationship Id="rId14" Type="http://schemas.openxmlformats.org/officeDocument/2006/relationships/image" Target="../media/image191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emf"/><Relationship Id="rId2" Type="http://schemas.openxmlformats.org/officeDocument/2006/relationships/image" Target="../media/image195.emf"/><Relationship Id="rId1" Type="http://schemas.openxmlformats.org/officeDocument/2006/relationships/image" Target="../media/image194.e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8.wmf"/><Relationship Id="rId1" Type="http://schemas.openxmlformats.org/officeDocument/2006/relationships/image" Target="../media/image197.w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0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7.emf"/><Relationship Id="rId2" Type="http://schemas.openxmlformats.org/officeDocument/2006/relationships/image" Target="../media/image226.emf"/><Relationship Id="rId1" Type="http://schemas.openxmlformats.org/officeDocument/2006/relationships/image" Target="../media/image225.emf"/><Relationship Id="rId6" Type="http://schemas.openxmlformats.org/officeDocument/2006/relationships/image" Target="../media/image230.emf"/><Relationship Id="rId5" Type="http://schemas.openxmlformats.org/officeDocument/2006/relationships/image" Target="../media/image229.emf"/><Relationship Id="rId4" Type="http://schemas.openxmlformats.org/officeDocument/2006/relationships/image" Target="../media/image228.e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8.emf"/><Relationship Id="rId3" Type="http://schemas.openxmlformats.org/officeDocument/2006/relationships/image" Target="../media/image233.emf"/><Relationship Id="rId7" Type="http://schemas.openxmlformats.org/officeDocument/2006/relationships/image" Target="../media/image237.emf"/><Relationship Id="rId12" Type="http://schemas.openxmlformats.org/officeDocument/2006/relationships/image" Target="../media/image242.emf"/><Relationship Id="rId2" Type="http://schemas.openxmlformats.org/officeDocument/2006/relationships/image" Target="../media/image232.emf"/><Relationship Id="rId1" Type="http://schemas.openxmlformats.org/officeDocument/2006/relationships/image" Target="../media/image231.emf"/><Relationship Id="rId6" Type="http://schemas.openxmlformats.org/officeDocument/2006/relationships/image" Target="../media/image236.emf"/><Relationship Id="rId11" Type="http://schemas.openxmlformats.org/officeDocument/2006/relationships/image" Target="../media/image241.emf"/><Relationship Id="rId5" Type="http://schemas.openxmlformats.org/officeDocument/2006/relationships/image" Target="../media/image235.emf"/><Relationship Id="rId10" Type="http://schemas.openxmlformats.org/officeDocument/2006/relationships/image" Target="../media/image240.emf"/><Relationship Id="rId4" Type="http://schemas.openxmlformats.org/officeDocument/2006/relationships/image" Target="../media/image234.emf"/><Relationship Id="rId9" Type="http://schemas.openxmlformats.org/officeDocument/2006/relationships/image" Target="../media/image239.emf"/></Relationships>
</file>

<file path=ppt/drawings/_rels/vmlDrawing3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emf"/><Relationship Id="rId13" Type="http://schemas.openxmlformats.org/officeDocument/2006/relationships/image" Target="../media/image255.emf"/><Relationship Id="rId3" Type="http://schemas.openxmlformats.org/officeDocument/2006/relationships/image" Target="../media/image245.emf"/><Relationship Id="rId7" Type="http://schemas.openxmlformats.org/officeDocument/2006/relationships/image" Target="../media/image249.emf"/><Relationship Id="rId12" Type="http://schemas.openxmlformats.org/officeDocument/2006/relationships/image" Target="../media/image254.emf"/><Relationship Id="rId2" Type="http://schemas.openxmlformats.org/officeDocument/2006/relationships/image" Target="../media/image244.emf"/><Relationship Id="rId1" Type="http://schemas.openxmlformats.org/officeDocument/2006/relationships/image" Target="../media/image243.emf"/><Relationship Id="rId6" Type="http://schemas.openxmlformats.org/officeDocument/2006/relationships/image" Target="../media/image248.emf"/><Relationship Id="rId11" Type="http://schemas.openxmlformats.org/officeDocument/2006/relationships/image" Target="../media/image253.emf"/><Relationship Id="rId5" Type="http://schemas.openxmlformats.org/officeDocument/2006/relationships/image" Target="../media/image247.emf"/><Relationship Id="rId15" Type="http://schemas.openxmlformats.org/officeDocument/2006/relationships/image" Target="../media/image257.emf"/><Relationship Id="rId10" Type="http://schemas.openxmlformats.org/officeDocument/2006/relationships/image" Target="../media/image252.emf"/><Relationship Id="rId4" Type="http://schemas.openxmlformats.org/officeDocument/2006/relationships/image" Target="../media/image246.emf"/><Relationship Id="rId9" Type="http://schemas.openxmlformats.org/officeDocument/2006/relationships/image" Target="../media/image251.emf"/><Relationship Id="rId14" Type="http://schemas.openxmlformats.org/officeDocument/2006/relationships/image" Target="../media/image256.emf"/></Relationships>
</file>

<file path=ppt/drawings/_rels/vmlDrawing3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5.emf"/><Relationship Id="rId3" Type="http://schemas.openxmlformats.org/officeDocument/2006/relationships/image" Target="../media/image260.emf"/><Relationship Id="rId7" Type="http://schemas.openxmlformats.org/officeDocument/2006/relationships/image" Target="../media/image264.emf"/><Relationship Id="rId2" Type="http://schemas.openxmlformats.org/officeDocument/2006/relationships/image" Target="../media/image259.emf"/><Relationship Id="rId1" Type="http://schemas.openxmlformats.org/officeDocument/2006/relationships/image" Target="../media/image258.emf"/><Relationship Id="rId6" Type="http://schemas.openxmlformats.org/officeDocument/2006/relationships/image" Target="../media/image263.emf"/><Relationship Id="rId5" Type="http://schemas.openxmlformats.org/officeDocument/2006/relationships/image" Target="../media/image262.emf"/><Relationship Id="rId4" Type="http://schemas.openxmlformats.org/officeDocument/2006/relationships/image" Target="../media/image261.emf"/><Relationship Id="rId9" Type="http://schemas.openxmlformats.org/officeDocument/2006/relationships/image" Target="../media/image266.e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3.wmf"/><Relationship Id="rId2" Type="http://schemas.openxmlformats.org/officeDocument/2006/relationships/image" Target="../media/image272.wmf"/><Relationship Id="rId1" Type="http://schemas.openxmlformats.org/officeDocument/2006/relationships/image" Target="../media/image271.wmf"/><Relationship Id="rId4" Type="http://schemas.openxmlformats.org/officeDocument/2006/relationships/image" Target="../media/image274.wmf"/></Relationships>
</file>

<file path=ppt/drawings/_rels/vmlDrawing3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wmf"/><Relationship Id="rId3" Type="http://schemas.openxmlformats.org/officeDocument/2006/relationships/image" Target="../media/image271.wmf"/><Relationship Id="rId7" Type="http://schemas.openxmlformats.org/officeDocument/2006/relationships/image" Target="../media/image279.wmf"/><Relationship Id="rId12" Type="http://schemas.openxmlformats.org/officeDocument/2006/relationships/image" Target="../media/image284.wmf"/><Relationship Id="rId2" Type="http://schemas.openxmlformats.org/officeDocument/2006/relationships/image" Target="../media/image276.wmf"/><Relationship Id="rId1" Type="http://schemas.openxmlformats.org/officeDocument/2006/relationships/image" Target="../media/image275.wmf"/><Relationship Id="rId6" Type="http://schemas.openxmlformats.org/officeDocument/2006/relationships/image" Target="../media/image278.wmf"/><Relationship Id="rId11" Type="http://schemas.openxmlformats.org/officeDocument/2006/relationships/image" Target="../media/image283.wmf"/><Relationship Id="rId5" Type="http://schemas.openxmlformats.org/officeDocument/2006/relationships/image" Target="../media/image277.wmf"/><Relationship Id="rId10" Type="http://schemas.openxmlformats.org/officeDocument/2006/relationships/image" Target="../media/image282.wmf"/><Relationship Id="rId4" Type="http://schemas.openxmlformats.org/officeDocument/2006/relationships/image" Target="../media/image272.wmf"/><Relationship Id="rId9" Type="http://schemas.openxmlformats.org/officeDocument/2006/relationships/image" Target="../media/image28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10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19525" y="0"/>
            <a:ext cx="29210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DB82FED-50B0-4241-8444-D535AD1097FB}" type="datetimeFigureOut">
              <a:rPr lang="zh-CN" altLang="en-US"/>
              <a:pPr>
                <a:defRPr/>
              </a:pPr>
              <a:t>2026/10/9 Friday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377363"/>
            <a:ext cx="2921000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19525" y="9377363"/>
            <a:ext cx="2921000" cy="4937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E496F09-220B-45F0-9027-B9AB057F934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63788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10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9525" y="0"/>
            <a:ext cx="29210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62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3288" y="739775"/>
            <a:ext cx="4935537" cy="37036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4688" y="4689475"/>
            <a:ext cx="5392737" cy="4443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50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7363"/>
            <a:ext cx="2921000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50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9525" y="9377363"/>
            <a:ext cx="2921000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868E15F-3A02-4A8F-BA73-4B7CB962674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99876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B0BA7D6-CED9-4E15-AF76-4A2C13997CFD}" type="slidenum">
              <a:rPr lang="en-US" altLang="zh-CN"/>
              <a:pPr/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95997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B7CCB73-70CD-4056-A874-CD159EA40799}" type="slidenum">
              <a:rPr lang="en-US" altLang="zh-CN" sz="1200"/>
              <a:pPr eaLnBrk="1" hangingPunct="1"/>
              <a:t>33</a:t>
            </a:fld>
            <a:endParaRPr lang="en-US" altLang="zh-CN" sz="120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8525" y="4689475"/>
            <a:ext cx="4945063" cy="44434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892039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6D789D8-D89F-4C17-A9CD-C065A855E898}" type="slidenum">
              <a:rPr lang="en-US" altLang="zh-CN" sz="1200" b="0"/>
              <a:pPr eaLnBrk="1" hangingPunct="1"/>
              <a:t>60</a:t>
            </a:fld>
            <a:endParaRPr lang="en-US" altLang="zh-CN" sz="1200" b="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813506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990539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6797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4085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004129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3893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57510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2804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371371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793269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392808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1406703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11578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1.png"/><Relationship Id="rId26" Type="http://schemas.openxmlformats.org/officeDocument/2006/relationships/oleObject" Target="../embeddings/oleObject4.bin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5" Type="http://schemas.openxmlformats.org/officeDocument/2006/relationships/hyperlink" Target="../&#31532;&#19968;&#31456;/chap1.ppt" TargetMode="External"/><Relationship Id="rId2" Type="http://schemas.openxmlformats.org/officeDocument/2006/relationships/slideLayout" Target="../slideLayouts/slideLayout2.xml"/><Relationship Id="rId16" Type="http://schemas.openxmlformats.org/officeDocument/2006/relationships/hyperlink" Target="../&#31532;&#20108;&#31456;/chap2.ppt" TargetMode="External"/><Relationship Id="rId20" Type="http://schemas.openxmlformats.org/officeDocument/2006/relationships/oleObject" Target="../embeddings/oleObject2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5.jpeg"/><Relationship Id="rId23" Type="http://schemas.openxmlformats.org/officeDocument/2006/relationships/oleObject" Target="../embeddings/oleObject3.bin"/><Relationship Id="rId10" Type="http://schemas.openxmlformats.org/officeDocument/2006/relationships/slideLayout" Target="../slideLayouts/slideLayout10.xml"/><Relationship Id="rId19" Type="http://schemas.openxmlformats.org/officeDocument/2006/relationships/hyperlink" Target="../&#31532;&#22235;&#31456;/chap4.ppt" TargetMode="Externa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vmlDrawing" Target="../drawings/vmlDrawing1.vml"/><Relationship Id="rId22" Type="http://schemas.openxmlformats.org/officeDocument/2006/relationships/hyperlink" Target="../&#31532;&#20116;&#31456;/chap5.ppt" TargetMode="External"/><Relationship Id="rId27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Picture 7" descr="背景(静力学)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AutoShape 8">
            <a:hlinkClick r:id="" action="ppaction://hlinkshowjump?jump=previousslide" highlightClick="1"/>
          </p:cNvPr>
          <p:cNvSpPr>
            <a:spLocks noChangeArrowheads="1"/>
          </p:cNvSpPr>
          <p:nvPr userDrawn="1"/>
        </p:nvSpPr>
        <p:spPr bwMode="auto">
          <a:xfrm>
            <a:off x="228600" y="6248400"/>
            <a:ext cx="381000" cy="381000"/>
          </a:xfrm>
          <a:prstGeom prst="actionButtonBackPrevious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 w="9525">
            <a:solidFill>
              <a:srgbClr val="FF99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033" name="AutoShape 9">
            <a:hlinkClick r:id="" action="ppaction://hlinkshowjump?jump=nextslide" highlightClick="1"/>
          </p:cNvPr>
          <p:cNvSpPr>
            <a:spLocks noChangeAspect="1" noChangeArrowheads="1"/>
          </p:cNvSpPr>
          <p:nvPr userDrawn="1"/>
        </p:nvSpPr>
        <p:spPr bwMode="auto">
          <a:xfrm>
            <a:off x="762000" y="6248400"/>
            <a:ext cx="381000" cy="381000"/>
          </a:xfrm>
          <a:prstGeom prst="actionButtonForwardNext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 w="9525">
            <a:solidFill>
              <a:srgbClr val="FF99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graphicFrame>
        <p:nvGraphicFramePr>
          <p:cNvPr id="1026" name="Object 10">
            <a:hlinkClick r:id="rId16" action="ppaction://hlinkpres?slideindex=1&amp;slidetitle="/>
          </p:cNvPr>
          <p:cNvGraphicFramePr>
            <a:graphicFrameLocks noChangeAspect="1"/>
          </p:cNvGraphicFramePr>
          <p:nvPr userDrawn="1"/>
        </p:nvGraphicFramePr>
        <p:xfrm>
          <a:off x="0" y="1600200"/>
          <a:ext cx="503238" cy="173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" name="Image" r:id="rId17" imgW="557643" imgH="1926014" progId="Photoshop.Image.6">
                  <p:embed/>
                </p:oleObj>
              </mc:Choice>
              <mc:Fallback>
                <p:oleObj name="Image" r:id="rId17" imgW="557643" imgH="1926014" progId="Photoshop.Image.6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600200"/>
                        <a:ext cx="503238" cy="173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12">
            <a:hlinkClick r:id="rId19" action="ppaction://hlinkpres?slideindex=1&amp;slidetitle="/>
          </p:cNvPr>
          <p:cNvGraphicFramePr>
            <a:graphicFrameLocks noChangeAspect="1"/>
          </p:cNvGraphicFramePr>
          <p:nvPr userDrawn="1"/>
        </p:nvGraphicFramePr>
        <p:xfrm>
          <a:off x="36513" y="3352800"/>
          <a:ext cx="468312" cy="109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Image" r:id="rId20" imgW="518029" imgH="1209956" progId="Photoshop.Image.6">
                  <p:embed/>
                </p:oleObj>
              </mc:Choice>
              <mc:Fallback>
                <p:oleObj name="Image" r:id="rId20" imgW="518029" imgH="1209956" progId="Photoshop.Image.6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13" y="3352800"/>
                        <a:ext cx="468312" cy="1093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13">
            <a:hlinkClick r:id="rId22" action="ppaction://hlinkpres?slideindex=1&amp;slidetitle="/>
          </p:cNvPr>
          <p:cNvGraphicFramePr>
            <a:graphicFrameLocks noChangeAspect="1"/>
          </p:cNvGraphicFramePr>
          <p:nvPr userDrawn="1"/>
        </p:nvGraphicFramePr>
        <p:xfrm>
          <a:off x="90488" y="4419600"/>
          <a:ext cx="417512" cy="145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" name="Image" r:id="rId23" imgW="462944" imgH="1618217" progId="Photoshop.Image.6">
                  <p:embed/>
                </p:oleObj>
              </mc:Choice>
              <mc:Fallback>
                <p:oleObj name="Image" r:id="rId23" imgW="462944" imgH="1618217" progId="Photoshop.Image.6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88" y="4419600"/>
                        <a:ext cx="417512" cy="145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" name="Object 14">
            <a:hlinkClick r:id="rId25" action="ppaction://hlinkpres?slideindex=1&amp;slidetitle="/>
          </p:cNvPr>
          <p:cNvGraphicFramePr>
            <a:graphicFrameLocks noChangeAspect="1"/>
          </p:cNvGraphicFramePr>
          <p:nvPr userDrawn="1"/>
        </p:nvGraphicFramePr>
        <p:xfrm>
          <a:off x="28575" y="0"/>
          <a:ext cx="471488" cy="166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" name="Image" r:id="rId26" imgW="520900" imgH="1837792" progId="Photoshop.Image.6">
                  <p:embed/>
                </p:oleObj>
              </mc:Choice>
              <mc:Fallback>
                <p:oleObj name="Image" r:id="rId26" imgW="520900" imgH="1837792" progId="Photoshop.Image.6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" y="0"/>
                        <a:ext cx="471488" cy="166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6.bin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8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1.png"/><Relationship Id="rId4" Type="http://schemas.openxmlformats.org/officeDocument/2006/relationships/image" Target="../media/image10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2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13" Type="http://schemas.openxmlformats.org/officeDocument/2006/relationships/oleObject" Target="../embeddings/oleObject18.bin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19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16.e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4.bin"/><Relationship Id="rId15" Type="http://schemas.openxmlformats.org/officeDocument/2006/relationships/oleObject" Target="../embeddings/oleObject19.bin"/><Relationship Id="rId10" Type="http://schemas.openxmlformats.org/officeDocument/2006/relationships/image" Target="../media/image18.emf"/><Relationship Id="rId4" Type="http://schemas.openxmlformats.org/officeDocument/2006/relationships/image" Target="../media/image15.emf"/><Relationship Id="rId9" Type="http://schemas.openxmlformats.org/officeDocument/2006/relationships/oleObject" Target="../embeddings/oleObject16.bin"/><Relationship Id="rId14" Type="http://schemas.openxmlformats.org/officeDocument/2006/relationships/image" Target="../media/image20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7.xml"/><Relationship Id="rId1" Type="http://schemas.openxmlformats.org/officeDocument/2006/relationships/video" Target="file:///F:\2015&#29702;&#21147;&#35838;&#20214;\&#38745;&#21147;&#23398;\J5L&#38231;&#24202;.avi" TargetMode="Externa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5.bin"/><Relationship Id="rId18" Type="http://schemas.openxmlformats.org/officeDocument/2006/relationships/image" Target="../media/image30.emf"/><Relationship Id="rId26" Type="http://schemas.openxmlformats.org/officeDocument/2006/relationships/image" Target="../media/image34.emf"/><Relationship Id="rId21" Type="http://schemas.openxmlformats.org/officeDocument/2006/relationships/oleObject" Target="../embeddings/oleObject29.bin"/><Relationship Id="rId34" Type="http://schemas.openxmlformats.org/officeDocument/2006/relationships/image" Target="../media/image38.emf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27.emf"/><Relationship Id="rId17" Type="http://schemas.openxmlformats.org/officeDocument/2006/relationships/oleObject" Target="../embeddings/oleObject27.bin"/><Relationship Id="rId25" Type="http://schemas.openxmlformats.org/officeDocument/2006/relationships/oleObject" Target="../embeddings/oleObject31.bin"/><Relationship Id="rId33" Type="http://schemas.openxmlformats.org/officeDocument/2006/relationships/oleObject" Target="../embeddings/oleObject35.bin"/><Relationship Id="rId38" Type="http://schemas.openxmlformats.org/officeDocument/2006/relationships/image" Target="../media/image40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9.emf"/><Relationship Id="rId20" Type="http://schemas.openxmlformats.org/officeDocument/2006/relationships/image" Target="../media/image31.emf"/><Relationship Id="rId29" Type="http://schemas.openxmlformats.org/officeDocument/2006/relationships/oleObject" Target="../embeddings/oleObject33.bin"/><Relationship Id="rId1" Type="http://schemas.openxmlformats.org/officeDocument/2006/relationships/vmlDrawing" Target="../drawings/vmlDrawing6.vml"/><Relationship Id="rId6" Type="http://schemas.openxmlformats.org/officeDocument/2006/relationships/image" Target="../media/image24.emf"/><Relationship Id="rId11" Type="http://schemas.openxmlformats.org/officeDocument/2006/relationships/oleObject" Target="../embeddings/oleObject24.bin"/><Relationship Id="rId24" Type="http://schemas.openxmlformats.org/officeDocument/2006/relationships/image" Target="../media/image33.emf"/><Relationship Id="rId32" Type="http://schemas.openxmlformats.org/officeDocument/2006/relationships/image" Target="../media/image37.emf"/><Relationship Id="rId37" Type="http://schemas.openxmlformats.org/officeDocument/2006/relationships/oleObject" Target="../embeddings/oleObject37.bin"/><Relationship Id="rId5" Type="http://schemas.openxmlformats.org/officeDocument/2006/relationships/oleObject" Target="../embeddings/oleObject21.bin"/><Relationship Id="rId15" Type="http://schemas.openxmlformats.org/officeDocument/2006/relationships/oleObject" Target="../embeddings/oleObject26.bin"/><Relationship Id="rId23" Type="http://schemas.openxmlformats.org/officeDocument/2006/relationships/oleObject" Target="../embeddings/oleObject30.bin"/><Relationship Id="rId28" Type="http://schemas.openxmlformats.org/officeDocument/2006/relationships/image" Target="../media/image35.emf"/><Relationship Id="rId36" Type="http://schemas.openxmlformats.org/officeDocument/2006/relationships/image" Target="../media/image39.emf"/><Relationship Id="rId10" Type="http://schemas.openxmlformats.org/officeDocument/2006/relationships/image" Target="../media/image26.emf"/><Relationship Id="rId19" Type="http://schemas.openxmlformats.org/officeDocument/2006/relationships/oleObject" Target="../embeddings/oleObject28.bin"/><Relationship Id="rId31" Type="http://schemas.openxmlformats.org/officeDocument/2006/relationships/oleObject" Target="../embeddings/oleObject34.bin"/><Relationship Id="rId4" Type="http://schemas.openxmlformats.org/officeDocument/2006/relationships/image" Target="../media/image23.emf"/><Relationship Id="rId9" Type="http://schemas.openxmlformats.org/officeDocument/2006/relationships/oleObject" Target="../embeddings/oleObject23.bin"/><Relationship Id="rId14" Type="http://schemas.openxmlformats.org/officeDocument/2006/relationships/image" Target="../media/image28.emf"/><Relationship Id="rId22" Type="http://schemas.openxmlformats.org/officeDocument/2006/relationships/image" Target="../media/image32.emf"/><Relationship Id="rId27" Type="http://schemas.openxmlformats.org/officeDocument/2006/relationships/oleObject" Target="../embeddings/oleObject32.bin"/><Relationship Id="rId30" Type="http://schemas.openxmlformats.org/officeDocument/2006/relationships/image" Target="../media/image36.emf"/><Relationship Id="rId35" Type="http://schemas.openxmlformats.org/officeDocument/2006/relationships/oleObject" Target="../embeddings/oleObject36.bin"/><Relationship Id="rId8" Type="http://schemas.openxmlformats.org/officeDocument/2006/relationships/image" Target="../media/image25.emf"/><Relationship Id="rId3" Type="http://schemas.openxmlformats.org/officeDocument/2006/relationships/oleObject" Target="../embeddings/oleObject20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oleObject" Target="../embeddings/oleObject42.bin"/><Relationship Id="rId3" Type="http://schemas.openxmlformats.org/officeDocument/2006/relationships/image" Target="../media/image48.jpeg"/><Relationship Id="rId7" Type="http://schemas.openxmlformats.org/officeDocument/2006/relationships/oleObject" Target="../embeddings/oleObject39.bin"/><Relationship Id="rId12" Type="http://schemas.openxmlformats.org/officeDocument/2006/relationships/image" Target="../media/image4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7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42.wmf"/><Relationship Id="rId11" Type="http://schemas.openxmlformats.org/officeDocument/2006/relationships/oleObject" Target="../embeddings/oleObject41.bin"/><Relationship Id="rId5" Type="http://schemas.openxmlformats.org/officeDocument/2006/relationships/oleObject" Target="../embeddings/oleObject38.bin"/><Relationship Id="rId15" Type="http://schemas.openxmlformats.org/officeDocument/2006/relationships/oleObject" Target="../embeddings/oleObject43.bin"/><Relationship Id="rId10" Type="http://schemas.openxmlformats.org/officeDocument/2006/relationships/image" Target="../media/image44.wmf"/><Relationship Id="rId4" Type="http://schemas.openxmlformats.org/officeDocument/2006/relationships/image" Target="../media/image49.jpeg"/><Relationship Id="rId9" Type="http://schemas.openxmlformats.org/officeDocument/2006/relationships/oleObject" Target="../embeddings/oleObject40.bin"/><Relationship Id="rId14" Type="http://schemas.openxmlformats.org/officeDocument/2006/relationships/image" Target="../media/image46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7" Type="http://schemas.openxmlformats.org/officeDocument/2006/relationships/image" Target="../media/image5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51.png"/><Relationship Id="rId5" Type="http://schemas.openxmlformats.org/officeDocument/2006/relationships/oleObject" Target="../embeddings/oleObject45.bin"/><Relationship Id="rId4" Type="http://schemas.openxmlformats.org/officeDocument/2006/relationships/image" Target="../media/image5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oleObject" Target="../embeddings/oleObject46.bin"/><Relationship Id="rId7" Type="http://schemas.openxmlformats.org/officeDocument/2006/relationships/oleObject" Target="../embeddings/oleObject4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47.bin"/><Relationship Id="rId10" Type="http://schemas.openxmlformats.org/officeDocument/2006/relationships/image" Target="../media/image54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49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56.png"/><Relationship Id="rId4" Type="http://schemas.openxmlformats.org/officeDocument/2006/relationships/image" Target="../media/image55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5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8.wmf"/><Relationship Id="rId5" Type="http://schemas.openxmlformats.org/officeDocument/2006/relationships/oleObject" Target="../embeddings/oleObject52.bin"/><Relationship Id="rId10" Type="http://schemas.openxmlformats.org/officeDocument/2006/relationships/image" Target="../media/image60.png"/><Relationship Id="rId4" Type="http://schemas.openxmlformats.org/officeDocument/2006/relationships/image" Target="../media/image57.wmf"/><Relationship Id="rId9" Type="http://schemas.openxmlformats.org/officeDocument/2006/relationships/oleObject" Target="../embeddings/oleObject54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3" Type="http://schemas.openxmlformats.org/officeDocument/2006/relationships/oleObject" Target="../embeddings/oleObject55.bin"/><Relationship Id="rId7" Type="http://schemas.openxmlformats.org/officeDocument/2006/relationships/oleObject" Target="../embeddings/oleObject5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62.wmf"/><Relationship Id="rId5" Type="http://schemas.openxmlformats.org/officeDocument/2006/relationships/oleObject" Target="../embeddings/oleObject56.bin"/><Relationship Id="rId4" Type="http://schemas.openxmlformats.org/officeDocument/2006/relationships/image" Target="../media/image61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emf"/><Relationship Id="rId3" Type="http://schemas.openxmlformats.org/officeDocument/2006/relationships/oleObject" Target="../embeddings/oleObject58.bin"/><Relationship Id="rId7" Type="http://schemas.openxmlformats.org/officeDocument/2006/relationships/oleObject" Target="../embeddings/oleObject6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65.emf"/><Relationship Id="rId5" Type="http://schemas.openxmlformats.org/officeDocument/2006/relationships/oleObject" Target="../embeddings/oleObject59.bin"/><Relationship Id="rId10" Type="http://schemas.openxmlformats.org/officeDocument/2006/relationships/image" Target="../media/image67.emf"/><Relationship Id="rId4" Type="http://schemas.openxmlformats.org/officeDocument/2006/relationships/image" Target="../media/image64.emf"/><Relationship Id="rId9" Type="http://schemas.openxmlformats.org/officeDocument/2006/relationships/oleObject" Target="../embeddings/oleObject61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13" Type="http://schemas.openxmlformats.org/officeDocument/2006/relationships/oleObject" Target="../embeddings/oleObject67.bin"/><Relationship Id="rId3" Type="http://schemas.openxmlformats.org/officeDocument/2006/relationships/oleObject" Target="../embeddings/oleObject62.bin"/><Relationship Id="rId7" Type="http://schemas.openxmlformats.org/officeDocument/2006/relationships/oleObject" Target="../embeddings/oleObject64.bin"/><Relationship Id="rId12" Type="http://schemas.openxmlformats.org/officeDocument/2006/relationships/image" Target="../media/image72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69.emf"/><Relationship Id="rId11" Type="http://schemas.openxmlformats.org/officeDocument/2006/relationships/oleObject" Target="../embeddings/oleObject66.bin"/><Relationship Id="rId5" Type="http://schemas.openxmlformats.org/officeDocument/2006/relationships/oleObject" Target="../embeddings/oleObject63.bin"/><Relationship Id="rId10" Type="http://schemas.openxmlformats.org/officeDocument/2006/relationships/image" Target="../media/image71.emf"/><Relationship Id="rId4" Type="http://schemas.openxmlformats.org/officeDocument/2006/relationships/image" Target="../media/image68.wmf"/><Relationship Id="rId9" Type="http://schemas.openxmlformats.org/officeDocument/2006/relationships/oleObject" Target="../embeddings/oleObject65.bin"/><Relationship Id="rId14" Type="http://schemas.openxmlformats.org/officeDocument/2006/relationships/image" Target="../media/image73.emf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8.emf"/><Relationship Id="rId18" Type="http://schemas.openxmlformats.org/officeDocument/2006/relationships/oleObject" Target="../embeddings/oleObject75.bin"/><Relationship Id="rId26" Type="http://schemas.openxmlformats.org/officeDocument/2006/relationships/oleObject" Target="../embeddings/oleObject79.bin"/><Relationship Id="rId3" Type="http://schemas.openxmlformats.org/officeDocument/2006/relationships/oleObject" Target="../embeddings/oleObject68.bin"/><Relationship Id="rId21" Type="http://schemas.openxmlformats.org/officeDocument/2006/relationships/image" Target="../media/image82.wmf"/><Relationship Id="rId34" Type="http://schemas.openxmlformats.org/officeDocument/2006/relationships/oleObject" Target="../embeddings/oleObject83.bin"/><Relationship Id="rId7" Type="http://schemas.openxmlformats.org/officeDocument/2006/relationships/oleObject" Target="../embeddings/oleObject70.bin"/><Relationship Id="rId12" Type="http://schemas.openxmlformats.org/officeDocument/2006/relationships/oleObject" Target="../embeddings/oleObject72.bin"/><Relationship Id="rId17" Type="http://schemas.openxmlformats.org/officeDocument/2006/relationships/image" Target="../media/image80.wmf"/><Relationship Id="rId25" Type="http://schemas.openxmlformats.org/officeDocument/2006/relationships/image" Target="../media/image84.wmf"/><Relationship Id="rId33" Type="http://schemas.openxmlformats.org/officeDocument/2006/relationships/image" Target="../media/image8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4.bin"/><Relationship Id="rId20" Type="http://schemas.openxmlformats.org/officeDocument/2006/relationships/oleObject" Target="../embeddings/oleObject76.bin"/><Relationship Id="rId29" Type="http://schemas.openxmlformats.org/officeDocument/2006/relationships/image" Target="../media/image86.w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75.emf"/><Relationship Id="rId11" Type="http://schemas.openxmlformats.org/officeDocument/2006/relationships/image" Target="../media/image77.wmf"/><Relationship Id="rId24" Type="http://schemas.openxmlformats.org/officeDocument/2006/relationships/oleObject" Target="../embeddings/oleObject78.bin"/><Relationship Id="rId32" Type="http://schemas.openxmlformats.org/officeDocument/2006/relationships/oleObject" Target="../embeddings/oleObject82.bin"/><Relationship Id="rId5" Type="http://schemas.openxmlformats.org/officeDocument/2006/relationships/oleObject" Target="../embeddings/oleObject69.bin"/><Relationship Id="rId15" Type="http://schemas.openxmlformats.org/officeDocument/2006/relationships/image" Target="../media/image79.wmf"/><Relationship Id="rId23" Type="http://schemas.openxmlformats.org/officeDocument/2006/relationships/image" Target="../media/image83.wmf"/><Relationship Id="rId28" Type="http://schemas.openxmlformats.org/officeDocument/2006/relationships/oleObject" Target="../embeddings/oleObject80.bin"/><Relationship Id="rId10" Type="http://schemas.openxmlformats.org/officeDocument/2006/relationships/oleObject" Target="../embeddings/oleObject71.bin"/><Relationship Id="rId19" Type="http://schemas.openxmlformats.org/officeDocument/2006/relationships/image" Target="../media/image81.png"/><Relationship Id="rId31" Type="http://schemas.openxmlformats.org/officeDocument/2006/relationships/image" Target="../media/image87.emf"/><Relationship Id="rId4" Type="http://schemas.openxmlformats.org/officeDocument/2006/relationships/image" Target="../media/image74.wmf"/><Relationship Id="rId9" Type="http://schemas.openxmlformats.org/officeDocument/2006/relationships/slide" Target="slide11.xml"/><Relationship Id="rId14" Type="http://schemas.openxmlformats.org/officeDocument/2006/relationships/oleObject" Target="../embeddings/oleObject73.bin"/><Relationship Id="rId22" Type="http://schemas.openxmlformats.org/officeDocument/2006/relationships/oleObject" Target="../embeddings/oleObject77.bin"/><Relationship Id="rId27" Type="http://schemas.openxmlformats.org/officeDocument/2006/relationships/image" Target="../media/image85.emf"/><Relationship Id="rId30" Type="http://schemas.openxmlformats.org/officeDocument/2006/relationships/oleObject" Target="../embeddings/oleObject81.bin"/><Relationship Id="rId35" Type="http://schemas.openxmlformats.org/officeDocument/2006/relationships/image" Target="../media/image89.wmf"/><Relationship Id="rId8" Type="http://schemas.openxmlformats.org/officeDocument/2006/relationships/image" Target="../media/image76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9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wmf"/><Relationship Id="rId13" Type="http://schemas.openxmlformats.org/officeDocument/2006/relationships/oleObject" Target="../embeddings/oleObject90.bin"/><Relationship Id="rId3" Type="http://schemas.openxmlformats.org/officeDocument/2006/relationships/oleObject" Target="../embeddings/oleObject85.bin"/><Relationship Id="rId7" Type="http://schemas.openxmlformats.org/officeDocument/2006/relationships/oleObject" Target="../embeddings/oleObject87.bin"/><Relationship Id="rId12" Type="http://schemas.openxmlformats.org/officeDocument/2006/relationships/image" Target="../media/image95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92.wmf"/><Relationship Id="rId11" Type="http://schemas.openxmlformats.org/officeDocument/2006/relationships/oleObject" Target="../embeddings/oleObject89.bin"/><Relationship Id="rId5" Type="http://schemas.openxmlformats.org/officeDocument/2006/relationships/oleObject" Target="../embeddings/oleObject86.bin"/><Relationship Id="rId10" Type="http://schemas.openxmlformats.org/officeDocument/2006/relationships/image" Target="../media/image94.emf"/><Relationship Id="rId4" Type="http://schemas.openxmlformats.org/officeDocument/2006/relationships/image" Target="../media/image91.wmf"/><Relationship Id="rId9" Type="http://schemas.openxmlformats.org/officeDocument/2006/relationships/oleObject" Target="../embeddings/oleObject88.bin"/><Relationship Id="rId14" Type="http://schemas.openxmlformats.org/officeDocument/2006/relationships/image" Target="../media/image96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3.bin"/><Relationship Id="rId13" Type="http://schemas.openxmlformats.org/officeDocument/2006/relationships/image" Target="../media/image101.emf"/><Relationship Id="rId18" Type="http://schemas.openxmlformats.org/officeDocument/2006/relationships/oleObject" Target="../embeddings/oleObject98.bin"/><Relationship Id="rId3" Type="http://schemas.openxmlformats.org/officeDocument/2006/relationships/image" Target="../media/image107.png"/><Relationship Id="rId21" Type="http://schemas.openxmlformats.org/officeDocument/2006/relationships/oleObject" Target="../embeddings/oleObject99.bin"/><Relationship Id="rId7" Type="http://schemas.openxmlformats.org/officeDocument/2006/relationships/image" Target="../media/image98.emf"/><Relationship Id="rId12" Type="http://schemas.openxmlformats.org/officeDocument/2006/relationships/oleObject" Target="../embeddings/oleObject95.bin"/><Relationship Id="rId17" Type="http://schemas.openxmlformats.org/officeDocument/2006/relationships/image" Target="../media/image103.emf"/><Relationship Id="rId2" Type="http://schemas.openxmlformats.org/officeDocument/2006/relationships/slideLayout" Target="../slideLayouts/slideLayout4.xml"/><Relationship Id="rId16" Type="http://schemas.openxmlformats.org/officeDocument/2006/relationships/oleObject" Target="../embeddings/oleObject97.bin"/><Relationship Id="rId20" Type="http://schemas.openxmlformats.org/officeDocument/2006/relationships/image" Target="../media/image108.png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92.bin"/><Relationship Id="rId11" Type="http://schemas.openxmlformats.org/officeDocument/2006/relationships/image" Target="../media/image100.emf"/><Relationship Id="rId24" Type="http://schemas.openxmlformats.org/officeDocument/2006/relationships/image" Target="../media/image106.emf"/><Relationship Id="rId5" Type="http://schemas.openxmlformats.org/officeDocument/2006/relationships/image" Target="../media/image97.wmf"/><Relationship Id="rId15" Type="http://schemas.openxmlformats.org/officeDocument/2006/relationships/image" Target="../media/image102.emf"/><Relationship Id="rId23" Type="http://schemas.openxmlformats.org/officeDocument/2006/relationships/oleObject" Target="../embeddings/oleObject100.bin"/><Relationship Id="rId10" Type="http://schemas.openxmlformats.org/officeDocument/2006/relationships/oleObject" Target="../embeddings/oleObject94.bin"/><Relationship Id="rId19" Type="http://schemas.openxmlformats.org/officeDocument/2006/relationships/image" Target="../media/image104.wmf"/><Relationship Id="rId4" Type="http://schemas.openxmlformats.org/officeDocument/2006/relationships/oleObject" Target="../embeddings/oleObject91.bin"/><Relationship Id="rId9" Type="http://schemas.openxmlformats.org/officeDocument/2006/relationships/image" Target="../media/image99.emf"/><Relationship Id="rId14" Type="http://schemas.openxmlformats.org/officeDocument/2006/relationships/oleObject" Target="../embeddings/oleObject96.bin"/><Relationship Id="rId22" Type="http://schemas.openxmlformats.org/officeDocument/2006/relationships/image" Target="../media/image105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oleObject" Target="../embeddings/oleObject101.bin"/><Relationship Id="rId7" Type="http://schemas.openxmlformats.org/officeDocument/2006/relationships/oleObject" Target="../embeddings/oleObject10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10.png"/><Relationship Id="rId5" Type="http://schemas.openxmlformats.org/officeDocument/2006/relationships/oleObject" Target="../embeddings/oleObject102.bin"/><Relationship Id="rId10" Type="http://schemas.openxmlformats.org/officeDocument/2006/relationships/image" Target="../media/image112.png"/><Relationship Id="rId4" Type="http://schemas.openxmlformats.org/officeDocument/2006/relationships/image" Target="../media/image109.png"/><Relationship Id="rId9" Type="http://schemas.openxmlformats.org/officeDocument/2006/relationships/oleObject" Target="../embeddings/oleObject104.bin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oleObject" Target="../embeddings/oleObject110.bin"/><Relationship Id="rId3" Type="http://schemas.openxmlformats.org/officeDocument/2006/relationships/oleObject" Target="../embeddings/oleObject105.bin"/><Relationship Id="rId7" Type="http://schemas.openxmlformats.org/officeDocument/2006/relationships/oleObject" Target="../embeddings/oleObject107.bin"/><Relationship Id="rId12" Type="http://schemas.openxmlformats.org/officeDocument/2006/relationships/image" Target="../media/image117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0.png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14.png"/><Relationship Id="rId11" Type="http://schemas.openxmlformats.org/officeDocument/2006/relationships/oleObject" Target="../embeddings/oleObject109.bin"/><Relationship Id="rId5" Type="http://schemas.openxmlformats.org/officeDocument/2006/relationships/oleObject" Target="../embeddings/oleObject106.bin"/><Relationship Id="rId15" Type="http://schemas.openxmlformats.org/officeDocument/2006/relationships/image" Target="../media/image119.png"/><Relationship Id="rId10" Type="http://schemas.openxmlformats.org/officeDocument/2006/relationships/image" Target="../media/image116.png"/><Relationship Id="rId4" Type="http://schemas.openxmlformats.org/officeDocument/2006/relationships/image" Target="../media/image113.png"/><Relationship Id="rId9" Type="http://schemas.openxmlformats.org/officeDocument/2006/relationships/oleObject" Target="../embeddings/oleObject108.bin"/><Relationship Id="rId14" Type="http://schemas.openxmlformats.org/officeDocument/2006/relationships/image" Target="../media/image11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wmf"/><Relationship Id="rId13" Type="http://schemas.openxmlformats.org/officeDocument/2006/relationships/oleObject" Target="../embeddings/oleObject116.bin"/><Relationship Id="rId3" Type="http://schemas.openxmlformats.org/officeDocument/2006/relationships/oleObject" Target="../embeddings/oleObject111.bin"/><Relationship Id="rId7" Type="http://schemas.openxmlformats.org/officeDocument/2006/relationships/oleObject" Target="../embeddings/oleObject113.bin"/><Relationship Id="rId12" Type="http://schemas.openxmlformats.org/officeDocument/2006/relationships/image" Target="../media/image12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7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22.png"/><Relationship Id="rId11" Type="http://schemas.openxmlformats.org/officeDocument/2006/relationships/oleObject" Target="../embeddings/oleObject115.bin"/><Relationship Id="rId5" Type="http://schemas.openxmlformats.org/officeDocument/2006/relationships/oleObject" Target="../embeddings/oleObject112.bin"/><Relationship Id="rId15" Type="http://schemas.openxmlformats.org/officeDocument/2006/relationships/oleObject" Target="../embeddings/oleObject117.bin"/><Relationship Id="rId10" Type="http://schemas.openxmlformats.org/officeDocument/2006/relationships/image" Target="../media/image124.wmf"/><Relationship Id="rId4" Type="http://schemas.openxmlformats.org/officeDocument/2006/relationships/image" Target="../media/image121.png"/><Relationship Id="rId9" Type="http://schemas.openxmlformats.org/officeDocument/2006/relationships/oleObject" Target="../embeddings/oleObject114.bin"/><Relationship Id="rId14" Type="http://schemas.openxmlformats.org/officeDocument/2006/relationships/image" Target="../media/image12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3" Type="http://schemas.openxmlformats.org/officeDocument/2006/relationships/oleObject" Target="../embeddings/oleObject118.bin"/><Relationship Id="rId7" Type="http://schemas.openxmlformats.org/officeDocument/2006/relationships/oleObject" Target="../embeddings/oleObject1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22.png"/><Relationship Id="rId5" Type="http://schemas.openxmlformats.org/officeDocument/2006/relationships/oleObject" Target="../embeddings/oleObject119.bin"/><Relationship Id="rId4" Type="http://schemas.openxmlformats.org/officeDocument/2006/relationships/image" Target="../media/image12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3.bin"/><Relationship Id="rId13" Type="http://schemas.openxmlformats.org/officeDocument/2006/relationships/image" Target="../media/image132.wmf"/><Relationship Id="rId18" Type="http://schemas.openxmlformats.org/officeDocument/2006/relationships/oleObject" Target="../embeddings/oleObject128.bin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136.emf"/><Relationship Id="rId7" Type="http://schemas.openxmlformats.org/officeDocument/2006/relationships/image" Target="../media/image129.emf"/><Relationship Id="rId12" Type="http://schemas.openxmlformats.org/officeDocument/2006/relationships/oleObject" Target="../embeddings/oleObject125.bin"/><Relationship Id="rId17" Type="http://schemas.openxmlformats.org/officeDocument/2006/relationships/image" Target="../media/image134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27.bin"/><Relationship Id="rId20" Type="http://schemas.openxmlformats.org/officeDocument/2006/relationships/oleObject" Target="../embeddings/oleObject129.bin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122.bin"/><Relationship Id="rId11" Type="http://schemas.openxmlformats.org/officeDocument/2006/relationships/image" Target="../media/image131.emf"/><Relationship Id="rId5" Type="http://schemas.openxmlformats.org/officeDocument/2006/relationships/image" Target="../media/image128.emf"/><Relationship Id="rId15" Type="http://schemas.openxmlformats.org/officeDocument/2006/relationships/image" Target="../media/image133.wmf"/><Relationship Id="rId10" Type="http://schemas.openxmlformats.org/officeDocument/2006/relationships/oleObject" Target="../embeddings/oleObject124.bin"/><Relationship Id="rId19" Type="http://schemas.openxmlformats.org/officeDocument/2006/relationships/image" Target="../media/image135.emf"/><Relationship Id="rId4" Type="http://schemas.openxmlformats.org/officeDocument/2006/relationships/oleObject" Target="../embeddings/oleObject121.bin"/><Relationship Id="rId9" Type="http://schemas.openxmlformats.org/officeDocument/2006/relationships/image" Target="../media/image130.emf"/><Relationship Id="rId14" Type="http://schemas.openxmlformats.org/officeDocument/2006/relationships/oleObject" Target="../embeddings/oleObject126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wmf"/><Relationship Id="rId13" Type="http://schemas.openxmlformats.org/officeDocument/2006/relationships/oleObject" Target="../embeddings/oleObject135.bin"/><Relationship Id="rId3" Type="http://schemas.openxmlformats.org/officeDocument/2006/relationships/oleObject" Target="../embeddings/oleObject130.bin"/><Relationship Id="rId7" Type="http://schemas.openxmlformats.org/officeDocument/2006/relationships/oleObject" Target="../embeddings/oleObject132.bin"/><Relationship Id="rId12" Type="http://schemas.openxmlformats.org/officeDocument/2006/relationships/image" Target="../media/image14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38.wmf"/><Relationship Id="rId11" Type="http://schemas.openxmlformats.org/officeDocument/2006/relationships/oleObject" Target="../embeddings/oleObject134.bin"/><Relationship Id="rId5" Type="http://schemas.openxmlformats.org/officeDocument/2006/relationships/oleObject" Target="../embeddings/oleObject131.bin"/><Relationship Id="rId10" Type="http://schemas.openxmlformats.org/officeDocument/2006/relationships/image" Target="../media/image140.wmf"/><Relationship Id="rId4" Type="http://schemas.openxmlformats.org/officeDocument/2006/relationships/image" Target="../media/image137.emf"/><Relationship Id="rId9" Type="http://schemas.openxmlformats.org/officeDocument/2006/relationships/oleObject" Target="../embeddings/oleObject133.bin"/><Relationship Id="rId14" Type="http://schemas.openxmlformats.org/officeDocument/2006/relationships/image" Target="../media/image142.e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wmf"/><Relationship Id="rId13" Type="http://schemas.openxmlformats.org/officeDocument/2006/relationships/oleObject" Target="../embeddings/oleObject141.bin"/><Relationship Id="rId18" Type="http://schemas.openxmlformats.org/officeDocument/2006/relationships/image" Target="../media/image150.wmf"/><Relationship Id="rId26" Type="http://schemas.openxmlformats.org/officeDocument/2006/relationships/image" Target="../media/image154.wmf"/><Relationship Id="rId3" Type="http://schemas.openxmlformats.org/officeDocument/2006/relationships/oleObject" Target="../embeddings/oleObject136.bin"/><Relationship Id="rId21" Type="http://schemas.openxmlformats.org/officeDocument/2006/relationships/oleObject" Target="../embeddings/oleObject145.bin"/><Relationship Id="rId7" Type="http://schemas.openxmlformats.org/officeDocument/2006/relationships/oleObject" Target="../embeddings/oleObject138.bin"/><Relationship Id="rId12" Type="http://schemas.openxmlformats.org/officeDocument/2006/relationships/image" Target="../media/image147.wmf"/><Relationship Id="rId17" Type="http://schemas.openxmlformats.org/officeDocument/2006/relationships/oleObject" Target="../embeddings/oleObject143.bin"/><Relationship Id="rId25" Type="http://schemas.openxmlformats.org/officeDocument/2006/relationships/oleObject" Target="../embeddings/oleObject147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49.wmf"/><Relationship Id="rId20" Type="http://schemas.openxmlformats.org/officeDocument/2006/relationships/image" Target="../media/image151.wmf"/><Relationship Id="rId29" Type="http://schemas.openxmlformats.org/officeDocument/2006/relationships/oleObject" Target="../embeddings/oleObject149.bin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44.png"/><Relationship Id="rId11" Type="http://schemas.openxmlformats.org/officeDocument/2006/relationships/oleObject" Target="../embeddings/oleObject140.bin"/><Relationship Id="rId24" Type="http://schemas.openxmlformats.org/officeDocument/2006/relationships/image" Target="../media/image153.wmf"/><Relationship Id="rId5" Type="http://schemas.openxmlformats.org/officeDocument/2006/relationships/oleObject" Target="../embeddings/oleObject137.bin"/><Relationship Id="rId15" Type="http://schemas.openxmlformats.org/officeDocument/2006/relationships/oleObject" Target="../embeddings/oleObject142.bin"/><Relationship Id="rId23" Type="http://schemas.openxmlformats.org/officeDocument/2006/relationships/oleObject" Target="../embeddings/oleObject146.bin"/><Relationship Id="rId28" Type="http://schemas.openxmlformats.org/officeDocument/2006/relationships/image" Target="../media/image155.wmf"/><Relationship Id="rId10" Type="http://schemas.openxmlformats.org/officeDocument/2006/relationships/image" Target="../media/image146.wmf"/><Relationship Id="rId19" Type="http://schemas.openxmlformats.org/officeDocument/2006/relationships/oleObject" Target="../embeddings/oleObject144.bin"/><Relationship Id="rId4" Type="http://schemas.openxmlformats.org/officeDocument/2006/relationships/image" Target="../media/image143.png"/><Relationship Id="rId9" Type="http://schemas.openxmlformats.org/officeDocument/2006/relationships/oleObject" Target="../embeddings/oleObject139.bin"/><Relationship Id="rId14" Type="http://schemas.openxmlformats.org/officeDocument/2006/relationships/image" Target="../media/image148.png"/><Relationship Id="rId22" Type="http://schemas.openxmlformats.org/officeDocument/2006/relationships/image" Target="../media/image152.wmf"/><Relationship Id="rId27" Type="http://schemas.openxmlformats.org/officeDocument/2006/relationships/oleObject" Target="../embeddings/oleObject148.bin"/><Relationship Id="rId30" Type="http://schemas.openxmlformats.org/officeDocument/2006/relationships/image" Target="../media/image156.w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emf"/><Relationship Id="rId13" Type="http://schemas.openxmlformats.org/officeDocument/2006/relationships/oleObject" Target="../embeddings/oleObject153.bin"/><Relationship Id="rId18" Type="http://schemas.openxmlformats.org/officeDocument/2006/relationships/image" Target="../media/image163.emf"/><Relationship Id="rId3" Type="http://schemas.openxmlformats.org/officeDocument/2006/relationships/notesSlide" Target="../notesSlides/notesSlide2.xml"/><Relationship Id="rId21" Type="http://schemas.openxmlformats.org/officeDocument/2006/relationships/oleObject" Target="../embeddings/oleObject157.bin"/><Relationship Id="rId7" Type="http://schemas.openxmlformats.org/officeDocument/2006/relationships/oleObject" Target="../embeddings/oleObject150.bin"/><Relationship Id="rId12" Type="http://schemas.openxmlformats.org/officeDocument/2006/relationships/image" Target="../media/image160.emf"/><Relationship Id="rId17" Type="http://schemas.openxmlformats.org/officeDocument/2006/relationships/oleObject" Target="../embeddings/oleObject15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2.emf"/><Relationship Id="rId20" Type="http://schemas.openxmlformats.org/officeDocument/2006/relationships/image" Target="../media/image164.e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69.jpeg"/><Relationship Id="rId11" Type="http://schemas.openxmlformats.org/officeDocument/2006/relationships/oleObject" Target="../embeddings/oleObject152.bin"/><Relationship Id="rId24" Type="http://schemas.openxmlformats.org/officeDocument/2006/relationships/image" Target="../media/image166.emf"/><Relationship Id="rId5" Type="http://schemas.openxmlformats.org/officeDocument/2006/relationships/image" Target="../media/image168.jpeg"/><Relationship Id="rId15" Type="http://schemas.openxmlformats.org/officeDocument/2006/relationships/oleObject" Target="../embeddings/oleObject154.bin"/><Relationship Id="rId23" Type="http://schemas.openxmlformats.org/officeDocument/2006/relationships/oleObject" Target="../embeddings/oleObject158.bin"/><Relationship Id="rId10" Type="http://schemas.openxmlformats.org/officeDocument/2006/relationships/image" Target="../media/image159.emf"/><Relationship Id="rId19" Type="http://schemas.openxmlformats.org/officeDocument/2006/relationships/oleObject" Target="../embeddings/oleObject156.bin"/><Relationship Id="rId4" Type="http://schemas.openxmlformats.org/officeDocument/2006/relationships/image" Target="../media/image167.jpeg"/><Relationship Id="rId9" Type="http://schemas.openxmlformats.org/officeDocument/2006/relationships/oleObject" Target="../embeddings/oleObject151.bin"/><Relationship Id="rId14" Type="http://schemas.openxmlformats.org/officeDocument/2006/relationships/image" Target="../media/image161.emf"/><Relationship Id="rId22" Type="http://schemas.openxmlformats.org/officeDocument/2006/relationships/image" Target="../media/image165.e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emf"/><Relationship Id="rId13" Type="http://schemas.openxmlformats.org/officeDocument/2006/relationships/oleObject" Target="../embeddings/oleObject164.bin"/><Relationship Id="rId18" Type="http://schemas.openxmlformats.org/officeDocument/2006/relationships/image" Target="../media/image177.emf"/><Relationship Id="rId3" Type="http://schemas.openxmlformats.org/officeDocument/2006/relationships/oleObject" Target="../embeddings/oleObject159.bin"/><Relationship Id="rId7" Type="http://schemas.openxmlformats.org/officeDocument/2006/relationships/oleObject" Target="../embeddings/oleObject161.bin"/><Relationship Id="rId12" Type="http://schemas.openxmlformats.org/officeDocument/2006/relationships/image" Target="../media/image174.emf"/><Relationship Id="rId17" Type="http://schemas.openxmlformats.org/officeDocument/2006/relationships/oleObject" Target="../embeddings/oleObject16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6.e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71.emf"/><Relationship Id="rId11" Type="http://schemas.openxmlformats.org/officeDocument/2006/relationships/oleObject" Target="../embeddings/oleObject163.bin"/><Relationship Id="rId5" Type="http://schemas.openxmlformats.org/officeDocument/2006/relationships/oleObject" Target="../embeddings/oleObject160.bin"/><Relationship Id="rId15" Type="http://schemas.openxmlformats.org/officeDocument/2006/relationships/oleObject" Target="../embeddings/oleObject165.bin"/><Relationship Id="rId10" Type="http://schemas.openxmlformats.org/officeDocument/2006/relationships/image" Target="../media/image173.emf"/><Relationship Id="rId4" Type="http://schemas.openxmlformats.org/officeDocument/2006/relationships/image" Target="../media/image170.emf"/><Relationship Id="rId9" Type="http://schemas.openxmlformats.org/officeDocument/2006/relationships/oleObject" Target="../embeddings/oleObject162.bin"/><Relationship Id="rId14" Type="http://schemas.openxmlformats.org/officeDocument/2006/relationships/image" Target="../media/image175.e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wmf"/><Relationship Id="rId13" Type="http://schemas.openxmlformats.org/officeDocument/2006/relationships/oleObject" Target="../embeddings/oleObject172.bin"/><Relationship Id="rId18" Type="http://schemas.openxmlformats.org/officeDocument/2006/relationships/image" Target="../media/image185.wmf"/><Relationship Id="rId26" Type="http://schemas.openxmlformats.org/officeDocument/2006/relationships/image" Target="../media/image189.wmf"/><Relationship Id="rId3" Type="http://schemas.openxmlformats.org/officeDocument/2006/relationships/oleObject" Target="../embeddings/oleObject167.bin"/><Relationship Id="rId21" Type="http://schemas.openxmlformats.org/officeDocument/2006/relationships/oleObject" Target="../embeddings/oleObject176.bin"/><Relationship Id="rId7" Type="http://schemas.openxmlformats.org/officeDocument/2006/relationships/oleObject" Target="../embeddings/oleObject169.bin"/><Relationship Id="rId12" Type="http://schemas.openxmlformats.org/officeDocument/2006/relationships/image" Target="../media/image182.wmf"/><Relationship Id="rId17" Type="http://schemas.openxmlformats.org/officeDocument/2006/relationships/oleObject" Target="../embeddings/oleObject174.bin"/><Relationship Id="rId25" Type="http://schemas.openxmlformats.org/officeDocument/2006/relationships/oleObject" Target="../embeddings/oleObject17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4.wmf"/><Relationship Id="rId20" Type="http://schemas.openxmlformats.org/officeDocument/2006/relationships/image" Target="../media/image186.wmf"/><Relationship Id="rId29" Type="http://schemas.openxmlformats.org/officeDocument/2006/relationships/oleObject" Target="../embeddings/oleObject180.bin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79.wmf"/><Relationship Id="rId11" Type="http://schemas.openxmlformats.org/officeDocument/2006/relationships/oleObject" Target="../embeddings/oleObject171.bin"/><Relationship Id="rId24" Type="http://schemas.openxmlformats.org/officeDocument/2006/relationships/image" Target="../media/image188.wmf"/><Relationship Id="rId32" Type="http://schemas.openxmlformats.org/officeDocument/2006/relationships/image" Target="../media/image192.wmf"/><Relationship Id="rId5" Type="http://schemas.openxmlformats.org/officeDocument/2006/relationships/oleObject" Target="../embeddings/oleObject168.bin"/><Relationship Id="rId15" Type="http://schemas.openxmlformats.org/officeDocument/2006/relationships/oleObject" Target="../embeddings/oleObject173.bin"/><Relationship Id="rId23" Type="http://schemas.openxmlformats.org/officeDocument/2006/relationships/oleObject" Target="../embeddings/oleObject177.bin"/><Relationship Id="rId28" Type="http://schemas.openxmlformats.org/officeDocument/2006/relationships/image" Target="../media/image190.wmf"/><Relationship Id="rId10" Type="http://schemas.openxmlformats.org/officeDocument/2006/relationships/image" Target="../media/image181.wmf"/><Relationship Id="rId19" Type="http://schemas.openxmlformats.org/officeDocument/2006/relationships/oleObject" Target="../embeddings/oleObject175.bin"/><Relationship Id="rId31" Type="http://schemas.openxmlformats.org/officeDocument/2006/relationships/oleObject" Target="../embeddings/oleObject181.bin"/><Relationship Id="rId4" Type="http://schemas.openxmlformats.org/officeDocument/2006/relationships/image" Target="../media/image178.wmf"/><Relationship Id="rId9" Type="http://schemas.openxmlformats.org/officeDocument/2006/relationships/oleObject" Target="../embeddings/oleObject170.bin"/><Relationship Id="rId14" Type="http://schemas.openxmlformats.org/officeDocument/2006/relationships/image" Target="../media/image183.wmf"/><Relationship Id="rId22" Type="http://schemas.openxmlformats.org/officeDocument/2006/relationships/image" Target="../media/image187.wmf"/><Relationship Id="rId27" Type="http://schemas.openxmlformats.org/officeDocument/2006/relationships/oleObject" Target="../embeddings/oleObject179.bin"/><Relationship Id="rId30" Type="http://schemas.openxmlformats.org/officeDocument/2006/relationships/image" Target="../media/image191.wmf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emf"/><Relationship Id="rId3" Type="http://schemas.openxmlformats.org/officeDocument/2006/relationships/oleObject" Target="../embeddings/oleObject182.bin"/><Relationship Id="rId7" Type="http://schemas.openxmlformats.org/officeDocument/2006/relationships/oleObject" Target="../embeddings/oleObject18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95.emf"/><Relationship Id="rId5" Type="http://schemas.openxmlformats.org/officeDocument/2006/relationships/oleObject" Target="../embeddings/oleObject183.bin"/><Relationship Id="rId4" Type="http://schemas.openxmlformats.org/officeDocument/2006/relationships/image" Target="../media/image194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98.wmf"/><Relationship Id="rId5" Type="http://schemas.openxmlformats.org/officeDocument/2006/relationships/oleObject" Target="../embeddings/oleObject186.bin"/><Relationship Id="rId4" Type="http://schemas.openxmlformats.org/officeDocument/2006/relationships/image" Target="../media/image197.w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jpeg"/><Relationship Id="rId2" Type="http://schemas.openxmlformats.org/officeDocument/2006/relationships/image" Target="../media/image19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jpg"/><Relationship Id="rId2" Type="http://schemas.openxmlformats.org/officeDocument/2006/relationships/image" Target="../media/image20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4.jp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png"/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7.jp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jpeg"/><Relationship Id="rId2" Type="http://schemas.openxmlformats.org/officeDocument/2006/relationships/image" Target="../media/image209.jpe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jpe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4.jpeg"/><Relationship Id="rId4" Type="http://schemas.openxmlformats.org/officeDocument/2006/relationships/image" Target="../media/image21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jpeg"/><Relationship Id="rId2" Type="http://schemas.openxmlformats.org/officeDocument/2006/relationships/image" Target="../media/image21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8.png"/><Relationship Id="rId4" Type="http://schemas.openxmlformats.org/officeDocument/2006/relationships/image" Target="../media/image217.jpe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wmf"/><Relationship Id="rId3" Type="http://schemas.openxmlformats.org/officeDocument/2006/relationships/image" Target="../media/image221.jpeg"/><Relationship Id="rId7" Type="http://schemas.openxmlformats.org/officeDocument/2006/relationships/oleObject" Target="../embeddings/oleObject18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24.jpeg"/><Relationship Id="rId5" Type="http://schemas.openxmlformats.org/officeDocument/2006/relationships/image" Target="../media/image223.jpeg"/><Relationship Id="rId4" Type="http://schemas.openxmlformats.org/officeDocument/2006/relationships/image" Target="../media/image222.jpe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emf"/><Relationship Id="rId13" Type="http://schemas.openxmlformats.org/officeDocument/2006/relationships/oleObject" Target="../embeddings/oleObject193.bin"/><Relationship Id="rId3" Type="http://schemas.openxmlformats.org/officeDocument/2006/relationships/oleObject" Target="../embeddings/oleObject188.bin"/><Relationship Id="rId7" Type="http://schemas.openxmlformats.org/officeDocument/2006/relationships/oleObject" Target="../embeddings/oleObject190.bin"/><Relationship Id="rId12" Type="http://schemas.openxmlformats.org/officeDocument/2006/relationships/image" Target="../media/image229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226.emf"/><Relationship Id="rId11" Type="http://schemas.openxmlformats.org/officeDocument/2006/relationships/oleObject" Target="../embeddings/oleObject192.bin"/><Relationship Id="rId5" Type="http://schemas.openxmlformats.org/officeDocument/2006/relationships/oleObject" Target="../embeddings/oleObject189.bin"/><Relationship Id="rId10" Type="http://schemas.openxmlformats.org/officeDocument/2006/relationships/image" Target="../media/image228.emf"/><Relationship Id="rId4" Type="http://schemas.openxmlformats.org/officeDocument/2006/relationships/image" Target="../media/image225.emf"/><Relationship Id="rId9" Type="http://schemas.openxmlformats.org/officeDocument/2006/relationships/oleObject" Target="../embeddings/oleObject191.bin"/><Relationship Id="rId14" Type="http://schemas.openxmlformats.org/officeDocument/2006/relationships/image" Target="../media/image230.e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3.emf"/><Relationship Id="rId13" Type="http://schemas.openxmlformats.org/officeDocument/2006/relationships/oleObject" Target="../embeddings/oleObject199.bin"/><Relationship Id="rId18" Type="http://schemas.openxmlformats.org/officeDocument/2006/relationships/image" Target="../media/image238.emf"/><Relationship Id="rId26" Type="http://schemas.openxmlformats.org/officeDocument/2006/relationships/image" Target="../media/image242.emf"/><Relationship Id="rId3" Type="http://schemas.openxmlformats.org/officeDocument/2006/relationships/oleObject" Target="../embeddings/oleObject194.bin"/><Relationship Id="rId21" Type="http://schemas.openxmlformats.org/officeDocument/2006/relationships/oleObject" Target="../embeddings/oleObject203.bin"/><Relationship Id="rId7" Type="http://schemas.openxmlformats.org/officeDocument/2006/relationships/oleObject" Target="../embeddings/oleObject196.bin"/><Relationship Id="rId12" Type="http://schemas.openxmlformats.org/officeDocument/2006/relationships/image" Target="../media/image235.emf"/><Relationship Id="rId17" Type="http://schemas.openxmlformats.org/officeDocument/2006/relationships/oleObject" Target="../embeddings/oleObject201.bin"/><Relationship Id="rId25" Type="http://schemas.openxmlformats.org/officeDocument/2006/relationships/oleObject" Target="../embeddings/oleObject20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7.emf"/><Relationship Id="rId20" Type="http://schemas.openxmlformats.org/officeDocument/2006/relationships/image" Target="../media/image239.emf"/><Relationship Id="rId1" Type="http://schemas.openxmlformats.org/officeDocument/2006/relationships/vmlDrawing" Target="../drawings/vmlDrawing33.vml"/><Relationship Id="rId6" Type="http://schemas.openxmlformats.org/officeDocument/2006/relationships/image" Target="../media/image232.emf"/><Relationship Id="rId11" Type="http://schemas.openxmlformats.org/officeDocument/2006/relationships/oleObject" Target="../embeddings/oleObject198.bin"/><Relationship Id="rId24" Type="http://schemas.openxmlformats.org/officeDocument/2006/relationships/image" Target="../media/image241.emf"/><Relationship Id="rId5" Type="http://schemas.openxmlformats.org/officeDocument/2006/relationships/oleObject" Target="../embeddings/oleObject195.bin"/><Relationship Id="rId15" Type="http://schemas.openxmlformats.org/officeDocument/2006/relationships/oleObject" Target="../embeddings/oleObject200.bin"/><Relationship Id="rId23" Type="http://schemas.openxmlformats.org/officeDocument/2006/relationships/oleObject" Target="../embeddings/oleObject204.bin"/><Relationship Id="rId10" Type="http://schemas.openxmlformats.org/officeDocument/2006/relationships/image" Target="../media/image234.emf"/><Relationship Id="rId19" Type="http://schemas.openxmlformats.org/officeDocument/2006/relationships/oleObject" Target="../embeddings/oleObject202.bin"/><Relationship Id="rId4" Type="http://schemas.openxmlformats.org/officeDocument/2006/relationships/image" Target="../media/image231.emf"/><Relationship Id="rId9" Type="http://schemas.openxmlformats.org/officeDocument/2006/relationships/oleObject" Target="../embeddings/oleObject197.bin"/><Relationship Id="rId14" Type="http://schemas.openxmlformats.org/officeDocument/2006/relationships/image" Target="../media/image236.emf"/><Relationship Id="rId22" Type="http://schemas.openxmlformats.org/officeDocument/2006/relationships/image" Target="../media/image240.emf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emf"/><Relationship Id="rId13" Type="http://schemas.openxmlformats.org/officeDocument/2006/relationships/oleObject" Target="../embeddings/oleObject211.bin"/><Relationship Id="rId18" Type="http://schemas.openxmlformats.org/officeDocument/2006/relationships/image" Target="../media/image250.emf"/><Relationship Id="rId26" Type="http://schemas.openxmlformats.org/officeDocument/2006/relationships/image" Target="../media/image254.emf"/><Relationship Id="rId3" Type="http://schemas.openxmlformats.org/officeDocument/2006/relationships/oleObject" Target="../embeddings/oleObject206.bin"/><Relationship Id="rId21" Type="http://schemas.openxmlformats.org/officeDocument/2006/relationships/oleObject" Target="../embeddings/oleObject215.bin"/><Relationship Id="rId7" Type="http://schemas.openxmlformats.org/officeDocument/2006/relationships/oleObject" Target="../embeddings/oleObject208.bin"/><Relationship Id="rId12" Type="http://schemas.openxmlformats.org/officeDocument/2006/relationships/image" Target="../media/image247.emf"/><Relationship Id="rId17" Type="http://schemas.openxmlformats.org/officeDocument/2006/relationships/oleObject" Target="../embeddings/oleObject213.bin"/><Relationship Id="rId25" Type="http://schemas.openxmlformats.org/officeDocument/2006/relationships/oleObject" Target="../embeddings/oleObject21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49.emf"/><Relationship Id="rId20" Type="http://schemas.openxmlformats.org/officeDocument/2006/relationships/image" Target="../media/image251.emf"/><Relationship Id="rId29" Type="http://schemas.openxmlformats.org/officeDocument/2006/relationships/oleObject" Target="../embeddings/oleObject219.bin"/><Relationship Id="rId1" Type="http://schemas.openxmlformats.org/officeDocument/2006/relationships/vmlDrawing" Target="../drawings/vmlDrawing34.vml"/><Relationship Id="rId6" Type="http://schemas.openxmlformats.org/officeDocument/2006/relationships/image" Target="../media/image244.emf"/><Relationship Id="rId11" Type="http://schemas.openxmlformats.org/officeDocument/2006/relationships/oleObject" Target="../embeddings/oleObject210.bin"/><Relationship Id="rId24" Type="http://schemas.openxmlformats.org/officeDocument/2006/relationships/image" Target="../media/image253.emf"/><Relationship Id="rId32" Type="http://schemas.openxmlformats.org/officeDocument/2006/relationships/image" Target="../media/image257.emf"/><Relationship Id="rId5" Type="http://schemas.openxmlformats.org/officeDocument/2006/relationships/oleObject" Target="../embeddings/oleObject207.bin"/><Relationship Id="rId15" Type="http://schemas.openxmlformats.org/officeDocument/2006/relationships/oleObject" Target="../embeddings/oleObject212.bin"/><Relationship Id="rId23" Type="http://schemas.openxmlformats.org/officeDocument/2006/relationships/oleObject" Target="../embeddings/oleObject216.bin"/><Relationship Id="rId28" Type="http://schemas.openxmlformats.org/officeDocument/2006/relationships/image" Target="../media/image255.emf"/><Relationship Id="rId10" Type="http://schemas.openxmlformats.org/officeDocument/2006/relationships/image" Target="../media/image246.emf"/><Relationship Id="rId19" Type="http://schemas.openxmlformats.org/officeDocument/2006/relationships/oleObject" Target="../embeddings/oleObject214.bin"/><Relationship Id="rId31" Type="http://schemas.openxmlformats.org/officeDocument/2006/relationships/oleObject" Target="../embeddings/oleObject220.bin"/><Relationship Id="rId4" Type="http://schemas.openxmlformats.org/officeDocument/2006/relationships/image" Target="../media/image243.emf"/><Relationship Id="rId9" Type="http://schemas.openxmlformats.org/officeDocument/2006/relationships/oleObject" Target="../embeddings/oleObject209.bin"/><Relationship Id="rId14" Type="http://schemas.openxmlformats.org/officeDocument/2006/relationships/image" Target="../media/image248.emf"/><Relationship Id="rId22" Type="http://schemas.openxmlformats.org/officeDocument/2006/relationships/image" Target="../media/image252.emf"/><Relationship Id="rId27" Type="http://schemas.openxmlformats.org/officeDocument/2006/relationships/oleObject" Target="../embeddings/oleObject218.bin"/><Relationship Id="rId30" Type="http://schemas.openxmlformats.org/officeDocument/2006/relationships/image" Target="../media/image256.emf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emf"/><Relationship Id="rId13" Type="http://schemas.openxmlformats.org/officeDocument/2006/relationships/oleObject" Target="../embeddings/oleObject226.bin"/><Relationship Id="rId18" Type="http://schemas.openxmlformats.org/officeDocument/2006/relationships/image" Target="../media/image265.emf"/><Relationship Id="rId3" Type="http://schemas.openxmlformats.org/officeDocument/2006/relationships/oleObject" Target="../embeddings/oleObject221.bin"/><Relationship Id="rId7" Type="http://schemas.openxmlformats.org/officeDocument/2006/relationships/oleObject" Target="../embeddings/oleObject223.bin"/><Relationship Id="rId12" Type="http://schemas.openxmlformats.org/officeDocument/2006/relationships/image" Target="../media/image262.emf"/><Relationship Id="rId17" Type="http://schemas.openxmlformats.org/officeDocument/2006/relationships/oleObject" Target="../embeddings/oleObject22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64.emf"/><Relationship Id="rId20" Type="http://schemas.openxmlformats.org/officeDocument/2006/relationships/image" Target="../media/image266.emf"/><Relationship Id="rId1" Type="http://schemas.openxmlformats.org/officeDocument/2006/relationships/vmlDrawing" Target="../drawings/vmlDrawing35.vml"/><Relationship Id="rId6" Type="http://schemas.openxmlformats.org/officeDocument/2006/relationships/image" Target="../media/image259.emf"/><Relationship Id="rId11" Type="http://schemas.openxmlformats.org/officeDocument/2006/relationships/oleObject" Target="../embeddings/oleObject225.bin"/><Relationship Id="rId5" Type="http://schemas.openxmlformats.org/officeDocument/2006/relationships/oleObject" Target="../embeddings/oleObject222.bin"/><Relationship Id="rId15" Type="http://schemas.openxmlformats.org/officeDocument/2006/relationships/oleObject" Target="../embeddings/oleObject227.bin"/><Relationship Id="rId10" Type="http://schemas.openxmlformats.org/officeDocument/2006/relationships/image" Target="../media/image261.emf"/><Relationship Id="rId19" Type="http://schemas.openxmlformats.org/officeDocument/2006/relationships/oleObject" Target="../embeddings/oleObject229.bin"/><Relationship Id="rId4" Type="http://schemas.openxmlformats.org/officeDocument/2006/relationships/image" Target="../media/image258.emf"/><Relationship Id="rId9" Type="http://schemas.openxmlformats.org/officeDocument/2006/relationships/oleObject" Target="../embeddings/oleObject224.bin"/><Relationship Id="rId14" Type="http://schemas.openxmlformats.org/officeDocument/2006/relationships/image" Target="../media/image263.e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8.png"/><Relationship Id="rId2" Type="http://schemas.openxmlformats.org/officeDocument/2006/relationships/image" Target="../media/image26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9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jpe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2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27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6.vml"/><Relationship Id="rId6" Type="http://schemas.openxmlformats.org/officeDocument/2006/relationships/oleObject" Target="../embeddings/oleObject231.bin"/><Relationship Id="rId11" Type="http://schemas.openxmlformats.org/officeDocument/2006/relationships/image" Target="../media/image274.wmf"/><Relationship Id="rId5" Type="http://schemas.openxmlformats.org/officeDocument/2006/relationships/image" Target="../media/image271.wmf"/><Relationship Id="rId10" Type="http://schemas.openxmlformats.org/officeDocument/2006/relationships/oleObject" Target="../embeddings/oleObject233.bin"/><Relationship Id="rId4" Type="http://schemas.openxmlformats.org/officeDocument/2006/relationships/oleObject" Target="../embeddings/oleObject230.bin"/><Relationship Id="rId9" Type="http://schemas.openxmlformats.org/officeDocument/2006/relationships/image" Target="../media/image273.wmf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1.wmf"/><Relationship Id="rId13" Type="http://schemas.openxmlformats.org/officeDocument/2006/relationships/oleObject" Target="../embeddings/oleObject239.bin"/><Relationship Id="rId18" Type="http://schemas.openxmlformats.org/officeDocument/2006/relationships/image" Target="../media/image280.wmf"/><Relationship Id="rId26" Type="http://schemas.openxmlformats.org/officeDocument/2006/relationships/image" Target="../media/image284.wmf"/><Relationship Id="rId3" Type="http://schemas.openxmlformats.org/officeDocument/2006/relationships/oleObject" Target="../embeddings/oleObject234.bin"/><Relationship Id="rId21" Type="http://schemas.openxmlformats.org/officeDocument/2006/relationships/oleObject" Target="../embeddings/oleObject243.bin"/><Relationship Id="rId7" Type="http://schemas.openxmlformats.org/officeDocument/2006/relationships/oleObject" Target="../embeddings/oleObject236.bin"/><Relationship Id="rId12" Type="http://schemas.openxmlformats.org/officeDocument/2006/relationships/image" Target="../media/image277.wmf"/><Relationship Id="rId17" Type="http://schemas.openxmlformats.org/officeDocument/2006/relationships/oleObject" Target="../embeddings/oleObject241.bin"/><Relationship Id="rId25" Type="http://schemas.openxmlformats.org/officeDocument/2006/relationships/oleObject" Target="../embeddings/oleObject24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9.wmf"/><Relationship Id="rId20" Type="http://schemas.openxmlformats.org/officeDocument/2006/relationships/image" Target="../media/image281.wmf"/><Relationship Id="rId1" Type="http://schemas.openxmlformats.org/officeDocument/2006/relationships/vmlDrawing" Target="../drawings/vmlDrawing37.vml"/><Relationship Id="rId6" Type="http://schemas.openxmlformats.org/officeDocument/2006/relationships/image" Target="../media/image276.wmf"/><Relationship Id="rId11" Type="http://schemas.openxmlformats.org/officeDocument/2006/relationships/oleObject" Target="../embeddings/oleObject238.bin"/><Relationship Id="rId24" Type="http://schemas.openxmlformats.org/officeDocument/2006/relationships/image" Target="../media/image283.wmf"/><Relationship Id="rId5" Type="http://schemas.openxmlformats.org/officeDocument/2006/relationships/oleObject" Target="../embeddings/oleObject235.bin"/><Relationship Id="rId15" Type="http://schemas.openxmlformats.org/officeDocument/2006/relationships/oleObject" Target="../embeddings/oleObject240.bin"/><Relationship Id="rId23" Type="http://schemas.openxmlformats.org/officeDocument/2006/relationships/oleObject" Target="../embeddings/oleObject244.bin"/><Relationship Id="rId10" Type="http://schemas.openxmlformats.org/officeDocument/2006/relationships/image" Target="../media/image272.wmf"/><Relationship Id="rId19" Type="http://schemas.openxmlformats.org/officeDocument/2006/relationships/oleObject" Target="../embeddings/oleObject242.bin"/><Relationship Id="rId4" Type="http://schemas.openxmlformats.org/officeDocument/2006/relationships/image" Target="../media/image275.wmf"/><Relationship Id="rId9" Type="http://schemas.openxmlformats.org/officeDocument/2006/relationships/oleObject" Target="../embeddings/oleObject237.bin"/><Relationship Id="rId14" Type="http://schemas.openxmlformats.org/officeDocument/2006/relationships/image" Target="../media/image278.wmf"/><Relationship Id="rId22" Type="http://schemas.openxmlformats.org/officeDocument/2006/relationships/image" Target="../media/image282.w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6.jpeg"/><Relationship Id="rId2" Type="http://schemas.openxmlformats.org/officeDocument/2006/relationships/image" Target="../media/image28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Text Box 5"/>
          <p:cNvSpPr txBox="1">
            <a:spLocks noChangeArrowheads="1"/>
          </p:cNvSpPr>
          <p:nvPr/>
        </p:nvSpPr>
        <p:spPr bwMode="auto">
          <a:xfrm>
            <a:off x="2195736" y="1124744"/>
            <a:ext cx="435568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第四章  力系的平衡</a:t>
            </a: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979712" y="2492896"/>
            <a:ext cx="6248400" cy="3662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5000"/>
              </a:lnSpc>
            </a:pPr>
            <a:r>
              <a:rPr lang="en-US" altLang="zh-CN" sz="3200" b="1" dirty="0">
                <a:latin typeface="+mn-lt"/>
                <a:ea typeface="黑体" panose="02010609060101010101" pitchFamily="49" charset="-122"/>
              </a:rPr>
              <a:t>§4-1  </a:t>
            </a: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空间任意力系的平衡</a:t>
            </a:r>
            <a:endParaRPr lang="en-US" altLang="zh-CN" sz="32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45000"/>
              </a:lnSpc>
            </a:pPr>
            <a:r>
              <a:rPr lang="en-US" altLang="zh-CN" sz="3200" b="1" dirty="0">
                <a:latin typeface="+mn-lt"/>
                <a:ea typeface="黑体" panose="02010609060101010101" pitchFamily="49" charset="-122"/>
              </a:rPr>
              <a:t>§4-2  </a:t>
            </a: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平面任意力系的平衡</a:t>
            </a:r>
            <a:endParaRPr lang="en-US" altLang="zh-CN" sz="32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45000"/>
              </a:lnSpc>
            </a:pPr>
            <a:r>
              <a:rPr lang="en-US" altLang="zh-CN" sz="3200" b="1" dirty="0">
                <a:latin typeface="+mn-lt"/>
                <a:ea typeface="黑体" panose="02010609060101010101" pitchFamily="49" charset="-122"/>
              </a:rPr>
              <a:t>§4-3  </a:t>
            </a: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静定与静不定问题</a:t>
            </a:r>
            <a:endParaRPr lang="en-US" altLang="zh-CN" sz="32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45000"/>
              </a:lnSpc>
            </a:pPr>
            <a:r>
              <a:rPr lang="en-US" altLang="zh-CN" sz="3200" b="1" dirty="0">
                <a:ea typeface="黑体" panose="02010609060101010101" pitchFamily="49" charset="-122"/>
              </a:rPr>
              <a:t>§4-4  </a:t>
            </a: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物体系统的平衡</a:t>
            </a:r>
            <a:endParaRPr lang="en-US" altLang="zh-CN" sz="32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45000"/>
              </a:lnSpc>
            </a:pPr>
            <a:endParaRPr lang="zh-CN" altLang="en-US" sz="32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968481" y="2864879"/>
            <a:ext cx="2590800" cy="381000"/>
            <a:chOff x="2304" y="1824"/>
            <a:chExt cx="1632" cy="240"/>
          </a:xfrm>
        </p:grpSpPr>
        <p:sp>
          <p:nvSpPr>
            <p:cNvPr id="2076" name="Rectangle 4"/>
            <p:cNvSpPr>
              <a:spLocks noChangeArrowheads="1"/>
            </p:cNvSpPr>
            <p:nvPr/>
          </p:nvSpPr>
          <p:spPr bwMode="auto">
            <a:xfrm>
              <a:off x="2304" y="1824"/>
              <a:ext cx="1632" cy="24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  <a:headEnd/>
              <a:tailEnd type="none" w="sm" len="sm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2053" name="Object 5"/>
            <p:cNvGraphicFramePr>
              <a:graphicFrameLocks noChangeAspect="1"/>
            </p:cNvGraphicFramePr>
            <p:nvPr/>
          </p:nvGraphicFramePr>
          <p:xfrm>
            <a:off x="2600" y="1824"/>
            <a:ext cx="1048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6" name="Equation" r:id="rId3" imgW="1663560" imgH="368280" progId="Equation.3">
                    <p:embed/>
                  </p:oleObj>
                </mc:Choice>
                <mc:Fallback>
                  <p:oleObj name="Equation" r:id="rId3" imgW="1663560" imgH="3682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0" y="1824"/>
                          <a:ext cx="1048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2981181" y="4328554"/>
            <a:ext cx="2590800" cy="381000"/>
            <a:chOff x="2304" y="2208"/>
            <a:chExt cx="1632" cy="240"/>
          </a:xfrm>
        </p:grpSpPr>
        <p:sp>
          <p:nvSpPr>
            <p:cNvPr id="2075" name="Rectangle 7"/>
            <p:cNvSpPr>
              <a:spLocks noChangeArrowheads="1"/>
            </p:cNvSpPr>
            <p:nvPr/>
          </p:nvSpPr>
          <p:spPr bwMode="auto">
            <a:xfrm>
              <a:off x="2304" y="2208"/>
              <a:ext cx="1632" cy="24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  <a:headEnd/>
              <a:tailEnd type="none" w="sm" len="sm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2052" name="Object 8"/>
            <p:cNvGraphicFramePr>
              <a:graphicFrameLocks noChangeAspect="1"/>
            </p:cNvGraphicFramePr>
            <p:nvPr/>
          </p:nvGraphicFramePr>
          <p:xfrm>
            <a:off x="2376" y="2208"/>
            <a:ext cx="156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7" name="Equation" r:id="rId5" imgW="2476440" imgH="380880" progId="Equation.3">
                    <p:embed/>
                  </p:oleObj>
                </mc:Choice>
                <mc:Fallback>
                  <p:oleObj name="Equation" r:id="rId5" imgW="2476440" imgH="380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76" y="2208"/>
                          <a:ext cx="1560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562" name="Text Box 10"/>
          <p:cNvSpPr txBox="1">
            <a:spLocks noChangeArrowheads="1"/>
          </p:cNvSpPr>
          <p:nvPr/>
        </p:nvSpPr>
        <p:spPr bwMode="auto">
          <a:xfrm>
            <a:off x="661762" y="3572257"/>
            <a:ext cx="21478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空间力系平衡</a:t>
            </a:r>
          </a:p>
        </p:txBody>
      </p:sp>
      <p:sp>
        <p:nvSpPr>
          <p:cNvPr id="23568" name="AutoShape 16"/>
          <p:cNvSpPr>
            <a:spLocks noChangeArrowheads="1"/>
          </p:cNvSpPr>
          <p:nvPr/>
        </p:nvSpPr>
        <p:spPr bwMode="auto">
          <a:xfrm>
            <a:off x="5571981" y="4346016"/>
            <a:ext cx="762000" cy="333375"/>
          </a:xfrm>
          <a:prstGeom prst="leftRightArrow">
            <a:avLst>
              <a:gd name="adj1" fmla="val 50000"/>
              <a:gd name="adj2" fmla="val 45714"/>
            </a:avLst>
          </a:prstGeom>
          <a:solidFill>
            <a:srgbClr val="CCFFFF"/>
          </a:solidFill>
          <a:ln w="9525">
            <a:solidFill>
              <a:srgbClr val="FF0000"/>
            </a:solidFill>
            <a:miter lim="800000"/>
            <a:headEnd/>
            <a:tailEnd type="none" w="sm" len="sm"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5" name="Group 17"/>
          <p:cNvGrpSpPr>
            <a:grpSpLocks/>
          </p:cNvGrpSpPr>
          <p:nvPr/>
        </p:nvGrpSpPr>
        <p:grpSpPr bwMode="auto">
          <a:xfrm>
            <a:off x="6381606" y="2431491"/>
            <a:ext cx="1524000" cy="1371600"/>
            <a:chOff x="4416" y="1440"/>
            <a:chExt cx="960" cy="864"/>
          </a:xfrm>
        </p:grpSpPr>
        <p:graphicFrame>
          <p:nvGraphicFramePr>
            <p:cNvPr id="2051" name="Object 18"/>
            <p:cNvGraphicFramePr>
              <a:graphicFrameLocks noChangeAspect="1"/>
            </p:cNvGraphicFramePr>
            <p:nvPr/>
          </p:nvGraphicFramePr>
          <p:xfrm>
            <a:off x="4512" y="1472"/>
            <a:ext cx="624" cy="7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8" name="Equation" r:id="rId7" imgW="990360" imgH="1244520" progId="Equation.3">
                    <p:embed/>
                  </p:oleObj>
                </mc:Choice>
                <mc:Fallback>
                  <p:oleObj name="Equation" r:id="rId7" imgW="990360" imgH="12445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2" y="1472"/>
                          <a:ext cx="624" cy="7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72" name="Rectangle 19"/>
            <p:cNvSpPr>
              <a:spLocks noChangeArrowheads="1"/>
            </p:cNvSpPr>
            <p:nvPr/>
          </p:nvSpPr>
          <p:spPr bwMode="auto">
            <a:xfrm>
              <a:off x="4416" y="1440"/>
              <a:ext cx="960" cy="864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6" name="Group 20"/>
          <p:cNvGrpSpPr>
            <a:grpSpLocks/>
          </p:cNvGrpSpPr>
          <p:nvPr/>
        </p:nvGrpSpPr>
        <p:grpSpPr bwMode="auto">
          <a:xfrm>
            <a:off x="6372081" y="3888816"/>
            <a:ext cx="1524000" cy="1371600"/>
            <a:chOff x="4416" y="2352"/>
            <a:chExt cx="960" cy="864"/>
          </a:xfrm>
        </p:grpSpPr>
        <p:graphicFrame>
          <p:nvGraphicFramePr>
            <p:cNvPr id="2050" name="Object 21"/>
            <p:cNvGraphicFramePr>
              <a:graphicFrameLocks noChangeAspect="1"/>
            </p:cNvGraphicFramePr>
            <p:nvPr/>
          </p:nvGraphicFramePr>
          <p:xfrm>
            <a:off x="4432" y="2400"/>
            <a:ext cx="944" cy="7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9" name="Equation" r:id="rId9" imgW="1498320" imgH="1244520" progId="Equation.3">
                    <p:embed/>
                  </p:oleObj>
                </mc:Choice>
                <mc:Fallback>
                  <p:oleObj name="Equation" r:id="rId9" imgW="1498320" imgH="12445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2" y="2400"/>
                          <a:ext cx="944" cy="7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71" name="Rectangle 22"/>
            <p:cNvSpPr>
              <a:spLocks noChangeArrowheads="1"/>
            </p:cNvSpPr>
            <p:nvPr/>
          </p:nvSpPr>
          <p:spPr bwMode="auto">
            <a:xfrm>
              <a:off x="4416" y="2352"/>
              <a:ext cx="960" cy="864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23576" name="AutoShape 24"/>
          <p:cNvSpPr>
            <a:spLocks noChangeArrowheads="1"/>
          </p:cNvSpPr>
          <p:nvPr/>
        </p:nvSpPr>
        <p:spPr bwMode="auto">
          <a:xfrm>
            <a:off x="5584681" y="2898216"/>
            <a:ext cx="762000" cy="333375"/>
          </a:xfrm>
          <a:prstGeom prst="leftRightArrow">
            <a:avLst>
              <a:gd name="adj1" fmla="val 50000"/>
              <a:gd name="adj2" fmla="val 45714"/>
            </a:avLst>
          </a:prstGeom>
          <a:solidFill>
            <a:srgbClr val="CCFFFF"/>
          </a:solidFill>
          <a:ln w="9525">
            <a:solidFill>
              <a:srgbClr val="FF0000"/>
            </a:solidFill>
            <a:miter lim="800000"/>
            <a:headEnd/>
            <a:tailEnd type="none" w="sm" len="sm"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068" name="Rectangle 31"/>
          <p:cNvSpPr>
            <a:spLocks noChangeArrowheads="1"/>
          </p:cNvSpPr>
          <p:nvPr/>
        </p:nvSpPr>
        <p:spPr bwMode="auto">
          <a:xfrm>
            <a:off x="894324" y="1162454"/>
            <a:ext cx="451437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空间任意力系的平衡方程</a:t>
            </a:r>
          </a:p>
        </p:txBody>
      </p:sp>
      <p:sp>
        <p:nvSpPr>
          <p:cNvPr id="8" name="矩形 7"/>
          <p:cNvSpPr/>
          <p:nvPr/>
        </p:nvSpPr>
        <p:spPr>
          <a:xfrm>
            <a:off x="738899" y="385606"/>
            <a:ext cx="6673622" cy="7190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45000"/>
              </a:lnSpc>
            </a:pPr>
            <a:r>
              <a:rPr lang="en-US" altLang="zh-CN" sz="3200" b="1" dirty="0">
                <a:ea typeface="黑体" panose="02010609060101010101" pitchFamily="49" charset="-122"/>
              </a:rPr>
              <a:t>§4-1  </a:t>
            </a: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空间任意力系的平衡</a:t>
            </a:r>
            <a:r>
              <a:rPr lang="zh-CN" altLang="en-US" b="1" dirty="0">
                <a:ea typeface="华文中宋" panose="02010600040101010101" pitchFamily="2" charset="-122"/>
              </a:rPr>
              <a:t>（书</a:t>
            </a:r>
            <a:r>
              <a:rPr lang="en-US" altLang="zh-CN" b="1" dirty="0">
                <a:latin typeface="宋体" panose="02010600030101010101" pitchFamily="2" charset="-122"/>
              </a:rPr>
              <a:t>§</a:t>
            </a:r>
            <a:r>
              <a:rPr lang="en-US" altLang="zh-CN" b="1" dirty="0"/>
              <a:t>3.5</a:t>
            </a:r>
            <a:r>
              <a:rPr lang="zh-CN" altLang="en-US" b="1" dirty="0">
                <a:ea typeface="华文中宋" panose="02010600040101010101" pitchFamily="2" charset="-122"/>
              </a:rPr>
              <a:t>）</a:t>
            </a:r>
          </a:p>
        </p:txBody>
      </p:sp>
      <p:sp>
        <p:nvSpPr>
          <p:cNvPr id="20" name="AutoShape 13"/>
          <p:cNvSpPr>
            <a:spLocks/>
          </p:cNvSpPr>
          <p:nvPr/>
        </p:nvSpPr>
        <p:spPr bwMode="auto">
          <a:xfrm>
            <a:off x="2753376" y="2614846"/>
            <a:ext cx="71437" cy="2376488"/>
          </a:xfrm>
          <a:prstGeom prst="leftBrace">
            <a:avLst>
              <a:gd name="adj1" fmla="val 277224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2708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3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23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62" grpId="0" autoUpdateAnimBg="0"/>
      <p:bldP spid="23568" grpId="0" animBg="1"/>
      <p:bldP spid="23576" grpId="0" animBg="1"/>
      <p:bldP spid="2068" grpId="0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Text Box 5"/>
          <p:cNvSpPr txBox="1">
            <a:spLocks noChangeArrowheads="1"/>
          </p:cNvSpPr>
          <p:nvPr/>
        </p:nvSpPr>
        <p:spPr bwMode="auto">
          <a:xfrm>
            <a:off x="1547664" y="1524393"/>
            <a:ext cx="433388" cy="2308324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b="1" dirty="0">
                <a:solidFill>
                  <a:srgbClr val="C81204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空间力系平衡</a:t>
            </a:r>
          </a:p>
        </p:txBody>
      </p:sp>
      <p:sp>
        <p:nvSpPr>
          <p:cNvPr id="3078" name="Text Box 6"/>
          <p:cNvSpPr txBox="1">
            <a:spLocks noChangeArrowheads="1"/>
          </p:cNvSpPr>
          <p:nvPr/>
        </p:nvSpPr>
        <p:spPr bwMode="auto">
          <a:xfrm>
            <a:off x="5661025" y="335001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>
              <a:latin typeface="Tahoma" panose="020B0604030504040204" pitchFamily="34" charset="0"/>
            </a:endParaRPr>
          </a:p>
        </p:txBody>
      </p:sp>
      <p:sp>
        <p:nvSpPr>
          <p:cNvPr id="3079" name="AutoShape 11"/>
          <p:cNvSpPr>
            <a:spLocks noChangeArrowheads="1"/>
          </p:cNvSpPr>
          <p:nvPr/>
        </p:nvSpPr>
        <p:spPr bwMode="auto">
          <a:xfrm>
            <a:off x="2474293" y="2520723"/>
            <a:ext cx="2160984" cy="309211"/>
          </a:xfrm>
          <a:prstGeom prst="leftRightArrow">
            <a:avLst>
              <a:gd name="adj1" fmla="val 50000"/>
              <a:gd name="adj2" fmla="val 152000"/>
            </a:avLst>
          </a:prstGeom>
          <a:noFill/>
          <a:ln w="31750">
            <a:solidFill>
              <a:srgbClr val="FF0000"/>
            </a:solidFill>
            <a:miter lim="800000"/>
            <a:headEnd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4590" name="Object 14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930411336"/>
              </p:ext>
            </p:extLst>
          </p:nvPr>
        </p:nvGraphicFramePr>
        <p:xfrm>
          <a:off x="5056510" y="1278328"/>
          <a:ext cx="1790700" cy="279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Equation" r:id="rId3" imgW="1790640" imgH="2793960" progId="Equation.3">
                  <p:embed/>
                </p:oleObj>
              </mc:Choice>
              <mc:Fallback>
                <p:oleObj name="Equation" r:id="rId3" imgW="1790640" imgH="2793960" progId="Equation.3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6510" y="1278328"/>
                        <a:ext cx="1790700" cy="279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3" name="Text Box 17"/>
          <p:cNvSpPr txBox="1">
            <a:spLocks noChangeArrowheads="1"/>
          </p:cNvSpPr>
          <p:nvPr/>
        </p:nvSpPr>
        <p:spPr bwMode="auto">
          <a:xfrm>
            <a:off x="1475656" y="4482967"/>
            <a:ext cx="5903912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Blip>
                <a:blip r:embed="rId5"/>
              </a:buBlip>
            </a:pPr>
            <a:r>
              <a:rPr lang="en-US" altLang="zh-CN" dirty="0"/>
              <a:t>  </a:t>
            </a:r>
            <a:r>
              <a:rPr lang="zh-CN" altLang="en-US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一个研究对象可以列</a:t>
            </a:r>
            <a:r>
              <a:rPr lang="en-US" altLang="zh-CN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en-US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独立</a:t>
            </a:r>
            <a:r>
              <a:rPr lang="zh-CN" altLang="en-US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平衡方程</a:t>
            </a:r>
            <a:r>
              <a:rPr lang="en-US" altLang="zh-CN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</a:p>
          <a:p>
            <a:pPr eaLnBrk="1" hangingPunct="1">
              <a:buFontTx/>
              <a:buBlip>
                <a:blip r:embed="rId5"/>
              </a:buBlip>
            </a:pPr>
            <a:r>
              <a:rPr lang="en-US" altLang="zh-CN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3</a:t>
            </a:r>
            <a:r>
              <a:rPr lang="zh-CN" altLang="en-US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个投影方程和</a:t>
            </a:r>
            <a:r>
              <a:rPr lang="en-US" altLang="zh-CN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个对轴的矩方程</a:t>
            </a:r>
            <a:r>
              <a:rPr lang="en-US" altLang="zh-CN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</a:p>
          <a:p>
            <a:pPr eaLnBrk="1" hangingPunct="1">
              <a:buBlip>
                <a:blip r:embed="rId5"/>
              </a:buBlip>
            </a:pPr>
            <a:r>
              <a:rPr lang="zh-CN" altLang="en-US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平衡方程的其他形式</a:t>
            </a:r>
            <a:r>
              <a:rPr lang="en-US" altLang="zh-CN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至少三矩</a:t>
            </a:r>
            <a:r>
              <a:rPr lang="en-US" altLang="zh-CN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).</a:t>
            </a:r>
          </a:p>
          <a:p>
            <a:pPr eaLnBrk="1" hangingPunct="1">
              <a:buFontTx/>
              <a:buBlip>
                <a:blip r:embed="rId5"/>
              </a:buBlip>
            </a:pPr>
            <a:r>
              <a:rPr lang="zh-CN" altLang="en-US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方程的求解次序</a:t>
            </a:r>
            <a:r>
              <a:rPr lang="en-US" altLang="zh-CN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避免解联立方程</a:t>
            </a:r>
            <a:r>
              <a:rPr lang="en-US" altLang="zh-CN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</a:p>
        </p:txBody>
      </p:sp>
      <p:sp>
        <p:nvSpPr>
          <p:cNvPr id="9" name="Rectangle 31"/>
          <p:cNvSpPr>
            <a:spLocks noChangeArrowheads="1"/>
          </p:cNvSpPr>
          <p:nvPr/>
        </p:nvSpPr>
        <p:spPr bwMode="auto">
          <a:xfrm>
            <a:off x="1043608" y="590534"/>
            <a:ext cx="451437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空间任意力系的平衡方程</a:t>
            </a:r>
          </a:p>
        </p:txBody>
      </p:sp>
    </p:spTree>
    <p:extLst>
      <p:ext uri="{BB962C8B-B14F-4D97-AF65-F5344CB8AC3E}">
        <p14:creationId xmlns:p14="http://schemas.microsoft.com/office/powerpoint/2010/main" val="3220217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4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9" grpId="0" animBg="1"/>
      <p:bldP spid="2459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1"/>
          <p:cNvSpPr>
            <a:spLocks noChangeArrowheads="1"/>
          </p:cNvSpPr>
          <p:nvPr/>
        </p:nvSpPr>
        <p:spPr bwMode="auto">
          <a:xfrm>
            <a:off x="1187624" y="692696"/>
            <a:ext cx="451437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空间特殊力系的平衡方程</a:t>
            </a: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683568" y="1628800"/>
            <a:ext cx="20882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空间汇交力系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907406" y="1337340"/>
            <a:ext cx="2584304" cy="1184896"/>
            <a:chOff x="2907406" y="1337340"/>
            <a:chExt cx="2584304" cy="1184896"/>
          </a:xfrm>
        </p:grpSpPr>
        <p:sp>
          <p:nvSpPr>
            <p:cNvPr id="2" name="矩形 1"/>
            <p:cNvSpPr/>
            <p:nvPr/>
          </p:nvSpPr>
          <p:spPr>
            <a:xfrm>
              <a:off x="2907406" y="1628799"/>
              <a:ext cx="141577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b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解析条件</a:t>
              </a:r>
            </a:p>
          </p:txBody>
        </p:sp>
        <p:graphicFrame>
          <p:nvGraphicFramePr>
            <p:cNvPr id="6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86673152"/>
                </p:ext>
              </p:extLst>
            </p:nvPr>
          </p:nvGraphicFramePr>
          <p:xfrm>
            <a:off x="4458784" y="1337340"/>
            <a:ext cx="1032926" cy="11848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0" name="Equation" r:id="rId3" imgW="1219200" imgH="1397000" progId="Equation.3">
                    <p:embed/>
                  </p:oleObj>
                </mc:Choice>
                <mc:Fallback>
                  <p:oleObj name="Equation" r:id="rId3" imgW="1219200" imgH="13970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8784" y="1337340"/>
                          <a:ext cx="1032926" cy="11848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8"/>
          <p:cNvGrpSpPr/>
          <p:nvPr/>
        </p:nvGrpSpPr>
        <p:grpSpPr>
          <a:xfrm>
            <a:off x="2899595" y="2551730"/>
            <a:ext cx="5307980" cy="480870"/>
            <a:chOff x="3051422" y="2689715"/>
            <a:chExt cx="5307980" cy="480870"/>
          </a:xfrm>
        </p:grpSpPr>
        <p:sp>
          <p:nvSpPr>
            <p:cNvPr id="7" name="矩形 6"/>
            <p:cNvSpPr/>
            <p:nvPr/>
          </p:nvSpPr>
          <p:spPr>
            <a:xfrm>
              <a:off x="3051422" y="2708920"/>
              <a:ext cx="142218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b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几何条件</a:t>
              </a:r>
            </a:p>
          </p:txBody>
        </p:sp>
        <p:sp>
          <p:nvSpPr>
            <p:cNvPr id="8" name="矩形 7"/>
            <p:cNvSpPr/>
            <p:nvPr/>
          </p:nvSpPr>
          <p:spPr>
            <a:xfrm>
              <a:off x="4481417" y="2689715"/>
              <a:ext cx="387798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力系的力多边形自行封闭。</a:t>
              </a:r>
            </a:p>
          </p:txBody>
        </p:sp>
      </p:grpSp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811363" y="3368287"/>
            <a:ext cx="20882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空间力偶系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2913818" y="3098023"/>
            <a:ext cx="2741253" cy="1267209"/>
            <a:chOff x="2913818" y="3098023"/>
            <a:chExt cx="2741253" cy="1267209"/>
          </a:xfrm>
        </p:grpSpPr>
        <p:graphicFrame>
          <p:nvGraphicFramePr>
            <p:cNvPr id="11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84451100"/>
                </p:ext>
              </p:extLst>
            </p:nvPr>
          </p:nvGraphicFramePr>
          <p:xfrm>
            <a:off x="4464548" y="3098023"/>
            <a:ext cx="1190523" cy="1267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1" name="公式" r:id="rId5" imgW="761669" imgH="812447" progId="Equation.3">
                    <p:embed/>
                  </p:oleObj>
                </mc:Choice>
                <mc:Fallback>
                  <p:oleObj name="公式" r:id="rId5" imgW="761669" imgH="81244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548" y="3098023"/>
                          <a:ext cx="1190523" cy="1267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矩形 11"/>
            <p:cNvSpPr/>
            <p:nvPr/>
          </p:nvSpPr>
          <p:spPr>
            <a:xfrm>
              <a:off x="2913818" y="3398505"/>
              <a:ext cx="141577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b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解析条件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2899595" y="4424221"/>
            <a:ext cx="5939767" cy="461665"/>
            <a:chOff x="3051422" y="2708920"/>
            <a:chExt cx="5939767" cy="461665"/>
          </a:xfrm>
        </p:grpSpPr>
        <p:sp>
          <p:nvSpPr>
            <p:cNvPr id="14" name="矩形 13"/>
            <p:cNvSpPr/>
            <p:nvPr/>
          </p:nvSpPr>
          <p:spPr>
            <a:xfrm>
              <a:off x="3051422" y="2708920"/>
              <a:ext cx="142218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b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几何条件</a:t>
              </a:r>
            </a:p>
          </p:txBody>
        </p:sp>
        <p:sp>
          <p:nvSpPr>
            <p:cNvPr id="15" name="矩形 14"/>
            <p:cNvSpPr/>
            <p:nvPr/>
          </p:nvSpPr>
          <p:spPr>
            <a:xfrm>
              <a:off x="4473606" y="2708920"/>
              <a:ext cx="451758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力系的力偶矩多边形自行封闭。</a:t>
              </a:r>
            </a:p>
          </p:txBody>
        </p:sp>
      </p:grpSp>
      <p:sp>
        <p:nvSpPr>
          <p:cNvPr id="16" name="Text Box 2"/>
          <p:cNvSpPr txBox="1">
            <a:spLocks noChangeArrowheads="1"/>
          </p:cNvSpPr>
          <p:nvPr/>
        </p:nvSpPr>
        <p:spPr bwMode="auto">
          <a:xfrm>
            <a:off x="699879" y="5013176"/>
            <a:ext cx="20882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空间平行力系</a:t>
            </a:r>
          </a:p>
        </p:txBody>
      </p:sp>
      <p:grpSp>
        <p:nvGrpSpPr>
          <p:cNvPr id="20" name="组合 19"/>
          <p:cNvGrpSpPr/>
          <p:nvPr/>
        </p:nvGrpSpPr>
        <p:grpSpPr>
          <a:xfrm>
            <a:off x="2970809" y="4885886"/>
            <a:ext cx="2712324" cy="1489656"/>
            <a:chOff x="2970809" y="4885886"/>
            <a:chExt cx="2712324" cy="1489656"/>
          </a:xfrm>
        </p:grpSpPr>
        <p:graphicFrame>
          <p:nvGraphicFramePr>
            <p:cNvPr id="18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82838888"/>
                </p:ext>
              </p:extLst>
            </p:nvPr>
          </p:nvGraphicFramePr>
          <p:xfrm>
            <a:off x="2970809" y="4885886"/>
            <a:ext cx="1260580" cy="14896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2" name="Equation" r:id="rId7" imgW="647640" imgH="761760" progId="Equation.DSMT4">
                    <p:embed/>
                  </p:oleObj>
                </mc:Choice>
                <mc:Fallback>
                  <p:oleObj name="Equation" r:id="rId7" imgW="647640" imgH="7617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70809" y="4885886"/>
                          <a:ext cx="1260580" cy="14896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矩形 18"/>
            <p:cNvSpPr/>
            <p:nvPr/>
          </p:nvSpPr>
          <p:spPr>
            <a:xfrm>
              <a:off x="4267361" y="5345344"/>
              <a:ext cx="141577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b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解析条件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8920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  <p:bldP spid="10" grpId="0" build="p" autoUpdateAnimBg="0"/>
      <p:bldP spid="16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/>
          <p:cNvSpPr>
            <a:spLocks noChangeArrowheads="1"/>
          </p:cNvSpPr>
          <p:nvPr/>
        </p:nvSpPr>
        <p:spPr bwMode="auto">
          <a:xfrm>
            <a:off x="604306" y="115803"/>
            <a:ext cx="7780646" cy="2043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kumimoji="0"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kumimoji="0" lang="en-US" altLang="zh-CN" dirty="0">
                <a:solidFill>
                  <a:srgbClr val="00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在三轮货车上放着一重</a:t>
            </a:r>
            <a:r>
              <a:rPr kumimoji="0" lang="en-US" altLang="zh-CN" i="1" dirty="0">
                <a:latin typeface="+mn-lt"/>
                <a:ea typeface="楷体" panose="02010609060101010101" pitchFamily="49" charset="-122"/>
              </a:rPr>
              <a:t>W</a:t>
            </a:r>
            <a:r>
              <a:rPr kumimoji="0" lang="en-US" altLang="zh-CN" dirty="0">
                <a:latin typeface="+mn-lt"/>
                <a:ea typeface="楷体" panose="02010609060101010101" pitchFamily="49" charset="-122"/>
              </a:rPr>
              <a:t>=1000kN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的货物，重力</a:t>
            </a:r>
            <a:r>
              <a:rPr kumimoji="0" lang="en-US" altLang="zh-CN" b="1" i="1" dirty="0">
                <a:latin typeface="+mn-lt"/>
                <a:ea typeface="楷体" panose="02010609060101010101" pitchFamily="49" charset="-122"/>
              </a:rPr>
              <a:t>W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的作用线通过矩形底板上的点</a:t>
            </a:r>
            <a:r>
              <a:rPr kumimoji="0" lang="en-US" altLang="zh-CN" i="1" dirty="0">
                <a:latin typeface="+mn-lt"/>
                <a:ea typeface="楷体" panose="02010609060101010101" pitchFamily="49" charset="-122"/>
              </a:rPr>
              <a:t>M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。已知</a:t>
            </a:r>
            <a:r>
              <a:rPr kumimoji="0" lang="en-US" altLang="zh-CN" i="1" dirty="0">
                <a:latin typeface="+mn-lt"/>
                <a:ea typeface="楷体" panose="02010609060101010101" pitchFamily="49" charset="-122"/>
              </a:rPr>
              <a:t>O</a:t>
            </a:r>
            <a:r>
              <a:rPr kumimoji="0" lang="en-US" altLang="zh-CN" baseline="-25000" dirty="0">
                <a:latin typeface="+mn-lt"/>
                <a:ea typeface="楷体" panose="02010609060101010101" pitchFamily="49" charset="-122"/>
              </a:rPr>
              <a:t>1</a:t>
            </a:r>
            <a:r>
              <a:rPr kumimoji="0" lang="en-US" altLang="zh-CN" i="1" dirty="0">
                <a:latin typeface="+mn-lt"/>
                <a:ea typeface="楷体" panose="02010609060101010101" pitchFamily="49" charset="-122"/>
              </a:rPr>
              <a:t>O</a:t>
            </a:r>
            <a:r>
              <a:rPr kumimoji="0" lang="en-US" altLang="zh-CN" baseline="-25000" dirty="0">
                <a:latin typeface="+mn-lt"/>
                <a:ea typeface="楷体" panose="02010609060101010101" pitchFamily="49" charset="-122"/>
              </a:rPr>
              <a:t>2</a:t>
            </a:r>
            <a:r>
              <a:rPr kumimoji="0" lang="en-US" altLang="zh-CN" dirty="0">
                <a:latin typeface="+mn-lt"/>
                <a:ea typeface="楷体" panose="02010609060101010101" pitchFamily="49" charset="-122"/>
              </a:rPr>
              <a:t>=1m</a:t>
            </a:r>
            <a:r>
              <a:rPr kumimoji="0" lang="zh-CN" altLang="en-US" dirty="0">
                <a:latin typeface="+mn-lt"/>
                <a:ea typeface="楷体" panose="02010609060101010101" pitchFamily="49" charset="-122"/>
              </a:rPr>
              <a:t>， </a:t>
            </a:r>
            <a:r>
              <a:rPr kumimoji="0" lang="en-US" altLang="zh-CN" i="1" dirty="0">
                <a:latin typeface="+mn-lt"/>
                <a:ea typeface="楷体" panose="02010609060101010101" pitchFamily="49" charset="-122"/>
              </a:rPr>
              <a:t>O</a:t>
            </a:r>
            <a:r>
              <a:rPr kumimoji="0" lang="en-US" altLang="zh-CN" baseline="-25000" dirty="0">
                <a:latin typeface="+mn-lt"/>
                <a:ea typeface="楷体" panose="02010609060101010101" pitchFamily="49" charset="-122"/>
              </a:rPr>
              <a:t>3</a:t>
            </a:r>
            <a:r>
              <a:rPr kumimoji="0" lang="en-US" altLang="zh-CN" i="1" dirty="0">
                <a:latin typeface="+mn-lt"/>
                <a:ea typeface="楷体" panose="02010609060101010101" pitchFamily="49" charset="-122"/>
              </a:rPr>
              <a:t>D</a:t>
            </a:r>
            <a:r>
              <a:rPr kumimoji="0" lang="en-US" altLang="zh-CN" dirty="0">
                <a:latin typeface="+mn-lt"/>
                <a:ea typeface="楷体" panose="02010609060101010101" pitchFamily="49" charset="-122"/>
              </a:rPr>
              <a:t>=1.6m</a:t>
            </a:r>
            <a:r>
              <a:rPr kumimoji="0" lang="zh-CN" altLang="en-US" dirty="0">
                <a:latin typeface="+mn-lt"/>
                <a:ea typeface="楷体" panose="02010609060101010101" pitchFamily="49" charset="-122"/>
              </a:rPr>
              <a:t>，</a:t>
            </a:r>
            <a:r>
              <a:rPr kumimoji="0" lang="en-US" altLang="zh-CN" i="1" dirty="0">
                <a:latin typeface="+mn-lt"/>
                <a:ea typeface="楷体" panose="02010609060101010101" pitchFamily="49" charset="-122"/>
              </a:rPr>
              <a:t>O</a:t>
            </a:r>
            <a:r>
              <a:rPr kumimoji="0" lang="en-US" altLang="zh-CN" baseline="-25000" dirty="0">
                <a:latin typeface="+mn-lt"/>
                <a:ea typeface="楷体" panose="02010609060101010101" pitchFamily="49" charset="-122"/>
              </a:rPr>
              <a:t>1</a:t>
            </a:r>
            <a:r>
              <a:rPr kumimoji="0" lang="en-US" altLang="zh-CN" i="1" dirty="0">
                <a:latin typeface="+mn-lt"/>
                <a:ea typeface="楷体" panose="02010609060101010101" pitchFamily="49" charset="-122"/>
              </a:rPr>
              <a:t>E</a:t>
            </a:r>
            <a:r>
              <a:rPr kumimoji="0" lang="en-US" altLang="zh-CN" dirty="0">
                <a:latin typeface="+mn-lt"/>
                <a:ea typeface="楷体" panose="02010609060101010101" pitchFamily="49" charset="-122"/>
              </a:rPr>
              <a:t>=0.4m</a:t>
            </a:r>
            <a:r>
              <a:rPr kumimoji="0" lang="zh-CN" altLang="en-US" dirty="0">
                <a:latin typeface="+mn-lt"/>
                <a:ea typeface="楷体" panose="02010609060101010101" pitchFamily="49" charset="-122"/>
              </a:rPr>
              <a:t>，</a:t>
            </a:r>
            <a:r>
              <a:rPr kumimoji="0" lang="en-US" altLang="zh-CN" i="1" dirty="0">
                <a:latin typeface="+mn-lt"/>
                <a:ea typeface="楷体" panose="02010609060101010101" pitchFamily="49" charset="-122"/>
              </a:rPr>
              <a:t>EM</a:t>
            </a:r>
            <a:r>
              <a:rPr kumimoji="0" lang="en-US" altLang="zh-CN" dirty="0">
                <a:latin typeface="+mn-lt"/>
                <a:ea typeface="楷体" panose="02010609060101010101" pitchFamily="49" charset="-122"/>
              </a:rPr>
              <a:t>=0.6m</a:t>
            </a:r>
            <a:r>
              <a:rPr kumimoji="0" lang="zh-CN" altLang="en-US" dirty="0">
                <a:latin typeface="+mn-lt"/>
                <a:ea typeface="楷体" panose="02010609060101010101" pitchFamily="49" charset="-122"/>
              </a:rPr>
              <a:t>，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点</a:t>
            </a:r>
            <a:r>
              <a:rPr kumimoji="0" lang="en-US" altLang="zh-CN" i="1" dirty="0">
                <a:latin typeface="+mn-lt"/>
                <a:ea typeface="楷体" panose="02010609060101010101" pitchFamily="49" charset="-122"/>
              </a:rPr>
              <a:t>D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是线段</a:t>
            </a:r>
            <a:r>
              <a:rPr kumimoji="0" lang="en-US" altLang="zh-CN" i="1" dirty="0">
                <a:latin typeface="+mn-lt"/>
                <a:ea typeface="楷体" panose="02010609060101010101" pitchFamily="49" charset="-122"/>
              </a:rPr>
              <a:t>O</a:t>
            </a:r>
            <a:r>
              <a:rPr kumimoji="0" lang="en-US" altLang="zh-CN" b="1" baseline="-25000" dirty="0">
                <a:latin typeface="+mn-lt"/>
                <a:ea typeface="楷体" panose="02010609060101010101" pitchFamily="49" charset="-122"/>
              </a:rPr>
              <a:t>1</a:t>
            </a:r>
            <a:r>
              <a:rPr kumimoji="0" lang="en-US" altLang="zh-CN" i="1" dirty="0">
                <a:latin typeface="+mn-lt"/>
                <a:ea typeface="楷体" panose="02010609060101010101" pitchFamily="49" charset="-122"/>
              </a:rPr>
              <a:t>O</a:t>
            </a:r>
            <a:r>
              <a:rPr kumimoji="0" lang="en-US" altLang="zh-CN" b="1" baseline="-25000" dirty="0">
                <a:latin typeface="+mn-lt"/>
                <a:ea typeface="楷体" panose="02010609060101010101" pitchFamily="49" charset="-122"/>
              </a:rPr>
              <a:t>2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的中点，</a:t>
            </a:r>
            <a:r>
              <a:rPr kumimoji="0" lang="en-US" altLang="zh-CN" i="1" dirty="0">
                <a:latin typeface="+mn-lt"/>
                <a:ea typeface="楷体" panose="02010609060101010101" pitchFamily="49" charset="-122"/>
              </a:rPr>
              <a:t>EM</a:t>
            </a:r>
            <a:r>
              <a:rPr kumimoji="0" lang="en-US" altLang="zh-CN" dirty="0">
                <a:latin typeface="+mn-lt"/>
                <a:ea typeface="楷体" panose="02010609060101010101" pitchFamily="49" charset="-122"/>
              </a:rPr>
              <a:t>⊥</a:t>
            </a:r>
            <a:r>
              <a:rPr kumimoji="0" lang="en-US" altLang="zh-CN" i="1" dirty="0">
                <a:latin typeface="+mn-lt"/>
                <a:ea typeface="楷体" panose="02010609060101010101" pitchFamily="49" charset="-122"/>
              </a:rPr>
              <a:t>O</a:t>
            </a:r>
            <a:r>
              <a:rPr kumimoji="0" lang="en-US" altLang="zh-CN" baseline="-25000" dirty="0">
                <a:latin typeface="+mn-lt"/>
                <a:ea typeface="楷体" panose="02010609060101010101" pitchFamily="49" charset="-122"/>
              </a:rPr>
              <a:t>1</a:t>
            </a:r>
            <a:r>
              <a:rPr kumimoji="0" lang="en-US" altLang="zh-CN" i="1" dirty="0">
                <a:latin typeface="+mn-lt"/>
                <a:ea typeface="楷体" panose="02010609060101010101" pitchFamily="49" charset="-122"/>
              </a:rPr>
              <a:t>O</a:t>
            </a:r>
            <a:r>
              <a:rPr kumimoji="0" lang="en-US" altLang="zh-CN" baseline="-25000" dirty="0">
                <a:latin typeface="+mn-lt"/>
                <a:ea typeface="楷体" panose="02010609060101010101" pitchFamily="49" charset="-122"/>
              </a:rPr>
              <a:t>2</a:t>
            </a:r>
            <a:r>
              <a:rPr kumimoji="0"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试求</a:t>
            </a:r>
            <a:r>
              <a:rPr kumimoji="0" lang="en-US" altLang="zh-CN" i="1" dirty="0">
                <a:latin typeface="+mn-lt"/>
                <a:ea typeface="楷体" panose="02010609060101010101" pitchFamily="49" charset="-122"/>
              </a:rPr>
              <a:t>A</a:t>
            </a:r>
            <a:r>
              <a:rPr kumimoji="0" lang="zh-CN" altLang="en-US" dirty="0">
                <a:latin typeface="+mn-lt"/>
                <a:ea typeface="楷体" panose="02010609060101010101" pitchFamily="49" charset="-122"/>
              </a:rPr>
              <a:t>，</a:t>
            </a:r>
            <a:r>
              <a:rPr kumimoji="0" lang="en-US" altLang="zh-CN" i="1" dirty="0">
                <a:latin typeface="+mn-lt"/>
                <a:ea typeface="楷体" panose="02010609060101010101" pitchFamily="49" charset="-122"/>
              </a:rPr>
              <a:t>B</a:t>
            </a:r>
            <a:r>
              <a:rPr kumimoji="0" lang="zh-CN" altLang="en-US" dirty="0">
                <a:latin typeface="+mn-lt"/>
                <a:ea typeface="楷体" panose="02010609060101010101" pitchFamily="49" charset="-122"/>
              </a:rPr>
              <a:t>，</a:t>
            </a:r>
            <a:r>
              <a:rPr kumimoji="0" lang="en-US" altLang="zh-CN" i="1" dirty="0">
                <a:latin typeface="+mn-lt"/>
                <a:ea typeface="楷体" panose="02010609060101010101" pitchFamily="49" charset="-122"/>
              </a:rPr>
              <a:t>C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各处地面的铅直反力。</a:t>
            </a:r>
          </a:p>
        </p:txBody>
      </p:sp>
      <p:grpSp>
        <p:nvGrpSpPr>
          <p:cNvPr id="10243" name="Group 163"/>
          <p:cNvGrpSpPr>
            <a:grpSpLocks/>
          </p:cNvGrpSpPr>
          <p:nvPr/>
        </p:nvGrpSpPr>
        <p:grpSpPr bwMode="auto">
          <a:xfrm>
            <a:off x="611865" y="1891930"/>
            <a:ext cx="3587750" cy="1714944"/>
            <a:chOff x="1202" y="2010"/>
            <a:chExt cx="2069" cy="912"/>
          </a:xfrm>
        </p:grpSpPr>
        <p:sp>
          <p:nvSpPr>
            <p:cNvPr id="10279" name="Text Box 85"/>
            <p:cNvSpPr txBox="1">
              <a:spLocks noChangeArrowheads="1"/>
            </p:cNvSpPr>
            <p:nvPr/>
          </p:nvSpPr>
          <p:spPr bwMode="auto">
            <a:xfrm>
              <a:off x="1458" y="2655"/>
              <a:ext cx="201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1600" b="1" i="1">
                  <a:ea typeface="楷体_GB2312" pitchFamily="49" charset="-122"/>
                </a:rPr>
                <a:t>B</a:t>
              </a:r>
              <a:endParaRPr lang="en-US" altLang="zh-CN" sz="1600" b="1" i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280" name="Text Box 86"/>
            <p:cNvSpPr txBox="1">
              <a:spLocks noChangeArrowheads="1"/>
            </p:cNvSpPr>
            <p:nvPr/>
          </p:nvSpPr>
          <p:spPr bwMode="auto">
            <a:xfrm>
              <a:off x="2900" y="2542"/>
              <a:ext cx="201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1600" b="1" i="1">
                  <a:ea typeface="楷体_GB2312" pitchFamily="49" charset="-122"/>
                </a:rPr>
                <a:t>C</a:t>
              </a:r>
              <a:endParaRPr lang="en-US" altLang="zh-CN" sz="1600" b="1" i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281" name="Text Box 87"/>
            <p:cNvSpPr txBox="1">
              <a:spLocks noChangeArrowheads="1"/>
            </p:cNvSpPr>
            <p:nvPr/>
          </p:nvSpPr>
          <p:spPr bwMode="auto">
            <a:xfrm>
              <a:off x="1967" y="2630"/>
              <a:ext cx="244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1800" b="1" i="1">
                  <a:ea typeface="楷体_GB2312" pitchFamily="49" charset="-122"/>
                </a:rPr>
                <a:t>W</a:t>
              </a:r>
              <a:endParaRPr lang="en-US" altLang="zh-CN" sz="1800">
                <a:latin typeface="楷体_GB2312" pitchFamily="49" charset="-122"/>
                <a:ea typeface="楷体_GB2312" pitchFamily="49" charset="-122"/>
              </a:endParaRPr>
            </a:p>
          </p:txBody>
        </p:sp>
        <p:grpSp>
          <p:nvGrpSpPr>
            <p:cNvPr id="10282" name="Group 88"/>
            <p:cNvGrpSpPr>
              <a:grpSpLocks/>
            </p:cNvGrpSpPr>
            <p:nvPr/>
          </p:nvGrpSpPr>
          <p:grpSpPr bwMode="auto">
            <a:xfrm>
              <a:off x="1716" y="2121"/>
              <a:ext cx="215" cy="197"/>
              <a:chOff x="2569" y="2136"/>
              <a:chExt cx="215" cy="197"/>
            </a:xfrm>
          </p:grpSpPr>
          <p:sp>
            <p:nvSpPr>
              <p:cNvPr id="10355" name="Oval 89"/>
              <p:cNvSpPr>
                <a:spLocks noChangeArrowheads="1"/>
              </p:cNvSpPr>
              <p:nvPr/>
            </p:nvSpPr>
            <p:spPr bwMode="auto">
              <a:xfrm>
                <a:off x="2592" y="2136"/>
                <a:ext cx="192" cy="192"/>
              </a:xfrm>
              <a:prstGeom prst="ellipse">
                <a:avLst/>
              </a:prstGeom>
              <a:solidFill>
                <a:srgbClr val="B2B2B2"/>
              </a:solidFill>
              <a:ln w="1905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356" name="Oval 90"/>
              <p:cNvSpPr>
                <a:spLocks noChangeArrowheads="1"/>
              </p:cNvSpPr>
              <p:nvPr/>
            </p:nvSpPr>
            <p:spPr bwMode="auto">
              <a:xfrm>
                <a:off x="2569" y="2141"/>
                <a:ext cx="192" cy="192"/>
              </a:xfrm>
              <a:prstGeom prst="ellipse">
                <a:avLst/>
              </a:prstGeom>
              <a:solidFill>
                <a:srgbClr val="B2B2B2"/>
              </a:solidFill>
              <a:ln w="1905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0283" name="Group 91"/>
            <p:cNvGrpSpPr>
              <a:grpSpLocks/>
            </p:cNvGrpSpPr>
            <p:nvPr/>
          </p:nvGrpSpPr>
          <p:grpSpPr bwMode="auto">
            <a:xfrm>
              <a:off x="1508" y="2319"/>
              <a:ext cx="542" cy="48"/>
              <a:chOff x="3264" y="1920"/>
              <a:chExt cx="542" cy="48"/>
            </a:xfrm>
          </p:grpSpPr>
          <p:sp>
            <p:nvSpPr>
              <p:cNvPr id="10341" name="Line 92"/>
              <p:cNvSpPr>
                <a:spLocks noChangeShapeType="1"/>
              </p:cNvSpPr>
              <p:nvPr/>
            </p:nvSpPr>
            <p:spPr bwMode="auto">
              <a:xfrm>
                <a:off x="3298" y="1920"/>
                <a:ext cx="508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0342" name="Group 93"/>
              <p:cNvGrpSpPr>
                <a:grpSpLocks/>
              </p:cNvGrpSpPr>
              <p:nvPr/>
            </p:nvGrpSpPr>
            <p:grpSpPr bwMode="auto">
              <a:xfrm>
                <a:off x="3264" y="1920"/>
                <a:ext cx="528" cy="48"/>
                <a:chOff x="3264" y="1920"/>
                <a:chExt cx="528" cy="48"/>
              </a:xfrm>
            </p:grpSpPr>
            <p:grpSp>
              <p:nvGrpSpPr>
                <p:cNvPr id="10343" name="Group 94"/>
                <p:cNvGrpSpPr>
                  <a:grpSpLocks/>
                </p:cNvGrpSpPr>
                <p:nvPr/>
              </p:nvGrpSpPr>
              <p:grpSpPr bwMode="auto">
                <a:xfrm>
                  <a:off x="3312" y="1920"/>
                  <a:ext cx="480" cy="48"/>
                  <a:chOff x="3312" y="1920"/>
                  <a:chExt cx="480" cy="48"/>
                </a:xfrm>
              </p:grpSpPr>
              <p:sp>
                <p:nvSpPr>
                  <p:cNvPr id="10345" name="Line 9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312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346" name="Line 9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360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347" name="Line 9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408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348" name="Line 9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456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349" name="Line 9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00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350" name="Line 10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48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351" name="Line 10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96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352" name="Line 10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744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353" name="Line 10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504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354" name="Line 10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552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0344" name="Line 105"/>
                <p:cNvSpPr>
                  <a:spLocks noChangeShapeType="1"/>
                </p:cNvSpPr>
                <p:nvPr/>
              </p:nvSpPr>
              <p:spPr bwMode="auto">
                <a:xfrm flipH="1">
                  <a:off x="3264" y="1920"/>
                  <a:ext cx="48" cy="4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0284" name="AutoShape 106"/>
            <p:cNvSpPr>
              <a:spLocks noChangeArrowheads="1"/>
            </p:cNvSpPr>
            <p:nvPr/>
          </p:nvSpPr>
          <p:spPr bwMode="auto">
            <a:xfrm>
              <a:off x="1289" y="2222"/>
              <a:ext cx="1632" cy="384"/>
            </a:xfrm>
            <a:prstGeom prst="cube">
              <a:avLst>
                <a:gd name="adj" fmla="val 81630"/>
              </a:avLst>
            </a:prstGeom>
            <a:solidFill>
              <a:srgbClr val="B2B2B2"/>
            </a:solidFill>
            <a:ln w="19050">
              <a:solidFill>
                <a:schemeClr val="tx1"/>
              </a:solidFill>
              <a:miter lim="800000"/>
              <a:headEnd/>
              <a:tailEnd type="none" w="sm" len="lg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10285" name="Group 107"/>
            <p:cNvGrpSpPr>
              <a:grpSpLocks/>
            </p:cNvGrpSpPr>
            <p:nvPr/>
          </p:nvGrpSpPr>
          <p:grpSpPr bwMode="auto">
            <a:xfrm>
              <a:off x="1410" y="2486"/>
              <a:ext cx="215" cy="197"/>
              <a:chOff x="2569" y="2136"/>
              <a:chExt cx="215" cy="197"/>
            </a:xfrm>
          </p:grpSpPr>
          <p:sp>
            <p:nvSpPr>
              <p:cNvPr id="10339" name="Oval 108"/>
              <p:cNvSpPr>
                <a:spLocks noChangeArrowheads="1"/>
              </p:cNvSpPr>
              <p:nvPr/>
            </p:nvSpPr>
            <p:spPr bwMode="auto">
              <a:xfrm>
                <a:off x="2592" y="2136"/>
                <a:ext cx="192" cy="192"/>
              </a:xfrm>
              <a:prstGeom prst="ellipse">
                <a:avLst/>
              </a:prstGeom>
              <a:solidFill>
                <a:srgbClr val="B2B2B2"/>
              </a:solidFill>
              <a:ln w="1905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340" name="Oval 109"/>
              <p:cNvSpPr>
                <a:spLocks noChangeArrowheads="1"/>
              </p:cNvSpPr>
              <p:nvPr/>
            </p:nvSpPr>
            <p:spPr bwMode="auto">
              <a:xfrm>
                <a:off x="2569" y="2141"/>
                <a:ext cx="192" cy="192"/>
              </a:xfrm>
              <a:prstGeom prst="ellipse">
                <a:avLst/>
              </a:prstGeom>
              <a:solidFill>
                <a:srgbClr val="B2B2B2"/>
              </a:solidFill>
              <a:ln w="1905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10286" name="Oval 110"/>
            <p:cNvSpPr>
              <a:spLocks noChangeArrowheads="1"/>
            </p:cNvSpPr>
            <p:nvPr/>
          </p:nvSpPr>
          <p:spPr bwMode="auto">
            <a:xfrm>
              <a:off x="1471" y="2565"/>
              <a:ext cx="48" cy="48"/>
            </a:xfrm>
            <a:prstGeom prst="ellipse">
              <a:avLst/>
            </a:prstGeom>
            <a:solidFill>
              <a:srgbClr val="FDD219"/>
            </a:solidFill>
            <a:ln w="12700" cap="sq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10287" name="Group 111"/>
            <p:cNvGrpSpPr>
              <a:grpSpLocks/>
            </p:cNvGrpSpPr>
            <p:nvPr/>
          </p:nvGrpSpPr>
          <p:grpSpPr bwMode="auto">
            <a:xfrm>
              <a:off x="1202" y="2684"/>
              <a:ext cx="542" cy="48"/>
              <a:chOff x="3264" y="1920"/>
              <a:chExt cx="542" cy="48"/>
            </a:xfrm>
          </p:grpSpPr>
          <p:sp>
            <p:nvSpPr>
              <p:cNvPr id="10325" name="Line 112"/>
              <p:cNvSpPr>
                <a:spLocks noChangeShapeType="1"/>
              </p:cNvSpPr>
              <p:nvPr/>
            </p:nvSpPr>
            <p:spPr bwMode="auto">
              <a:xfrm>
                <a:off x="3298" y="1920"/>
                <a:ext cx="508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0326" name="Group 113"/>
              <p:cNvGrpSpPr>
                <a:grpSpLocks/>
              </p:cNvGrpSpPr>
              <p:nvPr/>
            </p:nvGrpSpPr>
            <p:grpSpPr bwMode="auto">
              <a:xfrm>
                <a:off x="3264" y="1920"/>
                <a:ext cx="528" cy="48"/>
                <a:chOff x="3264" y="1920"/>
                <a:chExt cx="528" cy="48"/>
              </a:xfrm>
            </p:grpSpPr>
            <p:grpSp>
              <p:nvGrpSpPr>
                <p:cNvPr id="10327" name="Group 114"/>
                <p:cNvGrpSpPr>
                  <a:grpSpLocks/>
                </p:cNvGrpSpPr>
                <p:nvPr/>
              </p:nvGrpSpPr>
              <p:grpSpPr bwMode="auto">
                <a:xfrm>
                  <a:off x="3312" y="1920"/>
                  <a:ext cx="480" cy="48"/>
                  <a:chOff x="3312" y="1920"/>
                  <a:chExt cx="480" cy="48"/>
                </a:xfrm>
              </p:grpSpPr>
              <p:sp>
                <p:nvSpPr>
                  <p:cNvPr id="10329" name="Line 11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312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330" name="Line 11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360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331" name="Line 11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408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332" name="Line 11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456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333" name="Line 11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00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334" name="Line 12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48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335" name="Line 12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96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336" name="Line 12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744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337" name="Line 12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504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338" name="Line 12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552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0328" name="Line 125"/>
                <p:cNvSpPr>
                  <a:spLocks noChangeShapeType="1"/>
                </p:cNvSpPr>
                <p:nvPr/>
              </p:nvSpPr>
              <p:spPr bwMode="auto">
                <a:xfrm flipH="1">
                  <a:off x="3264" y="1920"/>
                  <a:ext cx="48" cy="4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0288" name="Group 126"/>
            <p:cNvGrpSpPr>
              <a:grpSpLocks/>
            </p:cNvGrpSpPr>
            <p:nvPr/>
          </p:nvGrpSpPr>
          <p:grpSpPr bwMode="auto">
            <a:xfrm>
              <a:off x="2705" y="2366"/>
              <a:ext cx="566" cy="246"/>
              <a:chOff x="3864" y="2016"/>
              <a:chExt cx="566" cy="246"/>
            </a:xfrm>
          </p:grpSpPr>
          <p:sp>
            <p:nvSpPr>
              <p:cNvPr id="10304" name="AutoShape 127"/>
              <p:cNvSpPr>
                <a:spLocks noChangeArrowheads="1"/>
              </p:cNvSpPr>
              <p:nvPr/>
            </p:nvSpPr>
            <p:spPr bwMode="auto">
              <a:xfrm>
                <a:off x="3902" y="2030"/>
                <a:ext cx="432" cy="96"/>
              </a:xfrm>
              <a:prstGeom prst="cube">
                <a:avLst>
                  <a:gd name="adj" fmla="val 8750"/>
                </a:avLst>
              </a:prstGeom>
              <a:solidFill>
                <a:srgbClr val="B2B2B2"/>
              </a:solidFill>
              <a:ln w="19050">
                <a:solidFill>
                  <a:schemeClr val="tx1"/>
                </a:solidFill>
                <a:miter lim="800000"/>
                <a:headEnd/>
                <a:tailEnd type="none" w="sm" len="lg"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10305" name="Group 128"/>
              <p:cNvGrpSpPr>
                <a:grpSpLocks/>
              </p:cNvGrpSpPr>
              <p:nvPr/>
            </p:nvGrpSpPr>
            <p:grpSpPr bwMode="auto">
              <a:xfrm>
                <a:off x="4096" y="2016"/>
                <a:ext cx="215" cy="197"/>
                <a:chOff x="2569" y="2136"/>
                <a:chExt cx="215" cy="197"/>
              </a:xfrm>
            </p:grpSpPr>
            <p:sp>
              <p:nvSpPr>
                <p:cNvPr id="10323" name="Oval 129"/>
                <p:cNvSpPr>
                  <a:spLocks noChangeArrowheads="1"/>
                </p:cNvSpPr>
                <p:nvPr/>
              </p:nvSpPr>
              <p:spPr bwMode="auto">
                <a:xfrm>
                  <a:off x="2592" y="2136"/>
                  <a:ext cx="192" cy="192"/>
                </a:xfrm>
                <a:prstGeom prst="ellipse">
                  <a:avLst/>
                </a:prstGeom>
                <a:solidFill>
                  <a:srgbClr val="B2B2B2"/>
                </a:solidFill>
                <a:ln w="19050">
                  <a:solidFill>
                    <a:schemeClr val="tx1"/>
                  </a:solidFill>
                  <a:round/>
                  <a:headEnd/>
                  <a:tailEnd type="none" w="sm" len="lg"/>
                </a:ln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0324" name="Oval 130"/>
                <p:cNvSpPr>
                  <a:spLocks noChangeArrowheads="1"/>
                </p:cNvSpPr>
                <p:nvPr/>
              </p:nvSpPr>
              <p:spPr bwMode="auto">
                <a:xfrm>
                  <a:off x="2569" y="2141"/>
                  <a:ext cx="192" cy="192"/>
                </a:xfrm>
                <a:prstGeom prst="ellipse">
                  <a:avLst/>
                </a:prstGeom>
                <a:solidFill>
                  <a:srgbClr val="B2B2B2"/>
                </a:solidFill>
                <a:ln w="19050">
                  <a:solidFill>
                    <a:schemeClr val="tx1"/>
                  </a:solidFill>
                  <a:round/>
                  <a:headEnd/>
                  <a:tailEnd type="none" w="sm" len="lg"/>
                </a:ln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</p:grpSp>
          <p:grpSp>
            <p:nvGrpSpPr>
              <p:cNvPr id="10306" name="Group 131"/>
              <p:cNvGrpSpPr>
                <a:grpSpLocks/>
              </p:cNvGrpSpPr>
              <p:nvPr/>
            </p:nvGrpSpPr>
            <p:grpSpPr bwMode="auto">
              <a:xfrm>
                <a:off x="3888" y="2214"/>
                <a:ext cx="542" cy="48"/>
                <a:chOff x="3264" y="1920"/>
                <a:chExt cx="542" cy="48"/>
              </a:xfrm>
            </p:grpSpPr>
            <p:sp>
              <p:nvSpPr>
                <p:cNvPr id="10309" name="Line 132"/>
                <p:cNvSpPr>
                  <a:spLocks noChangeShapeType="1"/>
                </p:cNvSpPr>
                <p:nvPr/>
              </p:nvSpPr>
              <p:spPr bwMode="auto">
                <a:xfrm>
                  <a:off x="3298" y="1920"/>
                  <a:ext cx="508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0310" name="Group 133"/>
                <p:cNvGrpSpPr>
                  <a:grpSpLocks/>
                </p:cNvGrpSpPr>
                <p:nvPr/>
              </p:nvGrpSpPr>
              <p:grpSpPr bwMode="auto">
                <a:xfrm>
                  <a:off x="3264" y="1920"/>
                  <a:ext cx="528" cy="48"/>
                  <a:chOff x="3264" y="1920"/>
                  <a:chExt cx="528" cy="48"/>
                </a:xfrm>
              </p:grpSpPr>
              <p:grpSp>
                <p:nvGrpSpPr>
                  <p:cNvPr id="10311" name="Group 134"/>
                  <p:cNvGrpSpPr>
                    <a:grpSpLocks/>
                  </p:cNvGrpSpPr>
                  <p:nvPr/>
                </p:nvGrpSpPr>
                <p:grpSpPr bwMode="auto">
                  <a:xfrm>
                    <a:off x="3312" y="1920"/>
                    <a:ext cx="480" cy="48"/>
                    <a:chOff x="3312" y="1920"/>
                    <a:chExt cx="480" cy="48"/>
                  </a:xfrm>
                </p:grpSpPr>
                <p:sp>
                  <p:nvSpPr>
                    <p:cNvPr id="10313" name="Line 135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312" y="1920"/>
                      <a:ext cx="48" cy="48"/>
                    </a:xfrm>
                    <a:prstGeom prst="line">
                      <a:avLst/>
                    </a:prstGeom>
                    <a:noFill/>
                    <a:ln w="12700" cap="sq">
                      <a:solidFill>
                        <a:schemeClr val="tx1"/>
                      </a:solidFill>
                      <a:round/>
                      <a:headEnd/>
                      <a:tailEnd type="none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314" name="Line 136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360" y="1920"/>
                      <a:ext cx="48" cy="48"/>
                    </a:xfrm>
                    <a:prstGeom prst="line">
                      <a:avLst/>
                    </a:prstGeom>
                    <a:noFill/>
                    <a:ln w="12700" cap="sq">
                      <a:solidFill>
                        <a:schemeClr val="tx1"/>
                      </a:solidFill>
                      <a:round/>
                      <a:headEnd/>
                      <a:tailEnd type="none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315" name="Line 137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408" y="1920"/>
                      <a:ext cx="48" cy="48"/>
                    </a:xfrm>
                    <a:prstGeom prst="line">
                      <a:avLst/>
                    </a:prstGeom>
                    <a:noFill/>
                    <a:ln w="12700" cap="sq">
                      <a:solidFill>
                        <a:schemeClr val="tx1"/>
                      </a:solidFill>
                      <a:round/>
                      <a:headEnd/>
                      <a:tailEnd type="none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316" name="Line 138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456" y="1920"/>
                      <a:ext cx="48" cy="48"/>
                    </a:xfrm>
                    <a:prstGeom prst="line">
                      <a:avLst/>
                    </a:prstGeom>
                    <a:noFill/>
                    <a:ln w="12700" cap="sq">
                      <a:solidFill>
                        <a:schemeClr val="tx1"/>
                      </a:solidFill>
                      <a:round/>
                      <a:headEnd/>
                      <a:tailEnd type="none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317" name="Line 139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600" y="1920"/>
                      <a:ext cx="48" cy="48"/>
                    </a:xfrm>
                    <a:prstGeom prst="line">
                      <a:avLst/>
                    </a:prstGeom>
                    <a:noFill/>
                    <a:ln w="12700" cap="sq">
                      <a:solidFill>
                        <a:schemeClr val="tx1"/>
                      </a:solidFill>
                      <a:round/>
                      <a:headEnd/>
                      <a:tailEnd type="none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318" name="Line 140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648" y="1920"/>
                      <a:ext cx="48" cy="48"/>
                    </a:xfrm>
                    <a:prstGeom prst="line">
                      <a:avLst/>
                    </a:prstGeom>
                    <a:noFill/>
                    <a:ln w="12700" cap="sq">
                      <a:solidFill>
                        <a:schemeClr val="tx1"/>
                      </a:solidFill>
                      <a:round/>
                      <a:headEnd/>
                      <a:tailEnd type="none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319" name="Line 141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696" y="1920"/>
                      <a:ext cx="48" cy="48"/>
                    </a:xfrm>
                    <a:prstGeom prst="line">
                      <a:avLst/>
                    </a:prstGeom>
                    <a:noFill/>
                    <a:ln w="12700" cap="sq">
                      <a:solidFill>
                        <a:schemeClr val="tx1"/>
                      </a:solidFill>
                      <a:round/>
                      <a:headEnd/>
                      <a:tailEnd type="none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320" name="Line 142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744" y="1920"/>
                      <a:ext cx="48" cy="48"/>
                    </a:xfrm>
                    <a:prstGeom prst="line">
                      <a:avLst/>
                    </a:prstGeom>
                    <a:noFill/>
                    <a:ln w="12700" cap="sq">
                      <a:solidFill>
                        <a:schemeClr val="tx1"/>
                      </a:solidFill>
                      <a:round/>
                      <a:headEnd/>
                      <a:tailEnd type="none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321" name="Line 143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504" y="1920"/>
                      <a:ext cx="48" cy="48"/>
                    </a:xfrm>
                    <a:prstGeom prst="line">
                      <a:avLst/>
                    </a:prstGeom>
                    <a:noFill/>
                    <a:ln w="12700" cap="sq">
                      <a:solidFill>
                        <a:schemeClr val="tx1"/>
                      </a:solidFill>
                      <a:round/>
                      <a:headEnd/>
                      <a:tailEnd type="none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322" name="Line 144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552" y="1920"/>
                      <a:ext cx="48" cy="48"/>
                    </a:xfrm>
                    <a:prstGeom prst="line">
                      <a:avLst/>
                    </a:prstGeom>
                    <a:noFill/>
                    <a:ln w="12700" cap="sq">
                      <a:solidFill>
                        <a:schemeClr val="tx1"/>
                      </a:solidFill>
                      <a:round/>
                      <a:headEnd/>
                      <a:tailEnd type="none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10312" name="Line 14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264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10307" name="AutoShape 146"/>
              <p:cNvSpPr>
                <a:spLocks noChangeArrowheads="1"/>
              </p:cNvSpPr>
              <p:nvPr/>
            </p:nvSpPr>
            <p:spPr bwMode="auto">
              <a:xfrm>
                <a:off x="3864" y="2069"/>
                <a:ext cx="432" cy="96"/>
              </a:xfrm>
              <a:prstGeom prst="cube">
                <a:avLst>
                  <a:gd name="adj" fmla="val 8750"/>
                </a:avLst>
              </a:prstGeom>
              <a:solidFill>
                <a:srgbClr val="B2B2B2"/>
              </a:solidFill>
              <a:ln w="19050">
                <a:solidFill>
                  <a:schemeClr val="tx1"/>
                </a:solidFill>
                <a:miter lim="800000"/>
                <a:headEnd/>
                <a:tailEnd type="none" w="sm" len="lg"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308" name="Oval 147"/>
              <p:cNvSpPr>
                <a:spLocks noChangeArrowheads="1"/>
              </p:cNvSpPr>
              <p:nvPr/>
            </p:nvSpPr>
            <p:spPr bwMode="auto">
              <a:xfrm>
                <a:off x="4157" y="2095"/>
                <a:ext cx="48" cy="48"/>
              </a:xfrm>
              <a:prstGeom prst="ellipse">
                <a:avLst/>
              </a:prstGeom>
              <a:solidFill>
                <a:srgbClr val="FFFFFF"/>
              </a:solidFill>
              <a:ln w="12700" cap="sq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10289" name="Line 148"/>
            <p:cNvSpPr>
              <a:spLocks noChangeShapeType="1"/>
            </p:cNvSpPr>
            <p:nvPr/>
          </p:nvSpPr>
          <p:spPr bwMode="auto">
            <a:xfrm flipH="1">
              <a:off x="1524" y="2217"/>
              <a:ext cx="274" cy="27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90" name="Line 149"/>
            <p:cNvSpPr>
              <a:spLocks noChangeShapeType="1"/>
            </p:cNvSpPr>
            <p:nvPr/>
          </p:nvSpPr>
          <p:spPr bwMode="auto">
            <a:xfrm>
              <a:off x="1721" y="2318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91" name="Line 150"/>
            <p:cNvSpPr>
              <a:spLocks noChangeShapeType="1"/>
            </p:cNvSpPr>
            <p:nvPr/>
          </p:nvSpPr>
          <p:spPr bwMode="auto">
            <a:xfrm>
              <a:off x="2009" y="2318"/>
              <a:ext cx="0" cy="48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92" name="Line 151"/>
            <p:cNvSpPr>
              <a:spLocks noChangeShapeType="1"/>
            </p:cNvSpPr>
            <p:nvPr/>
          </p:nvSpPr>
          <p:spPr bwMode="auto">
            <a:xfrm>
              <a:off x="1255" y="2395"/>
              <a:ext cx="149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93" name="Text Box 152"/>
            <p:cNvSpPr txBox="1">
              <a:spLocks noChangeArrowheads="1"/>
            </p:cNvSpPr>
            <p:nvPr/>
          </p:nvSpPr>
          <p:spPr bwMode="auto">
            <a:xfrm>
              <a:off x="1541" y="2162"/>
              <a:ext cx="201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1600" b="1" i="1">
                  <a:ea typeface="楷体_GB2312" pitchFamily="49" charset="-122"/>
                </a:rPr>
                <a:t>E</a:t>
              </a:r>
              <a:endParaRPr lang="en-US" altLang="zh-CN" sz="1600" b="1" i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294" name="Text Box 153"/>
            <p:cNvSpPr txBox="1">
              <a:spLocks noChangeArrowheads="1"/>
            </p:cNvSpPr>
            <p:nvPr/>
          </p:nvSpPr>
          <p:spPr bwMode="auto">
            <a:xfrm>
              <a:off x="2964" y="2140"/>
              <a:ext cx="252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1600" b="1" i="1">
                  <a:ea typeface="楷体_GB2312" pitchFamily="49" charset="-122"/>
                </a:rPr>
                <a:t>O</a:t>
              </a:r>
              <a:r>
                <a:rPr lang="en-US" altLang="zh-CN" sz="1600" b="1" baseline="-25000">
                  <a:ea typeface="楷体_GB2312" pitchFamily="49" charset="-122"/>
                </a:rPr>
                <a:t>3</a:t>
              </a:r>
              <a:endParaRPr lang="en-US" altLang="zh-CN" sz="1600" b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295" name="Text Box 154"/>
            <p:cNvSpPr txBox="1">
              <a:spLocks noChangeArrowheads="1"/>
            </p:cNvSpPr>
            <p:nvPr/>
          </p:nvSpPr>
          <p:spPr bwMode="auto">
            <a:xfrm>
              <a:off x="1308" y="2371"/>
              <a:ext cx="252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1600" b="1" i="1" dirty="0">
                  <a:solidFill>
                    <a:srgbClr val="FF3300"/>
                  </a:solidFill>
                  <a:ea typeface="楷体_GB2312" pitchFamily="49" charset="-122"/>
                </a:rPr>
                <a:t>O</a:t>
              </a:r>
              <a:r>
                <a:rPr lang="en-US" altLang="zh-CN" sz="1600" b="1" baseline="-25000" dirty="0">
                  <a:solidFill>
                    <a:srgbClr val="FF3300"/>
                  </a:solidFill>
                  <a:ea typeface="楷体_GB2312" pitchFamily="49" charset="-122"/>
                </a:rPr>
                <a:t>2</a:t>
              </a:r>
              <a:endParaRPr lang="en-US" altLang="zh-CN" sz="16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296" name="Text Box 155"/>
            <p:cNvSpPr txBox="1">
              <a:spLocks noChangeArrowheads="1"/>
            </p:cNvSpPr>
            <p:nvPr/>
          </p:nvSpPr>
          <p:spPr bwMode="auto">
            <a:xfrm>
              <a:off x="1500" y="2010"/>
              <a:ext cx="252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1600" b="1" i="1" dirty="0">
                  <a:solidFill>
                    <a:srgbClr val="FF3300"/>
                  </a:solidFill>
                  <a:ea typeface="楷体_GB2312" pitchFamily="49" charset="-122"/>
                </a:rPr>
                <a:t>O</a:t>
              </a:r>
              <a:r>
                <a:rPr lang="en-US" altLang="zh-CN" sz="1600" b="1" baseline="-25000" dirty="0">
                  <a:solidFill>
                    <a:srgbClr val="FF3300"/>
                  </a:solidFill>
                  <a:ea typeface="楷体_GB2312" pitchFamily="49" charset="-122"/>
                </a:rPr>
                <a:t>1</a:t>
              </a:r>
              <a:endParaRPr lang="en-US" altLang="zh-CN" sz="16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297" name="Text Box 156"/>
            <p:cNvSpPr txBox="1">
              <a:spLocks noChangeArrowheads="1"/>
            </p:cNvSpPr>
            <p:nvPr/>
          </p:nvSpPr>
          <p:spPr bwMode="auto">
            <a:xfrm>
              <a:off x="1575" y="2339"/>
              <a:ext cx="208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1600" b="1" i="1" dirty="0">
                  <a:ea typeface="楷体_GB2312" pitchFamily="49" charset="-122"/>
                </a:rPr>
                <a:t>D</a:t>
              </a:r>
              <a:endParaRPr lang="en-US" altLang="zh-CN" sz="1600" b="1" i="1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298" name="Text Box 157"/>
            <p:cNvSpPr txBox="1">
              <a:spLocks noChangeArrowheads="1"/>
            </p:cNvSpPr>
            <p:nvPr/>
          </p:nvSpPr>
          <p:spPr bwMode="auto">
            <a:xfrm>
              <a:off x="2015" y="2159"/>
              <a:ext cx="212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1600" b="1" i="1" dirty="0">
                  <a:ea typeface="楷体_GB2312" pitchFamily="49" charset="-122"/>
                </a:rPr>
                <a:t>M</a:t>
              </a:r>
              <a:endParaRPr lang="en-US" altLang="zh-CN" sz="16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299" name="Oval 158"/>
            <p:cNvSpPr>
              <a:spLocks noChangeArrowheads="1"/>
            </p:cNvSpPr>
            <p:nvPr/>
          </p:nvSpPr>
          <p:spPr bwMode="auto">
            <a:xfrm>
              <a:off x="1985" y="2296"/>
              <a:ext cx="48" cy="48"/>
            </a:xfrm>
            <a:prstGeom prst="ellipse">
              <a:avLst/>
            </a:prstGeom>
            <a:solidFill>
              <a:srgbClr val="FDD219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300" name="Oval 159"/>
            <p:cNvSpPr>
              <a:spLocks noChangeArrowheads="1"/>
            </p:cNvSpPr>
            <p:nvPr/>
          </p:nvSpPr>
          <p:spPr bwMode="auto">
            <a:xfrm>
              <a:off x="1777" y="2200"/>
              <a:ext cx="48" cy="48"/>
            </a:xfrm>
            <a:prstGeom prst="ellipse">
              <a:avLst/>
            </a:prstGeom>
            <a:solidFill>
              <a:srgbClr val="FDD219"/>
            </a:solidFill>
            <a:ln w="12700" cap="sq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301" name="Oval 160"/>
            <p:cNvSpPr>
              <a:spLocks noChangeArrowheads="1"/>
            </p:cNvSpPr>
            <p:nvPr/>
          </p:nvSpPr>
          <p:spPr bwMode="auto">
            <a:xfrm>
              <a:off x="1603" y="2379"/>
              <a:ext cx="35" cy="35"/>
            </a:xfrm>
            <a:prstGeom prst="ellipse">
              <a:avLst/>
            </a:prstGeom>
            <a:solidFill>
              <a:srgbClr val="FDD21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302" name="Oval 161"/>
            <p:cNvSpPr>
              <a:spLocks noChangeArrowheads="1"/>
            </p:cNvSpPr>
            <p:nvPr/>
          </p:nvSpPr>
          <p:spPr bwMode="auto">
            <a:xfrm>
              <a:off x="1691" y="2288"/>
              <a:ext cx="35" cy="38"/>
            </a:xfrm>
            <a:prstGeom prst="ellipse">
              <a:avLst/>
            </a:prstGeom>
            <a:solidFill>
              <a:srgbClr val="FDD21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303" name="Text Box 162"/>
            <p:cNvSpPr txBox="1">
              <a:spLocks noChangeArrowheads="1"/>
            </p:cNvSpPr>
            <p:nvPr/>
          </p:nvSpPr>
          <p:spPr bwMode="auto">
            <a:xfrm>
              <a:off x="1905" y="2013"/>
              <a:ext cx="198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1600" b="1" i="1" dirty="0">
                  <a:ea typeface="楷体_GB2312" pitchFamily="49" charset="-122"/>
                </a:rPr>
                <a:t>A</a:t>
              </a:r>
              <a:endParaRPr lang="en-US" altLang="zh-CN" sz="1600" b="1" i="1" dirty="0"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26788" name="Text Box 164"/>
          <p:cNvSpPr txBox="1">
            <a:spLocks noChangeArrowheads="1"/>
          </p:cNvSpPr>
          <p:nvPr/>
        </p:nvSpPr>
        <p:spPr bwMode="auto">
          <a:xfrm>
            <a:off x="486720" y="3454560"/>
            <a:ext cx="3435556" cy="518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zh-CN" altLang="en-US" b="1" dirty="0">
                <a:solidFill>
                  <a:srgbClr val="00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解</a:t>
            </a:r>
            <a:r>
              <a:rPr lang="en-US" altLang="zh-CN" b="1" dirty="0">
                <a:solidFill>
                  <a:srgbClr val="00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取货车为研究对象</a:t>
            </a:r>
          </a:p>
        </p:txBody>
      </p:sp>
      <p:sp>
        <p:nvSpPr>
          <p:cNvPr id="26789" name="Text Box 165"/>
          <p:cNvSpPr txBox="1">
            <a:spLocks noChangeArrowheads="1"/>
          </p:cNvSpPr>
          <p:nvPr/>
        </p:nvSpPr>
        <p:spPr bwMode="auto">
          <a:xfrm>
            <a:off x="962900" y="3904064"/>
            <a:ext cx="2351926" cy="518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受力分析如图</a:t>
            </a:r>
          </a:p>
        </p:txBody>
      </p:sp>
      <p:grpSp>
        <p:nvGrpSpPr>
          <p:cNvPr id="16" name="Group 199"/>
          <p:cNvGrpSpPr>
            <a:grpSpLocks/>
          </p:cNvGrpSpPr>
          <p:nvPr/>
        </p:nvGrpSpPr>
        <p:grpSpPr bwMode="auto">
          <a:xfrm>
            <a:off x="5025188" y="1899531"/>
            <a:ext cx="3573463" cy="2222500"/>
            <a:chOff x="3096" y="1787"/>
            <a:chExt cx="2251" cy="1400"/>
          </a:xfrm>
        </p:grpSpPr>
        <p:sp>
          <p:nvSpPr>
            <p:cNvPr id="10270" name="Line 223"/>
            <p:cNvSpPr>
              <a:spLocks noChangeShapeType="1"/>
            </p:cNvSpPr>
            <p:nvPr/>
          </p:nvSpPr>
          <p:spPr bwMode="auto">
            <a:xfrm flipV="1">
              <a:off x="3772" y="1862"/>
              <a:ext cx="0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47" name="Text Box 200"/>
            <p:cNvSpPr txBox="1">
              <a:spLocks noChangeArrowheads="1"/>
            </p:cNvSpPr>
            <p:nvPr/>
          </p:nvSpPr>
          <p:spPr bwMode="auto">
            <a:xfrm>
              <a:off x="3096" y="2763"/>
              <a:ext cx="187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2000" i="1">
                  <a:ea typeface="楷体_GB2312" pitchFamily="49" charset="-122"/>
                </a:rPr>
                <a:t>x</a:t>
              </a:r>
              <a:endParaRPr lang="en-US" altLang="zh-CN" sz="2000" i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248" name="Text Box 201"/>
            <p:cNvSpPr txBox="1">
              <a:spLocks noChangeArrowheads="1"/>
            </p:cNvSpPr>
            <p:nvPr/>
          </p:nvSpPr>
          <p:spPr bwMode="auto">
            <a:xfrm>
              <a:off x="3795" y="1787"/>
              <a:ext cx="178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2000" i="1" dirty="0">
                  <a:ea typeface="楷体_GB2312" pitchFamily="49" charset="-122"/>
                </a:rPr>
                <a:t>z</a:t>
              </a:r>
              <a:endParaRPr lang="en-US" altLang="zh-CN" sz="2000" i="1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249" name="Text Box 202"/>
            <p:cNvSpPr txBox="1">
              <a:spLocks noChangeArrowheads="1"/>
            </p:cNvSpPr>
            <p:nvPr/>
          </p:nvSpPr>
          <p:spPr bwMode="auto">
            <a:xfrm>
              <a:off x="5160" y="2197"/>
              <a:ext cx="187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2000" i="1">
                  <a:ea typeface="楷体_GB2312" pitchFamily="49" charset="-122"/>
                </a:rPr>
                <a:t>y</a:t>
              </a:r>
              <a:endParaRPr lang="en-US" altLang="zh-CN" sz="2000" i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250" name="Text Box 203"/>
            <p:cNvSpPr txBox="1">
              <a:spLocks noChangeArrowheads="1"/>
            </p:cNvSpPr>
            <p:nvPr/>
          </p:nvSpPr>
          <p:spPr bwMode="auto">
            <a:xfrm>
              <a:off x="3222" y="2286"/>
              <a:ext cx="271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1800" b="1" i="1">
                  <a:solidFill>
                    <a:srgbClr val="FF3300"/>
                  </a:solidFill>
                  <a:ea typeface="楷体_GB2312" pitchFamily="49" charset="-122"/>
                </a:rPr>
                <a:t>F</a:t>
              </a:r>
              <a:r>
                <a:rPr lang="en-US" altLang="zh-CN" sz="1800" i="1" baseline="-25000">
                  <a:solidFill>
                    <a:srgbClr val="FF3300"/>
                  </a:solidFill>
                  <a:ea typeface="楷体_GB2312" pitchFamily="49" charset="-122"/>
                </a:rPr>
                <a:t>B</a:t>
              </a:r>
              <a:endParaRPr lang="en-US" altLang="zh-CN" sz="1800" i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251" name="Text Box 204"/>
            <p:cNvSpPr txBox="1">
              <a:spLocks noChangeArrowheads="1"/>
            </p:cNvSpPr>
            <p:nvPr/>
          </p:nvSpPr>
          <p:spPr bwMode="auto">
            <a:xfrm>
              <a:off x="3951" y="2895"/>
              <a:ext cx="244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1800" b="1" i="1">
                  <a:solidFill>
                    <a:srgbClr val="FF3300"/>
                  </a:solidFill>
                  <a:ea typeface="楷体_GB2312" pitchFamily="49" charset="-122"/>
                </a:rPr>
                <a:t>W</a:t>
              </a:r>
              <a:endParaRPr lang="en-US" altLang="zh-CN" sz="180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252" name="AutoShape 205"/>
            <p:cNvSpPr>
              <a:spLocks noChangeArrowheads="1"/>
            </p:cNvSpPr>
            <p:nvPr/>
          </p:nvSpPr>
          <p:spPr bwMode="auto">
            <a:xfrm>
              <a:off x="3273" y="2487"/>
              <a:ext cx="1632" cy="384"/>
            </a:xfrm>
            <a:prstGeom prst="cube">
              <a:avLst>
                <a:gd name="adj" fmla="val 81630"/>
              </a:avLst>
            </a:prstGeom>
            <a:solidFill>
              <a:srgbClr val="B2B2B2"/>
            </a:solidFill>
            <a:ln w="19050">
              <a:solidFill>
                <a:schemeClr val="tx1"/>
              </a:solidFill>
              <a:miter lim="800000"/>
              <a:headEnd/>
              <a:tailEnd type="none" w="sm" len="lg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53" name="AutoShape 206"/>
            <p:cNvSpPr>
              <a:spLocks noChangeArrowheads="1"/>
            </p:cNvSpPr>
            <p:nvPr/>
          </p:nvSpPr>
          <p:spPr bwMode="auto">
            <a:xfrm>
              <a:off x="4727" y="2645"/>
              <a:ext cx="432" cy="96"/>
            </a:xfrm>
            <a:prstGeom prst="cube">
              <a:avLst>
                <a:gd name="adj" fmla="val 8750"/>
              </a:avLst>
            </a:prstGeom>
            <a:solidFill>
              <a:srgbClr val="B2B2B2"/>
            </a:solidFill>
            <a:ln w="19050">
              <a:solidFill>
                <a:schemeClr val="tx1"/>
              </a:solidFill>
              <a:miter lim="800000"/>
              <a:headEnd/>
              <a:tailEnd type="none" w="sm" len="lg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54" name="AutoShape 207"/>
            <p:cNvSpPr>
              <a:spLocks noChangeArrowheads="1"/>
            </p:cNvSpPr>
            <p:nvPr/>
          </p:nvSpPr>
          <p:spPr bwMode="auto">
            <a:xfrm>
              <a:off x="4689" y="2684"/>
              <a:ext cx="432" cy="96"/>
            </a:xfrm>
            <a:prstGeom prst="cube">
              <a:avLst>
                <a:gd name="adj" fmla="val 8750"/>
              </a:avLst>
            </a:prstGeom>
            <a:solidFill>
              <a:srgbClr val="B2B2B2"/>
            </a:solidFill>
            <a:ln w="19050">
              <a:solidFill>
                <a:schemeClr val="tx1"/>
              </a:solidFill>
              <a:miter lim="800000"/>
              <a:headEnd/>
              <a:tailEnd type="none" w="sm" len="lg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55" name="Oval 208"/>
            <p:cNvSpPr>
              <a:spLocks noChangeArrowheads="1"/>
            </p:cNvSpPr>
            <p:nvPr/>
          </p:nvSpPr>
          <p:spPr bwMode="auto">
            <a:xfrm>
              <a:off x="4982" y="2710"/>
              <a:ext cx="48" cy="48"/>
            </a:xfrm>
            <a:prstGeom prst="ellipse">
              <a:avLst/>
            </a:prstGeom>
            <a:solidFill>
              <a:srgbClr val="FFFFFF"/>
            </a:solidFill>
            <a:ln w="12700" cap="sq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56" name="Line 209"/>
            <p:cNvSpPr>
              <a:spLocks noChangeShapeType="1"/>
            </p:cNvSpPr>
            <p:nvPr/>
          </p:nvSpPr>
          <p:spPr bwMode="auto">
            <a:xfrm flipH="1">
              <a:off x="3465" y="2482"/>
              <a:ext cx="317" cy="3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7" name="Line 210"/>
            <p:cNvSpPr>
              <a:spLocks noChangeShapeType="1"/>
            </p:cNvSpPr>
            <p:nvPr/>
          </p:nvSpPr>
          <p:spPr bwMode="auto">
            <a:xfrm>
              <a:off x="3705" y="2583"/>
              <a:ext cx="2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8" name="Line 211"/>
            <p:cNvSpPr>
              <a:spLocks noChangeShapeType="1"/>
            </p:cNvSpPr>
            <p:nvPr/>
          </p:nvSpPr>
          <p:spPr bwMode="auto">
            <a:xfrm>
              <a:off x="3993" y="2583"/>
              <a:ext cx="0" cy="48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9" name="Line 212"/>
            <p:cNvSpPr>
              <a:spLocks noChangeShapeType="1"/>
            </p:cNvSpPr>
            <p:nvPr/>
          </p:nvSpPr>
          <p:spPr bwMode="auto">
            <a:xfrm>
              <a:off x="3239" y="2660"/>
              <a:ext cx="149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0" name="Text Box 213"/>
            <p:cNvSpPr txBox="1">
              <a:spLocks noChangeArrowheads="1"/>
            </p:cNvSpPr>
            <p:nvPr/>
          </p:nvSpPr>
          <p:spPr bwMode="auto">
            <a:xfrm>
              <a:off x="3517" y="2403"/>
              <a:ext cx="201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1600" b="1" i="1">
                  <a:ea typeface="楷体_GB2312" pitchFamily="49" charset="-122"/>
                </a:rPr>
                <a:t>E</a:t>
              </a:r>
              <a:endParaRPr lang="en-US" altLang="zh-CN" sz="1600" b="1" i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261" name="Text Box 214"/>
            <p:cNvSpPr txBox="1">
              <a:spLocks noChangeArrowheads="1"/>
            </p:cNvSpPr>
            <p:nvPr/>
          </p:nvSpPr>
          <p:spPr bwMode="auto">
            <a:xfrm>
              <a:off x="4852" y="2760"/>
              <a:ext cx="252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1600" b="1" i="1">
                  <a:ea typeface="楷体_GB2312" pitchFamily="49" charset="-122"/>
                </a:rPr>
                <a:t>O</a:t>
              </a:r>
              <a:r>
                <a:rPr lang="en-US" altLang="zh-CN" sz="1600" b="1" baseline="-25000">
                  <a:ea typeface="楷体_GB2312" pitchFamily="49" charset="-122"/>
                </a:rPr>
                <a:t>3</a:t>
              </a:r>
              <a:endParaRPr lang="en-US" altLang="zh-CN" sz="1600" b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262" name="Text Box 215"/>
            <p:cNvSpPr txBox="1">
              <a:spLocks noChangeArrowheads="1"/>
            </p:cNvSpPr>
            <p:nvPr/>
          </p:nvSpPr>
          <p:spPr bwMode="auto">
            <a:xfrm>
              <a:off x="3354" y="2796"/>
              <a:ext cx="252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1600" b="1" i="1">
                  <a:ea typeface="楷体_GB2312" pitchFamily="49" charset="-122"/>
                </a:rPr>
                <a:t>O</a:t>
              </a:r>
              <a:r>
                <a:rPr lang="en-US" altLang="zh-CN" sz="1600" b="1" baseline="-25000">
                  <a:ea typeface="楷体_GB2312" pitchFamily="49" charset="-122"/>
                </a:rPr>
                <a:t>2</a:t>
              </a:r>
              <a:endParaRPr lang="en-US" altLang="zh-CN" sz="1600" b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263" name="Text Box 216"/>
            <p:cNvSpPr txBox="1">
              <a:spLocks noChangeArrowheads="1"/>
            </p:cNvSpPr>
            <p:nvPr/>
          </p:nvSpPr>
          <p:spPr bwMode="auto">
            <a:xfrm>
              <a:off x="3719" y="2252"/>
              <a:ext cx="252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1600" b="1" i="1">
                  <a:ea typeface="楷体_GB2312" pitchFamily="49" charset="-122"/>
                </a:rPr>
                <a:t>O</a:t>
              </a:r>
              <a:r>
                <a:rPr lang="en-US" altLang="zh-CN" sz="1600" b="1" baseline="-25000">
                  <a:ea typeface="楷体_GB2312" pitchFamily="49" charset="-122"/>
                </a:rPr>
                <a:t>1</a:t>
              </a:r>
              <a:endParaRPr lang="en-US" altLang="zh-CN" sz="1600" b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264" name="Text Box 217"/>
            <p:cNvSpPr txBox="1">
              <a:spLocks noChangeArrowheads="1"/>
            </p:cNvSpPr>
            <p:nvPr/>
          </p:nvSpPr>
          <p:spPr bwMode="auto">
            <a:xfrm>
              <a:off x="3524" y="2596"/>
              <a:ext cx="208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1600" b="1" i="1">
                  <a:ea typeface="楷体_GB2312" pitchFamily="49" charset="-122"/>
                </a:rPr>
                <a:t>D</a:t>
              </a:r>
              <a:endParaRPr lang="en-US" altLang="zh-CN" sz="1600" b="1" i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265" name="Text Box 218"/>
            <p:cNvSpPr txBox="1">
              <a:spLocks noChangeArrowheads="1"/>
            </p:cNvSpPr>
            <p:nvPr/>
          </p:nvSpPr>
          <p:spPr bwMode="auto">
            <a:xfrm>
              <a:off x="3990" y="2415"/>
              <a:ext cx="231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1600" b="1" i="1" dirty="0">
                  <a:ea typeface="楷体_GB2312" pitchFamily="49" charset="-122"/>
                </a:rPr>
                <a:t>M</a:t>
              </a:r>
              <a:endParaRPr lang="en-US" altLang="zh-CN" sz="1600" b="1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266" name="Line 219"/>
            <p:cNvSpPr>
              <a:spLocks noChangeShapeType="1"/>
            </p:cNvSpPr>
            <p:nvPr/>
          </p:nvSpPr>
          <p:spPr bwMode="auto">
            <a:xfrm flipV="1">
              <a:off x="3465" y="2343"/>
              <a:ext cx="0" cy="48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7" name="Line 220"/>
            <p:cNvSpPr>
              <a:spLocks noChangeShapeType="1"/>
            </p:cNvSpPr>
            <p:nvPr/>
          </p:nvSpPr>
          <p:spPr bwMode="auto">
            <a:xfrm flipV="1">
              <a:off x="3772" y="2111"/>
              <a:ext cx="0" cy="384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8" name="Line 221"/>
            <p:cNvSpPr>
              <a:spLocks noChangeShapeType="1"/>
            </p:cNvSpPr>
            <p:nvPr/>
          </p:nvSpPr>
          <p:spPr bwMode="auto">
            <a:xfrm flipH="1">
              <a:off x="3172" y="2804"/>
              <a:ext cx="288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9" name="Line 222"/>
            <p:cNvSpPr>
              <a:spLocks noChangeShapeType="1"/>
            </p:cNvSpPr>
            <p:nvPr/>
          </p:nvSpPr>
          <p:spPr bwMode="auto">
            <a:xfrm>
              <a:off x="4900" y="2492"/>
              <a:ext cx="4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71" name="Line 224"/>
            <p:cNvSpPr>
              <a:spLocks noChangeShapeType="1"/>
            </p:cNvSpPr>
            <p:nvPr/>
          </p:nvSpPr>
          <p:spPr bwMode="auto">
            <a:xfrm flipV="1">
              <a:off x="5012" y="2243"/>
              <a:ext cx="0" cy="446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72" name="Text Box 225"/>
            <p:cNvSpPr txBox="1">
              <a:spLocks noChangeArrowheads="1"/>
            </p:cNvSpPr>
            <p:nvPr/>
          </p:nvSpPr>
          <p:spPr bwMode="auto">
            <a:xfrm>
              <a:off x="3478" y="2031"/>
              <a:ext cx="271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1800" b="1" i="1">
                  <a:solidFill>
                    <a:srgbClr val="FF3300"/>
                  </a:solidFill>
                  <a:ea typeface="楷体_GB2312" pitchFamily="49" charset="-122"/>
                </a:rPr>
                <a:t>F</a:t>
              </a:r>
              <a:r>
                <a:rPr lang="en-US" altLang="zh-CN" sz="1800" i="1" baseline="-25000">
                  <a:solidFill>
                    <a:srgbClr val="FF3300"/>
                  </a:solidFill>
                  <a:ea typeface="楷体_GB2312" pitchFamily="49" charset="-122"/>
                </a:rPr>
                <a:t>A</a:t>
              </a:r>
              <a:endParaRPr lang="en-US" altLang="zh-CN" sz="1800" i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273" name="Text Box 226"/>
            <p:cNvSpPr txBox="1">
              <a:spLocks noChangeArrowheads="1"/>
            </p:cNvSpPr>
            <p:nvPr/>
          </p:nvSpPr>
          <p:spPr bwMode="auto">
            <a:xfrm>
              <a:off x="4772" y="2023"/>
              <a:ext cx="276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1800" b="1" i="1">
                  <a:solidFill>
                    <a:srgbClr val="FF3300"/>
                  </a:solidFill>
                  <a:ea typeface="楷体_GB2312" pitchFamily="49" charset="-122"/>
                </a:rPr>
                <a:t>F</a:t>
              </a:r>
              <a:r>
                <a:rPr lang="en-US" altLang="zh-CN" sz="1800" i="1" baseline="-25000">
                  <a:solidFill>
                    <a:srgbClr val="FF3300"/>
                  </a:solidFill>
                  <a:ea typeface="楷体_GB2312" pitchFamily="49" charset="-122"/>
                </a:rPr>
                <a:t>C</a:t>
              </a:r>
              <a:endParaRPr lang="en-US" altLang="zh-CN" sz="1800" i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274" name="Oval 227"/>
            <p:cNvSpPr>
              <a:spLocks noChangeArrowheads="1"/>
            </p:cNvSpPr>
            <p:nvPr/>
          </p:nvSpPr>
          <p:spPr bwMode="auto">
            <a:xfrm>
              <a:off x="3679" y="2555"/>
              <a:ext cx="29" cy="32"/>
            </a:xfrm>
            <a:prstGeom prst="ellipse">
              <a:avLst/>
            </a:prstGeom>
            <a:solidFill>
              <a:srgbClr val="FDD21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75" name="Oval 228"/>
            <p:cNvSpPr>
              <a:spLocks noChangeArrowheads="1"/>
            </p:cNvSpPr>
            <p:nvPr/>
          </p:nvSpPr>
          <p:spPr bwMode="auto">
            <a:xfrm>
              <a:off x="3590" y="2644"/>
              <a:ext cx="32" cy="29"/>
            </a:xfrm>
            <a:prstGeom prst="ellipse">
              <a:avLst/>
            </a:prstGeom>
            <a:solidFill>
              <a:srgbClr val="FDD21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76" name="Oval 229"/>
            <p:cNvSpPr>
              <a:spLocks noChangeArrowheads="1"/>
            </p:cNvSpPr>
            <p:nvPr/>
          </p:nvSpPr>
          <p:spPr bwMode="auto">
            <a:xfrm>
              <a:off x="3968" y="2560"/>
              <a:ext cx="44" cy="44"/>
            </a:xfrm>
            <a:prstGeom prst="ellipse">
              <a:avLst/>
            </a:prstGeom>
            <a:solidFill>
              <a:srgbClr val="FDD21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77" name="Oval 230"/>
            <p:cNvSpPr>
              <a:spLocks noChangeArrowheads="1"/>
            </p:cNvSpPr>
            <p:nvPr/>
          </p:nvSpPr>
          <p:spPr bwMode="auto">
            <a:xfrm>
              <a:off x="3752" y="2456"/>
              <a:ext cx="44" cy="44"/>
            </a:xfrm>
            <a:prstGeom prst="ellipse">
              <a:avLst/>
            </a:prstGeom>
            <a:solidFill>
              <a:srgbClr val="FDD21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278" name="Oval 231"/>
            <p:cNvSpPr>
              <a:spLocks noChangeArrowheads="1"/>
            </p:cNvSpPr>
            <p:nvPr/>
          </p:nvSpPr>
          <p:spPr bwMode="auto">
            <a:xfrm>
              <a:off x="3444" y="2780"/>
              <a:ext cx="44" cy="44"/>
            </a:xfrm>
            <a:prstGeom prst="ellipse">
              <a:avLst/>
            </a:prstGeom>
            <a:solidFill>
              <a:srgbClr val="FDD21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17" name="Text Box 4"/>
          <p:cNvSpPr txBox="1">
            <a:spLocks noChangeArrowheads="1"/>
          </p:cNvSpPr>
          <p:nvPr/>
        </p:nvSpPr>
        <p:spPr bwMode="auto">
          <a:xfrm>
            <a:off x="954815" y="4345689"/>
            <a:ext cx="2042547" cy="518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5000"/>
              </a:lnSpc>
            </a:pP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列平衡方程</a:t>
            </a:r>
          </a:p>
        </p:txBody>
      </p:sp>
      <p:graphicFrame>
        <p:nvGraphicFramePr>
          <p:cNvPr id="11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2808996"/>
              </p:ext>
            </p:extLst>
          </p:nvPr>
        </p:nvGraphicFramePr>
        <p:xfrm>
          <a:off x="3151994" y="5417501"/>
          <a:ext cx="1308813" cy="483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0" name="Equation" r:id="rId3" imgW="698400" imgH="253800" progId="Equation.3">
                  <p:embed/>
                </p:oleObj>
              </mc:Choice>
              <mc:Fallback>
                <p:oleObj name="Equation" r:id="rId3" imgW="6984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1994" y="5417501"/>
                        <a:ext cx="1308813" cy="4839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4776181"/>
              </p:ext>
            </p:extLst>
          </p:nvPr>
        </p:nvGraphicFramePr>
        <p:xfrm>
          <a:off x="5054723" y="5461947"/>
          <a:ext cx="2783053" cy="4219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1" name="Equation" r:id="rId5" imgW="1307880" imgH="228600" progId="Equation.3">
                  <p:embed/>
                </p:oleObj>
              </mc:Choice>
              <mc:Fallback>
                <p:oleObj name="Equation" r:id="rId5" imgW="13078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4723" y="5461947"/>
                        <a:ext cx="2783053" cy="4219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0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0490284"/>
              </p:ext>
            </p:extLst>
          </p:nvPr>
        </p:nvGraphicFramePr>
        <p:xfrm>
          <a:off x="3149164" y="4455109"/>
          <a:ext cx="1386471" cy="4653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2" name="Equation" r:id="rId7" imgW="761760" imgH="253800" progId="Equation.3">
                  <p:embed/>
                </p:oleObj>
              </mc:Choice>
              <mc:Fallback>
                <p:oleObj name="Equation" r:id="rId7" imgW="76176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9164" y="4455109"/>
                        <a:ext cx="1386471" cy="4653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6458561"/>
              </p:ext>
            </p:extLst>
          </p:nvPr>
        </p:nvGraphicFramePr>
        <p:xfrm>
          <a:off x="5225138" y="4460293"/>
          <a:ext cx="2664619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3" name="Equation" r:id="rId9" imgW="1371600" imgH="228600" progId="Equation.3">
                  <p:embed/>
                </p:oleObj>
              </mc:Choice>
              <mc:Fallback>
                <p:oleObj name="Equation" r:id="rId9" imgW="13716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5138" y="4460293"/>
                        <a:ext cx="2664619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2661846"/>
              </p:ext>
            </p:extLst>
          </p:nvPr>
        </p:nvGraphicFramePr>
        <p:xfrm>
          <a:off x="3149164" y="4935243"/>
          <a:ext cx="1465928" cy="4820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4" name="Equation" r:id="rId11" imgW="774360" imgH="253800" progId="Equation.3">
                  <p:embed/>
                </p:oleObj>
              </mc:Choice>
              <mc:Fallback>
                <p:oleObj name="Equation" r:id="rId11" imgW="77436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9164" y="4935243"/>
                        <a:ext cx="1465928" cy="4820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1212087"/>
              </p:ext>
            </p:extLst>
          </p:nvPr>
        </p:nvGraphicFramePr>
        <p:xfrm>
          <a:off x="4881203" y="4977450"/>
          <a:ext cx="4009567" cy="414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5" name="Equation" r:id="rId13" imgW="2031840" imgH="228600" progId="Equation.3">
                  <p:embed/>
                </p:oleObj>
              </mc:Choice>
              <mc:Fallback>
                <p:oleObj name="Equation" r:id="rId13" imgW="20318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1203" y="4977450"/>
                        <a:ext cx="4009567" cy="4141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" name="Text Box 44"/>
          <p:cNvSpPr txBox="1">
            <a:spLocks noChangeArrowheads="1"/>
          </p:cNvSpPr>
          <p:nvPr/>
        </p:nvSpPr>
        <p:spPr bwMode="auto">
          <a:xfrm>
            <a:off x="1002641" y="5413819"/>
            <a:ext cx="1733167" cy="518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4.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联立求解</a:t>
            </a:r>
          </a:p>
        </p:txBody>
      </p:sp>
      <p:graphicFrame>
        <p:nvGraphicFramePr>
          <p:cNvPr id="12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183279"/>
              </p:ext>
            </p:extLst>
          </p:nvPr>
        </p:nvGraphicFramePr>
        <p:xfrm>
          <a:off x="1438275" y="5976938"/>
          <a:ext cx="5248275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6" name="Equation" r:id="rId15" imgW="2361960" imgH="228600" progId="Equation.DSMT4">
                  <p:embed/>
                </p:oleObj>
              </mc:Choice>
              <mc:Fallback>
                <p:oleObj name="Equation" r:id="rId15" imgW="23619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8275" y="5976938"/>
                        <a:ext cx="5248275" cy="49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71479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7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7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7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7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88" grpId="0" autoUpdateAnimBg="0"/>
      <p:bldP spid="26789" grpId="0" autoUpdateAnimBg="0"/>
      <p:bldP spid="117" grpId="0"/>
      <p:bldP spid="124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6" name="Rectangle 4"/>
          <p:cNvSpPr>
            <a:spLocks noChangeArrowheads="1"/>
          </p:cNvSpPr>
          <p:nvPr/>
        </p:nvSpPr>
        <p:spPr bwMode="auto">
          <a:xfrm>
            <a:off x="701232" y="633259"/>
            <a:ext cx="7773477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kumimoji="0" lang="en-US" altLang="zh-CN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0"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镗刀杆的刀头在镗削工件时受到切向力</a:t>
            </a:r>
            <a:r>
              <a:rPr kumimoji="0" lang="en-US" altLang="zh-CN" b="1" i="1" dirty="0" err="1">
                <a:latin typeface="+mn-lt"/>
                <a:ea typeface="楷体" panose="02010609060101010101" pitchFamily="49" charset="-122"/>
              </a:rPr>
              <a:t>F</a:t>
            </a:r>
            <a:r>
              <a:rPr kumimoji="0" lang="en-US" altLang="zh-CN" b="1" i="1" baseline="-25000" dirty="0" err="1">
                <a:latin typeface="+mn-lt"/>
                <a:ea typeface="楷体" panose="02010609060101010101" pitchFamily="49" charset="-122"/>
              </a:rPr>
              <a:t>z</a:t>
            </a:r>
            <a:r>
              <a:rPr kumimoji="0"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，径向力</a:t>
            </a:r>
            <a:r>
              <a:rPr kumimoji="0" lang="en-US" altLang="zh-CN" b="1" i="1" dirty="0" err="1">
                <a:latin typeface="+mn-lt"/>
                <a:ea typeface="楷体" panose="02010609060101010101" pitchFamily="49" charset="-122"/>
              </a:rPr>
              <a:t>F</a:t>
            </a:r>
            <a:r>
              <a:rPr kumimoji="0" lang="en-US" altLang="zh-CN" b="1" i="1" baseline="-25000" dirty="0" err="1">
                <a:latin typeface="+mn-lt"/>
                <a:ea typeface="楷体" panose="02010609060101010101" pitchFamily="49" charset="-122"/>
              </a:rPr>
              <a:t>y</a:t>
            </a:r>
            <a:r>
              <a:rPr kumimoji="0"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，轴向力</a:t>
            </a:r>
            <a:r>
              <a:rPr kumimoji="0" lang="en-US" altLang="zh-CN" b="1" i="1" dirty="0" err="1">
                <a:latin typeface="+mn-lt"/>
                <a:ea typeface="楷体" panose="02010609060101010101" pitchFamily="49" charset="-122"/>
              </a:rPr>
              <a:t>F</a:t>
            </a:r>
            <a:r>
              <a:rPr kumimoji="0" lang="en-US" altLang="zh-CN" b="1" i="1" baseline="-25000" dirty="0" err="1">
                <a:latin typeface="+mn-lt"/>
                <a:ea typeface="楷体" panose="02010609060101010101" pitchFamily="49" charset="-122"/>
              </a:rPr>
              <a:t>x</a:t>
            </a:r>
            <a:r>
              <a:rPr kumimoji="0"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的作用。各力的大小</a:t>
            </a:r>
            <a:r>
              <a:rPr kumimoji="0" lang="en-US" altLang="zh-CN" i="1" dirty="0" err="1">
                <a:latin typeface="+mn-lt"/>
                <a:ea typeface="楷体" panose="02010609060101010101" pitchFamily="49" charset="-122"/>
              </a:rPr>
              <a:t>F</a:t>
            </a:r>
            <a:r>
              <a:rPr kumimoji="0" lang="en-US" altLang="zh-CN" i="1" baseline="-25000" dirty="0" err="1">
                <a:latin typeface="+mn-lt"/>
                <a:ea typeface="楷体" panose="02010609060101010101" pitchFamily="49" charset="-122"/>
              </a:rPr>
              <a:t>z</a:t>
            </a:r>
            <a:r>
              <a:rPr kumimoji="0" lang="en-US" altLang="zh-CN" b="1" i="1" dirty="0">
                <a:latin typeface="+mn-lt"/>
                <a:ea typeface="楷体" panose="02010609060101010101" pitchFamily="49" charset="-122"/>
              </a:rPr>
              <a:t>=</a:t>
            </a:r>
            <a:r>
              <a:rPr kumimoji="0" lang="en-US" altLang="zh-CN" dirty="0">
                <a:latin typeface="+mn-lt"/>
                <a:ea typeface="楷体" panose="02010609060101010101" pitchFamily="49" charset="-122"/>
              </a:rPr>
              <a:t>5000N</a:t>
            </a:r>
            <a:r>
              <a:rPr kumimoji="0" lang="zh-CN" altLang="en-US" dirty="0">
                <a:latin typeface="+mn-lt"/>
                <a:ea typeface="楷体" panose="02010609060101010101" pitchFamily="49" charset="-122"/>
              </a:rPr>
              <a:t>，</a:t>
            </a:r>
            <a:r>
              <a:rPr kumimoji="0" lang="en-US" altLang="zh-CN" i="1" dirty="0" err="1">
                <a:latin typeface="+mn-lt"/>
                <a:ea typeface="楷体" panose="02010609060101010101" pitchFamily="49" charset="-122"/>
              </a:rPr>
              <a:t>F</a:t>
            </a:r>
            <a:r>
              <a:rPr kumimoji="0" lang="en-US" altLang="zh-CN" i="1" baseline="-25000" dirty="0" err="1">
                <a:latin typeface="+mn-lt"/>
                <a:ea typeface="楷体" panose="02010609060101010101" pitchFamily="49" charset="-122"/>
              </a:rPr>
              <a:t>y</a:t>
            </a:r>
            <a:r>
              <a:rPr kumimoji="0" lang="en-US" altLang="zh-CN" b="1" i="1" dirty="0">
                <a:latin typeface="+mn-lt"/>
                <a:ea typeface="楷体" panose="02010609060101010101" pitchFamily="49" charset="-122"/>
              </a:rPr>
              <a:t>=</a:t>
            </a:r>
            <a:r>
              <a:rPr kumimoji="0" lang="en-US" altLang="zh-CN" dirty="0">
                <a:latin typeface="+mn-lt"/>
                <a:ea typeface="楷体" panose="02010609060101010101" pitchFamily="49" charset="-122"/>
              </a:rPr>
              <a:t>1500N</a:t>
            </a:r>
            <a:r>
              <a:rPr kumimoji="0" lang="zh-CN" altLang="en-US" dirty="0">
                <a:latin typeface="+mn-lt"/>
                <a:ea typeface="楷体" panose="02010609060101010101" pitchFamily="49" charset="-122"/>
              </a:rPr>
              <a:t>，</a:t>
            </a:r>
            <a:r>
              <a:rPr kumimoji="0" lang="en-US" altLang="zh-CN" i="1" dirty="0" err="1">
                <a:latin typeface="+mn-lt"/>
                <a:ea typeface="楷体" panose="02010609060101010101" pitchFamily="49" charset="-122"/>
              </a:rPr>
              <a:t>F</a:t>
            </a:r>
            <a:r>
              <a:rPr kumimoji="0" lang="en-US" altLang="zh-CN" i="1" baseline="-25000" dirty="0" err="1">
                <a:latin typeface="+mn-lt"/>
                <a:ea typeface="楷体" panose="02010609060101010101" pitchFamily="49" charset="-122"/>
              </a:rPr>
              <a:t>x</a:t>
            </a:r>
            <a:r>
              <a:rPr kumimoji="0" lang="en-US" altLang="zh-CN" b="1" i="1" dirty="0">
                <a:latin typeface="+mn-lt"/>
                <a:ea typeface="楷体" panose="02010609060101010101" pitchFamily="49" charset="-122"/>
              </a:rPr>
              <a:t>=</a:t>
            </a:r>
            <a:r>
              <a:rPr kumimoji="0" lang="en-US" altLang="zh-CN" dirty="0">
                <a:latin typeface="+mn-lt"/>
                <a:ea typeface="楷体" panose="02010609060101010101" pitchFamily="49" charset="-122"/>
              </a:rPr>
              <a:t>750N</a:t>
            </a:r>
            <a:r>
              <a:rPr kumimoji="0" lang="zh-CN" altLang="en-US" dirty="0">
                <a:latin typeface="+mn-lt"/>
                <a:ea typeface="楷体" panose="02010609060101010101" pitchFamily="49" charset="-122"/>
              </a:rPr>
              <a:t>，</a:t>
            </a:r>
            <a:r>
              <a:rPr kumimoji="0"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而刀尖</a:t>
            </a:r>
            <a:r>
              <a:rPr kumimoji="0" lang="en-US" altLang="zh-CN" i="1" dirty="0">
                <a:latin typeface="+mn-lt"/>
                <a:ea typeface="楷体" panose="02010609060101010101" pitchFamily="49" charset="-122"/>
              </a:rPr>
              <a:t>B</a:t>
            </a:r>
            <a:r>
              <a:rPr kumimoji="0"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的坐标 </a:t>
            </a:r>
            <a:r>
              <a:rPr kumimoji="0" lang="en-US" altLang="zh-CN" i="1" dirty="0">
                <a:latin typeface="+mn-lt"/>
                <a:ea typeface="楷体" panose="02010609060101010101" pitchFamily="49" charset="-122"/>
              </a:rPr>
              <a:t>x</a:t>
            </a:r>
            <a:r>
              <a:rPr kumimoji="0" lang="en-US" altLang="zh-CN" b="1" i="1" dirty="0">
                <a:latin typeface="+mn-lt"/>
                <a:ea typeface="楷体" panose="02010609060101010101" pitchFamily="49" charset="-122"/>
              </a:rPr>
              <a:t>=</a:t>
            </a:r>
            <a:r>
              <a:rPr kumimoji="0" lang="en-US" altLang="zh-CN" dirty="0">
                <a:latin typeface="+mn-lt"/>
                <a:ea typeface="楷体" panose="02010609060101010101" pitchFamily="49" charset="-122"/>
              </a:rPr>
              <a:t>200mm</a:t>
            </a:r>
            <a:r>
              <a:rPr kumimoji="0" lang="zh-CN" altLang="en-US" dirty="0">
                <a:latin typeface="+mn-lt"/>
                <a:ea typeface="楷体" panose="02010609060101010101" pitchFamily="49" charset="-122"/>
              </a:rPr>
              <a:t>，</a:t>
            </a:r>
            <a:r>
              <a:rPr kumimoji="0" lang="en-US" altLang="zh-CN" i="1" dirty="0">
                <a:latin typeface="+mn-lt"/>
                <a:ea typeface="楷体" panose="02010609060101010101" pitchFamily="49" charset="-122"/>
              </a:rPr>
              <a:t>y</a:t>
            </a:r>
            <a:r>
              <a:rPr kumimoji="0" lang="en-US" altLang="zh-CN" b="1" i="1" dirty="0">
                <a:latin typeface="+mn-lt"/>
                <a:ea typeface="楷体" panose="02010609060101010101" pitchFamily="49" charset="-122"/>
              </a:rPr>
              <a:t>=</a:t>
            </a:r>
            <a:r>
              <a:rPr kumimoji="0" lang="en-US" altLang="zh-CN" dirty="0">
                <a:latin typeface="+mn-lt"/>
                <a:ea typeface="楷体" panose="02010609060101010101" pitchFamily="49" charset="-122"/>
              </a:rPr>
              <a:t>75mm</a:t>
            </a:r>
            <a:r>
              <a:rPr kumimoji="0" lang="zh-CN" altLang="en-US" dirty="0">
                <a:latin typeface="+mn-lt"/>
                <a:ea typeface="楷体" panose="02010609060101010101" pitchFamily="49" charset="-122"/>
              </a:rPr>
              <a:t>，</a:t>
            </a:r>
            <a:r>
              <a:rPr kumimoji="0" lang="en-US" altLang="zh-CN" i="1" dirty="0">
                <a:latin typeface="+mn-lt"/>
                <a:ea typeface="楷体" panose="02010609060101010101" pitchFamily="49" charset="-122"/>
              </a:rPr>
              <a:t>z </a:t>
            </a:r>
            <a:r>
              <a:rPr kumimoji="0" lang="en-US" altLang="zh-CN" b="1" i="1" dirty="0">
                <a:latin typeface="+mn-lt"/>
                <a:ea typeface="楷体" panose="02010609060101010101" pitchFamily="49" charset="-122"/>
              </a:rPr>
              <a:t>=</a:t>
            </a:r>
            <a:r>
              <a:rPr kumimoji="0" lang="en-US" altLang="zh-CN" i="1" dirty="0">
                <a:latin typeface="+mn-lt"/>
                <a:ea typeface="楷体" panose="02010609060101010101" pitchFamily="49" charset="-122"/>
              </a:rPr>
              <a:t> </a:t>
            </a:r>
            <a:r>
              <a:rPr kumimoji="0" lang="en-US" altLang="zh-CN" dirty="0">
                <a:latin typeface="+mn-lt"/>
                <a:ea typeface="楷体" panose="02010609060101010101" pitchFamily="49" charset="-122"/>
              </a:rPr>
              <a:t>0</a:t>
            </a:r>
            <a:r>
              <a:rPr kumimoji="0"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。如果不计刀杆的重量，试求刀杆根部</a:t>
            </a:r>
            <a:r>
              <a:rPr kumimoji="0" lang="en-US" altLang="zh-CN" i="1" dirty="0">
                <a:latin typeface="+mn-lt"/>
                <a:ea typeface="楷体" panose="02010609060101010101" pitchFamily="49" charset="-122"/>
              </a:rPr>
              <a:t>A</a:t>
            </a:r>
            <a:r>
              <a:rPr kumimoji="0"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处的约束反力。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5076056" y="2334051"/>
            <a:ext cx="3787775" cy="3449637"/>
            <a:chOff x="288" y="1661"/>
            <a:chExt cx="2386" cy="2173"/>
          </a:xfrm>
        </p:grpSpPr>
        <p:sp>
          <p:nvSpPr>
            <p:cNvPr id="28680" name="Text Box 8"/>
            <p:cNvSpPr txBox="1">
              <a:spLocks noChangeArrowheads="1"/>
            </p:cNvSpPr>
            <p:nvPr/>
          </p:nvSpPr>
          <p:spPr bwMode="auto">
            <a:xfrm rot="21548795">
              <a:off x="2173" y="3567"/>
              <a:ext cx="181" cy="267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1800" i="1" dirty="0">
                  <a:ea typeface="楷体_GB2312" pitchFamily="49" charset="-122"/>
                </a:rPr>
                <a:t>x</a:t>
              </a:r>
              <a:endParaRPr lang="en-US" altLang="zh-CN" sz="1800" i="1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1270" name="AutoShape 9"/>
            <p:cNvSpPr>
              <a:spLocks noChangeArrowheads="1"/>
            </p:cNvSpPr>
            <p:nvPr/>
          </p:nvSpPr>
          <p:spPr bwMode="auto">
            <a:xfrm rot="1417918">
              <a:off x="1597" y="3018"/>
              <a:ext cx="336" cy="240"/>
            </a:xfrm>
            <a:prstGeom prst="cube">
              <a:avLst>
                <a:gd name="adj" fmla="val 84056"/>
              </a:avLst>
            </a:prstGeom>
            <a:solidFill>
              <a:srgbClr val="B2B2B2"/>
            </a:solidFill>
            <a:ln w="19050">
              <a:solidFill>
                <a:schemeClr val="tx1"/>
              </a:solidFill>
              <a:miter lim="800000"/>
              <a:headEnd/>
              <a:tailEnd type="none" w="sm" len="lg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71" name="AutoShape 10"/>
            <p:cNvSpPr>
              <a:spLocks noChangeArrowheads="1"/>
            </p:cNvSpPr>
            <p:nvPr/>
          </p:nvSpPr>
          <p:spPr bwMode="auto">
            <a:xfrm rot="7504826" flipH="1">
              <a:off x="264" y="2241"/>
              <a:ext cx="456" cy="408"/>
            </a:xfrm>
            <a:prstGeom prst="can">
              <a:avLst>
                <a:gd name="adj" fmla="val 50000"/>
              </a:avLst>
            </a:prstGeom>
            <a:solidFill>
              <a:srgbClr val="B2B2B2"/>
            </a:solidFill>
            <a:ln w="1905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72" name="AutoShape 11"/>
            <p:cNvSpPr>
              <a:spLocks noChangeArrowheads="1"/>
            </p:cNvSpPr>
            <p:nvPr/>
          </p:nvSpPr>
          <p:spPr bwMode="auto">
            <a:xfrm rot="7504826" flipH="1">
              <a:off x="1069" y="2152"/>
              <a:ext cx="192" cy="1536"/>
            </a:xfrm>
            <a:prstGeom prst="can">
              <a:avLst>
                <a:gd name="adj" fmla="val 50000"/>
              </a:avLst>
            </a:prstGeom>
            <a:solidFill>
              <a:srgbClr val="B2B2B2"/>
            </a:solidFill>
            <a:ln w="1905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73" name="AutoShape 12"/>
            <p:cNvSpPr>
              <a:spLocks noChangeArrowheads="1"/>
            </p:cNvSpPr>
            <p:nvPr/>
          </p:nvSpPr>
          <p:spPr bwMode="auto">
            <a:xfrm rot="2241496">
              <a:off x="1855" y="3015"/>
              <a:ext cx="130" cy="68"/>
            </a:xfrm>
            <a:prstGeom prst="triangle">
              <a:avLst>
                <a:gd name="adj" fmla="val 83898"/>
              </a:avLst>
            </a:prstGeom>
            <a:solidFill>
              <a:srgbClr val="B2B2B2"/>
            </a:solidFill>
            <a:ln w="19050">
              <a:solidFill>
                <a:schemeClr val="tx1"/>
              </a:solidFill>
              <a:miter lim="800000"/>
              <a:headEnd/>
              <a:tailEnd type="none" w="sm" len="lg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274" name="Line 13"/>
            <p:cNvSpPr>
              <a:spLocks noChangeShapeType="1"/>
            </p:cNvSpPr>
            <p:nvPr/>
          </p:nvSpPr>
          <p:spPr bwMode="auto">
            <a:xfrm rot="31839" flipH="1" flipV="1">
              <a:off x="541" y="1825"/>
              <a:ext cx="7" cy="6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5" name="Line 14"/>
            <p:cNvSpPr>
              <a:spLocks noChangeShapeType="1"/>
            </p:cNvSpPr>
            <p:nvPr/>
          </p:nvSpPr>
          <p:spPr bwMode="auto">
            <a:xfrm rot="-2307">
              <a:off x="547" y="2477"/>
              <a:ext cx="1303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6" name="Line 15"/>
            <p:cNvSpPr>
              <a:spLocks noChangeShapeType="1"/>
            </p:cNvSpPr>
            <p:nvPr/>
          </p:nvSpPr>
          <p:spPr bwMode="auto">
            <a:xfrm rot="1198241">
              <a:off x="453" y="2783"/>
              <a:ext cx="1704" cy="4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7" name="Line 16"/>
            <p:cNvSpPr>
              <a:spLocks noChangeShapeType="1"/>
            </p:cNvSpPr>
            <p:nvPr/>
          </p:nvSpPr>
          <p:spPr bwMode="auto">
            <a:xfrm rot="2375275" flipH="1">
              <a:off x="2022" y="2923"/>
              <a:ext cx="291" cy="236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8" name="Line 17"/>
            <p:cNvSpPr>
              <a:spLocks noChangeShapeType="1"/>
            </p:cNvSpPr>
            <p:nvPr/>
          </p:nvSpPr>
          <p:spPr bwMode="auto">
            <a:xfrm rot="1198241">
              <a:off x="1905" y="2708"/>
              <a:ext cx="117" cy="329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79" name="Line 18"/>
            <p:cNvSpPr>
              <a:spLocks noChangeShapeType="1"/>
            </p:cNvSpPr>
            <p:nvPr/>
          </p:nvSpPr>
          <p:spPr bwMode="auto">
            <a:xfrm rot="1198241" flipH="1" flipV="1">
              <a:off x="1926" y="3134"/>
              <a:ext cx="543" cy="154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0" name="Line 19"/>
            <p:cNvSpPr>
              <a:spLocks noChangeShapeType="1"/>
            </p:cNvSpPr>
            <p:nvPr/>
          </p:nvSpPr>
          <p:spPr bwMode="auto">
            <a:xfrm rot="1198241">
              <a:off x="1676" y="3420"/>
              <a:ext cx="576" cy="14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1" name="Line 20"/>
            <p:cNvSpPr>
              <a:spLocks noChangeShapeType="1"/>
            </p:cNvSpPr>
            <p:nvPr/>
          </p:nvSpPr>
          <p:spPr bwMode="auto">
            <a:xfrm rot="1198241">
              <a:off x="1281" y="2647"/>
              <a:ext cx="940" cy="2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sm" len="lg"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82" name="Line 21"/>
            <p:cNvSpPr>
              <a:spLocks noChangeShapeType="1"/>
            </p:cNvSpPr>
            <p:nvPr/>
          </p:nvSpPr>
          <p:spPr bwMode="auto">
            <a:xfrm rot="1198241" flipH="1">
              <a:off x="1868" y="3173"/>
              <a:ext cx="317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sm" len="lg"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4" name="Text Box 22"/>
            <p:cNvSpPr txBox="1">
              <a:spLocks noChangeArrowheads="1"/>
            </p:cNvSpPr>
            <p:nvPr/>
          </p:nvSpPr>
          <p:spPr bwMode="auto">
            <a:xfrm rot="21592428">
              <a:off x="559" y="1661"/>
              <a:ext cx="173" cy="267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1800" i="1" dirty="0">
                  <a:ea typeface="楷体_GB2312" pitchFamily="49" charset="-122"/>
                </a:rPr>
                <a:t>z</a:t>
              </a:r>
              <a:endParaRPr lang="en-US" altLang="zh-CN" sz="1800" i="1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8695" name="Text Box 23"/>
            <p:cNvSpPr txBox="1">
              <a:spLocks noChangeArrowheads="1"/>
            </p:cNvSpPr>
            <p:nvPr/>
          </p:nvSpPr>
          <p:spPr bwMode="auto">
            <a:xfrm rot="21479063">
              <a:off x="1512" y="2218"/>
              <a:ext cx="181" cy="267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1800" i="1" dirty="0">
                  <a:ea typeface="楷体_GB2312" pitchFamily="49" charset="-122"/>
                </a:rPr>
                <a:t>y</a:t>
              </a:r>
              <a:endParaRPr lang="en-US" altLang="zh-CN" sz="1800" i="1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8696" name="Text Box 24"/>
            <p:cNvSpPr txBox="1">
              <a:spLocks noChangeArrowheads="1"/>
            </p:cNvSpPr>
            <p:nvPr/>
          </p:nvSpPr>
          <p:spPr bwMode="auto">
            <a:xfrm rot="2139828">
              <a:off x="1585" y="2500"/>
              <a:ext cx="310" cy="244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1600" dirty="0">
                  <a:ea typeface="楷体_GB2312" pitchFamily="49" charset="-122"/>
                </a:rPr>
                <a:t>200</a:t>
              </a:r>
              <a:endParaRPr lang="en-US" altLang="zh-CN" sz="1600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8697" name="Text Box 25"/>
            <p:cNvSpPr txBox="1">
              <a:spLocks noChangeArrowheads="1"/>
            </p:cNvSpPr>
            <p:nvPr/>
          </p:nvSpPr>
          <p:spPr bwMode="auto">
            <a:xfrm rot="19872948">
              <a:off x="1954" y="3235"/>
              <a:ext cx="246" cy="244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1600" dirty="0">
                  <a:ea typeface="楷体_GB2312" pitchFamily="49" charset="-122"/>
                </a:rPr>
                <a:t>75</a:t>
              </a:r>
              <a:endParaRPr lang="en-US" altLang="zh-CN" sz="1600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1287" name="Text Box 26"/>
            <p:cNvSpPr txBox="1">
              <a:spLocks noChangeArrowheads="1"/>
            </p:cNvSpPr>
            <p:nvPr/>
          </p:nvSpPr>
          <p:spPr bwMode="auto">
            <a:xfrm rot="-97583">
              <a:off x="473" y="2600"/>
              <a:ext cx="212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1800" b="1" i="1" dirty="0">
                  <a:ea typeface="楷体_GB2312" pitchFamily="49" charset="-122"/>
                </a:rPr>
                <a:t>A</a:t>
              </a:r>
              <a:endParaRPr lang="en-US" altLang="zh-CN" sz="1800" b="1" i="1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1288" name="Text Box 27"/>
            <p:cNvSpPr txBox="1">
              <a:spLocks noChangeArrowheads="1"/>
            </p:cNvSpPr>
            <p:nvPr/>
          </p:nvSpPr>
          <p:spPr bwMode="auto">
            <a:xfrm rot="-234115">
              <a:off x="1760" y="2787"/>
              <a:ext cx="212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1800" b="1" i="1" dirty="0">
                  <a:ea typeface="楷体_GB2312" pitchFamily="49" charset="-122"/>
                </a:rPr>
                <a:t>B</a:t>
              </a:r>
              <a:endParaRPr lang="en-US" altLang="zh-CN" sz="1800" b="1" i="1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1289" name="Text Box 28"/>
            <p:cNvSpPr txBox="1">
              <a:spLocks noChangeArrowheads="1"/>
            </p:cNvSpPr>
            <p:nvPr/>
          </p:nvSpPr>
          <p:spPr bwMode="auto">
            <a:xfrm rot="-165809">
              <a:off x="2299" y="2813"/>
              <a:ext cx="269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2000" b="1" i="1" dirty="0" err="1">
                  <a:solidFill>
                    <a:srgbClr val="FF0000"/>
                  </a:solidFill>
                  <a:ea typeface="楷体_GB2312" pitchFamily="49" charset="-122"/>
                </a:rPr>
                <a:t>F</a:t>
              </a:r>
              <a:r>
                <a:rPr lang="en-US" altLang="zh-CN" sz="2000" i="1" baseline="-25000" dirty="0" err="1">
                  <a:solidFill>
                    <a:srgbClr val="FF0000"/>
                  </a:solidFill>
                  <a:ea typeface="楷体_GB2312" pitchFamily="49" charset="-122"/>
                </a:rPr>
                <a:t>y</a:t>
              </a:r>
              <a:endParaRPr lang="en-US" altLang="zh-CN" sz="2000" i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1290" name="Text Box 29"/>
            <p:cNvSpPr txBox="1">
              <a:spLocks noChangeArrowheads="1"/>
            </p:cNvSpPr>
            <p:nvPr/>
          </p:nvSpPr>
          <p:spPr bwMode="auto">
            <a:xfrm rot="-165146">
              <a:off x="1934" y="2455"/>
              <a:ext cx="263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2000" b="1" i="1">
                  <a:solidFill>
                    <a:srgbClr val="FF0000"/>
                  </a:solidFill>
                  <a:ea typeface="楷体_GB2312" pitchFamily="49" charset="-122"/>
                </a:rPr>
                <a:t>F</a:t>
              </a:r>
              <a:r>
                <a:rPr lang="en-US" altLang="zh-CN" sz="2000" i="1" baseline="-25000">
                  <a:solidFill>
                    <a:srgbClr val="FF0000"/>
                  </a:solidFill>
                  <a:ea typeface="楷体_GB2312" pitchFamily="49" charset="-122"/>
                </a:rPr>
                <a:t>z</a:t>
              </a:r>
              <a:endParaRPr lang="en-US" altLang="zh-CN" sz="2000" i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1291" name="Text Box 30"/>
            <p:cNvSpPr txBox="1">
              <a:spLocks noChangeArrowheads="1"/>
            </p:cNvSpPr>
            <p:nvPr/>
          </p:nvSpPr>
          <p:spPr bwMode="auto">
            <a:xfrm rot="-13994">
              <a:off x="2399" y="3236"/>
              <a:ext cx="275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2000" b="1" i="1" dirty="0" err="1">
                  <a:solidFill>
                    <a:srgbClr val="FF0000"/>
                  </a:solidFill>
                  <a:ea typeface="楷体_GB2312" pitchFamily="49" charset="-122"/>
                </a:rPr>
                <a:t>F</a:t>
              </a:r>
              <a:r>
                <a:rPr lang="en-US" altLang="zh-CN" sz="2000" b="1" i="1" baseline="-25000" dirty="0" err="1">
                  <a:solidFill>
                    <a:srgbClr val="FF0000"/>
                  </a:solidFill>
                  <a:ea typeface="楷体_GB2312" pitchFamily="49" charset="-122"/>
                </a:rPr>
                <a:t>x</a:t>
              </a:r>
              <a:endParaRPr lang="en-US" altLang="zh-CN" sz="2000" b="1" i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pic>
        <p:nvPicPr>
          <p:cNvPr id="28703" name="J5L镗床.avi">
            <a:hlinkClick r:id="" action="ppaction://media"/>
          </p:cNvPr>
          <p:cNvPicPr>
            <a:picLocks noRot="1" noChangeAspect="1" noChangeArrowheads="1"/>
          </p:cNvPicPr>
          <p:nvPr>
            <a:videoFile r:link="rId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659" y="2571028"/>
            <a:ext cx="4282383" cy="3211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35461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870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 nodeType="clickPar">
                      <p:stCondLst>
                        <p:cond delay="0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870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703"/>
                  </p:tgtEl>
                </p:cond>
              </p:nextCondLst>
            </p:seq>
            <p:video>
              <p:cMediaNode>
                <p:cTn id="13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28703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0" name="Text Box 4"/>
          <p:cNvSpPr txBox="1">
            <a:spLocks noChangeArrowheads="1"/>
          </p:cNvSpPr>
          <p:nvPr/>
        </p:nvSpPr>
        <p:spPr bwMode="auto">
          <a:xfrm>
            <a:off x="678662" y="550824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 cap="sq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 dirty="0">
                <a:solidFill>
                  <a:srgbClr val="00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解</a:t>
            </a:r>
            <a:r>
              <a:rPr lang="zh-CN" altLang="en-US" dirty="0">
                <a:solidFill>
                  <a:srgbClr val="00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</a:p>
        </p:txBody>
      </p:sp>
      <p:sp>
        <p:nvSpPr>
          <p:cNvPr id="29701" name="Text Box 5"/>
          <p:cNvSpPr txBox="1">
            <a:spLocks noChangeArrowheads="1"/>
          </p:cNvSpPr>
          <p:nvPr/>
        </p:nvSpPr>
        <p:spPr bwMode="auto">
          <a:xfrm>
            <a:off x="1363473" y="512440"/>
            <a:ext cx="7099300" cy="518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取镗刀杆为研究对象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受力分析如图。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704769" y="1000749"/>
            <a:ext cx="3409949" cy="3657600"/>
            <a:chOff x="247" y="804"/>
            <a:chExt cx="2148" cy="2304"/>
          </a:xfrm>
        </p:grpSpPr>
        <p:sp>
          <p:nvSpPr>
            <p:cNvPr id="5145" name="Line 7"/>
            <p:cNvSpPr>
              <a:spLocks noChangeShapeType="1"/>
            </p:cNvSpPr>
            <p:nvPr/>
          </p:nvSpPr>
          <p:spPr bwMode="auto">
            <a:xfrm flipH="1" flipV="1">
              <a:off x="546" y="920"/>
              <a:ext cx="1" cy="97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46" name="Line 8"/>
            <p:cNvSpPr>
              <a:spLocks noChangeShapeType="1"/>
            </p:cNvSpPr>
            <p:nvPr/>
          </p:nvSpPr>
          <p:spPr bwMode="auto">
            <a:xfrm>
              <a:off x="552" y="1885"/>
              <a:ext cx="114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47" name="AutoShape 9"/>
            <p:cNvSpPr>
              <a:spLocks noChangeArrowheads="1"/>
            </p:cNvSpPr>
            <p:nvPr/>
          </p:nvSpPr>
          <p:spPr bwMode="auto">
            <a:xfrm rot="1818792">
              <a:off x="1473" y="2481"/>
              <a:ext cx="336" cy="240"/>
            </a:xfrm>
            <a:prstGeom prst="cube">
              <a:avLst>
                <a:gd name="adj" fmla="val 84056"/>
              </a:avLst>
            </a:prstGeom>
            <a:solidFill>
              <a:srgbClr val="B2B2B2"/>
            </a:solidFill>
            <a:ln w="19050">
              <a:solidFill>
                <a:schemeClr val="tx1"/>
              </a:solidFill>
              <a:miter lim="800000"/>
              <a:headEnd/>
              <a:tailEnd type="none" w="sm" len="lg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148" name="AutoShape 10"/>
            <p:cNvSpPr>
              <a:spLocks noChangeArrowheads="1"/>
            </p:cNvSpPr>
            <p:nvPr/>
          </p:nvSpPr>
          <p:spPr bwMode="auto">
            <a:xfrm rot="7707092" flipH="1">
              <a:off x="1030" y="1593"/>
              <a:ext cx="192" cy="1536"/>
            </a:xfrm>
            <a:prstGeom prst="can">
              <a:avLst>
                <a:gd name="adj" fmla="val 50000"/>
              </a:avLst>
            </a:prstGeom>
            <a:solidFill>
              <a:srgbClr val="B2B2B2"/>
            </a:solidFill>
            <a:ln w="1905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149" name="Line 11"/>
            <p:cNvSpPr>
              <a:spLocks noChangeShapeType="1"/>
            </p:cNvSpPr>
            <p:nvPr/>
          </p:nvSpPr>
          <p:spPr bwMode="auto">
            <a:xfrm flipV="1">
              <a:off x="542" y="1549"/>
              <a:ext cx="0" cy="336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0" name="Line 12"/>
            <p:cNvSpPr>
              <a:spLocks noChangeShapeType="1"/>
            </p:cNvSpPr>
            <p:nvPr/>
          </p:nvSpPr>
          <p:spPr bwMode="auto">
            <a:xfrm flipV="1">
              <a:off x="547" y="1167"/>
              <a:ext cx="0" cy="384"/>
            </a:xfrm>
            <a:prstGeom prst="line">
              <a:avLst/>
            </a:prstGeom>
            <a:noFill/>
            <a:ln w="31750">
              <a:solidFill>
                <a:srgbClr val="0000CC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1" name="Line 13"/>
            <p:cNvSpPr>
              <a:spLocks noChangeShapeType="1"/>
            </p:cNvSpPr>
            <p:nvPr/>
          </p:nvSpPr>
          <p:spPr bwMode="auto">
            <a:xfrm>
              <a:off x="542" y="1885"/>
              <a:ext cx="336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2" name="Line 14"/>
            <p:cNvSpPr>
              <a:spLocks noChangeShapeType="1"/>
            </p:cNvSpPr>
            <p:nvPr/>
          </p:nvSpPr>
          <p:spPr bwMode="auto">
            <a:xfrm>
              <a:off x="876" y="1885"/>
              <a:ext cx="288" cy="0"/>
            </a:xfrm>
            <a:prstGeom prst="line">
              <a:avLst/>
            </a:prstGeom>
            <a:noFill/>
            <a:ln w="31750">
              <a:solidFill>
                <a:srgbClr val="0000CC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3" name="Line 15"/>
            <p:cNvSpPr>
              <a:spLocks noChangeShapeType="1"/>
            </p:cNvSpPr>
            <p:nvPr/>
          </p:nvSpPr>
          <p:spPr bwMode="auto">
            <a:xfrm>
              <a:off x="1867" y="2197"/>
              <a:ext cx="0" cy="336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4" name="Line 16"/>
            <p:cNvSpPr>
              <a:spLocks noChangeShapeType="1"/>
            </p:cNvSpPr>
            <p:nvPr/>
          </p:nvSpPr>
          <p:spPr bwMode="auto">
            <a:xfrm flipH="1">
              <a:off x="1867" y="2524"/>
              <a:ext cx="432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5" name="Line 17"/>
            <p:cNvSpPr>
              <a:spLocks noChangeShapeType="1"/>
            </p:cNvSpPr>
            <p:nvPr/>
          </p:nvSpPr>
          <p:spPr bwMode="auto">
            <a:xfrm flipH="1" flipV="1">
              <a:off x="1853" y="2523"/>
              <a:ext cx="336" cy="288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6" name="Oval 18"/>
            <p:cNvSpPr>
              <a:spLocks noChangeArrowheads="1"/>
            </p:cNvSpPr>
            <p:nvPr/>
          </p:nvSpPr>
          <p:spPr bwMode="auto">
            <a:xfrm>
              <a:off x="518" y="1861"/>
              <a:ext cx="48" cy="4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159" name="Text Box 21"/>
            <p:cNvSpPr txBox="1">
              <a:spLocks noChangeArrowheads="1"/>
            </p:cNvSpPr>
            <p:nvPr/>
          </p:nvSpPr>
          <p:spPr bwMode="auto">
            <a:xfrm>
              <a:off x="1853" y="2816"/>
              <a:ext cx="180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1800" i="1">
                  <a:ea typeface="楷体_GB2312" pitchFamily="49" charset="-122"/>
                </a:rPr>
                <a:t>x</a:t>
              </a:r>
              <a:endParaRPr lang="en-US" altLang="zh-CN" sz="1800" i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160" name="Text Box 22"/>
            <p:cNvSpPr txBox="1">
              <a:spLocks noChangeArrowheads="1"/>
            </p:cNvSpPr>
            <p:nvPr/>
          </p:nvSpPr>
          <p:spPr bwMode="auto">
            <a:xfrm>
              <a:off x="555" y="804"/>
              <a:ext cx="178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2000" i="1">
                  <a:ea typeface="楷体_GB2312" pitchFamily="49" charset="-122"/>
                </a:rPr>
                <a:t>z</a:t>
              </a:r>
              <a:endParaRPr lang="en-US" altLang="zh-CN" sz="2000" i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161" name="Text Box 23"/>
            <p:cNvSpPr txBox="1">
              <a:spLocks noChangeArrowheads="1"/>
            </p:cNvSpPr>
            <p:nvPr/>
          </p:nvSpPr>
          <p:spPr bwMode="auto">
            <a:xfrm>
              <a:off x="1540" y="1577"/>
              <a:ext cx="180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1800" i="1" dirty="0">
                  <a:ea typeface="楷体_GB2312" pitchFamily="49" charset="-122"/>
                </a:rPr>
                <a:t>y</a:t>
              </a:r>
              <a:endParaRPr lang="en-US" altLang="zh-CN" sz="1800" i="1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9720" name="Text Box 24"/>
            <p:cNvSpPr txBox="1">
              <a:spLocks noChangeArrowheads="1"/>
            </p:cNvSpPr>
            <p:nvPr/>
          </p:nvSpPr>
          <p:spPr bwMode="auto">
            <a:xfrm>
              <a:off x="337" y="1718"/>
              <a:ext cx="202" cy="244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1600" b="1" i="1" dirty="0">
                  <a:ea typeface="楷体_GB2312" pitchFamily="49" charset="-122"/>
                </a:rPr>
                <a:t>A</a:t>
              </a:r>
              <a:endParaRPr lang="en-US" altLang="zh-CN" sz="1600" b="1" i="1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9721" name="Text Box 25"/>
            <p:cNvSpPr txBox="1">
              <a:spLocks noChangeArrowheads="1"/>
            </p:cNvSpPr>
            <p:nvPr/>
          </p:nvSpPr>
          <p:spPr bwMode="auto">
            <a:xfrm>
              <a:off x="1662" y="2273"/>
              <a:ext cx="202" cy="244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1600" b="1" i="1" dirty="0">
                  <a:ea typeface="楷体_GB2312" pitchFamily="49" charset="-122"/>
                </a:rPr>
                <a:t>B</a:t>
              </a:r>
              <a:endParaRPr lang="en-US" altLang="zh-CN" sz="1600" b="1" i="1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9722" name="Text Box 26"/>
            <p:cNvSpPr txBox="1">
              <a:spLocks noChangeArrowheads="1"/>
            </p:cNvSpPr>
            <p:nvPr/>
          </p:nvSpPr>
          <p:spPr bwMode="auto">
            <a:xfrm>
              <a:off x="528" y="1931"/>
              <a:ext cx="316" cy="267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1800" b="1" i="1" dirty="0" err="1">
                  <a:solidFill>
                    <a:srgbClr val="FF0000"/>
                  </a:solidFill>
                  <a:ea typeface="楷体_GB2312" pitchFamily="49" charset="-122"/>
                </a:rPr>
                <a:t>F</a:t>
              </a:r>
              <a:r>
                <a:rPr lang="en-US" altLang="zh-CN" sz="1800" i="1" baseline="-25000" dirty="0" err="1">
                  <a:solidFill>
                    <a:srgbClr val="FF0000"/>
                  </a:solidFill>
                  <a:ea typeface="楷体_GB2312" pitchFamily="49" charset="-122"/>
                </a:rPr>
                <a:t>Ax</a:t>
              </a:r>
              <a:endParaRPr lang="en-US" altLang="zh-CN" sz="1800" i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9723" name="Text Box 27"/>
            <p:cNvSpPr txBox="1">
              <a:spLocks noChangeArrowheads="1"/>
            </p:cNvSpPr>
            <p:nvPr/>
          </p:nvSpPr>
          <p:spPr bwMode="auto">
            <a:xfrm>
              <a:off x="2138" y="2678"/>
              <a:ext cx="257" cy="267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1800" b="1" i="1" dirty="0" err="1">
                  <a:solidFill>
                    <a:srgbClr val="FF0000"/>
                  </a:solidFill>
                  <a:ea typeface="楷体_GB2312" pitchFamily="49" charset="-122"/>
                </a:rPr>
                <a:t>F</a:t>
              </a:r>
              <a:r>
                <a:rPr lang="en-US" altLang="zh-CN" sz="1800" i="1" baseline="-25000" dirty="0" err="1">
                  <a:solidFill>
                    <a:srgbClr val="FF00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楷体_GB2312" pitchFamily="49" charset="-122"/>
                </a:rPr>
                <a:t>x</a:t>
              </a:r>
              <a:endParaRPr lang="en-US" altLang="zh-CN" sz="18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166" name="Text Box 28"/>
            <p:cNvSpPr txBox="1">
              <a:spLocks noChangeArrowheads="1"/>
            </p:cNvSpPr>
            <p:nvPr/>
          </p:nvSpPr>
          <p:spPr bwMode="auto">
            <a:xfrm>
              <a:off x="1006" y="2006"/>
              <a:ext cx="346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1800" b="1" i="1" dirty="0" err="1">
                  <a:solidFill>
                    <a:srgbClr val="0000CC"/>
                  </a:solidFill>
                  <a:ea typeface="楷体_GB2312" pitchFamily="49" charset="-122"/>
                </a:rPr>
                <a:t>M</a:t>
              </a:r>
              <a:r>
                <a:rPr lang="en-US" altLang="zh-CN" sz="1800" i="1" baseline="-25000" dirty="0" err="1">
                  <a:solidFill>
                    <a:srgbClr val="0000CC"/>
                  </a:solidFill>
                  <a:ea typeface="楷体_GB2312" pitchFamily="49" charset="-122"/>
                </a:rPr>
                <a:t>Ax</a:t>
              </a:r>
              <a:endParaRPr lang="en-US" altLang="zh-CN" sz="1800" i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9725" name="Text Box 29"/>
            <p:cNvSpPr txBox="1">
              <a:spLocks noChangeArrowheads="1"/>
            </p:cNvSpPr>
            <p:nvPr/>
          </p:nvSpPr>
          <p:spPr bwMode="auto">
            <a:xfrm>
              <a:off x="644" y="1558"/>
              <a:ext cx="311" cy="267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1800" b="1" i="1" dirty="0" err="1">
                  <a:solidFill>
                    <a:srgbClr val="FF0000"/>
                  </a:solidFill>
                  <a:ea typeface="楷体_GB2312" pitchFamily="49" charset="-122"/>
                </a:rPr>
                <a:t>F</a:t>
              </a:r>
              <a:r>
                <a:rPr lang="en-US" altLang="zh-CN" sz="1800" i="1" baseline="-25000" dirty="0" err="1">
                  <a:solidFill>
                    <a:srgbClr val="FF0000"/>
                  </a:solidFill>
                  <a:ea typeface="楷体_GB2312" pitchFamily="49" charset="-122"/>
                </a:rPr>
                <a:t>Ay</a:t>
              </a:r>
              <a:endParaRPr lang="en-US" altLang="zh-CN" sz="1800" i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9726" name="Text Box 30"/>
            <p:cNvSpPr txBox="1">
              <a:spLocks noChangeArrowheads="1"/>
            </p:cNvSpPr>
            <p:nvPr/>
          </p:nvSpPr>
          <p:spPr bwMode="auto">
            <a:xfrm>
              <a:off x="247" y="1494"/>
              <a:ext cx="310" cy="267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1800" b="1" i="1" dirty="0" err="1">
                  <a:solidFill>
                    <a:srgbClr val="FF0000"/>
                  </a:solidFill>
                  <a:ea typeface="楷体_GB2312" pitchFamily="49" charset="-122"/>
                </a:rPr>
                <a:t>F</a:t>
              </a:r>
              <a:r>
                <a:rPr lang="en-US" altLang="zh-CN" sz="1800" i="1" baseline="-25000" dirty="0" err="1">
                  <a:solidFill>
                    <a:srgbClr val="FF0000"/>
                  </a:solidFill>
                  <a:ea typeface="楷体_GB2312" pitchFamily="49" charset="-122"/>
                </a:rPr>
                <a:t>Az</a:t>
              </a:r>
              <a:endParaRPr lang="en-US" altLang="zh-CN" sz="1800" i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169" name="Text Box 31"/>
            <p:cNvSpPr txBox="1">
              <a:spLocks noChangeArrowheads="1"/>
            </p:cNvSpPr>
            <p:nvPr/>
          </p:nvSpPr>
          <p:spPr bwMode="auto">
            <a:xfrm>
              <a:off x="970" y="1560"/>
              <a:ext cx="346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1800" b="1" i="1" dirty="0" err="1">
                  <a:solidFill>
                    <a:srgbClr val="0000CC"/>
                  </a:solidFill>
                  <a:ea typeface="楷体_GB2312" pitchFamily="49" charset="-122"/>
                </a:rPr>
                <a:t>M</a:t>
              </a:r>
              <a:r>
                <a:rPr lang="en-US" altLang="zh-CN" sz="1800" i="1" baseline="-25000" dirty="0" err="1">
                  <a:solidFill>
                    <a:srgbClr val="0000CC"/>
                  </a:solidFill>
                  <a:ea typeface="楷体_GB2312" pitchFamily="49" charset="-122"/>
                </a:rPr>
                <a:t>Ay</a:t>
              </a:r>
              <a:endParaRPr lang="en-US" altLang="zh-CN" sz="1800" i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170" name="Text Box 32"/>
            <p:cNvSpPr txBox="1">
              <a:spLocks noChangeArrowheads="1"/>
            </p:cNvSpPr>
            <p:nvPr/>
          </p:nvSpPr>
          <p:spPr bwMode="auto">
            <a:xfrm>
              <a:off x="553" y="1088"/>
              <a:ext cx="340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1800" b="1" i="1" dirty="0" err="1">
                  <a:solidFill>
                    <a:srgbClr val="0000CC"/>
                  </a:solidFill>
                  <a:ea typeface="楷体_GB2312" pitchFamily="49" charset="-122"/>
                </a:rPr>
                <a:t>M</a:t>
              </a:r>
              <a:r>
                <a:rPr lang="en-US" altLang="zh-CN" sz="1800" i="1" baseline="-25000" dirty="0" err="1">
                  <a:solidFill>
                    <a:srgbClr val="0000CC"/>
                  </a:solidFill>
                  <a:ea typeface="楷体_GB2312" pitchFamily="49" charset="-122"/>
                </a:rPr>
                <a:t>Az</a:t>
              </a:r>
              <a:endParaRPr lang="en-US" altLang="zh-CN" sz="1800" i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9729" name="Text Box 33"/>
            <p:cNvSpPr txBox="1">
              <a:spLocks noChangeArrowheads="1"/>
            </p:cNvSpPr>
            <p:nvPr/>
          </p:nvSpPr>
          <p:spPr bwMode="auto">
            <a:xfrm>
              <a:off x="2018" y="2240"/>
              <a:ext cx="257" cy="267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1800" b="1" i="1" dirty="0" err="1">
                  <a:solidFill>
                    <a:srgbClr val="FF0000"/>
                  </a:solidFill>
                  <a:ea typeface="楷体_GB2312" pitchFamily="49" charset="-122"/>
                </a:rPr>
                <a:t>F</a:t>
              </a:r>
              <a:r>
                <a:rPr lang="en-US" altLang="zh-CN" sz="1800" i="1" baseline="-25000" dirty="0" err="1">
                  <a:solidFill>
                    <a:srgbClr val="FF0000"/>
                  </a:solidFill>
                  <a:ea typeface="楷体_GB2312" pitchFamily="49" charset="-122"/>
                </a:rPr>
                <a:t>y</a:t>
              </a:r>
              <a:endParaRPr lang="en-US" altLang="zh-CN" sz="18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9730" name="Text Box 34"/>
            <p:cNvSpPr txBox="1">
              <a:spLocks noChangeArrowheads="1"/>
            </p:cNvSpPr>
            <p:nvPr/>
          </p:nvSpPr>
          <p:spPr bwMode="auto">
            <a:xfrm>
              <a:off x="1854" y="1937"/>
              <a:ext cx="251" cy="267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1800" b="1" i="1" dirty="0" err="1">
                  <a:solidFill>
                    <a:srgbClr val="FF0000"/>
                  </a:solidFill>
                  <a:ea typeface="楷体_GB2312" pitchFamily="49" charset="-122"/>
                </a:rPr>
                <a:t>F</a:t>
              </a:r>
              <a:r>
                <a:rPr lang="en-US" altLang="zh-CN" sz="1800" i="1" baseline="-25000" dirty="0" err="1">
                  <a:solidFill>
                    <a:srgbClr val="FF0000"/>
                  </a:solidFill>
                  <a:ea typeface="楷体_GB2312" pitchFamily="49" charset="-122"/>
                </a:rPr>
                <a:t>z</a:t>
              </a:r>
              <a:endParaRPr lang="en-US" altLang="zh-CN" sz="1800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173" name="AutoShape 35"/>
            <p:cNvSpPr>
              <a:spLocks noChangeArrowheads="1"/>
            </p:cNvSpPr>
            <p:nvPr/>
          </p:nvSpPr>
          <p:spPr bwMode="auto">
            <a:xfrm rot="2011555">
              <a:off x="1741" y="2500"/>
              <a:ext cx="130" cy="68"/>
            </a:xfrm>
            <a:prstGeom prst="triangle">
              <a:avLst>
                <a:gd name="adj" fmla="val 83898"/>
              </a:avLst>
            </a:prstGeom>
            <a:solidFill>
              <a:srgbClr val="B2B2B2"/>
            </a:solidFill>
            <a:ln w="19050">
              <a:solidFill>
                <a:schemeClr val="tx1"/>
              </a:solidFill>
              <a:miter lim="800000"/>
              <a:headEnd/>
              <a:tailEnd type="none" w="sm" len="lg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175" name="Line 37"/>
            <p:cNvSpPr>
              <a:spLocks noChangeShapeType="1"/>
            </p:cNvSpPr>
            <p:nvPr/>
          </p:nvSpPr>
          <p:spPr bwMode="auto">
            <a:xfrm>
              <a:off x="552" y="1869"/>
              <a:ext cx="1344" cy="10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6" name="Line 38"/>
            <p:cNvSpPr>
              <a:spLocks noChangeShapeType="1"/>
            </p:cNvSpPr>
            <p:nvPr/>
          </p:nvSpPr>
          <p:spPr bwMode="auto">
            <a:xfrm>
              <a:off x="553" y="1875"/>
              <a:ext cx="321" cy="255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7" name="Line 39"/>
            <p:cNvSpPr>
              <a:spLocks noChangeShapeType="1"/>
            </p:cNvSpPr>
            <p:nvPr/>
          </p:nvSpPr>
          <p:spPr bwMode="auto">
            <a:xfrm>
              <a:off x="882" y="2139"/>
              <a:ext cx="288" cy="240"/>
            </a:xfrm>
            <a:prstGeom prst="line">
              <a:avLst/>
            </a:prstGeom>
            <a:noFill/>
            <a:ln w="31750">
              <a:solidFill>
                <a:srgbClr val="0000CC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9736" name="Text Box 40"/>
          <p:cNvSpPr txBox="1">
            <a:spLocks noChangeArrowheads="1"/>
          </p:cNvSpPr>
          <p:nvPr/>
        </p:nvSpPr>
        <p:spPr bwMode="auto">
          <a:xfrm>
            <a:off x="2765425" y="920750"/>
            <a:ext cx="2813050" cy="518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5000"/>
              </a:lnSpc>
            </a:pP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列平衡方程。</a:t>
            </a:r>
          </a:p>
        </p:txBody>
      </p:sp>
      <p:graphicFrame>
        <p:nvGraphicFramePr>
          <p:cNvPr id="29737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2778620"/>
              </p:ext>
            </p:extLst>
          </p:nvPr>
        </p:nvGraphicFramePr>
        <p:xfrm>
          <a:off x="4062944" y="1473943"/>
          <a:ext cx="128905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8" name="Equation" r:id="rId3" imgW="634680" imgH="253800" progId="Equation.3">
                  <p:embed/>
                </p:oleObj>
              </mc:Choice>
              <mc:Fallback>
                <p:oleObj name="Equation" r:id="rId3" imgW="63468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2944" y="1473943"/>
                        <a:ext cx="1289050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38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607114"/>
              </p:ext>
            </p:extLst>
          </p:nvPr>
        </p:nvGraphicFramePr>
        <p:xfrm>
          <a:off x="5831418" y="1466019"/>
          <a:ext cx="1585913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9" name="Equation" r:id="rId5" imgW="774360" imgH="228600" progId="Equation.3">
                  <p:embed/>
                </p:oleObj>
              </mc:Choice>
              <mc:Fallback>
                <p:oleObj name="Equation" r:id="rId5" imgW="7743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1418" y="1466019"/>
                        <a:ext cx="1585913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39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3992446"/>
              </p:ext>
            </p:extLst>
          </p:nvPr>
        </p:nvGraphicFramePr>
        <p:xfrm>
          <a:off x="4055007" y="1991468"/>
          <a:ext cx="1295400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0" name="Equation" r:id="rId7" imgW="647640" imgH="253800" progId="Equation.3">
                  <p:embed/>
                </p:oleObj>
              </mc:Choice>
              <mc:Fallback>
                <p:oleObj name="Equation" r:id="rId7" imgW="64764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5007" y="1991468"/>
                        <a:ext cx="1295400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40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2080806"/>
              </p:ext>
            </p:extLst>
          </p:nvPr>
        </p:nvGraphicFramePr>
        <p:xfrm>
          <a:off x="5831418" y="1970844"/>
          <a:ext cx="1633538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1" name="Equation" r:id="rId9" imgW="774360" imgH="241200" progId="Equation.3">
                  <p:embed/>
                </p:oleObj>
              </mc:Choice>
              <mc:Fallback>
                <p:oleObj name="Equation" r:id="rId9" imgW="77436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1418" y="1970844"/>
                        <a:ext cx="1633538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41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7237333"/>
              </p:ext>
            </p:extLst>
          </p:nvPr>
        </p:nvGraphicFramePr>
        <p:xfrm>
          <a:off x="4055007" y="2483593"/>
          <a:ext cx="1368425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2" name="Equation" r:id="rId11" imgW="634680" imgH="253800" progId="Equation.3">
                  <p:embed/>
                </p:oleObj>
              </mc:Choice>
              <mc:Fallback>
                <p:oleObj name="Equation" r:id="rId11" imgW="63468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5007" y="2483593"/>
                        <a:ext cx="1368425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42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2397084"/>
              </p:ext>
            </p:extLst>
          </p:nvPr>
        </p:nvGraphicFramePr>
        <p:xfrm>
          <a:off x="5844118" y="2524881"/>
          <a:ext cx="158115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3" name="Equation" r:id="rId13" imgW="761760" imgH="215640" progId="Equation.3">
                  <p:embed/>
                </p:oleObj>
              </mc:Choice>
              <mc:Fallback>
                <p:oleObj name="Equation" r:id="rId13" imgW="76176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4118" y="2524881"/>
                        <a:ext cx="158115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43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2385063"/>
              </p:ext>
            </p:extLst>
          </p:nvPr>
        </p:nvGraphicFramePr>
        <p:xfrm>
          <a:off x="4360546" y="3141335"/>
          <a:ext cx="1296987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4" name="Equation" r:id="rId15" imgW="698400" imgH="253800" progId="Equation.3">
                  <p:embed/>
                </p:oleObj>
              </mc:Choice>
              <mc:Fallback>
                <p:oleObj name="Equation" r:id="rId15" imgW="6984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0546" y="3141335"/>
                        <a:ext cx="1296987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1593903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44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7546637"/>
              </p:ext>
            </p:extLst>
          </p:nvPr>
        </p:nvGraphicFramePr>
        <p:xfrm>
          <a:off x="6121877" y="3124016"/>
          <a:ext cx="2217737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5" name="公式" r:id="rId17" imgW="1168200" imgH="228600" progId="Equation.3">
                  <p:embed/>
                </p:oleObj>
              </mc:Choice>
              <mc:Fallback>
                <p:oleObj name="公式" r:id="rId17" imgW="11682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1877" y="3124016"/>
                        <a:ext cx="2217737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1593903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45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9375754"/>
              </p:ext>
            </p:extLst>
          </p:nvPr>
        </p:nvGraphicFramePr>
        <p:xfrm>
          <a:off x="4360368" y="3714204"/>
          <a:ext cx="136842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6" name="Equation" r:id="rId19" imgW="711000" imgH="253800" progId="Equation.3">
                  <p:embed/>
                </p:oleObj>
              </mc:Choice>
              <mc:Fallback>
                <p:oleObj name="Equation" r:id="rId19" imgW="7110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0368" y="3714204"/>
                        <a:ext cx="1368425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1593903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46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741763"/>
              </p:ext>
            </p:extLst>
          </p:nvPr>
        </p:nvGraphicFramePr>
        <p:xfrm>
          <a:off x="6121877" y="3686342"/>
          <a:ext cx="18923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7" name="公式" r:id="rId21" imgW="1015920" imgH="241200" progId="Equation.3">
                  <p:embed/>
                </p:oleObj>
              </mc:Choice>
              <mc:Fallback>
                <p:oleObj name="公式" r:id="rId21" imgW="101592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1877" y="3686342"/>
                        <a:ext cx="1892300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1593903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47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287408"/>
              </p:ext>
            </p:extLst>
          </p:nvPr>
        </p:nvGraphicFramePr>
        <p:xfrm>
          <a:off x="4360368" y="4265850"/>
          <a:ext cx="1439863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8" name="Equation" r:id="rId23" imgW="698400" imgH="253800" progId="Equation.3">
                  <p:embed/>
                </p:oleObj>
              </mc:Choice>
              <mc:Fallback>
                <p:oleObj name="Equation" r:id="rId23" imgW="6984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0368" y="4265850"/>
                        <a:ext cx="1439863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1593903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48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8091115"/>
              </p:ext>
            </p:extLst>
          </p:nvPr>
        </p:nvGraphicFramePr>
        <p:xfrm>
          <a:off x="4352657" y="4869093"/>
          <a:ext cx="341947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9" name="公式" r:id="rId25" imgW="1650960" imgH="241200" progId="Equation.3">
                  <p:embed/>
                </p:oleObj>
              </mc:Choice>
              <mc:Fallback>
                <p:oleObj name="公式" r:id="rId25" imgW="165096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2657" y="4869093"/>
                        <a:ext cx="3419475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1593903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53"/>
          <p:cNvGrpSpPr>
            <a:grpSpLocks/>
          </p:cNvGrpSpPr>
          <p:nvPr/>
        </p:nvGrpSpPr>
        <p:grpSpPr bwMode="auto">
          <a:xfrm>
            <a:off x="1168319" y="5451800"/>
            <a:ext cx="6842125" cy="1008062"/>
            <a:chOff x="1407" y="3137"/>
            <a:chExt cx="4233" cy="579"/>
          </a:xfrm>
        </p:grpSpPr>
        <p:graphicFrame>
          <p:nvGraphicFramePr>
            <p:cNvPr id="5134" name="Object 54"/>
            <p:cNvGraphicFramePr>
              <a:graphicFrameLocks noChangeAspect="1"/>
            </p:cNvGraphicFramePr>
            <p:nvPr/>
          </p:nvGraphicFramePr>
          <p:xfrm>
            <a:off x="1447" y="3137"/>
            <a:ext cx="1002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30" name="Equation" r:id="rId27" imgW="888840" imgH="228600" progId="Equation.3">
                    <p:embed/>
                  </p:oleObj>
                </mc:Choice>
                <mc:Fallback>
                  <p:oleObj name="Equation" r:id="rId27" imgW="88884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7" y="3137"/>
                          <a:ext cx="1002" cy="2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1593903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35" name="Object 55"/>
            <p:cNvGraphicFramePr>
              <a:graphicFrameLocks noChangeAspect="1"/>
            </p:cNvGraphicFramePr>
            <p:nvPr/>
          </p:nvGraphicFramePr>
          <p:xfrm>
            <a:off x="2853" y="3172"/>
            <a:ext cx="1097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31" name="Equation" r:id="rId29" imgW="965160" imgH="241200" progId="Equation.3">
                    <p:embed/>
                  </p:oleObj>
                </mc:Choice>
                <mc:Fallback>
                  <p:oleObj name="Equation" r:id="rId29" imgW="96516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53" y="3172"/>
                          <a:ext cx="1097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1593903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36" name="Object 56"/>
            <p:cNvGraphicFramePr>
              <a:graphicFrameLocks noChangeAspect="1"/>
            </p:cNvGraphicFramePr>
            <p:nvPr/>
          </p:nvGraphicFramePr>
          <p:xfrm>
            <a:off x="4353" y="3143"/>
            <a:ext cx="962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32" name="Equation" r:id="rId31" imgW="876240" imgH="215640" progId="Equation.3">
                    <p:embed/>
                  </p:oleObj>
                </mc:Choice>
                <mc:Fallback>
                  <p:oleObj name="Equation" r:id="rId31" imgW="8762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53" y="3143"/>
                          <a:ext cx="962" cy="2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1593903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37" name="Object 57"/>
            <p:cNvGraphicFramePr>
              <a:graphicFrameLocks noChangeAspect="1"/>
            </p:cNvGraphicFramePr>
            <p:nvPr/>
          </p:nvGraphicFramePr>
          <p:xfrm>
            <a:off x="1407" y="3473"/>
            <a:ext cx="1304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33" name="Equation" r:id="rId33" imgW="1143000" imgH="228600" progId="Equation.3">
                    <p:embed/>
                  </p:oleObj>
                </mc:Choice>
                <mc:Fallback>
                  <p:oleObj name="Equation" r:id="rId33" imgW="11430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7" y="3473"/>
                          <a:ext cx="1304" cy="2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1593903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38" name="Object 58"/>
            <p:cNvGraphicFramePr>
              <a:graphicFrameLocks noChangeAspect="1"/>
            </p:cNvGraphicFramePr>
            <p:nvPr/>
          </p:nvGraphicFramePr>
          <p:xfrm>
            <a:off x="2850" y="3466"/>
            <a:ext cx="1473" cy="2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34" name="Equation" r:id="rId35" imgW="1320480" imgH="241200" progId="Equation.3">
                    <p:embed/>
                  </p:oleObj>
                </mc:Choice>
                <mc:Fallback>
                  <p:oleObj name="Equation" r:id="rId35" imgW="132048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50" y="3466"/>
                          <a:ext cx="1473" cy="24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1593903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39" name="Object 59"/>
            <p:cNvGraphicFramePr>
              <a:graphicFrameLocks noChangeAspect="1"/>
            </p:cNvGraphicFramePr>
            <p:nvPr/>
          </p:nvGraphicFramePr>
          <p:xfrm>
            <a:off x="4383" y="3450"/>
            <a:ext cx="1257" cy="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235" name="Equation" r:id="rId37" imgW="1193760" imgH="215640" progId="Equation.3">
                    <p:embed/>
                  </p:oleObj>
                </mc:Choice>
                <mc:Fallback>
                  <p:oleObj name="Equation" r:id="rId37" imgW="119376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3" y="3450"/>
                          <a:ext cx="1257" cy="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1593903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454588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9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97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97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97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97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9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97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97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97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97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9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97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97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97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97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9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97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97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97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97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9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9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9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97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97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9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9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9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97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97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9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1" grpId="0" autoUpdateAnimBg="0"/>
      <p:bldP spid="2973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4" descr="J5L-11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636912"/>
            <a:ext cx="5112568" cy="3456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5" name="Text Box 5"/>
          <p:cNvSpPr txBox="1">
            <a:spLocks noChangeArrowheads="1"/>
          </p:cNvSpPr>
          <p:nvPr/>
        </p:nvSpPr>
        <p:spPr bwMode="auto">
          <a:xfrm>
            <a:off x="899592" y="548680"/>
            <a:ext cx="7416824" cy="1938992"/>
          </a:xfrm>
          <a:prstGeom prst="rect">
            <a:avLst/>
          </a:prstGeom>
          <a:noFill/>
          <a:ln w="28575" cap="sq">
            <a:noFill/>
            <a:miter lim="800000"/>
            <a:headEnd type="none" w="sm" len="sm"/>
            <a:tailEnd type="none" w="sm" len="lg"/>
          </a:ln>
          <a:effectLst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kumimoji="0"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kumimoji="0" lang="en-US" altLang="zh-CN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在图中皮带的拉力</a:t>
            </a:r>
            <a:r>
              <a:rPr lang="en-US" altLang="zh-CN" i="1" dirty="0">
                <a:solidFill>
                  <a:schemeClr val="tx2"/>
                </a:solidFill>
                <a:latin typeface="+mj-lt"/>
                <a:ea typeface="楷体" panose="02010609060101010101" pitchFamily="49" charset="-122"/>
              </a:rPr>
              <a:t>F</a:t>
            </a:r>
            <a:r>
              <a:rPr lang="en-US" altLang="zh-CN" baseline="-25000" dirty="0">
                <a:solidFill>
                  <a:schemeClr val="tx2"/>
                </a:solidFill>
                <a:latin typeface="+mj-lt"/>
                <a:ea typeface="楷体" panose="02010609060101010101" pitchFamily="49" charset="-122"/>
              </a:rPr>
              <a:t>2</a:t>
            </a:r>
            <a:r>
              <a:rPr lang="en-US" altLang="zh-CN" b="1" dirty="0">
                <a:solidFill>
                  <a:schemeClr val="tx2"/>
                </a:solidFill>
                <a:latin typeface="+mj-lt"/>
                <a:ea typeface="楷体" panose="02010609060101010101" pitchFamily="49" charset="-122"/>
              </a:rPr>
              <a:t>=</a:t>
            </a:r>
            <a:r>
              <a:rPr lang="en-US" altLang="zh-CN" dirty="0">
                <a:solidFill>
                  <a:schemeClr val="tx2"/>
                </a:solidFill>
                <a:latin typeface="+mj-lt"/>
                <a:ea typeface="楷体" panose="02010609060101010101" pitchFamily="49" charset="-122"/>
              </a:rPr>
              <a:t>2</a:t>
            </a:r>
            <a:r>
              <a:rPr lang="en-US" altLang="zh-CN" i="1" dirty="0">
                <a:solidFill>
                  <a:schemeClr val="tx2"/>
                </a:solidFill>
                <a:latin typeface="+mj-lt"/>
                <a:ea typeface="楷体" panose="02010609060101010101" pitchFamily="49" charset="-122"/>
              </a:rPr>
              <a:t>F</a:t>
            </a:r>
            <a:r>
              <a:rPr lang="en-US" altLang="zh-CN" baseline="-25000" dirty="0">
                <a:solidFill>
                  <a:schemeClr val="tx2"/>
                </a:solidFill>
                <a:latin typeface="+mj-lt"/>
                <a:ea typeface="楷体" panose="02010609060101010101" pitchFamily="49" charset="-122"/>
              </a:rPr>
              <a:t>1</a:t>
            </a:r>
            <a:r>
              <a:rPr lang="zh-CN" altLang="en-US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，曲柄上作用有铅垂力</a:t>
            </a:r>
            <a:r>
              <a:rPr lang="en-US" altLang="zh-CN" i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F</a:t>
            </a:r>
            <a:r>
              <a:rPr lang="en-US" altLang="zh-CN" b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=</a:t>
            </a:r>
            <a:r>
              <a:rPr lang="en-US" altLang="zh-CN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2000N</a:t>
            </a:r>
            <a:r>
              <a:rPr lang="zh-CN" altLang="en-US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。已知皮带轮的直径</a:t>
            </a:r>
            <a:r>
              <a:rPr lang="en-US" altLang="zh-CN" i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D</a:t>
            </a:r>
            <a:r>
              <a:rPr lang="en-US" altLang="zh-CN" b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=</a:t>
            </a:r>
            <a:r>
              <a:rPr lang="en-US" altLang="zh-CN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400mm</a:t>
            </a:r>
            <a:r>
              <a:rPr lang="zh-CN" altLang="en-US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，曲柄长</a:t>
            </a:r>
            <a:r>
              <a:rPr lang="en-US" altLang="zh-CN" i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R</a:t>
            </a:r>
            <a:r>
              <a:rPr lang="en-US" altLang="zh-CN" b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=</a:t>
            </a:r>
            <a:r>
              <a:rPr lang="en-US" altLang="zh-CN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300mm</a:t>
            </a:r>
            <a:r>
              <a:rPr lang="zh-CN" altLang="en-US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，皮带</a:t>
            </a:r>
            <a:r>
              <a:rPr lang="en-US" altLang="zh-CN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和皮带</a:t>
            </a:r>
            <a:r>
              <a:rPr lang="en-US" altLang="zh-CN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与铅垂线间夹角分别为</a:t>
            </a:r>
            <a:r>
              <a:rPr lang="zh-CN" altLang="en-US" i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  <a:cs typeface="Times New Roman" pitchFamily="18" charset="0"/>
                <a:sym typeface="Symbol" pitchFamily="18" charset="2"/>
              </a:rPr>
              <a:t></a:t>
            </a:r>
            <a:r>
              <a:rPr lang="zh-CN" altLang="en-US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i="1" dirty="0">
                <a:solidFill>
                  <a:schemeClr val="tx2"/>
                </a:solidFill>
                <a:latin typeface="+mj-lt"/>
                <a:ea typeface="楷体" panose="02010609060101010101" pitchFamily="49" charset="-122"/>
              </a:rPr>
              <a:t>β</a:t>
            </a:r>
            <a:r>
              <a:rPr lang="en-US" altLang="zh-CN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, </a:t>
            </a:r>
            <a:r>
              <a:rPr lang="en-US" altLang="zh-CN" i="1" dirty="0">
                <a:solidFill>
                  <a:schemeClr val="tx2"/>
                </a:solidFill>
                <a:latin typeface="+mj-lt"/>
                <a:ea typeface="楷体" panose="02010609060101010101" pitchFamily="49" charset="-122"/>
                <a:sym typeface="Symbol" pitchFamily="18" charset="2"/>
              </a:rPr>
              <a:t> </a:t>
            </a:r>
            <a:r>
              <a:rPr lang="en-US" altLang="zh-CN" b="1" dirty="0">
                <a:solidFill>
                  <a:schemeClr val="tx2"/>
                </a:solidFill>
                <a:latin typeface="+mj-lt"/>
                <a:ea typeface="楷体" panose="02010609060101010101" pitchFamily="49" charset="-122"/>
              </a:rPr>
              <a:t>=</a:t>
            </a:r>
            <a:r>
              <a:rPr lang="en-US" altLang="zh-CN" dirty="0">
                <a:solidFill>
                  <a:schemeClr val="tx2"/>
                </a:solidFill>
                <a:latin typeface="+mj-lt"/>
                <a:ea typeface="楷体" panose="02010609060101010101" pitchFamily="49" charset="-122"/>
              </a:rPr>
              <a:t>30</a:t>
            </a:r>
            <a:r>
              <a:rPr lang="en-US" altLang="zh-CN" baseline="30000" dirty="0">
                <a:solidFill>
                  <a:schemeClr val="tx2"/>
                </a:solidFill>
                <a:latin typeface="+mj-lt"/>
                <a:ea typeface="楷体" panose="02010609060101010101" pitchFamily="49" charset="-122"/>
              </a:rPr>
              <a:t>o</a:t>
            </a:r>
            <a:r>
              <a:rPr lang="en-US" altLang="zh-CN" dirty="0">
                <a:solidFill>
                  <a:schemeClr val="tx2"/>
                </a:solidFill>
                <a:latin typeface="+mj-lt"/>
                <a:ea typeface="楷体" panose="02010609060101010101" pitchFamily="49" charset="-122"/>
              </a:rPr>
              <a:t>, </a:t>
            </a:r>
            <a:r>
              <a:rPr lang="en-US" altLang="zh-CN" i="1" dirty="0">
                <a:solidFill>
                  <a:schemeClr val="tx2"/>
                </a:solidFill>
                <a:latin typeface="+mj-lt"/>
                <a:ea typeface="楷体" panose="02010609060101010101" pitchFamily="49" charset="-122"/>
              </a:rPr>
              <a:t>β</a:t>
            </a:r>
            <a:r>
              <a:rPr lang="en-US" altLang="zh-CN" b="1" dirty="0">
                <a:solidFill>
                  <a:schemeClr val="tx2"/>
                </a:solidFill>
                <a:latin typeface="+mj-lt"/>
                <a:ea typeface="楷体" panose="02010609060101010101" pitchFamily="49" charset="-122"/>
              </a:rPr>
              <a:t>=</a:t>
            </a:r>
            <a:r>
              <a:rPr lang="en-US" altLang="zh-CN" dirty="0">
                <a:solidFill>
                  <a:schemeClr val="tx2"/>
                </a:solidFill>
                <a:latin typeface="+mj-lt"/>
                <a:ea typeface="楷体" panose="02010609060101010101" pitchFamily="49" charset="-122"/>
              </a:rPr>
              <a:t>60</a:t>
            </a:r>
            <a:r>
              <a:rPr lang="en-US" altLang="zh-CN" baseline="30000" dirty="0">
                <a:solidFill>
                  <a:schemeClr val="tx2"/>
                </a:solidFill>
                <a:latin typeface="+mj-lt"/>
                <a:ea typeface="楷体" panose="02010609060101010101" pitchFamily="49" charset="-122"/>
              </a:rPr>
              <a:t>o</a:t>
            </a:r>
            <a:r>
              <a:rPr lang="zh-CN" altLang="en-US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，其它尺寸如图所示，求皮带拉力和轴承约束力。</a:t>
            </a:r>
          </a:p>
        </p:txBody>
      </p:sp>
    </p:spTree>
    <p:extLst>
      <p:ext uri="{BB962C8B-B14F-4D97-AF65-F5344CB8AC3E}">
        <p14:creationId xmlns:p14="http://schemas.microsoft.com/office/powerpoint/2010/main" val="908349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4"/>
          <p:cNvSpPr txBox="1">
            <a:spLocks noChangeArrowheads="1"/>
          </p:cNvSpPr>
          <p:nvPr/>
        </p:nvSpPr>
        <p:spPr bwMode="auto">
          <a:xfrm>
            <a:off x="899592" y="306991"/>
            <a:ext cx="1030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 cap="sq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 dirty="0">
                <a:solidFill>
                  <a:srgbClr val="00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解：</a:t>
            </a:r>
          </a:p>
        </p:txBody>
      </p:sp>
      <p:sp>
        <p:nvSpPr>
          <p:cNvPr id="6148" name="Text Box 5"/>
          <p:cNvSpPr txBox="1">
            <a:spLocks noChangeArrowheads="1"/>
          </p:cNvSpPr>
          <p:nvPr/>
        </p:nvSpPr>
        <p:spPr bwMode="auto">
          <a:xfrm>
            <a:off x="1763688" y="334094"/>
            <a:ext cx="51593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miter lim="800000"/>
                <a:headEnd type="none" w="sm" len="sm"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以整个轴为研究对象，受力分析</a:t>
            </a:r>
          </a:p>
        </p:txBody>
      </p:sp>
      <p:pic>
        <p:nvPicPr>
          <p:cNvPr id="6149" name="Picture 6" descr="J5L-11c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549" y="816263"/>
            <a:ext cx="4033762" cy="2741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0" name="Picture 7" descr="J5L-11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843246"/>
            <a:ext cx="3743077" cy="2709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9196317"/>
              </p:ext>
            </p:extLst>
          </p:nvPr>
        </p:nvGraphicFramePr>
        <p:xfrm>
          <a:off x="433581" y="3543570"/>
          <a:ext cx="3772036" cy="7142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4" name="Equation" r:id="rId5" imgW="2082600" imgH="393480" progId="Equation.DSMT4">
                  <p:embed/>
                </p:oleObj>
              </mc:Choice>
              <mc:Fallback>
                <p:oleObj name="Equation" r:id="rId5" imgW="20826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581" y="3543570"/>
                        <a:ext cx="3772036" cy="7142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1746919"/>
              </p:ext>
            </p:extLst>
          </p:nvPr>
        </p:nvGraphicFramePr>
        <p:xfrm>
          <a:off x="433581" y="4170313"/>
          <a:ext cx="7992888" cy="4718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5" name="Equation" r:id="rId7" imgW="4101840" imgH="241200" progId="Equation.DSMT4">
                  <p:embed/>
                </p:oleObj>
              </mc:Choice>
              <mc:Fallback>
                <p:oleObj name="Equation" r:id="rId7" imgW="41018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581" y="4170313"/>
                        <a:ext cx="7992888" cy="4718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6583844"/>
              </p:ext>
            </p:extLst>
          </p:nvPr>
        </p:nvGraphicFramePr>
        <p:xfrm>
          <a:off x="453549" y="4647360"/>
          <a:ext cx="6829425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6" name="Equation" r:id="rId9" imgW="3504960" imgH="241200" progId="Equation.DSMT4">
                  <p:embed/>
                </p:oleObj>
              </mc:Choice>
              <mc:Fallback>
                <p:oleObj name="Equation" r:id="rId9" imgW="35049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549" y="4647360"/>
                        <a:ext cx="6829425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7251826"/>
              </p:ext>
            </p:extLst>
          </p:nvPr>
        </p:nvGraphicFramePr>
        <p:xfrm>
          <a:off x="506970" y="5124362"/>
          <a:ext cx="5592763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7" name="Equation" r:id="rId11" imgW="2869920" imgH="241200" progId="Equation.DSMT4">
                  <p:embed/>
                </p:oleObj>
              </mc:Choice>
              <mc:Fallback>
                <p:oleObj name="Equation" r:id="rId11" imgW="28699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970" y="5124362"/>
                        <a:ext cx="5592763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848703"/>
              </p:ext>
            </p:extLst>
          </p:nvPr>
        </p:nvGraphicFramePr>
        <p:xfrm>
          <a:off x="473102" y="5567911"/>
          <a:ext cx="6310313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8" name="Equation" r:id="rId13" imgW="3238200" imgH="241200" progId="Equation.DSMT4">
                  <p:embed/>
                </p:oleObj>
              </mc:Choice>
              <mc:Fallback>
                <p:oleObj name="Equation" r:id="rId13" imgW="32382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102" y="5567911"/>
                        <a:ext cx="6310313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0119124"/>
              </p:ext>
            </p:extLst>
          </p:nvPr>
        </p:nvGraphicFramePr>
        <p:xfrm>
          <a:off x="611602" y="6114502"/>
          <a:ext cx="7919499" cy="43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9" name="Equation" r:id="rId15" imgW="4216320" imgH="228600" progId="Equation.DSMT4">
                  <p:embed/>
                </p:oleObj>
              </mc:Choice>
              <mc:Fallback>
                <p:oleObj name="Equation" r:id="rId15" imgW="42163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602" y="6114502"/>
                        <a:ext cx="7919499" cy="430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70526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7845429"/>
              </p:ext>
            </p:extLst>
          </p:nvPr>
        </p:nvGraphicFramePr>
        <p:xfrm>
          <a:off x="853782" y="3668764"/>
          <a:ext cx="3657600" cy="205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" name="BMP 图像" r:id="rId3" imgW="2266667" imgH="1276190" progId="Paint.Picture">
                  <p:embed/>
                </p:oleObj>
              </mc:Choice>
              <mc:Fallback>
                <p:oleObj name="BMP 图像" r:id="rId3" imgW="2266667" imgH="1276190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782" y="3668764"/>
                        <a:ext cx="3657600" cy="2058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1234782" y="1188539"/>
            <a:ext cx="6553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力作用线在同一平面内，但彼此不汇交一点，</a:t>
            </a:r>
          </a:p>
          <a:p>
            <a:pPr>
              <a:defRPr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      且不都平行的力系称为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平面力系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574280"/>
              </p:ext>
            </p:extLst>
          </p:nvPr>
        </p:nvGraphicFramePr>
        <p:xfrm>
          <a:off x="4644008" y="2996952"/>
          <a:ext cx="3429000" cy="294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3" name="BMP 图像" r:id="rId5" imgW="2619048" imgH="2247619" progId="Paint.Picture">
                  <p:embed/>
                </p:oleObj>
              </mc:Choice>
              <mc:Fallback>
                <p:oleObj name="BMP 图像" r:id="rId5" imgW="2619048" imgH="2247619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4008" y="2996952"/>
                        <a:ext cx="3429000" cy="2941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853782" y="2154592"/>
            <a:ext cx="57610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Blip>
                <a:blip r:embed="rId7"/>
              </a:buBlip>
            </a:pPr>
            <a:r>
              <a:rPr lang="en-US" altLang="zh-CN" dirty="0"/>
              <a:t>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力系中各力近似作用在同一平面</a:t>
            </a:r>
          </a:p>
          <a:p>
            <a:pPr eaLnBrk="1" hangingPunct="1">
              <a:spcBef>
                <a:spcPct val="50000"/>
              </a:spcBef>
              <a:buFontTx/>
              <a:buBlip>
                <a:blip r:embed="rId7"/>
              </a:buBlip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 力系有对称平面</a:t>
            </a:r>
          </a:p>
        </p:txBody>
      </p:sp>
      <p:sp>
        <p:nvSpPr>
          <p:cNvPr id="6" name="矩形 5"/>
          <p:cNvSpPr/>
          <p:nvPr/>
        </p:nvSpPr>
        <p:spPr>
          <a:xfrm>
            <a:off x="853782" y="370801"/>
            <a:ext cx="6904454" cy="7190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45000"/>
              </a:lnSpc>
            </a:pPr>
            <a:r>
              <a:rPr lang="en-US" altLang="zh-CN" sz="3200" b="1" dirty="0">
                <a:ea typeface="黑体" panose="02010609060101010101" pitchFamily="49" charset="-122"/>
              </a:rPr>
              <a:t>§4-2  </a:t>
            </a: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平面任意力系的平衡</a:t>
            </a:r>
            <a:r>
              <a:rPr lang="zh-CN" altLang="en-US" b="1" dirty="0">
                <a:ea typeface="华文中宋" panose="02010600040101010101" pitchFamily="2" charset="-122"/>
              </a:rPr>
              <a:t>（书</a:t>
            </a:r>
            <a:r>
              <a:rPr lang="en-US" altLang="zh-CN" b="1" dirty="0">
                <a:latin typeface="宋体" panose="02010600030101010101" pitchFamily="2" charset="-122"/>
              </a:rPr>
              <a:t>§</a:t>
            </a:r>
            <a:r>
              <a:rPr lang="en-US" altLang="zh-CN" b="1" dirty="0"/>
              <a:t>2.3.3</a:t>
            </a:r>
            <a:r>
              <a:rPr lang="zh-CN" altLang="en-US" b="1" dirty="0">
                <a:ea typeface="华文中宋" panose="02010600040101010101" pitchFamily="2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372084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293703" y="2637036"/>
            <a:ext cx="503237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平面力系平衡</a:t>
            </a:r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993984" y="888610"/>
            <a:ext cx="494616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平面任意力系的平衡方程</a:t>
            </a:r>
          </a:p>
        </p:txBody>
      </p:sp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1195109" y="1639222"/>
            <a:ext cx="569090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平面力系可以简化为一个力和一个力偶</a:t>
            </a:r>
            <a:r>
              <a:rPr lang="zh-CN" altLang="en-US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1941403" y="2852936"/>
            <a:ext cx="2590800" cy="381000"/>
            <a:chOff x="2304" y="1824"/>
            <a:chExt cx="1632" cy="240"/>
          </a:xfrm>
        </p:grpSpPr>
        <p:sp>
          <p:nvSpPr>
            <p:cNvPr id="3091" name="Rectangle 8"/>
            <p:cNvSpPr>
              <a:spLocks noChangeArrowheads="1"/>
            </p:cNvSpPr>
            <p:nvPr/>
          </p:nvSpPr>
          <p:spPr bwMode="auto">
            <a:xfrm>
              <a:off x="2304" y="1824"/>
              <a:ext cx="1632" cy="24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  <a:headEnd/>
              <a:tailEnd type="none" w="sm" len="sm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3077" name="Object 9"/>
            <p:cNvGraphicFramePr>
              <a:graphicFrameLocks noChangeAspect="1"/>
            </p:cNvGraphicFramePr>
            <p:nvPr/>
          </p:nvGraphicFramePr>
          <p:xfrm>
            <a:off x="2600" y="1824"/>
            <a:ext cx="1048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4" name="Equation" r:id="rId3" imgW="1663560" imgH="368280" progId="Equation.3">
                    <p:embed/>
                  </p:oleObj>
                </mc:Choice>
                <mc:Fallback>
                  <p:oleObj name="Equation" r:id="rId3" imgW="1663560" imgH="368280" progId="Equation.3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00" y="1824"/>
                          <a:ext cx="1048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1941403" y="4437261"/>
            <a:ext cx="2590800" cy="381000"/>
            <a:chOff x="2304" y="2208"/>
            <a:chExt cx="1632" cy="240"/>
          </a:xfrm>
        </p:grpSpPr>
        <p:sp>
          <p:nvSpPr>
            <p:cNvPr id="3090" name="Rectangle 11"/>
            <p:cNvSpPr>
              <a:spLocks noChangeArrowheads="1"/>
            </p:cNvSpPr>
            <p:nvPr/>
          </p:nvSpPr>
          <p:spPr bwMode="auto">
            <a:xfrm>
              <a:off x="2304" y="2208"/>
              <a:ext cx="1632" cy="24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  <a:headEnd/>
              <a:tailEnd type="none" w="sm" len="sm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3076" name="Object 12"/>
            <p:cNvGraphicFramePr>
              <a:graphicFrameLocks noChangeAspect="1"/>
            </p:cNvGraphicFramePr>
            <p:nvPr/>
          </p:nvGraphicFramePr>
          <p:xfrm>
            <a:off x="2376" y="2208"/>
            <a:ext cx="156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5" name="Equation" r:id="rId5" imgW="2476440" imgH="380880" progId="Equation.3">
                    <p:embed/>
                  </p:oleObj>
                </mc:Choice>
                <mc:Fallback>
                  <p:oleObj name="Equation" r:id="rId5" imgW="2476440" imgH="380880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76" y="2208"/>
                          <a:ext cx="1560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229" name="AutoShape 13"/>
          <p:cNvSpPr>
            <a:spLocks/>
          </p:cNvSpPr>
          <p:nvPr/>
        </p:nvSpPr>
        <p:spPr bwMode="auto">
          <a:xfrm>
            <a:off x="1798528" y="2637036"/>
            <a:ext cx="71437" cy="2376488"/>
          </a:xfrm>
          <a:prstGeom prst="leftBrace">
            <a:avLst>
              <a:gd name="adj1" fmla="val 277224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30" name="AutoShape 14"/>
          <p:cNvSpPr>
            <a:spLocks noChangeArrowheads="1"/>
          </p:cNvSpPr>
          <p:nvPr/>
        </p:nvSpPr>
        <p:spPr bwMode="auto">
          <a:xfrm>
            <a:off x="4606815" y="2852936"/>
            <a:ext cx="762000" cy="333375"/>
          </a:xfrm>
          <a:prstGeom prst="leftRightArrow">
            <a:avLst>
              <a:gd name="adj1" fmla="val 50000"/>
              <a:gd name="adj2" fmla="val 45714"/>
            </a:avLst>
          </a:prstGeom>
          <a:solidFill>
            <a:srgbClr val="CCFFFF"/>
          </a:solidFill>
          <a:ln w="9525">
            <a:solidFill>
              <a:srgbClr val="FF0000"/>
            </a:solidFill>
            <a:miter lim="800000"/>
            <a:headEnd/>
            <a:tailEnd type="none" w="sm" len="sm"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31" name="AutoShape 15"/>
          <p:cNvSpPr>
            <a:spLocks noChangeArrowheads="1"/>
          </p:cNvSpPr>
          <p:nvPr/>
        </p:nvSpPr>
        <p:spPr bwMode="auto">
          <a:xfrm>
            <a:off x="4606815" y="4508699"/>
            <a:ext cx="762000" cy="333375"/>
          </a:xfrm>
          <a:prstGeom prst="leftRightArrow">
            <a:avLst>
              <a:gd name="adj1" fmla="val 50000"/>
              <a:gd name="adj2" fmla="val 45714"/>
            </a:avLst>
          </a:prstGeom>
          <a:solidFill>
            <a:srgbClr val="CCFFFF"/>
          </a:solidFill>
          <a:ln w="9525">
            <a:solidFill>
              <a:srgbClr val="FF0000"/>
            </a:solidFill>
            <a:miter lim="800000"/>
            <a:headEnd/>
            <a:tailEnd type="none" w="sm" len="sm"/>
          </a:ln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5614878" y="2492574"/>
            <a:ext cx="1296987" cy="1511300"/>
            <a:chOff x="4558" y="1525"/>
            <a:chExt cx="817" cy="952"/>
          </a:xfrm>
        </p:grpSpPr>
        <p:graphicFrame>
          <p:nvGraphicFramePr>
            <p:cNvPr id="3075" name="Object 17"/>
            <p:cNvGraphicFramePr>
              <a:graphicFrameLocks noChangeAspect="1"/>
            </p:cNvGraphicFramePr>
            <p:nvPr/>
          </p:nvGraphicFramePr>
          <p:xfrm>
            <a:off x="4604" y="1570"/>
            <a:ext cx="738" cy="9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6" name="公式" r:id="rId7" imgW="609480" imgH="749160" progId="Equation.3">
                    <p:embed/>
                  </p:oleObj>
                </mc:Choice>
                <mc:Fallback>
                  <p:oleObj name="公式" r:id="rId7" imgW="609480" imgH="74916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4" y="1570"/>
                          <a:ext cx="738" cy="9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9" name="Rectangle 18"/>
            <p:cNvSpPr>
              <a:spLocks noChangeArrowheads="1"/>
            </p:cNvSpPr>
            <p:nvPr/>
          </p:nvSpPr>
          <p:spPr bwMode="auto">
            <a:xfrm>
              <a:off x="4558" y="1525"/>
              <a:ext cx="817" cy="726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5" name="Group 23"/>
          <p:cNvGrpSpPr>
            <a:grpSpLocks/>
          </p:cNvGrpSpPr>
          <p:nvPr/>
        </p:nvGrpSpPr>
        <p:grpSpPr bwMode="auto">
          <a:xfrm>
            <a:off x="5470415" y="4292799"/>
            <a:ext cx="2376488" cy="1222375"/>
            <a:chOff x="2971" y="3113"/>
            <a:chExt cx="1497" cy="770"/>
          </a:xfrm>
        </p:grpSpPr>
        <p:graphicFrame>
          <p:nvGraphicFramePr>
            <p:cNvPr id="3074" name="Object 21"/>
            <p:cNvGraphicFramePr>
              <a:graphicFrameLocks noChangeAspect="1"/>
            </p:cNvGraphicFramePr>
            <p:nvPr/>
          </p:nvGraphicFramePr>
          <p:xfrm>
            <a:off x="3107" y="3203"/>
            <a:ext cx="1271" cy="6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7" name="公式" r:id="rId9" imgW="901440" imgH="482400" progId="Equation.3">
                    <p:embed/>
                  </p:oleObj>
                </mc:Choice>
                <mc:Fallback>
                  <p:oleObj name="公式" r:id="rId9" imgW="901440" imgH="482400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7" y="3203"/>
                          <a:ext cx="1271" cy="6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8" name="Rectangle 22"/>
            <p:cNvSpPr>
              <a:spLocks noChangeArrowheads="1"/>
            </p:cNvSpPr>
            <p:nvPr/>
          </p:nvSpPr>
          <p:spPr bwMode="auto">
            <a:xfrm>
              <a:off x="2971" y="3113"/>
              <a:ext cx="1497" cy="544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9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70" decel="10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770" decel="100000"/>
                                        <p:tgtEl>
                                          <p:spTgt spid="4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3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40" dur="77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4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42" dur="77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4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3" dur="500"/>
                                        <p:tgtEl>
                                          <p:spTgt spid="9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70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770" decel="100000"/>
                                        <p:tgtEl>
                                          <p:spTgt spid="5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60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61" dur="77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6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63" dur="77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6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build="p" autoUpdateAnimBg="0"/>
      <p:bldP spid="9220" grpId="0" build="p" autoUpdateAnimBg="0"/>
      <p:bldP spid="9221" grpId="0" build="p" autoUpdateAnimBg="0"/>
      <p:bldP spid="9229" grpId="0" animBg="1"/>
      <p:bldP spid="9230" grpId="0" animBg="1"/>
      <p:bldP spid="923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971600" y="3094537"/>
            <a:ext cx="739127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力系中各力在任选的两正交坐标轴上投影的代数和为</a:t>
            </a:r>
            <a:r>
              <a:rPr lang="en-US" altLang="zh-CN" dirty="0">
                <a:latin typeface="+mn-lt"/>
                <a:ea typeface="黑体" panose="02010609060101010101" pitchFamily="49" charset="-122"/>
              </a:rPr>
              <a:t>0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，   力系中各力对任一点之矩的代数和也等于</a:t>
            </a:r>
            <a:r>
              <a:rPr lang="en-US" altLang="zh-CN" dirty="0">
                <a:latin typeface="+mj-lt"/>
                <a:ea typeface="黑体" panose="02010609060101010101" pitchFamily="49" charset="-122"/>
              </a:rPr>
              <a:t>0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210854" y="1380008"/>
            <a:ext cx="5031643" cy="1395412"/>
            <a:chOff x="1210854" y="1380008"/>
            <a:chExt cx="5031643" cy="1395412"/>
          </a:xfrm>
        </p:grpSpPr>
        <p:sp>
          <p:nvSpPr>
            <p:cNvPr id="10243" name="Text Box 3"/>
            <p:cNvSpPr txBox="1">
              <a:spLocks noChangeArrowheads="1"/>
            </p:cNvSpPr>
            <p:nvPr/>
          </p:nvSpPr>
          <p:spPr bwMode="auto">
            <a:xfrm>
              <a:off x="1210854" y="1842182"/>
              <a:ext cx="345638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 dirty="0">
                  <a:solidFill>
                    <a:schemeClr val="accent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平衡方程的基本形式</a:t>
              </a:r>
            </a:p>
          </p:txBody>
        </p:sp>
        <p:graphicFrame>
          <p:nvGraphicFramePr>
            <p:cNvPr id="10244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94295681"/>
                </p:ext>
              </p:extLst>
            </p:nvPr>
          </p:nvGraphicFramePr>
          <p:xfrm>
            <a:off x="4427984" y="1380008"/>
            <a:ext cx="1814513" cy="1395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6" name="Equation" r:id="rId3" imgW="1815840" imgH="1396800" progId="Equation.3">
                    <p:embed/>
                  </p:oleObj>
                </mc:Choice>
                <mc:Fallback>
                  <p:oleObj name="Equation" r:id="rId3" imgW="1815840" imgH="139680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27984" y="1380008"/>
                          <a:ext cx="1814513" cy="13954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246" name="Text Box 6"/>
          <p:cNvSpPr txBox="1">
            <a:spLocks noChangeArrowheads="1"/>
          </p:cNvSpPr>
          <p:nvPr/>
        </p:nvSpPr>
        <p:spPr bwMode="auto">
          <a:xfrm>
            <a:off x="1606538" y="4221088"/>
            <a:ext cx="61214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Blip>
                <a:blip r:embed="rId5"/>
              </a:buBlip>
            </a:pPr>
            <a:r>
              <a:rPr lang="en-US" altLang="zh-CN" b="1" dirty="0">
                <a:solidFill>
                  <a:srgbClr val="666633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对一个研究对象建立的独立方程数为</a:t>
            </a:r>
            <a:r>
              <a:rPr lang="en-US" altLang="zh-CN" b="1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b="1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</a:t>
            </a:r>
            <a:r>
              <a:rPr lang="en-US" altLang="zh-CN" b="1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</a:p>
          <a:p>
            <a:pPr eaLnBrk="1" hangingPunct="1">
              <a:spcBef>
                <a:spcPct val="50000"/>
              </a:spcBef>
              <a:buFontTx/>
              <a:buBlip>
                <a:blip r:embed="rId5"/>
              </a:buBlip>
            </a:pPr>
            <a:r>
              <a:rPr lang="en-US" altLang="zh-CN" b="1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方程中至少有一个矩方程</a:t>
            </a:r>
            <a:r>
              <a:rPr lang="en-US" altLang="zh-CN" b="1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</a:p>
          <a:p>
            <a:pPr eaLnBrk="1" hangingPunct="1">
              <a:spcBef>
                <a:spcPct val="50000"/>
              </a:spcBef>
              <a:buFontTx/>
              <a:buBlip>
                <a:blip r:embed="rId5"/>
              </a:buBlip>
            </a:pPr>
            <a:r>
              <a:rPr lang="en-US" altLang="zh-CN" b="1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投影轴及矩心均为任意</a:t>
            </a:r>
            <a:r>
              <a:rPr lang="en-US" altLang="zh-CN" b="1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821401" y="528273"/>
            <a:ext cx="494616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平面任意力系的平衡方程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 build="p" autoUpdateAnimBg="0"/>
      <p:bldP spid="1024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Text Box 2"/>
          <p:cNvSpPr txBox="1">
            <a:spLocks noChangeArrowheads="1"/>
          </p:cNvSpPr>
          <p:nvPr/>
        </p:nvSpPr>
        <p:spPr bwMode="auto">
          <a:xfrm>
            <a:off x="827584" y="1071967"/>
            <a:ext cx="29690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平衡方程的其它形式</a:t>
            </a:r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1580976" y="2053687"/>
            <a:ext cx="11128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二矩式</a:t>
            </a:r>
          </a:p>
        </p:txBody>
      </p:sp>
      <p:graphicFrame>
        <p:nvGraphicFramePr>
          <p:cNvPr id="112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5039569"/>
              </p:ext>
            </p:extLst>
          </p:nvPr>
        </p:nvGraphicFramePr>
        <p:xfrm>
          <a:off x="3056557" y="1735831"/>
          <a:ext cx="1806575" cy="1314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2" name="Equation" r:id="rId3" imgW="1815840" imgH="1320480" progId="Equation.3">
                  <p:embed/>
                </p:oleObj>
              </mc:Choice>
              <mc:Fallback>
                <p:oleObj name="Equation" r:id="rId3" imgW="1815840" imgH="13204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6557" y="1735831"/>
                        <a:ext cx="1806575" cy="1314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1596789" y="4272146"/>
            <a:ext cx="11128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三矩式</a:t>
            </a:r>
          </a:p>
        </p:txBody>
      </p:sp>
      <p:graphicFrame>
        <p:nvGraphicFramePr>
          <p:cNvPr id="1127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7225615"/>
              </p:ext>
            </p:extLst>
          </p:nvPr>
        </p:nvGraphicFramePr>
        <p:xfrm>
          <a:off x="3145432" y="3906480"/>
          <a:ext cx="1817687" cy="1322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3" name="Equation" r:id="rId5" imgW="1815840" imgH="1320480" progId="Equation.3">
                  <p:embed/>
                </p:oleObj>
              </mc:Choice>
              <mc:Fallback>
                <p:oleObj name="Equation" r:id="rId5" imgW="1815840" imgH="13204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5432" y="3906480"/>
                        <a:ext cx="1817687" cy="1322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4424254"/>
              </p:ext>
            </p:extLst>
          </p:nvPr>
        </p:nvGraphicFramePr>
        <p:xfrm>
          <a:off x="5364088" y="1334332"/>
          <a:ext cx="2514600" cy="168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4" name="Image" r:id="rId7" imgW="1176431" imgH="789100" progId="Photoshop.Image.8">
                  <p:embed/>
                </p:oleObj>
              </mc:Choice>
              <mc:Fallback>
                <p:oleObj name="Image" r:id="rId7" imgW="1176431" imgH="789100" progId="Photoshop.Image.8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088" y="1334332"/>
                        <a:ext cx="2514600" cy="168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9299568"/>
              </p:ext>
            </p:extLst>
          </p:nvPr>
        </p:nvGraphicFramePr>
        <p:xfrm>
          <a:off x="5868144" y="4028452"/>
          <a:ext cx="2438400" cy="165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5" name="Image" r:id="rId9" imgW="1222250" imgH="828707" progId="Photoshop.Image.8">
                  <p:embed/>
                </p:oleObj>
              </mc:Choice>
              <mc:Fallback>
                <p:oleObj name="Image" r:id="rId9" imgW="1222250" imgH="828707" progId="Photoshop.Image.8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144" y="4028452"/>
                        <a:ext cx="2438400" cy="165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6" name="Text Box 12"/>
          <p:cNvSpPr txBox="1">
            <a:spLocks noChangeArrowheads="1"/>
          </p:cNvSpPr>
          <p:nvPr/>
        </p:nvSpPr>
        <p:spPr bwMode="auto">
          <a:xfrm>
            <a:off x="1578893" y="3251323"/>
            <a:ext cx="4608512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附加条件</a:t>
            </a:r>
            <a:r>
              <a:rPr lang="en-US" altLang="zh-CN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r>
              <a:rPr lang="en-US" altLang="zh-CN" i="1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</a:rPr>
              <a:t>AB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连线不能与</a:t>
            </a:r>
            <a:r>
              <a:rPr lang="en-US" altLang="zh-CN" i="1" dirty="0">
                <a:solidFill>
                  <a:srgbClr val="FF0000"/>
                </a:solidFill>
                <a:latin typeface="+mj-lt"/>
                <a:ea typeface="楷体" panose="02010609060101010101" pitchFamily="49" charset="-122"/>
              </a:rPr>
              <a:t>x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轴垂直</a:t>
            </a:r>
            <a:endParaRPr lang="zh-CN" altLang="en-US" b="1" i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277" name="Text Box 13"/>
          <p:cNvSpPr txBox="1">
            <a:spLocks noChangeArrowheads="1"/>
          </p:cNvSpPr>
          <p:nvPr/>
        </p:nvSpPr>
        <p:spPr bwMode="auto">
          <a:xfrm>
            <a:off x="1691680" y="5573547"/>
            <a:ext cx="410527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附加条件</a:t>
            </a:r>
            <a:r>
              <a:rPr lang="en-US" altLang="zh-CN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r>
              <a:rPr lang="en-US" altLang="zh-CN" i="1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</a:rPr>
              <a:t>A</a:t>
            </a:r>
            <a:r>
              <a:rPr lang="en-US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i="1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</a:rPr>
              <a:t>B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i="1" dirty="0">
                <a:solidFill>
                  <a:srgbClr val="FF0000"/>
                </a:solidFill>
                <a:latin typeface="+mj-lt"/>
                <a:ea typeface="楷体" panose="02010609060101010101" pitchFamily="49" charset="-122"/>
              </a:rPr>
              <a:t>C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不能共线</a:t>
            </a: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649931" y="490359"/>
            <a:ext cx="494616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平面任意力系的平衡方程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2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2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1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9" dur="5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2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12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 autoUpdateAnimBg="0"/>
      <p:bldP spid="11269" grpId="0" build="p" autoUpdateAnimBg="0"/>
      <p:bldP spid="11276" grpId="0"/>
      <p:bldP spid="1127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1"/>
          <p:cNvSpPr>
            <a:spLocks noChangeArrowheads="1"/>
          </p:cNvSpPr>
          <p:nvPr/>
        </p:nvSpPr>
        <p:spPr bwMode="auto">
          <a:xfrm>
            <a:off x="1043608" y="769538"/>
            <a:ext cx="451437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平面特殊力系的平衡方程</a:t>
            </a: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1043608" y="1844824"/>
            <a:ext cx="20882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平面汇交力系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3259635" y="2679294"/>
            <a:ext cx="5307980" cy="480870"/>
            <a:chOff x="3051422" y="2689715"/>
            <a:chExt cx="5307980" cy="480870"/>
          </a:xfrm>
        </p:grpSpPr>
        <p:sp>
          <p:nvSpPr>
            <p:cNvPr id="7" name="矩形 6"/>
            <p:cNvSpPr/>
            <p:nvPr/>
          </p:nvSpPr>
          <p:spPr>
            <a:xfrm>
              <a:off x="3051422" y="2708920"/>
              <a:ext cx="142218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b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几何条件</a:t>
              </a:r>
            </a:p>
          </p:txBody>
        </p:sp>
        <p:sp>
          <p:nvSpPr>
            <p:cNvPr id="8" name="矩形 7"/>
            <p:cNvSpPr/>
            <p:nvPr/>
          </p:nvSpPr>
          <p:spPr>
            <a:xfrm>
              <a:off x="4481417" y="2689715"/>
              <a:ext cx="387798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力系的力多边形自行封闭。</a:t>
              </a:r>
            </a:p>
          </p:txBody>
        </p:sp>
      </p:grpSp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1171403" y="3584311"/>
            <a:ext cx="20882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平面力偶系</a:t>
            </a:r>
          </a:p>
        </p:txBody>
      </p:sp>
      <p:sp>
        <p:nvSpPr>
          <p:cNvPr id="16" name="Text Box 2"/>
          <p:cNvSpPr txBox="1">
            <a:spLocks noChangeArrowheads="1"/>
          </p:cNvSpPr>
          <p:nvPr/>
        </p:nvSpPr>
        <p:spPr bwMode="auto">
          <a:xfrm>
            <a:off x="1179214" y="4894668"/>
            <a:ext cx="20882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平面平行力系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267446" y="1614859"/>
            <a:ext cx="2747665" cy="993775"/>
            <a:chOff x="3267446" y="1614859"/>
            <a:chExt cx="2747665" cy="993775"/>
          </a:xfrm>
        </p:grpSpPr>
        <p:sp>
          <p:nvSpPr>
            <p:cNvPr id="2" name="矩形 1"/>
            <p:cNvSpPr/>
            <p:nvPr/>
          </p:nvSpPr>
          <p:spPr>
            <a:xfrm>
              <a:off x="3267446" y="1844823"/>
              <a:ext cx="141577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b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解析条件</a:t>
              </a:r>
            </a:p>
          </p:txBody>
        </p:sp>
        <p:graphicFrame>
          <p:nvGraphicFramePr>
            <p:cNvPr id="17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17292081"/>
                </p:ext>
              </p:extLst>
            </p:nvPr>
          </p:nvGraphicFramePr>
          <p:xfrm>
            <a:off x="4878461" y="1614859"/>
            <a:ext cx="1136650" cy="993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2" name="Equation" r:id="rId3" imgW="583920" imgH="507960" progId="Equation.DSMT4">
                    <p:embed/>
                  </p:oleObj>
                </mc:Choice>
                <mc:Fallback>
                  <p:oleObj name="Equation" r:id="rId3" imgW="583920" imgH="5079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8461" y="1614859"/>
                          <a:ext cx="1136650" cy="9937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/>
          <p:cNvGrpSpPr/>
          <p:nvPr/>
        </p:nvGrpSpPr>
        <p:grpSpPr>
          <a:xfrm>
            <a:off x="3246398" y="3524527"/>
            <a:ext cx="3412560" cy="581231"/>
            <a:chOff x="3246398" y="3524527"/>
            <a:chExt cx="3412560" cy="581231"/>
          </a:xfrm>
        </p:grpSpPr>
        <p:graphicFrame>
          <p:nvGraphicFramePr>
            <p:cNvPr id="20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97531030"/>
                </p:ext>
              </p:extLst>
            </p:nvPr>
          </p:nvGraphicFramePr>
          <p:xfrm>
            <a:off x="5273104" y="3524527"/>
            <a:ext cx="1385854" cy="581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3" name="Equation" r:id="rId5" imgW="545760" imgH="228600" progId="Equation.DSMT4">
                    <p:embed/>
                  </p:oleObj>
                </mc:Choice>
                <mc:Fallback>
                  <p:oleObj name="Equation" r:id="rId5" imgW="54576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73104" y="3524527"/>
                          <a:ext cx="1385854" cy="5812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矩形 13"/>
            <p:cNvSpPr/>
            <p:nvPr/>
          </p:nvSpPr>
          <p:spPr>
            <a:xfrm>
              <a:off x="3246398" y="3585027"/>
              <a:ext cx="141577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b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解析条件</a:t>
              </a: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3300796" y="4593385"/>
            <a:ext cx="3298151" cy="1064230"/>
            <a:chOff x="3300796" y="4593385"/>
            <a:chExt cx="3298151" cy="1064230"/>
          </a:xfrm>
        </p:grpSpPr>
        <p:graphicFrame>
          <p:nvGraphicFramePr>
            <p:cNvPr id="18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78409773"/>
                </p:ext>
              </p:extLst>
            </p:nvPr>
          </p:nvGraphicFramePr>
          <p:xfrm>
            <a:off x="5003708" y="4593385"/>
            <a:ext cx="1595239" cy="1064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4" name="Equation" r:id="rId7" imgW="660240" imgH="482400" progId="Equation.DSMT4">
                    <p:embed/>
                  </p:oleObj>
                </mc:Choice>
                <mc:Fallback>
                  <p:oleObj name="Equation" r:id="rId7" imgW="660240" imgH="482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3708" y="4593385"/>
                          <a:ext cx="1595239" cy="10642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矩形 14"/>
            <p:cNvSpPr/>
            <p:nvPr/>
          </p:nvSpPr>
          <p:spPr>
            <a:xfrm>
              <a:off x="3300796" y="4885375"/>
              <a:ext cx="141577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eaLnBrk="1" hangingPunct="1"/>
              <a:r>
                <a:rPr lang="zh-CN" altLang="en-US" b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解析条件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69232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  <p:bldP spid="10" grpId="0" build="p" autoUpdateAnimBg="0"/>
      <p:bldP spid="16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5"/>
          <p:cNvSpPr>
            <a:spLocks noChangeArrowheads="1"/>
          </p:cNvSpPr>
          <p:nvPr/>
        </p:nvSpPr>
        <p:spPr bwMode="auto">
          <a:xfrm>
            <a:off x="815100" y="719536"/>
            <a:ext cx="7848872" cy="18064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sz="2400" b="1" i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4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如图所示是汽车制动机构的一部分。司机踩到制动蹬上的力</a:t>
            </a:r>
            <a:r>
              <a:rPr lang="en-US" altLang="zh-CN" sz="2400" i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F</a:t>
            </a:r>
            <a:r>
              <a:rPr lang="en-US" altLang="zh-CN" sz="2400" b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=</a:t>
            </a:r>
            <a:r>
              <a:rPr lang="en-US" altLang="zh-CN" sz="2400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212N</a:t>
            </a:r>
            <a:r>
              <a:rPr lang="zh-CN" altLang="en-US" sz="24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zh-CN" sz="24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方向与水平面成</a:t>
            </a:r>
            <a:r>
              <a:rPr lang="zh-CN" altLang="en-US" sz="2400" i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  <a:sym typeface="Symbol" panose="05050102010706020507" pitchFamily="18" charset="2"/>
              </a:rPr>
              <a:t></a:t>
            </a:r>
            <a:r>
              <a:rPr lang="en-US" altLang="zh-CN" sz="2400" b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=</a:t>
            </a:r>
            <a:r>
              <a:rPr lang="en-US" altLang="zh-CN" sz="2400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45</a:t>
            </a:r>
            <a:r>
              <a:rPr lang="en-US" altLang="zh-CN" sz="2400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  <a:sym typeface="Symbol" panose="05050102010706020507" pitchFamily="18" charset="2"/>
              </a:rPr>
              <a:t></a:t>
            </a:r>
            <a:r>
              <a:rPr lang="zh-CN" altLang="zh-CN" sz="24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r>
              <a:rPr lang="zh-CN" altLang="zh-CN" sz="24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当平衡时，</a:t>
            </a:r>
            <a:r>
              <a:rPr lang="en-US" altLang="zh-CN" sz="2400" i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BC</a:t>
            </a:r>
            <a:r>
              <a:rPr lang="zh-CN" altLang="zh-CN" sz="24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水平，</a:t>
            </a:r>
            <a:r>
              <a:rPr lang="en-US" altLang="zh-CN" sz="2400" i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AD</a:t>
            </a:r>
            <a:r>
              <a:rPr lang="zh-CN" altLang="zh-CN" sz="24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铅直，试求拉杆</a:t>
            </a:r>
            <a:r>
              <a:rPr lang="en-US" altLang="zh-CN" sz="2400" i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BC</a:t>
            </a:r>
            <a:r>
              <a:rPr lang="zh-CN" altLang="zh-CN" sz="24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所受的力。已知</a:t>
            </a:r>
            <a:r>
              <a:rPr lang="en-US" altLang="zh-CN" sz="2400" i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CA</a:t>
            </a:r>
            <a:r>
              <a:rPr lang="en-US" altLang="zh-CN" sz="2400" b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=</a:t>
            </a:r>
            <a:r>
              <a:rPr lang="en-US" altLang="zh-CN" sz="2400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24cm</a:t>
            </a:r>
            <a:r>
              <a:rPr lang="zh-CN" altLang="en-US" sz="2400" b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，</a:t>
            </a:r>
            <a:r>
              <a:rPr lang="en-US" altLang="zh-CN" sz="2400" i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DC</a:t>
            </a:r>
            <a:r>
              <a:rPr lang="en-US" altLang="zh-CN" sz="2400" b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=</a:t>
            </a:r>
            <a:r>
              <a:rPr lang="en-US" altLang="zh-CN" sz="2400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6cm</a:t>
            </a:r>
            <a:r>
              <a:rPr lang="zh-CN" altLang="zh-CN" sz="2400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  <a:sym typeface="Symbol" panose="05050102010706020507" pitchFamily="18" charset="2"/>
              </a:rPr>
              <a:t>，</a:t>
            </a:r>
            <a:r>
              <a:rPr lang="zh-CN" altLang="zh-CN" sz="24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又</a:t>
            </a:r>
            <a:r>
              <a:rPr lang="en-US" altLang="zh-CN" sz="2400" i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  <a:sym typeface="Symbol" panose="05050102010706020507" pitchFamily="18" charset="2"/>
              </a:rPr>
              <a:t>B</a:t>
            </a:r>
            <a:r>
              <a:rPr lang="zh-CN" altLang="en-US" sz="2400" b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  <a:sym typeface="Symbol" panose="05050102010706020507" pitchFamily="18" charset="2"/>
              </a:rPr>
              <a:t>，</a:t>
            </a:r>
            <a:r>
              <a:rPr lang="en-US" altLang="zh-CN" sz="2400" i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  <a:sym typeface="Symbol" panose="05050102010706020507" pitchFamily="18" charset="2"/>
              </a:rPr>
              <a:t>C</a:t>
            </a:r>
            <a:r>
              <a:rPr lang="zh-CN" altLang="en-US" sz="2400" b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  <a:sym typeface="Symbol" panose="05050102010706020507" pitchFamily="18" charset="2"/>
              </a:rPr>
              <a:t>，</a:t>
            </a:r>
            <a:r>
              <a:rPr lang="en-US" altLang="zh-CN" sz="2400" i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  <a:sym typeface="Symbol" panose="05050102010706020507" pitchFamily="18" charset="2"/>
              </a:rPr>
              <a:t>D</a:t>
            </a:r>
            <a:r>
              <a:rPr lang="zh-CN" altLang="zh-CN" sz="24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都是光滑铰链，机构的</a:t>
            </a:r>
            <a:r>
              <a:rPr lang="zh-CN" altLang="en-US" sz="2400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自重不计。</a:t>
            </a:r>
          </a:p>
        </p:txBody>
      </p:sp>
      <p:grpSp>
        <p:nvGrpSpPr>
          <p:cNvPr id="14339" name="Group 6"/>
          <p:cNvGrpSpPr>
            <a:grpSpLocks/>
          </p:cNvGrpSpPr>
          <p:nvPr/>
        </p:nvGrpSpPr>
        <p:grpSpPr bwMode="auto">
          <a:xfrm>
            <a:off x="3483574" y="2636912"/>
            <a:ext cx="2511924" cy="3177208"/>
            <a:chOff x="2158" y="1982"/>
            <a:chExt cx="1028" cy="1289"/>
          </a:xfrm>
        </p:grpSpPr>
        <p:sp>
          <p:nvSpPr>
            <p:cNvPr id="14340" name="AutoShape 7"/>
            <p:cNvSpPr>
              <a:spLocks noChangeArrowheads="1"/>
            </p:cNvSpPr>
            <p:nvPr/>
          </p:nvSpPr>
          <p:spPr bwMode="auto">
            <a:xfrm rot="-20658">
              <a:off x="2479" y="3123"/>
              <a:ext cx="193" cy="95"/>
            </a:xfrm>
            <a:prstGeom prst="triangle">
              <a:avLst>
                <a:gd name="adj" fmla="val 50000"/>
              </a:avLst>
            </a:prstGeom>
            <a:noFill/>
            <a:ln w="12700" cap="sq">
              <a:solidFill>
                <a:schemeClr val="tx1"/>
              </a:solidFill>
              <a:miter lim="800000"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endParaRPr lang="zh-CN" altLang="en-US"/>
            </a:p>
          </p:txBody>
        </p:sp>
        <p:grpSp>
          <p:nvGrpSpPr>
            <p:cNvPr id="14341" name="Group 8"/>
            <p:cNvGrpSpPr>
              <a:grpSpLocks/>
            </p:cNvGrpSpPr>
            <p:nvPr/>
          </p:nvGrpSpPr>
          <p:grpSpPr bwMode="auto">
            <a:xfrm rot="-20658">
              <a:off x="2278" y="3223"/>
              <a:ext cx="542" cy="48"/>
              <a:chOff x="3264" y="1920"/>
              <a:chExt cx="542" cy="48"/>
            </a:xfrm>
          </p:grpSpPr>
          <p:sp>
            <p:nvSpPr>
              <p:cNvPr id="14400" name="Line 9"/>
              <p:cNvSpPr>
                <a:spLocks noChangeShapeType="1"/>
              </p:cNvSpPr>
              <p:nvPr/>
            </p:nvSpPr>
            <p:spPr bwMode="auto">
              <a:xfrm>
                <a:off x="3298" y="1920"/>
                <a:ext cx="508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4401" name="Group 10"/>
              <p:cNvGrpSpPr>
                <a:grpSpLocks/>
              </p:cNvGrpSpPr>
              <p:nvPr/>
            </p:nvGrpSpPr>
            <p:grpSpPr bwMode="auto">
              <a:xfrm>
                <a:off x="3264" y="1920"/>
                <a:ext cx="528" cy="48"/>
                <a:chOff x="3264" y="1920"/>
                <a:chExt cx="528" cy="48"/>
              </a:xfrm>
            </p:grpSpPr>
            <p:grpSp>
              <p:nvGrpSpPr>
                <p:cNvPr id="14402" name="Group 11"/>
                <p:cNvGrpSpPr>
                  <a:grpSpLocks/>
                </p:cNvGrpSpPr>
                <p:nvPr/>
              </p:nvGrpSpPr>
              <p:grpSpPr bwMode="auto">
                <a:xfrm>
                  <a:off x="3312" y="1920"/>
                  <a:ext cx="480" cy="48"/>
                  <a:chOff x="3312" y="1920"/>
                  <a:chExt cx="480" cy="48"/>
                </a:xfrm>
              </p:grpSpPr>
              <p:sp>
                <p:nvSpPr>
                  <p:cNvPr id="14404" name="Line 1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312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405" name="Line 1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360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406" name="Line 1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408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407" name="Line 1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456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408" name="Line 1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00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409" name="Line 1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48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410" name="Line 1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96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411" name="Line 1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744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412" name="Line 2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504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413" name="Line 2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552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4403" name="Line 22"/>
                <p:cNvSpPr>
                  <a:spLocks noChangeShapeType="1"/>
                </p:cNvSpPr>
                <p:nvPr/>
              </p:nvSpPr>
              <p:spPr bwMode="auto">
                <a:xfrm flipH="1">
                  <a:off x="3264" y="1920"/>
                  <a:ext cx="48" cy="4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4342" name="Rectangle 23"/>
            <p:cNvSpPr>
              <a:spLocks noChangeArrowheads="1"/>
            </p:cNvSpPr>
            <p:nvPr/>
          </p:nvSpPr>
          <p:spPr bwMode="auto">
            <a:xfrm rot="3475056">
              <a:off x="2363" y="2212"/>
              <a:ext cx="84" cy="425"/>
            </a:xfrm>
            <a:prstGeom prst="rect">
              <a:avLst/>
            </a:prstGeom>
            <a:solidFill>
              <a:schemeClr val="folHlink"/>
            </a:solidFill>
            <a:ln w="12700" cap="sq">
              <a:solidFill>
                <a:schemeClr val="tx1"/>
              </a:solidFill>
              <a:miter lim="800000"/>
              <a:headEnd/>
              <a:tailEnd type="none" w="sm" len="lg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endParaRPr lang="zh-CN" altLang="en-US"/>
            </a:p>
          </p:txBody>
        </p:sp>
        <p:sp>
          <p:nvSpPr>
            <p:cNvPr id="14343" name="Arc 24"/>
            <p:cNvSpPr>
              <a:spLocks noChangeAspect="1"/>
            </p:cNvSpPr>
            <p:nvPr/>
          </p:nvSpPr>
          <p:spPr bwMode="auto">
            <a:xfrm rot="10661407" flipV="1">
              <a:off x="2288" y="2531"/>
              <a:ext cx="54" cy="75"/>
            </a:xfrm>
            <a:custGeom>
              <a:avLst/>
              <a:gdLst>
                <a:gd name="T0" fmla="*/ 0 w 21600"/>
                <a:gd name="T1" fmla="*/ 0 h 32350"/>
                <a:gd name="T2" fmla="*/ 0 w 21600"/>
                <a:gd name="T3" fmla="*/ 0 h 32350"/>
                <a:gd name="T4" fmla="*/ 0 w 21600"/>
                <a:gd name="T5" fmla="*/ 0 h 32350"/>
                <a:gd name="T6" fmla="*/ 0 60000 65536"/>
                <a:gd name="T7" fmla="*/ 0 60000 65536"/>
                <a:gd name="T8" fmla="*/ 0 60000 65536"/>
                <a:gd name="T9" fmla="*/ 0 w 21600"/>
                <a:gd name="T10" fmla="*/ 0 h 32350"/>
                <a:gd name="T11" fmla="*/ 21600 w 21600"/>
                <a:gd name="T12" fmla="*/ 32350 h 3235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2350" fill="none" extrusionOk="0">
                  <a:moveTo>
                    <a:pt x="11617" y="0"/>
                  </a:moveTo>
                  <a:cubicBezTo>
                    <a:pt x="17836" y="3967"/>
                    <a:pt x="21600" y="10833"/>
                    <a:pt x="21600" y="18210"/>
                  </a:cubicBezTo>
                  <a:cubicBezTo>
                    <a:pt x="21600" y="23403"/>
                    <a:pt x="19728" y="28423"/>
                    <a:pt x="16328" y="32349"/>
                  </a:cubicBezTo>
                </a:path>
                <a:path w="21600" h="32350" stroke="0" extrusionOk="0">
                  <a:moveTo>
                    <a:pt x="11617" y="0"/>
                  </a:moveTo>
                  <a:cubicBezTo>
                    <a:pt x="17836" y="3967"/>
                    <a:pt x="21600" y="10833"/>
                    <a:pt x="21600" y="18210"/>
                  </a:cubicBezTo>
                  <a:cubicBezTo>
                    <a:pt x="21600" y="23403"/>
                    <a:pt x="19728" y="28423"/>
                    <a:pt x="16328" y="32349"/>
                  </a:cubicBezTo>
                  <a:lnTo>
                    <a:pt x="0" y="18210"/>
                  </a:lnTo>
                  <a:lnTo>
                    <a:pt x="11617" y="0"/>
                  </a:lnTo>
                  <a:close/>
                </a:path>
              </a:pathLst>
            </a:custGeom>
            <a:noFill/>
            <a:ln w="12700" cap="sq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44" name="Rectangle 25"/>
            <p:cNvSpPr>
              <a:spLocks noChangeArrowheads="1"/>
            </p:cNvSpPr>
            <p:nvPr/>
          </p:nvSpPr>
          <p:spPr bwMode="auto">
            <a:xfrm rot="-1924944">
              <a:off x="2357" y="2537"/>
              <a:ext cx="96" cy="647"/>
            </a:xfrm>
            <a:prstGeom prst="rect">
              <a:avLst/>
            </a:prstGeom>
            <a:solidFill>
              <a:schemeClr val="folHlink"/>
            </a:solidFill>
            <a:ln w="12700" cap="sq">
              <a:solidFill>
                <a:schemeClr val="tx1"/>
              </a:solidFill>
              <a:miter lim="800000"/>
              <a:headEnd/>
              <a:tailEnd type="none" w="sm" len="lg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endParaRPr lang="zh-CN" altLang="en-US"/>
            </a:p>
          </p:txBody>
        </p:sp>
        <p:sp>
          <p:nvSpPr>
            <p:cNvPr id="14345" name="Arc 26"/>
            <p:cNvSpPr>
              <a:spLocks noChangeAspect="1"/>
            </p:cNvSpPr>
            <p:nvPr/>
          </p:nvSpPr>
          <p:spPr bwMode="auto">
            <a:xfrm rot="8875056" flipV="1">
              <a:off x="2163" y="2504"/>
              <a:ext cx="104" cy="94"/>
            </a:xfrm>
            <a:custGeom>
              <a:avLst/>
              <a:gdLst>
                <a:gd name="T0" fmla="*/ 0 w 21600"/>
                <a:gd name="T1" fmla="*/ 0 h 21588"/>
                <a:gd name="T2" fmla="*/ 0 w 21600"/>
                <a:gd name="T3" fmla="*/ 0 h 21588"/>
                <a:gd name="T4" fmla="*/ 0 w 21600"/>
                <a:gd name="T5" fmla="*/ 0 h 21588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88"/>
                <a:gd name="T11" fmla="*/ 21600 w 21600"/>
                <a:gd name="T12" fmla="*/ 21588 h 21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88" fill="none" extrusionOk="0">
                  <a:moveTo>
                    <a:pt x="719" y="-1"/>
                  </a:moveTo>
                  <a:cubicBezTo>
                    <a:pt x="12362" y="387"/>
                    <a:pt x="21600" y="9938"/>
                    <a:pt x="21600" y="21588"/>
                  </a:cubicBezTo>
                </a:path>
                <a:path w="21600" h="21588" stroke="0" extrusionOk="0">
                  <a:moveTo>
                    <a:pt x="719" y="-1"/>
                  </a:moveTo>
                  <a:cubicBezTo>
                    <a:pt x="12362" y="387"/>
                    <a:pt x="21600" y="9938"/>
                    <a:pt x="21600" y="21588"/>
                  </a:cubicBezTo>
                  <a:lnTo>
                    <a:pt x="0" y="21588"/>
                  </a:lnTo>
                  <a:lnTo>
                    <a:pt x="719" y="-1"/>
                  </a:lnTo>
                  <a:close/>
                </a:path>
              </a:pathLst>
            </a:custGeom>
            <a:solidFill>
              <a:schemeClr val="folHlink"/>
            </a:solidFill>
            <a:ln w="12700" cap="sq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4346" name="Group 27"/>
            <p:cNvGrpSpPr>
              <a:grpSpLocks/>
            </p:cNvGrpSpPr>
            <p:nvPr/>
          </p:nvGrpSpPr>
          <p:grpSpPr bwMode="auto">
            <a:xfrm rot="-20658">
              <a:off x="2546" y="2152"/>
              <a:ext cx="114" cy="259"/>
              <a:chOff x="2863" y="1728"/>
              <a:chExt cx="114" cy="259"/>
            </a:xfrm>
          </p:grpSpPr>
          <p:sp>
            <p:nvSpPr>
              <p:cNvPr id="14396" name="Rectangle 28"/>
              <p:cNvSpPr>
                <a:spLocks noChangeArrowheads="1"/>
              </p:cNvSpPr>
              <p:nvPr/>
            </p:nvSpPr>
            <p:spPr bwMode="auto">
              <a:xfrm rot="-1904286">
                <a:off x="2878" y="1728"/>
                <a:ext cx="99" cy="251"/>
              </a:xfrm>
              <a:prstGeom prst="rect">
                <a:avLst/>
              </a:prstGeom>
              <a:solidFill>
                <a:schemeClr val="folHlink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endParaRPr lang="zh-CN" altLang="en-US"/>
              </a:p>
            </p:txBody>
          </p:sp>
          <p:sp>
            <p:nvSpPr>
              <p:cNvPr id="14397" name="Line 29"/>
              <p:cNvSpPr>
                <a:spLocks noChangeAspect="1" noChangeShapeType="1"/>
              </p:cNvSpPr>
              <p:nvPr/>
            </p:nvSpPr>
            <p:spPr bwMode="auto">
              <a:xfrm rot="-1904286">
                <a:off x="2951" y="1987"/>
                <a:ext cx="0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98" name="Line 30"/>
              <p:cNvSpPr>
                <a:spLocks noChangeAspect="1" noChangeShapeType="1"/>
              </p:cNvSpPr>
              <p:nvPr/>
            </p:nvSpPr>
            <p:spPr bwMode="auto">
              <a:xfrm rot="-1904286">
                <a:off x="2951" y="1987"/>
                <a:ext cx="0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99" name="Rectangle 31"/>
              <p:cNvSpPr>
                <a:spLocks noChangeArrowheads="1"/>
              </p:cNvSpPr>
              <p:nvPr/>
            </p:nvSpPr>
            <p:spPr bwMode="auto">
              <a:xfrm rot="-1904286">
                <a:off x="2863" y="1845"/>
                <a:ext cx="48" cy="8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endParaRPr lang="zh-CN" altLang="en-US"/>
              </a:p>
            </p:txBody>
          </p:sp>
        </p:grpSp>
        <p:sp>
          <p:nvSpPr>
            <p:cNvPr id="14347" name="Oval 32"/>
            <p:cNvSpPr>
              <a:spLocks noChangeArrowheads="1"/>
            </p:cNvSpPr>
            <p:nvPr/>
          </p:nvSpPr>
          <p:spPr bwMode="auto">
            <a:xfrm rot="-1924944">
              <a:off x="2521" y="3081"/>
              <a:ext cx="96" cy="96"/>
            </a:xfrm>
            <a:prstGeom prst="ellipse">
              <a:avLst/>
            </a:prstGeom>
            <a:solidFill>
              <a:srgbClr val="0099FF"/>
            </a:solidFill>
            <a:ln w="12700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endParaRPr lang="zh-CN" altLang="en-US"/>
            </a:p>
          </p:txBody>
        </p:sp>
        <p:sp>
          <p:nvSpPr>
            <p:cNvPr id="14348" name="Oval 33"/>
            <p:cNvSpPr>
              <a:spLocks noChangeArrowheads="1"/>
            </p:cNvSpPr>
            <p:nvPr/>
          </p:nvSpPr>
          <p:spPr bwMode="auto">
            <a:xfrm rot="193234">
              <a:off x="2239" y="2506"/>
              <a:ext cx="47" cy="126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endParaRPr lang="zh-CN" altLang="en-US"/>
            </a:p>
          </p:txBody>
        </p:sp>
        <p:sp>
          <p:nvSpPr>
            <p:cNvPr id="14349" name="Rectangle 34"/>
            <p:cNvSpPr>
              <a:spLocks noChangeArrowheads="1"/>
            </p:cNvSpPr>
            <p:nvPr/>
          </p:nvSpPr>
          <p:spPr bwMode="auto">
            <a:xfrm rot="-1924944">
              <a:off x="2239" y="2525"/>
              <a:ext cx="47" cy="48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endParaRPr lang="zh-CN" altLang="en-US"/>
            </a:p>
          </p:txBody>
        </p:sp>
        <p:sp>
          <p:nvSpPr>
            <p:cNvPr id="14350" name="AutoShape 35"/>
            <p:cNvSpPr>
              <a:spLocks noChangeArrowheads="1"/>
            </p:cNvSpPr>
            <p:nvPr/>
          </p:nvSpPr>
          <p:spPr bwMode="auto">
            <a:xfrm rot="-5400000">
              <a:off x="2531" y="2737"/>
              <a:ext cx="193" cy="95"/>
            </a:xfrm>
            <a:prstGeom prst="triangle">
              <a:avLst>
                <a:gd name="adj" fmla="val 50000"/>
              </a:avLst>
            </a:prstGeom>
            <a:noFill/>
            <a:ln w="12700" cap="sq">
              <a:solidFill>
                <a:schemeClr val="tx1"/>
              </a:solidFill>
              <a:miter lim="800000"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endParaRPr lang="zh-CN" altLang="en-US"/>
            </a:p>
          </p:txBody>
        </p:sp>
        <p:sp>
          <p:nvSpPr>
            <p:cNvPr id="14351" name="Line 36"/>
            <p:cNvSpPr>
              <a:spLocks noChangeShapeType="1"/>
            </p:cNvSpPr>
            <p:nvPr/>
          </p:nvSpPr>
          <p:spPr bwMode="auto">
            <a:xfrm rot="-5400000">
              <a:off x="2422" y="2785"/>
              <a:ext cx="508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4352" name="Group 37"/>
            <p:cNvGrpSpPr>
              <a:grpSpLocks/>
            </p:cNvGrpSpPr>
            <p:nvPr/>
          </p:nvGrpSpPr>
          <p:grpSpPr bwMode="auto">
            <a:xfrm rot="-5400000">
              <a:off x="2436" y="2785"/>
              <a:ext cx="528" cy="48"/>
              <a:chOff x="3264" y="1920"/>
              <a:chExt cx="528" cy="48"/>
            </a:xfrm>
          </p:grpSpPr>
          <p:grpSp>
            <p:nvGrpSpPr>
              <p:cNvPr id="14384" name="Group 38"/>
              <p:cNvGrpSpPr>
                <a:grpSpLocks/>
              </p:cNvGrpSpPr>
              <p:nvPr/>
            </p:nvGrpSpPr>
            <p:grpSpPr bwMode="auto">
              <a:xfrm>
                <a:off x="3312" y="1920"/>
                <a:ext cx="480" cy="48"/>
                <a:chOff x="3312" y="1920"/>
                <a:chExt cx="480" cy="48"/>
              </a:xfrm>
            </p:grpSpPr>
            <p:sp>
              <p:nvSpPr>
                <p:cNvPr id="14386" name="Line 39"/>
                <p:cNvSpPr>
                  <a:spLocks noChangeShapeType="1"/>
                </p:cNvSpPr>
                <p:nvPr/>
              </p:nvSpPr>
              <p:spPr bwMode="auto">
                <a:xfrm flipH="1">
                  <a:off x="3312" y="1920"/>
                  <a:ext cx="48" cy="4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387" name="Line 40"/>
                <p:cNvSpPr>
                  <a:spLocks noChangeShapeType="1"/>
                </p:cNvSpPr>
                <p:nvPr/>
              </p:nvSpPr>
              <p:spPr bwMode="auto">
                <a:xfrm flipH="1">
                  <a:off x="3360" y="1920"/>
                  <a:ext cx="48" cy="4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388" name="Line 41"/>
                <p:cNvSpPr>
                  <a:spLocks noChangeShapeType="1"/>
                </p:cNvSpPr>
                <p:nvPr/>
              </p:nvSpPr>
              <p:spPr bwMode="auto">
                <a:xfrm flipH="1">
                  <a:off x="3408" y="1920"/>
                  <a:ext cx="48" cy="4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389" name="Line 42"/>
                <p:cNvSpPr>
                  <a:spLocks noChangeShapeType="1"/>
                </p:cNvSpPr>
                <p:nvPr/>
              </p:nvSpPr>
              <p:spPr bwMode="auto">
                <a:xfrm flipH="1">
                  <a:off x="3456" y="1920"/>
                  <a:ext cx="48" cy="4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390" name="Line 43"/>
                <p:cNvSpPr>
                  <a:spLocks noChangeShapeType="1"/>
                </p:cNvSpPr>
                <p:nvPr/>
              </p:nvSpPr>
              <p:spPr bwMode="auto">
                <a:xfrm flipH="1">
                  <a:off x="3600" y="1920"/>
                  <a:ext cx="48" cy="4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391" name="Line 44"/>
                <p:cNvSpPr>
                  <a:spLocks noChangeShapeType="1"/>
                </p:cNvSpPr>
                <p:nvPr/>
              </p:nvSpPr>
              <p:spPr bwMode="auto">
                <a:xfrm flipH="1">
                  <a:off x="3648" y="1920"/>
                  <a:ext cx="48" cy="4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392" name="Line 45"/>
                <p:cNvSpPr>
                  <a:spLocks noChangeShapeType="1"/>
                </p:cNvSpPr>
                <p:nvPr/>
              </p:nvSpPr>
              <p:spPr bwMode="auto">
                <a:xfrm flipH="1">
                  <a:off x="3696" y="1920"/>
                  <a:ext cx="48" cy="4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393" name="Line 46"/>
                <p:cNvSpPr>
                  <a:spLocks noChangeShapeType="1"/>
                </p:cNvSpPr>
                <p:nvPr/>
              </p:nvSpPr>
              <p:spPr bwMode="auto">
                <a:xfrm flipH="1">
                  <a:off x="3744" y="1920"/>
                  <a:ext cx="48" cy="4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394" name="Line 47"/>
                <p:cNvSpPr>
                  <a:spLocks noChangeShapeType="1"/>
                </p:cNvSpPr>
                <p:nvPr/>
              </p:nvSpPr>
              <p:spPr bwMode="auto">
                <a:xfrm flipH="1">
                  <a:off x="3504" y="1920"/>
                  <a:ext cx="48" cy="4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395" name="Line 48"/>
                <p:cNvSpPr>
                  <a:spLocks noChangeShapeType="1"/>
                </p:cNvSpPr>
                <p:nvPr/>
              </p:nvSpPr>
              <p:spPr bwMode="auto">
                <a:xfrm flipH="1">
                  <a:off x="3552" y="1920"/>
                  <a:ext cx="48" cy="4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4385" name="Line 49"/>
              <p:cNvSpPr>
                <a:spLocks noChangeShapeType="1"/>
              </p:cNvSpPr>
              <p:nvPr/>
            </p:nvSpPr>
            <p:spPr bwMode="auto">
              <a:xfrm flipH="1">
                <a:off x="3264" y="1920"/>
                <a:ext cx="48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4353" name="Oval 50"/>
            <p:cNvSpPr>
              <a:spLocks noChangeArrowheads="1"/>
            </p:cNvSpPr>
            <p:nvPr/>
          </p:nvSpPr>
          <p:spPr bwMode="auto">
            <a:xfrm>
              <a:off x="2539" y="3104"/>
              <a:ext cx="48" cy="48"/>
            </a:xfrm>
            <a:prstGeom prst="ellipse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endParaRPr lang="zh-CN" altLang="en-US"/>
            </a:p>
          </p:txBody>
        </p:sp>
        <p:grpSp>
          <p:nvGrpSpPr>
            <p:cNvPr id="14354" name="Group 51"/>
            <p:cNvGrpSpPr>
              <a:grpSpLocks/>
            </p:cNvGrpSpPr>
            <p:nvPr/>
          </p:nvGrpSpPr>
          <p:grpSpPr bwMode="auto">
            <a:xfrm>
              <a:off x="2342" y="2739"/>
              <a:ext cx="256" cy="96"/>
              <a:chOff x="945" y="2320"/>
              <a:chExt cx="256" cy="96"/>
            </a:xfrm>
          </p:grpSpPr>
          <p:sp>
            <p:nvSpPr>
              <p:cNvPr id="14379" name="Rectangle 52"/>
              <p:cNvSpPr>
                <a:spLocks noChangeArrowheads="1"/>
              </p:cNvSpPr>
              <p:nvPr/>
            </p:nvSpPr>
            <p:spPr bwMode="auto">
              <a:xfrm>
                <a:off x="968" y="2320"/>
                <a:ext cx="210" cy="96"/>
              </a:xfrm>
              <a:prstGeom prst="rect">
                <a:avLst/>
              </a:prstGeom>
              <a:solidFill>
                <a:srgbClr val="0099FF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endParaRPr lang="zh-CN" altLang="en-US"/>
              </a:p>
            </p:txBody>
          </p:sp>
          <p:sp>
            <p:nvSpPr>
              <p:cNvPr id="14380" name="Oval 53"/>
              <p:cNvSpPr>
                <a:spLocks noChangeArrowheads="1"/>
              </p:cNvSpPr>
              <p:nvPr/>
            </p:nvSpPr>
            <p:spPr bwMode="auto">
              <a:xfrm>
                <a:off x="945" y="2320"/>
                <a:ext cx="47" cy="96"/>
              </a:xfrm>
              <a:prstGeom prst="ellipse">
                <a:avLst/>
              </a:prstGeom>
              <a:solidFill>
                <a:srgbClr val="0099FF"/>
              </a:solidFill>
              <a:ln w="12700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endParaRPr lang="zh-CN" altLang="en-US"/>
              </a:p>
            </p:txBody>
          </p:sp>
          <p:sp>
            <p:nvSpPr>
              <p:cNvPr id="14381" name="Oval 54"/>
              <p:cNvSpPr>
                <a:spLocks noChangeArrowheads="1"/>
              </p:cNvSpPr>
              <p:nvPr/>
            </p:nvSpPr>
            <p:spPr bwMode="auto">
              <a:xfrm>
                <a:off x="1154" y="2320"/>
                <a:ext cx="47" cy="96"/>
              </a:xfrm>
              <a:prstGeom prst="ellipse">
                <a:avLst/>
              </a:prstGeom>
              <a:solidFill>
                <a:srgbClr val="0099FF"/>
              </a:solidFill>
              <a:ln w="12700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endParaRPr lang="zh-CN" altLang="en-US"/>
              </a:p>
            </p:txBody>
          </p:sp>
          <p:sp>
            <p:nvSpPr>
              <p:cNvPr id="14382" name="Rectangle 55"/>
              <p:cNvSpPr>
                <a:spLocks noChangeArrowheads="1"/>
              </p:cNvSpPr>
              <p:nvPr/>
            </p:nvSpPr>
            <p:spPr bwMode="auto">
              <a:xfrm>
                <a:off x="1154" y="2328"/>
                <a:ext cx="23" cy="79"/>
              </a:xfrm>
              <a:prstGeom prst="rect">
                <a:avLst/>
              </a:prstGeom>
              <a:solidFill>
                <a:srgbClr val="0099FF"/>
              </a:solidFill>
              <a:ln w="12700" cap="sq">
                <a:solidFill>
                  <a:srgbClr val="B2B2B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endParaRPr lang="zh-CN" altLang="en-US"/>
              </a:p>
            </p:txBody>
          </p:sp>
          <p:sp>
            <p:nvSpPr>
              <p:cNvPr id="14383" name="Rectangle 56"/>
              <p:cNvSpPr>
                <a:spLocks noChangeArrowheads="1"/>
              </p:cNvSpPr>
              <p:nvPr/>
            </p:nvSpPr>
            <p:spPr bwMode="auto">
              <a:xfrm>
                <a:off x="968" y="2329"/>
                <a:ext cx="23" cy="79"/>
              </a:xfrm>
              <a:prstGeom prst="rect">
                <a:avLst/>
              </a:prstGeom>
              <a:solidFill>
                <a:srgbClr val="0099FF"/>
              </a:solidFill>
              <a:ln w="12700" cap="sq">
                <a:solidFill>
                  <a:srgbClr val="3399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endParaRPr lang="zh-CN" altLang="en-US"/>
              </a:p>
            </p:txBody>
          </p:sp>
        </p:grpSp>
        <p:sp>
          <p:nvSpPr>
            <p:cNvPr id="14355" name="Oval 57"/>
            <p:cNvSpPr>
              <a:spLocks noChangeArrowheads="1"/>
            </p:cNvSpPr>
            <p:nvPr/>
          </p:nvSpPr>
          <p:spPr bwMode="auto">
            <a:xfrm>
              <a:off x="2339" y="2759"/>
              <a:ext cx="48" cy="48"/>
            </a:xfrm>
            <a:prstGeom prst="ellipse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endParaRPr lang="zh-CN" altLang="en-US"/>
            </a:p>
          </p:txBody>
        </p:sp>
        <p:sp>
          <p:nvSpPr>
            <p:cNvPr id="14359" name="Line 61"/>
            <p:cNvSpPr>
              <a:spLocks noChangeShapeType="1"/>
            </p:cNvSpPr>
            <p:nvPr/>
          </p:nvSpPr>
          <p:spPr bwMode="auto">
            <a:xfrm>
              <a:off x="2614" y="2277"/>
              <a:ext cx="53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0" name="Line 62"/>
            <p:cNvSpPr>
              <a:spLocks noChangeShapeType="1"/>
            </p:cNvSpPr>
            <p:nvPr/>
          </p:nvSpPr>
          <p:spPr bwMode="auto">
            <a:xfrm>
              <a:off x="2677" y="2791"/>
              <a:ext cx="50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1" name="Line 63"/>
            <p:cNvSpPr>
              <a:spLocks noChangeShapeType="1"/>
            </p:cNvSpPr>
            <p:nvPr/>
          </p:nvSpPr>
          <p:spPr bwMode="auto">
            <a:xfrm>
              <a:off x="2547" y="3084"/>
              <a:ext cx="639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2" name="Line 64"/>
            <p:cNvSpPr>
              <a:spLocks noChangeShapeType="1"/>
            </p:cNvSpPr>
            <p:nvPr/>
          </p:nvSpPr>
          <p:spPr bwMode="auto">
            <a:xfrm>
              <a:off x="2941" y="2257"/>
              <a:ext cx="0" cy="52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3" name="Line 65"/>
            <p:cNvSpPr>
              <a:spLocks noChangeShapeType="1"/>
            </p:cNvSpPr>
            <p:nvPr/>
          </p:nvSpPr>
          <p:spPr bwMode="auto">
            <a:xfrm>
              <a:off x="2941" y="2786"/>
              <a:ext cx="0" cy="303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4" name="Line 66"/>
            <p:cNvSpPr>
              <a:spLocks noChangeShapeType="1"/>
            </p:cNvSpPr>
            <p:nvPr/>
          </p:nvSpPr>
          <p:spPr bwMode="auto">
            <a:xfrm flipH="1">
              <a:off x="2589" y="2034"/>
              <a:ext cx="413" cy="255"/>
            </a:xfrm>
            <a:prstGeom prst="line">
              <a:avLst/>
            </a:prstGeom>
            <a:noFill/>
            <a:ln w="31750" cap="sq">
              <a:solidFill>
                <a:srgbClr val="FF3300"/>
              </a:solidFill>
              <a:round/>
              <a:headEnd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5" name="Text Box 67"/>
            <p:cNvSpPr txBox="1">
              <a:spLocks noChangeArrowheads="1"/>
            </p:cNvSpPr>
            <p:nvPr/>
          </p:nvSpPr>
          <p:spPr bwMode="auto">
            <a:xfrm>
              <a:off x="3012" y="1982"/>
              <a:ext cx="145" cy="1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1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4366" name="Text Box 68"/>
            <p:cNvSpPr txBox="1">
              <a:spLocks noChangeArrowheads="1"/>
            </p:cNvSpPr>
            <p:nvPr/>
          </p:nvSpPr>
          <p:spPr bwMode="auto">
            <a:xfrm>
              <a:off x="2827" y="2102"/>
              <a:ext cx="141" cy="1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endParaRPr kumimoji="1" lang="en-US" altLang="zh-CN" sz="2000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14367" name="Text Box 69"/>
            <p:cNvSpPr txBox="1">
              <a:spLocks noChangeArrowheads="1"/>
            </p:cNvSpPr>
            <p:nvPr/>
          </p:nvSpPr>
          <p:spPr bwMode="auto">
            <a:xfrm>
              <a:off x="2916" y="2354"/>
              <a:ext cx="180" cy="1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>
                  <a:latin typeface="Times New Roman" panose="02020603050405020304" pitchFamily="18" charset="0"/>
                </a:rPr>
                <a:t>24</a:t>
              </a:r>
            </a:p>
          </p:txBody>
        </p:sp>
        <p:sp>
          <p:nvSpPr>
            <p:cNvPr id="14368" name="Text Box 70"/>
            <p:cNvSpPr txBox="1">
              <a:spLocks noChangeArrowheads="1"/>
            </p:cNvSpPr>
            <p:nvPr/>
          </p:nvSpPr>
          <p:spPr bwMode="auto">
            <a:xfrm>
              <a:off x="2949" y="2846"/>
              <a:ext cx="127" cy="1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4369" name="Text Box 71"/>
            <p:cNvSpPr txBox="1">
              <a:spLocks noChangeArrowheads="1"/>
            </p:cNvSpPr>
            <p:nvPr/>
          </p:nvSpPr>
          <p:spPr bwMode="auto">
            <a:xfrm>
              <a:off x="2380" y="2139"/>
              <a:ext cx="139" cy="1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 i="1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4370" name="Text Box 72"/>
            <p:cNvSpPr txBox="1">
              <a:spLocks noChangeArrowheads="1"/>
            </p:cNvSpPr>
            <p:nvPr/>
          </p:nvSpPr>
          <p:spPr bwMode="auto">
            <a:xfrm>
              <a:off x="2441" y="2586"/>
              <a:ext cx="145" cy="1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 i="1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4371" name="Text Box 73"/>
            <p:cNvSpPr txBox="1">
              <a:spLocks noChangeArrowheads="1"/>
            </p:cNvSpPr>
            <p:nvPr/>
          </p:nvSpPr>
          <p:spPr bwMode="auto">
            <a:xfrm>
              <a:off x="2187" y="2733"/>
              <a:ext cx="139" cy="1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 i="1" dirty="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4372" name="Text Box 74"/>
            <p:cNvSpPr txBox="1">
              <a:spLocks noChangeArrowheads="1"/>
            </p:cNvSpPr>
            <p:nvPr/>
          </p:nvSpPr>
          <p:spPr bwMode="auto">
            <a:xfrm>
              <a:off x="2158" y="3044"/>
              <a:ext cx="76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zh-CN" sz="1600">
                <a:latin typeface="Times New Roman" panose="02020603050405020304" pitchFamily="18" charset="0"/>
              </a:endParaRPr>
            </a:p>
          </p:txBody>
        </p:sp>
        <p:sp>
          <p:nvSpPr>
            <p:cNvPr id="14374" name="Arc 76"/>
            <p:cNvSpPr>
              <a:spLocks/>
            </p:cNvSpPr>
            <p:nvPr/>
          </p:nvSpPr>
          <p:spPr bwMode="auto">
            <a:xfrm rot="1496635">
              <a:off x="2766" y="2178"/>
              <a:ext cx="96" cy="9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 cap="sq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5" name="Line 77"/>
            <p:cNvSpPr>
              <a:spLocks noChangeShapeType="1"/>
            </p:cNvSpPr>
            <p:nvPr/>
          </p:nvSpPr>
          <p:spPr bwMode="auto">
            <a:xfrm>
              <a:off x="2569" y="2188"/>
              <a:ext cx="8" cy="10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7" name="Rectangle 79"/>
            <p:cNvSpPr>
              <a:spLocks noChangeArrowheads="1"/>
            </p:cNvSpPr>
            <p:nvPr/>
          </p:nvSpPr>
          <p:spPr bwMode="auto">
            <a:xfrm>
              <a:off x="2361" y="3060"/>
              <a:ext cx="151" cy="1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 i="1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4378" name="Oval 80"/>
            <p:cNvSpPr>
              <a:spLocks noChangeArrowheads="1"/>
            </p:cNvSpPr>
            <p:nvPr/>
          </p:nvSpPr>
          <p:spPr bwMode="auto">
            <a:xfrm rot="-5400000">
              <a:off x="2556" y="2761"/>
              <a:ext cx="48" cy="48"/>
            </a:xfrm>
            <a:prstGeom prst="ellipse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41968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4"/>
          <p:cNvSpPr>
            <a:spLocks noChangeArrowheads="1"/>
          </p:cNvSpPr>
          <p:nvPr/>
        </p:nvSpPr>
        <p:spPr bwMode="auto">
          <a:xfrm>
            <a:off x="591976" y="441987"/>
            <a:ext cx="936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kumimoji="1" lang="zh-CN" altLang="en-US" sz="24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解</a:t>
            </a:r>
            <a:r>
              <a:rPr kumimoji="1" lang="en-US" altLang="zh-CN" sz="24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endParaRPr kumimoji="1" lang="en-US" altLang="zh-CN" sz="2400" dirty="0">
              <a:solidFill>
                <a:schemeClr val="accent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1749" name="Text Box 5"/>
          <p:cNvSpPr txBox="1">
            <a:spLocks noChangeArrowheads="1"/>
          </p:cNvSpPr>
          <p:nvPr/>
        </p:nvSpPr>
        <p:spPr bwMode="auto">
          <a:xfrm>
            <a:off x="1606839" y="450850"/>
            <a:ext cx="4751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 cap="sq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1. 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取制动蹬</a:t>
            </a:r>
            <a:r>
              <a:rPr kumimoji="1" lang="en-US" altLang="zh-CN" sz="2400" i="1" dirty="0">
                <a:latin typeface="+mn-lt"/>
                <a:ea typeface="楷体" panose="02010609060101010101" pitchFamily="49" charset="-122"/>
              </a:rPr>
              <a:t>ABD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作为研究对象。</a:t>
            </a:r>
          </a:p>
        </p:txBody>
      </p:sp>
      <p:sp>
        <p:nvSpPr>
          <p:cNvPr id="31750" name="Text Box 6"/>
          <p:cNvSpPr txBox="1">
            <a:spLocks noChangeArrowheads="1"/>
          </p:cNvSpPr>
          <p:nvPr/>
        </p:nvSpPr>
        <p:spPr bwMode="auto">
          <a:xfrm>
            <a:off x="1432990" y="896361"/>
            <a:ext cx="2813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 cap="sq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2. 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画出受力图。</a:t>
            </a:r>
          </a:p>
        </p:txBody>
      </p:sp>
      <p:sp>
        <p:nvSpPr>
          <p:cNvPr id="31826" name="Text Box 82"/>
          <p:cNvSpPr txBox="1">
            <a:spLocks noChangeArrowheads="1"/>
          </p:cNvSpPr>
          <p:nvPr/>
        </p:nvSpPr>
        <p:spPr bwMode="auto">
          <a:xfrm>
            <a:off x="1618593" y="1344788"/>
            <a:ext cx="4005263" cy="1052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482600" indent="-482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1"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3. 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应用平衡条件画出</a:t>
            </a:r>
            <a:r>
              <a:rPr kumimoji="1" lang="en-US" altLang="zh-CN" sz="2400" b="1" i="1" dirty="0">
                <a:latin typeface="+mn-lt"/>
                <a:ea typeface="楷体" panose="02010609060101010101" pitchFamily="49" charset="-122"/>
              </a:rPr>
              <a:t>F</a:t>
            </a:r>
            <a:r>
              <a:rPr kumimoji="1" lang="zh-CN" altLang="en-US" sz="2400" dirty="0">
                <a:latin typeface="+mn-lt"/>
                <a:ea typeface="楷体" panose="02010609060101010101" pitchFamily="49" charset="-122"/>
              </a:rPr>
              <a:t>，</a:t>
            </a:r>
            <a:r>
              <a:rPr kumimoji="1" lang="en-US" altLang="zh-CN" sz="2400" b="1" i="1" dirty="0">
                <a:latin typeface="+mn-lt"/>
                <a:ea typeface="楷体" panose="02010609060101010101" pitchFamily="49" charset="-122"/>
              </a:rPr>
              <a:t>F</a:t>
            </a:r>
            <a:r>
              <a:rPr kumimoji="1" lang="en-US" altLang="zh-CN" sz="2400" i="1" baseline="-25000" dirty="0">
                <a:latin typeface="+mn-lt"/>
                <a:ea typeface="楷体" panose="02010609060101010101" pitchFamily="49" charset="-122"/>
              </a:rPr>
              <a:t>B 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kumimoji="1" lang="en-US" altLang="zh-CN" sz="2400" b="1" i="1" dirty="0">
                <a:latin typeface="+mn-lt"/>
                <a:ea typeface="楷体" panose="02010609060101010101" pitchFamily="49" charset="-122"/>
              </a:rPr>
              <a:t>F</a:t>
            </a:r>
            <a:r>
              <a:rPr kumimoji="1" lang="en-US" altLang="zh-CN" sz="2400" i="1" baseline="-25000" dirty="0">
                <a:latin typeface="+mn-lt"/>
                <a:ea typeface="楷体" panose="02010609060101010101" pitchFamily="49" charset="-122"/>
              </a:rPr>
              <a:t>D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的闭合力三角形。</a:t>
            </a:r>
          </a:p>
        </p:txBody>
      </p:sp>
      <p:grpSp>
        <p:nvGrpSpPr>
          <p:cNvPr id="15366" name="Group 83"/>
          <p:cNvGrpSpPr>
            <a:grpSpLocks/>
          </p:cNvGrpSpPr>
          <p:nvPr/>
        </p:nvGrpSpPr>
        <p:grpSpPr bwMode="auto">
          <a:xfrm>
            <a:off x="6048819" y="562856"/>
            <a:ext cx="2158827" cy="2777782"/>
            <a:chOff x="2152" y="1964"/>
            <a:chExt cx="1034" cy="1307"/>
          </a:xfrm>
        </p:grpSpPr>
        <p:sp>
          <p:nvSpPr>
            <p:cNvPr id="15423" name="AutoShape 84"/>
            <p:cNvSpPr>
              <a:spLocks noChangeArrowheads="1"/>
            </p:cNvSpPr>
            <p:nvPr/>
          </p:nvSpPr>
          <p:spPr bwMode="auto">
            <a:xfrm rot="-20658">
              <a:off x="2479" y="3123"/>
              <a:ext cx="193" cy="95"/>
            </a:xfrm>
            <a:prstGeom prst="triangle">
              <a:avLst>
                <a:gd name="adj" fmla="val 50000"/>
              </a:avLst>
            </a:prstGeom>
            <a:noFill/>
            <a:ln w="12700" cap="sq">
              <a:solidFill>
                <a:schemeClr val="tx1"/>
              </a:solidFill>
              <a:miter lim="800000"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endParaRPr lang="zh-CN" altLang="en-US"/>
            </a:p>
          </p:txBody>
        </p:sp>
        <p:grpSp>
          <p:nvGrpSpPr>
            <p:cNvPr id="15424" name="Group 85"/>
            <p:cNvGrpSpPr>
              <a:grpSpLocks/>
            </p:cNvGrpSpPr>
            <p:nvPr/>
          </p:nvGrpSpPr>
          <p:grpSpPr bwMode="auto">
            <a:xfrm rot="-20658">
              <a:off x="2278" y="3223"/>
              <a:ext cx="542" cy="48"/>
              <a:chOff x="3264" y="1920"/>
              <a:chExt cx="542" cy="48"/>
            </a:xfrm>
          </p:grpSpPr>
          <p:sp>
            <p:nvSpPr>
              <p:cNvPr id="15483" name="Line 86"/>
              <p:cNvSpPr>
                <a:spLocks noChangeShapeType="1"/>
              </p:cNvSpPr>
              <p:nvPr/>
            </p:nvSpPr>
            <p:spPr bwMode="auto">
              <a:xfrm>
                <a:off x="3298" y="1920"/>
                <a:ext cx="508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5484" name="Group 87"/>
              <p:cNvGrpSpPr>
                <a:grpSpLocks/>
              </p:cNvGrpSpPr>
              <p:nvPr/>
            </p:nvGrpSpPr>
            <p:grpSpPr bwMode="auto">
              <a:xfrm>
                <a:off x="3264" y="1920"/>
                <a:ext cx="528" cy="48"/>
                <a:chOff x="3264" y="1920"/>
                <a:chExt cx="528" cy="48"/>
              </a:xfrm>
            </p:grpSpPr>
            <p:grpSp>
              <p:nvGrpSpPr>
                <p:cNvPr id="15485" name="Group 88"/>
                <p:cNvGrpSpPr>
                  <a:grpSpLocks/>
                </p:cNvGrpSpPr>
                <p:nvPr/>
              </p:nvGrpSpPr>
              <p:grpSpPr bwMode="auto">
                <a:xfrm>
                  <a:off x="3312" y="1920"/>
                  <a:ext cx="480" cy="48"/>
                  <a:chOff x="3312" y="1920"/>
                  <a:chExt cx="480" cy="48"/>
                </a:xfrm>
              </p:grpSpPr>
              <p:sp>
                <p:nvSpPr>
                  <p:cNvPr id="15487" name="Line 8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312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488" name="Line 9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360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489" name="Line 9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408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490" name="Line 9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456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491" name="Line 9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00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492" name="Line 9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48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493" name="Line 9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96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494" name="Line 9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744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495" name="Line 9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504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496" name="Line 9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552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5486" name="Line 99"/>
                <p:cNvSpPr>
                  <a:spLocks noChangeShapeType="1"/>
                </p:cNvSpPr>
                <p:nvPr/>
              </p:nvSpPr>
              <p:spPr bwMode="auto">
                <a:xfrm flipH="1">
                  <a:off x="3264" y="1920"/>
                  <a:ext cx="48" cy="4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5425" name="Rectangle 100"/>
            <p:cNvSpPr>
              <a:spLocks noChangeArrowheads="1"/>
            </p:cNvSpPr>
            <p:nvPr/>
          </p:nvSpPr>
          <p:spPr bwMode="auto">
            <a:xfrm rot="3475056">
              <a:off x="2363" y="2212"/>
              <a:ext cx="84" cy="425"/>
            </a:xfrm>
            <a:prstGeom prst="rect">
              <a:avLst/>
            </a:prstGeom>
            <a:solidFill>
              <a:schemeClr val="folHlink"/>
            </a:solidFill>
            <a:ln w="12700" cap="sq">
              <a:solidFill>
                <a:schemeClr val="tx1"/>
              </a:solidFill>
              <a:miter lim="800000"/>
              <a:headEnd/>
              <a:tailEnd type="none" w="sm" len="lg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endParaRPr lang="zh-CN" altLang="en-US"/>
            </a:p>
          </p:txBody>
        </p:sp>
        <p:sp>
          <p:nvSpPr>
            <p:cNvPr id="15426" name="Arc 101"/>
            <p:cNvSpPr>
              <a:spLocks noChangeAspect="1"/>
            </p:cNvSpPr>
            <p:nvPr/>
          </p:nvSpPr>
          <p:spPr bwMode="auto">
            <a:xfrm rot="10661407" flipV="1">
              <a:off x="2290" y="2532"/>
              <a:ext cx="54" cy="75"/>
            </a:xfrm>
            <a:custGeom>
              <a:avLst/>
              <a:gdLst>
                <a:gd name="T0" fmla="*/ 0 w 21600"/>
                <a:gd name="T1" fmla="*/ 0 h 32350"/>
                <a:gd name="T2" fmla="*/ 0 w 21600"/>
                <a:gd name="T3" fmla="*/ 0 h 32350"/>
                <a:gd name="T4" fmla="*/ 0 w 21600"/>
                <a:gd name="T5" fmla="*/ 0 h 32350"/>
                <a:gd name="T6" fmla="*/ 0 60000 65536"/>
                <a:gd name="T7" fmla="*/ 0 60000 65536"/>
                <a:gd name="T8" fmla="*/ 0 60000 65536"/>
                <a:gd name="T9" fmla="*/ 0 w 21600"/>
                <a:gd name="T10" fmla="*/ 0 h 32350"/>
                <a:gd name="T11" fmla="*/ 21600 w 21600"/>
                <a:gd name="T12" fmla="*/ 32350 h 3235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2350" fill="none" extrusionOk="0">
                  <a:moveTo>
                    <a:pt x="11617" y="0"/>
                  </a:moveTo>
                  <a:cubicBezTo>
                    <a:pt x="17836" y="3967"/>
                    <a:pt x="21600" y="10833"/>
                    <a:pt x="21600" y="18210"/>
                  </a:cubicBezTo>
                  <a:cubicBezTo>
                    <a:pt x="21600" y="23403"/>
                    <a:pt x="19728" y="28423"/>
                    <a:pt x="16328" y="32349"/>
                  </a:cubicBezTo>
                </a:path>
                <a:path w="21600" h="32350" stroke="0" extrusionOk="0">
                  <a:moveTo>
                    <a:pt x="11617" y="0"/>
                  </a:moveTo>
                  <a:cubicBezTo>
                    <a:pt x="17836" y="3967"/>
                    <a:pt x="21600" y="10833"/>
                    <a:pt x="21600" y="18210"/>
                  </a:cubicBezTo>
                  <a:cubicBezTo>
                    <a:pt x="21600" y="23403"/>
                    <a:pt x="19728" y="28423"/>
                    <a:pt x="16328" y="32349"/>
                  </a:cubicBezTo>
                  <a:lnTo>
                    <a:pt x="0" y="18210"/>
                  </a:lnTo>
                  <a:lnTo>
                    <a:pt x="11617" y="0"/>
                  </a:lnTo>
                  <a:close/>
                </a:path>
              </a:pathLst>
            </a:custGeom>
            <a:noFill/>
            <a:ln w="12700" cap="sq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27" name="Rectangle 102"/>
            <p:cNvSpPr>
              <a:spLocks noChangeArrowheads="1"/>
            </p:cNvSpPr>
            <p:nvPr/>
          </p:nvSpPr>
          <p:spPr bwMode="auto">
            <a:xfrm rot="-1924944">
              <a:off x="2357" y="2537"/>
              <a:ext cx="96" cy="647"/>
            </a:xfrm>
            <a:prstGeom prst="rect">
              <a:avLst/>
            </a:prstGeom>
            <a:solidFill>
              <a:schemeClr val="folHlink"/>
            </a:solidFill>
            <a:ln w="12700" cap="sq">
              <a:solidFill>
                <a:schemeClr val="tx1"/>
              </a:solidFill>
              <a:miter lim="800000"/>
              <a:headEnd/>
              <a:tailEnd type="none" w="sm" len="lg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endParaRPr lang="zh-CN" altLang="en-US"/>
            </a:p>
          </p:txBody>
        </p:sp>
        <p:sp>
          <p:nvSpPr>
            <p:cNvPr id="15428" name="Arc 103"/>
            <p:cNvSpPr>
              <a:spLocks noChangeAspect="1"/>
            </p:cNvSpPr>
            <p:nvPr/>
          </p:nvSpPr>
          <p:spPr bwMode="auto">
            <a:xfrm rot="8875056" flipV="1">
              <a:off x="2163" y="2504"/>
              <a:ext cx="104" cy="94"/>
            </a:xfrm>
            <a:custGeom>
              <a:avLst/>
              <a:gdLst>
                <a:gd name="T0" fmla="*/ 0 w 21600"/>
                <a:gd name="T1" fmla="*/ 0 h 21588"/>
                <a:gd name="T2" fmla="*/ 0 w 21600"/>
                <a:gd name="T3" fmla="*/ 0 h 21588"/>
                <a:gd name="T4" fmla="*/ 0 w 21600"/>
                <a:gd name="T5" fmla="*/ 0 h 21588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88"/>
                <a:gd name="T11" fmla="*/ 21600 w 21600"/>
                <a:gd name="T12" fmla="*/ 21588 h 21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88" fill="none" extrusionOk="0">
                  <a:moveTo>
                    <a:pt x="719" y="-1"/>
                  </a:moveTo>
                  <a:cubicBezTo>
                    <a:pt x="12362" y="387"/>
                    <a:pt x="21600" y="9938"/>
                    <a:pt x="21600" y="21588"/>
                  </a:cubicBezTo>
                </a:path>
                <a:path w="21600" h="21588" stroke="0" extrusionOk="0">
                  <a:moveTo>
                    <a:pt x="719" y="-1"/>
                  </a:moveTo>
                  <a:cubicBezTo>
                    <a:pt x="12362" y="387"/>
                    <a:pt x="21600" y="9938"/>
                    <a:pt x="21600" y="21588"/>
                  </a:cubicBezTo>
                  <a:lnTo>
                    <a:pt x="0" y="21588"/>
                  </a:lnTo>
                  <a:lnTo>
                    <a:pt x="719" y="-1"/>
                  </a:lnTo>
                  <a:close/>
                </a:path>
              </a:pathLst>
            </a:custGeom>
            <a:solidFill>
              <a:schemeClr val="folHlink"/>
            </a:solidFill>
            <a:ln w="12700" cap="sq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5429" name="Group 104"/>
            <p:cNvGrpSpPr>
              <a:grpSpLocks/>
            </p:cNvGrpSpPr>
            <p:nvPr/>
          </p:nvGrpSpPr>
          <p:grpSpPr bwMode="auto">
            <a:xfrm rot="-20658">
              <a:off x="2546" y="2152"/>
              <a:ext cx="114" cy="259"/>
              <a:chOff x="2863" y="1728"/>
              <a:chExt cx="114" cy="259"/>
            </a:xfrm>
          </p:grpSpPr>
          <p:sp>
            <p:nvSpPr>
              <p:cNvPr id="15479" name="Rectangle 105"/>
              <p:cNvSpPr>
                <a:spLocks noChangeArrowheads="1"/>
              </p:cNvSpPr>
              <p:nvPr/>
            </p:nvSpPr>
            <p:spPr bwMode="auto">
              <a:xfrm rot="-1904286">
                <a:off x="2878" y="1728"/>
                <a:ext cx="99" cy="251"/>
              </a:xfrm>
              <a:prstGeom prst="rect">
                <a:avLst/>
              </a:prstGeom>
              <a:solidFill>
                <a:schemeClr val="folHlink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endParaRPr lang="zh-CN" altLang="en-US"/>
              </a:p>
            </p:txBody>
          </p:sp>
          <p:sp>
            <p:nvSpPr>
              <p:cNvPr id="15480" name="Line 106"/>
              <p:cNvSpPr>
                <a:spLocks noChangeAspect="1" noChangeShapeType="1"/>
              </p:cNvSpPr>
              <p:nvPr/>
            </p:nvSpPr>
            <p:spPr bwMode="auto">
              <a:xfrm rot="-1904286">
                <a:off x="2951" y="1987"/>
                <a:ext cx="0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81" name="Line 107"/>
              <p:cNvSpPr>
                <a:spLocks noChangeAspect="1" noChangeShapeType="1"/>
              </p:cNvSpPr>
              <p:nvPr/>
            </p:nvSpPr>
            <p:spPr bwMode="auto">
              <a:xfrm rot="-1904286">
                <a:off x="2951" y="1987"/>
                <a:ext cx="0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82" name="Rectangle 108"/>
              <p:cNvSpPr>
                <a:spLocks noChangeArrowheads="1"/>
              </p:cNvSpPr>
              <p:nvPr/>
            </p:nvSpPr>
            <p:spPr bwMode="auto">
              <a:xfrm rot="-1904286">
                <a:off x="2863" y="1845"/>
                <a:ext cx="48" cy="8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endParaRPr lang="zh-CN" altLang="en-US"/>
              </a:p>
            </p:txBody>
          </p:sp>
        </p:grpSp>
        <p:sp>
          <p:nvSpPr>
            <p:cNvPr id="15430" name="Oval 109"/>
            <p:cNvSpPr>
              <a:spLocks noChangeArrowheads="1"/>
            </p:cNvSpPr>
            <p:nvPr/>
          </p:nvSpPr>
          <p:spPr bwMode="auto">
            <a:xfrm rot="-1924944">
              <a:off x="2521" y="3081"/>
              <a:ext cx="96" cy="96"/>
            </a:xfrm>
            <a:prstGeom prst="ellipse">
              <a:avLst/>
            </a:prstGeom>
            <a:solidFill>
              <a:srgbClr val="0099FF"/>
            </a:solidFill>
            <a:ln w="12700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endParaRPr lang="zh-CN" altLang="en-US"/>
            </a:p>
          </p:txBody>
        </p:sp>
        <p:sp>
          <p:nvSpPr>
            <p:cNvPr id="15431" name="Oval 110"/>
            <p:cNvSpPr>
              <a:spLocks noChangeArrowheads="1"/>
            </p:cNvSpPr>
            <p:nvPr/>
          </p:nvSpPr>
          <p:spPr bwMode="auto">
            <a:xfrm rot="193234">
              <a:off x="2239" y="2506"/>
              <a:ext cx="47" cy="126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endParaRPr lang="zh-CN" altLang="en-US"/>
            </a:p>
          </p:txBody>
        </p:sp>
        <p:sp>
          <p:nvSpPr>
            <p:cNvPr id="15432" name="Rectangle 111"/>
            <p:cNvSpPr>
              <a:spLocks noChangeArrowheads="1"/>
            </p:cNvSpPr>
            <p:nvPr/>
          </p:nvSpPr>
          <p:spPr bwMode="auto">
            <a:xfrm rot="-1924944">
              <a:off x="2239" y="2525"/>
              <a:ext cx="47" cy="48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endParaRPr lang="zh-CN" altLang="en-US"/>
            </a:p>
          </p:txBody>
        </p:sp>
        <p:sp>
          <p:nvSpPr>
            <p:cNvPr id="15433" name="AutoShape 112"/>
            <p:cNvSpPr>
              <a:spLocks noChangeArrowheads="1"/>
            </p:cNvSpPr>
            <p:nvPr/>
          </p:nvSpPr>
          <p:spPr bwMode="auto">
            <a:xfrm rot="-5400000">
              <a:off x="2531" y="2737"/>
              <a:ext cx="193" cy="95"/>
            </a:xfrm>
            <a:prstGeom prst="triangle">
              <a:avLst>
                <a:gd name="adj" fmla="val 50000"/>
              </a:avLst>
            </a:prstGeom>
            <a:noFill/>
            <a:ln w="12700" cap="sq">
              <a:solidFill>
                <a:schemeClr val="tx1"/>
              </a:solidFill>
              <a:miter lim="800000"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endParaRPr lang="zh-CN" altLang="en-US"/>
            </a:p>
          </p:txBody>
        </p:sp>
        <p:sp>
          <p:nvSpPr>
            <p:cNvPr id="15434" name="Line 113"/>
            <p:cNvSpPr>
              <a:spLocks noChangeShapeType="1"/>
            </p:cNvSpPr>
            <p:nvPr/>
          </p:nvSpPr>
          <p:spPr bwMode="auto">
            <a:xfrm rot="-5400000">
              <a:off x="2422" y="2785"/>
              <a:ext cx="508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5435" name="Group 114"/>
            <p:cNvGrpSpPr>
              <a:grpSpLocks/>
            </p:cNvGrpSpPr>
            <p:nvPr/>
          </p:nvGrpSpPr>
          <p:grpSpPr bwMode="auto">
            <a:xfrm rot="-5400000">
              <a:off x="2436" y="2785"/>
              <a:ext cx="528" cy="48"/>
              <a:chOff x="3264" y="1920"/>
              <a:chExt cx="528" cy="48"/>
            </a:xfrm>
          </p:grpSpPr>
          <p:grpSp>
            <p:nvGrpSpPr>
              <p:cNvPr id="15467" name="Group 115"/>
              <p:cNvGrpSpPr>
                <a:grpSpLocks/>
              </p:cNvGrpSpPr>
              <p:nvPr/>
            </p:nvGrpSpPr>
            <p:grpSpPr bwMode="auto">
              <a:xfrm>
                <a:off x="3312" y="1920"/>
                <a:ext cx="480" cy="48"/>
                <a:chOff x="3312" y="1920"/>
                <a:chExt cx="480" cy="48"/>
              </a:xfrm>
            </p:grpSpPr>
            <p:sp>
              <p:nvSpPr>
                <p:cNvPr id="15469" name="Line 116"/>
                <p:cNvSpPr>
                  <a:spLocks noChangeShapeType="1"/>
                </p:cNvSpPr>
                <p:nvPr/>
              </p:nvSpPr>
              <p:spPr bwMode="auto">
                <a:xfrm flipH="1">
                  <a:off x="3312" y="1920"/>
                  <a:ext cx="48" cy="4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70" name="Line 117"/>
                <p:cNvSpPr>
                  <a:spLocks noChangeShapeType="1"/>
                </p:cNvSpPr>
                <p:nvPr/>
              </p:nvSpPr>
              <p:spPr bwMode="auto">
                <a:xfrm flipH="1">
                  <a:off x="3360" y="1920"/>
                  <a:ext cx="48" cy="4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71" name="Line 118"/>
                <p:cNvSpPr>
                  <a:spLocks noChangeShapeType="1"/>
                </p:cNvSpPr>
                <p:nvPr/>
              </p:nvSpPr>
              <p:spPr bwMode="auto">
                <a:xfrm flipH="1">
                  <a:off x="3408" y="1920"/>
                  <a:ext cx="48" cy="4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72" name="Line 119"/>
                <p:cNvSpPr>
                  <a:spLocks noChangeShapeType="1"/>
                </p:cNvSpPr>
                <p:nvPr/>
              </p:nvSpPr>
              <p:spPr bwMode="auto">
                <a:xfrm flipH="1">
                  <a:off x="3456" y="1920"/>
                  <a:ext cx="48" cy="4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73" name="Line 120"/>
                <p:cNvSpPr>
                  <a:spLocks noChangeShapeType="1"/>
                </p:cNvSpPr>
                <p:nvPr/>
              </p:nvSpPr>
              <p:spPr bwMode="auto">
                <a:xfrm flipH="1">
                  <a:off x="3600" y="1920"/>
                  <a:ext cx="48" cy="4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74" name="Line 121"/>
                <p:cNvSpPr>
                  <a:spLocks noChangeShapeType="1"/>
                </p:cNvSpPr>
                <p:nvPr/>
              </p:nvSpPr>
              <p:spPr bwMode="auto">
                <a:xfrm flipH="1">
                  <a:off x="3648" y="1920"/>
                  <a:ext cx="48" cy="4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75" name="Line 122"/>
                <p:cNvSpPr>
                  <a:spLocks noChangeShapeType="1"/>
                </p:cNvSpPr>
                <p:nvPr/>
              </p:nvSpPr>
              <p:spPr bwMode="auto">
                <a:xfrm flipH="1">
                  <a:off x="3696" y="1920"/>
                  <a:ext cx="48" cy="4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76" name="Line 123"/>
                <p:cNvSpPr>
                  <a:spLocks noChangeShapeType="1"/>
                </p:cNvSpPr>
                <p:nvPr/>
              </p:nvSpPr>
              <p:spPr bwMode="auto">
                <a:xfrm flipH="1">
                  <a:off x="3744" y="1920"/>
                  <a:ext cx="48" cy="4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77" name="Line 124"/>
                <p:cNvSpPr>
                  <a:spLocks noChangeShapeType="1"/>
                </p:cNvSpPr>
                <p:nvPr/>
              </p:nvSpPr>
              <p:spPr bwMode="auto">
                <a:xfrm flipH="1">
                  <a:off x="3504" y="1920"/>
                  <a:ext cx="48" cy="4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78" name="Line 125"/>
                <p:cNvSpPr>
                  <a:spLocks noChangeShapeType="1"/>
                </p:cNvSpPr>
                <p:nvPr/>
              </p:nvSpPr>
              <p:spPr bwMode="auto">
                <a:xfrm flipH="1">
                  <a:off x="3552" y="1920"/>
                  <a:ext cx="48" cy="4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5468" name="Line 126"/>
              <p:cNvSpPr>
                <a:spLocks noChangeShapeType="1"/>
              </p:cNvSpPr>
              <p:nvPr/>
            </p:nvSpPr>
            <p:spPr bwMode="auto">
              <a:xfrm flipH="1">
                <a:off x="3264" y="1920"/>
                <a:ext cx="48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5436" name="Oval 127"/>
            <p:cNvSpPr>
              <a:spLocks noChangeArrowheads="1"/>
            </p:cNvSpPr>
            <p:nvPr/>
          </p:nvSpPr>
          <p:spPr bwMode="auto">
            <a:xfrm>
              <a:off x="2539" y="3104"/>
              <a:ext cx="48" cy="48"/>
            </a:xfrm>
            <a:prstGeom prst="ellipse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endParaRPr lang="zh-CN" altLang="en-US"/>
            </a:p>
          </p:txBody>
        </p:sp>
        <p:grpSp>
          <p:nvGrpSpPr>
            <p:cNvPr id="15437" name="Group 128"/>
            <p:cNvGrpSpPr>
              <a:grpSpLocks/>
            </p:cNvGrpSpPr>
            <p:nvPr/>
          </p:nvGrpSpPr>
          <p:grpSpPr bwMode="auto">
            <a:xfrm>
              <a:off x="2342" y="2739"/>
              <a:ext cx="256" cy="96"/>
              <a:chOff x="945" y="2320"/>
              <a:chExt cx="256" cy="96"/>
            </a:xfrm>
          </p:grpSpPr>
          <p:sp>
            <p:nvSpPr>
              <p:cNvPr id="15462" name="Rectangle 129"/>
              <p:cNvSpPr>
                <a:spLocks noChangeArrowheads="1"/>
              </p:cNvSpPr>
              <p:nvPr/>
            </p:nvSpPr>
            <p:spPr bwMode="auto">
              <a:xfrm>
                <a:off x="968" y="2320"/>
                <a:ext cx="210" cy="96"/>
              </a:xfrm>
              <a:prstGeom prst="rect">
                <a:avLst/>
              </a:prstGeom>
              <a:solidFill>
                <a:srgbClr val="0099FF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endParaRPr lang="zh-CN" altLang="en-US"/>
              </a:p>
            </p:txBody>
          </p:sp>
          <p:sp>
            <p:nvSpPr>
              <p:cNvPr id="15463" name="Oval 130"/>
              <p:cNvSpPr>
                <a:spLocks noChangeArrowheads="1"/>
              </p:cNvSpPr>
              <p:nvPr/>
            </p:nvSpPr>
            <p:spPr bwMode="auto">
              <a:xfrm>
                <a:off x="945" y="2320"/>
                <a:ext cx="47" cy="96"/>
              </a:xfrm>
              <a:prstGeom prst="ellipse">
                <a:avLst/>
              </a:prstGeom>
              <a:solidFill>
                <a:srgbClr val="0099FF"/>
              </a:solidFill>
              <a:ln w="12700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endParaRPr lang="zh-CN" altLang="en-US"/>
              </a:p>
            </p:txBody>
          </p:sp>
          <p:sp>
            <p:nvSpPr>
              <p:cNvPr id="15464" name="Oval 131"/>
              <p:cNvSpPr>
                <a:spLocks noChangeArrowheads="1"/>
              </p:cNvSpPr>
              <p:nvPr/>
            </p:nvSpPr>
            <p:spPr bwMode="auto">
              <a:xfrm>
                <a:off x="1154" y="2320"/>
                <a:ext cx="47" cy="96"/>
              </a:xfrm>
              <a:prstGeom prst="ellipse">
                <a:avLst/>
              </a:prstGeom>
              <a:solidFill>
                <a:srgbClr val="0099FF"/>
              </a:solidFill>
              <a:ln w="12700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endParaRPr lang="zh-CN" altLang="en-US"/>
              </a:p>
            </p:txBody>
          </p:sp>
          <p:sp>
            <p:nvSpPr>
              <p:cNvPr id="15465" name="Rectangle 132"/>
              <p:cNvSpPr>
                <a:spLocks noChangeArrowheads="1"/>
              </p:cNvSpPr>
              <p:nvPr/>
            </p:nvSpPr>
            <p:spPr bwMode="auto">
              <a:xfrm>
                <a:off x="1154" y="2328"/>
                <a:ext cx="23" cy="79"/>
              </a:xfrm>
              <a:prstGeom prst="rect">
                <a:avLst/>
              </a:prstGeom>
              <a:solidFill>
                <a:srgbClr val="0099FF"/>
              </a:solidFill>
              <a:ln w="12700" cap="sq">
                <a:solidFill>
                  <a:srgbClr val="B2B2B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endParaRPr lang="zh-CN" altLang="en-US"/>
              </a:p>
            </p:txBody>
          </p:sp>
          <p:sp>
            <p:nvSpPr>
              <p:cNvPr id="15466" name="Rectangle 133"/>
              <p:cNvSpPr>
                <a:spLocks noChangeArrowheads="1"/>
              </p:cNvSpPr>
              <p:nvPr/>
            </p:nvSpPr>
            <p:spPr bwMode="auto">
              <a:xfrm>
                <a:off x="968" y="2329"/>
                <a:ext cx="23" cy="79"/>
              </a:xfrm>
              <a:prstGeom prst="rect">
                <a:avLst/>
              </a:prstGeom>
              <a:solidFill>
                <a:srgbClr val="0099FF"/>
              </a:solidFill>
              <a:ln w="12700" cap="sq">
                <a:solidFill>
                  <a:srgbClr val="B2B2B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endParaRPr lang="zh-CN" altLang="en-US"/>
              </a:p>
            </p:txBody>
          </p:sp>
        </p:grpSp>
        <p:sp>
          <p:nvSpPr>
            <p:cNvPr id="15438" name="Oval 134"/>
            <p:cNvSpPr>
              <a:spLocks noChangeArrowheads="1"/>
            </p:cNvSpPr>
            <p:nvPr/>
          </p:nvSpPr>
          <p:spPr bwMode="auto">
            <a:xfrm>
              <a:off x="2338" y="2767"/>
              <a:ext cx="48" cy="48"/>
            </a:xfrm>
            <a:prstGeom prst="ellipse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endParaRPr lang="zh-CN" altLang="en-US"/>
            </a:p>
          </p:txBody>
        </p:sp>
        <p:sp>
          <p:nvSpPr>
            <p:cNvPr id="15442" name="Line 138"/>
            <p:cNvSpPr>
              <a:spLocks noChangeShapeType="1"/>
            </p:cNvSpPr>
            <p:nvPr/>
          </p:nvSpPr>
          <p:spPr bwMode="auto">
            <a:xfrm>
              <a:off x="2631" y="2257"/>
              <a:ext cx="53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43" name="Line 139"/>
            <p:cNvSpPr>
              <a:spLocks noChangeShapeType="1"/>
            </p:cNvSpPr>
            <p:nvPr/>
          </p:nvSpPr>
          <p:spPr bwMode="auto">
            <a:xfrm>
              <a:off x="2677" y="2791"/>
              <a:ext cx="50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44" name="Line 140"/>
            <p:cNvSpPr>
              <a:spLocks noChangeShapeType="1"/>
            </p:cNvSpPr>
            <p:nvPr/>
          </p:nvSpPr>
          <p:spPr bwMode="auto">
            <a:xfrm>
              <a:off x="2547" y="3084"/>
              <a:ext cx="639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45" name="Line 141"/>
            <p:cNvSpPr>
              <a:spLocks noChangeShapeType="1"/>
            </p:cNvSpPr>
            <p:nvPr/>
          </p:nvSpPr>
          <p:spPr bwMode="auto">
            <a:xfrm>
              <a:off x="2941" y="2257"/>
              <a:ext cx="0" cy="52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46" name="Line 142"/>
            <p:cNvSpPr>
              <a:spLocks noChangeShapeType="1"/>
            </p:cNvSpPr>
            <p:nvPr/>
          </p:nvSpPr>
          <p:spPr bwMode="auto">
            <a:xfrm>
              <a:off x="2941" y="2786"/>
              <a:ext cx="0" cy="303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47" name="Line 143"/>
            <p:cNvSpPr>
              <a:spLocks noChangeShapeType="1"/>
            </p:cNvSpPr>
            <p:nvPr/>
          </p:nvSpPr>
          <p:spPr bwMode="auto">
            <a:xfrm flipH="1">
              <a:off x="2589" y="2022"/>
              <a:ext cx="413" cy="255"/>
            </a:xfrm>
            <a:prstGeom prst="line">
              <a:avLst/>
            </a:prstGeom>
            <a:noFill/>
            <a:ln w="31750" cap="sq">
              <a:solidFill>
                <a:srgbClr val="FF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48" name="Text Box 144"/>
            <p:cNvSpPr txBox="1">
              <a:spLocks noChangeArrowheads="1"/>
            </p:cNvSpPr>
            <p:nvPr/>
          </p:nvSpPr>
          <p:spPr bwMode="auto">
            <a:xfrm>
              <a:off x="2996" y="1964"/>
              <a:ext cx="169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1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5449" name="Text Box 145"/>
            <p:cNvSpPr txBox="1">
              <a:spLocks noChangeArrowheads="1"/>
            </p:cNvSpPr>
            <p:nvPr/>
          </p:nvSpPr>
          <p:spPr bwMode="auto">
            <a:xfrm>
              <a:off x="2854" y="2062"/>
              <a:ext cx="165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endParaRPr kumimoji="1" lang="en-US" altLang="zh-CN" sz="2000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15450" name="Text Box 146"/>
            <p:cNvSpPr txBox="1">
              <a:spLocks noChangeArrowheads="1"/>
            </p:cNvSpPr>
            <p:nvPr/>
          </p:nvSpPr>
          <p:spPr bwMode="auto">
            <a:xfrm>
              <a:off x="2902" y="2341"/>
              <a:ext cx="209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>
                  <a:latin typeface="Times New Roman" panose="02020603050405020304" pitchFamily="18" charset="0"/>
                </a:rPr>
                <a:t>24</a:t>
              </a:r>
            </a:p>
          </p:txBody>
        </p:sp>
        <p:sp>
          <p:nvSpPr>
            <p:cNvPr id="15451" name="Text Box 147"/>
            <p:cNvSpPr txBox="1">
              <a:spLocks noChangeArrowheads="1"/>
            </p:cNvSpPr>
            <p:nvPr/>
          </p:nvSpPr>
          <p:spPr bwMode="auto">
            <a:xfrm>
              <a:off x="2938" y="2833"/>
              <a:ext cx="149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5452" name="Text Box 148"/>
            <p:cNvSpPr txBox="1">
              <a:spLocks noChangeArrowheads="1"/>
            </p:cNvSpPr>
            <p:nvPr/>
          </p:nvSpPr>
          <p:spPr bwMode="auto">
            <a:xfrm>
              <a:off x="2350" y="2138"/>
              <a:ext cx="162" cy="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 i="1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5453" name="Text Box 149"/>
            <p:cNvSpPr txBox="1">
              <a:spLocks noChangeArrowheads="1"/>
            </p:cNvSpPr>
            <p:nvPr/>
          </p:nvSpPr>
          <p:spPr bwMode="auto">
            <a:xfrm>
              <a:off x="2429" y="2573"/>
              <a:ext cx="169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 i="1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5454" name="Text Box 150"/>
            <p:cNvSpPr txBox="1">
              <a:spLocks noChangeArrowheads="1"/>
            </p:cNvSpPr>
            <p:nvPr/>
          </p:nvSpPr>
          <p:spPr bwMode="auto">
            <a:xfrm>
              <a:off x="2169" y="2757"/>
              <a:ext cx="162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 i="1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5455" name="Text Box 151"/>
            <p:cNvSpPr txBox="1">
              <a:spLocks noChangeArrowheads="1"/>
            </p:cNvSpPr>
            <p:nvPr/>
          </p:nvSpPr>
          <p:spPr bwMode="auto">
            <a:xfrm>
              <a:off x="2152" y="3033"/>
              <a:ext cx="88" cy="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zh-CN" sz="1600">
                <a:latin typeface="Times New Roman" panose="02020603050405020304" pitchFamily="18" charset="0"/>
              </a:endParaRPr>
            </a:p>
          </p:txBody>
        </p:sp>
        <p:sp>
          <p:nvSpPr>
            <p:cNvPr id="15457" name="Arc 153"/>
            <p:cNvSpPr>
              <a:spLocks/>
            </p:cNvSpPr>
            <p:nvPr/>
          </p:nvSpPr>
          <p:spPr bwMode="auto">
            <a:xfrm rot="1496635">
              <a:off x="2797" y="2144"/>
              <a:ext cx="96" cy="9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 cap="sq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58" name="Line 154"/>
            <p:cNvSpPr>
              <a:spLocks noChangeShapeType="1"/>
            </p:cNvSpPr>
            <p:nvPr/>
          </p:nvSpPr>
          <p:spPr bwMode="auto">
            <a:xfrm>
              <a:off x="2569" y="2188"/>
              <a:ext cx="8" cy="10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59" name="Text Box 155"/>
            <p:cNvSpPr txBox="1">
              <a:spLocks noChangeArrowheads="1"/>
            </p:cNvSpPr>
            <p:nvPr/>
          </p:nvSpPr>
          <p:spPr bwMode="auto">
            <a:xfrm>
              <a:off x="2462" y="2809"/>
              <a:ext cx="88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zh-CN" sz="2000" i="1">
                <a:latin typeface="Times New Roman" panose="02020603050405020304" pitchFamily="18" charset="0"/>
              </a:endParaRPr>
            </a:p>
          </p:txBody>
        </p:sp>
        <p:sp>
          <p:nvSpPr>
            <p:cNvPr id="15460" name="Rectangle 156"/>
            <p:cNvSpPr>
              <a:spLocks noChangeArrowheads="1"/>
            </p:cNvSpPr>
            <p:nvPr/>
          </p:nvSpPr>
          <p:spPr bwMode="auto">
            <a:xfrm>
              <a:off x="2349" y="3048"/>
              <a:ext cx="176" cy="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 i="1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5461" name="Oval 157"/>
            <p:cNvSpPr>
              <a:spLocks noChangeArrowheads="1"/>
            </p:cNvSpPr>
            <p:nvPr/>
          </p:nvSpPr>
          <p:spPr bwMode="auto">
            <a:xfrm rot="-5400000">
              <a:off x="2556" y="2761"/>
              <a:ext cx="48" cy="48"/>
            </a:xfrm>
            <a:prstGeom prst="ellipse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endParaRPr lang="zh-CN" altLang="en-US"/>
            </a:p>
          </p:txBody>
        </p:sp>
      </p:grpSp>
      <p:grpSp>
        <p:nvGrpSpPr>
          <p:cNvPr id="10" name="Group 196"/>
          <p:cNvGrpSpPr>
            <a:grpSpLocks/>
          </p:cNvGrpSpPr>
          <p:nvPr/>
        </p:nvGrpSpPr>
        <p:grpSpPr bwMode="auto">
          <a:xfrm>
            <a:off x="5561940" y="4102004"/>
            <a:ext cx="1966913" cy="2197100"/>
            <a:chOff x="2397" y="2659"/>
            <a:chExt cx="1239" cy="1384"/>
          </a:xfrm>
        </p:grpSpPr>
        <p:sp>
          <p:nvSpPr>
            <p:cNvPr id="15396" name="Text Box 171"/>
            <p:cNvSpPr txBox="1">
              <a:spLocks noChangeArrowheads="1"/>
            </p:cNvSpPr>
            <p:nvPr/>
          </p:nvSpPr>
          <p:spPr bwMode="auto">
            <a:xfrm>
              <a:off x="3152" y="3793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 i="1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5397" name="Text Box 184"/>
            <p:cNvSpPr txBox="1">
              <a:spLocks noChangeArrowheads="1"/>
            </p:cNvSpPr>
            <p:nvPr/>
          </p:nvSpPr>
          <p:spPr bwMode="auto">
            <a:xfrm>
              <a:off x="3238" y="3251"/>
              <a:ext cx="21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 i="1">
                  <a:latin typeface="Times New Roman" panose="02020603050405020304" pitchFamily="18" charset="0"/>
                </a:rPr>
                <a:t>B</a:t>
              </a:r>
            </a:p>
          </p:txBody>
        </p:sp>
        <p:grpSp>
          <p:nvGrpSpPr>
            <p:cNvPr id="15398" name="Group 194"/>
            <p:cNvGrpSpPr>
              <a:grpSpLocks/>
            </p:cNvGrpSpPr>
            <p:nvPr/>
          </p:nvGrpSpPr>
          <p:grpSpPr bwMode="auto">
            <a:xfrm>
              <a:off x="3016" y="2659"/>
              <a:ext cx="620" cy="1212"/>
              <a:chOff x="2562" y="2709"/>
              <a:chExt cx="620" cy="1212"/>
            </a:xfrm>
          </p:grpSpPr>
          <p:sp>
            <p:nvSpPr>
              <p:cNvPr id="15408" name="Rectangle 172"/>
              <p:cNvSpPr>
                <a:spLocks noChangeArrowheads="1"/>
              </p:cNvSpPr>
              <p:nvPr/>
            </p:nvSpPr>
            <p:spPr bwMode="auto">
              <a:xfrm rot="3495714">
                <a:off x="2782" y="2937"/>
                <a:ext cx="97" cy="434"/>
              </a:xfrm>
              <a:prstGeom prst="rect">
                <a:avLst/>
              </a:prstGeom>
              <a:solidFill>
                <a:schemeClr val="folHlink"/>
              </a:solidFill>
              <a:ln w="12700" cap="sq">
                <a:solidFill>
                  <a:schemeClr val="tx1"/>
                </a:solidFill>
                <a:miter lim="800000"/>
                <a:headEnd/>
                <a:tailEnd type="none" w="sm" len="lg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endParaRPr lang="zh-CN" altLang="en-US"/>
              </a:p>
            </p:txBody>
          </p:sp>
          <p:sp>
            <p:nvSpPr>
              <p:cNvPr id="15409" name="Arc 173"/>
              <p:cNvSpPr>
                <a:spLocks noChangeAspect="1"/>
              </p:cNvSpPr>
              <p:nvPr/>
            </p:nvSpPr>
            <p:spPr bwMode="auto">
              <a:xfrm rot="10682065" flipV="1">
                <a:off x="2693" y="3276"/>
                <a:ext cx="54" cy="75"/>
              </a:xfrm>
              <a:custGeom>
                <a:avLst/>
                <a:gdLst>
                  <a:gd name="T0" fmla="*/ 0 w 21600"/>
                  <a:gd name="T1" fmla="*/ 0 h 32350"/>
                  <a:gd name="T2" fmla="*/ 0 w 21600"/>
                  <a:gd name="T3" fmla="*/ 0 h 32350"/>
                  <a:gd name="T4" fmla="*/ 0 w 21600"/>
                  <a:gd name="T5" fmla="*/ 0 h 3235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2350"/>
                  <a:gd name="T11" fmla="*/ 21600 w 21600"/>
                  <a:gd name="T12" fmla="*/ 32350 h 3235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2350" fill="none" extrusionOk="0">
                    <a:moveTo>
                      <a:pt x="11617" y="0"/>
                    </a:moveTo>
                    <a:cubicBezTo>
                      <a:pt x="17836" y="3967"/>
                      <a:pt x="21600" y="10833"/>
                      <a:pt x="21600" y="18210"/>
                    </a:cubicBezTo>
                    <a:cubicBezTo>
                      <a:pt x="21600" y="23403"/>
                      <a:pt x="19728" y="28423"/>
                      <a:pt x="16328" y="32349"/>
                    </a:cubicBezTo>
                  </a:path>
                  <a:path w="21600" h="32350" stroke="0" extrusionOk="0">
                    <a:moveTo>
                      <a:pt x="11617" y="0"/>
                    </a:moveTo>
                    <a:cubicBezTo>
                      <a:pt x="17836" y="3967"/>
                      <a:pt x="21600" y="10833"/>
                      <a:pt x="21600" y="18210"/>
                    </a:cubicBezTo>
                    <a:cubicBezTo>
                      <a:pt x="21600" y="23403"/>
                      <a:pt x="19728" y="28423"/>
                      <a:pt x="16328" y="32349"/>
                    </a:cubicBezTo>
                    <a:lnTo>
                      <a:pt x="0" y="18210"/>
                    </a:lnTo>
                    <a:lnTo>
                      <a:pt x="11617" y="0"/>
                    </a:lnTo>
                    <a:close/>
                  </a:path>
                </a:pathLst>
              </a:custGeom>
              <a:noFill/>
              <a:ln w="12700" cap="sq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10" name="Rectangle 174"/>
              <p:cNvSpPr>
                <a:spLocks noChangeArrowheads="1"/>
              </p:cNvSpPr>
              <p:nvPr/>
            </p:nvSpPr>
            <p:spPr bwMode="auto">
              <a:xfrm rot="-1904286">
                <a:off x="2754" y="3274"/>
                <a:ext cx="96" cy="647"/>
              </a:xfrm>
              <a:prstGeom prst="rect">
                <a:avLst/>
              </a:prstGeom>
              <a:solidFill>
                <a:schemeClr val="folHlink"/>
              </a:solidFill>
              <a:ln w="12700" cap="sq">
                <a:solidFill>
                  <a:schemeClr val="tx1"/>
                </a:solidFill>
                <a:miter lim="800000"/>
                <a:headEnd/>
                <a:tailEnd type="none" w="sm" len="lg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endParaRPr lang="zh-CN" altLang="en-US"/>
              </a:p>
            </p:txBody>
          </p:sp>
          <p:sp>
            <p:nvSpPr>
              <p:cNvPr id="15411" name="Arc 175"/>
              <p:cNvSpPr>
                <a:spLocks noChangeAspect="1"/>
              </p:cNvSpPr>
              <p:nvPr/>
            </p:nvSpPr>
            <p:spPr bwMode="auto">
              <a:xfrm rot="8895714" flipV="1">
                <a:off x="2562" y="3240"/>
                <a:ext cx="104" cy="94"/>
              </a:xfrm>
              <a:custGeom>
                <a:avLst/>
                <a:gdLst>
                  <a:gd name="T0" fmla="*/ 0 w 21600"/>
                  <a:gd name="T1" fmla="*/ 0 h 21588"/>
                  <a:gd name="T2" fmla="*/ 0 w 21600"/>
                  <a:gd name="T3" fmla="*/ 0 h 21588"/>
                  <a:gd name="T4" fmla="*/ 0 w 21600"/>
                  <a:gd name="T5" fmla="*/ 0 h 21588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588"/>
                  <a:gd name="T11" fmla="*/ 21600 w 21600"/>
                  <a:gd name="T12" fmla="*/ 21588 h 215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588" fill="none" extrusionOk="0">
                    <a:moveTo>
                      <a:pt x="719" y="-1"/>
                    </a:moveTo>
                    <a:cubicBezTo>
                      <a:pt x="12362" y="387"/>
                      <a:pt x="21600" y="9938"/>
                      <a:pt x="21600" y="21588"/>
                    </a:cubicBezTo>
                  </a:path>
                  <a:path w="21600" h="21588" stroke="0" extrusionOk="0">
                    <a:moveTo>
                      <a:pt x="719" y="-1"/>
                    </a:moveTo>
                    <a:cubicBezTo>
                      <a:pt x="12362" y="387"/>
                      <a:pt x="21600" y="9938"/>
                      <a:pt x="21600" y="21588"/>
                    </a:cubicBezTo>
                    <a:lnTo>
                      <a:pt x="0" y="21588"/>
                    </a:lnTo>
                    <a:lnTo>
                      <a:pt x="719" y="-1"/>
                    </a:lnTo>
                    <a:close/>
                  </a:path>
                </a:pathLst>
              </a:custGeom>
              <a:solidFill>
                <a:schemeClr val="folHlink"/>
              </a:solidFill>
              <a:ln w="12700" cap="sq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12" name="Oval 176"/>
              <p:cNvSpPr>
                <a:spLocks noChangeArrowheads="1"/>
              </p:cNvSpPr>
              <p:nvPr/>
            </p:nvSpPr>
            <p:spPr bwMode="auto">
              <a:xfrm rot="213892">
                <a:off x="2638" y="3242"/>
                <a:ext cx="47" cy="126"/>
              </a:xfrm>
              <a:prstGeom prst="ellipse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endParaRPr lang="zh-CN" altLang="en-US"/>
              </a:p>
            </p:txBody>
          </p:sp>
          <p:sp>
            <p:nvSpPr>
              <p:cNvPr id="15413" name="Rectangle 177"/>
              <p:cNvSpPr>
                <a:spLocks noChangeArrowheads="1"/>
              </p:cNvSpPr>
              <p:nvPr/>
            </p:nvSpPr>
            <p:spPr bwMode="auto">
              <a:xfrm rot="-1904286">
                <a:off x="2638" y="3261"/>
                <a:ext cx="47" cy="48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endParaRPr lang="zh-CN" altLang="en-US"/>
              </a:p>
            </p:txBody>
          </p:sp>
          <p:sp>
            <p:nvSpPr>
              <p:cNvPr id="15414" name="Rectangle 178"/>
              <p:cNvSpPr>
                <a:spLocks noChangeArrowheads="1"/>
              </p:cNvSpPr>
              <p:nvPr/>
            </p:nvSpPr>
            <p:spPr bwMode="auto">
              <a:xfrm rot="-1904286">
                <a:off x="2970" y="2891"/>
                <a:ext cx="99" cy="251"/>
              </a:xfrm>
              <a:prstGeom prst="rect">
                <a:avLst/>
              </a:prstGeom>
              <a:solidFill>
                <a:schemeClr val="folHlink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endParaRPr lang="zh-CN" altLang="en-US"/>
              </a:p>
            </p:txBody>
          </p:sp>
          <p:sp>
            <p:nvSpPr>
              <p:cNvPr id="15415" name="Line 179"/>
              <p:cNvSpPr>
                <a:spLocks noChangeAspect="1" noChangeShapeType="1"/>
              </p:cNvSpPr>
              <p:nvPr/>
            </p:nvSpPr>
            <p:spPr bwMode="auto">
              <a:xfrm rot="-1904286">
                <a:off x="3043" y="3150"/>
                <a:ext cx="0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16" name="Line 180"/>
              <p:cNvSpPr>
                <a:spLocks noChangeAspect="1" noChangeShapeType="1"/>
              </p:cNvSpPr>
              <p:nvPr/>
            </p:nvSpPr>
            <p:spPr bwMode="auto">
              <a:xfrm rot="-1904286">
                <a:off x="3043" y="3150"/>
                <a:ext cx="0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17" name="Rectangle 181"/>
              <p:cNvSpPr>
                <a:spLocks noChangeArrowheads="1"/>
              </p:cNvSpPr>
              <p:nvPr/>
            </p:nvSpPr>
            <p:spPr bwMode="auto">
              <a:xfrm rot="-1904286">
                <a:off x="2955" y="3008"/>
                <a:ext cx="48" cy="8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endParaRPr lang="zh-CN" altLang="en-US"/>
              </a:p>
            </p:txBody>
          </p:sp>
          <p:sp>
            <p:nvSpPr>
              <p:cNvPr id="15418" name="Text Box 182"/>
              <p:cNvSpPr txBox="1">
                <a:spLocks noChangeArrowheads="1"/>
              </p:cNvSpPr>
              <p:nvPr/>
            </p:nvSpPr>
            <p:spPr bwMode="auto">
              <a:xfrm>
                <a:off x="2968" y="2709"/>
                <a:ext cx="21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 cap="sq">
                    <a:solidFill>
                      <a:srgbClr val="000000"/>
                    </a:solidFill>
                    <a:miter lim="800000"/>
                    <a:headEnd/>
                    <a:tailEnd type="none" w="sm" len="lg"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000" i="1"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15419" name="Oval 183"/>
              <p:cNvSpPr>
                <a:spLocks noChangeArrowheads="1"/>
              </p:cNvSpPr>
              <p:nvPr/>
            </p:nvSpPr>
            <p:spPr bwMode="auto">
              <a:xfrm>
                <a:off x="2768" y="3540"/>
                <a:ext cx="48" cy="48"/>
              </a:xfrm>
              <a:prstGeom prst="ellipse">
                <a:avLst/>
              </a:prstGeom>
              <a:solidFill>
                <a:srgbClr val="FFFFFF"/>
              </a:solidFill>
              <a:ln w="12700" cap="sq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endParaRPr lang="zh-CN" altLang="en-US"/>
              </a:p>
            </p:txBody>
          </p:sp>
          <p:sp>
            <p:nvSpPr>
              <p:cNvPr id="15420" name="Oval 185"/>
              <p:cNvSpPr>
                <a:spLocks noChangeArrowheads="1"/>
              </p:cNvSpPr>
              <p:nvPr/>
            </p:nvSpPr>
            <p:spPr bwMode="auto">
              <a:xfrm rot="-1904286">
                <a:off x="2917" y="3819"/>
                <a:ext cx="96" cy="96"/>
              </a:xfrm>
              <a:prstGeom prst="ellipse">
                <a:avLst/>
              </a:prstGeom>
              <a:solidFill>
                <a:schemeClr val="folHlink"/>
              </a:solidFill>
              <a:ln w="12700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endParaRPr lang="zh-CN" altLang="en-US"/>
              </a:p>
            </p:txBody>
          </p:sp>
          <p:sp>
            <p:nvSpPr>
              <p:cNvPr id="15421" name="Rectangle 186"/>
              <p:cNvSpPr>
                <a:spLocks noChangeArrowheads="1"/>
              </p:cNvSpPr>
              <p:nvPr/>
            </p:nvSpPr>
            <p:spPr bwMode="auto">
              <a:xfrm rot="-1904286">
                <a:off x="2900" y="3764"/>
                <a:ext cx="83" cy="12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kumimoji="1" lang="zh-CN" altLang="zh-CN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422" name="Oval 187"/>
              <p:cNvSpPr>
                <a:spLocks noChangeArrowheads="1"/>
              </p:cNvSpPr>
              <p:nvPr/>
            </p:nvSpPr>
            <p:spPr bwMode="auto">
              <a:xfrm>
                <a:off x="2937" y="3837"/>
                <a:ext cx="48" cy="48"/>
              </a:xfrm>
              <a:prstGeom prst="ellipse">
                <a:avLst/>
              </a:prstGeom>
              <a:solidFill>
                <a:srgbClr val="F8F8F8"/>
              </a:solidFill>
              <a:ln w="12700" cap="sq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endParaRPr lang="zh-CN" altLang="en-US"/>
              </a:p>
            </p:txBody>
          </p:sp>
        </p:grpSp>
        <p:grpSp>
          <p:nvGrpSpPr>
            <p:cNvPr id="15399" name="Group 195"/>
            <p:cNvGrpSpPr>
              <a:grpSpLocks/>
            </p:cNvGrpSpPr>
            <p:nvPr/>
          </p:nvGrpSpPr>
          <p:grpSpPr bwMode="auto">
            <a:xfrm>
              <a:off x="2397" y="2984"/>
              <a:ext cx="1092" cy="835"/>
              <a:chOff x="1420" y="3022"/>
              <a:chExt cx="1092" cy="835"/>
            </a:xfrm>
          </p:grpSpPr>
          <p:sp>
            <p:nvSpPr>
              <p:cNvPr id="15400" name="Text Box 159"/>
              <p:cNvSpPr txBox="1">
                <a:spLocks noChangeArrowheads="1"/>
              </p:cNvSpPr>
              <p:nvPr/>
            </p:nvSpPr>
            <p:spPr bwMode="auto">
              <a:xfrm>
                <a:off x="1420" y="3366"/>
                <a:ext cx="23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 cap="sq">
                    <a:solidFill>
                      <a:srgbClr val="000000"/>
                    </a:solidFill>
                    <a:miter lim="800000"/>
                    <a:headEnd/>
                    <a:tailEnd type="none" w="sm" len="lg"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000" i="1" dirty="0">
                    <a:latin typeface="Times New Roman" panose="02020603050405020304" pitchFamily="18" charset="0"/>
                  </a:rPr>
                  <a:t>O</a:t>
                </a:r>
              </a:p>
            </p:txBody>
          </p:sp>
          <p:sp>
            <p:nvSpPr>
              <p:cNvPr id="15401" name="Text Box 160"/>
              <p:cNvSpPr txBox="1">
                <a:spLocks noChangeArrowheads="1"/>
              </p:cNvSpPr>
              <p:nvPr/>
            </p:nvSpPr>
            <p:spPr bwMode="auto">
              <a:xfrm>
                <a:off x="1874" y="3315"/>
                <a:ext cx="21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 cap="sq">
                    <a:solidFill>
                      <a:srgbClr val="000000"/>
                    </a:solidFill>
                    <a:miter lim="800000"/>
                    <a:headEnd/>
                    <a:tailEnd type="none" w="sm" len="lg"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000" i="1">
                    <a:latin typeface="Times New Roman" panose="02020603050405020304" pitchFamily="18" charset="0"/>
                    <a:sym typeface="Symbol" panose="05050102010706020507" pitchFamily="18" charset="2"/>
                  </a:rPr>
                  <a:t></a:t>
                </a:r>
                <a:endParaRPr kumimoji="1" lang="en-US" altLang="zh-CN" sz="20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402" name="Arc 161"/>
              <p:cNvSpPr>
                <a:spLocks/>
              </p:cNvSpPr>
              <p:nvPr/>
            </p:nvSpPr>
            <p:spPr bwMode="auto">
              <a:xfrm rot="1496635">
                <a:off x="1821" y="3438"/>
                <a:ext cx="96" cy="9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12700" cap="sq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03" name="Line 162"/>
              <p:cNvSpPr>
                <a:spLocks noChangeShapeType="1"/>
              </p:cNvSpPr>
              <p:nvPr/>
            </p:nvSpPr>
            <p:spPr bwMode="auto">
              <a:xfrm flipV="1">
                <a:off x="1610" y="3561"/>
                <a:ext cx="672" cy="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04" name="Line 163"/>
              <p:cNvSpPr>
                <a:spLocks noChangeShapeType="1"/>
              </p:cNvSpPr>
              <p:nvPr/>
            </p:nvSpPr>
            <p:spPr bwMode="auto">
              <a:xfrm>
                <a:off x="1621" y="3564"/>
                <a:ext cx="792" cy="29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Dot"/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05" name="Arc 166"/>
              <p:cNvSpPr>
                <a:spLocks/>
              </p:cNvSpPr>
              <p:nvPr/>
            </p:nvSpPr>
            <p:spPr bwMode="auto">
              <a:xfrm rot="1945472">
                <a:off x="1858" y="3566"/>
                <a:ext cx="48" cy="89"/>
              </a:xfrm>
              <a:custGeom>
                <a:avLst/>
                <a:gdLst>
                  <a:gd name="T0" fmla="*/ 0 w 21502"/>
                  <a:gd name="T1" fmla="*/ 0 h 19973"/>
                  <a:gd name="T2" fmla="*/ 0 w 21502"/>
                  <a:gd name="T3" fmla="*/ 0 h 19973"/>
                  <a:gd name="T4" fmla="*/ 0 w 21502"/>
                  <a:gd name="T5" fmla="*/ 0 h 19973"/>
                  <a:gd name="T6" fmla="*/ 0 60000 65536"/>
                  <a:gd name="T7" fmla="*/ 0 60000 65536"/>
                  <a:gd name="T8" fmla="*/ 0 60000 65536"/>
                  <a:gd name="T9" fmla="*/ 0 w 21502"/>
                  <a:gd name="T10" fmla="*/ 0 h 19973"/>
                  <a:gd name="T11" fmla="*/ 21502 w 21502"/>
                  <a:gd name="T12" fmla="*/ 19973 h 1997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502" h="19973" fill="none" extrusionOk="0">
                    <a:moveTo>
                      <a:pt x="8224" y="-1"/>
                    </a:moveTo>
                    <a:cubicBezTo>
                      <a:pt x="15630" y="3049"/>
                      <a:pt x="20741" y="9947"/>
                      <a:pt x="21502" y="17921"/>
                    </a:cubicBezTo>
                  </a:path>
                  <a:path w="21502" h="19973" stroke="0" extrusionOk="0">
                    <a:moveTo>
                      <a:pt x="8224" y="-1"/>
                    </a:moveTo>
                    <a:cubicBezTo>
                      <a:pt x="15630" y="3049"/>
                      <a:pt x="20741" y="9947"/>
                      <a:pt x="21502" y="17921"/>
                    </a:cubicBezTo>
                    <a:lnTo>
                      <a:pt x="0" y="19973"/>
                    </a:lnTo>
                    <a:lnTo>
                      <a:pt x="8224" y="-1"/>
                    </a:lnTo>
                    <a:close/>
                  </a:path>
                </a:pathLst>
              </a:custGeom>
              <a:noFill/>
              <a:ln w="12700" cap="sq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06" name="Text Box 167"/>
              <p:cNvSpPr txBox="1">
                <a:spLocks noChangeArrowheads="1"/>
              </p:cNvSpPr>
              <p:nvPr/>
            </p:nvSpPr>
            <p:spPr bwMode="auto">
              <a:xfrm flipH="1">
                <a:off x="1783" y="3478"/>
                <a:ext cx="368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 cap="sq">
                    <a:solidFill>
                      <a:srgbClr val="000000"/>
                    </a:solidFill>
                    <a:miter lim="800000"/>
                    <a:headEnd/>
                    <a:tailEnd type="none" w="sm" len="lg"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000" i="1" dirty="0">
                    <a:latin typeface="Times New Roman" panose="02020603050405020304" pitchFamily="18" charset="0"/>
                    <a:sym typeface="Symbol" panose="05050102010706020507" pitchFamily="18" charset="2"/>
                  </a:rPr>
                  <a:t></a:t>
                </a:r>
                <a:endParaRPr kumimoji="1" lang="en-US" altLang="zh-CN" sz="2000" i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407" name="Line 168"/>
              <p:cNvSpPr>
                <a:spLocks noChangeShapeType="1"/>
              </p:cNvSpPr>
              <p:nvPr/>
            </p:nvSpPr>
            <p:spPr bwMode="auto">
              <a:xfrm rot="21504265" flipV="1">
                <a:off x="1610" y="3022"/>
                <a:ext cx="902" cy="52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3" name="Group 201"/>
          <p:cNvGrpSpPr>
            <a:grpSpLocks/>
          </p:cNvGrpSpPr>
          <p:nvPr/>
        </p:nvGrpSpPr>
        <p:grpSpPr bwMode="auto">
          <a:xfrm>
            <a:off x="7319302" y="3928967"/>
            <a:ext cx="979487" cy="654050"/>
            <a:chOff x="4077" y="2840"/>
            <a:chExt cx="617" cy="412"/>
          </a:xfrm>
        </p:grpSpPr>
        <p:sp>
          <p:nvSpPr>
            <p:cNvPr id="15394" name="Line 192"/>
            <p:cNvSpPr>
              <a:spLocks noChangeShapeType="1"/>
            </p:cNvSpPr>
            <p:nvPr/>
          </p:nvSpPr>
          <p:spPr bwMode="auto">
            <a:xfrm flipH="1">
              <a:off x="4077" y="2997"/>
              <a:ext cx="413" cy="255"/>
            </a:xfrm>
            <a:prstGeom prst="line">
              <a:avLst/>
            </a:prstGeom>
            <a:noFill/>
            <a:ln w="31750" cap="sq">
              <a:solidFill>
                <a:srgbClr val="FF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95" name="Text Box 197"/>
            <p:cNvSpPr txBox="1">
              <a:spLocks noChangeArrowheads="1"/>
            </p:cNvSpPr>
            <p:nvPr/>
          </p:nvSpPr>
          <p:spPr bwMode="auto">
            <a:xfrm>
              <a:off x="4150" y="2840"/>
              <a:ext cx="5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</p:grpSp>
      <p:grpSp>
        <p:nvGrpSpPr>
          <p:cNvPr id="14" name="Group 200"/>
          <p:cNvGrpSpPr>
            <a:grpSpLocks/>
          </p:cNvGrpSpPr>
          <p:nvPr/>
        </p:nvGrpSpPr>
        <p:grpSpPr bwMode="auto">
          <a:xfrm>
            <a:off x="6951002" y="4957667"/>
            <a:ext cx="1081087" cy="504825"/>
            <a:chOff x="3061" y="3067"/>
            <a:chExt cx="681" cy="318"/>
          </a:xfrm>
        </p:grpSpPr>
        <p:sp>
          <p:nvSpPr>
            <p:cNvPr id="15392" name="Line 190"/>
            <p:cNvSpPr>
              <a:spLocks noChangeShapeType="1"/>
            </p:cNvSpPr>
            <p:nvPr/>
          </p:nvSpPr>
          <p:spPr bwMode="auto">
            <a:xfrm>
              <a:off x="3061" y="3385"/>
              <a:ext cx="461" cy="0"/>
            </a:xfrm>
            <a:prstGeom prst="line">
              <a:avLst/>
            </a:prstGeom>
            <a:noFill/>
            <a:ln w="31750" cap="sq">
              <a:solidFill>
                <a:srgbClr val="FF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93" name="Text Box 198"/>
            <p:cNvSpPr txBox="1">
              <a:spLocks noChangeArrowheads="1"/>
            </p:cNvSpPr>
            <p:nvPr/>
          </p:nvSpPr>
          <p:spPr bwMode="auto">
            <a:xfrm>
              <a:off x="3198" y="3067"/>
              <a:ext cx="5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F</a:t>
              </a:r>
              <a:r>
                <a:rPr kumimoji="1" lang="en-US" altLang="zh-CN" sz="2400" b="1" i="1" baseline="-25000">
                  <a:solidFill>
                    <a:srgbClr val="FF0000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15" name="Group 202"/>
          <p:cNvGrpSpPr>
            <a:grpSpLocks/>
          </p:cNvGrpSpPr>
          <p:nvPr/>
        </p:nvGrpSpPr>
        <p:grpSpPr bwMode="auto">
          <a:xfrm>
            <a:off x="5935002" y="5630767"/>
            <a:ext cx="1208087" cy="457200"/>
            <a:chOff x="3470" y="3793"/>
            <a:chExt cx="761" cy="288"/>
          </a:xfrm>
        </p:grpSpPr>
        <p:sp>
          <p:nvSpPr>
            <p:cNvPr id="15390" name="Line 165"/>
            <p:cNvSpPr>
              <a:spLocks noChangeShapeType="1"/>
            </p:cNvSpPr>
            <p:nvPr/>
          </p:nvSpPr>
          <p:spPr bwMode="auto">
            <a:xfrm flipH="1" flipV="1">
              <a:off x="3833" y="3838"/>
              <a:ext cx="398" cy="149"/>
            </a:xfrm>
            <a:prstGeom prst="line">
              <a:avLst/>
            </a:prstGeom>
            <a:noFill/>
            <a:ln w="31750" cap="sq">
              <a:solidFill>
                <a:srgbClr val="FF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91" name="Text Box 199"/>
            <p:cNvSpPr txBox="1">
              <a:spLocks noChangeArrowheads="1"/>
            </p:cNvSpPr>
            <p:nvPr/>
          </p:nvSpPr>
          <p:spPr bwMode="auto">
            <a:xfrm>
              <a:off x="3470" y="3793"/>
              <a:ext cx="5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F</a:t>
              </a:r>
              <a:r>
                <a:rPr kumimoji="1" lang="en-US" altLang="zh-CN" sz="2400" b="1" i="1" baseline="-25000">
                  <a:solidFill>
                    <a:srgbClr val="FF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</p:grpSp>
      <p:sp>
        <p:nvSpPr>
          <p:cNvPr id="15371" name="Text Box 217"/>
          <p:cNvSpPr txBox="1">
            <a:spLocks noChangeArrowheads="1"/>
          </p:cNvSpPr>
          <p:nvPr/>
        </p:nvSpPr>
        <p:spPr bwMode="auto">
          <a:xfrm>
            <a:off x="6077877" y="5719667"/>
            <a:ext cx="184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 cap="sq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1600">
              <a:latin typeface="Times New Roman" panose="02020603050405020304" pitchFamily="18" charset="0"/>
            </a:endParaRPr>
          </a:p>
        </p:txBody>
      </p:sp>
      <p:grpSp>
        <p:nvGrpSpPr>
          <p:cNvPr id="16" name="Group 219"/>
          <p:cNvGrpSpPr>
            <a:grpSpLocks/>
          </p:cNvGrpSpPr>
          <p:nvPr/>
        </p:nvGrpSpPr>
        <p:grpSpPr bwMode="auto">
          <a:xfrm>
            <a:off x="1274391" y="5087844"/>
            <a:ext cx="1804987" cy="1169988"/>
            <a:chOff x="3840" y="2951"/>
            <a:chExt cx="1137" cy="737"/>
          </a:xfrm>
        </p:grpSpPr>
        <p:sp>
          <p:nvSpPr>
            <p:cNvPr id="15380" name="Text Box 205"/>
            <p:cNvSpPr txBox="1">
              <a:spLocks noChangeArrowheads="1"/>
            </p:cNvSpPr>
            <p:nvPr/>
          </p:nvSpPr>
          <p:spPr bwMode="auto">
            <a:xfrm>
              <a:off x="4450" y="2951"/>
              <a:ext cx="29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 b="1" i="1">
                  <a:latin typeface="Times New Roman" panose="02020603050405020304" pitchFamily="18" charset="0"/>
                </a:rPr>
                <a:t>F</a:t>
              </a:r>
              <a:r>
                <a:rPr kumimoji="1" lang="en-US" altLang="zh-CN" sz="2000" b="1" i="1" baseline="-25000">
                  <a:latin typeface="Times New Roman" panose="02020603050405020304" pitchFamily="18" charset="0"/>
                </a:rPr>
                <a:t>D</a:t>
              </a:r>
              <a:endParaRPr kumimoji="1" lang="en-US" altLang="zh-CN" sz="2000" b="1" i="1">
                <a:latin typeface="Times New Roman" panose="02020603050405020304" pitchFamily="18" charset="0"/>
              </a:endParaRPr>
            </a:p>
          </p:txBody>
        </p:sp>
        <p:sp>
          <p:nvSpPr>
            <p:cNvPr id="15381" name="Line 207"/>
            <p:cNvSpPr>
              <a:spLocks noChangeShapeType="1"/>
            </p:cNvSpPr>
            <p:nvPr/>
          </p:nvSpPr>
          <p:spPr bwMode="auto">
            <a:xfrm flipH="1" flipV="1">
              <a:off x="4266" y="3064"/>
              <a:ext cx="706" cy="372"/>
            </a:xfrm>
            <a:prstGeom prst="line">
              <a:avLst/>
            </a:prstGeom>
            <a:noFill/>
            <a:ln w="31750" cap="sq">
              <a:solidFill>
                <a:srgbClr val="FF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2" name="Line 208"/>
            <p:cNvSpPr>
              <a:spLocks noChangeShapeType="1"/>
            </p:cNvSpPr>
            <p:nvPr/>
          </p:nvSpPr>
          <p:spPr bwMode="auto">
            <a:xfrm>
              <a:off x="3856" y="3454"/>
              <a:ext cx="1121" cy="0"/>
            </a:xfrm>
            <a:prstGeom prst="line">
              <a:avLst/>
            </a:prstGeom>
            <a:noFill/>
            <a:ln w="31750" cap="sq">
              <a:solidFill>
                <a:srgbClr val="FF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3" name="Text Box 209"/>
            <p:cNvSpPr txBox="1">
              <a:spLocks noChangeArrowheads="1"/>
            </p:cNvSpPr>
            <p:nvPr/>
          </p:nvSpPr>
          <p:spPr bwMode="auto">
            <a:xfrm>
              <a:off x="4231" y="3438"/>
              <a:ext cx="28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 b="1" i="1" dirty="0">
                  <a:latin typeface="Times New Roman" panose="02020603050405020304" pitchFamily="18" charset="0"/>
                </a:rPr>
                <a:t>F</a:t>
              </a:r>
              <a:r>
                <a:rPr kumimoji="1" lang="en-US" altLang="zh-CN" sz="2000" i="1" baseline="-25000" dirty="0">
                  <a:latin typeface="Times New Roman" panose="02020603050405020304" pitchFamily="18" charset="0"/>
                </a:rPr>
                <a:t>B</a:t>
              </a:r>
              <a:endParaRPr kumimoji="1" lang="en-US" altLang="zh-CN" sz="2000" b="1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15384" name="Line 210"/>
            <p:cNvSpPr>
              <a:spLocks noChangeShapeType="1"/>
            </p:cNvSpPr>
            <p:nvPr/>
          </p:nvSpPr>
          <p:spPr bwMode="auto">
            <a:xfrm flipH="1">
              <a:off x="3840" y="3072"/>
              <a:ext cx="442" cy="383"/>
            </a:xfrm>
            <a:prstGeom prst="line">
              <a:avLst/>
            </a:prstGeom>
            <a:noFill/>
            <a:ln w="31750" cap="sq">
              <a:solidFill>
                <a:srgbClr val="FF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5" name="Arc 213"/>
            <p:cNvSpPr>
              <a:spLocks/>
            </p:cNvSpPr>
            <p:nvPr/>
          </p:nvSpPr>
          <p:spPr bwMode="auto">
            <a:xfrm rot="2007923">
              <a:off x="3995" y="3319"/>
              <a:ext cx="77" cy="10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 cap="sq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6" name="Arc 214"/>
            <p:cNvSpPr>
              <a:spLocks/>
            </p:cNvSpPr>
            <p:nvPr/>
          </p:nvSpPr>
          <p:spPr bwMode="auto">
            <a:xfrm rot="19592077" flipH="1">
              <a:off x="4713" y="3338"/>
              <a:ext cx="74" cy="108"/>
            </a:xfrm>
            <a:custGeom>
              <a:avLst/>
              <a:gdLst>
                <a:gd name="T0" fmla="*/ 0 w 20821"/>
                <a:gd name="T1" fmla="*/ 0 h 21600"/>
                <a:gd name="T2" fmla="*/ 0 w 20821"/>
                <a:gd name="T3" fmla="*/ 0 h 21600"/>
                <a:gd name="T4" fmla="*/ 0 w 20821"/>
                <a:gd name="T5" fmla="*/ 0 h 21600"/>
                <a:gd name="T6" fmla="*/ 0 60000 65536"/>
                <a:gd name="T7" fmla="*/ 0 60000 65536"/>
                <a:gd name="T8" fmla="*/ 0 60000 65536"/>
                <a:gd name="T9" fmla="*/ 0 w 20821"/>
                <a:gd name="T10" fmla="*/ 0 h 21600"/>
                <a:gd name="T11" fmla="*/ 20821 w 20821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821" h="21600" fill="none" extrusionOk="0">
                  <a:moveTo>
                    <a:pt x="-1" y="0"/>
                  </a:moveTo>
                  <a:cubicBezTo>
                    <a:pt x="9715" y="0"/>
                    <a:pt x="18235" y="6486"/>
                    <a:pt x="20820" y="15851"/>
                  </a:cubicBezTo>
                </a:path>
                <a:path w="20821" h="21600" stroke="0" extrusionOk="0">
                  <a:moveTo>
                    <a:pt x="-1" y="0"/>
                  </a:moveTo>
                  <a:cubicBezTo>
                    <a:pt x="9715" y="0"/>
                    <a:pt x="18235" y="6486"/>
                    <a:pt x="20820" y="15851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 cap="sq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7" name="Text Box 215"/>
            <p:cNvSpPr txBox="1">
              <a:spLocks noChangeArrowheads="1"/>
            </p:cNvSpPr>
            <p:nvPr/>
          </p:nvSpPr>
          <p:spPr bwMode="auto">
            <a:xfrm>
              <a:off x="4027" y="3228"/>
              <a:ext cx="20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endParaRPr kumimoji="1" lang="en-US" altLang="zh-CN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15388" name="Text Box 216"/>
            <p:cNvSpPr txBox="1">
              <a:spLocks noChangeArrowheads="1"/>
            </p:cNvSpPr>
            <p:nvPr/>
          </p:nvSpPr>
          <p:spPr bwMode="auto">
            <a:xfrm>
              <a:off x="4519" y="3219"/>
              <a:ext cx="20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</a:t>
              </a:r>
              <a:endParaRPr kumimoji="1" lang="en-US" altLang="zh-CN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15389" name="Text Box 218"/>
            <p:cNvSpPr txBox="1">
              <a:spLocks noChangeArrowheads="1"/>
            </p:cNvSpPr>
            <p:nvPr/>
          </p:nvSpPr>
          <p:spPr bwMode="auto">
            <a:xfrm>
              <a:off x="3913" y="2987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 b="1" i="1" dirty="0">
                  <a:latin typeface="Times New Roman" panose="02020603050405020304" pitchFamily="18" charset="0"/>
                </a:rPr>
                <a:t>F</a:t>
              </a:r>
            </a:p>
          </p:txBody>
        </p:sp>
      </p:grpSp>
      <p:sp>
        <p:nvSpPr>
          <p:cNvPr id="31964" name="Text Box 220"/>
          <p:cNvSpPr txBox="1">
            <a:spLocks noChangeArrowheads="1"/>
          </p:cNvSpPr>
          <p:nvPr/>
        </p:nvSpPr>
        <p:spPr bwMode="auto">
          <a:xfrm>
            <a:off x="1652587" y="2389591"/>
            <a:ext cx="2484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 cap="sq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4. 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由几何关系得</a:t>
            </a:r>
          </a:p>
        </p:txBody>
      </p:sp>
      <p:graphicFrame>
        <p:nvGraphicFramePr>
          <p:cNvPr id="31965" name="Object 2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7256419"/>
              </p:ext>
            </p:extLst>
          </p:nvPr>
        </p:nvGraphicFramePr>
        <p:xfrm>
          <a:off x="1793875" y="2894415"/>
          <a:ext cx="2274070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0" name="公式" r:id="rId3" imgW="1247775" imgH="161925" progId="Equation.3">
                  <p:embed/>
                </p:oleObj>
              </mc:Choice>
              <mc:Fallback>
                <p:oleObj name="公式" r:id="rId3" imgW="1247775" imgH="16192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75" y="2894415"/>
                        <a:ext cx="2274070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66" name="Object 2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2317023"/>
              </p:ext>
            </p:extLst>
          </p:nvPr>
        </p:nvGraphicFramePr>
        <p:xfrm>
          <a:off x="882208" y="3382106"/>
          <a:ext cx="3194189" cy="7546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1" name="公式" r:id="rId5" imgW="1514475" imgH="371475" progId="Equation.3">
                  <p:embed/>
                </p:oleObj>
              </mc:Choice>
              <mc:Fallback>
                <p:oleObj name="公式" r:id="rId5" imgW="1514475" imgH="37147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2208" y="3382106"/>
                        <a:ext cx="3194189" cy="7546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67" name="Object 2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7978224"/>
              </p:ext>
            </p:extLst>
          </p:nvPr>
        </p:nvGraphicFramePr>
        <p:xfrm>
          <a:off x="4148847" y="3344783"/>
          <a:ext cx="3097213" cy="858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2" name="Equation" r:id="rId7" imgW="1400175" imgH="371475" progId="Equation.3">
                  <p:embed/>
                </p:oleObj>
              </mc:Choice>
              <mc:Fallback>
                <p:oleObj name="Equation" r:id="rId7" imgW="1400175" imgH="37147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8847" y="3344783"/>
                        <a:ext cx="3097213" cy="858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969" name="Object 2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5417842"/>
              </p:ext>
            </p:extLst>
          </p:nvPr>
        </p:nvGraphicFramePr>
        <p:xfrm>
          <a:off x="2351035" y="4322535"/>
          <a:ext cx="3266140" cy="855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3" name="Equation" r:id="rId9" imgW="1581150" imgH="400050" progId="Equation.3">
                  <p:embed/>
                </p:oleObj>
              </mc:Choice>
              <mc:Fallback>
                <p:oleObj name="Equation" r:id="rId9" imgW="1581150" imgH="4000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1035" y="4322535"/>
                        <a:ext cx="3266140" cy="8550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970" name="Rectangle 226"/>
          <p:cNvSpPr>
            <a:spLocks noChangeArrowheads="1"/>
          </p:cNvSpPr>
          <p:nvPr/>
        </p:nvSpPr>
        <p:spPr bwMode="auto">
          <a:xfrm>
            <a:off x="3523260" y="5545138"/>
            <a:ext cx="1800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kumimoji="1" lang="en-US" altLang="zh-CN" sz="2400" i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kumimoji="1" lang="en-US" altLang="zh-CN" sz="2400" i="1" baseline="-25000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1" lang="en-US" altLang="zh-CN" sz="2400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=750 N</a:t>
            </a:r>
            <a:endParaRPr kumimoji="1" lang="en-US" altLang="zh-CN" sz="24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78522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4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1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1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1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1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1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9" grpId="0" autoUpdateAnimBg="0"/>
      <p:bldP spid="31750" grpId="0" autoUpdateAnimBg="0"/>
      <p:bldP spid="31826" grpId="0" autoUpdateAnimBg="0"/>
      <p:bldP spid="31964" grpId="0" autoUpdateAnimBg="0"/>
      <p:bldP spid="31970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4"/>
          <p:cNvSpPr>
            <a:spLocks noChangeArrowheads="1"/>
          </p:cNvSpPr>
          <p:nvPr/>
        </p:nvSpPr>
        <p:spPr bwMode="auto">
          <a:xfrm>
            <a:off x="894389" y="463240"/>
            <a:ext cx="1008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zh-CN" altLang="en-US" sz="24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解</a:t>
            </a:r>
            <a:r>
              <a:rPr kumimoji="1" lang="en-US" altLang="zh-CN" sz="24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endParaRPr kumimoji="1" lang="en-US" altLang="zh-CN" sz="2400" dirty="0">
              <a:solidFill>
                <a:schemeClr val="accent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16387" name="Group 5"/>
          <p:cNvGrpSpPr>
            <a:grpSpLocks/>
          </p:cNvGrpSpPr>
          <p:nvPr/>
        </p:nvGrpSpPr>
        <p:grpSpPr bwMode="auto">
          <a:xfrm>
            <a:off x="5865080" y="445997"/>
            <a:ext cx="2159123" cy="2728209"/>
            <a:chOff x="2152" y="1987"/>
            <a:chExt cx="1034" cy="1284"/>
          </a:xfrm>
        </p:grpSpPr>
        <p:sp>
          <p:nvSpPr>
            <p:cNvPr id="16441" name="AutoShape 6"/>
            <p:cNvSpPr>
              <a:spLocks noChangeArrowheads="1"/>
            </p:cNvSpPr>
            <p:nvPr/>
          </p:nvSpPr>
          <p:spPr bwMode="auto">
            <a:xfrm rot="-20658">
              <a:off x="2479" y="3123"/>
              <a:ext cx="193" cy="95"/>
            </a:xfrm>
            <a:prstGeom prst="triangle">
              <a:avLst>
                <a:gd name="adj" fmla="val 50000"/>
              </a:avLst>
            </a:prstGeom>
            <a:noFill/>
            <a:ln w="12700" cap="sq">
              <a:solidFill>
                <a:schemeClr val="tx1"/>
              </a:solidFill>
              <a:miter lim="800000"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endParaRPr lang="zh-CN" altLang="en-US"/>
            </a:p>
          </p:txBody>
        </p:sp>
        <p:grpSp>
          <p:nvGrpSpPr>
            <p:cNvPr id="16442" name="Group 7"/>
            <p:cNvGrpSpPr>
              <a:grpSpLocks/>
            </p:cNvGrpSpPr>
            <p:nvPr/>
          </p:nvGrpSpPr>
          <p:grpSpPr bwMode="auto">
            <a:xfrm rot="-20658">
              <a:off x="2278" y="3223"/>
              <a:ext cx="542" cy="48"/>
              <a:chOff x="3264" y="1920"/>
              <a:chExt cx="542" cy="48"/>
            </a:xfrm>
          </p:grpSpPr>
          <p:sp>
            <p:nvSpPr>
              <p:cNvPr id="16501" name="Line 8"/>
              <p:cNvSpPr>
                <a:spLocks noChangeShapeType="1"/>
              </p:cNvSpPr>
              <p:nvPr/>
            </p:nvSpPr>
            <p:spPr bwMode="auto">
              <a:xfrm>
                <a:off x="3298" y="1920"/>
                <a:ext cx="508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6502" name="Group 9"/>
              <p:cNvGrpSpPr>
                <a:grpSpLocks/>
              </p:cNvGrpSpPr>
              <p:nvPr/>
            </p:nvGrpSpPr>
            <p:grpSpPr bwMode="auto">
              <a:xfrm>
                <a:off x="3264" y="1920"/>
                <a:ext cx="528" cy="48"/>
                <a:chOff x="3264" y="1920"/>
                <a:chExt cx="528" cy="48"/>
              </a:xfrm>
            </p:grpSpPr>
            <p:grpSp>
              <p:nvGrpSpPr>
                <p:cNvPr id="16503" name="Group 10"/>
                <p:cNvGrpSpPr>
                  <a:grpSpLocks/>
                </p:cNvGrpSpPr>
                <p:nvPr/>
              </p:nvGrpSpPr>
              <p:grpSpPr bwMode="auto">
                <a:xfrm>
                  <a:off x="3312" y="1920"/>
                  <a:ext cx="480" cy="48"/>
                  <a:chOff x="3312" y="1920"/>
                  <a:chExt cx="480" cy="48"/>
                </a:xfrm>
              </p:grpSpPr>
              <p:sp>
                <p:nvSpPr>
                  <p:cNvPr id="16505" name="Line 1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312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506" name="Line 1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360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507" name="Line 1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408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508" name="Line 1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456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509" name="Line 1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00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510" name="Line 1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48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511" name="Line 1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96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512" name="Line 1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744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513" name="Line 1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504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514" name="Line 2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552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6504" name="Line 21"/>
                <p:cNvSpPr>
                  <a:spLocks noChangeShapeType="1"/>
                </p:cNvSpPr>
                <p:nvPr/>
              </p:nvSpPr>
              <p:spPr bwMode="auto">
                <a:xfrm flipH="1">
                  <a:off x="3264" y="1920"/>
                  <a:ext cx="48" cy="4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16443" name="Rectangle 22"/>
            <p:cNvSpPr>
              <a:spLocks noChangeArrowheads="1"/>
            </p:cNvSpPr>
            <p:nvPr/>
          </p:nvSpPr>
          <p:spPr bwMode="auto">
            <a:xfrm rot="3475056">
              <a:off x="2363" y="2212"/>
              <a:ext cx="84" cy="425"/>
            </a:xfrm>
            <a:prstGeom prst="rect">
              <a:avLst/>
            </a:prstGeom>
            <a:solidFill>
              <a:schemeClr val="folHlink"/>
            </a:solidFill>
            <a:ln w="12700" cap="sq">
              <a:solidFill>
                <a:schemeClr val="tx1"/>
              </a:solidFill>
              <a:miter lim="800000"/>
              <a:headEnd/>
              <a:tailEnd type="none" w="sm" len="lg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endParaRPr lang="zh-CN" altLang="en-US"/>
            </a:p>
          </p:txBody>
        </p:sp>
        <p:sp>
          <p:nvSpPr>
            <p:cNvPr id="16444" name="Arc 23"/>
            <p:cNvSpPr>
              <a:spLocks noChangeAspect="1"/>
            </p:cNvSpPr>
            <p:nvPr/>
          </p:nvSpPr>
          <p:spPr bwMode="auto">
            <a:xfrm rot="10661407" flipV="1">
              <a:off x="2286" y="2536"/>
              <a:ext cx="54" cy="75"/>
            </a:xfrm>
            <a:custGeom>
              <a:avLst/>
              <a:gdLst>
                <a:gd name="T0" fmla="*/ 0 w 21600"/>
                <a:gd name="T1" fmla="*/ 0 h 32350"/>
                <a:gd name="T2" fmla="*/ 0 w 21600"/>
                <a:gd name="T3" fmla="*/ 0 h 32350"/>
                <a:gd name="T4" fmla="*/ 0 w 21600"/>
                <a:gd name="T5" fmla="*/ 0 h 32350"/>
                <a:gd name="T6" fmla="*/ 0 60000 65536"/>
                <a:gd name="T7" fmla="*/ 0 60000 65536"/>
                <a:gd name="T8" fmla="*/ 0 60000 65536"/>
                <a:gd name="T9" fmla="*/ 0 w 21600"/>
                <a:gd name="T10" fmla="*/ 0 h 32350"/>
                <a:gd name="T11" fmla="*/ 21600 w 21600"/>
                <a:gd name="T12" fmla="*/ 32350 h 3235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2350" fill="none" extrusionOk="0">
                  <a:moveTo>
                    <a:pt x="11617" y="0"/>
                  </a:moveTo>
                  <a:cubicBezTo>
                    <a:pt x="17836" y="3967"/>
                    <a:pt x="21600" y="10833"/>
                    <a:pt x="21600" y="18210"/>
                  </a:cubicBezTo>
                  <a:cubicBezTo>
                    <a:pt x="21600" y="23403"/>
                    <a:pt x="19728" y="28423"/>
                    <a:pt x="16328" y="32349"/>
                  </a:cubicBezTo>
                </a:path>
                <a:path w="21600" h="32350" stroke="0" extrusionOk="0">
                  <a:moveTo>
                    <a:pt x="11617" y="0"/>
                  </a:moveTo>
                  <a:cubicBezTo>
                    <a:pt x="17836" y="3967"/>
                    <a:pt x="21600" y="10833"/>
                    <a:pt x="21600" y="18210"/>
                  </a:cubicBezTo>
                  <a:cubicBezTo>
                    <a:pt x="21600" y="23403"/>
                    <a:pt x="19728" y="28423"/>
                    <a:pt x="16328" y="32349"/>
                  </a:cubicBezTo>
                  <a:lnTo>
                    <a:pt x="0" y="18210"/>
                  </a:lnTo>
                  <a:lnTo>
                    <a:pt x="11617" y="0"/>
                  </a:lnTo>
                  <a:close/>
                </a:path>
              </a:pathLst>
            </a:custGeom>
            <a:noFill/>
            <a:ln w="12700" cap="sq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45" name="Rectangle 24"/>
            <p:cNvSpPr>
              <a:spLocks noChangeArrowheads="1"/>
            </p:cNvSpPr>
            <p:nvPr/>
          </p:nvSpPr>
          <p:spPr bwMode="auto">
            <a:xfrm rot="-1924944">
              <a:off x="2357" y="2537"/>
              <a:ext cx="96" cy="647"/>
            </a:xfrm>
            <a:prstGeom prst="rect">
              <a:avLst/>
            </a:prstGeom>
            <a:solidFill>
              <a:schemeClr val="folHlink"/>
            </a:solidFill>
            <a:ln w="12700" cap="sq">
              <a:solidFill>
                <a:schemeClr val="tx1"/>
              </a:solidFill>
              <a:miter lim="800000"/>
              <a:headEnd/>
              <a:tailEnd type="none" w="sm" len="lg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endParaRPr lang="zh-CN" altLang="en-US"/>
            </a:p>
          </p:txBody>
        </p:sp>
        <p:sp>
          <p:nvSpPr>
            <p:cNvPr id="16446" name="Arc 25"/>
            <p:cNvSpPr>
              <a:spLocks noChangeAspect="1"/>
            </p:cNvSpPr>
            <p:nvPr/>
          </p:nvSpPr>
          <p:spPr bwMode="auto">
            <a:xfrm rot="8875056" flipV="1">
              <a:off x="2163" y="2504"/>
              <a:ext cx="104" cy="94"/>
            </a:xfrm>
            <a:custGeom>
              <a:avLst/>
              <a:gdLst>
                <a:gd name="T0" fmla="*/ 0 w 21600"/>
                <a:gd name="T1" fmla="*/ 0 h 21588"/>
                <a:gd name="T2" fmla="*/ 0 w 21600"/>
                <a:gd name="T3" fmla="*/ 0 h 21588"/>
                <a:gd name="T4" fmla="*/ 0 w 21600"/>
                <a:gd name="T5" fmla="*/ 0 h 21588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88"/>
                <a:gd name="T11" fmla="*/ 21600 w 21600"/>
                <a:gd name="T12" fmla="*/ 21588 h 21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88" fill="none" extrusionOk="0">
                  <a:moveTo>
                    <a:pt x="719" y="-1"/>
                  </a:moveTo>
                  <a:cubicBezTo>
                    <a:pt x="12362" y="387"/>
                    <a:pt x="21600" y="9938"/>
                    <a:pt x="21600" y="21588"/>
                  </a:cubicBezTo>
                </a:path>
                <a:path w="21600" h="21588" stroke="0" extrusionOk="0">
                  <a:moveTo>
                    <a:pt x="719" y="-1"/>
                  </a:moveTo>
                  <a:cubicBezTo>
                    <a:pt x="12362" y="387"/>
                    <a:pt x="21600" y="9938"/>
                    <a:pt x="21600" y="21588"/>
                  </a:cubicBezTo>
                  <a:lnTo>
                    <a:pt x="0" y="21588"/>
                  </a:lnTo>
                  <a:lnTo>
                    <a:pt x="719" y="-1"/>
                  </a:lnTo>
                  <a:close/>
                </a:path>
              </a:pathLst>
            </a:custGeom>
            <a:solidFill>
              <a:schemeClr val="folHlink"/>
            </a:solidFill>
            <a:ln w="12700" cap="sq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6447" name="Group 26"/>
            <p:cNvGrpSpPr>
              <a:grpSpLocks/>
            </p:cNvGrpSpPr>
            <p:nvPr/>
          </p:nvGrpSpPr>
          <p:grpSpPr bwMode="auto">
            <a:xfrm rot="-20658">
              <a:off x="2546" y="2152"/>
              <a:ext cx="114" cy="259"/>
              <a:chOff x="2863" y="1728"/>
              <a:chExt cx="114" cy="259"/>
            </a:xfrm>
          </p:grpSpPr>
          <p:sp>
            <p:nvSpPr>
              <p:cNvPr id="16497" name="Rectangle 27"/>
              <p:cNvSpPr>
                <a:spLocks noChangeArrowheads="1"/>
              </p:cNvSpPr>
              <p:nvPr/>
            </p:nvSpPr>
            <p:spPr bwMode="auto">
              <a:xfrm rot="-1904286">
                <a:off x="2878" y="1728"/>
                <a:ext cx="99" cy="251"/>
              </a:xfrm>
              <a:prstGeom prst="rect">
                <a:avLst/>
              </a:prstGeom>
              <a:solidFill>
                <a:schemeClr val="folHlink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endParaRPr lang="zh-CN" altLang="en-US"/>
              </a:p>
            </p:txBody>
          </p:sp>
          <p:sp>
            <p:nvSpPr>
              <p:cNvPr id="16498" name="Line 28"/>
              <p:cNvSpPr>
                <a:spLocks noChangeAspect="1" noChangeShapeType="1"/>
              </p:cNvSpPr>
              <p:nvPr/>
            </p:nvSpPr>
            <p:spPr bwMode="auto">
              <a:xfrm rot="-1904286">
                <a:off x="2951" y="1987"/>
                <a:ext cx="0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99" name="Line 29"/>
              <p:cNvSpPr>
                <a:spLocks noChangeAspect="1" noChangeShapeType="1"/>
              </p:cNvSpPr>
              <p:nvPr/>
            </p:nvSpPr>
            <p:spPr bwMode="auto">
              <a:xfrm rot="-1904286">
                <a:off x="2951" y="1987"/>
                <a:ext cx="0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500" name="Rectangle 30"/>
              <p:cNvSpPr>
                <a:spLocks noChangeArrowheads="1"/>
              </p:cNvSpPr>
              <p:nvPr/>
            </p:nvSpPr>
            <p:spPr bwMode="auto">
              <a:xfrm rot="-1904286">
                <a:off x="2863" y="1845"/>
                <a:ext cx="48" cy="8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endParaRPr lang="zh-CN" altLang="en-US"/>
              </a:p>
            </p:txBody>
          </p:sp>
        </p:grpSp>
        <p:sp>
          <p:nvSpPr>
            <p:cNvPr id="16448" name="Oval 31"/>
            <p:cNvSpPr>
              <a:spLocks noChangeArrowheads="1"/>
            </p:cNvSpPr>
            <p:nvPr/>
          </p:nvSpPr>
          <p:spPr bwMode="auto">
            <a:xfrm rot="-1924944">
              <a:off x="2521" y="3081"/>
              <a:ext cx="96" cy="96"/>
            </a:xfrm>
            <a:prstGeom prst="ellipse">
              <a:avLst/>
            </a:prstGeom>
            <a:solidFill>
              <a:srgbClr val="0099FF"/>
            </a:solidFill>
            <a:ln w="12700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endParaRPr lang="zh-CN" altLang="en-US"/>
            </a:p>
          </p:txBody>
        </p:sp>
        <p:sp>
          <p:nvSpPr>
            <p:cNvPr id="16449" name="Oval 32"/>
            <p:cNvSpPr>
              <a:spLocks noChangeArrowheads="1"/>
            </p:cNvSpPr>
            <p:nvPr/>
          </p:nvSpPr>
          <p:spPr bwMode="auto">
            <a:xfrm rot="193234">
              <a:off x="2239" y="2506"/>
              <a:ext cx="47" cy="126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endParaRPr lang="zh-CN" altLang="en-US"/>
            </a:p>
          </p:txBody>
        </p:sp>
        <p:sp>
          <p:nvSpPr>
            <p:cNvPr id="16450" name="Rectangle 33"/>
            <p:cNvSpPr>
              <a:spLocks noChangeArrowheads="1"/>
            </p:cNvSpPr>
            <p:nvPr/>
          </p:nvSpPr>
          <p:spPr bwMode="auto">
            <a:xfrm rot="-1924944">
              <a:off x="2239" y="2525"/>
              <a:ext cx="47" cy="48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endParaRPr lang="zh-CN" altLang="en-US"/>
            </a:p>
          </p:txBody>
        </p:sp>
        <p:sp>
          <p:nvSpPr>
            <p:cNvPr id="16451" name="AutoShape 34"/>
            <p:cNvSpPr>
              <a:spLocks noChangeArrowheads="1"/>
            </p:cNvSpPr>
            <p:nvPr/>
          </p:nvSpPr>
          <p:spPr bwMode="auto">
            <a:xfrm rot="-5400000">
              <a:off x="2531" y="2737"/>
              <a:ext cx="193" cy="95"/>
            </a:xfrm>
            <a:prstGeom prst="triangle">
              <a:avLst>
                <a:gd name="adj" fmla="val 50000"/>
              </a:avLst>
            </a:prstGeom>
            <a:noFill/>
            <a:ln w="12700" cap="sq">
              <a:solidFill>
                <a:schemeClr val="tx1"/>
              </a:solidFill>
              <a:miter lim="800000"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endParaRPr lang="zh-CN" altLang="en-US"/>
            </a:p>
          </p:txBody>
        </p:sp>
        <p:sp>
          <p:nvSpPr>
            <p:cNvPr id="16452" name="Line 35"/>
            <p:cNvSpPr>
              <a:spLocks noChangeShapeType="1"/>
            </p:cNvSpPr>
            <p:nvPr/>
          </p:nvSpPr>
          <p:spPr bwMode="auto">
            <a:xfrm rot="-5400000">
              <a:off x="2422" y="2785"/>
              <a:ext cx="508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6453" name="Group 36"/>
            <p:cNvGrpSpPr>
              <a:grpSpLocks/>
            </p:cNvGrpSpPr>
            <p:nvPr/>
          </p:nvGrpSpPr>
          <p:grpSpPr bwMode="auto">
            <a:xfrm rot="-5400000">
              <a:off x="2436" y="2785"/>
              <a:ext cx="528" cy="48"/>
              <a:chOff x="3264" y="1920"/>
              <a:chExt cx="528" cy="48"/>
            </a:xfrm>
          </p:grpSpPr>
          <p:grpSp>
            <p:nvGrpSpPr>
              <p:cNvPr id="16485" name="Group 37"/>
              <p:cNvGrpSpPr>
                <a:grpSpLocks/>
              </p:cNvGrpSpPr>
              <p:nvPr/>
            </p:nvGrpSpPr>
            <p:grpSpPr bwMode="auto">
              <a:xfrm>
                <a:off x="3312" y="1920"/>
                <a:ext cx="480" cy="48"/>
                <a:chOff x="3312" y="1920"/>
                <a:chExt cx="480" cy="48"/>
              </a:xfrm>
            </p:grpSpPr>
            <p:sp>
              <p:nvSpPr>
                <p:cNvPr id="16487" name="Line 38"/>
                <p:cNvSpPr>
                  <a:spLocks noChangeShapeType="1"/>
                </p:cNvSpPr>
                <p:nvPr/>
              </p:nvSpPr>
              <p:spPr bwMode="auto">
                <a:xfrm flipH="1">
                  <a:off x="3312" y="1920"/>
                  <a:ext cx="48" cy="4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488" name="Line 39"/>
                <p:cNvSpPr>
                  <a:spLocks noChangeShapeType="1"/>
                </p:cNvSpPr>
                <p:nvPr/>
              </p:nvSpPr>
              <p:spPr bwMode="auto">
                <a:xfrm flipH="1">
                  <a:off x="3360" y="1920"/>
                  <a:ext cx="48" cy="4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489" name="Line 40"/>
                <p:cNvSpPr>
                  <a:spLocks noChangeShapeType="1"/>
                </p:cNvSpPr>
                <p:nvPr/>
              </p:nvSpPr>
              <p:spPr bwMode="auto">
                <a:xfrm flipH="1">
                  <a:off x="3408" y="1920"/>
                  <a:ext cx="48" cy="4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490" name="Line 41"/>
                <p:cNvSpPr>
                  <a:spLocks noChangeShapeType="1"/>
                </p:cNvSpPr>
                <p:nvPr/>
              </p:nvSpPr>
              <p:spPr bwMode="auto">
                <a:xfrm flipH="1">
                  <a:off x="3456" y="1920"/>
                  <a:ext cx="48" cy="4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491" name="Line 42"/>
                <p:cNvSpPr>
                  <a:spLocks noChangeShapeType="1"/>
                </p:cNvSpPr>
                <p:nvPr/>
              </p:nvSpPr>
              <p:spPr bwMode="auto">
                <a:xfrm flipH="1">
                  <a:off x="3600" y="1920"/>
                  <a:ext cx="48" cy="4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492" name="Line 43"/>
                <p:cNvSpPr>
                  <a:spLocks noChangeShapeType="1"/>
                </p:cNvSpPr>
                <p:nvPr/>
              </p:nvSpPr>
              <p:spPr bwMode="auto">
                <a:xfrm flipH="1">
                  <a:off x="3648" y="1920"/>
                  <a:ext cx="48" cy="4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493" name="Line 44"/>
                <p:cNvSpPr>
                  <a:spLocks noChangeShapeType="1"/>
                </p:cNvSpPr>
                <p:nvPr/>
              </p:nvSpPr>
              <p:spPr bwMode="auto">
                <a:xfrm flipH="1">
                  <a:off x="3696" y="1920"/>
                  <a:ext cx="48" cy="4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494" name="Line 45"/>
                <p:cNvSpPr>
                  <a:spLocks noChangeShapeType="1"/>
                </p:cNvSpPr>
                <p:nvPr/>
              </p:nvSpPr>
              <p:spPr bwMode="auto">
                <a:xfrm flipH="1">
                  <a:off x="3744" y="1920"/>
                  <a:ext cx="48" cy="4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495" name="Line 46"/>
                <p:cNvSpPr>
                  <a:spLocks noChangeShapeType="1"/>
                </p:cNvSpPr>
                <p:nvPr/>
              </p:nvSpPr>
              <p:spPr bwMode="auto">
                <a:xfrm flipH="1">
                  <a:off x="3504" y="1920"/>
                  <a:ext cx="48" cy="4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496" name="Line 47"/>
                <p:cNvSpPr>
                  <a:spLocks noChangeShapeType="1"/>
                </p:cNvSpPr>
                <p:nvPr/>
              </p:nvSpPr>
              <p:spPr bwMode="auto">
                <a:xfrm flipH="1">
                  <a:off x="3552" y="1920"/>
                  <a:ext cx="48" cy="4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6486" name="Line 48"/>
              <p:cNvSpPr>
                <a:spLocks noChangeShapeType="1"/>
              </p:cNvSpPr>
              <p:nvPr/>
            </p:nvSpPr>
            <p:spPr bwMode="auto">
              <a:xfrm flipH="1">
                <a:off x="3264" y="1920"/>
                <a:ext cx="48" cy="4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6454" name="Oval 49"/>
            <p:cNvSpPr>
              <a:spLocks noChangeArrowheads="1"/>
            </p:cNvSpPr>
            <p:nvPr/>
          </p:nvSpPr>
          <p:spPr bwMode="auto">
            <a:xfrm>
              <a:off x="2539" y="3104"/>
              <a:ext cx="48" cy="48"/>
            </a:xfrm>
            <a:prstGeom prst="ellipse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endParaRPr lang="zh-CN" altLang="en-US"/>
            </a:p>
          </p:txBody>
        </p:sp>
        <p:grpSp>
          <p:nvGrpSpPr>
            <p:cNvPr id="16455" name="Group 50"/>
            <p:cNvGrpSpPr>
              <a:grpSpLocks/>
            </p:cNvGrpSpPr>
            <p:nvPr/>
          </p:nvGrpSpPr>
          <p:grpSpPr bwMode="auto">
            <a:xfrm>
              <a:off x="2342" y="2739"/>
              <a:ext cx="256" cy="96"/>
              <a:chOff x="945" y="2320"/>
              <a:chExt cx="256" cy="96"/>
            </a:xfrm>
          </p:grpSpPr>
          <p:sp>
            <p:nvSpPr>
              <p:cNvPr id="16480" name="Rectangle 51"/>
              <p:cNvSpPr>
                <a:spLocks noChangeArrowheads="1"/>
              </p:cNvSpPr>
              <p:nvPr/>
            </p:nvSpPr>
            <p:spPr bwMode="auto">
              <a:xfrm>
                <a:off x="968" y="2320"/>
                <a:ext cx="210" cy="96"/>
              </a:xfrm>
              <a:prstGeom prst="rect">
                <a:avLst/>
              </a:prstGeom>
              <a:solidFill>
                <a:srgbClr val="0099FF"/>
              </a:solidFill>
              <a:ln w="12700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endParaRPr lang="zh-CN" altLang="en-US"/>
              </a:p>
            </p:txBody>
          </p:sp>
          <p:sp>
            <p:nvSpPr>
              <p:cNvPr id="16481" name="Oval 52"/>
              <p:cNvSpPr>
                <a:spLocks noChangeArrowheads="1"/>
              </p:cNvSpPr>
              <p:nvPr/>
            </p:nvSpPr>
            <p:spPr bwMode="auto">
              <a:xfrm>
                <a:off x="945" y="2320"/>
                <a:ext cx="47" cy="96"/>
              </a:xfrm>
              <a:prstGeom prst="ellipse">
                <a:avLst/>
              </a:prstGeom>
              <a:solidFill>
                <a:srgbClr val="0099FF"/>
              </a:solidFill>
              <a:ln w="12700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endParaRPr lang="zh-CN" altLang="en-US"/>
              </a:p>
            </p:txBody>
          </p:sp>
          <p:sp>
            <p:nvSpPr>
              <p:cNvPr id="16482" name="Oval 53"/>
              <p:cNvSpPr>
                <a:spLocks noChangeArrowheads="1"/>
              </p:cNvSpPr>
              <p:nvPr/>
            </p:nvSpPr>
            <p:spPr bwMode="auto">
              <a:xfrm>
                <a:off x="1154" y="2320"/>
                <a:ext cx="47" cy="96"/>
              </a:xfrm>
              <a:prstGeom prst="ellipse">
                <a:avLst/>
              </a:prstGeom>
              <a:solidFill>
                <a:srgbClr val="0099FF"/>
              </a:solidFill>
              <a:ln w="12700" cap="sq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endParaRPr lang="zh-CN" altLang="en-US"/>
              </a:p>
            </p:txBody>
          </p:sp>
          <p:sp>
            <p:nvSpPr>
              <p:cNvPr id="16483" name="Rectangle 54"/>
              <p:cNvSpPr>
                <a:spLocks noChangeArrowheads="1"/>
              </p:cNvSpPr>
              <p:nvPr/>
            </p:nvSpPr>
            <p:spPr bwMode="auto">
              <a:xfrm>
                <a:off x="1154" y="2328"/>
                <a:ext cx="23" cy="79"/>
              </a:xfrm>
              <a:prstGeom prst="rect">
                <a:avLst/>
              </a:prstGeom>
              <a:solidFill>
                <a:srgbClr val="0099FF"/>
              </a:solidFill>
              <a:ln w="12700" cap="sq">
                <a:solidFill>
                  <a:srgbClr val="B2B2B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endParaRPr lang="zh-CN" altLang="en-US"/>
              </a:p>
            </p:txBody>
          </p:sp>
          <p:sp>
            <p:nvSpPr>
              <p:cNvPr id="16484" name="Rectangle 55"/>
              <p:cNvSpPr>
                <a:spLocks noChangeArrowheads="1"/>
              </p:cNvSpPr>
              <p:nvPr/>
            </p:nvSpPr>
            <p:spPr bwMode="auto">
              <a:xfrm>
                <a:off x="968" y="2329"/>
                <a:ext cx="23" cy="79"/>
              </a:xfrm>
              <a:prstGeom prst="rect">
                <a:avLst/>
              </a:prstGeom>
              <a:solidFill>
                <a:srgbClr val="0099FF"/>
              </a:solidFill>
              <a:ln w="12700" cap="sq">
                <a:solidFill>
                  <a:srgbClr val="B2B2B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endParaRPr lang="zh-CN" altLang="en-US"/>
              </a:p>
            </p:txBody>
          </p:sp>
        </p:grpSp>
        <p:sp>
          <p:nvSpPr>
            <p:cNvPr id="16456" name="Oval 56"/>
            <p:cNvSpPr>
              <a:spLocks noChangeArrowheads="1"/>
            </p:cNvSpPr>
            <p:nvPr/>
          </p:nvSpPr>
          <p:spPr bwMode="auto">
            <a:xfrm>
              <a:off x="2342" y="2763"/>
              <a:ext cx="48" cy="48"/>
            </a:xfrm>
            <a:prstGeom prst="ellipse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endParaRPr lang="zh-CN" altLang="en-US"/>
            </a:p>
          </p:txBody>
        </p:sp>
        <p:sp>
          <p:nvSpPr>
            <p:cNvPr id="16460" name="Line 60"/>
            <p:cNvSpPr>
              <a:spLocks noChangeShapeType="1"/>
            </p:cNvSpPr>
            <p:nvPr/>
          </p:nvSpPr>
          <p:spPr bwMode="auto">
            <a:xfrm>
              <a:off x="2631" y="2257"/>
              <a:ext cx="53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61" name="Line 61"/>
            <p:cNvSpPr>
              <a:spLocks noChangeShapeType="1"/>
            </p:cNvSpPr>
            <p:nvPr/>
          </p:nvSpPr>
          <p:spPr bwMode="auto">
            <a:xfrm>
              <a:off x="2677" y="2791"/>
              <a:ext cx="504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62" name="Line 62"/>
            <p:cNvSpPr>
              <a:spLocks noChangeShapeType="1"/>
            </p:cNvSpPr>
            <p:nvPr/>
          </p:nvSpPr>
          <p:spPr bwMode="auto">
            <a:xfrm>
              <a:off x="2547" y="3084"/>
              <a:ext cx="639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63" name="Line 63"/>
            <p:cNvSpPr>
              <a:spLocks noChangeShapeType="1"/>
            </p:cNvSpPr>
            <p:nvPr/>
          </p:nvSpPr>
          <p:spPr bwMode="auto">
            <a:xfrm>
              <a:off x="2941" y="2257"/>
              <a:ext cx="0" cy="529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64" name="Line 64"/>
            <p:cNvSpPr>
              <a:spLocks noChangeShapeType="1"/>
            </p:cNvSpPr>
            <p:nvPr/>
          </p:nvSpPr>
          <p:spPr bwMode="auto">
            <a:xfrm>
              <a:off x="2941" y="2786"/>
              <a:ext cx="0" cy="303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65" name="Line 65"/>
            <p:cNvSpPr>
              <a:spLocks noChangeShapeType="1"/>
            </p:cNvSpPr>
            <p:nvPr/>
          </p:nvSpPr>
          <p:spPr bwMode="auto">
            <a:xfrm flipH="1">
              <a:off x="2589" y="2022"/>
              <a:ext cx="413" cy="255"/>
            </a:xfrm>
            <a:prstGeom prst="line">
              <a:avLst/>
            </a:prstGeom>
            <a:noFill/>
            <a:ln w="31750" cap="sq">
              <a:solidFill>
                <a:srgbClr val="FF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66" name="Text Box 66"/>
            <p:cNvSpPr txBox="1">
              <a:spLocks noChangeArrowheads="1"/>
            </p:cNvSpPr>
            <p:nvPr/>
          </p:nvSpPr>
          <p:spPr bwMode="auto">
            <a:xfrm>
              <a:off x="2968" y="1987"/>
              <a:ext cx="169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 b="1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16467" name="Text Box 67"/>
            <p:cNvSpPr txBox="1">
              <a:spLocks noChangeArrowheads="1"/>
            </p:cNvSpPr>
            <p:nvPr/>
          </p:nvSpPr>
          <p:spPr bwMode="auto">
            <a:xfrm>
              <a:off x="2854" y="2067"/>
              <a:ext cx="165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 i="1" dirty="0">
                  <a:latin typeface="Times New Roman" panose="02020603050405020304" pitchFamily="18" charset="0"/>
                  <a:sym typeface="Symbol" panose="05050102010706020507" pitchFamily="18" charset="2"/>
                </a:rPr>
                <a:t></a:t>
              </a:r>
              <a:endParaRPr kumimoji="1" lang="en-US" altLang="zh-CN" sz="2000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16468" name="Text Box 68"/>
            <p:cNvSpPr txBox="1">
              <a:spLocks noChangeArrowheads="1"/>
            </p:cNvSpPr>
            <p:nvPr/>
          </p:nvSpPr>
          <p:spPr bwMode="auto">
            <a:xfrm>
              <a:off x="2902" y="2341"/>
              <a:ext cx="209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>
                  <a:latin typeface="Times New Roman" panose="02020603050405020304" pitchFamily="18" charset="0"/>
                </a:rPr>
                <a:t>24</a:t>
              </a:r>
            </a:p>
          </p:txBody>
        </p:sp>
        <p:sp>
          <p:nvSpPr>
            <p:cNvPr id="16469" name="Text Box 69"/>
            <p:cNvSpPr txBox="1">
              <a:spLocks noChangeArrowheads="1"/>
            </p:cNvSpPr>
            <p:nvPr/>
          </p:nvSpPr>
          <p:spPr bwMode="auto">
            <a:xfrm>
              <a:off x="2938" y="2833"/>
              <a:ext cx="149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6470" name="Text Box 70"/>
            <p:cNvSpPr txBox="1">
              <a:spLocks noChangeArrowheads="1"/>
            </p:cNvSpPr>
            <p:nvPr/>
          </p:nvSpPr>
          <p:spPr bwMode="auto">
            <a:xfrm>
              <a:off x="2358" y="2142"/>
              <a:ext cx="162" cy="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 i="1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6471" name="Text Box 71"/>
            <p:cNvSpPr txBox="1">
              <a:spLocks noChangeArrowheads="1"/>
            </p:cNvSpPr>
            <p:nvPr/>
          </p:nvSpPr>
          <p:spPr bwMode="auto">
            <a:xfrm>
              <a:off x="2429" y="2573"/>
              <a:ext cx="169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 i="1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6472" name="Text Box 72"/>
            <p:cNvSpPr txBox="1">
              <a:spLocks noChangeArrowheads="1"/>
            </p:cNvSpPr>
            <p:nvPr/>
          </p:nvSpPr>
          <p:spPr bwMode="auto">
            <a:xfrm>
              <a:off x="2169" y="2757"/>
              <a:ext cx="162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 i="1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6473" name="Text Box 73"/>
            <p:cNvSpPr txBox="1">
              <a:spLocks noChangeArrowheads="1"/>
            </p:cNvSpPr>
            <p:nvPr/>
          </p:nvSpPr>
          <p:spPr bwMode="auto">
            <a:xfrm>
              <a:off x="2152" y="3033"/>
              <a:ext cx="88" cy="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zh-CN" sz="1600">
                <a:latin typeface="Times New Roman" panose="02020603050405020304" pitchFamily="18" charset="0"/>
              </a:endParaRPr>
            </a:p>
          </p:txBody>
        </p:sp>
        <p:sp>
          <p:nvSpPr>
            <p:cNvPr id="16475" name="Arc 75"/>
            <p:cNvSpPr>
              <a:spLocks/>
            </p:cNvSpPr>
            <p:nvPr/>
          </p:nvSpPr>
          <p:spPr bwMode="auto">
            <a:xfrm rot="1496635">
              <a:off x="2797" y="2144"/>
              <a:ext cx="96" cy="9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 cap="sq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76" name="Line 76"/>
            <p:cNvSpPr>
              <a:spLocks noChangeShapeType="1"/>
            </p:cNvSpPr>
            <p:nvPr/>
          </p:nvSpPr>
          <p:spPr bwMode="auto">
            <a:xfrm>
              <a:off x="2569" y="2188"/>
              <a:ext cx="8" cy="10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77" name="Text Box 77"/>
            <p:cNvSpPr txBox="1">
              <a:spLocks noChangeArrowheads="1"/>
            </p:cNvSpPr>
            <p:nvPr/>
          </p:nvSpPr>
          <p:spPr bwMode="auto">
            <a:xfrm>
              <a:off x="2462" y="2809"/>
              <a:ext cx="88" cy="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kumimoji="1" lang="zh-CN" altLang="zh-CN" sz="2000" i="1">
                <a:latin typeface="Times New Roman" panose="02020603050405020304" pitchFamily="18" charset="0"/>
              </a:endParaRPr>
            </a:p>
          </p:txBody>
        </p:sp>
        <p:sp>
          <p:nvSpPr>
            <p:cNvPr id="16478" name="Rectangle 78"/>
            <p:cNvSpPr>
              <a:spLocks noChangeArrowheads="1"/>
            </p:cNvSpPr>
            <p:nvPr/>
          </p:nvSpPr>
          <p:spPr bwMode="auto">
            <a:xfrm>
              <a:off x="2349" y="3048"/>
              <a:ext cx="176" cy="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2000" i="1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6479" name="Oval 79"/>
            <p:cNvSpPr>
              <a:spLocks noChangeArrowheads="1"/>
            </p:cNvSpPr>
            <p:nvPr/>
          </p:nvSpPr>
          <p:spPr bwMode="auto">
            <a:xfrm rot="-5400000">
              <a:off x="2556" y="2761"/>
              <a:ext cx="48" cy="48"/>
            </a:xfrm>
            <a:prstGeom prst="ellipse">
              <a:avLst/>
            </a:prstGeom>
            <a:solidFill>
              <a:schemeClr val="bg1"/>
            </a:solidFill>
            <a:ln w="12700" cap="sq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endParaRPr lang="zh-CN" altLang="en-US"/>
            </a:p>
          </p:txBody>
        </p:sp>
      </p:grpSp>
      <p:sp>
        <p:nvSpPr>
          <p:cNvPr id="32848" name="Text Box 80"/>
          <p:cNvSpPr txBox="1">
            <a:spLocks noChangeArrowheads="1"/>
          </p:cNvSpPr>
          <p:nvPr/>
        </p:nvSpPr>
        <p:spPr bwMode="auto">
          <a:xfrm>
            <a:off x="1660278" y="445789"/>
            <a:ext cx="478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 cap="sq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1. 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取制动蹬</a:t>
            </a:r>
            <a:r>
              <a:rPr kumimoji="1" lang="en-US" altLang="zh-CN" sz="2400" i="1" dirty="0">
                <a:latin typeface="+mn-lt"/>
                <a:ea typeface="楷体" panose="02010609060101010101" pitchFamily="49" charset="-122"/>
              </a:rPr>
              <a:t>ABD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作为研究对象。</a:t>
            </a:r>
          </a:p>
        </p:txBody>
      </p:sp>
      <p:sp>
        <p:nvSpPr>
          <p:cNvPr id="32849" name="Text Box 81"/>
          <p:cNvSpPr txBox="1">
            <a:spLocks noChangeArrowheads="1"/>
          </p:cNvSpPr>
          <p:nvPr/>
        </p:nvSpPr>
        <p:spPr bwMode="auto">
          <a:xfrm>
            <a:off x="1610598" y="941945"/>
            <a:ext cx="2587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 cap="sq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2. 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画出受力图。</a:t>
            </a:r>
          </a:p>
        </p:txBody>
      </p:sp>
      <p:grpSp>
        <p:nvGrpSpPr>
          <p:cNvPr id="10" name="Group 119"/>
          <p:cNvGrpSpPr>
            <a:grpSpLocks/>
          </p:cNvGrpSpPr>
          <p:nvPr/>
        </p:nvGrpSpPr>
        <p:grpSpPr bwMode="auto">
          <a:xfrm>
            <a:off x="5232823" y="3790438"/>
            <a:ext cx="2792412" cy="2366962"/>
            <a:chOff x="3969" y="2371"/>
            <a:chExt cx="1759" cy="1491"/>
          </a:xfrm>
        </p:grpSpPr>
        <p:grpSp>
          <p:nvGrpSpPr>
            <p:cNvPr id="16404" name="Group 82"/>
            <p:cNvGrpSpPr>
              <a:grpSpLocks/>
            </p:cNvGrpSpPr>
            <p:nvPr/>
          </p:nvGrpSpPr>
          <p:grpSpPr bwMode="auto">
            <a:xfrm>
              <a:off x="3969" y="2478"/>
              <a:ext cx="1276" cy="1384"/>
              <a:chOff x="2360" y="2659"/>
              <a:chExt cx="1276" cy="1384"/>
            </a:xfrm>
          </p:grpSpPr>
          <p:sp>
            <p:nvSpPr>
              <p:cNvPr id="16414" name="Text Box 83"/>
              <p:cNvSpPr txBox="1">
                <a:spLocks noChangeArrowheads="1"/>
              </p:cNvSpPr>
              <p:nvPr/>
            </p:nvSpPr>
            <p:spPr bwMode="auto">
              <a:xfrm>
                <a:off x="3152" y="3793"/>
                <a:ext cx="23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 cap="sq">
                    <a:solidFill>
                      <a:srgbClr val="000000"/>
                    </a:solidFill>
                    <a:miter lim="800000"/>
                    <a:headEnd/>
                    <a:tailEnd type="none" w="sm" len="lg"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000" i="1"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16415" name="Text Box 84"/>
              <p:cNvSpPr txBox="1">
                <a:spLocks noChangeArrowheads="1"/>
              </p:cNvSpPr>
              <p:nvPr/>
            </p:nvSpPr>
            <p:spPr bwMode="auto">
              <a:xfrm>
                <a:off x="3238" y="3251"/>
                <a:ext cx="21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1750" cap="sq">
                    <a:solidFill>
                      <a:srgbClr val="000000"/>
                    </a:solidFill>
                    <a:miter lim="800000"/>
                    <a:headEnd/>
                    <a:tailEnd type="none" w="sm" len="lg"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2000" i="1">
                    <a:latin typeface="Times New Roman" panose="02020603050405020304" pitchFamily="18" charset="0"/>
                  </a:rPr>
                  <a:t>B</a:t>
                </a:r>
              </a:p>
            </p:txBody>
          </p:sp>
          <p:grpSp>
            <p:nvGrpSpPr>
              <p:cNvPr id="16416" name="Group 85"/>
              <p:cNvGrpSpPr>
                <a:grpSpLocks/>
              </p:cNvGrpSpPr>
              <p:nvPr/>
            </p:nvGrpSpPr>
            <p:grpSpPr bwMode="auto">
              <a:xfrm>
                <a:off x="3016" y="2659"/>
                <a:ext cx="620" cy="1212"/>
                <a:chOff x="2562" y="2709"/>
                <a:chExt cx="620" cy="1212"/>
              </a:xfrm>
            </p:grpSpPr>
            <p:sp>
              <p:nvSpPr>
                <p:cNvPr id="16426" name="Rectangle 86"/>
                <p:cNvSpPr>
                  <a:spLocks noChangeArrowheads="1"/>
                </p:cNvSpPr>
                <p:nvPr/>
              </p:nvSpPr>
              <p:spPr bwMode="auto">
                <a:xfrm rot="3495714">
                  <a:off x="2782" y="2937"/>
                  <a:ext cx="97" cy="434"/>
                </a:xfrm>
                <a:prstGeom prst="rect">
                  <a:avLst/>
                </a:prstGeom>
                <a:solidFill>
                  <a:schemeClr val="folHlink"/>
                </a:solidFill>
                <a:ln w="12700" cap="sq">
                  <a:solidFill>
                    <a:schemeClr val="tx1"/>
                  </a:solidFill>
                  <a:miter lim="800000"/>
                  <a:headEnd/>
                  <a:tailEnd type="none" w="sm" len="lg"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/>
                  <a:endParaRPr lang="zh-CN" altLang="en-US"/>
                </a:p>
              </p:txBody>
            </p:sp>
            <p:sp>
              <p:nvSpPr>
                <p:cNvPr id="16427" name="Arc 87"/>
                <p:cNvSpPr>
                  <a:spLocks noChangeAspect="1"/>
                </p:cNvSpPr>
                <p:nvPr/>
              </p:nvSpPr>
              <p:spPr bwMode="auto">
                <a:xfrm rot="10682065" flipV="1">
                  <a:off x="2693" y="3276"/>
                  <a:ext cx="54" cy="75"/>
                </a:xfrm>
                <a:custGeom>
                  <a:avLst/>
                  <a:gdLst>
                    <a:gd name="T0" fmla="*/ 0 w 21600"/>
                    <a:gd name="T1" fmla="*/ 0 h 32350"/>
                    <a:gd name="T2" fmla="*/ 0 w 21600"/>
                    <a:gd name="T3" fmla="*/ 0 h 32350"/>
                    <a:gd name="T4" fmla="*/ 0 w 21600"/>
                    <a:gd name="T5" fmla="*/ 0 h 3235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32350"/>
                    <a:gd name="T11" fmla="*/ 21600 w 21600"/>
                    <a:gd name="T12" fmla="*/ 32350 h 3235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32350" fill="none" extrusionOk="0">
                      <a:moveTo>
                        <a:pt x="11617" y="0"/>
                      </a:moveTo>
                      <a:cubicBezTo>
                        <a:pt x="17836" y="3967"/>
                        <a:pt x="21600" y="10833"/>
                        <a:pt x="21600" y="18210"/>
                      </a:cubicBezTo>
                      <a:cubicBezTo>
                        <a:pt x="21600" y="23403"/>
                        <a:pt x="19728" y="28423"/>
                        <a:pt x="16328" y="32349"/>
                      </a:cubicBezTo>
                    </a:path>
                    <a:path w="21600" h="32350" stroke="0" extrusionOk="0">
                      <a:moveTo>
                        <a:pt x="11617" y="0"/>
                      </a:moveTo>
                      <a:cubicBezTo>
                        <a:pt x="17836" y="3967"/>
                        <a:pt x="21600" y="10833"/>
                        <a:pt x="21600" y="18210"/>
                      </a:cubicBezTo>
                      <a:cubicBezTo>
                        <a:pt x="21600" y="23403"/>
                        <a:pt x="19728" y="28423"/>
                        <a:pt x="16328" y="32349"/>
                      </a:cubicBezTo>
                      <a:lnTo>
                        <a:pt x="0" y="18210"/>
                      </a:lnTo>
                      <a:lnTo>
                        <a:pt x="11617" y="0"/>
                      </a:lnTo>
                      <a:close/>
                    </a:path>
                  </a:pathLst>
                </a:custGeom>
                <a:noFill/>
                <a:ln w="12700" cap="sq">
                  <a:solidFill>
                    <a:schemeClr val="tx1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428" name="Rectangle 88"/>
                <p:cNvSpPr>
                  <a:spLocks noChangeArrowheads="1"/>
                </p:cNvSpPr>
                <p:nvPr/>
              </p:nvSpPr>
              <p:spPr bwMode="auto">
                <a:xfrm rot="-1904286">
                  <a:off x="2754" y="3274"/>
                  <a:ext cx="96" cy="647"/>
                </a:xfrm>
                <a:prstGeom prst="rect">
                  <a:avLst/>
                </a:prstGeom>
                <a:solidFill>
                  <a:schemeClr val="folHlink"/>
                </a:solidFill>
                <a:ln w="12700" cap="sq">
                  <a:solidFill>
                    <a:schemeClr val="tx1"/>
                  </a:solidFill>
                  <a:miter lim="800000"/>
                  <a:headEnd/>
                  <a:tailEnd type="none" w="sm" len="lg"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/>
                  <a:endParaRPr lang="zh-CN" altLang="en-US"/>
                </a:p>
              </p:txBody>
            </p:sp>
            <p:sp>
              <p:nvSpPr>
                <p:cNvPr id="16429" name="Arc 89"/>
                <p:cNvSpPr>
                  <a:spLocks noChangeAspect="1"/>
                </p:cNvSpPr>
                <p:nvPr/>
              </p:nvSpPr>
              <p:spPr bwMode="auto">
                <a:xfrm rot="8895714" flipV="1">
                  <a:off x="2562" y="3240"/>
                  <a:ext cx="104" cy="94"/>
                </a:xfrm>
                <a:custGeom>
                  <a:avLst/>
                  <a:gdLst>
                    <a:gd name="T0" fmla="*/ 0 w 21600"/>
                    <a:gd name="T1" fmla="*/ 0 h 21588"/>
                    <a:gd name="T2" fmla="*/ 0 w 21600"/>
                    <a:gd name="T3" fmla="*/ 0 h 21588"/>
                    <a:gd name="T4" fmla="*/ 0 w 21600"/>
                    <a:gd name="T5" fmla="*/ 0 h 21588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588"/>
                    <a:gd name="T11" fmla="*/ 21600 w 21600"/>
                    <a:gd name="T12" fmla="*/ 21588 h 2158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588" fill="none" extrusionOk="0">
                      <a:moveTo>
                        <a:pt x="719" y="-1"/>
                      </a:moveTo>
                      <a:cubicBezTo>
                        <a:pt x="12362" y="387"/>
                        <a:pt x="21600" y="9938"/>
                        <a:pt x="21600" y="21588"/>
                      </a:cubicBezTo>
                    </a:path>
                    <a:path w="21600" h="21588" stroke="0" extrusionOk="0">
                      <a:moveTo>
                        <a:pt x="719" y="-1"/>
                      </a:moveTo>
                      <a:cubicBezTo>
                        <a:pt x="12362" y="387"/>
                        <a:pt x="21600" y="9938"/>
                        <a:pt x="21600" y="21588"/>
                      </a:cubicBezTo>
                      <a:lnTo>
                        <a:pt x="0" y="21588"/>
                      </a:lnTo>
                      <a:lnTo>
                        <a:pt x="719" y="-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 w="12700" cap="sq">
                  <a:solidFill>
                    <a:schemeClr val="tx1"/>
                  </a:solidFill>
                  <a:round/>
                  <a:headEnd/>
                  <a:tailEnd type="none" w="sm" len="lg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430" name="Oval 90"/>
                <p:cNvSpPr>
                  <a:spLocks noChangeArrowheads="1"/>
                </p:cNvSpPr>
                <p:nvPr/>
              </p:nvSpPr>
              <p:spPr bwMode="auto">
                <a:xfrm rot="213892">
                  <a:off x="2638" y="3242"/>
                  <a:ext cx="47" cy="126"/>
                </a:xfrm>
                <a:prstGeom prst="ellipse">
                  <a:avLst/>
                </a:pr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sq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/>
                  <a:endParaRPr lang="zh-CN" altLang="en-US"/>
                </a:p>
              </p:txBody>
            </p:sp>
            <p:sp>
              <p:nvSpPr>
                <p:cNvPr id="16431" name="Rectangle 91"/>
                <p:cNvSpPr>
                  <a:spLocks noChangeArrowheads="1"/>
                </p:cNvSpPr>
                <p:nvPr/>
              </p:nvSpPr>
              <p:spPr bwMode="auto">
                <a:xfrm rot="-1904286">
                  <a:off x="2638" y="3261"/>
                  <a:ext cx="47" cy="48"/>
                </a:xfrm>
                <a:prstGeom prst="rect">
                  <a:avLst/>
                </a:pr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sq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/>
                  <a:endParaRPr lang="zh-CN" altLang="en-US"/>
                </a:p>
              </p:txBody>
            </p:sp>
            <p:sp>
              <p:nvSpPr>
                <p:cNvPr id="16432" name="Rectangle 92"/>
                <p:cNvSpPr>
                  <a:spLocks noChangeArrowheads="1"/>
                </p:cNvSpPr>
                <p:nvPr/>
              </p:nvSpPr>
              <p:spPr bwMode="auto">
                <a:xfrm rot="-1904286">
                  <a:off x="2970" y="2891"/>
                  <a:ext cx="99" cy="251"/>
                </a:xfrm>
                <a:prstGeom prst="rect">
                  <a:avLst/>
                </a:prstGeom>
                <a:solidFill>
                  <a:schemeClr val="folHlink"/>
                </a:solidFill>
                <a:ln w="12700" cap="sq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/>
                  <a:endParaRPr lang="zh-CN" altLang="en-US"/>
                </a:p>
              </p:txBody>
            </p:sp>
            <p:sp>
              <p:nvSpPr>
                <p:cNvPr id="16433" name="Line 93"/>
                <p:cNvSpPr>
                  <a:spLocks noChangeAspect="1" noChangeShapeType="1"/>
                </p:cNvSpPr>
                <p:nvPr/>
              </p:nvSpPr>
              <p:spPr bwMode="auto">
                <a:xfrm rot="-1904286">
                  <a:off x="3043" y="3150"/>
                  <a:ext cx="0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434" name="Line 94"/>
                <p:cNvSpPr>
                  <a:spLocks noChangeAspect="1" noChangeShapeType="1"/>
                </p:cNvSpPr>
                <p:nvPr/>
              </p:nvSpPr>
              <p:spPr bwMode="auto">
                <a:xfrm rot="-1904286">
                  <a:off x="3043" y="3150"/>
                  <a:ext cx="0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435" name="Rectangle 95"/>
                <p:cNvSpPr>
                  <a:spLocks noChangeArrowheads="1"/>
                </p:cNvSpPr>
                <p:nvPr/>
              </p:nvSpPr>
              <p:spPr bwMode="auto">
                <a:xfrm rot="-1904286">
                  <a:off x="2955" y="3008"/>
                  <a:ext cx="48" cy="82"/>
                </a:xfrm>
                <a:prstGeom prst="rect">
                  <a:avLst/>
                </a:pr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sq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/>
                  <a:endParaRPr lang="zh-CN" altLang="en-US"/>
                </a:p>
              </p:txBody>
            </p:sp>
            <p:sp>
              <p:nvSpPr>
                <p:cNvPr id="16436" name="Text Box 96"/>
                <p:cNvSpPr txBox="1">
                  <a:spLocks noChangeArrowheads="1"/>
                </p:cNvSpPr>
                <p:nvPr/>
              </p:nvSpPr>
              <p:spPr bwMode="auto">
                <a:xfrm>
                  <a:off x="2968" y="2709"/>
                  <a:ext cx="21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0" cap="sq">
                      <a:solidFill>
                        <a:srgbClr val="000000"/>
                      </a:solidFill>
                      <a:miter lim="800000"/>
                      <a:headEnd/>
                      <a:tailEnd type="none" w="sm" len="lg"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000" i="1">
                      <a:latin typeface="Times New Roman" panose="02020603050405020304" pitchFamily="18" charset="0"/>
                    </a:rPr>
                    <a:t>A</a:t>
                  </a:r>
                </a:p>
              </p:txBody>
            </p:sp>
            <p:sp>
              <p:nvSpPr>
                <p:cNvPr id="16437" name="Oval 97"/>
                <p:cNvSpPr>
                  <a:spLocks noChangeArrowheads="1"/>
                </p:cNvSpPr>
                <p:nvPr/>
              </p:nvSpPr>
              <p:spPr bwMode="auto">
                <a:xfrm>
                  <a:off x="2768" y="3540"/>
                  <a:ext cx="48" cy="48"/>
                </a:xfrm>
                <a:prstGeom prst="ellipse">
                  <a:avLst/>
                </a:prstGeom>
                <a:solidFill>
                  <a:srgbClr val="FFFFFF"/>
                </a:solidFill>
                <a:ln w="12700" cap="sq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/>
                  <a:endParaRPr lang="zh-CN" altLang="en-US"/>
                </a:p>
              </p:txBody>
            </p:sp>
            <p:sp>
              <p:nvSpPr>
                <p:cNvPr id="16438" name="Oval 98"/>
                <p:cNvSpPr>
                  <a:spLocks noChangeArrowheads="1"/>
                </p:cNvSpPr>
                <p:nvPr/>
              </p:nvSpPr>
              <p:spPr bwMode="auto">
                <a:xfrm rot="-1904286">
                  <a:off x="2917" y="3819"/>
                  <a:ext cx="96" cy="96"/>
                </a:xfrm>
                <a:prstGeom prst="ellipse">
                  <a:avLst/>
                </a:prstGeom>
                <a:solidFill>
                  <a:schemeClr val="folHlink"/>
                </a:solidFill>
                <a:ln w="12700" cap="sq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/>
                  <a:endParaRPr lang="zh-CN" altLang="en-US"/>
                </a:p>
              </p:txBody>
            </p:sp>
            <p:sp>
              <p:nvSpPr>
                <p:cNvPr id="16439" name="Rectangle 99"/>
                <p:cNvSpPr>
                  <a:spLocks noChangeArrowheads="1"/>
                </p:cNvSpPr>
                <p:nvPr/>
              </p:nvSpPr>
              <p:spPr bwMode="auto">
                <a:xfrm rot="-1904286">
                  <a:off x="2900" y="3764"/>
                  <a:ext cx="83" cy="120"/>
                </a:xfrm>
                <a:prstGeom prst="rect">
                  <a:avLst/>
                </a:pr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sq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kumimoji="1" lang="zh-CN" altLang="zh-CN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6440" name="Oval 100"/>
                <p:cNvSpPr>
                  <a:spLocks noChangeArrowheads="1"/>
                </p:cNvSpPr>
                <p:nvPr/>
              </p:nvSpPr>
              <p:spPr bwMode="auto">
                <a:xfrm>
                  <a:off x="2937" y="3837"/>
                  <a:ext cx="48" cy="48"/>
                </a:xfrm>
                <a:prstGeom prst="ellipse">
                  <a:avLst/>
                </a:prstGeom>
                <a:solidFill>
                  <a:srgbClr val="F8F8F8"/>
                </a:solidFill>
                <a:ln w="12700" cap="sq">
                  <a:solidFill>
                    <a:schemeClr val="tx1"/>
                  </a:solidFill>
                  <a:round/>
                  <a:headEnd/>
                  <a:tailEnd type="none" w="med" len="lg"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/>
                  <a:endParaRPr lang="zh-CN" altLang="en-US"/>
                </a:p>
              </p:txBody>
            </p:sp>
          </p:grpSp>
          <p:grpSp>
            <p:nvGrpSpPr>
              <p:cNvPr id="16417" name="Group 101"/>
              <p:cNvGrpSpPr>
                <a:grpSpLocks/>
              </p:cNvGrpSpPr>
              <p:nvPr/>
            </p:nvGrpSpPr>
            <p:grpSpPr bwMode="auto">
              <a:xfrm>
                <a:off x="2360" y="2984"/>
                <a:ext cx="1129" cy="835"/>
                <a:chOff x="1383" y="3022"/>
                <a:chExt cx="1129" cy="835"/>
              </a:xfrm>
            </p:grpSpPr>
            <p:sp>
              <p:nvSpPr>
                <p:cNvPr id="16418" name="Text Box 102"/>
                <p:cNvSpPr txBox="1">
                  <a:spLocks noChangeArrowheads="1"/>
                </p:cNvSpPr>
                <p:nvPr/>
              </p:nvSpPr>
              <p:spPr bwMode="auto">
                <a:xfrm>
                  <a:off x="1383" y="3385"/>
                  <a:ext cx="232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0" cap="sq">
                      <a:solidFill>
                        <a:srgbClr val="000000"/>
                      </a:solidFill>
                      <a:miter lim="800000"/>
                      <a:headEnd/>
                      <a:tailEnd type="none" w="sm" len="lg"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000" i="1">
                      <a:latin typeface="Times New Roman" panose="02020603050405020304" pitchFamily="18" charset="0"/>
                    </a:rPr>
                    <a:t>O</a:t>
                  </a:r>
                </a:p>
              </p:txBody>
            </p:sp>
            <p:sp>
              <p:nvSpPr>
                <p:cNvPr id="16419" name="Text Box 103"/>
                <p:cNvSpPr txBox="1">
                  <a:spLocks noChangeArrowheads="1"/>
                </p:cNvSpPr>
                <p:nvPr/>
              </p:nvSpPr>
              <p:spPr bwMode="auto">
                <a:xfrm>
                  <a:off x="1874" y="3315"/>
                  <a:ext cx="21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0" cap="sq">
                      <a:solidFill>
                        <a:srgbClr val="000000"/>
                      </a:solidFill>
                      <a:miter lim="800000"/>
                      <a:headEnd/>
                      <a:tailEnd type="none" w="sm" len="lg"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000" i="1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</a:t>
                  </a:r>
                  <a:endParaRPr kumimoji="1" lang="en-US" altLang="zh-CN" sz="2000" i="1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6420" name="Arc 104"/>
                <p:cNvSpPr>
                  <a:spLocks/>
                </p:cNvSpPr>
                <p:nvPr/>
              </p:nvSpPr>
              <p:spPr bwMode="auto">
                <a:xfrm rot="1496635">
                  <a:off x="1821" y="3438"/>
                  <a:ext cx="96" cy="96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12700" cap="sq">
                  <a:solidFill>
                    <a:schemeClr val="tx1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421" name="Line 105"/>
                <p:cNvSpPr>
                  <a:spLocks noChangeShapeType="1"/>
                </p:cNvSpPr>
                <p:nvPr/>
              </p:nvSpPr>
              <p:spPr bwMode="auto">
                <a:xfrm flipV="1">
                  <a:off x="1610" y="3561"/>
                  <a:ext cx="672" cy="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lgDash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422" name="Line 106"/>
                <p:cNvSpPr>
                  <a:spLocks noChangeShapeType="1"/>
                </p:cNvSpPr>
                <p:nvPr/>
              </p:nvSpPr>
              <p:spPr bwMode="auto">
                <a:xfrm>
                  <a:off x="1621" y="3564"/>
                  <a:ext cx="792" cy="293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lgDashDot"/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423" name="Arc 107"/>
                <p:cNvSpPr>
                  <a:spLocks/>
                </p:cNvSpPr>
                <p:nvPr/>
              </p:nvSpPr>
              <p:spPr bwMode="auto">
                <a:xfrm rot="1945472">
                  <a:off x="1858" y="3566"/>
                  <a:ext cx="48" cy="89"/>
                </a:xfrm>
                <a:custGeom>
                  <a:avLst/>
                  <a:gdLst>
                    <a:gd name="T0" fmla="*/ 0 w 21502"/>
                    <a:gd name="T1" fmla="*/ 0 h 19973"/>
                    <a:gd name="T2" fmla="*/ 0 w 21502"/>
                    <a:gd name="T3" fmla="*/ 0 h 19973"/>
                    <a:gd name="T4" fmla="*/ 0 w 21502"/>
                    <a:gd name="T5" fmla="*/ 0 h 19973"/>
                    <a:gd name="T6" fmla="*/ 0 60000 65536"/>
                    <a:gd name="T7" fmla="*/ 0 60000 65536"/>
                    <a:gd name="T8" fmla="*/ 0 60000 65536"/>
                    <a:gd name="T9" fmla="*/ 0 w 21502"/>
                    <a:gd name="T10" fmla="*/ 0 h 19973"/>
                    <a:gd name="T11" fmla="*/ 21502 w 21502"/>
                    <a:gd name="T12" fmla="*/ 19973 h 1997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502" h="19973" fill="none" extrusionOk="0">
                      <a:moveTo>
                        <a:pt x="8224" y="-1"/>
                      </a:moveTo>
                      <a:cubicBezTo>
                        <a:pt x="15630" y="3049"/>
                        <a:pt x="20741" y="9947"/>
                        <a:pt x="21502" y="17921"/>
                      </a:cubicBezTo>
                    </a:path>
                    <a:path w="21502" h="19973" stroke="0" extrusionOk="0">
                      <a:moveTo>
                        <a:pt x="8224" y="-1"/>
                      </a:moveTo>
                      <a:cubicBezTo>
                        <a:pt x="15630" y="3049"/>
                        <a:pt x="20741" y="9947"/>
                        <a:pt x="21502" y="17921"/>
                      </a:cubicBezTo>
                      <a:lnTo>
                        <a:pt x="0" y="19973"/>
                      </a:lnTo>
                      <a:lnTo>
                        <a:pt x="8224" y="-1"/>
                      </a:lnTo>
                      <a:close/>
                    </a:path>
                  </a:pathLst>
                </a:custGeom>
                <a:noFill/>
                <a:ln w="12700" cap="sq">
                  <a:solidFill>
                    <a:schemeClr val="tx1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424" name="Text Box 108"/>
                <p:cNvSpPr txBox="1">
                  <a:spLocks noChangeArrowheads="1"/>
                </p:cNvSpPr>
                <p:nvPr/>
              </p:nvSpPr>
              <p:spPr bwMode="auto">
                <a:xfrm flipH="1">
                  <a:off x="1783" y="3478"/>
                  <a:ext cx="368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1750" cap="sq">
                      <a:solidFill>
                        <a:srgbClr val="000000"/>
                      </a:solidFill>
                      <a:miter lim="800000"/>
                      <a:headEnd/>
                      <a:tailEnd type="none" w="sm" len="lg"/>
                    </a14:hiddenLine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2000" i="1" dirty="0">
                      <a:latin typeface="Times New Roman" panose="02020603050405020304" pitchFamily="18" charset="0"/>
                      <a:sym typeface="Symbol" panose="05050102010706020507" pitchFamily="18" charset="2"/>
                    </a:rPr>
                    <a:t></a:t>
                  </a:r>
                  <a:endParaRPr kumimoji="1" lang="en-US" altLang="zh-CN" sz="2000" i="1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6425" name="Line 109"/>
                <p:cNvSpPr>
                  <a:spLocks noChangeShapeType="1"/>
                </p:cNvSpPr>
                <p:nvPr/>
              </p:nvSpPr>
              <p:spPr bwMode="auto">
                <a:xfrm rot="21504265" flipV="1">
                  <a:off x="1610" y="3022"/>
                  <a:ext cx="902" cy="52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lgDash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6405" name="Group 110"/>
            <p:cNvGrpSpPr>
              <a:grpSpLocks/>
            </p:cNvGrpSpPr>
            <p:nvPr/>
          </p:nvGrpSpPr>
          <p:grpSpPr bwMode="auto">
            <a:xfrm>
              <a:off x="5111" y="2371"/>
              <a:ext cx="617" cy="412"/>
              <a:chOff x="4077" y="2840"/>
              <a:chExt cx="617" cy="412"/>
            </a:xfrm>
          </p:grpSpPr>
          <p:sp>
            <p:nvSpPr>
              <p:cNvPr id="16412" name="Line 111"/>
              <p:cNvSpPr>
                <a:spLocks noChangeShapeType="1"/>
              </p:cNvSpPr>
              <p:nvPr/>
            </p:nvSpPr>
            <p:spPr bwMode="auto">
              <a:xfrm flipH="1">
                <a:off x="4077" y="2997"/>
                <a:ext cx="413" cy="255"/>
              </a:xfrm>
              <a:prstGeom prst="line">
                <a:avLst/>
              </a:prstGeom>
              <a:noFill/>
              <a:ln w="31750" cap="sq">
                <a:solidFill>
                  <a:srgbClr val="FF33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13" name="Text Box 112"/>
              <p:cNvSpPr txBox="1">
                <a:spLocks noChangeArrowheads="1"/>
              </p:cNvSpPr>
              <p:nvPr/>
            </p:nvSpPr>
            <p:spPr bwMode="auto">
              <a:xfrm>
                <a:off x="4150" y="2840"/>
                <a:ext cx="54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b="1" i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F</a:t>
                </a:r>
              </a:p>
            </p:txBody>
          </p:sp>
        </p:grpSp>
        <p:grpSp>
          <p:nvGrpSpPr>
            <p:cNvPr id="16406" name="Group 113"/>
            <p:cNvGrpSpPr>
              <a:grpSpLocks/>
            </p:cNvGrpSpPr>
            <p:nvPr/>
          </p:nvGrpSpPr>
          <p:grpSpPr bwMode="auto">
            <a:xfrm>
              <a:off x="4865" y="3024"/>
              <a:ext cx="681" cy="318"/>
              <a:chOff x="3061" y="3067"/>
              <a:chExt cx="681" cy="318"/>
            </a:xfrm>
          </p:grpSpPr>
          <p:sp>
            <p:nvSpPr>
              <p:cNvPr id="16410" name="Line 114"/>
              <p:cNvSpPr>
                <a:spLocks noChangeShapeType="1"/>
              </p:cNvSpPr>
              <p:nvPr/>
            </p:nvSpPr>
            <p:spPr bwMode="auto">
              <a:xfrm>
                <a:off x="3061" y="3385"/>
                <a:ext cx="461" cy="0"/>
              </a:xfrm>
              <a:prstGeom prst="line">
                <a:avLst/>
              </a:prstGeom>
              <a:noFill/>
              <a:ln w="31750" cap="sq">
                <a:solidFill>
                  <a:srgbClr val="FF33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11" name="Text Box 115"/>
              <p:cNvSpPr txBox="1">
                <a:spLocks noChangeArrowheads="1"/>
              </p:cNvSpPr>
              <p:nvPr/>
            </p:nvSpPr>
            <p:spPr bwMode="auto">
              <a:xfrm>
                <a:off x="3198" y="3067"/>
                <a:ext cx="54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b="1" i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F</a:t>
                </a:r>
                <a:r>
                  <a:rPr kumimoji="1" lang="en-US" altLang="zh-CN" sz="2400" b="1" i="1" baseline="-250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B</a:t>
                </a:r>
              </a:p>
            </p:txBody>
          </p:sp>
        </p:grpSp>
        <p:grpSp>
          <p:nvGrpSpPr>
            <p:cNvPr id="16407" name="Group 116"/>
            <p:cNvGrpSpPr>
              <a:grpSpLocks/>
            </p:cNvGrpSpPr>
            <p:nvPr/>
          </p:nvGrpSpPr>
          <p:grpSpPr bwMode="auto">
            <a:xfrm>
              <a:off x="4235" y="3438"/>
              <a:ext cx="761" cy="288"/>
              <a:chOff x="3470" y="3793"/>
              <a:chExt cx="761" cy="288"/>
            </a:xfrm>
          </p:grpSpPr>
          <p:sp>
            <p:nvSpPr>
              <p:cNvPr id="16408" name="Line 117"/>
              <p:cNvSpPr>
                <a:spLocks noChangeShapeType="1"/>
              </p:cNvSpPr>
              <p:nvPr/>
            </p:nvSpPr>
            <p:spPr bwMode="auto">
              <a:xfrm flipH="1" flipV="1">
                <a:off x="3833" y="3838"/>
                <a:ext cx="398" cy="149"/>
              </a:xfrm>
              <a:prstGeom prst="line">
                <a:avLst/>
              </a:prstGeom>
              <a:noFill/>
              <a:ln w="31750" cap="sq">
                <a:solidFill>
                  <a:srgbClr val="FF33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409" name="Text Box 118"/>
              <p:cNvSpPr txBox="1">
                <a:spLocks noChangeArrowheads="1"/>
              </p:cNvSpPr>
              <p:nvPr/>
            </p:nvSpPr>
            <p:spPr bwMode="auto">
              <a:xfrm>
                <a:off x="3470" y="3793"/>
                <a:ext cx="54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400" b="1" i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F</a:t>
                </a:r>
                <a:r>
                  <a:rPr kumimoji="1" lang="en-US" altLang="zh-CN" sz="2400" b="1" i="1" baseline="-2500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D</a:t>
                </a:r>
              </a:p>
            </p:txBody>
          </p:sp>
        </p:grpSp>
      </p:grpSp>
      <p:grpSp>
        <p:nvGrpSpPr>
          <p:cNvPr id="17" name="Group 120"/>
          <p:cNvGrpSpPr>
            <a:grpSpLocks/>
          </p:cNvGrpSpPr>
          <p:nvPr/>
        </p:nvGrpSpPr>
        <p:grpSpPr bwMode="auto">
          <a:xfrm>
            <a:off x="5599535" y="3585650"/>
            <a:ext cx="2574925" cy="1752600"/>
            <a:chOff x="4028" y="1959"/>
            <a:chExt cx="1622" cy="1104"/>
          </a:xfrm>
        </p:grpSpPr>
        <p:sp>
          <p:nvSpPr>
            <p:cNvPr id="16400" name="Line 121"/>
            <p:cNvSpPr>
              <a:spLocks noChangeShapeType="1"/>
            </p:cNvSpPr>
            <p:nvPr/>
          </p:nvSpPr>
          <p:spPr bwMode="auto">
            <a:xfrm flipV="1">
              <a:off x="4028" y="2059"/>
              <a:ext cx="0" cy="1004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01" name="Line 122"/>
            <p:cNvSpPr>
              <a:spLocks noChangeShapeType="1"/>
            </p:cNvSpPr>
            <p:nvPr/>
          </p:nvSpPr>
          <p:spPr bwMode="auto">
            <a:xfrm flipV="1">
              <a:off x="4033" y="3057"/>
              <a:ext cx="1540" cy="3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stealth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02" name="Rectangle 123"/>
            <p:cNvSpPr>
              <a:spLocks noChangeArrowheads="1"/>
            </p:cNvSpPr>
            <p:nvPr/>
          </p:nvSpPr>
          <p:spPr bwMode="auto">
            <a:xfrm>
              <a:off x="4030" y="1959"/>
              <a:ext cx="18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kumimoji="1" lang="en-US" altLang="zh-CN" sz="2000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16403" name="Rectangle 124"/>
            <p:cNvSpPr>
              <a:spLocks noChangeArrowheads="1"/>
            </p:cNvSpPr>
            <p:nvPr/>
          </p:nvSpPr>
          <p:spPr bwMode="auto">
            <a:xfrm>
              <a:off x="5463" y="2798"/>
              <a:ext cx="18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kumimoji="1" lang="en-US" altLang="zh-CN" sz="2000" i="1">
                  <a:solidFill>
                    <a:schemeClr val="accent2"/>
                  </a:solidFill>
                  <a:latin typeface="Times New Roman" panose="02020603050405020304" pitchFamily="18" charset="0"/>
                </a:rPr>
                <a:t>x</a:t>
              </a:r>
            </a:p>
          </p:txBody>
        </p:sp>
      </p:grpSp>
      <p:sp>
        <p:nvSpPr>
          <p:cNvPr id="32893" name="Text Box 125"/>
          <p:cNvSpPr txBox="1">
            <a:spLocks noChangeArrowheads="1"/>
          </p:cNvSpPr>
          <p:nvPr/>
        </p:nvSpPr>
        <p:spPr bwMode="auto">
          <a:xfrm>
            <a:off x="1660278" y="1413598"/>
            <a:ext cx="2703513" cy="504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482600" indent="-482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kumimoji="1"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3. 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列平衡方程。</a:t>
            </a:r>
          </a:p>
        </p:txBody>
      </p:sp>
      <p:graphicFrame>
        <p:nvGraphicFramePr>
          <p:cNvPr id="32894" name="Object 1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8718043"/>
              </p:ext>
            </p:extLst>
          </p:nvPr>
        </p:nvGraphicFramePr>
        <p:xfrm>
          <a:off x="1077913" y="2054225"/>
          <a:ext cx="1065212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2" name="Equation" r:id="rId3" imgW="545760" imgH="228600" progId="Equation.DSMT4">
                  <p:embed/>
                </p:oleObj>
              </mc:Choice>
              <mc:Fallback>
                <p:oleObj name="Equation" r:id="rId3" imgW="5457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7913" y="2054225"/>
                        <a:ext cx="1065212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95" name="Object 1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1228848"/>
              </p:ext>
            </p:extLst>
          </p:nvPr>
        </p:nvGraphicFramePr>
        <p:xfrm>
          <a:off x="1660553" y="2525387"/>
          <a:ext cx="3529012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3" name="Equation" r:id="rId5" imgW="1933575" imgH="200025" progId="Equation.3">
                  <p:embed/>
                </p:oleObj>
              </mc:Choice>
              <mc:Fallback>
                <p:oleObj name="Equation" r:id="rId5" imgW="1933575" imgH="20002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0553" y="2525387"/>
                        <a:ext cx="3529012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96" name="Object 1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2725427"/>
              </p:ext>
            </p:extLst>
          </p:nvPr>
        </p:nvGraphicFramePr>
        <p:xfrm>
          <a:off x="1127125" y="3155950"/>
          <a:ext cx="1023938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4" name="Equation" r:id="rId7" imgW="558720" imgH="241200" progId="Equation.DSMT4">
                  <p:embed/>
                </p:oleObj>
              </mc:Choice>
              <mc:Fallback>
                <p:oleObj name="Equation" r:id="rId7" imgW="5587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7125" y="3155950"/>
                        <a:ext cx="1023938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97" name="Object 1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0392555"/>
              </p:ext>
            </p:extLst>
          </p:nvPr>
        </p:nvGraphicFramePr>
        <p:xfrm>
          <a:off x="2520446" y="3148941"/>
          <a:ext cx="31686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5" name="Equation" r:id="rId9" imgW="1476375" imgH="200025" progId="Equation.3">
                  <p:embed/>
                </p:oleObj>
              </mc:Choice>
              <mc:Fallback>
                <p:oleObj name="Equation" r:id="rId9" imgW="1476375" imgH="20002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0446" y="3148941"/>
                        <a:ext cx="31686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98" name="Object 1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6590726"/>
              </p:ext>
            </p:extLst>
          </p:nvPr>
        </p:nvGraphicFramePr>
        <p:xfrm>
          <a:off x="1147413" y="3852070"/>
          <a:ext cx="4405312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6" name="Equation" r:id="rId11" imgW="2038350" imgH="409575" progId="Equation.3">
                  <p:embed/>
                </p:oleObj>
              </mc:Choice>
              <mc:Fallback>
                <p:oleObj name="Equation" r:id="rId11" imgW="2038350" imgH="40957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7413" y="3852070"/>
                        <a:ext cx="4405312" cy="912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99" name="Object 1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3343860"/>
              </p:ext>
            </p:extLst>
          </p:nvPr>
        </p:nvGraphicFramePr>
        <p:xfrm>
          <a:off x="2052848" y="5008590"/>
          <a:ext cx="1719263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7" name="Equation" r:id="rId13" imgW="704850" imgH="200025" progId="Equation.3">
                  <p:embed/>
                </p:oleObj>
              </mc:Choice>
              <mc:Fallback>
                <p:oleObj name="Equation" r:id="rId13" imgW="704850" imgH="20002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2848" y="5008590"/>
                        <a:ext cx="1719263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" name="TextBox 129"/>
          <p:cNvSpPr txBox="1">
            <a:spLocks noChangeArrowheads="1"/>
          </p:cNvSpPr>
          <p:nvPr/>
        </p:nvSpPr>
        <p:spPr bwMode="auto">
          <a:xfrm>
            <a:off x="997823" y="5730363"/>
            <a:ext cx="42148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 dirty="0">
                <a:solidFill>
                  <a:srgbClr val="CC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问：若不用三力平衡汇交定理？</a:t>
            </a:r>
          </a:p>
        </p:txBody>
      </p:sp>
    </p:spTree>
    <p:extLst>
      <p:ext uri="{BB962C8B-B14F-4D97-AF65-F5344CB8AC3E}">
        <p14:creationId xmlns:p14="http://schemas.microsoft.com/office/powerpoint/2010/main" val="280373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2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2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2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2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2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893" grpId="0" autoUpdateAnimBg="0"/>
      <p:bldP spid="13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9" name="Text Box 5"/>
          <p:cNvSpPr txBox="1">
            <a:spLocks noChangeArrowheads="1"/>
          </p:cNvSpPr>
          <p:nvPr/>
        </p:nvSpPr>
        <p:spPr bwMode="auto">
          <a:xfrm>
            <a:off x="4034779" y="3384331"/>
            <a:ext cx="1403350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/>
          <a:lstStyle/>
          <a:p>
            <a:pPr algn="l"/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满载时，</a:t>
            </a:r>
          </a:p>
        </p:txBody>
      </p:sp>
      <p:graphicFrame>
        <p:nvGraphicFramePr>
          <p:cNvPr id="26727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7455863"/>
              </p:ext>
            </p:extLst>
          </p:nvPr>
        </p:nvGraphicFramePr>
        <p:xfrm>
          <a:off x="5467780" y="3415024"/>
          <a:ext cx="854174" cy="4474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6" name="Equation" r:id="rId3" imgW="444240" imgH="228600" progId="Equation.DSMT4">
                  <p:embed/>
                </p:oleObj>
              </mc:Choice>
              <mc:Fallback>
                <p:oleObj name="Equation" r:id="rId3" imgW="444240" imgH="228600" progId="Equation.DSMT4">
                  <p:embed/>
                  <p:pic>
                    <p:nvPicPr>
                      <p:cNvPr id="0" name="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7780" y="3415024"/>
                        <a:ext cx="854174" cy="4474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27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1621215"/>
              </p:ext>
            </p:extLst>
          </p:nvPr>
        </p:nvGraphicFramePr>
        <p:xfrm>
          <a:off x="4861095" y="3917666"/>
          <a:ext cx="2797134" cy="4138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7" name="Equation" r:id="rId5" imgW="1434960" imgH="228600" progId="Equation.3">
                  <p:embed/>
                </p:oleObj>
              </mc:Choice>
              <mc:Fallback>
                <p:oleObj name="Equation" r:id="rId5" imgW="143496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1095" y="3917666"/>
                        <a:ext cx="2797134" cy="4138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7282" name="Text Box 18"/>
          <p:cNvSpPr txBox="1">
            <a:spLocks noChangeArrowheads="1"/>
          </p:cNvSpPr>
          <p:nvPr/>
        </p:nvSpPr>
        <p:spPr bwMode="auto">
          <a:xfrm>
            <a:off x="611560" y="722409"/>
            <a:ext cx="730520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（1）起重机满载和空载时不翻倒时的平衡载重</a:t>
            </a:r>
            <a:r>
              <a:rPr lang="en-US" altLang="zh-CN" i="1" dirty="0">
                <a:latin typeface="+mn-lt"/>
                <a:ea typeface="楷体" panose="02010609060101010101" pitchFamily="49" charset="-122"/>
              </a:rPr>
              <a:t>P</a:t>
            </a:r>
            <a:r>
              <a:rPr lang="en-US" altLang="zh-CN" b="1" baseline="-25000" dirty="0">
                <a:latin typeface="+mn-lt"/>
                <a:ea typeface="楷体" panose="02010609060101010101" pitchFamily="49" charset="-122"/>
              </a:rPr>
              <a:t>3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</a:p>
        </p:txBody>
      </p:sp>
      <p:sp>
        <p:nvSpPr>
          <p:cNvPr id="267283" name="Text Box 19"/>
          <p:cNvSpPr txBox="1">
            <a:spLocks noChangeArrowheads="1"/>
          </p:cNvSpPr>
          <p:nvPr/>
        </p:nvSpPr>
        <p:spPr bwMode="auto">
          <a:xfrm>
            <a:off x="599510" y="1124477"/>
            <a:ext cx="720581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（2）</a:t>
            </a:r>
            <a:r>
              <a:rPr kumimoji="1" lang="en-US" altLang="zh-CN" sz="2400" i="1" dirty="0">
                <a:latin typeface="+mn-lt"/>
                <a:ea typeface="楷体" panose="02010609060101010101" pitchFamily="49" charset="-122"/>
              </a:rPr>
              <a:t>P</a:t>
            </a:r>
            <a:r>
              <a:rPr kumimoji="1" lang="en-US" altLang="zh-CN" sz="2400" baseline="-25000" dirty="0">
                <a:latin typeface="+mn-lt"/>
                <a:ea typeface="楷体" panose="02010609060101010101" pitchFamily="49" charset="-122"/>
              </a:rPr>
              <a:t>3</a:t>
            </a:r>
            <a:r>
              <a:rPr kumimoji="1" lang="en-US" altLang="zh-CN" sz="2400" b="1" dirty="0">
                <a:latin typeface="+mn-lt"/>
                <a:ea typeface="楷体" panose="02010609060101010101" pitchFamily="49" charset="-122"/>
              </a:rPr>
              <a:t>=</a:t>
            </a:r>
            <a:r>
              <a:rPr kumimoji="1" lang="en-US" altLang="zh-CN" sz="2400" dirty="0">
                <a:latin typeface="+mn-lt"/>
                <a:ea typeface="楷体" panose="02010609060101010101" pitchFamily="49" charset="-122"/>
              </a:rPr>
              <a:t>180kN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轨道</a:t>
            </a:r>
            <a:r>
              <a:rPr kumimoji="1" lang="en-US" altLang="zh-CN" sz="2400" i="1" dirty="0">
                <a:latin typeface="+mn-lt"/>
                <a:ea typeface="楷体" panose="02010609060101010101" pitchFamily="49" charset="-122"/>
              </a:rPr>
              <a:t>AB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给起重机轮子的约束力。</a:t>
            </a:r>
          </a:p>
        </p:txBody>
      </p:sp>
      <p:graphicFrame>
        <p:nvGraphicFramePr>
          <p:cNvPr id="267287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2437735"/>
              </p:ext>
            </p:extLst>
          </p:nvPr>
        </p:nvGraphicFramePr>
        <p:xfrm>
          <a:off x="4975865" y="4421836"/>
          <a:ext cx="1540352" cy="37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8" name="Equation" r:id="rId7" imgW="1536480" imgH="380880" progId="Equation.3">
                  <p:embed/>
                </p:oleObj>
              </mc:Choice>
              <mc:Fallback>
                <p:oleObj name="Equation" r:id="rId7" imgW="1536480" imgH="380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5865" y="4421836"/>
                        <a:ext cx="1540352" cy="37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7297" name="Text Box 33">
            <a:hlinkClick r:id="rId9" action="ppaction://hlinksldjump"/>
          </p:cNvPr>
          <p:cNvSpPr txBox="1">
            <a:spLocks noChangeArrowheads="1"/>
          </p:cNvSpPr>
          <p:nvPr/>
        </p:nvSpPr>
        <p:spPr bwMode="auto">
          <a:xfrm>
            <a:off x="4002996" y="1970786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空载时，</a:t>
            </a:r>
          </a:p>
        </p:txBody>
      </p:sp>
      <p:graphicFrame>
        <p:nvGraphicFramePr>
          <p:cNvPr id="267298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8339310"/>
              </p:ext>
            </p:extLst>
          </p:nvPr>
        </p:nvGraphicFramePr>
        <p:xfrm>
          <a:off x="5377494" y="2001729"/>
          <a:ext cx="882168" cy="4543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9" name="Equation" r:id="rId10" imgW="444240" imgH="228600" progId="Equation.DSMT4">
                  <p:embed/>
                </p:oleObj>
              </mc:Choice>
              <mc:Fallback>
                <p:oleObj name="Equation" r:id="rId10" imgW="444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7494" y="2001729"/>
                        <a:ext cx="882168" cy="4543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300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3856265"/>
              </p:ext>
            </p:extLst>
          </p:nvPr>
        </p:nvGraphicFramePr>
        <p:xfrm>
          <a:off x="4481062" y="4849688"/>
          <a:ext cx="2683225" cy="46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0" name="Equation" r:id="rId12" imgW="1231560" imgH="228600" progId="Equation.DSMT4">
                  <p:embed/>
                </p:oleObj>
              </mc:Choice>
              <mc:Fallback>
                <p:oleObj name="Equation" r:id="rId12" imgW="1231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1062" y="4849688"/>
                        <a:ext cx="2683225" cy="469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301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6087784"/>
              </p:ext>
            </p:extLst>
          </p:nvPr>
        </p:nvGraphicFramePr>
        <p:xfrm>
          <a:off x="4206875" y="2520950"/>
          <a:ext cx="1060450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1" name="Equation" r:id="rId14" imgW="622080" imgH="228600" progId="Equation.DSMT4">
                  <p:embed/>
                </p:oleObj>
              </mc:Choice>
              <mc:Fallback>
                <p:oleObj name="Equation" r:id="rId14" imgW="6220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6875" y="2520950"/>
                        <a:ext cx="1060450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303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9238330"/>
              </p:ext>
            </p:extLst>
          </p:nvPr>
        </p:nvGraphicFramePr>
        <p:xfrm>
          <a:off x="6024264" y="2505586"/>
          <a:ext cx="178106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2" name="Equation" r:id="rId16" imgW="1854000" imgH="380880" progId="Equation.3">
                  <p:embed/>
                </p:oleObj>
              </mc:Choice>
              <mc:Fallback>
                <p:oleObj name="Equation" r:id="rId16" imgW="1854000" imgH="380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4264" y="2505586"/>
                        <a:ext cx="178106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 Box 12"/>
          <p:cNvSpPr txBox="1">
            <a:spLocks noChangeArrowheads="1"/>
          </p:cNvSpPr>
          <p:nvPr/>
        </p:nvSpPr>
        <p:spPr bwMode="auto">
          <a:xfrm>
            <a:off x="464931" y="334899"/>
            <a:ext cx="590502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kumimoji="1"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已知：</a:t>
            </a:r>
            <a:r>
              <a:rPr kumimoji="1" lang="en-US" altLang="zh-CN" sz="2400" i="1" dirty="0">
                <a:latin typeface="+mn-lt"/>
                <a:ea typeface="楷体" panose="02010609060101010101" pitchFamily="49" charset="-122"/>
              </a:rPr>
              <a:t>P</a:t>
            </a:r>
            <a:r>
              <a:rPr kumimoji="1" lang="en-US" altLang="zh-CN" sz="2400" baseline="-25000" dirty="0">
                <a:latin typeface="+mn-lt"/>
                <a:ea typeface="楷体" panose="02010609060101010101" pitchFamily="49" charset="-122"/>
              </a:rPr>
              <a:t>1</a:t>
            </a:r>
            <a:r>
              <a:rPr kumimoji="1" lang="en-US" altLang="zh-CN" sz="2400" b="1" dirty="0">
                <a:latin typeface="+mn-lt"/>
                <a:ea typeface="楷体" panose="02010609060101010101" pitchFamily="49" charset="-122"/>
              </a:rPr>
              <a:t>=</a:t>
            </a:r>
            <a:r>
              <a:rPr kumimoji="1" lang="en-US" altLang="zh-CN" sz="2400" dirty="0">
                <a:latin typeface="+mn-lt"/>
                <a:ea typeface="楷体" panose="02010609060101010101" pitchFamily="49" charset="-122"/>
              </a:rPr>
              <a:t>700kN,</a:t>
            </a:r>
            <a:r>
              <a:rPr lang="en-US" altLang="zh-CN" dirty="0">
                <a:latin typeface="+mn-lt"/>
                <a:ea typeface="楷体" panose="02010609060101010101" pitchFamily="49" charset="-122"/>
              </a:rPr>
              <a:t> </a:t>
            </a:r>
            <a:r>
              <a:rPr lang="en-US" altLang="zh-CN" i="1" dirty="0">
                <a:latin typeface="+mn-lt"/>
                <a:ea typeface="楷体" panose="02010609060101010101" pitchFamily="49" charset="-122"/>
              </a:rPr>
              <a:t>P</a:t>
            </a:r>
            <a:r>
              <a:rPr lang="en-US" altLang="zh-CN" baseline="-25000" dirty="0">
                <a:latin typeface="+mn-lt"/>
                <a:ea typeface="楷体" panose="02010609060101010101" pitchFamily="49" charset="-122"/>
              </a:rPr>
              <a:t>2</a:t>
            </a:r>
            <a:r>
              <a:rPr lang="en-US" altLang="zh-CN" b="1" dirty="0">
                <a:latin typeface="+mn-lt"/>
                <a:ea typeface="楷体" panose="02010609060101010101" pitchFamily="49" charset="-122"/>
              </a:rPr>
              <a:t>=</a:t>
            </a:r>
            <a:r>
              <a:rPr lang="en-US" altLang="zh-CN" dirty="0">
                <a:latin typeface="+mn-lt"/>
                <a:ea typeface="楷体" panose="02010609060101010101" pitchFamily="49" charset="-122"/>
              </a:rPr>
              <a:t>200kN, </a:t>
            </a:r>
            <a:r>
              <a:rPr lang="en-US" altLang="zh-CN" i="1" dirty="0">
                <a:latin typeface="+mn-lt"/>
                <a:ea typeface="楷体" panose="02010609060101010101" pitchFamily="49" charset="-122"/>
              </a:rPr>
              <a:t>AB</a:t>
            </a:r>
            <a:r>
              <a:rPr lang="en-US" altLang="zh-CN" b="1" dirty="0">
                <a:latin typeface="+mn-lt"/>
                <a:ea typeface="楷体" panose="02010609060101010101" pitchFamily="49" charset="-122"/>
              </a:rPr>
              <a:t>=</a:t>
            </a:r>
            <a:r>
              <a:rPr lang="en-US" altLang="zh-CN" dirty="0">
                <a:latin typeface="+mn-lt"/>
                <a:ea typeface="楷体" panose="02010609060101010101" pitchFamily="49" charset="-122"/>
              </a:rPr>
              <a:t>4m.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求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482322" y="1659501"/>
            <a:ext cx="3520674" cy="3424307"/>
            <a:chOff x="761131" y="1900660"/>
            <a:chExt cx="3520674" cy="3424307"/>
          </a:xfrm>
        </p:grpSpPr>
        <p:graphicFrame>
          <p:nvGraphicFramePr>
            <p:cNvPr id="267288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20546955"/>
                </p:ext>
              </p:extLst>
            </p:nvPr>
          </p:nvGraphicFramePr>
          <p:xfrm>
            <a:off x="761131" y="1900660"/>
            <a:ext cx="3222877" cy="34243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33" name="BMP 图像" r:id="rId18" imgW="2133898" imgH="2266667" progId="Paint.Picture">
                    <p:embed/>
                  </p:oleObj>
                </mc:Choice>
                <mc:Fallback>
                  <p:oleObj name="BMP 图像" r:id="rId18" imgW="2133898" imgH="2266667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1131" y="1900660"/>
                          <a:ext cx="3222877" cy="342430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" name="Line 6"/>
            <p:cNvSpPr>
              <a:spLocks noChangeShapeType="1"/>
            </p:cNvSpPr>
            <p:nvPr/>
          </p:nvSpPr>
          <p:spPr bwMode="auto">
            <a:xfrm>
              <a:off x="1871775" y="2769087"/>
              <a:ext cx="0" cy="512763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999662" y="2973243"/>
              <a:ext cx="536798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000" b="1" i="1" dirty="0">
                  <a:solidFill>
                    <a:srgbClr val="FF0000"/>
                  </a:solidFill>
                </a:rPr>
                <a:t>P</a:t>
              </a:r>
              <a:r>
                <a:rPr lang="en-US" altLang="zh-CN" sz="2000" baseline="-25000" dirty="0">
                  <a:solidFill>
                    <a:srgbClr val="FF0000"/>
                  </a:solidFill>
                </a:rPr>
                <a:t>1</a:t>
              </a:r>
              <a:endParaRPr lang="zh-CN" altLang="en-US" sz="2000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41" name="Line 6"/>
            <p:cNvSpPr>
              <a:spLocks noChangeShapeType="1"/>
            </p:cNvSpPr>
            <p:nvPr/>
          </p:nvSpPr>
          <p:spPr bwMode="auto">
            <a:xfrm>
              <a:off x="1050877" y="2449883"/>
              <a:ext cx="0" cy="512763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Line 6"/>
            <p:cNvSpPr>
              <a:spLocks noChangeShapeType="1"/>
            </p:cNvSpPr>
            <p:nvPr/>
          </p:nvSpPr>
          <p:spPr bwMode="auto">
            <a:xfrm>
              <a:off x="3664578" y="3044801"/>
              <a:ext cx="0" cy="512763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文本框 42"/>
            <p:cNvSpPr txBox="1"/>
            <p:nvPr/>
          </p:nvSpPr>
          <p:spPr>
            <a:xfrm>
              <a:off x="1092766" y="2844746"/>
              <a:ext cx="536798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000" b="1" i="1" dirty="0">
                  <a:solidFill>
                    <a:srgbClr val="FF0000"/>
                  </a:solidFill>
                </a:rPr>
                <a:t>P</a:t>
              </a:r>
              <a:r>
                <a:rPr lang="en-US" altLang="zh-CN" sz="2000" baseline="-25000" dirty="0">
                  <a:solidFill>
                    <a:srgbClr val="FF0000"/>
                  </a:solidFill>
                </a:rPr>
                <a:t>3</a:t>
              </a:r>
              <a:endParaRPr lang="zh-CN" altLang="en-US" sz="2000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3745007" y="3281850"/>
              <a:ext cx="536798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000" b="1" i="1" dirty="0">
                  <a:solidFill>
                    <a:srgbClr val="FF0000"/>
                  </a:solidFill>
                </a:rPr>
                <a:t>P</a:t>
              </a:r>
              <a:r>
                <a:rPr lang="en-US" altLang="zh-CN" sz="2000" baseline="-25000" dirty="0">
                  <a:solidFill>
                    <a:srgbClr val="FF0000"/>
                  </a:solidFill>
                </a:rPr>
                <a:t>2</a:t>
              </a:r>
              <a:endParaRPr lang="zh-CN" altLang="en-US" sz="2000" baseline="-25000" dirty="0">
                <a:solidFill>
                  <a:srgbClr val="FF0000"/>
                </a:solidFill>
              </a:endParaRPr>
            </a:p>
          </p:txBody>
        </p:sp>
      </p:grpSp>
      <p:sp>
        <p:nvSpPr>
          <p:cNvPr id="46" name="Text Box 16"/>
          <p:cNvSpPr txBox="1">
            <a:spLocks noChangeArrowheads="1"/>
          </p:cNvSpPr>
          <p:nvPr/>
        </p:nvSpPr>
        <p:spPr bwMode="auto">
          <a:xfrm>
            <a:off x="4155427" y="1550337"/>
            <a:ext cx="402898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31750" cap="sq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解：研究起重机，受力分析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763226" y="4590033"/>
            <a:ext cx="1776612" cy="614363"/>
            <a:chOff x="1197560" y="4759325"/>
            <a:chExt cx="1776612" cy="614363"/>
          </a:xfrm>
        </p:grpSpPr>
        <p:sp>
          <p:nvSpPr>
            <p:cNvPr id="47" name="Line 6"/>
            <p:cNvSpPr>
              <a:spLocks noChangeShapeType="1"/>
            </p:cNvSpPr>
            <p:nvPr/>
          </p:nvSpPr>
          <p:spPr bwMode="auto">
            <a:xfrm rot="10800000" flipH="1">
              <a:off x="1619672" y="4760896"/>
              <a:ext cx="0" cy="512763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" name="Line 6"/>
            <p:cNvSpPr>
              <a:spLocks noChangeShapeType="1"/>
            </p:cNvSpPr>
            <p:nvPr/>
          </p:nvSpPr>
          <p:spPr bwMode="auto">
            <a:xfrm rot="10800000" flipH="1">
              <a:off x="2424653" y="4759325"/>
              <a:ext cx="0" cy="512763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1197560" y="4933480"/>
              <a:ext cx="5367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i="1" dirty="0">
                  <a:solidFill>
                    <a:srgbClr val="FF0000"/>
                  </a:solidFill>
                </a:rPr>
                <a:t>F</a:t>
              </a:r>
              <a:r>
                <a:rPr lang="en-US" altLang="zh-CN" sz="2000" b="1" i="1" baseline="-25000" dirty="0">
                  <a:solidFill>
                    <a:srgbClr val="FF0000"/>
                  </a:solidFill>
                </a:rPr>
                <a:t>A</a:t>
              </a:r>
              <a:endParaRPr lang="zh-CN" altLang="en-US" sz="2000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2437374" y="4973578"/>
              <a:ext cx="5367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i="1" dirty="0">
                  <a:solidFill>
                    <a:srgbClr val="FF0000"/>
                  </a:solidFill>
                </a:rPr>
                <a:t>F</a:t>
              </a:r>
              <a:r>
                <a:rPr lang="en-US" altLang="zh-CN" sz="2000" b="1" i="1" baseline="-25000" dirty="0">
                  <a:solidFill>
                    <a:srgbClr val="FF0000"/>
                  </a:solidFill>
                </a:rPr>
                <a:t>B</a:t>
              </a:r>
              <a:endParaRPr lang="zh-CN" altLang="en-US" sz="2000" baseline="-25000" dirty="0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5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6277955"/>
              </p:ext>
            </p:extLst>
          </p:nvPr>
        </p:nvGraphicFramePr>
        <p:xfrm>
          <a:off x="4960454" y="2915820"/>
          <a:ext cx="1728621" cy="432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4" name="Equation" r:id="rId20" imgW="914400" imgH="228600" progId="Equation.DSMT4">
                  <p:embed/>
                </p:oleObj>
              </mc:Choice>
              <mc:Fallback>
                <p:oleObj name="Equation" r:id="rId20" imgW="914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0454" y="2915820"/>
                        <a:ext cx="1728621" cy="4327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27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7662976"/>
              </p:ext>
            </p:extLst>
          </p:nvPr>
        </p:nvGraphicFramePr>
        <p:xfrm>
          <a:off x="3275856" y="3950116"/>
          <a:ext cx="1205206" cy="4462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5" name="Equation" r:id="rId22" imgW="622080" imgH="228600" progId="Equation.DSMT4">
                  <p:embed/>
                </p:oleObj>
              </mc:Choice>
              <mc:Fallback>
                <p:oleObj name="Equation" r:id="rId22" imgW="6220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856" y="3950116"/>
                        <a:ext cx="1205206" cy="4462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0519271"/>
              </p:ext>
            </p:extLst>
          </p:nvPr>
        </p:nvGraphicFramePr>
        <p:xfrm>
          <a:off x="775662" y="5418975"/>
          <a:ext cx="1265585" cy="4664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6" name="Equation" r:id="rId24" imgW="622080" imgH="228600" progId="Equation.DSMT4">
                  <p:embed/>
                </p:oleObj>
              </mc:Choice>
              <mc:Fallback>
                <p:oleObj name="Equation" r:id="rId24" imgW="6220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662" y="5418975"/>
                        <a:ext cx="1265585" cy="4664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4390386"/>
              </p:ext>
            </p:extLst>
          </p:nvPr>
        </p:nvGraphicFramePr>
        <p:xfrm>
          <a:off x="2443812" y="5404162"/>
          <a:ext cx="3524402" cy="4546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7" name="Equation" r:id="rId26" imgW="1600200" imgH="228600" progId="Equation.3">
                  <p:embed/>
                </p:oleObj>
              </mc:Choice>
              <mc:Fallback>
                <p:oleObj name="Equation" r:id="rId26" imgW="16002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3812" y="5404162"/>
                        <a:ext cx="3524402" cy="4546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7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024805"/>
              </p:ext>
            </p:extLst>
          </p:nvPr>
        </p:nvGraphicFramePr>
        <p:xfrm>
          <a:off x="908050" y="5918200"/>
          <a:ext cx="999654" cy="4591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8" name="Equation" r:id="rId28" imgW="558720" imgH="241200" progId="Equation.DSMT4">
                  <p:embed/>
                </p:oleObj>
              </mc:Choice>
              <mc:Fallback>
                <p:oleObj name="Equation" r:id="rId28" imgW="5587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8050" y="5918200"/>
                        <a:ext cx="999654" cy="4591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9560203"/>
              </p:ext>
            </p:extLst>
          </p:nvPr>
        </p:nvGraphicFramePr>
        <p:xfrm>
          <a:off x="2398112" y="5890337"/>
          <a:ext cx="3515471" cy="4756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9" name="Equation" r:id="rId30" imgW="1523880" imgH="228600" progId="Equation.3">
                  <p:embed/>
                </p:oleObj>
              </mc:Choice>
              <mc:Fallback>
                <p:oleObj name="Equation" r:id="rId30" imgW="15238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8112" y="5890337"/>
                        <a:ext cx="3515471" cy="4756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" name="Group 15"/>
          <p:cNvGrpSpPr>
            <a:grpSpLocks/>
          </p:cNvGrpSpPr>
          <p:nvPr/>
        </p:nvGrpSpPr>
        <p:grpSpPr bwMode="auto">
          <a:xfrm>
            <a:off x="6804248" y="5470478"/>
            <a:ext cx="1624013" cy="871539"/>
            <a:chOff x="4401" y="3530"/>
            <a:chExt cx="1023" cy="549"/>
          </a:xfrm>
        </p:grpSpPr>
        <p:graphicFrame>
          <p:nvGraphicFramePr>
            <p:cNvPr id="35" name="Object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21445132"/>
                </p:ext>
              </p:extLst>
            </p:nvPr>
          </p:nvGraphicFramePr>
          <p:xfrm>
            <a:off x="4401" y="3530"/>
            <a:ext cx="1023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40" name="Equation" r:id="rId32" imgW="1498320" imgH="368280" progId="Equation.3">
                    <p:embed/>
                  </p:oleObj>
                </mc:Choice>
                <mc:Fallback>
                  <p:oleObj name="Equation" r:id="rId32" imgW="1498320" imgH="3682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1" y="3530"/>
                          <a:ext cx="1023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14080182"/>
                </p:ext>
              </p:extLst>
            </p:nvPr>
          </p:nvGraphicFramePr>
          <p:xfrm>
            <a:off x="4410" y="3832"/>
            <a:ext cx="1014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41" name="Equation" r:id="rId34" imgW="1485720" imgH="368280" progId="Equation.3">
                    <p:embed/>
                  </p:oleObj>
                </mc:Choice>
                <mc:Fallback>
                  <p:oleObj name="Equation" r:id="rId34" imgW="1485720" imgH="3682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0" y="3832"/>
                          <a:ext cx="1014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057806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67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67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67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69" grpId="0"/>
      <p:bldP spid="267297" grpId="0"/>
      <p:bldP spid="4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9" name="Text Box 5"/>
          <p:cNvSpPr txBox="1">
            <a:spLocks noChangeArrowheads="1"/>
          </p:cNvSpPr>
          <p:nvPr/>
        </p:nvSpPr>
        <p:spPr bwMode="auto">
          <a:xfrm>
            <a:off x="1300894" y="856531"/>
            <a:ext cx="63103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在轴线平面内受横向力或力偶作用的杆件</a:t>
            </a:r>
            <a:r>
              <a:rPr lang="en-US" altLang="zh-CN" dirty="0">
                <a:solidFill>
                  <a:srgbClr val="C50C0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</a:t>
            </a:r>
            <a:r>
              <a:rPr lang="zh-CN" altLang="en-US" b="1" dirty="0">
                <a:solidFill>
                  <a:srgbClr val="C50C0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梁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461576" y="1471688"/>
            <a:ext cx="4168775" cy="752475"/>
            <a:chOff x="2075" y="2496"/>
            <a:chExt cx="2626" cy="474"/>
          </a:xfrm>
        </p:grpSpPr>
        <p:sp>
          <p:nvSpPr>
            <p:cNvPr id="6230" name="Line 7"/>
            <p:cNvSpPr>
              <a:spLocks noChangeShapeType="1"/>
            </p:cNvSpPr>
            <p:nvPr/>
          </p:nvSpPr>
          <p:spPr bwMode="auto">
            <a:xfrm>
              <a:off x="2123" y="2803"/>
              <a:ext cx="1488" cy="0"/>
            </a:xfrm>
            <a:prstGeom prst="line">
              <a:avLst/>
            </a:prstGeom>
            <a:noFill/>
            <a:ln w="1111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231" name="AutoShape 8"/>
            <p:cNvSpPr>
              <a:spLocks noChangeArrowheads="1"/>
            </p:cNvSpPr>
            <p:nvPr/>
          </p:nvSpPr>
          <p:spPr bwMode="auto">
            <a:xfrm>
              <a:off x="2099" y="2795"/>
              <a:ext cx="141" cy="96"/>
            </a:xfrm>
            <a:prstGeom prst="triangle">
              <a:avLst>
                <a:gd name="adj" fmla="val 50000"/>
              </a:avLst>
            </a:prstGeom>
            <a:solidFill>
              <a:srgbClr val="C0C0C0"/>
            </a:solidFill>
            <a:ln w="9525">
              <a:solidFill>
                <a:srgbClr val="666699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232" name="Oval 9"/>
            <p:cNvSpPr>
              <a:spLocks noChangeArrowheads="1"/>
            </p:cNvSpPr>
            <p:nvPr/>
          </p:nvSpPr>
          <p:spPr bwMode="auto">
            <a:xfrm>
              <a:off x="2147" y="2787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233" name="Line 10"/>
            <p:cNvSpPr>
              <a:spLocks noChangeShapeType="1"/>
            </p:cNvSpPr>
            <p:nvPr/>
          </p:nvSpPr>
          <p:spPr bwMode="auto">
            <a:xfrm>
              <a:off x="2075" y="2901"/>
              <a:ext cx="192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234" name="Line 11"/>
            <p:cNvSpPr>
              <a:spLocks noChangeShapeType="1"/>
            </p:cNvSpPr>
            <p:nvPr/>
          </p:nvSpPr>
          <p:spPr bwMode="auto">
            <a:xfrm>
              <a:off x="2075" y="2933"/>
              <a:ext cx="192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235" name="AutoShape 12"/>
            <p:cNvSpPr>
              <a:spLocks noChangeArrowheads="1"/>
            </p:cNvSpPr>
            <p:nvPr/>
          </p:nvSpPr>
          <p:spPr bwMode="auto">
            <a:xfrm>
              <a:off x="3491" y="2795"/>
              <a:ext cx="141" cy="96"/>
            </a:xfrm>
            <a:prstGeom prst="triangle">
              <a:avLst>
                <a:gd name="adj" fmla="val 50000"/>
              </a:avLst>
            </a:prstGeom>
            <a:solidFill>
              <a:srgbClr val="C0C0C0"/>
            </a:solidFill>
            <a:ln w="9525">
              <a:solidFill>
                <a:srgbClr val="666699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236" name="Oval 13"/>
            <p:cNvSpPr>
              <a:spLocks noChangeArrowheads="1"/>
            </p:cNvSpPr>
            <p:nvPr/>
          </p:nvSpPr>
          <p:spPr bwMode="auto">
            <a:xfrm>
              <a:off x="3539" y="277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237" name="Line 14"/>
            <p:cNvSpPr>
              <a:spLocks noChangeShapeType="1"/>
            </p:cNvSpPr>
            <p:nvPr/>
          </p:nvSpPr>
          <p:spPr bwMode="auto">
            <a:xfrm>
              <a:off x="3467" y="2898"/>
              <a:ext cx="192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238" name="Line 15"/>
            <p:cNvSpPr>
              <a:spLocks noChangeShapeType="1"/>
            </p:cNvSpPr>
            <p:nvPr/>
          </p:nvSpPr>
          <p:spPr bwMode="auto">
            <a:xfrm>
              <a:off x="3467" y="2970"/>
              <a:ext cx="192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239" name="Line 16"/>
            <p:cNvSpPr>
              <a:spLocks noChangeShapeType="1"/>
            </p:cNvSpPr>
            <p:nvPr/>
          </p:nvSpPr>
          <p:spPr bwMode="auto">
            <a:xfrm>
              <a:off x="3475" y="2954"/>
              <a:ext cx="192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240" name="Oval 17"/>
            <p:cNvSpPr>
              <a:spLocks noChangeArrowheads="1"/>
            </p:cNvSpPr>
            <p:nvPr/>
          </p:nvSpPr>
          <p:spPr bwMode="auto">
            <a:xfrm>
              <a:off x="3491" y="2902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241" name="Oval 18"/>
            <p:cNvSpPr>
              <a:spLocks noChangeArrowheads="1"/>
            </p:cNvSpPr>
            <p:nvPr/>
          </p:nvSpPr>
          <p:spPr bwMode="auto">
            <a:xfrm>
              <a:off x="3587" y="289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242" name="AutoShape 19"/>
            <p:cNvSpPr>
              <a:spLocks noChangeArrowheads="1"/>
            </p:cNvSpPr>
            <p:nvPr/>
          </p:nvSpPr>
          <p:spPr bwMode="auto">
            <a:xfrm>
              <a:off x="2411" y="2522"/>
              <a:ext cx="34" cy="243"/>
            </a:xfrm>
            <a:prstGeom prst="downArrow">
              <a:avLst>
                <a:gd name="adj1" fmla="val 50000"/>
                <a:gd name="adj2" fmla="val 178676"/>
              </a:avLst>
            </a:prstGeom>
            <a:solidFill>
              <a:srgbClr val="FF0000"/>
            </a:solidFill>
            <a:ln w="9525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243" name="Freeform 20"/>
            <p:cNvSpPr>
              <a:spLocks/>
            </p:cNvSpPr>
            <p:nvPr/>
          </p:nvSpPr>
          <p:spPr bwMode="auto">
            <a:xfrm>
              <a:off x="2795" y="2698"/>
              <a:ext cx="288" cy="192"/>
            </a:xfrm>
            <a:custGeom>
              <a:avLst/>
              <a:gdLst>
                <a:gd name="T0" fmla="*/ 288 w 288"/>
                <a:gd name="T1" fmla="*/ 0 h 192"/>
                <a:gd name="T2" fmla="*/ 144 w 288"/>
                <a:gd name="T3" fmla="*/ 0 h 192"/>
                <a:gd name="T4" fmla="*/ 144 w 288"/>
                <a:gd name="T5" fmla="*/ 192 h 192"/>
                <a:gd name="T6" fmla="*/ 0 w 288"/>
                <a:gd name="T7" fmla="*/ 192 h 1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192"/>
                <a:gd name="T14" fmla="*/ 288 w 288"/>
                <a:gd name="T15" fmla="*/ 192 h 1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192">
                  <a:moveTo>
                    <a:pt x="288" y="0"/>
                  </a:moveTo>
                  <a:lnTo>
                    <a:pt x="144" y="0"/>
                  </a:lnTo>
                  <a:lnTo>
                    <a:pt x="144" y="192"/>
                  </a:lnTo>
                  <a:lnTo>
                    <a:pt x="0" y="192"/>
                  </a:lnTo>
                </a:path>
              </a:pathLst>
            </a:custGeom>
            <a:noFill/>
            <a:ln w="22225">
              <a:solidFill>
                <a:srgbClr val="FF0000"/>
              </a:solidFill>
              <a:miter lim="800000"/>
              <a:headEnd type="stealth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244" name="Text Box 21"/>
            <p:cNvSpPr txBox="1">
              <a:spLocks noChangeArrowheads="1"/>
            </p:cNvSpPr>
            <p:nvPr/>
          </p:nvSpPr>
          <p:spPr bwMode="auto">
            <a:xfrm>
              <a:off x="4006" y="2630"/>
              <a:ext cx="6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 dirty="0">
                  <a:solidFill>
                    <a:srgbClr val="2113DD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简支梁</a:t>
              </a:r>
            </a:p>
          </p:txBody>
        </p:sp>
        <p:sp>
          <p:nvSpPr>
            <p:cNvPr id="6245" name="Rectangle 22"/>
            <p:cNvSpPr>
              <a:spLocks noChangeArrowheads="1"/>
            </p:cNvSpPr>
            <p:nvPr/>
          </p:nvSpPr>
          <p:spPr bwMode="auto">
            <a:xfrm>
              <a:off x="2397" y="2496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solidFill>
                    <a:srgbClr val="C50C07"/>
                  </a:solidFill>
                </a:rPr>
                <a:t>F</a:t>
              </a:r>
            </a:p>
          </p:txBody>
        </p:sp>
        <p:sp>
          <p:nvSpPr>
            <p:cNvPr id="6246" name="Rectangle 23"/>
            <p:cNvSpPr>
              <a:spLocks noChangeArrowheads="1"/>
            </p:cNvSpPr>
            <p:nvPr/>
          </p:nvSpPr>
          <p:spPr bwMode="auto">
            <a:xfrm>
              <a:off x="3045" y="2530"/>
              <a:ext cx="24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solidFill>
                    <a:srgbClr val="C50C07"/>
                  </a:solidFill>
                </a:rPr>
                <a:t>M</a:t>
              </a:r>
            </a:p>
          </p:txBody>
        </p:sp>
      </p:grpSp>
      <p:grpSp>
        <p:nvGrpSpPr>
          <p:cNvPr id="3" name="Group 24"/>
          <p:cNvGrpSpPr>
            <a:grpSpLocks/>
          </p:cNvGrpSpPr>
          <p:nvPr/>
        </p:nvGrpSpPr>
        <p:grpSpPr bwMode="auto">
          <a:xfrm>
            <a:off x="1461576" y="2408313"/>
            <a:ext cx="4189413" cy="723900"/>
            <a:chOff x="2075" y="2970"/>
            <a:chExt cx="2639" cy="456"/>
          </a:xfrm>
        </p:grpSpPr>
        <p:sp>
          <p:nvSpPr>
            <p:cNvPr id="6213" name="Line 25"/>
            <p:cNvSpPr>
              <a:spLocks noChangeShapeType="1"/>
            </p:cNvSpPr>
            <p:nvPr/>
          </p:nvSpPr>
          <p:spPr bwMode="auto">
            <a:xfrm>
              <a:off x="2123" y="3256"/>
              <a:ext cx="1488" cy="0"/>
            </a:xfrm>
            <a:prstGeom prst="line">
              <a:avLst/>
            </a:prstGeom>
            <a:noFill/>
            <a:ln w="1111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214" name="AutoShape 26"/>
            <p:cNvSpPr>
              <a:spLocks noChangeArrowheads="1"/>
            </p:cNvSpPr>
            <p:nvPr/>
          </p:nvSpPr>
          <p:spPr bwMode="auto">
            <a:xfrm>
              <a:off x="2099" y="3248"/>
              <a:ext cx="141" cy="96"/>
            </a:xfrm>
            <a:prstGeom prst="triangle">
              <a:avLst>
                <a:gd name="adj" fmla="val 50000"/>
              </a:avLst>
            </a:prstGeom>
            <a:solidFill>
              <a:srgbClr val="C0C0C0"/>
            </a:solidFill>
            <a:ln w="9525">
              <a:solidFill>
                <a:srgbClr val="666699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215" name="Oval 27"/>
            <p:cNvSpPr>
              <a:spLocks noChangeArrowheads="1"/>
            </p:cNvSpPr>
            <p:nvPr/>
          </p:nvSpPr>
          <p:spPr bwMode="auto">
            <a:xfrm>
              <a:off x="2147" y="323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216" name="Line 28"/>
            <p:cNvSpPr>
              <a:spLocks noChangeShapeType="1"/>
            </p:cNvSpPr>
            <p:nvPr/>
          </p:nvSpPr>
          <p:spPr bwMode="auto">
            <a:xfrm>
              <a:off x="2075" y="3354"/>
              <a:ext cx="192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217" name="Line 29"/>
            <p:cNvSpPr>
              <a:spLocks noChangeShapeType="1"/>
            </p:cNvSpPr>
            <p:nvPr/>
          </p:nvSpPr>
          <p:spPr bwMode="auto">
            <a:xfrm>
              <a:off x="2075" y="3386"/>
              <a:ext cx="192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218" name="AutoShape 30"/>
            <p:cNvSpPr>
              <a:spLocks noChangeArrowheads="1"/>
            </p:cNvSpPr>
            <p:nvPr/>
          </p:nvSpPr>
          <p:spPr bwMode="auto">
            <a:xfrm>
              <a:off x="2931" y="3248"/>
              <a:ext cx="141" cy="96"/>
            </a:xfrm>
            <a:prstGeom prst="triangle">
              <a:avLst>
                <a:gd name="adj" fmla="val 50000"/>
              </a:avLst>
            </a:prstGeom>
            <a:solidFill>
              <a:srgbClr val="C0C0C0"/>
            </a:solidFill>
            <a:ln w="9525">
              <a:solidFill>
                <a:srgbClr val="666699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219" name="Oval 31"/>
            <p:cNvSpPr>
              <a:spLocks noChangeArrowheads="1"/>
            </p:cNvSpPr>
            <p:nvPr/>
          </p:nvSpPr>
          <p:spPr bwMode="auto">
            <a:xfrm>
              <a:off x="2979" y="323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220" name="Line 32"/>
            <p:cNvSpPr>
              <a:spLocks noChangeShapeType="1"/>
            </p:cNvSpPr>
            <p:nvPr/>
          </p:nvSpPr>
          <p:spPr bwMode="auto">
            <a:xfrm>
              <a:off x="2907" y="3354"/>
              <a:ext cx="192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221" name="Line 33"/>
            <p:cNvSpPr>
              <a:spLocks noChangeShapeType="1"/>
            </p:cNvSpPr>
            <p:nvPr/>
          </p:nvSpPr>
          <p:spPr bwMode="auto">
            <a:xfrm>
              <a:off x="2907" y="3426"/>
              <a:ext cx="192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222" name="Line 34"/>
            <p:cNvSpPr>
              <a:spLocks noChangeShapeType="1"/>
            </p:cNvSpPr>
            <p:nvPr/>
          </p:nvSpPr>
          <p:spPr bwMode="auto">
            <a:xfrm>
              <a:off x="2915" y="3410"/>
              <a:ext cx="192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223" name="Oval 35"/>
            <p:cNvSpPr>
              <a:spLocks noChangeArrowheads="1"/>
            </p:cNvSpPr>
            <p:nvPr/>
          </p:nvSpPr>
          <p:spPr bwMode="auto">
            <a:xfrm>
              <a:off x="2931" y="3355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224" name="Oval 36"/>
            <p:cNvSpPr>
              <a:spLocks noChangeArrowheads="1"/>
            </p:cNvSpPr>
            <p:nvPr/>
          </p:nvSpPr>
          <p:spPr bwMode="auto">
            <a:xfrm>
              <a:off x="3027" y="335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225" name="AutoShape 37"/>
            <p:cNvSpPr>
              <a:spLocks noChangeArrowheads="1"/>
            </p:cNvSpPr>
            <p:nvPr/>
          </p:nvSpPr>
          <p:spPr bwMode="auto">
            <a:xfrm>
              <a:off x="2637" y="2970"/>
              <a:ext cx="34" cy="243"/>
            </a:xfrm>
            <a:prstGeom prst="downArrow">
              <a:avLst>
                <a:gd name="adj1" fmla="val 50000"/>
                <a:gd name="adj2" fmla="val 178676"/>
              </a:avLst>
            </a:prstGeom>
            <a:solidFill>
              <a:srgbClr val="FF0000"/>
            </a:solidFill>
            <a:ln w="9525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226" name="Freeform 38"/>
            <p:cNvSpPr>
              <a:spLocks/>
            </p:cNvSpPr>
            <p:nvPr/>
          </p:nvSpPr>
          <p:spPr bwMode="auto">
            <a:xfrm>
              <a:off x="3357" y="3154"/>
              <a:ext cx="288" cy="192"/>
            </a:xfrm>
            <a:custGeom>
              <a:avLst/>
              <a:gdLst>
                <a:gd name="T0" fmla="*/ 288 w 288"/>
                <a:gd name="T1" fmla="*/ 0 h 192"/>
                <a:gd name="T2" fmla="*/ 144 w 288"/>
                <a:gd name="T3" fmla="*/ 0 h 192"/>
                <a:gd name="T4" fmla="*/ 144 w 288"/>
                <a:gd name="T5" fmla="*/ 192 h 192"/>
                <a:gd name="T6" fmla="*/ 0 w 288"/>
                <a:gd name="T7" fmla="*/ 192 h 1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192"/>
                <a:gd name="T14" fmla="*/ 288 w 288"/>
                <a:gd name="T15" fmla="*/ 192 h 1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192">
                  <a:moveTo>
                    <a:pt x="288" y="0"/>
                  </a:moveTo>
                  <a:lnTo>
                    <a:pt x="144" y="0"/>
                  </a:lnTo>
                  <a:lnTo>
                    <a:pt x="144" y="192"/>
                  </a:lnTo>
                  <a:lnTo>
                    <a:pt x="0" y="192"/>
                  </a:lnTo>
                </a:path>
              </a:pathLst>
            </a:custGeom>
            <a:noFill/>
            <a:ln w="22225">
              <a:solidFill>
                <a:srgbClr val="FF0000"/>
              </a:solidFill>
              <a:miter lim="800000"/>
              <a:headEnd type="stealth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227" name="Text Box 39"/>
            <p:cNvSpPr txBox="1">
              <a:spLocks noChangeArrowheads="1"/>
            </p:cNvSpPr>
            <p:nvPr/>
          </p:nvSpPr>
          <p:spPr bwMode="auto">
            <a:xfrm>
              <a:off x="4019" y="3088"/>
              <a:ext cx="6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 dirty="0">
                  <a:solidFill>
                    <a:srgbClr val="2113DD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外伸梁</a:t>
              </a:r>
            </a:p>
          </p:txBody>
        </p:sp>
        <p:sp>
          <p:nvSpPr>
            <p:cNvPr id="6228" name="Rectangle 40"/>
            <p:cNvSpPr>
              <a:spLocks noChangeArrowheads="1"/>
            </p:cNvSpPr>
            <p:nvPr/>
          </p:nvSpPr>
          <p:spPr bwMode="auto">
            <a:xfrm>
              <a:off x="3605" y="3010"/>
              <a:ext cx="24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solidFill>
                    <a:srgbClr val="C50C07"/>
                  </a:solidFill>
                </a:rPr>
                <a:t>M</a:t>
              </a:r>
            </a:p>
          </p:txBody>
        </p:sp>
        <p:sp>
          <p:nvSpPr>
            <p:cNvPr id="6229" name="Rectangle 41"/>
            <p:cNvSpPr>
              <a:spLocks noChangeArrowheads="1"/>
            </p:cNvSpPr>
            <p:nvPr/>
          </p:nvSpPr>
          <p:spPr bwMode="auto">
            <a:xfrm>
              <a:off x="2445" y="2986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solidFill>
                    <a:srgbClr val="C50C07"/>
                  </a:solidFill>
                </a:rPr>
                <a:t>F</a:t>
              </a:r>
            </a:p>
          </p:txBody>
        </p:sp>
      </p:grpSp>
      <p:grpSp>
        <p:nvGrpSpPr>
          <p:cNvPr id="4" name="Group 42"/>
          <p:cNvGrpSpPr>
            <a:grpSpLocks/>
          </p:cNvGrpSpPr>
          <p:nvPr/>
        </p:nvGrpSpPr>
        <p:grpSpPr bwMode="auto">
          <a:xfrm>
            <a:off x="1482214" y="3343351"/>
            <a:ext cx="4121150" cy="817562"/>
            <a:chOff x="2114" y="3474"/>
            <a:chExt cx="2596" cy="515"/>
          </a:xfrm>
        </p:grpSpPr>
        <p:sp>
          <p:nvSpPr>
            <p:cNvPr id="6205" name="Line 43"/>
            <p:cNvSpPr>
              <a:spLocks noChangeShapeType="1"/>
            </p:cNvSpPr>
            <p:nvPr/>
          </p:nvSpPr>
          <p:spPr bwMode="auto">
            <a:xfrm>
              <a:off x="2123" y="3760"/>
              <a:ext cx="1488" cy="0"/>
            </a:xfrm>
            <a:prstGeom prst="line">
              <a:avLst/>
            </a:prstGeom>
            <a:noFill/>
            <a:ln w="1111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206" name="AutoShape 44"/>
            <p:cNvSpPr>
              <a:spLocks noChangeArrowheads="1"/>
            </p:cNvSpPr>
            <p:nvPr/>
          </p:nvSpPr>
          <p:spPr bwMode="auto">
            <a:xfrm>
              <a:off x="2637" y="3474"/>
              <a:ext cx="34" cy="243"/>
            </a:xfrm>
            <a:prstGeom prst="downArrow">
              <a:avLst>
                <a:gd name="adj1" fmla="val 50000"/>
                <a:gd name="adj2" fmla="val 178676"/>
              </a:avLst>
            </a:prstGeom>
            <a:solidFill>
              <a:srgbClr val="FF0000"/>
            </a:solidFill>
            <a:ln w="9525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207" name="Freeform 45"/>
            <p:cNvSpPr>
              <a:spLocks/>
            </p:cNvSpPr>
            <p:nvPr/>
          </p:nvSpPr>
          <p:spPr bwMode="auto">
            <a:xfrm>
              <a:off x="3357" y="3658"/>
              <a:ext cx="288" cy="192"/>
            </a:xfrm>
            <a:custGeom>
              <a:avLst/>
              <a:gdLst>
                <a:gd name="T0" fmla="*/ 288 w 288"/>
                <a:gd name="T1" fmla="*/ 0 h 192"/>
                <a:gd name="T2" fmla="*/ 144 w 288"/>
                <a:gd name="T3" fmla="*/ 0 h 192"/>
                <a:gd name="T4" fmla="*/ 144 w 288"/>
                <a:gd name="T5" fmla="*/ 192 h 192"/>
                <a:gd name="T6" fmla="*/ 0 w 288"/>
                <a:gd name="T7" fmla="*/ 192 h 1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192"/>
                <a:gd name="T14" fmla="*/ 288 w 288"/>
                <a:gd name="T15" fmla="*/ 192 h 1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192">
                  <a:moveTo>
                    <a:pt x="288" y="0"/>
                  </a:moveTo>
                  <a:lnTo>
                    <a:pt x="144" y="0"/>
                  </a:lnTo>
                  <a:lnTo>
                    <a:pt x="144" y="192"/>
                  </a:lnTo>
                  <a:lnTo>
                    <a:pt x="0" y="192"/>
                  </a:lnTo>
                </a:path>
              </a:pathLst>
            </a:custGeom>
            <a:noFill/>
            <a:ln w="22225">
              <a:solidFill>
                <a:srgbClr val="FF0000"/>
              </a:solidFill>
              <a:miter lim="800000"/>
              <a:headEnd type="stealth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208" name="Text Box 46"/>
            <p:cNvSpPr txBox="1">
              <a:spLocks noChangeArrowheads="1"/>
            </p:cNvSpPr>
            <p:nvPr/>
          </p:nvSpPr>
          <p:spPr bwMode="auto">
            <a:xfrm>
              <a:off x="4015" y="3597"/>
              <a:ext cx="69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 dirty="0">
                  <a:solidFill>
                    <a:srgbClr val="2113DD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悬臂梁</a:t>
              </a:r>
            </a:p>
          </p:txBody>
        </p:sp>
        <p:sp>
          <p:nvSpPr>
            <p:cNvPr id="6209" name="Rectangle 47"/>
            <p:cNvSpPr>
              <a:spLocks noChangeArrowheads="1"/>
            </p:cNvSpPr>
            <p:nvPr/>
          </p:nvSpPr>
          <p:spPr bwMode="auto">
            <a:xfrm>
              <a:off x="3605" y="3514"/>
              <a:ext cx="24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solidFill>
                    <a:srgbClr val="C50C07"/>
                  </a:solidFill>
                </a:rPr>
                <a:t>M</a:t>
              </a:r>
            </a:p>
          </p:txBody>
        </p:sp>
        <p:sp>
          <p:nvSpPr>
            <p:cNvPr id="6210" name="Rectangle 48"/>
            <p:cNvSpPr>
              <a:spLocks noChangeArrowheads="1"/>
            </p:cNvSpPr>
            <p:nvPr/>
          </p:nvSpPr>
          <p:spPr bwMode="auto">
            <a:xfrm>
              <a:off x="2445" y="3490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b="1" i="1">
                  <a:solidFill>
                    <a:srgbClr val="C50C07"/>
                  </a:solidFill>
                </a:rPr>
                <a:t>F</a:t>
              </a:r>
            </a:p>
          </p:txBody>
        </p:sp>
        <p:sp>
          <p:nvSpPr>
            <p:cNvPr id="6211" name="Freeform 49"/>
            <p:cNvSpPr>
              <a:spLocks/>
            </p:cNvSpPr>
            <p:nvPr/>
          </p:nvSpPr>
          <p:spPr bwMode="auto">
            <a:xfrm>
              <a:off x="2114" y="3581"/>
              <a:ext cx="144" cy="408"/>
            </a:xfrm>
            <a:custGeom>
              <a:avLst/>
              <a:gdLst>
                <a:gd name="T0" fmla="*/ 144 w 144"/>
                <a:gd name="T1" fmla="*/ 0 h 336"/>
                <a:gd name="T2" fmla="*/ 144 w 144"/>
                <a:gd name="T3" fmla="*/ 209 h 336"/>
                <a:gd name="T4" fmla="*/ 0 w 144"/>
                <a:gd name="T5" fmla="*/ 209 h 336"/>
                <a:gd name="T6" fmla="*/ 0 w 144"/>
                <a:gd name="T7" fmla="*/ 418 h 336"/>
                <a:gd name="T8" fmla="*/ 144 w 144"/>
                <a:gd name="T9" fmla="*/ 418 h 336"/>
                <a:gd name="T10" fmla="*/ 144 w 144"/>
                <a:gd name="T11" fmla="*/ 730 h 3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44"/>
                <a:gd name="T19" fmla="*/ 0 h 336"/>
                <a:gd name="T20" fmla="*/ 144 w 144"/>
                <a:gd name="T21" fmla="*/ 336 h 3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44" h="336">
                  <a:moveTo>
                    <a:pt x="144" y="0"/>
                  </a:moveTo>
                  <a:lnTo>
                    <a:pt x="144" y="96"/>
                  </a:lnTo>
                  <a:lnTo>
                    <a:pt x="0" y="96"/>
                  </a:lnTo>
                  <a:lnTo>
                    <a:pt x="0" y="192"/>
                  </a:lnTo>
                  <a:lnTo>
                    <a:pt x="144" y="192"/>
                  </a:lnTo>
                  <a:lnTo>
                    <a:pt x="144" y="336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212" name="Line 50"/>
            <p:cNvSpPr>
              <a:spLocks noChangeShapeType="1"/>
            </p:cNvSpPr>
            <p:nvPr/>
          </p:nvSpPr>
          <p:spPr bwMode="auto">
            <a:xfrm>
              <a:off x="2255" y="3534"/>
              <a:ext cx="0" cy="42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42035" name="AutoShape 51"/>
          <p:cNvSpPr>
            <a:spLocks/>
          </p:cNvSpPr>
          <p:nvPr/>
        </p:nvSpPr>
        <p:spPr bwMode="auto">
          <a:xfrm>
            <a:off x="5782751" y="1525663"/>
            <a:ext cx="152400" cy="2590800"/>
          </a:xfrm>
          <a:prstGeom prst="rightBrace">
            <a:avLst>
              <a:gd name="adj1" fmla="val 141667"/>
              <a:gd name="adj2" fmla="val 50000"/>
            </a:avLst>
          </a:prstGeom>
          <a:noFill/>
          <a:ln w="22225">
            <a:solidFill>
              <a:srgbClr val="FF0000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2036" name="Text Box 52"/>
          <p:cNvSpPr txBox="1">
            <a:spLocks noChangeArrowheads="1"/>
          </p:cNvSpPr>
          <p:nvPr/>
        </p:nvSpPr>
        <p:spPr bwMode="auto">
          <a:xfrm>
            <a:off x="5961969" y="2353088"/>
            <a:ext cx="1676400" cy="1015663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sm"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连续梁 </a:t>
            </a:r>
          </a:p>
          <a:p>
            <a:pPr algn="ctr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组合梁</a:t>
            </a:r>
          </a:p>
        </p:txBody>
      </p:sp>
      <p:graphicFrame>
        <p:nvGraphicFramePr>
          <p:cNvPr id="42037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3238590"/>
              </p:ext>
            </p:extLst>
          </p:nvPr>
        </p:nvGraphicFramePr>
        <p:xfrm>
          <a:off x="5208244" y="4236093"/>
          <a:ext cx="2743200" cy="194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" name="BMP 图像" r:id="rId3" imgW="1857143" imgH="1314286" progId="Paint.Picture">
                  <p:embed/>
                </p:oleObj>
              </mc:Choice>
              <mc:Fallback>
                <p:oleObj name="BMP 图像" r:id="rId3" imgW="1857143" imgH="1314286" progId="Paint.Picture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contrast="24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8244" y="4236093"/>
                        <a:ext cx="2743200" cy="194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121"/>
          <p:cNvGrpSpPr>
            <a:grpSpLocks/>
          </p:cNvGrpSpPr>
          <p:nvPr/>
        </p:nvGrpSpPr>
        <p:grpSpPr bwMode="auto">
          <a:xfrm>
            <a:off x="1493541" y="4468737"/>
            <a:ext cx="2593975" cy="1506537"/>
            <a:chOff x="1429" y="2758"/>
            <a:chExt cx="1634" cy="949"/>
          </a:xfrm>
        </p:grpSpPr>
        <p:sp>
          <p:nvSpPr>
            <p:cNvPr id="6167" name="Rectangle 110"/>
            <p:cNvSpPr>
              <a:spLocks noChangeArrowheads="1"/>
            </p:cNvSpPr>
            <p:nvPr/>
          </p:nvSpPr>
          <p:spPr bwMode="auto">
            <a:xfrm>
              <a:off x="1530" y="3346"/>
              <a:ext cx="1414" cy="42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6156" name="Group 71"/>
            <p:cNvGrpSpPr>
              <a:grpSpLocks/>
            </p:cNvGrpSpPr>
            <p:nvPr/>
          </p:nvGrpSpPr>
          <p:grpSpPr bwMode="auto">
            <a:xfrm>
              <a:off x="1429" y="3339"/>
              <a:ext cx="220" cy="163"/>
              <a:chOff x="3930" y="4794"/>
              <a:chExt cx="550" cy="408"/>
            </a:xfrm>
          </p:grpSpPr>
          <p:sp>
            <p:nvSpPr>
              <p:cNvPr id="6193" name="Oval 72"/>
              <p:cNvSpPr>
                <a:spLocks noChangeAspect="1" noChangeArrowheads="1"/>
              </p:cNvSpPr>
              <p:nvPr/>
            </p:nvSpPr>
            <p:spPr bwMode="auto">
              <a:xfrm>
                <a:off x="4140" y="4794"/>
                <a:ext cx="136" cy="13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194" name="Line 73"/>
              <p:cNvSpPr>
                <a:spLocks noChangeAspect="1" noChangeShapeType="1"/>
              </p:cNvSpPr>
              <p:nvPr/>
            </p:nvSpPr>
            <p:spPr bwMode="auto">
              <a:xfrm flipH="1">
                <a:off x="4005" y="4857"/>
                <a:ext cx="130" cy="2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95" name="Line 74"/>
              <p:cNvSpPr>
                <a:spLocks noChangeAspect="1" noChangeShapeType="1"/>
              </p:cNvSpPr>
              <p:nvPr/>
            </p:nvSpPr>
            <p:spPr bwMode="auto">
              <a:xfrm>
                <a:off x="4275" y="4857"/>
                <a:ext cx="130" cy="22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96" name="Line 75"/>
              <p:cNvSpPr>
                <a:spLocks noChangeShapeType="1"/>
              </p:cNvSpPr>
              <p:nvPr/>
            </p:nvSpPr>
            <p:spPr bwMode="auto">
              <a:xfrm>
                <a:off x="3930" y="5079"/>
                <a:ext cx="550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6197" name="Group 76"/>
              <p:cNvGrpSpPr>
                <a:grpSpLocks/>
              </p:cNvGrpSpPr>
              <p:nvPr/>
            </p:nvGrpSpPr>
            <p:grpSpPr bwMode="auto">
              <a:xfrm>
                <a:off x="3936" y="5089"/>
                <a:ext cx="512" cy="113"/>
                <a:chOff x="3936" y="5089"/>
                <a:chExt cx="512" cy="113"/>
              </a:xfrm>
            </p:grpSpPr>
            <p:sp>
              <p:nvSpPr>
                <p:cNvPr id="6198" name="Line 77"/>
                <p:cNvSpPr>
                  <a:spLocks noChangeShapeType="1"/>
                </p:cNvSpPr>
                <p:nvPr/>
              </p:nvSpPr>
              <p:spPr bwMode="auto">
                <a:xfrm>
                  <a:off x="3960" y="5106"/>
                  <a:ext cx="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199" name="Line 78"/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3936" y="5089"/>
                  <a:ext cx="62" cy="11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200" name="Line 79"/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4026" y="5089"/>
                  <a:ext cx="62" cy="11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201" name="Line 80"/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4116" y="5089"/>
                  <a:ext cx="62" cy="11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202" name="Line 81"/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4206" y="5089"/>
                  <a:ext cx="62" cy="11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203" name="Line 82"/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4296" y="5089"/>
                  <a:ext cx="62" cy="11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204" name="Line 83"/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4386" y="5089"/>
                  <a:ext cx="62" cy="11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6157" name="Group 84"/>
            <p:cNvGrpSpPr>
              <a:grpSpLocks/>
            </p:cNvGrpSpPr>
            <p:nvPr/>
          </p:nvGrpSpPr>
          <p:grpSpPr bwMode="auto">
            <a:xfrm>
              <a:off x="2816" y="3339"/>
              <a:ext cx="247" cy="228"/>
              <a:chOff x="5760" y="1968"/>
              <a:chExt cx="618" cy="572"/>
            </a:xfrm>
          </p:grpSpPr>
          <p:sp>
            <p:nvSpPr>
              <p:cNvPr id="6182" name="Oval 85"/>
              <p:cNvSpPr>
                <a:spLocks noChangeAspect="1" noChangeArrowheads="1"/>
              </p:cNvSpPr>
              <p:nvPr/>
            </p:nvSpPr>
            <p:spPr bwMode="auto">
              <a:xfrm>
                <a:off x="5985" y="1968"/>
                <a:ext cx="136" cy="13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183" name="Line 86"/>
              <p:cNvSpPr>
                <a:spLocks noChangeShapeType="1"/>
              </p:cNvSpPr>
              <p:nvPr/>
            </p:nvSpPr>
            <p:spPr bwMode="auto">
              <a:xfrm>
                <a:off x="5814" y="2444"/>
                <a:ext cx="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84" name="Line 87"/>
              <p:cNvSpPr>
                <a:spLocks noChangeAspect="1" noChangeShapeType="1"/>
              </p:cNvSpPr>
              <p:nvPr/>
            </p:nvSpPr>
            <p:spPr bwMode="auto">
              <a:xfrm flipH="1">
                <a:off x="5790" y="2427"/>
                <a:ext cx="62" cy="11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85" name="Line 88"/>
              <p:cNvSpPr>
                <a:spLocks noChangeAspect="1" noChangeShapeType="1"/>
              </p:cNvSpPr>
              <p:nvPr/>
            </p:nvSpPr>
            <p:spPr bwMode="auto">
              <a:xfrm flipH="1">
                <a:off x="5880" y="2427"/>
                <a:ext cx="62" cy="11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86" name="Line 89"/>
              <p:cNvSpPr>
                <a:spLocks noChangeAspect="1" noChangeShapeType="1"/>
              </p:cNvSpPr>
              <p:nvPr/>
            </p:nvSpPr>
            <p:spPr bwMode="auto">
              <a:xfrm flipH="1">
                <a:off x="5970" y="2427"/>
                <a:ext cx="62" cy="11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87" name="Line 90"/>
              <p:cNvSpPr>
                <a:spLocks noChangeAspect="1" noChangeShapeType="1"/>
              </p:cNvSpPr>
              <p:nvPr/>
            </p:nvSpPr>
            <p:spPr bwMode="auto">
              <a:xfrm flipH="1">
                <a:off x="6060" y="2427"/>
                <a:ext cx="62" cy="11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88" name="Line 91"/>
              <p:cNvSpPr>
                <a:spLocks noChangeAspect="1" noChangeShapeType="1"/>
              </p:cNvSpPr>
              <p:nvPr/>
            </p:nvSpPr>
            <p:spPr bwMode="auto">
              <a:xfrm flipH="1">
                <a:off x="6150" y="2427"/>
                <a:ext cx="62" cy="11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89" name="Line 92"/>
              <p:cNvSpPr>
                <a:spLocks noChangeAspect="1" noChangeShapeType="1"/>
              </p:cNvSpPr>
              <p:nvPr/>
            </p:nvSpPr>
            <p:spPr bwMode="auto">
              <a:xfrm flipH="1">
                <a:off x="6240" y="2427"/>
                <a:ext cx="62" cy="11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90" name="Line 93"/>
              <p:cNvSpPr>
                <a:spLocks noChangeShapeType="1"/>
              </p:cNvSpPr>
              <p:nvPr/>
            </p:nvSpPr>
            <p:spPr bwMode="auto">
              <a:xfrm>
                <a:off x="5760" y="2412"/>
                <a:ext cx="618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91" name="Oval 94"/>
              <p:cNvSpPr>
                <a:spLocks noChangeAspect="1" noChangeArrowheads="1"/>
              </p:cNvSpPr>
              <p:nvPr/>
            </p:nvSpPr>
            <p:spPr bwMode="auto">
              <a:xfrm>
                <a:off x="5985" y="2286"/>
                <a:ext cx="136" cy="13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6192" name="Line 95"/>
              <p:cNvSpPr>
                <a:spLocks noChangeShapeType="1"/>
              </p:cNvSpPr>
              <p:nvPr/>
            </p:nvSpPr>
            <p:spPr bwMode="auto">
              <a:xfrm>
                <a:off x="6058" y="2112"/>
                <a:ext cx="1" cy="17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158" name="Group 96"/>
            <p:cNvGrpSpPr>
              <a:grpSpLocks/>
            </p:cNvGrpSpPr>
            <p:nvPr/>
          </p:nvGrpSpPr>
          <p:grpSpPr bwMode="auto">
            <a:xfrm>
              <a:off x="1823" y="3198"/>
              <a:ext cx="846" cy="155"/>
              <a:chOff x="2700" y="3780"/>
              <a:chExt cx="2400" cy="440"/>
            </a:xfrm>
          </p:grpSpPr>
          <p:sp>
            <p:nvSpPr>
              <p:cNvPr id="6170" name="Line 97"/>
              <p:cNvSpPr>
                <a:spLocks noChangeShapeType="1"/>
              </p:cNvSpPr>
              <p:nvPr/>
            </p:nvSpPr>
            <p:spPr bwMode="auto">
              <a:xfrm>
                <a:off x="2700" y="3780"/>
                <a:ext cx="239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71" name="Line 98"/>
              <p:cNvSpPr>
                <a:spLocks noChangeShapeType="1"/>
              </p:cNvSpPr>
              <p:nvPr/>
            </p:nvSpPr>
            <p:spPr bwMode="auto">
              <a:xfrm>
                <a:off x="2700" y="3780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72" name="Line 99"/>
              <p:cNvSpPr>
                <a:spLocks noChangeShapeType="1"/>
              </p:cNvSpPr>
              <p:nvPr/>
            </p:nvSpPr>
            <p:spPr bwMode="auto">
              <a:xfrm>
                <a:off x="2940" y="3795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73" name="Line 100"/>
              <p:cNvSpPr>
                <a:spLocks noChangeShapeType="1"/>
              </p:cNvSpPr>
              <p:nvPr/>
            </p:nvSpPr>
            <p:spPr bwMode="auto">
              <a:xfrm>
                <a:off x="3180" y="3795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74" name="Line 101"/>
              <p:cNvSpPr>
                <a:spLocks noChangeShapeType="1"/>
              </p:cNvSpPr>
              <p:nvPr/>
            </p:nvSpPr>
            <p:spPr bwMode="auto">
              <a:xfrm>
                <a:off x="3420" y="3795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75" name="Line 102"/>
              <p:cNvSpPr>
                <a:spLocks noChangeShapeType="1"/>
              </p:cNvSpPr>
              <p:nvPr/>
            </p:nvSpPr>
            <p:spPr bwMode="auto">
              <a:xfrm>
                <a:off x="3660" y="3795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76" name="Line 103"/>
              <p:cNvSpPr>
                <a:spLocks noChangeShapeType="1"/>
              </p:cNvSpPr>
              <p:nvPr/>
            </p:nvSpPr>
            <p:spPr bwMode="auto">
              <a:xfrm>
                <a:off x="3900" y="3795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77" name="Line 104"/>
              <p:cNvSpPr>
                <a:spLocks noChangeShapeType="1"/>
              </p:cNvSpPr>
              <p:nvPr/>
            </p:nvSpPr>
            <p:spPr bwMode="auto">
              <a:xfrm>
                <a:off x="4140" y="3795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78" name="Line 105"/>
              <p:cNvSpPr>
                <a:spLocks noChangeShapeType="1"/>
              </p:cNvSpPr>
              <p:nvPr/>
            </p:nvSpPr>
            <p:spPr bwMode="auto">
              <a:xfrm>
                <a:off x="4380" y="3795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79" name="Line 106"/>
              <p:cNvSpPr>
                <a:spLocks noChangeShapeType="1"/>
              </p:cNvSpPr>
              <p:nvPr/>
            </p:nvSpPr>
            <p:spPr bwMode="auto">
              <a:xfrm>
                <a:off x="4620" y="3795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80" name="Line 107"/>
              <p:cNvSpPr>
                <a:spLocks noChangeShapeType="1"/>
              </p:cNvSpPr>
              <p:nvPr/>
            </p:nvSpPr>
            <p:spPr bwMode="auto">
              <a:xfrm>
                <a:off x="4860" y="3795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81" name="Line 108"/>
              <p:cNvSpPr>
                <a:spLocks noChangeShapeType="1"/>
              </p:cNvSpPr>
              <p:nvPr/>
            </p:nvSpPr>
            <p:spPr bwMode="auto">
              <a:xfrm>
                <a:off x="5100" y="3780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160" name="Line 114"/>
            <p:cNvSpPr>
              <a:spLocks noChangeShapeType="1"/>
            </p:cNvSpPr>
            <p:nvPr/>
          </p:nvSpPr>
          <p:spPr bwMode="auto">
            <a:xfrm>
              <a:off x="1826" y="3385"/>
              <a:ext cx="0" cy="322"/>
            </a:xfrm>
            <a:prstGeom prst="line">
              <a:avLst/>
            </a:prstGeom>
            <a:noFill/>
            <a:ln w="9525">
              <a:solidFill>
                <a:srgbClr val="40458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1" name="Line 115"/>
            <p:cNvSpPr>
              <a:spLocks noChangeShapeType="1"/>
            </p:cNvSpPr>
            <p:nvPr/>
          </p:nvSpPr>
          <p:spPr bwMode="auto">
            <a:xfrm>
              <a:off x="2667" y="3385"/>
              <a:ext cx="0" cy="322"/>
            </a:xfrm>
            <a:prstGeom prst="line">
              <a:avLst/>
            </a:prstGeom>
            <a:noFill/>
            <a:ln w="9525">
              <a:solidFill>
                <a:srgbClr val="40458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2" name="Line 116"/>
            <p:cNvSpPr>
              <a:spLocks noChangeShapeType="1"/>
            </p:cNvSpPr>
            <p:nvPr/>
          </p:nvSpPr>
          <p:spPr bwMode="auto">
            <a:xfrm>
              <a:off x="1813" y="3609"/>
              <a:ext cx="866" cy="0"/>
            </a:xfrm>
            <a:prstGeom prst="line">
              <a:avLst/>
            </a:prstGeom>
            <a:noFill/>
            <a:ln w="9525">
              <a:solidFill>
                <a:srgbClr val="40458C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3" name="Text Box 117"/>
            <p:cNvSpPr txBox="1">
              <a:spLocks noChangeArrowheads="1"/>
            </p:cNvSpPr>
            <p:nvPr/>
          </p:nvSpPr>
          <p:spPr bwMode="auto">
            <a:xfrm>
              <a:off x="2199" y="3426"/>
              <a:ext cx="66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8000" tIns="10800" rIns="18000" bIns="10800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r>
                <a:rPr lang="en-US" altLang="zh-CN" sz="1800" i="1" dirty="0">
                  <a:solidFill>
                    <a:srgbClr val="2113DD"/>
                  </a:solidFill>
                </a:rPr>
                <a:t>l</a:t>
              </a:r>
              <a:endParaRPr lang="en-US" altLang="zh-CN" sz="1800" i="1" dirty="0"/>
            </a:p>
          </p:txBody>
        </p:sp>
        <p:sp>
          <p:nvSpPr>
            <p:cNvPr id="6164" name="Line 118"/>
            <p:cNvSpPr>
              <a:spLocks noChangeShapeType="1"/>
            </p:cNvSpPr>
            <p:nvPr/>
          </p:nvSpPr>
          <p:spPr bwMode="auto">
            <a:xfrm>
              <a:off x="2245" y="2758"/>
              <a:ext cx="0" cy="59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65" name="Text Box 119"/>
            <p:cNvSpPr txBox="1">
              <a:spLocks noChangeArrowheads="1"/>
            </p:cNvSpPr>
            <p:nvPr/>
          </p:nvSpPr>
          <p:spPr bwMode="auto">
            <a:xfrm>
              <a:off x="1970" y="2928"/>
              <a:ext cx="36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 dirty="0"/>
                <a:t>q</a:t>
              </a:r>
            </a:p>
          </p:txBody>
        </p:sp>
        <p:sp>
          <p:nvSpPr>
            <p:cNvPr id="6166" name="Text Box 120"/>
            <p:cNvSpPr txBox="1">
              <a:spLocks noChangeArrowheads="1"/>
            </p:cNvSpPr>
            <p:nvPr/>
          </p:nvSpPr>
          <p:spPr bwMode="auto">
            <a:xfrm>
              <a:off x="2237" y="2805"/>
              <a:ext cx="54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 dirty="0">
                  <a:solidFill>
                    <a:srgbClr val="FF3300"/>
                  </a:solidFill>
                </a:rPr>
                <a:t>F</a:t>
              </a:r>
              <a:r>
                <a:rPr lang="en-US" altLang="zh-CN" sz="2000" b="1" i="1" baseline="-25000" dirty="0">
                  <a:solidFill>
                    <a:srgbClr val="FF3300"/>
                  </a:solidFill>
                </a:rPr>
                <a:t>R</a:t>
              </a:r>
            </a:p>
          </p:txBody>
        </p:sp>
      </p:grpSp>
      <p:sp>
        <p:nvSpPr>
          <p:cNvPr id="42107" name="Text Box 123"/>
          <p:cNvSpPr txBox="1">
            <a:spLocks noChangeArrowheads="1"/>
          </p:cNvSpPr>
          <p:nvPr/>
        </p:nvSpPr>
        <p:spPr bwMode="auto">
          <a:xfrm>
            <a:off x="4268074" y="4214726"/>
            <a:ext cx="553998" cy="237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FF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分布载荷的处理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2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37" dur="750"/>
                                        <p:tgtEl>
                                          <p:spTgt spid="42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out)">
                                      <p:cBhvr>
                                        <p:cTn id="4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42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9" grpId="0"/>
      <p:bldP spid="42035" grpId="0" animBg="1"/>
      <p:bldP spid="42036" grpId="0" autoUpdateAnimBg="0"/>
      <p:bldP spid="4210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6" name="Text Box 3"/>
          <p:cNvSpPr txBox="1">
            <a:spLocks noChangeArrowheads="1"/>
          </p:cNvSpPr>
          <p:nvPr/>
        </p:nvSpPr>
        <p:spPr bwMode="auto">
          <a:xfrm>
            <a:off x="646721" y="332303"/>
            <a:ext cx="7655903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0"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梁</a:t>
            </a:r>
            <a:r>
              <a:rPr kumimoji="0" lang="en-US" altLang="zh-CN" i="1" dirty="0">
                <a:latin typeface="+mn-lt"/>
                <a:ea typeface="楷体" panose="02010609060101010101" pitchFamily="49" charset="-122"/>
              </a:rPr>
              <a:t>AB</a:t>
            </a:r>
            <a:r>
              <a:rPr kumimoji="0"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上受到一个均布载荷和一个力偶作用，已知载荷集度（即梁的每单位长度上所受的力）</a:t>
            </a:r>
            <a:r>
              <a:rPr kumimoji="0" lang="en-US" altLang="zh-CN" i="1" dirty="0">
                <a:latin typeface="+mn-lt"/>
                <a:ea typeface="楷体" panose="02010609060101010101" pitchFamily="49" charset="-122"/>
              </a:rPr>
              <a:t>q</a:t>
            </a:r>
            <a:r>
              <a:rPr kumimoji="0" lang="en-US" altLang="zh-CN" b="1" dirty="0">
                <a:latin typeface="+mn-lt"/>
                <a:ea typeface="楷体" panose="02010609060101010101" pitchFamily="49" charset="-122"/>
              </a:rPr>
              <a:t>=</a:t>
            </a:r>
            <a:r>
              <a:rPr kumimoji="0" lang="en-US" altLang="zh-CN" dirty="0">
                <a:latin typeface="+mn-lt"/>
                <a:ea typeface="楷体" panose="02010609060101010101" pitchFamily="49" charset="-122"/>
              </a:rPr>
              <a:t>100 N/m</a:t>
            </a:r>
            <a:r>
              <a:rPr kumimoji="0" lang="zh-CN" altLang="en-US" dirty="0">
                <a:latin typeface="+mn-lt"/>
                <a:ea typeface="楷体" panose="02010609060101010101" pitchFamily="49" charset="-122"/>
              </a:rPr>
              <a:t>，</a:t>
            </a:r>
            <a:r>
              <a:rPr kumimoji="0"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力偶矩大小</a:t>
            </a:r>
            <a:r>
              <a:rPr kumimoji="0" lang="en-US" altLang="zh-CN" i="1" dirty="0">
                <a:latin typeface="+mn-lt"/>
                <a:ea typeface="楷体" panose="02010609060101010101" pitchFamily="49" charset="-122"/>
              </a:rPr>
              <a:t>M</a:t>
            </a:r>
            <a:r>
              <a:rPr kumimoji="0" lang="en-US" altLang="zh-CN" b="1" dirty="0">
                <a:latin typeface="+mn-lt"/>
                <a:ea typeface="楷体" panose="02010609060101010101" pitchFamily="49" charset="-122"/>
              </a:rPr>
              <a:t> =</a:t>
            </a:r>
            <a:r>
              <a:rPr kumimoji="0" lang="en-US" altLang="zh-CN" dirty="0">
                <a:latin typeface="+mn-lt"/>
                <a:ea typeface="楷体" panose="02010609060101010101" pitchFamily="49" charset="-122"/>
              </a:rPr>
              <a:t>500N</a:t>
            </a:r>
            <a:r>
              <a:rPr kumimoji="0" lang="en-US" altLang="zh-CN" dirty="0">
                <a:latin typeface="+mn-lt"/>
                <a:ea typeface="楷体" panose="02010609060101010101" pitchFamily="49" charset="-122"/>
                <a:sym typeface="Symbol" panose="05050102010706020507" pitchFamily="18" charset="2"/>
              </a:rPr>
              <a:t></a:t>
            </a:r>
            <a:r>
              <a:rPr kumimoji="0" lang="en-US" altLang="zh-CN" dirty="0">
                <a:latin typeface="+mn-lt"/>
                <a:ea typeface="楷体" panose="02010609060101010101" pitchFamily="49" charset="-122"/>
              </a:rPr>
              <a:t>m</a:t>
            </a:r>
            <a:r>
              <a:rPr kumimoji="0"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。长度</a:t>
            </a:r>
            <a:r>
              <a:rPr kumimoji="0" lang="en-US" altLang="zh-CN" i="1" dirty="0">
                <a:latin typeface="+mn-lt"/>
                <a:ea typeface="楷体" panose="02010609060101010101" pitchFamily="49" charset="-122"/>
              </a:rPr>
              <a:t>AB</a:t>
            </a:r>
            <a:r>
              <a:rPr kumimoji="0" lang="en-US" altLang="zh-CN" b="1" dirty="0">
                <a:latin typeface="+mn-lt"/>
                <a:ea typeface="楷体" panose="02010609060101010101" pitchFamily="49" charset="-122"/>
              </a:rPr>
              <a:t>=</a:t>
            </a:r>
            <a:r>
              <a:rPr kumimoji="0" lang="en-US" altLang="zh-CN" dirty="0">
                <a:latin typeface="+mn-lt"/>
                <a:ea typeface="楷体" panose="02010609060101010101" pitchFamily="49" charset="-122"/>
              </a:rPr>
              <a:t>3m</a:t>
            </a:r>
            <a:r>
              <a:rPr kumimoji="0" lang="zh-CN" altLang="en-US" dirty="0">
                <a:latin typeface="+mn-lt"/>
                <a:ea typeface="楷体" panose="02010609060101010101" pitchFamily="49" charset="-122"/>
              </a:rPr>
              <a:t>，</a:t>
            </a:r>
            <a:r>
              <a:rPr kumimoji="0" lang="en-US" altLang="zh-CN" i="1" dirty="0">
                <a:latin typeface="+mn-lt"/>
                <a:ea typeface="楷体" panose="02010609060101010101" pitchFamily="49" charset="-122"/>
              </a:rPr>
              <a:t>DB</a:t>
            </a:r>
            <a:r>
              <a:rPr kumimoji="0" lang="en-US" altLang="zh-CN" b="1" dirty="0">
                <a:latin typeface="+mn-lt"/>
                <a:ea typeface="楷体" panose="02010609060101010101" pitchFamily="49" charset="-122"/>
              </a:rPr>
              <a:t>=</a:t>
            </a:r>
            <a:r>
              <a:rPr kumimoji="0" lang="en-US" altLang="zh-CN" dirty="0">
                <a:latin typeface="+mn-lt"/>
                <a:ea typeface="楷体" panose="02010609060101010101" pitchFamily="49" charset="-122"/>
              </a:rPr>
              <a:t>1m</a:t>
            </a:r>
            <a:r>
              <a:rPr kumimoji="0"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。求支座</a:t>
            </a:r>
            <a:r>
              <a:rPr kumimoji="0" lang="en-US" altLang="zh-CN" i="1" dirty="0">
                <a:latin typeface="+mn-lt"/>
                <a:ea typeface="楷体" panose="02010609060101010101" pitchFamily="49" charset="-122"/>
              </a:rPr>
              <a:t>D</a:t>
            </a:r>
            <a:r>
              <a:rPr kumimoji="0"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kumimoji="0" lang="en-US" altLang="zh-CN" i="1" dirty="0">
                <a:latin typeface="+mn-lt"/>
                <a:ea typeface="楷体" panose="02010609060101010101" pitchFamily="49" charset="-122"/>
              </a:rPr>
              <a:t>A</a:t>
            </a:r>
            <a:r>
              <a:rPr kumimoji="0" lang="zh-CN" altLang="en-US" b="1" dirty="0">
                <a:latin typeface="+mn-lt"/>
                <a:ea typeface="楷体" panose="02010609060101010101" pitchFamily="49" charset="-122"/>
              </a:rPr>
              <a:t>处</a:t>
            </a:r>
            <a:r>
              <a:rPr kumimoji="0"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的约束力。</a:t>
            </a:r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729437" y="1934062"/>
            <a:ext cx="367188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解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：取</a:t>
            </a:r>
            <a:r>
              <a:rPr lang="en-US" altLang="zh-CN" i="1" dirty="0">
                <a:latin typeface="+mn-lt"/>
                <a:ea typeface="楷体" panose="02010609060101010101" pitchFamily="49" charset="-122"/>
              </a:rPr>
              <a:t>AB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梁为研究对象，受力如图所示。</a:t>
            </a:r>
          </a:p>
        </p:txBody>
      </p:sp>
      <p:graphicFrame>
        <p:nvGraphicFramePr>
          <p:cNvPr id="1229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4374855"/>
              </p:ext>
            </p:extLst>
          </p:nvPr>
        </p:nvGraphicFramePr>
        <p:xfrm>
          <a:off x="1068928" y="4653671"/>
          <a:ext cx="1054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4" name="Equation" r:id="rId3" imgW="1054080" imgH="380880" progId="Equation.3">
                  <p:embed/>
                </p:oleObj>
              </mc:Choice>
              <mc:Fallback>
                <p:oleObj name="Equation" r:id="rId3" imgW="1054080" imgH="3808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8928" y="4653671"/>
                        <a:ext cx="10541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9923163"/>
              </p:ext>
            </p:extLst>
          </p:nvPr>
        </p:nvGraphicFramePr>
        <p:xfrm>
          <a:off x="853028" y="5229933"/>
          <a:ext cx="1647825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5" name="Equation" r:id="rId5" imgW="1638000" imgH="368280" progId="Equation.3">
                  <p:embed/>
                </p:oleObj>
              </mc:Choice>
              <mc:Fallback>
                <p:oleObj name="Equation" r:id="rId5" imgW="1638000" imgH="3682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028" y="5229933"/>
                        <a:ext cx="1647825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4022517"/>
              </p:ext>
            </p:extLst>
          </p:nvPr>
        </p:nvGraphicFramePr>
        <p:xfrm>
          <a:off x="1068928" y="5733171"/>
          <a:ext cx="1066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6" name="Equation" r:id="rId7" imgW="1066680" imgH="419040" progId="Equation.3">
                  <p:embed/>
                </p:oleObj>
              </mc:Choice>
              <mc:Fallback>
                <p:oleObj name="Equation" r:id="rId7" imgW="1066680" imgH="4190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8928" y="5733171"/>
                        <a:ext cx="10668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178" name="Group 83"/>
          <p:cNvGrpSpPr>
            <a:grpSpLocks/>
          </p:cNvGrpSpPr>
          <p:nvPr/>
        </p:nvGrpSpPr>
        <p:grpSpPr bwMode="auto">
          <a:xfrm>
            <a:off x="4588939" y="1509763"/>
            <a:ext cx="3486150" cy="1976438"/>
            <a:chOff x="354" y="1564"/>
            <a:chExt cx="2196" cy="1245"/>
          </a:xfrm>
        </p:grpSpPr>
        <p:sp>
          <p:nvSpPr>
            <p:cNvPr id="12372" name="AutoShape 84"/>
            <p:cNvSpPr>
              <a:spLocks noChangeArrowheads="1"/>
            </p:cNvSpPr>
            <p:nvPr/>
          </p:nvSpPr>
          <p:spPr bwMode="auto">
            <a:xfrm>
              <a:off x="545" y="2113"/>
              <a:ext cx="193" cy="95"/>
            </a:xfrm>
            <a:prstGeom prst="triangle">
              <a:avLst>
                <a:gd name="adj" fmla="val 50000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2700" cap="sq">
              <a:solidFill>
                <a:schemeClr val="tx1"/>
              </a:solidFill>
              <a:miter lim="800000"/>
              <a:headEnd/>
              <a:tailEnd type="none" w="med" len="lg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7205" name="Group 85"/>
            <p:cNvGrpSpPr>
              <a:grpSpLocks/>
            </p:cNvGrpSpPr>
            <p:nvPr/>
          </p:nvGrpSpPr>
          <p:grpSpPr bwMode="auto">
            <a:xfrm>
              <a:off x="354" y="2209"/>
              <a:ext cx="542" cy="48"/>
              <a:chOff x="3264" y="1920"/>
              <a:chExt cx="542" cy="48"/>
            </a:xfrm>
          </p:grpSpPr>
          <p:sp>
            <p:nvSpPr>
              <p:cNvPr id="7257" name="Line 86"/>
              <p:cNvSpPr>
                <a:spLocks noChangeShapeType="1"/>
              </p:cNvSpPr>
              <p:nvPr/>
            </p:nvSpPr>
            <p:spPr bwMode="auto">
              <a:xfrm>
                <a:off x="3298" y="1920"/>
                <a:ext cx="508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7258" name="Group 87"/>
              <p:cNvGrpSpPr>
                <a:grpSpLocks/>
              </p:cNvGrpSpPr>
              <p:nvPr/>
            </p:nvGrpSpPr>
            <p:grpSpPr bwMode="auto">
              <a:xfrm>
                <a:off x="3264" y="1920"/>
                <a:ext cx="528" cy="48"/>
                <a:chOff x="3264" y="1920"/>
                <a:chExt cx="528" cy="48"/>
              </a:xfrm>
            </p:grpSpPr>
            <p:grpSp>
              <p:nvGrpSpPr>
                <p:cNvPr id="7259" name="Group 88"/>
                <p:cNvGrpSpPr>
                  <a:grpSpLocks/>
                </p:cNvGrpSpPr>
                <p:nvPr/>
              </p:nvGrpSpPr>
              <p:grpSpPr bwMode="auto">
                <a:xfrm>
                  <a:off x="3312" y="1920"/>
                  <a:ext cx="480" cy="48"/>
                  <a:chOff x="3312" y="1920"/>
                  <a:chExt cx="480" cy="48"/>
                </a:xfrm>
              </p:grpSpPr>
              <p:sp>
                <p:nvSpPr>
                  <p:cNvPr id="7261" name="Line 8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312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262" name="Line 9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360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263" name="Line 9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408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264" name="Line 9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456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265" name="Line 9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00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266" name="Line 9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48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267" name="Line 9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96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268" name="Line 9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744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269" name="Line 9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504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270" name="Line 9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552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7260" name="Line 99"/>
                <p:cNvSpPr>
                  <a:spLocks noChangeShapeType="1"/>
                </p:cNvSpPr>
                <p:nvPr/>
              </p:nvSpPr>
              <p:spPr bwMode="auto">
                <a:xfrm flipH="1">
                  <a:off x="3264" y="1920"/>
                  <a:ext cx="48" cy="4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7206" name="Rectangle 100"/>
            <p:cNvSpPr>
              <a:spLocks noChangeArrowheads="1"/>
            </p:cNvSpPr>
            <p:nvPr/>
          </p:nvSpPr>
          <p:spPr bwMode="auto">
            <a:xfrm>
              <a:off x="642" y="2089"/>
              <a:ext cx="1728" cy="48"/>
            </a:xfrm>
            <a:prstGeom prst="rect">
              <a:avLst/>
            </a:prstGeom>
            <a:solidFill>
              <a:srgbClr val="B2B2B2"/>
            </a:solidFill>
            <a:ln w="19050">
              <a:solidFill>
                <a:schemeClr val="tx1"/>
              </a:solidFill>
              <a:miter lim="800000"/>
              <a:headEnd/>
              <a:tailEnd type="none" w="sm" len="lg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07" name="Oval 101"/>
            <p:cNvSpPr>
              <a:spLocks noChangeArrowheads="1"/>
            </p:cNvSpPr>
            <p:nvPr/>
          </p:nvSpPr>
          <p:spPr bwMode="auto">
            <a:xfrm>
              <a:off x="1720" y="2256"/>
              <a:ext cx="48" cy="48"/>
            </a:xfrm>
            <a:prstGeom prst="ellipse">
              <a:avLst/>
            </a:prstGeom>
            <a:solidFill>
              <a:srgbClr val="FFCC00"/>
            </a:solidFill>
            <a:ln w="12700" cap="sq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08" name="Oval 102"/>
            <p:cNvSpPr>
              <a:spLocks noChangeArrowheads="1"/>
            </p:cNvSpPr>
            <p:nvPr/>
          </p:nvSpPr>
          <p:spPr bwMode="auto">
            <a:xfrm>
              <a:off x="1864" y="2256"/>
              <a:ext cx="48" cy="48"/>
            </a:xfrm>
            <a:prstGeom prst="ellipse">
              <a:avLst/>
            </a:prstGeom>
            <a:solidFill>
              <a:srgbClr val="FFCC00"/>
            </a:solidFill>
            <a:ln w="12700" cap="sq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91" name="AutoShape 103"/>
            <p:cNvSpPr>
              <a:spLocks noChangeArrowheads="1"/>
            </p:cNvSpPr>
            <p:nvPr/>
          </p:nvSpPr>
          <p:spPr bwMode="auto">
            <a:xfrm>
              <a:off x="1720" y="2161"/>
              <a:ext cx="193" cy="95"/>
            </a:xfrm>
            <a:prstGeom prst="triangle">
              <a:avLst>
                <a:gd name="adj" fmla="val 50000"/>
              </a:avLst>
            </a:prstGeom>
            <a:gradFill rotWithShape="0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12700" cap="sq">
              <a:solidFill>
                <a:schemeClr val="tx1"/>
              </a:solidFill>
              <a:miter lim="800000"/>
              <a:headEnd/>
              <a:tailEnd type="none" w="med" len="lg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7210" name="Oval 104"/>
            <p:cNvSpPr>
              <a:spLocks noChangeArrowheads="1"/>
            </p:cNvSpPr>
            <p:nvPr/>
          </p:nvSpPr>
          <p:spPr bwMode="auto">
            <a:xfrm>
              <a:off x="1793" y="2137"/>
              <a:ext cx="48" cy="48"/>
            </a:xfrm>
            <a:prstGeom prst="ellipse">
              <a:avLst/>
            </a:prstGeom>
            <a:solidFill>
              <a:srgbClr val="FFCC00"/>
            </a:solidFill>
            <a:ln w="12700" cap="sq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7211" name="Group 105"/>
            <p:cNvGrpSpPr>
              <a:grpSpLocks/>
            </p:cNvGrpSpPr>
            <p:nvPr/>
          </p:nvGrpSpPr>
          <p:grpSpPr bwMode="auto">
            <a:xfrm>
              <a:off x="1540" y="2304"/>
              <a:ext cx="542" cy="48"/>
              <a:chOff x="3264" y="1920"/>
              <a:chExt cx="542" cy="48"/>
            </a:xfrm>
          </p:grpSpPr>
          <p:sp>
            <p:nvSpPr>
              <p:cNvPr id="7243" name="Line 106"/>
              <p:cNvSpPr>
                <a:spLocks noChangeShapeType="1"/>
              </p:cNvSpPr>
              <p:nvPr/>
            </p:nvSpPr>
            <p:spPr bwMode="auto">
              <a:xfrm>
                <a:off x="3298" y="1920"/>
                <a:ext cx="508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7244" name="Group 107"/>
              <p:cNvGrpSpPr>
                <a:grpSpLocks/>
              </p:cNvGrpSpPr>
              <p:nvPr/>
            </p:nvGrpSpPr>
            <p:grpSpPr bwMode="auto">
              <a:xfrm>
                <a:off x="3264" y="1920"/>
                <a:ext cx="528" cy="48"/>
                <a:chOff x="3264" y="1920"/>
                <a:chExt cx="528" cy="48"/>
              </a:xfrm>
            </p:grpSpPr>
            <p:grpSp>
              <p:nvGrpSpPr>
                <p:cNvPr id="7245" name="Group 108"/>
                <p:cNvGrpSpPr>
                  <a:grpSpLocks/>
                </p:cNvGrpSpPr>
                <p:nvPr/>
              </p:nvGrpSpPr>
              <p:grpSpPr bwMode="auto">
                <a:xfrm>
                  <a:off x="3312" y="1920"/>
                  <a:ext cx="480" cy="48"/>
                  <a:chOff x="3312" y="1920"/>
                  <a:chExt cx="480" cy="48"/>
                </a:xfrm>
              </p:grpSpPr>
              <p:sp>
                <p:nvSpPr>
                  <p:cNvPr id="7247" name="Line 10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312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248" name="Line 11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360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249" name="Line 11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408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250" name="Line 11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456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251" name="Line 11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00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252" name="Line 11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48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253" name="Line 11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96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254" name="Line 11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744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255" name="Line 11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504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256" name="Line 11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552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7246" name="Line 119"/>
                <p:cNvSpPr>
                  <a:spLocks noChangeShapeType="1"/>
                </p:cNvSpPr>
                <p:nvPr/>
              </p:nvSpPr>
              <p:spPr bwMode="auto">
                <a:xfrm flipH="1">
                  <a:off x="3264" y="1920"/>
                  <a:ext cx="48" cy="4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7212" name="Line 120"/>
            <p:cNvSpPr>
              <a:spLocks noChangeShapeType="1"/>
            </p:cNvSpPr>
            <p:nvPr/>
          </p:nvSpPr>
          <p:spPr bwMode="auto">
            <a:xfrm>
              <a:off x="642" y="1897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13" name="Line 121"/>
            <p:cNvSpPr>
              <a:spLocks noChangeShapeType="1"/>
            </p:cNvSpPr>
            <p:nvPr/>
          </p:nvSpPr>
          <p:spPr bwMode="auto">
            <a:xfrm>
              <a:off x="786" y="1897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14" name="Line 122"/>
            <p:cNvSpPr>
              <a:spLocks noChangeShapeType="1"/>
            </p:cNvSpPr>
            <p:nvPr/>
          </p:nvSpPr>
          <p:spPr bwMode="auto">
            <a:xfrm>
              <a:off x="930" y="1897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15" name="Line 123"/>
            <p:cNvSpPr>
              <a:spLocks noChangeShapeType="1"/>
            </p:cNvSpPr>
            <p:nvPr/>
          </p:nvSpPr>
          <p:spPr bwMode="auto">
            <a:xfrm>
              <a:off x="1074" y="1897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16" name="Line 124"/>
            <p:cNvSpPr>
              <a:spLocks noChangeShapeType="1"/>
            </p:cNvSpPr>
            <p:nvPr/>
          </p:nvSpPr>
          <p:spPr bwMode="auto">
            <a:xfrm>
              <a:off x="1218" y="1897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17" name="Line 125"/>
            <p:cNvSpPr>
              <a:spLocks noChangeShapeType="1"/>
            </p:cNvSpPr>
            <p:nvPr/>
          </p:nvSpPr>
          <p:spPr bwMode="auto">
            <a:xfrm>
              <a:off x="1362" y="1897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18" name="Line 126"/>
            <p:cNvSpPr>
              <a:spLocks noChangeShapeType="1"/>
            </p:cNvSpPr>
            <p:nvPr/>
          </p:nvSpPr>
          <p:spPr bwMode="auto">
            <a:xfrm flipH="1">
              <a:off x="1488" y="1897"/>
              <a:ext cx="18" cy="21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19" name="Line 127"/>
            <p:cNvSpPr>
              <a:spLocks noChangeShapeType="1"/>
            </p:cNvSpPr>
            <p:nvPr/>
          </p:nvSpPr>
          <p:spPr bwMode="auto">
            <a:xfrm>
              <a:off x="1650" y="1897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20" name="Line 128"/>
            <p:cNvSpPr>
              <a:spLocks noChangeShapeType="1"/>
            </p:cNvSpPr>
            <p:nvPr/>
          </p:nvSpPr>
          <p:spPr bwMode="auto">
            <a:xfrm>
              <a:off x="1794" y="1897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21" name="Line 129"/>
            <p:cNvSpPr>
              <a:spLocks noChangeShapeType="1"/>
            </p:cNvSpPr>
            <p:nvPr/>
          </p:nvSpPr>
          <p:spPr bwMode="auto">
            <a:xfrm>
              <a:off x="1938" y="1897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22" name="Line 130"/>
            <p:cNvSpPr>
              <a:spLocks noChangeShapeType="1"/>
            </p:cNvSpPr>
            <p:nvPr/>
          </p:nvSpPr>
          <p:spPr bwMode="auto">
            <a:xfrm>
              <a:off x="2082" y="1897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23" name="Line 131"/>
            <p:cNvSpPr>
              <a:spLocks noChangeShapeType="1"/>
            </p:cNvSpPr>
            <p:nvPr/>
          </p:nvSpPr>
          <p:spPr bwMode="auto">
            <a:xfrm>
              <a:off x="2226" y="1897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24" name="Line 132"/>
            <p:cNvSpPr>
              <a:spLocks noChangeShapeType="1"/>
            </p:cNvSpPr>
            <p:nvPr/>
          </p:nvSpPr>
          <p:spPr bwMode="auto">
            <a:xfrm>
              <a:off x="2370" y="1897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25" name="Line 133"/>
            <p:cNvSpPr>
              <a:spLocks noChangeShapeType="1"/>
            </p:cNvSpPr>
            <p:nvPr/>
          </p:nvSpPr>
          <p:spPr bwMode="auto">
            <a:xfrm>
              <a:off x="642" y="1897"/>
              <a:ext cx="17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26" name="Line 134"/>
            <p:cNvSpPr>
              <a:spLocks noChangeShapeType="1"/>
            </p:cNvSpPr>
            <p:nvPr/>
          </p:nvSpPr>
          <p:spPr bwMode="auto">
            <a:xfrm>
              <a:off x="1506" y="1705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27" name="Line 135"/>
            <p:cNvSpPr>
              <a:spLocks noChangeShapeType="1"/>
            </p:cNvSpPr>
            <p:nvPr/>
          </p:nvSpPr>
          <p:spPr bwMode="auto">
            <a:xfrm flipH="1">
              <a:off x="1218" y="2329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28" name="Line 136"/>
            <p:cNvSpPr>
              <a:spLocks noChangeShapeType="1"/>
            </p:cNvSpPr>
            <p:nvPr/>
          </p:nvSpPr>
          <p:spPr bwMode="auto">
            <a:xfrm>
              <a:off x="1506" y="1705"/>
              <a:ext cx="0" cy="6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29" name="Line 137"/>
            <p:cNvSpPr>
              <a:spLocks noChangeShapeType="1"/>
            </p:cNvSpPr>
            <p:nvPr/>
          </p:nvSpPr>
          <p:spPr bwMode="auto">
            <a:xfrm>
              <a:off x="642" y="2185"/>
              <a:ext cx="0" cy="6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30" name="Line 138"/>
            <p:cNvSpPr>
              <a:spLocks noChangeShapeType="1"/>
            </p:cNvSpPr>
            <p:nvPr/>
          </p:nvSpPr>
          <p:spPr bwMode="auto">
            <a:xfrm>
              <a:off x="1813" y="2281"/>
              <a:ext cx="0" cy="5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31" name="Line 139"/>
            <p:cNvSpPr>
              <a:spLocks noChangeShapeType="1"/>
            </p:cNvSpPr>
            <p:nvPr/>
          </p:nvSpPr>
          <p:spPr bwMode="auto">
            <a:xfrm>
              <a:off x="2370" y="2089"/>
              <a:ext cx="0" cy="7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32" name="Line 140"/>
            <p:cNvSpPr>
              <a:spLocks noChangeShapeType="1"/>
            </p:cNvSpPr>
            <p:nvPr/>
          </p:nvSpPr>
          <p:spPr bwMode="auto">
            <a:xfrm>
              <a:off x="642" y="2617"/>
              <a:ext cx="117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33" name="Line 141"/>
            <p:cNvSpPr>
              <a:spLocks noChangeShapeType="1"/>
            </p:cNvSpPr>
            <p:nvPr/>
          </p:nvSpPr>
          <p:spPr bwMode="auto">
            <a:xfrm>
              <a:off x="1813" y="2617"/>
              <a:ext cx="55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34" name="Text Box 142"/>
            <p:cNvSpPr txBox="1">
              <a:spLocks noChangeArrowheads="1"/>
            </p:cNvSpPr>
            <p:nvPr/>
          </p:nvSpPr>
          <p:spPr bwMode="auto">
            <a:xfrm>
              <a:off x="2327" y="1915"/>
              <a:ext cx="223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2000" b="1" i="1">
                  <a:ea typeface="楷体_GB2312" pitchFamily="49" charset="-122"/>
                </a:rPr>
                <a:t>B</a:t>
              </a:r>
              <a:endParaRPr lang="en-US" altLang="zh-CN" sz="2000" b="1" i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7235" name="Text Box 143"/>
            <p:cNvSpPr txBox="1">
              <a:spLocks noChangeArrowheads="1"/>
            </p:cNvSpPr>
            <p:nvPr/>
          </p:nvSpPr>
          <p:spPr bwMode="auto">
            <a:xfrm>
              <a:off x="466" y="1883"/>
              <a:ext cx="223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2000" b="1" i="1">
                  <a:ea typeface="楷体_GB2312" pitchFamily="49" charset="-122"/>
                </a:rPr>
                <a:t>A</a:t>
              </a:r>
              <a:endParaRPr lang="en-US" altLang="zh-CN" sz="2000" b="1" i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7236" name="Text Box 144"/>
            <p:cNvSpPr txBox="1">
              <a:spLocks noChangeArrowheads="1"/>
            </p:cNvSpPr>
            <p:nvPr/>
          </p:nvSpPr>
          <p:spPr bwMode="auto">
            <a:xfrm>
              <a:off x="1560" y="2049"/>
              <a:ext cx="232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2000" b="1" i="1" dirty="0">
                  <a:ea typeface="楷体_GB2312" pitchFamily="49" charset="-122"/>
                </a:rPr>
                <a:t>D</a:t>
              </a:r>
              <a:endParaRPr lang="en-US" altLang="zh-CN" sz="2000" b="1" i="1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7237" name="Text Box 145"/>
            <p:cNvSpPr txBox="1">
              <a:spLocks noChangeArrowheads="1"/>
            </p:cNvSpPr>
            <p:nvPr/>
          </p:nvSpPr>
          <p:spPr bwMode="auto">
            <a:xfrm>
              <a:off x="1947" y="2386"/>
              <a:ext cx="30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1800" dirty="0">
                  <a:ea typeface="楷体_GB2312" pitchFamily="49" charset="-122"/>
                </a:rPr>
                <a:t>1m</a:t>
              </a:r>
              <a:endParaRPr lang="en-US" altLang="zh-CN" sz="1800" dirty="0">
                <a:solidFill>
                  <a:schemeClr val="tx2"/>
                </a:solidFill>
                <a:ea typeface="楷体_GB2312" pitchFamily="49" charset="-122"/>
              </a:endParaRPr>
            </a:p>
          </p:txBody>
        </p:sp>
        <p:sp>
          <p:nvSpPr>
            <p:cNvPr id="7239" name="Text Box 147"/>
            <p:cNvSpPr txBox="1">
              <a:spLocks noChangeArrowheads="1"/>
            </p:cNvSpPr>
            <p:nvPr/>
          </p:nvSpPr>
          <p:spPr bwMode="auto">
            <a:xfrm>
              <a:off x="1099" y="2384"/>
              <a:ext cx="30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1800" dirty="0">
                  <a:ea typeface="楷体_GB2312" pitchFamily="49" charset="-122"/>
                </a:rPr>
                <a:t>2m</a:t>
              </a:r>
              <a:endParaRPr lang="en-US" altLang="zh-CN" sz="1800" dirty="0">
                <a:solidFill>
                  <a:schemeClr val="tx2"/>
                </a:solidFill>
                <a:ea typeface="楷体_GB2312" pitchFamily="49" charset="-122"/>
              </a:endParaRPr>
            </a:p>
          </p:txBody>
        </p:sp>
        <p:sp>
          <p:nvSpPr>
            <p:cNvPr id="7241" name="Rectangle 149"/>
            <p:cNvSpPr>
              <a:spLocks noChangeArrowheads="1"/>
            </p:cNvSpPr>
            <p:nvPr/>
          </p:nvSpPr>
          <p:spPr bwMode="auto">
            <a:xfrm>
              <a:off x="1797" y="1564"/>
              <a:ext cx="25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i="1" dirty="0">
                  <a:ea typeface="楷体_GB2312" pitchFamily="49" charset="-122"/>
                </a:rPr>
                <a:t>M</a:t>
              </a:r>
            </a:p>
          </p:txBody>
        </p:sp>
        <p:sp>
          <p:nvSpPr>
            <p:cNvPr id="7242" name="Oval 150"/>
            <p:cNvSpPr>
              <a:spLocks noChangeArrowheads="1"/>
            </p:cNvSpPr>
            <p:nvPr/>
          </p:nvSpPr>
          <p:spPr bwMode="auto">
            <a:xfrm>
              <a:off x="618" y="2089"/>
              <a:ext cx="48" cy="48"/>
            </a:xfrm>
            <a:prstGeom prst="ellipse">
              <a:avLst/>
            </a:prstGeom>
            <a:solidFill>
              <a:srgbClr val="FFCC00"/>
            </a:solidFill>
            <a:ln w="12700" cap="sq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9" name="Group 151"/>
          <p:cNvGrpSpPr>
            <a:grpSpLocks/>
          </p:cNvGrpSpPr>
          <p:nvPr/>
        </p:nvGrpSpPr>
        <p:grpSpPr bwMode="auto">
          <a:xfrm>
            <a:off x="689515" y="2764609"/>
            <a:ext cx="3541713" cy="1727200"/>
            <a:chOff x="2832" y="2006"/>
            <a:chExt cx="2231" cy="1088"/>
          </a:xfrm>
        </p:grpSpPr>
        <p:sp>
          <p:nvSpPr>
            <p:cNvPr id="7183" name="Rectangle 152"/>
            <p:cNvSpPr>
              <a:spLocks noChangeArrowheads="1"/>
            </p:cNvSpPr>
            <p:nvPr/>
          </p:nvSpPr>
          <p:spPr bwMode="auto">
            <a:xfrm>
              <a:off x="3155" y="2578"/>
              <a:ext cx="1728" cy="48"/>
            </a:xfrm>
            <a:prstGeom prst="rect">
              <a:avLst/>
            </a:prstGeom>
            <a:solidFill>
              <a:srgbClr val="B2B2B2"/>
            </a:solidFill>
            <a:ln w="19050">
              <a:solidFill>
                <a:schemeClr val="tx1"/>
              </a:solidFill>
              <a:miter lim="800000"/>
              <a:headEnd/>
              <a:tailEnd type="none" w="sm" len="lg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84" name="Text Box 153"/>
            <p:cNvSpPr txBox="1">
              <a:spLocks noChangeArrowheads="1"/>
            </p:cNvSpPr>
            <p:nvPr/>
          </p:nvSpPr>
          <p:spPr bwMode="auto">
            <a:xfrm>
              <a:off x="4840" y="2500"/>
              <a:ext cx="223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2000" b="1" i="1">
                  <a:ea typeface="楷体_GB2312" pitchFamily="49" charset="-122"/>
                </a:rPr>
                <a:t>B</a:t>
              </a:r>
              <a:endParaRPr lang="en-US" altLang="zh-CN" sz="2000" b="1" i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7185" name="Text Box 154"/>
            <p:cNvSpPr txBox="1">
              <a:spLocks noChangeArrowheads="1"/>
            </p:cNvSpPr>
            <p:nvPr/>
          </p:nvSpPr>
          <p:spPr bwMode="auto">
            <a:xfrm>
              <a:off x="2979" y="2372"/>
              <a:ext cx="223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2000" b="1" i="1">
                  <a:ea typeface="楷体_GB2312" pitchFamily="49" charset="-122"/>
                </a:rPr>
                <a:t>A</a:t>
              </a:r>
              <a:endParaRPr lang="en-US" altLang="zh-CN" sz="2000" b="1" i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7186" name="Text Box 155"/>
            <p:cNvSpPr txBox="1">
              <a:spLocks noChangeArrowheads="1"/>
            </p:cNvSpPr>
            <p:nvPr/>
          </p:nvSpPr>
          <p:spPr bwMode="auto">
            <a:xfrm>
              <a:off x="4331" y="2566"/>
              <a:ext cx="232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2000" b="1" i="1">
                  <a:ea typeface="楷体_GB2312" pitchFamily="49" charset="-122"/>
                </a:rPr>
                <a:t>D</a:t>
              </a:r>
              <a:endParaRPr lang="en-US" altLang="zh-CN" sz="2000" b="1" i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7187" name="Text Box 156"/>
            <p:cNvSpPr txBox="1">
              <a:spLocks noChangeArrowheads="1"/>
            </p:cNvSpPr>
            <p:nvPr/>
          </p:nvSpPr>
          <p:spPr bwMode="auto">
            <a:xfrm>
              <a:off x="3806" y="2006"/>
              <a:ext cx="223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2000" b="1" i="1" dirty="0">
                  <a:ea typeface="楷体_GB2312" pitchFamily="49" charset="-122"/>
                </a:rPr>
                <a:t>F</a:t>
              </a:r>
              <a:endParaRPr lang="en-US" altLang="zh-CN" sz="2000" b="1" i="1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7190" name="Line 159"/>
            <p:cNvSpPr>
              <a:spLocks noChangeShapeType="1"/>
            </p:cNvSpPr>
            <p:nvPr/>
          </p:nvSpPr>
          <p:spPr bwMode="auto">
            <a:xfrm flipV="1">
              <a:off x="3155" y="2213"/>
              <a:ext cx="0" cy="384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91" name="Line 160"/>
            <p:cNvSpPr>
              <a:spLocks noChangeShapeType="1"/>
            </p:cNvSpPr>
            <p:nvPr/>
          </p:nvSpPr>
          <p:spPr bwMode="auto">
            <a:xfrm>
              <a:off x="3155" y="2597"/>
              <a:ext cx="384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92" name="Line 161"/>
            <p:cNvSpPr>
              <a:spLocks noChangeShapeType="1"/>
            </p:cNvSpPr>
            <p:nvPr/>
          </p:nvSpPr>
          <p:spPr bwMode="auto">
            <a:xfrm>
              <a:off x="4022" y="2150"/>
              <a:ext cx="0" cy="431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93" name="Line 162"/>
            <p:cNvSpPr>
              <a:spLocks noChangeShapeType="1"/>
            </p:cNvSpPr>
            <p:nvPr/>
          </p:nvSpPr>
          <p:spPr bwMode="auto">
            <a:xfrm flipV="1">
              <a:off x="4355" y="2597"/>
              <a:ext cx="0" cy="386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94" name="Text Box 163"/>
            <p:cNvSpPr txBox="1">
              <a:spLocks noChangeArrowheads="1"/>
            </p:cNvSpPr>
            <p:nvPr/>
          </p:nvSpPr>
          <p:spPr bwMode="auto">
            <a:xfrm>
              <a:off x="2832" y="2117"/>
              <a:ext cx="338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2000" b="1" i="1">
                  <a:ea typeface="楷体_GB2312" pitchFamily="49" charset="-122"/>
                </a:rPr>
                <a:t>F</a:t>
              </a:r>
              <a:r>
                <a:rPr lang="en-US" altLang="zh-CN" sz="2000" b="1" i="1" baseline="-25000">
                  <a:ea typeface="楷体_GB2312" pitchFamily="49" charset="-122"/>
                </a:rPr>
                <a:t>Ay</a:t>
              </a:r>
              <a:endParaRPr lang="en-US" altLang="zh-CN" sz="2000" b="1" i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7195" name="Text Box 164"/>
            <p:cNvSpPr txBox="1">
              <a:spLocks noChangeArrowheads="1"/>
            </p:cNvSpPr>
            <p:nvPr/>
          </p:nvSpPr>
          <p:spPr bwMode="auto">
            <a:xfrm>
              <a:off x="3244" y="2549"/>
              <a:ext cx="344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2000" b="1" i="1">
                  <a:ea typeface="楷体_GB2312" pitchFamily="49" charset="-122"/>
                </a:rPr>
                <a:t>F</a:t>
              </a:r>
              <a:r>
                <a:rPr lang="en-US" altLang="zh-CN" sz="2000" b="1" i="1" baseline="-25000">
                  <a:ea typeface="楷体_GB2312" pitchFamily="49" charset="-122"/>
                </a:rPr>
                <a:t>Ax</a:t>
              </a:r>
              <a:endParaRPr lang="en-US" altLang="zh-CN" sz="2000" b="1" i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7196" name="Text Box 165"/>
            <p:cNvSpPr txBox="1">
              <a:spLocks noChangeArrowheads="1"/>
            </p:cNvSpPr>
            <p:nvPr/>
          </p:nvSpPr>
          <p:spPr bwMode="auto">
            <a:xfrm>
              <a:off x="4355" y="2777"/>
              <a:ext cx="298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2000" b="1" i="1" dirty="0">
                  <a:ea typeface="楷体_GB2312" pitchFamily="49" charset="-122"/>
                </a:rPr>
                <a:t>F</a:t>
              </a:r>
              <a:r>
                <a:rPr lang="en-US" altLang="zh-CN" sz="2000" b="1" i="1" baseline="-25000" dirty="0">
                  <a:ea typeface="楷体_GB2312" pitchFamily="49" charset="-122"/>
                </a:rPr>
                <a:t>D</a:t>
              </a:r>
              <a:endParaRPr lang="en-US" altLang="zh-CN" sz="2000" b="1" i="1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7197" name="Text Box 166"/>
            <p:cNvSpPr txBox="1">
              <a:spLocks noChangeArrowheads="1"/>
            </p:cNvSpPr>
            <p:nvPr/>
          </p:nvSpPr>
          <p:spPr bwMode="auto">
            <a:xfrm>
              <a:off x="3816" y="2304"/>
              <a:ext cx="223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2000" b="1" i="1">
                  <a:ea typeface="楷体_GB2312" pitchFamily="49" charset="-122"/>
                </a:rPr>
                <a:t>C</a:t>
              </a:r>
              <a:endParaRPr lang="en-US" altLang="zh-CN" sz="2000" b="1" i="1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7198" name="Line 167"/>
            <p:cNvSpPr>
              <a:spLocks noChangeShapeType="1"/>
            </p:cNvSpPr>
            <p:nvPr/>
          </p:nvSpPr>
          <p:spPr bwMode="auto">
            <a:xfrm>
              <a:off x="4264" y="2212"/>
              <a:ext cx="0" cy="6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99" name="Line 168"/>
            <p:cNvSpPr>
              <a:spLocks noChangeShapeType="1"/>
            </p:cNvSpPr>
            <p:nvPr/>
          </p:nvSpPr>
          <p:spPr bwMode="auto">
            <a:xfrm>
              <a:off x="4266" y="2212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0" name="Line 169"/>
            <p:cNvSpPr>
              <a:spLocks noChangeShapeType="1"/>
            </p:cNvSpPr>
            <p:nvPr/>
          </p:nvSpPr>
          <p:spPr bwMode="auto">
            <a:xfrm flipH="1">
              <a:off x="3968" y="2836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1" name="Rectangle 170"/>
            <p:cNvSpPr>
              <a:spLocks noChangeArrowheads="1"/>
            </p:cNvSpPr>
            <p:nvPr/>
          </p:nvSpPr>
          <p:spPr bwMode="auto">
            <a:xfrm>
              <a:off x="4511" y="2116"/>
              <a:ext cx="25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i="1" dirty="0">
                  <a:ea typeface="楷体_GB2312" pitchFamily="49" charset="-122"/>
                </a:rPr>
                <a:t>M</a:t>
              </a:r>
            </a:p>
          </p:txBody>
        </p:sp>
      </p:grpSp>
      <p:sp>
        <p:nvSpPr>
          <p:cNvPr id="12461" name="Rectangle 173"/>
          <p:cNvSpPr>
            <a:spLocks noChangeArrowheads="1"/>
          </p:cNvSpPr>
          <p:nvPr/>
        </p:nvSpPr>
        <p:spPr bwMode="auto">
          <a:xfrm>
            <a:off x="4759352" y="3928999"/>
            <a:ext cx="3457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 dirty="0">
                <a:solidFill>
                  <a:schemeClr val="accent2"/>
                </a:solidFill>
              </a:rPr>
              <a:t>F </a:t>
            </a:r>
            <a:r>
              <a:rPr lang="en-US" altLang="zh-CN" dirty="0">
                <a:solidFill>
                  <a:schemeClr val="accent2"/>
                </a:solidFill>
              </a:rPr>
              <a:t>=</a:t>
            </a:r>
            <a:r>
              <a:rPr lang="en-US" altLang="zh-CN" i="1" dirty="0" err="1">
                <a:solidFill>
                  <a:schemeClr val="accent2"/>
                </a:solidFill>
              </a:rPr>
              <a:t>q</a:t>
            </a:r>
            <a:r>
              <a:rPr lang="en-US" altLang="zh-CN" dirty="0" err="1">
                <a:solidFill>
                  <a:schemeClr val="accent2"/>
                </a:solidFill>
                <a:sym typeface="Symbol" panose="05050102010706020507" pitchFamily="18" charset="2"/>
              </a:rPr>
              <a:t>×</a:t>
            </a:r>
            <a:r>
              <a:rPr lang="en-US" altLang="zh-CN" i="1" dirty="0" err="1">
                <a:solidFill>
                  <a:schemeClr val="accent2"/>
                </a:solidFill>
                <a:sym typeface="Symbol" panose="05050102010706020507" pitchFamily="18" charset="2"/>
              </a:rPr>
              <a:t>AB</a:t>
            </a:r>
            <a:r>
              <a:rPr lang="en-US" altLang="zh-CN" dirty="0">
                <a:solidFill>
                  <a:schemeClr val="accent2"/>
                </a:solidFill>
                <a:sym typeface="Symbol" panose="05050102010706020507" pitchFamily="18" charset="2"/>
              </a:rPr>
              <a:t>=100×3=300 N</a:t>
            </a:r>
          </a:p>
        </p:txBody>
      </p:sp>
      <p:graphicFrame>
        <p:nvGraphicFramePr>
          <p:cNvPr id="12462" name="Object 17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5656108"/>
              </p:ext>
            </p:extLst>
          </p:nvPr>
        </p:nvGraphicFramePr>
        <p:xfrm>
          <a:off x="2869153" y="4618746"/>
          <a:ext cx="971550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7" name="Equation" r:id="rId9" imgW="482400" imgH="228600" progId="Equation.3">
                  <p:embed/>
                </p:oleObj>
              </mc:Choice>
              <mc:Fallback>
                <p:oleObj name="Equation" r:id="rId9" imgW="482400" imgH="228600" progId="Equation.3">
                  <p:embed/>
                  <p:pic>
                    <p:nvPicPr>
                      <p:cNvPr id="0" name="Object 1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9153" y="4618746"/>
                        <a:ext cx="971550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63" name="Object 17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4760471"/>
              </p:ext>
            </p:extLst>
          </p:nvPr>
        </p:nvGraphicFramePr>
        <p:xfrm>
          <a:off x="2580228" y="5012446"/>
          <a:ext cx="3273425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8" name="Equation" r:id="rId11" imgW="1638000" imgH="393480" progId="Equation.3">
                  <p:embed/>
                </p:oleObj>
              </mc:Choice>
              <mc:Fallback>
                <p:oleObj name="Equation" r:id="rId11" imgW="1638000" imgH="393480" progId="Equation.3">
                  <p:embed/>
                  <p:pic>
                    <p:nvPicPr>
                      <p:cNvPr id="0" name="Object 1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0228" y="5012446"/>
                        <a:ext cx="3273425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64" name="Rectangle 176"/>
          <p:cNvSpPr>
            <a:spLocks noChangeArrowheads="1"/>
          </p:cNvSpPr>
          <p:nvPr/>
        </p:nvSpPr>
        <p:spPr bwMode="auto">
          <a:xfrm>
            <a:off x="6574730" y="5079931"/>
            <a:ext cx="159385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i="1" dirty="0">
                <a:solidFill>
                  <a:srgbClr val="0033CC"/>
                </a:solidFill>
              </a:rPr>
              <a:t>F</a:t>
            </a:r>
            <a:r>
              <a:rPr lang="en-US" altLang="zh-CN" i="1" baseline="-25000" dirty="0">
                <a:solidFill>
                  <a:srgbClr val="0033CC"/>
                </a:solidFill>
              </a:rPr>
              <a:t>D</a:t>
            </a:r>
            <a:r>
              <a:rPr lang="en-US" altLang="zh-CN" dirty="0">
                <a:solidFill>
                  <a:srgbClr val="0033CC"/>
                </a:solidFill>
              </a:rPr>
              <a:t>= 475  N</a:t>
            </a:r>
          </a:p>
        </p:txBody>
      </p:sp>
      <p:graphicFrame>
        <p:nvGraphicFramePr>
          <p:cNvPr id="12465" name="Object 17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3225709"/>
              </p:ext>
            </p:extLst>
          </p:nvPr>
        </p:nvGraphicFramePr>
        <p:xfrm>
          <a:off x="2796128" y="5729996"/>
          <a:ext cx="2139950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9" name="Equation" r:id="rId13" imgW="1041120" imgH="241200" progId="Equation.3">
                  <p:embed/>
                </p:oleObj>
              </mc:Choice>
              <mc:Fallback>
                <p:oleObj name="Equation" r:id="rId13" imgW="1041120" imgH="241200" progId="Equation.3">
                  <p:embed/>
                  <p:pic>
                    <p:nvPicPr>
                      <p:cNvPr id="0" name="Object 1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6128" y="5729996"/>
                        <a:ext cx="2139950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66" name="Rectangle 178"/>
          <p:cNvSpPr>
            <a:spLocks noChangeArrowheads="1"/>
          </p:cNvSpPr>
          <p:nvPr/>
        </p:nvSpPr>
        <p:spPr bwMode="auto">
          <a:xfrm>
            <a:off x="6336605" y="5656193"/>
            <a:ext cx="1779911" cy="5384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i="1" dirty="0" err="1">
                <a:solidFill>
                  <a:srgbClr val="0033CC"/>
                </a:solidFill>
              </a:rPr>
              <a:t>F</a:t>
            </a:r>
            <a:r>
              <a:rPr lang="en-US" altLang="zh-CN" i="1" baseline="-25000" dirty="0" err="1">
                <a:solidFill>
                  <a:srgbClr val="0033CC"/>
                </a:solidFill>
              </a:rPr>
              <a:t>Ay</a:t>
            </a:r>
            <a:r>
              <a:rPr lang="en-US" altLang="zh-CN" dirty="0">
                <a:solidFill>
                  <a:srgbClr val="0033CC"/>
                </a:solidFill>
              </a:rPr>
              <a:t>=  </a:t>
            </a:r>
            <a:r>
              <a:rPr lang="zh-CN" altLang="en-US" dirty="0">
                <a:solidFill>
                  <a:srgbClr val="0033CC"/>
                </a:solidFill>
              </a:rPr>
              <a:t>̶ </a:t>
            </a:r>
            <a:r>
              <a:rPr lang="en-US" altLang="zh-CN" dirty="0">
                <a:solidFill>
                  <a:srgbClr val="0033CC"/>
                </a:solidFill>
              </a:rPr>
              <a:t>175  N</a:t>
            </a:r>
          </a:p>
        </p:txBody>
      </p:sp>
      <p:sp>
        <p:nvSpPr>
          <p:cNvPr id="103" name="Text Box 144"/>
          <p:cNvSpPr txBox="1">
            <a:spLocks noChangeArrowheads="1"/>
          </p:cNvSpPr>
          <p:nvPr/>
        </p:nvSpPr>
        <p:spPr bwMode="auto">
          <a:xfrm>
            <a:off x="6067073" y="1571120"/>
            <a:ext cx="312906" cy="460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5000"/>
              </a:lnSpc>
            </a:pPr>
            <a:r>
              <a:rPr lang="en-US" altLang="zh-CN" sz="2000" b="1" i="1" dirty="0">
                <a:ea typeface="楷体_GB2312" pitchFamily="49" charset="-122"/>
              </a:rPr>
              <a:t>q</a:t>
            </a:r>
            <a:endParaRPr lang="en-US" altLang="zh-CN" sz="2000" b="1" i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2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2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40" dur="750"/>
                                        <p:tgtEl>
                                          <p:spTgt spid="12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4" dur="500"/>
                                        <p:tgtEl>
                                          <p:spTgt spid="12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2" grpId="0" build="p" autoUpdateAnimBg="0"/>
      <p:bldP spid="12461" grpId="0"/>
      <p:bldP spid="12464" grpId="0"/>
      <p:bldP spid="1246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007518" y="3307899"/>
            <a:ext cx="2655887" cy="2951162"/>
            <a:chOff x="6215417" y="3275922"/>
            <a:chExt cx="2655887" cy="2951162"/>
          </a:xfrm>
        </p:grpSpPr>
        <p:pic>
          <p:nvPicPr>
            <p:cNvPr id="257053" name="Picture 29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15417" y="3275922"/>
              <a:ext cx="2655887" cy="29511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Rectangle 149"/>
            <p:cNvSpPr>
              <a:spLocks noChangeArrowheads="1"/>
            </p:cNvSpPr>
            <p:nvPr/>
          </p:nvSpPr>
          <p:spPr bwMode="auto">
            <a:xfrm>
              <a:off x="8210610" y="4205926"/>
              <a:ext cx="377026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800" i="1" dirty="0">
                  <a:ea typeface="楷体_GB2312" pitchFamily="49" charset="-122"/>
                </a:rPr>
                <a:t>M</a:t>
              </a:r>
            </a:p>
          </p:txBody>
        </p:sp>
      </p:grpSp>
      <p:graphicFrame>
        <p:nvGraphicFramePr>
          <p:cNvPr id="2570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4727016"/>
              </p:ext>
            </p:extLst>
          </p:nvPr>
        </p:nvGraphicFramePr>
        <p:xfrm>
          <a:off x="1801813" y="2134417"/>
          <a:ext cx="25146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4" name="Equation" r:id="rId4" imgW="1257120" imgH="393480" progId="Equation.DSMT4">
                  <p:embed/>
                </p:oleObj>
              </mc:Choice>
              <mc:Fallback>
                <p:oleObj name="Equation" r:id="rId4" imgW="125712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1813" y="2134417"/>
                        <a:ext cx="25146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0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9636271"/>
              </p:ext>
            </p:extLst>
          </p:nvPr>
        </p:nvGraphicFramePr>
        <p:xfrm>
          <a:off x="1006870" y="3412101"/>
          <a:ext cx="1079500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5" name="Equation" r:id="rId6" imgW="876240" imgH="330120" progId="Equation.DSMT4">
                  <p:embed/>
                </p:oleObj>
              </mc:Choice>
              <mc:Fallback>
                <p:oleObj name="Equation" r:id="rId6" imgW="87624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6870" y="3412101"/>
                        <a:ext cx="1079500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03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7108384"/>
              </p:ext>
            </p:extLst>
          </p:nvPr>
        </p:nvGraphicFramePr>
        <p:xfrm>
          <a:off x="1006870" y="4473345"/>
          <a:ext cx="1188866" cy="450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6" name="Equation" r:id="rId8" imgW="672840" imgH="253800" progId="Equation.DSMT4">
                  <p:embed/>
                </p:oleObj>
              </mc:Choice>
              <mc:Fallback>
                <p:oleObj name="Equation" r:id="rId8" imgW="67284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6870" y="4473345"/>
                        <a:ext cx="1188866" cy="4501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03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7432566"/>
              </p:ext>
            </p:extLst>
          </p:nvPr>
        </p:nvGraphicFramePr>
        <p:xfrm>
          <a:off x="1024082" y="3946433"/>
          <a:ext cx="1079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7" name="Equation" r:id="rId10" imgW="888840" imgH="342720" progId="Equation.DSMT4">
                  <p:embed/>
                </p:oleObj>
              </mc:Choice>
              <mc:Fallback>
                <p:oleObj name="Equation" r:id="rId10" imgW="88884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4082" y="3946433"/>
                        <a:ext cx="1079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03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8825239"/>
              </p:ext>
            </p:extLst>
          </p:nvPr>
        </p:nvGraphicFramePr>
        <p:xfrm>
          <a:off x="2306244" y="3877469"/>
          <a:ext cx="2937172" cy="4532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8" name="Equation" r:id="rId12" imgW="1396800" imgH="215640" progId="Equation.3">
                  <p:embed/>
                </p:oleObj>
              </mc:Choice>
              <mc:Fallback>
                <p:oleObj name="Equation" r:id="rId12" imgW="139680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6244" y="3877469"/>
                        <a:ext cx="2937172" cy="4532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03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8446650"/>
              </p:ext>
            </p:extLst>
          </p:nvPr>
        </p:nvGraphicFramePr>
        <p:xfrm>
          <a:off x="470845" y="5722064"/>
          <a:ext cx="1757770" cy="427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9" name="Equation" r:id="rId14" imgW="939600" imgH="228600" progId="Equation.DSMT4">
                  <p:embed/>
                </p:oleObj>
              </mc:Choice>
              <mc:Fallback>
                <p:oleObj name="Equation" r:id="rId14" imgW="939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845" y="5722064"/>
                        <a:ext cx="1757770" cy="4273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03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0554981"/>
              </p:ext>
            </p:extLst>
          </p:nvPr>
        </p:nvGraphicFramePr>
        <p:xfrm>
          <a:off x="2508524" y="5713427"/>
          <a:ext cx="16764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0" name="Equation" r:id="rId16" imgW="812520" imgH="190440" progId="Equation.3">
                  <p:embed/>
                </p:oleObj>
              </mc:Choice>
              <mc:Fallback>
                <p:oleObj name="Equation" r:id="rId16" imgW="812520" imgH="190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524" y="5713427"/>
                        <a:ext cx="16764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039" name="Object 15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8943002"/>
              </p:ext>
            </p:extLst>
          </p:nvPr>
        </p:nvGraphicFramePr>
        <p:xfrm>
          <a:off x="2366963" y="3321117"/>
          <a:ext cx="2769793" cy="4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1" name="公式" r:id="rId18" imgW="1422360" imgH="241200" progId="Equation.3">
                  <p:embed/>
                </p:oleObj>
              </mc:Choice>
              <mc:Fallback>
                <p:oleObj name="公式" r:id="rId18" imgW="142236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6963" y="3321117"/>
                        <a:ext cx="2769793" cy="4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7050" name="Text Box 26"/>
          <p:cNvSpPr txBox="1">
            <a:spLocks noChangeArrowheads="1"/>
          </p:cNvSpPr>
          <p:nvPr/>
        </p:nvSpPr>
        <p:spPr bwMode="auto">
          <a:xfrm>
            <a:off x="889479" y="1730681"/>
            <a:ext cx="424026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解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：研究</a:t>
            </a:r>
            <a:r>
              <a:rPr kumimoji="1" lang="en-US" altLang="zh-CN" sz="2400" dirty="0">
                <a:latin typeface="+mn-lt"/>
                <a:ea typeface="楷体" panose="02010609060101010101" pitchFamily="49" charset="-122"/>
              </a:rPr>
              <a:t>T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型刚架，画受力图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</a:p>
        </p:txBody>
      </p:sp>
      <p:pic>
        <p:nvPicPr>
          <p:cNvPr id="257052" name="Picture 28"/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7" y="326037"/>
            <a:ext cx="2774513" cy="3022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7054" name="Text Box 30"/>
          <p:cNvSpPr txBox="1">
            <a:spLocks noChangeArrowheads="1"/>
          </p:cNvSpPr>
          <p:nvPr/>
        </p:nvSpPr>
        <p:spPr bwMode="auto">
          <a:xfrm>
            <a:off x="962024" y="2906590"/>
            <a:ext cx="161131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列平衡方程</a:t>
            </a:r>
          </a:p>
        </p:txBody>
      </p:sp>
      <p:sp>
        <p:nvSpPr>
          <p:cNvPr id="32" name="Text Box 22"/>
          <p:cNvSpPr txBox="1">
            <a:spLocks noChangeArrowheads="1"/>
          </p:cNvSpPr>
          <p:nvPr/>
        </p:nvSpPr>
        <p:spPr bwMode="auto">
          <a:xfrm>
            <a:off x="653989" y="512583"/>
            <a:ext cx="478210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kumimoji="1"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已知：</a:t>
            </a:r>
            <a:r>
              <a:rPr lang="en-US" altLang="zh-CN" i="1" dirty="0">
                <a:ea typeface="楷体" panose="02010609060101010101" pitchFamily="49" charset="-122"/>
              </a:rPr>
              <a:t>P</a:t>
            </a:r>
            <a:r>
              <a:rPr lang="en-US" altLang="zh-CN" b="1" dirty="0">
                <a:ea typeface="楷体" panose="02010609060101010101" pitchFamily="49" charset="-122"/>
              </a:rPr>
              <a:t>=</a:t>
            </a:r>
            <a:r>
              <a:rPr lang="en-US" altLang="zh-CN" dirty="0">
                <a:ea typeface="楷体" panose="02010609060101010101" pitchFamily="49" charset="-122"/>
              </a:rPr>
              <a:t>100kN</a:t>
            </a:r>
            <a:r>
              <a:rPr lang="zh-CN" altLang="en-US" dirty="0">
                <a:ea typeface="楷体" panose="02010609060101010101" pitchFamily="49" charset="-122"/>
              </a:rPr>
              <a:t>，</a:t>
            </a:r>
            <a:r>
              <a:rPr kumimoji="0" lang="en-US" altLang="zh-CN" i="1" dirty="0">
                <a:ea typeface="楷体" panose="02010609060101010101" pitchFamily="49" charset="-122"/>
              </a:rPr>
              <a:t>M</a:t>
            </a:r>
            <a:r>
              <a:rPr kumimoji="0" lang="en-US" altLang="zh-CN" b="1" dirty="0">
                <a:ea typeface="楷体" panose="02010609060101010101" pitchFamily="49" charset="-122"/>
              </a:rPr>
              <a:t> =</a:t>
            </a:r>
            <a:r>
              <a:rPr kumimoji="0" lang="en-US" altLang="zh-CN" dirty="0">
                <a:ea typeface="楷体" panose="02010609060101010101" pitchFamily="49" charset="-122"/>
              </a:rPr>
              <a:t>20kN</a:t>
            </a:r>
            <a:r>
              <a:rPr kumimoji="0" lang="en-US" altLang="zh-CN" dirty="0">
                <a:ea typeface="楷体" panose="02010609060101010101" pitchFamily="49" charset="-122"/>
                <a:sym typeface="Symbol" panose="05050102010706020507" pitchFamily="18" charset="2"/>
              </a:rPr>
              <a:t></a:t>
            </a:r>
            <a:r>
              <a:rPr kumimoji="0" lang="en-US" altLang="zh-CN" dirty="0">
                <a:ea typeface="楷体" panose="02010609060101010101" pitchFamily="49" charset="-122"/>
              </a:rPr>
              <a:t>m</a:t>
            </a:r>
            <a:r>
              <a:rPr kumimoji="0" lang="zh-CN" altLang="en-US" dirty="0">
                <a:ea typeface="楷体" panose="02010609060101010101" pitchFamily="49" charset="-122"/>
              </a:rPr>
              <a:t>，</a:t>
            </a:r>
            <a:r>
              <a:rPr kumimoji="0" lang="en-US" altLang="zh-CN" i="1" dirty="0">
                <a:ea typeface="楷体" panose="02010609060101010101" pitchFamily="49" charset="-122"/>
              </a:rPr>
              <a:t>q</a:t>
            </a:r>
            <a:r>
              <a:rPr kumimoji="0" lang="en-US" altLang="zh-CN" b="1" dirty="0">
                <a:ea typeface="楷体" panose="02010609060101010101" pitchFamily="49" charset="-122"/>
              </a:rPr>
              <a:t>=</a:t>
            </a:r>
            <a:r>
              <a:rPr kumimoji="0" lang="en-US" altLang="zh-CN" dirty="0">
                <a:ea typeface="楷体" panose="02010609060101010101" pitchFamily="49" charset="-122"/>
              </a:rPr>
              <a:t>20kN</a:t>
            </a:r>
            <a:r>
              <a:rPr kumimoji="0" lang="en-US" altLang="zh-CN" b="1" dirty="0">
                <a:ea typeface="楷体" panose="02010609060101010101" pitchFamily="49" charset="-122"/>
              </a:rPr>
              <a:t>/</a:t>
            </a:r>
            <a:r>
              <a:rPr kumimoji="0" lang="en-US" altLang="zh-CN" dirty="0">
                <a:ea typeface="楷体" panose="02010609060101010101" pitchFamily="49" charset="-122"/>
              </a:rPr>
              <a:t>m</a:t>
            </a:r>
            <a:r>
              <a:rPr kumimoji="0" lang="zh-CN" altLang="en-US" dirty="0">
                <a:ea typeface="楷体" panose="02010609060101010101" pitchFamily="49" charset="-122"/>
              </a:rPr>
              <a:t>，</a:t>
            </a:r>
            <a:r>
              <a:rPr lang="en-US" altLang="zh-CN" i="1" dirty="0">
                <a:ea typeface="楷体" panose="02010609060101010101" pitchFamily="49" charset="-122"/>
              </a:rPr>
              <a:t>F</a:t>
            </a:r>
            <a:r>
              <a:rPr lang="en-US" altLang="zh-CN" b="1" dirty="0">
                <a:ea typeface="楷体" panose="02010609060101010101" pitchFamily="49" charset="-122"/>
              </a:rPr>
              <a:t>=</a:t>
            </a:r>
            <a:r>
              <a:rPr lang="en-US" altLang="zh-CN" dirty="0">
                <a:ea typeface="楷体" panose="02010609060101010101" pitchFamily="49" charset="-122"/>
              </a:rPr>
              <a:t>400kN,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求固定端</a:t>
            </a:r>
            <a:r>
              <a:rPr lang="en-US" altLang="zh-CN" i="1" dirty="0">
                <a:ea typeface="楷体" panose="02010609060101010101" pitchFamily="49" charset="-122"/>
              </a:rPr>
              <a:t>A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处的约束力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</a:p>
        </p:txBody>
      </p:sp>
      <p:graphicFrame>
        <p:nvGraphicFramePr>
          <p:cNvPr id="25703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4827"/>
              </p:ext>
            </p:extLst>
          </p:nvPr>
        </p:nvGraphicFramePr>
        <p:xfrm>
          <a:off x="599203" y="4983956"/>
          <a:ext cx="561657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2" name="Equation" r:id="rId21" imgW="2831760" imgH="203040" progId="Equation.3">
                  <p:embed/>
                </p:oleObj>
              </mc:Choice>
              <mc:Fallback>
                <p:oleObj name="Equation" r:id="rId21" imgW="283176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203" y="4983956"/>
                        <a:ext cx="5616575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703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426231"/>
              </p:ext>
            </p:extLst>
          </p:nvPr>
        </p:nvGraphicFramePr>
        <p:xfrm>
          <a:off x="4384687" y="5713427"/>
          <a:ext cx="237490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3" name="Equation" r:id="rId23" imgW="1155600" imgH="177480" progId="Equation.3">
                  <p:embed/>
                </p:oleObj>
              </mc:Choice>
              <mc:Fallback>
                <p:oleObj name="Equation" r:id="rId23" imgW="115560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4687" y="5713427"/>
                        <a:ext cx="2374900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49"/>
          <p:cNvSpPr>
            <a:spLocks noChangeArrowheads="1"/>
          </p:cNvSpPr>
          <p:nvPr/>
        </p:nvSpPr>
        <p:spPr bwMode="auto">
          <a:xfrm>
            <a:off x="7596336" y="1222268"/>
            <a:ext cx="377026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800" i="1" dirty="0">
                <a:ea typeface="楷体_GB2312" pitchFamily="49" charset="-122"/>
              </a:rPr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263438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7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7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57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57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57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57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050" grpId="0"/>
      <p:bldP spid="25705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1115616" y="908720"/>
            <a:ext cx="7102475" cy="5189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60000"/>
              </a:lnSpc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求解平面力系平衡问题的方法和步骤归纳如下：</a:t>
            </a:r>
          </a:p>
          <a:p>
            <a:pPr eaLnBrk="1" hangingPunct="1">
              <a:lnSpc>
                <a:spcPct val="160000"/>
              </a:lnSpc>
            </a:pP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．根据问题条件和要求，</a:t>
            </a:r>
            <a:r>
              <a:rPr lang="zh-CN" altLang="en-US" b="1" dirty="0">
                <a:solidFill>
                  <a:srgbClr val="FF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选取研究对象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 eaLnBrk="1" hangingPunct="1">
              <a:lnSpc>
                <a:spcPct val="160000"/>
              </a:lnSpc>
            </a:pP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．</a:t>
            </a:r>
            <a:r>
              <a:rPr lang="zh-CN" altLang="en-US" b="1" dirty="0">
                <a:solidFill>
                  <a:srgbClr val="FF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分析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研究对象的</a:t>
            </a:r>
            <a:r>
              <a:rPr lang="zh-CN" altLang="en-US" b="1" dirty="0">
                <a:solidFill>
                  <a:srgbClr val="FF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受力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情况，画受力图。画出研究对象所受的全部主动力和约束力。</a:t>
            </a:r>
          </a:p>
          <a:p>
            <a:pPr eaLnBrk="1" hangingPunct="1">
              <a:lnSpc>
                <a:spcPct val="160000"/>
              </a:lnSpc>
            </a:pP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．根据力系类型</a:t>
            </a:r>
            <a:r>
              <a:rPr lang="zh-CN" altLang="en-US" b="1" dirty="0">
                <a:solidFill>
                  <a:srgbClr val="FF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写平衡方程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。平面一般力系只有三个独立平衡方程。为计算简捷，应选取适当的坐标系和矩心，以使方程中未知量最少。</a:t>
            </a:r>
          </a:p>
          <a:p>
            <a:pPr eaLnBrk="1" hangingPunct="1">
              <a:lnSpc>
                <a:spcPct val="160000"/>
              </a:lnSpc>
            </a:pP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．</a:t>
            </a:r>
            <a:r>
              <a:rPr lang="zh-CN" altLang="en-US" b="1" dirty="0">
                <a:solidFill>
                  <a:srgbClr val="FF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求解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r>
              <a:rPr lang="zh-CN" altLang="en-US" b="1" dirty="0">
                <a:solidFill>
                  <a:srgbClr val="FF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校核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和讨论计算结果。</a:t>
            </a:r>
          </a:p>
          <a:p>
            <a:pPr eaLnBrk="1" hangingPunct="1"/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 uiExpand="1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913087" y="1123588"/>
            <a:ext cx="26597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静定与静不定概念</a:t>
            </a: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744940" y="2493134"/>
            <a:ext cx="718730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静不定问题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未知量个数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独立的平衡方程个数。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不能由平衡条件求出全部确定的未知量。 </a:t>
            </a:r>
          </a:p>
        </p:txBody>
      </p:sp>
      <p:graphicFrame>
        <p:nvGraphicFramePr>
          <p:cNvPr id="174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5162307"/>
              </p:ext>
            </p:extLst>
          </p:nvPr>
        </p:nvGraphicFramePr>
        <p:xfrm>
          <a:off x="834313" y="3717032"/>
          <a:ext cx="1409700" cy="217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4" name="Image" r:id="rId3" imgW="1409524" imgH="2171429" progId="Photoshop.Image.6">
                  <p:embed/>
                </p:oleObj>
              </mc:Choice>
              <mc:Fallback>
                <p:oleObj name="Image" r:id="rId3" imgW="1409524" imgH="2171429" progId="Photoshop.Image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4313" y="3717032"/>
                        <a:ext cx="1409700" cy="217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9788906"/>
              </p:ext>
            </p:extLst>
          </p:nvPr>
        </p:nvGraphicFramePr>
        <p:xfrm>
          <a:off x="2483768" y="3577332"/>
          <a:ext cx="1270000" cy="231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5" name="Image" r:id="rId5" imgW="1269841" imgH="2311111" progId="Photoshop.Image.6">
                  <p:embed/>
                </p:oleObj>
              </mc:Choice>
              <mc:Fallback>
                <p:oleObj name="Image" r:id="rId5" imgW="1269841" imgH="2311111" progId="Photoshop.Image.6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3577332"/>
                        <a:ext cx="1270000" cy="231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615715" y="347757"/>
            <a:ext cx="6492483" cy="7190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45000"/>
              </a:lnSpc>
            </a:pPr>
            <a:r>
              <a:rPr lang="en-US" altLang="zh-CN" sz="3200" b="1" dirty="0">
                <a:ea typeface="黑体" panose="02010609060101010101" pitchFamily="49" charset="-122"/>
              </a:rPr>
              <a:t>§4-3  </a:t>
            </a: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静定与静不定问题</a:t>
            </a:r>
            <a:r>
              <a:rPr lang="zh-CN" altLang="en-US" b="1" dirty="0">
                <a:ea typeface="华文中宋" panose="02010600040101010101" pitchFamily="2" charset="-122"/>
              </a:rPr>
              <a:t>（书</a:t>
            </a:r>
            <a:r>
              <a:rPr lang="en-US" altLang="zh-CN" b="1" dirty="0">
                <a:latin typeface="宋体" panose="02010600030101010101" pitchFamily="2" charset="-122"/>
              </a:rPr>
              <a:t>§</a:t>
            </a:r>
            <a:r>
              <a:rPr lang="en-US" altLang="zh-CN" b="1" dirty="0"/>
              <a:t>2.4.1</a:t>
            </a:r>
            <a:r>
              <a:rPr lang="zh-CN" altLang="en-US" b="1" dirty="0">
                <a:ea typeface="华文中宋" panose="02010600040101010101" pitchFamily="2" charset="-122"/>
              </a:rPr>
              <a:t>）</a:t>
            </a:r>
          </a:p>
        </p:txBody>
      </p:sp>
      <p:sp>
        <p:nvSpPr>
          <p:cNvPr id="3" name="矩形 2"/>
          <p:cNvSpPr/>
          <p:nvPr/>
        </p:nvSpPr>
        <p:spPr>
          <a:xfrm>
            <a:off x="720810" y="1615884"/>
            <a:ext cx="723556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  <a:defRPr/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静定问题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：未知量个数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独立的平衡方程个数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zh-CN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由平衡条件可求出全部确定的未知量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graphicFrame>
        <p:nvGraphicFramePr>
          <p:cNvPr id="1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8752145"/>
              </p:ext>
            </p:extLst>
          </p:nvPr>
        </p:nvGraphicFramePr>
        <p:xfrm>
          <a:off x="4932040" y="3383952"/>
          <a:ext cx="2880320" cy="16701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6" name="Image" r:id="rId7" imgW="3022222" imgH="1752381" progId="Photoshop.Image.6">
                  <p:embed/>
                </p:oleObj>
              </mc:Choice>
              <mc:Fallback>
                <p:oleObj name="Image" r:id="rId7" imgW="3022222" imgH="1752381" progId="Photoshop.Image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040" y="3383952"/>
                        <a:ext cx="2880320" cy="16701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6091655"/>
              </p:ext>
            </p:extLst>
          </p:nvPr>
        </p:nvGraphicFramePr>
        <p:xfrm>
          <a:off x="4932040" y="5113875"/>
          <a:ext cx="2913231" cy="1572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7" name="Image" r:id="rId9" imgW="3200000" imgH="1726984" progId="Photoshop.Image.6">
                  <p:embed/>
                </p:oleObj>
              </mc:Choice>
              <mc:Fallback>
                <p:oleObj name="Image" r:id="rId9" imgW="3200000" imgH="1726984" progId="Photoshop.Image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040" y="5113875"/>
                        <a:ext cx="2913231" cy="15722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 autoUpdateAnimBg="0"/>
      <p:bldP spid="17412" grpId="0" build="p" autoUpdateAnimBg="0"/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3" name="Text Box 7"/>
          <p:cNvSpPr txBox="1">
            <a:spLocks noChangeArrowheads="1"/>
          </p:cNvSpPr>
          <p:nvPr/>
        </p:nvSpPr>
        <p:spPr bwMode="auto">
          <a:xfrm>
            <a:off x="755576" y="469422"/>
            <a:ext cx="61928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如何判定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?</a:t>
            </a:r>
          </a:p>
        </p:txBody>
      </p:sp>
      <p:sp>
        <p:nvSpPr>
          <p:cNvPr id="19464" name="Text Box 8"/>
          <p:cNvSpPr txBox="1">
            <a:spLocks noChangeArrowheads="1"/>
          </p:cNvSpPr>
          <p:nvPr/>
        </p:nvSpPr>
        <p:spPr bwMode="auto">
          <a:xfrm>
            <a:off x="860990" y="3446619"/>
            <a:ext cx="60483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静不定次数</a:t>
            </a:r>
          </a:p>
        </p:txBody>
      </p:sp>
      <p:sp>
        <p:nvSpPr>
          <p:cNvPr id="19465" name="Text Box 9"/>
          <p:cNvSpPr txBox="1">
            <a:spLocks noChangeArrowheads="1"/>
          </p:cNvSpPr>
          <p:nvPr/>
        </p:nvSpPr>
        <p:spPr bwMode="auto">
          <a:xfrm>
            <a:off x="877106" y="4486794"/>
            <a:ext cx="67691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静不定问题的求解</a:t>
            </a:r>
          </a:p>
        </p:txBody>
      </p:sp>
      <p:sp>
        <p:nvSpPr>
          <p:cNvPr id="2" name="矩形 1"/>
          <p:cNvSpPr/>
          <p:nvPr/>
        </p:nvSpPr>
        <p:spPr>
          <a:xfrm>
            <a:off x="755574" y="958266"/>
            <a:ext cx="647842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CC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比较</a:t>
            </a:r>
            <a:r>
              <a:rPr lang="zh-CN" altLang="en-US" b="1" dirty="0">
                <a:solidFill>
                  <a:srgbClr val="CC0099"/>
                </a:solidFill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独立平衡方程个数与未知量个数。</a:t>
            </a:r>
            <a:endParaRPr lang="en-US" altLang="zh-CN" b="1" dirty="0">
              <a:solidFill>
                <a:srgbClr val="CC0099"/>
              </a:solidFill>
              <a:latin typeface="楷体" panose="02010609060101010101" pitchFamily="49" charset="-122"/>
              <a:ea typeface="楷体" panose="02010609060101010101" pitchFamily="49" charset="-122"/>
              <a:sym typeface="Symbol" panose="05050102010706020507" pitchFamily="18" charset="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043608" y="1948048"/>
            <a:ext cx="1459230" cy="1181994"/>
            <a:chOff x="16830" y="0"/>
            <a:chExt cx="1459495" cy="1182091"/>
          </a:xfrm>
        </p:grpSpPr>
        <p:grpSp>
          <p:nvGrpSpPr>
            <p:cNvPr id="13" name="组合 12"/>
            <p:cNvGrpSpPr/>
            <p:nvPr/>
          </p:nvGrpSpPr>
          <p:grpSpPr>
            <a:xfrm>
              <a:off x="16830" y="0"/>
              <a:ext cx="1459495" cy="1182091"/>
              <a:chOff x="16830" y="0"/>
              <a:chExt cx="1459495" cy="1182091"/>
            </a:xfrm>
          </p:grpSpPr>
          <p:grpSp>
            <p:nvGrpSpPr>
              <p:cNvPr id="22" name="Group 418"/>
              <p:cNvGrpSpPr>
                <a:grpSpLocks/>
              </p:cNvGrpSpPr>
              <p:nvPr/>
            </p:nvGrpSpPr>
            <p:grpSpPr bwMode="auto">
              <a:xfrm>
                <a:off x="224435" y="1119226"/>
                <a:ext cx="276860" cy="62865"/>
                <a:chOff x="4235" y="3434"/>
                <a:chExt cx="470" cy="179"/>
              </a:xfrm>
            </p:grpSpPr>
            <p:sp>
              <p:nvSpPr>
                <p:cNvPr id="30" name="Rectangle 419" descr="宽上对角线"/>
                <p:cNvSpPr>
                  <a:spLocks noChangeArrowheads="1"/>
                </p:cNvSpPr>
                <p:nvPr/>
              </p:nvSpPr>
              <p:spPr bwMode="auto">
                <a:xfrm>
                  <a:off x="4235" y="3434"/>
                  <a:ext cx="464" cy="179"/>
                </a:xfrm>
                <a:prstGeom prst="rect">
                  <a:avLst/>
                </a:prstGeom>
                <a:pattFill prst="wdUpDiag">
                  <a:fgClr>
                    <a:srgbClr val="000000"/>
                  </a:fgClr>
                  <a:bgClr>
                    <a:srgbClr val="FFFFFF"/>
                  </a:bgClr>
                </a:patt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zh-CN" altLang="en-US"/>
                </a:p>
              </p:txBody>
            </p:sp>
            <p:cxnSp>
              <p:nvCxnSpPr>
                <p:cNvPr id="31" name="Line 420"/>
                <p:cNvCxnSpPr>
                  <a:cxnSpLocks noChangeShapeType="1"/>
                </p:cNvCxnSpPr>
                <p:nvPr/>
              </p:nvCxnSpPr>
              <p:spPr bwMode="auto">
                <a:xfrm>
                  <a:off x="4235" y="3434"/>
                  <a:ext cx="470" cy="1"/>
                </a:xfrm>
                <a:prstGeom prst="line">
                  <a:avLst/>
                </a:prstGeom>
                <a:noFill/>
                <a:ln w="222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23" name="Line 421"/>
              <p:cNvCxnSpPr>
                <a:cxnSpLocks noChangeShapeType="1"/>
              </p:cNvCxnSpPr>
              <p:nvPr/>
            </p:nvCxnSpPr>
            <p:spPr bwMode="auto">
              <a:xfrm rot="19800000">
                <a:off x="399999" y="1009498"/>
                <a:ext cx="2315" cy="12570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4" name="Line 422"/>
              <p:cNvCxnSpPr>
                <a:cxnSpLocks noChangeShapeType="1"/>
              </p:cNvCxnSpPr>
              <p:nvPr/>
            </p:nvCxnSpPr>
            <p:spPr bwMode="auto">
              <a:xfrm rot="1800000">
                <a:off x="312217" y="1009498"/>
                <a:ext cx="4630" cy="13540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5" name="Oval 423"/>
              <p:cNvSpPr>
                <a:spLocks noChangeArrowheads="1"/>
              </p:cNvSpPr>
              <p:nvPr/>
            </p:nvSpPr>
            <p:spPr bwMode="auto">
              <a:xfrm rot="5400000">
                <a:off x="326847" y="994867"/>
                <a:ext cx="51297" cy="50464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zh-CN" altLang="en-US"/>
              </a:p>
            </p:txBody>
          </p:sp>
          <p:cxnSp>
            <p:nvCxnSpPr>
              <p:cNvPr id="26" name="Line 433"/>
              <p:cNvCxnSpPr>
                <a:cxnSpLocks noChangeShapeType="1"/>
              </p:cNvCxnSpPr>
              <p:nvPr/>
            </p:nvCxnSpPr>
            <p:spPr bwMode="auto">
              <a:xfrm rot="6060000" flipH="1" flipV="1">
                <a:off x="263210" y="131673"/>
                <a:ext cx="0" cy="49276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non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7" name="Line 435"/>
              <p:cNvCxnSpPr>
                <a:cxnSpLocks noChangeShapeType="1"/>
              </p:cNvCxnSpPr>
              <p:nvPr/>
            </p:nvCxnSpPr>
            <p:spPr bwMode="auto">
              <a:xfrm rot="20760000">
                <a:off x="977900" y="797357"/>
                <a:ext cx="0" cy="32400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triangl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8" name="Line 435"/>
              <p:cNvCxnSpPr>
                <a:cxnSpLocks noChangeShapeType="1"/>
              </p:cNvCxnSpPr>
              <p:nvPr/>
            </p:nvCxnSpPr>
            <p:spPr bwMode="auto">
              <a:xfrm rot="14760000">
                <a:off x="1314400" y="168249"/>
                <a:ext cx="0" cy="32385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triangl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sp>
            <p:nvSpPr>
              <p:cNvPr id="29" name="椭圆 28"/>
              <p:cNvSpPr/>
              <p:nvPr/>
            </p:nvSpPr>
            <p:spPr>
              <a:xfrm rot="2581257">
                <a:off x="465836" y="0"/>
                <a:ext cx="570585" cy="1155801"/>
              </a:xfrm>
              <a:prstGeom prst="ellipse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 rot="16200000">
              <a:off x="1096720" y="451591"/>
              <a:ext cx="276860" cy="267970"/>
              <a:chOff x="0" y="0"/>
              <a:chExt cx="277431" cy="268603"/>
            </a:xfrm>
          </p:grpSpPr>
          <p:grpSp>
            <p:nvGrpSpPr>
              <p:cNvPr id="15" name="组合 14"/>
              <p:cNvGrpSpPr/>
              <p:nvPr/>
            </p:nvGrpSpPr>
            <p:grpSpPr>
              <a:xfrm>
                <a:off x="0" y="0"/>
                <a:ext cx="277431" cy="268603"/>
                <a:chOff x="0" y="0"/>
                <a:chExt cx="277431" cy="268603"/>
              </a:xfrm>
            </p:grpSpPr>
            <p:grpSp>
              <p:nvGrpSpPr>
                <p:cNvPr id="17" name="Group 418"/>
                <p:cNvGrpSpPr>
                  <a:grpSpLocks/>
                </p:cNvGrpSpPr>
                <p:nvPr/>
              </p:nvGrpSpPr>
              <p:grpSpPr bwMode="auto">
                <a:xfrm>
                  <a:off x="0" y="205143"/>
                  <a:ext cx="277431" cy="63460"/>
                  <a:chOff x="4235" y="3434"/>
                  <a:chExt cx="470" cy="179"/>
                </a:xfrm>
              </p:grpSpPr>
              <p:sp>
                <p:nvSpPr>
                  <p:cNvPr id="20" name="Rectangle 419" descr="宽上对角线"/>
                  <p:cNvSpPr>
                    <a:spLocks noChangeArrowheads="1"/>
                  </p:cNvSpPr>
                  <p:nvPr/>
                </p:nvSpPr>
                <p:spPr bwMode="auto">
                  <a:xfrm>
                    <a:off x="4235" y="3434"/>
                    <a:ext cx="464" cy="179"/>
                  </a:xfrm>
                  <a:prstGeom prst="rect">
                    <a:avLst/>
                  </a:prstGeom>
                  <a:pattFill prst="wdUpDiag">
                    <a:fgClr>
                      <a:srgbClr val="000000"/>
                    </a:fgClr>
                    <a:bgClr>
                      <a:srgbClr val="FFFFFF"/>
                    </a:bgClr>
                  </a:patt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zh-CN" altLang="en-US"/>
                  </a:p>
                </p:txBody>
              </p:sp>
              <p:cxnSp>
                <p:nvCxnSpPr>
                  <p:cNvPr id="21" name="Line 420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4235" y="3434"/>
                    <a:ext cx="470" cy="1"/>
                  </a:xfrm>
                  <a:prstGeom prst="line">
                    <a:avLst/>
                  </a:prstGeom>
                  <a:noFill/>
                  <a:ln w="222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18" name="Oval 423"/>
                <p:cNvSpPr>
                  <a:spLocks noChangeArrowheads="1"/>
                </p:cNvSpPr>
                <p:nvPr/>
              </p:nvSpPr>
              <p:spPr bwMode="auto">
                <a:xfrm rot="5400000">
                  <a:off x="102413" y="317"/>
                  <a:ext cx="50800" cy="50165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" name="Oval 424"/>
                <p:cNvSpPr>
                  <a:spLocks noChangeArrowheads="1"/>
                </p:cNvSpPr>
                <p:nvPr/>
              </p:nvSpPr>
              <p:spPr bwMode="auto">
                <a:xfrm rot="5400000">
                  <a:off x="102413" y="146621"/>
                  <a:ext cx="51417" cy="50569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cxnSp>
            <p:nvCxnSpPr>
              <p:cNvPr id="16" name="Line 426"/>
              <p:cNvCxnSpPr>
                <a:cxnSpLocks noChangeShapeType="1"/>
              </p:cNvCxnSpPr>
              <p:nvPr/>
            </p:nvCxnSpPr>
            <p:spPr bwMode="auto">
              <a:xfrm rot="16200000">
                <a:off x="73153" y="102413"/>
                <a:ext cx="10414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grpSp>
        <p:nvGrpSpPr>
          <p:cNvPr id="33" name="组合 32"/>
          <p:cNvGrpSpPr/>
          <p:nvPr/>
        </p:nvGrpSpPr>
        <p:grpSpPr>
          <a:xfrm>
            <a:off x="4487568" y="1917205"/>
            <a:ext cx="1458596" cy="1181407"/>
            <a:chOff x="16838" y="0"/>
            <a:chExt cx="1459487" cy="1182091"/>
          </a:xfrm>
        </p:grpSpPr>
        <p:grpSp>
          <p:nvGrpSpPr>
            <p:cNvPr id="35" name="组合 34"/>
            <p:cNvGrpSpPr/>
            <p:nvPr/>
          </p:nvGrpSpPr>
          <p:grpSpPr>
            <a:xfrm>
              <a:off x="16838" y="0"/>
              <a:ext cx="1459487" cy="1182091"/>
              <a:chOff x="16838" y="0"/>
              <a:chExt cx="1459487" cy="1182091"/>
            </a:xfrm>
          </p:grpSpPr>
          <p:grpSp>
            <p:nvGrpSpPr>
              <p:cNvPr id="52" name="Group 418"/>
              <p:cNvGrpSpPr>
                <a:grpSpLocks/>
              </p:cNvGrpSpPr>
              <p:nvPr/>
            </p:nvGrpSpPr>
            <p:grpSpPr bwMode="auto">
              <a:xfrm>
                <a:off x="224435" y="1119226"/>
                <a:ext cx="276860" cy="62865"/>
                <a:chOff x="4235" y="3434"/>
                <a:chExt cx="470" cy="179"/>
              </a:xfrm>
            </p:grpSpPr>
            <p:sp>
              <p:nvSpPr>
                <p:cNvPr id="60" name="Rectangle 419" descr="宽上对角线"/>
                <p:cNvSpPr>
                  <a:spLocks noChangeArrowheads="1"/>
                </p:cNvSpPr>
                <p:nvPr/>
              </p:nvSpPr>
              <p:spPr bwMode="auto">
                <a:xfrm>
                  <a:off x="4235" y="3434"/>
                  <a:ext cx="464" cy="179"/>
                </a:xfrm>
                <a:prstGeom prst="rect">
                  <a:avLst/>
                </a:prstGeom>
                <a:pattFill prst="wdUpDiag">
                  <a:fgClr>
                    <a:srgbClr val="000000"/>
                  </a:fgClr>
                  <a:bgClr>
                    <a:srgbClr val="FFFFFF"/>
                  </a:bgClr>
                </a:patt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zh-CN" altLang="en-US"/>
                </a:p>
              </p:txBody>
            </p:sp>
            <p:cxnSp>
              <p:nvCxnSpPr>
                <p:cNvPr id="61" name="Line 420"/>
                <p:cNvCxnSpPr>
                  <a:cxnSpLocks noChangeShapeType="1"/>
                </p:cNvCxnSpPr>
                <p:nvPr/>
              </p:nvCxnSpPr>
              <p:spPr bwMode="auto">
                <a:xfrm>
                  <a:off x="4235" y="3434"/>
                  <a:ext cx="470" cy="1"/>
                </a:xfrm>
                <a:prstGeom prst="line">
                  <a:avLst/>
                </a:prstGeom>
                <a:noFill/>
                <a:ln w="222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53" name="Line 421"/>
              <p:cNvCxnSpPr>
                <a:cxnSpLocks noChangeShapeType="1"/>
              </p:cNvCxnSpPr>
              <p:nvPr/>
            </p:nvCxnSpPr>
            <p:spPr bwMode="auto">
              <a:xfrm rot="19800000">
                <a:off x="399999" y="1009498"/>
                <a:ext cx="2315" cy="12570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4" name="Line 422"/>
              <p:cNvCxnSpPr>
                <a:cxnSpLocks noChangeShapeType="1"/>
              </p:cNvCxnSpPr>
              <p:nvPr/>
            </p:nvCxnSpPr>
            <p:spPr bwMode="auto">
              <a:xfrm rot="1800000">
                <a:off x="312217" y="1009498"/>
                <a:ext cx="4630" cy="13540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55" name="Oval 423"/>
              <p:cNvSpPr>
                <a:spLocks noChangeArrowheads="1"/>
              </p:cNvSpPr>
              <p:nvPr/>
            </p:nvSpPr>
            <p:spPr bwMode="auto">
              <a:xfrm rot="5400000">
                <a:off x="326847" y="994867"/>
                <a:ext cx="51297" cy="50464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zh-CN" altLang="en-US"/>
              </a:p>
            </p:txBody>
          </p:sp>
          <p:cxnSp>
            <p:nvCxnSpPr>
              <p:cNvPr id="56" name="Line 433"/>
              <p:cNvCxnSpPr>
                <a:cxnSpLocks noChangeShapeType="1"/>
              </p:cNvCxnSpPr>
              <p:nvPr/>
            </p:nvCxnSpPr>
            <p:spPr bwMode="auto">
              <a:xfrm rot="6060000" flipH="1" flipV="1">
                <a:off x="263218" y="131673"/>
                <a:ext cx="0" cy="49276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none" w="sm" len="lg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57" name="Line 435"/>
              <p:cNvCxnSpPr>
                <a:cxnSpLocks noChangeShapeType="1"/>
              </p:cNvCxnSpPr>
              <p:nvPr/>
            </p:nvCxnSpPr>
            <p:spPr bwMode="auto">
              <a:xfrm rot="20760000">
                <a:off x="977900" y="797357"/>
                <a:ext cx="0" cy="32400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triangl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58" name="Line 435"/>
              <p:cNvCxnSpPr>
                <a:cxnSpLocks noChangeShapeType="1"/>
              </p:cNvCxnSpPr>
              <p:nvPr/>
            </p:nvCxnSpPr>
            <p:spPr bwMode="auto">
              <a:xfrm rot="14760000">
                <a:off x="1314400" y="168249"/>
                <a:ext cx="0" cy="32385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triangl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sp>
            <p:nvSpPr>
              <p:cNvPr id="59" name="椭圆 58"/>
              <p:cNvSpPr/>
              <p:nvPr/>
            </p:nvSpPr>
            <p:spPr>
              <a:xfrm rot="2581257">
                <a:off x="465836" y="0"/>
                <a:ext cx="570585" cy="1155801"/>
              </a:xfrm>
              <a:prstGeom prst="ellipse">
                <a:avLst/>
              </a:prstGeom>
              <a:noFill/>
              <a:ln w="254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36" name="组合 35"/>
            <p:cNvGrpSpPr/>
            <p:nvPr/>
          </p:nvGrpSpPr>
          <p:grpSpPr>
            <a:xfrm rot="16200000">
              <a:off x="1096720" y="451590"/>
              <a:ext cx="276860" cy="267970"/>
              <a:chOff x="0" y="0"/>
              <a:chExt cx="277431" cy="268603"/>
            </a:xfrm>
          </p:grpSpPr>
          <p:grpSp>
            <p:nvGrpSpPr>
              <p:cNvPr id="45" name="组合 44"/>
              <p:cNvGrpSpPr/>
              <p:nvPr/>
            </p:nvGrpSpPr>
            <p:grpSpPr>
              <a:xfrm>
                <a:off x="0" y="0"/>
                <a:ext cx="277431" cy="268603"/>
                <a:chOff x="0" y="0"/>
                <a:chExt cx="277431" cy="268603"/>
              </a:xfrm>
            </p:grpSpPr>
            <p:grpSp>
              <p:nvGrpSpPr>
                <p:cNvPr id="47" name="Group 418"/>
                <p:cNvGrpSpPr>
                  <a:grpSpLocks/>
                </p:cNvGrpSpPr>
                <p:nvPr/>
              </p:nvGrpSpPr>
              <p:grpSpPr bwMode="auto">
                <a:xfrm>
                  <a:off x="0" y="205143"/>
                  <a:ext cx="277431" cy="63460"/>
                  <a:chOff x="4235" y="3434"/>
                  <a:chExt cx="470" cy="179"/>
                </a:xfrm>
              </p:grpSpPr>
              <p:sp>
                <p:nvSpPr>
                  <p:cNvPr id="50" name="Rectangle 419" descr="宽上对角线"/>
                  <p:cNvSpPr>
                    <a:spLocks noChangeArrowheads="1"/>
                  </p:cNvSpPr>
                  <p:nvPr/>
                </p:nvSpPr>
                <p:spPr bwMode="auto">
                  <a:xfrm>
                    <a:off x="4235" y="3434"/>
                    <a:ext cx="464" cy="179"/>
                  </a:xfrm>
                  <a:prstGeom prst="rect">
                    <a:avLst/>
                  </a:prstGeom>
                  <a:pattFill prst="wdUpDiag">
                    <a:fgClr>
                      <a:srgbClr val="000000"/>
                    </a:fgClr>
                    <a:bgClr>
                      <a:srgbClr val="FFFFFF"/>
                    </a:bgClr>
                  </a:patt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zh-CN" altLang="en-US"/>
                  </a:p>
                </p:txBody>
              </p:sp>
              <p:cxnSp>
                <p:nvCxnSpPr>
                  <p:cNvPr id="51" name="Line 420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4235" y="3434"/>
                    <a:ext cx="470" cy="1"/>
                  </a:xfrm>
                  <a:prstGeom prst="line">
                    <a:avLst/>
                  </a:prstGeom>
                  <a:noFill/>
                  <a:ln w="222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48" name="Oval 423"/>
                <p:cNvSpPr>
                  <a:spLocks noChangeArrowheads="1"/>
                </p:cNvSpPr>
                <p:nvPr/>
              </p:nvSpPr>
              <p:spPr bwMode="auto">
                <a:xfrm rot="5400000">
                  <a:off x="102413" y="317"/>
                  <a:ext cx="50800" cy="50165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9" name="Oval 424"/>
                <p:cNvSpPr>
                  <a:spLocks noChangeArrowheads="1"/>
                </p:cNvSpPr>
                <p:nvPr/>
              </p:nvSpPr>
              <p:spPr bwMode="auto">
                <a:xfrm rot="5400000">
                  <a:off x="102413" y="146621"/>
                  <a:ext cx="51417" cy="50569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cxnSp>
            <p:nvCxnSpPr>
              <p:cNvPr id="46" name="Line 426"/>
              <p:cNvCxnSpPr>
                <a:cxnSpLocks noChangeShapeType="1"/>
              </p:cNvCxnSpPr>
              <p:nvPr/>
            </p:nvCxnSpPr>
            <p:spPr bwMode="auto">
              <a:xfrm rot="16200000">
                <a:off x="73153" y="102413"/>
                <a:ext cx="10414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37" name="组合 36"/>
            <p:cNvGrpSpPr/>
            <p:nvPr/>
          </p:nvGrpSpPr>
          <p:grpSpPr>
            <a:xfrm rot="4977858">
              <a:off x="92562" y="541347"/>
              <a:ext cx="276860" cy="267970"/>
              <a:chOff x="0" y="0"/>
              <a:chExt cx="277431" cy="268603"/>
            </a:xfrm>
          </p:grpSpPr>
          <p:grpSp>
            <p:nvGrpSpPr>
              <p:cNvPr id="38" name="组合 37"/>
              <p:cNvGrpSpPr/>
              <p:nvPr/>
            </p:nvGrpSpPr>
            <p:grpSpPr>
              <a:xfrm>
                <a:off x="0" y="0"/>
                <a:ext cx="277431" cy="268603"/>
                <a:chOff x="0" y="0"/>
                <a:chExt cx="277431" cy="268603"/>
              </a:xfrm>
            </p:grpSpPr>
            <p:grpSp>
              <p:nvGrpSpPr>
                <p:cNvPr id="40" name="Group 418"/>
                <p:cNvGrpSpPr>
                  <a:grpSpLocks/>
                </p:cNvGrpSpPr>
                <p:nvPr/>
              </p:nvGrpSpPr>
              <p:grpSpPr bwMode="auto">
                <a:xfrm>
                  <a:off x="0" y="205143"/>
                  <a:ext cx="277431" cy="63460"/>
                  <a:chOff x="4235" y="3434"/>
                  <a:chExt cx="470" cy="179"/>
                </a:xfrm>
              </p:grpSpPr>
              <p:sp>
                <p:nvSpPr>
                  <p:cNvPr id="43" name="Rectangle 419" descr="宽上对角线"/>
                  <p:cNvSpPr>
                    <a:spLocks noChangeArrowheads="1"/>
                  </p:cNvSpPr>
                  <p:nvPr/>
                </p:nvSpPr>
                <p:spPr bwMode="auto">
                  <a:xfrm>
                    <a:off x="4235" y="3434"/>
                    <a:ext cx="464" cy="179"/>
                  </a:xfrm>
                  <a:prstGeom prst="rect">
                    <a:avLst/>
                  </a:prstGeom>
                  <a:pattFill prst="wdUpDiag">
                    <a:fgClr>
                      <a:srgbClr val="000000"/>
                    </a:fgClr>
                    <a:bgClr>
                      <a:srgbClr val="FFFFFF"/>
                    </a:bgClr>
                  </a:patt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zh-CN" altLang="en-US"/>
                  </a:p>
                </p:txBody>
              </p:sp>
              <p:cxnSp>
                <p:nvCxnSpPr>
                  <p:cNvPr id="44" name="Line 420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4235" y="3434"/>
                    <a:ext cx="470" cy="1"/>
                  </a:xfrm>
                  <a:prstGeom prst="line">
                    <a:avLst/>
                  </a:prstGeom>
                  <a:noFill/>
                  <a:ln w="222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41" name="Oval 423"/>
                <p:cNvSpPr>
                  <a:spLocks noChangeArrowheads="1"/>
                </p:cNvSpPr>
                <p:nvPr/>
              </p:nvSpPr>
              <p:spPr bwMode="auto">
                <a:xfrm rot="5400000">
                  <a:off x="102413" y="317"/>
                  <a:ext cx="50800" cy="50165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2" name="Oval 424"/>
                <p:cNvSpPr>
                  <a:spLocks noChangeArrowheads="1"/>
                </p:cNvSpPr>
                <p:nvPr/>
              </p:nvSpPr>
              <p:spPr bwMode="auto">
                <a:xfrm rot="5400000">
                  <a:off x="102413" y="146621"/>
                  <a:ext cx="51417" cy="50569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cxnSp>
            <p:nvCxnSpPr>
              <p:cNvPr id="39" name="Line 426"/>
              <p:cNvCxnSpPr>
                <a:cxnSpLocks noChangeShapeType="1"/>
              </p:cNvCxnSpPr>
              <p:nvPr/>
            </p:nvCxnSpPr>
            <p:spPr bwMode="auto">
              <a:xfrm rot="16200000">
                <a:off x="73153" y="102413"/>
                <a:ext cx="10414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grpSp>
        <p:nvGrpSpPr>
          <p:cNvPr id="63" name="组合 62"/>
          <p:cNvGrpSpPr/>
          <p:nvPr/>
        </p:nvGrpSpPr>
        <p:grpSpPr>
          <a:xfrm>
            <a:off x="6328728" y="1830241"/>
            <a:ext cx="1448435" cy="1299801"/>
            <a:chOff x="0" y="0"/>
            <a:chExt cx="1448545" cy="1300071"/>
          </a:xfrm>
        </p:grpSpPr>
        <p:cxnSp>
          <p:nvCxnSpPr>
            <p:cNvPr id="65" name="Line 433"/>
            <p:cNvCxnSpPr>
              <a:cxnSpLocks noChangeShapeType="1"/>
            </p:cNvCxnSpPr>
            <p:nvPr/>
          </p:nvCxnSpPr>
          <p:spPr bwMode="auto">
            <a:xfrm rot="6060000" flipH="1" flipV="1">
              <a:off x="246063" y="129026"/>
              <a:ext cx="0" cy="49212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66" name="Line 435"/>
            <p:cNvCxnSpPr>
              <a:cxnSpLocks noChangeShapeType="1"/>
            </p:cNvCxnSpPr>
            <p:nvPr/>
          </p:nvCxnSpPr>
          <p:spPr bwMode="auto">
            <a:xfrm rot="20760000">
              <a:off x="958509" y="796594"/>
              <a:ext cx="0" cy="32390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67" name="Line 435"/>
            <p:cNvCxnSpPr>
              <a:cxnSpLocks noChangeShapeType="1"/>
            </p:cNvCxnSpPr>
            <p:nvPr/>
          </p:nvCxnSpPr>
          <p:spPr bwMode="auto">
            <a:xfrm rot="14760000">
              <a:off x="1286684" y="171099"/>
              <a:ext cx="0" cy="32372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68" name="椭圆 67"/>
            <p:cNvSpPr/>
            <p:nvPr/>
          </p:nvSpPr>
          <p:spPr>
            <a:xfrm rot="2581257">
              <a:off x="442406" y="0"/>
              <a:ext cx="570359" cy="1155453"/>
            </a:xfrm>
            <a:prstGeom prst="ellipse">
              <a:avLst/>
            </a:prstGeom>
            <a:noFill/>
            <a:ln w="254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69" name="组合 68"/>
            <p:cNvGrpSpPr/>
            <p:nvPr/>
          </p:nvGrpSpPr>
          <p:grpSpPr>
            <a:xfrm rot="16916964">
              <a:off x="377893" y="939644"/>
              <a:ext cx="276225" cy="267335"/>
              <a:chOff x="0" y="0"/>
              <a:chExt cx="277431" cy="268603"/>
            </a:xfrm>
          </p:grpSpPr>
          <p:grpSp>
            <p:nvGrpSpPr>
              <p:cNvPr id="86" name="组合 85"/>
              <p:cNvGrpSpPr/>
              <p:nvPr/>
            </p:nvGrpSpPr>
            <p:grpSpPr>
              <a:xfrm>
                <a:off x="0" y="0"/>
                <a:ext cx="277431" cy="268603"/>
                <a:chOff x="0" y="0"/>
                <a:chExt cx="277431" cy="268603"/>
              </a:xfrm>
            </p:grpSpPr>
            <p:grpSp>
              <p:nvGrpSpPr>
                <p:cNvPr id="88" name="Group 418"/>
                <p:cNvGrpSpPr>
                  <a:grpSpLocks/>
                </p:cNvGrpSpPr>
                <p:nvPr/>
              </p:nvGrpSpPr>
              <p:grpSpPr bwMode="auto">
                <a:xfrm>
                  <a:off x="0" y="205143"/>
                  <a:ext cx="277431" cy="63460"/>
                  <a:chOff x="4235" y="3434"/>
                  <a:chExt cx="470" cy="179"/>
                </a:xfrm>
              </p:grpSpPr>
              <p:sp>
                <p:nvSpPr>
                  <p:cNvPr id="91" name="Rectangle 419" descr="宽上对角线"/>
                  <p:cNvSpPr>
                    <a:spLocks noChangeArrowheads="1"/>
                  </p:cNvSpPr>
                  <p:nvPr/>
                </p:nvSpPr>
                <p:spPr bwMode="auto">
                  <a:xfrm>
                    <a:off x="4235" y="3434"/>
                    <a:ext cx="464" cy="179"/>
                  </a:xfrm>
                  <a:prstGeom prst="rect">
                    <a:avLst/>
                  </a:prstGeom>
                  <a:pattFill prst="wdUpDiag">
                    <a:fgClr>
                      <a:srgbClr val="000000"/>
                    </a:fgClr>
                    <a:bgClr>
                      <a:srgbClr val="FFFFFF"/>
                    </a:bgClr>
                  </a:patt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zh-CN" altLang="en-US"/>
                  </a:p>
                </p:txBody>
              </p:sp>
              <p:cxnSp>
                <p:nvCxnSpPr>
                  <p:cNvPr id="92" name="Line 420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4235" y="3434"/>
                    <a:ext cx="470" cy="1"/>
                  </a:xfrm>
                  <a:prstGeom prst="line">
                    <a:avLst/>
                  </a:prstGeom>
                  <a:noFill/>
                  <a:ln w="222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89" name="Oval 423"/>
                <p:cNvSpPr>
                  <a:spLocks noChangeArrowheads="1"/>
                </p:cNvSpPr>
                <p:nvPr/>
              </p:nvSpPr>
              <p:spPr bwMode="auto">
                <a:xfrm rot="5400000">
                  <a:off x="102413" y="317"/>
                  <a:ext cx="50800" cy="50165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0" name="Oval 424"/>
                <p:cNvSpPr>
                  <a:spLocks noChangeArrowheads="1"/>
                </p:cNvSpPr>
                <p:nvPr/>
              </p:nvSpPr>
              <p:spPr bwMode="auto">
                <a:xfrm rot="5400000">
                  <a:off x="102413" y="146621"/>
                  <a:ext cx="51417" cy="50569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cxnSp>
            <p:nvCxnSpPr>
              <p:cNvPr id="87" name="Line 426"/>
              <p:cNvCxnSpPr>
                <a:cxnSpLocks noChangeShapeType="1"/>
              </p:cNvCxnSpPr>
              <p:nvPr/>
            </p:nvCxnSpPr>
            <p:spPr bwMode="auto">
              <a:xfrm rot="16200000">
                <a:off x="73153" y="102413"/>
                <a:ext cx="10414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70" name="组合 69"/>
            <p:cNvGrpSpPr/>
            <p:nvPr/>
          </p:nvGrpSpPr>
          <p:grpSpPr>
            <a:xfrm rot="4977858">
              <a:off x="159110" y="950864"/>
              <a:ext cx="276225" cy="267335"/>
              <a:chOff x="0" y="0"/>
              <a:chExt cx="277431" cy="268603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0" y="0"/>
                <a:ext cx="277431" cy="268603"/>
                <a:chOff x="0" y="0"/>
                <a:chExt cx="277431" cy="268603"/>
              </a:xfrm>
            </p:grpSpPr>
            <p:grpSp>
              <p:nvGrpSpPr>
                <p:cNvPr id="81" name="Group 418"/>
                <p:cNvGrpSpPr>
                  <a:grpSpLocks/>
                </p:cNvGrpSpPr>
                <p:nvPr/>
              </p:nvGrpSpPr>
              <p:grpSpPr bwMode="auto">
                <a:xfrm>
                  <a:off x="0" y="205143"/>
                  <a:ext cx="277431" cy="63460"/>
                  <a:chOff x="4235" y="3434"/>
                  <a:chExt cx="470" cy="179"/>
                </a:xfrm>
              </p:grpSpPr>
              <p:sp>
                <p:nvSpPr>
                  <p:cNvPr id="84" name="Rectangle 419" descr="宽上对角线"/>
                  <p:cNvSpPr>
                    <a:spLocks noChangeArrowheads="1"/>
                  </p:cNvSpPr>
                  <p:nvPr/>
                </p:nvSpPr>
                <p:spPr bwMode="auto">
                  <a:xfrm>
                    <a:off x="4235" y="3434"/>
                    <a:ext cx="464" cy="179"/>
                  </a:xfrm>
                  <a:prstGeom prst="rect">
                    <a:avLst/>
                  </a:prstGeom>
                  <a:pattFill prst="wdUpDiag">
                    <a:fgClr>
                      <a:srgbClr val="000000"/>
                    </a:fgClr>
                    <a:bgClr>
                      <a:srgbClr val="FFFFFF"/>
                    </a:bgClr>
                  </a:patt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zh-CN" altLang="en-US"/>
                  </a:p>
                </p:txBody>
              </p:sp>
              <p:cxnSp>
                <p:nvCxnSpPr>
                  <p:cNvPr id="85" name="Line 420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4235" y="3434"/>
                    <a:ext cx="470" cy="1"/>
                  </a:xfrm>
                  <a:prstGeom prst="line">
                    <a:avLst/>
                  </a:prstGeom>
                  <a:noFill/>
                  <a:ln w="222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82" name="Oval 423"/>
                <p:cNvSpPr>
                  <a:spLocks noChangeArrowheads="1"/>
                </p:cNvSpPr>
                <p:nvPr/>
              </p:nvSpPr>
              <p:spPr bwMode="auto">
                <a:xfrm rot="5400000">
                  <a:off x="102413" y="317"/>
                  <a:ext cx="50800" cy="50165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Oval 424"/>
                <p:cNvSpPr>
                  <a:spLocks noChangeArrowheads="1"/>
                </p:cNvSpPr>
                <p:nvPr/>
              </p:nvSpPr>
              <p:spPr bwMode="auto">
                <a:xfrm rot="5400000">
                  <a:off x="102413" y="146621"/>
                  <a:ext cx="51417" cy="50569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cxnSp>
            <p:nvCxnSpPr>
              <p:cNvPr id="80" name="Line 426"/>
              <p:cNvCxnSpPr>
                <a:cxnSpLocks noChangeShapeType="1"/>
              </p:cNvCxnSpPr>
              <p:nvPr/>
            </p:nvCxnSpPr>
            <p:spPr bwMode="auto">
              <a:xfrm rot="16200000">
                <a:off x="73153" y="102413"/>
                <a:ext cx="10414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71" name="组合 70"/>
            <p:cNvGrpSpPr/>
            <p:nvPr/>
          </p:nvGrpSpPr>
          <p:grpSpPr>
            <a:xfrm rot="954348">
              <a:off x="251672" y="1032206"/>
              <a:ext cx="276777" cy="267865"/>
              <a:chOff x="0" y="0"/>
              <a:chExt cx="277431" cy="268603"/>
            </a:xfrm>
          </p:grpSpPr>
          <p:grpSp>
            <p:nvGrpSpPr>
              <p:cNvPr id="72" name="组合 71"/>
              <p:cNvGrpSpPr/>
              <p:nvPr/>
            </p:nvGrpSpPr>
            <p:grpSpPr>
              <a:xfrm>
                <a:off x="0" y="0"/>
                <a:ext cx="277431" cy="268603"/>
                <a:chOff x="0" y="0"/>
                <a:chExt cx="277431" cy="268603"/>
              </a:xfrm>
            </p:grpSpPr>
            <p:grpSp>
              <p:nvGrpSpPr>
                <p:cNvPr id="74" name="Group 418"/>
                <p:cNvGrpSpPr>
                  <a:grpSpLocks/>
                </p:cNvGrpSpPr>
                <p:nvPr/>
              </p:nvGrpSpPr>
              <p:grpSpPr bwMode="auto">
                <a:xfrm>
                  <a:off x="0" y="205143"/>
                  <a:ext cx="277431" cy="63460"/>
                  <a:chOff x="4235" y="3434"/>
                  <a:chExt cx="470" cy="179"/>
                </a:xfrm>
              </p:grpSpPr>
              <p:sp>
                <p:nvSpPr>
                  <p:cNvPr id="77" name="Rectangle 419" descr="宽上对角线"/>
                  <p:cNvSpPr>
                    <a:spLocks noChangeArrowheads="1"/>
                  </p:cNvSpPr>
                  <p:nvPr/>
                </p:nvSpPr>
                <p:spPr bwMode="auto">
                  <a:xfrm>
                    <a:off x="4235" y="3434"/>
                    <a:ext cx="464" cy="179"/>
                  </a:xfrm>
                  <a:prstGeom prst="rect">
                    <a:avLst/>
                  </a:prstGeom>
                  <a:pattFill prst="wdUpDiag">
                    <a:fgClr>
                      <a:srgbClr val="000000"/>
                    </a:fgClr>
                    <a:bgClr>
                      <a:srgbClr val="FFFFFF"/>
                    </a:bgClr>
                  </a:patt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905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zh-CN" altLang="en-US"/>
                  </a:p>
                </p:txBody>
              </p:sp>
              <p:cxnSp>
                <p:nvCxnSpPr>
                  <p:cNvPr id="78" name="Line 420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4235" y="3434"/>
                    <a:ext cx="470" cy="1"/>
                  </a:xfrm>
                  <a:prstGeom prst="line">
                    <a:avLst/>
                  </a:prstGeom>
                  <a:noFill/>
                  <a:ln w="222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75" name="Oval 423"/>
                <p:cNvSpPr>
                  <a:spLocks noChangeArrowheads="1"/>
                </p:cNvSpPr>
                <p:nvPr/>
              </p:nvSpPr>
              <p:spPr bwMode="auto">
                <a:xfrm rot="5400000">
                  <a:off x="102413" y="317"/>
                  <a:ext cx="50800" cy="50165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6" name="Oval 424"/>
                <p:cNvSpPr>
                  <a:spLocks noChangeArrowheads="1"/>
                </p:cNvSpPr>
                <p:nvPr/>
              </p:nvSpPr>
              <p:spPr bwMode="auto">
                <a:xfrm rot="5400000">
                  <a:off x="102413" y="146621"/>
                  <a:ext cx="51417" cy="50569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cxnSp>
            <p:nvCxnSpPr>
              <p:cNvPr id="73" name="Line 426"/>
              <p:cNvCxnSpPr>
                <a:cxnSpLocks noChangeShapeType="1"/>
              </p:cNvCxnSpPr>
              <p:nvPr/>
            </p:nvCxnSpPr>
            <p:spPr bwMode="auto">
              <a:xfrm rot="16200000">
                <a:off x="73153" y="102413"/>
                <a:ext cx="10414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grpSp>
        <p:nvGrpSpPr>
          <p:cNvPr id="94" name="组合 93"/>
          <p:cNvGrpSpPr/>
          <p:nvPr/>
        </p:nvGrpSpPr>
        <p:grpSpPr>
          <a:xfrm>
            <a:off x="2837457" y="1950404"/>
            <a:ext cx="1459232" cy="1181636"/>
            <a:chOff x="16830" y="0"/>
            <a:chExt cx="1459495" cy="1182091"/>
          </a:xfrm>
        </p:grpSpPr>
        <p:grpSp>
          <p:nvGrpSpPr>
            <p:cNvPr id="96" name="Group 418"/>
            <p:cNvGrpSpPr>
              <a:grpSpLocks/>
            </p:cNvGrpSpPr>
            <p:nvPr/>
          </p:nvGrpSpPr>
          <p:grpSpPr bwMode="auto">
            <a:xfrm>
              <a:off x="224435" y="1119226"/>
              <a:ext cx="276860" cy="62865"/>
              <a:chOff x="4235" y="3434"/>
              <a:chExt cx="470" cy="179"/>
            </a:xfrm>
          </p:grpSpPr>
          <p:sp>
            <p:nvSpPr>
              <p:cNvPr id="104" name="Rectangle 419" descr="宽上对角线"/>
              <p:cNvSpPr>
                <a:spLocks noChangeArrowheads="1"/>
              </p:cNvSpPr>
              <p:nvPr/>
            </p:nvSpPr>
            <p:spPr bwMode="auto">
              <a:xfrm>
                <a:off x="4235" y="3434"/>
                <a:ext cx="464" cy="179"/>
              </a:xfrm>
              <a:prstGeom prst="rect">
                <a:avLst/>
              </a:prstGeom>
              <a:pattFill prst="wdUpDiag">
                <a:fgClr>
                  <a:srgbClr val="000000"/>
                </a:fgClr>
                <a:bgClr>
                  <a:srgbClr val="FFFFFF"/>
                </a:bgClr>
              </a:pattFill>
              <a:ln>
                <a:noFill/>
              </a:ln>
              <a:extLs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zh-CN" altLang="en-US"/>
              </a:p>
            </p:txBody>
          </p:sp>
          <p:cxnSp>
            <p:nvCxnSpPr>
              <p:cNvPr id="105" name="Line 420"/>
              <p:cNvCxnSpPr>
                <a:cxnSpLocks noChangeShapeType="1"/>
              </p:cNvCxnSpPr>
              <p:nvPr/>
            </p:nvCxnSpPr>
            <p:spPr bwMode="auto">
              <a:xfrm>
                <a:off x="4235" y="3434"/>
                <a:ext cx="470" cy="1"/>
              </a:xfrm>
              <a:prstGeom prst="line">
                <a:avLst/>
              </a:prstGeom>
              <a:noFill/>
              <a:ln w="222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97" name="Line 421"/>
            <p:cNvCxnSpPr>
              <a:cxnSpLocks noChangeShapeType="1"/>
            </p:cNvCxnSpPr>
            <p:nvPr/>
          </p:nvCxnSpPr>
          <p:spPr bwMode="auto">
            <a:xfrm rot="19800000">
              <a:off x="399999" y="1009498"/>
              <a:ext cx="2315" cy="12570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8" name="Line 422"/>
            <p:cNvCxnSpPr>
              <a:cxnSpLocks noChangeShapeType="1"/>
            </p:cNvCxnSpPr>
            <p:nvPr/>
          </p:nvCxnSpPr>
          <p:spPr bwMode="auto">
            <a:xfrm rot="1800000">
              <a:off x="312217" y="1009498"/>
              <a:ext cx="4630" cy="13540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9" name="Oval 423"/>
            <p:cNvSpPr>
              <a:spLocks noChangeArrowheads="1"/>
            </p:cNvSpPr>
            <p:nvPr/>
          </p:nvSpPr>
          <p:spPr bwMode="auto">
            <a:xfrm rot="5400000">
              <a:off x="326847" y="994867"/>
              <a:ext cx="51297" cy="50464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zh-CN" altLang="en-US"/>
            </a:p>
          </p:txBody>
        </p:sp>
        <p:cxnSp>
          <p:nvCxnSpPr>
            <p:cNvPr id="100" name="Line 433"/>
            <p:cNvCxnSpPr>
              <a:cxnSpLocks noChangeShapeType="1"/>
            </p:cNvCxnSpPr>
            <p:nvPr/>
          </p:nvCxnSpPr>
          <p:spPr bwMode="auto">
            <a:xfrm rot="6060000" flipH="1" flipV="1">
              <a:off x="263210" y="131673"/>
              <a:ext cx="0" cy="49276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01" name="Line 435"/>
            <p:cNvCxnSpPr>
              <a:cxnSpLocks noChangeShapeType="1"/>
            </p:cNvCxnSpPr>
            <p:nvPr/>
          </p:nvCxnSpPr>
          <p:spPr bwMode="auto">
            <a:xfrm rot="20760000">
              <a:off x="977900" y="797357"/>
              <a:ext cx="0" cy="3240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02" name="Line 435"/>
            <p:cNvCxnSpPr>
              <a:cxnSpLocks noChangeShapeType="1"/>
            </p:cNvCxnSpPr>
            <p:nvPr/>
          </p:nvCxnSpPr>
          <p:spPr bwMode="auto">
            <a:xfrm rot="14760000">
              <a:off x="1314400" y="168249"/>
              <a:ext cx="0" cy="3238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103" name="椭圆 102"/>
            <p:cNvSpPr/>
            <p:nvPr/>
          </p:nvSpPr>
          <p:spPr>
            <a:xfrm rot="2581257">
              <a:off x="465836" y="0"/>
              <a:ext cx="570585" cy="115580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sp>
        <p:nvSpPr>
          <p:cNvPr id="3" name="矩形 2"/>
          <p:cNvSpPr/>
          <p:nvPr/>
        </p:nvSpPr>
        <p:spPr>
          <a:xfrm>
            <a:off x="1041195" y="3952743"/>
            <a:ext cx="572786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CC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静不定次数</a:t>
            </a:r>
            <a:r>
              <a:rPr lang="en-US" altLang="zh-CN" b="1" dirty="0">
                <a:solidFill>
                  <a:srgbClr val="CC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</a:t>
            </a:r>
            <a:r>
              <a:rPr lang="zh-CN" altLang="en-US" b="1" dirty="0">
                <a:solidFill>
                  <a:srgbClr val="CC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未知量个数</a:t>
            </a:r>
            <a:r>
              <a:rPr lang="en-US" altLang="zh-CN" b="1" dirty="0">
                <a:solidFill>
                  <a:srgbClr val="CC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lang="zh-CN" altLang="en-US" b="1" dirty="0">
                <a:solidFill>
                  <a:srgbClr val="CC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独立方程个数</a:t>
            </a:r>
          </a:p>
        </p:txBody>
      </p:sp>
      <p:sp>
        <p:nvSpPr>
          <p:cNvPr id="4" name="矩形 3"/>
          <p:cNvSpPr/>
          <p:nvPr/>
        </p:nvSpPr>
        <p:spPr>
          <a:xfrm>
            <a:off x="905282" y="4939838"/>
            <a:ext cx="738919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ts val="0"/>
              </a:spcBef>
            </a:pPr>
            <a:r>
              <a:rPr lang="zh-CN" altLang="en-US" b="1" dirty="0">
                <a:solidFill>
                  <a:srgbClr val="CC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在刚体已无自由度的基础上</a:t>
            </a:r>
            <a:r>
              <a:rPr lang="en-US" altLang="zh-CN" b="1" dirty="0">
                <a:solidFill>
                  <a:srgbClr val="CC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b="1" dirty="0">
                <a:solidFill>
                  <a:srgbClr val="CC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增加“多余”约束</a:t>
            </a:r>
            <a:r>
              <a:rPr lang="en-US" altLang="zh-CN" b="1" dirty="0">
                <a:solidFill>
                  <a:srgbClr val="CC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</a:p>
          <a:p>
            <a:pPr eaLnBrk="1" hangingPunct="1">
              <a:spcBef>
                <a:spcPts val="0"/>
              </a:spcBef>
            </a:pPr>
            <a:r>
              <a:rPr lang="en-US" altLang="zh-CN" b="1" dirty="0">
                <a:solidFill>
                  <a:srgbClr val="CC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lang="zh-CN" altLang="en-US" b="1" dirty="0">
                <a:solidFill>
                  <a:srgbClr val="CC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多余”约束</a:t>
            </a:r>
            <a:r>
              <a:rPr lang="en-US" altLang="zh-CN" b="1" dirty="0">
                <a:solidFill>
                  <a:srgbClr val="CC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b="1" dirty="0">
                <a:solidFill>
                  <a:srgbClr val="CC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力“多余”</a:t>
            </a:r>
            <a:r>
              <a:rPr lang="en-US" altLang="zh-CN" b="1" dirty="0">
                <a:solidFill>
                  <a:srgbClr val="CC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b="1" dirty="0">
                <a:solidFill>
                  <a:srgbClr val="CC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刚度不多余</a:t>
            </a:r>
            <a:r>
              <a:rPr lang="en-US" altLang="zh-CN" b="1" dirty="0">
                <a:solidFill>
                  <a:srgbClr val="CC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</a:p>
          <a:p>
            <a:pPr eaLnBrk="1" hangingPunct="1">
              <a:spcBef>
                <a:spcPts val="0"/>
              </a:spcBef>
            </a:pPr>
            <a:r>
              <a:rPr lang="zh-CN" altLang="en-US" b="1" dirty="0">
                <a:solidFill>
                  <a:srgbClr val="CC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约束反力与变形有关</a:t>
            </a:r>
            <a:r>
              <a:rPr lang="en-US" altLang="zh-CN" b="1" dirty="0">
                <a:solidFill>
                  <a:srgbClr val="CC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b="1" dirty="0">
                <a:solidFill>
                  <a:srgbClr val="CC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需补充变形协调方程</a:t>
            </a:r>
            <a:r>
              <a:rPr lang="en-US" altLang="zh-CN" b="1" dirty="0">
                <a:solidFill>
                  <a:srgbClr val="CC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b="1" dirty="0">
                <a:solidFill>
                  <a:srgbClr val="CC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材力</a:t>
            </a:r>
            <a:r>
              <a:rPr lang="en-US" altLang="zh-CN" b="1" dirty="0">
                <a:solidFill>
                  <a:srgbClr val="CC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</a:p>
        </p:txBody>
      </p:sp>
      <p:sp>
        <p:nvSpPr>
          <p:cNvPr id="106" name="矩形 105"/>
          <p:cNvSpPr/>
          <p:nvPr/>
        </p:nvSpPr>
        <p:spPr>
          <a:xfrm>
            <a:off x="761034" y="1382204"/>
            <a:ext cx="647842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zh-CN" altLang="en-US" b="1" dirty="0">
                <a:solidFill>
                  <a:srgbClr val="CC0099"/>
                </a:solidFill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约束类型</a:t>
            </a:r>
            <a:r>
              <a:rPr lang="en-US" altLang="zh-CN" b="1" dirty="0">
                <a:solidFill>
                  <a:srgbClr val="CC0099"/>
                </a:solidFill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(</a:t>
            </a:r>
            <a:r>
              <a:rPr lang="zh-CN" altLang="en-US" b="1" dirty="0">
                <a:solidFill>
                  <a:srgbClr val="CC0099"/>
                </a:solidFill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完全约束、不完全约束、多余约束</a:t>
            </a:r>
            <a:r>
              <a:rPr lang="en-US" altLang="zh-CN" b="1" dirty="0">
                <a:solidFill>
                  <a:srgbClr val="CC0099"/>
                </a:solidFill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)</a:t>
            </a:r>
            <a:endParaRPr lang="zh-CN" altLang="en-US" b="1" dirty="0">
              <a:solidFill>
                <a:srgbClr val="CC0099"/>
              </a:solidFill>
              <a:latin typeface="楷体" panose="02010609060101010101" pitchFamily="49" charset="-122"/>
              <a:ea typeface="楷体" panose="02010609060101010101" pitchFamily="49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" dur="75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42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52" dur="75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3" grpId="0"/>
      <p:bldP spid="19464" grpId="0"/>
      <p:bldP spid="19465" grpId="0"/>
      <p:bldP spid="2" grpId="0"/>
      <p:bldP spid="3" grpId="0"/>
      <p:bldP spid="4" grpId="0"/>
      <p:bldP spid="10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600075" y="179388"/>
            <a:ext cx="6953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判断下面结构是否静定？静不定次数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?</a:t>
            </a:r>
          </a:p>
        </p:txBody>
      </p:sp>
      <p:graphicFrame>
        <p:nvGraphicFramePr>
          <p:cNvPr id="18435" name="Object 3"/>
          <p:cNvGraphicFramePr>
            <a:graphicFrameLocks noChangeAspect="1"/>
          </p:cNvGraphicFramePr>
          <p:nvPr/>
        </p:nvGraphicFramePr>
        <p:xfrm>
          <a:off x="2025650" y="685800"/>
          <a:ext cx="2051050" cy="174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6" name="Image" r:id="rId3" imgW="2565079" imgH="2184127" progId="Photoshop.Image.6">
                  <p:embed/>
                </p:oleObj>
              </mc:Choice>
              <mc:Fallback>
                <p:oleObj name="Image" r:id="rId3" imgW="2565079" imgH="2184127" progId="Photoshop.Image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5650" y="685800"/>
                        <a:ext cx="2051050" cy="174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6" name="Object 4"/>
          <p:cNvGraphicFramePr>
            <a:graphicFrameLocks noChangeAspect="1"/>
          </p:cNvGraphicFramePr>
          <p:nvPr/>
        </p:nvGraphicFramePr>
        <p:xfrm>
          <a:off x="4186238" y="684213"/>
          <a:ext cx="2062162" cy="174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7" name="Image" r:id="rId5" imgW="2577778" imgH="2184127" progId="Photoshop.Image.6">
                  <p:embed/>
                </p:oleObj>
              </mc:Choice>
              <mc:Fallback>
                <p:oleObj name="Image" r:id="rId5" imgW="2577778" imgH="2184127" progId="Photoshop.Image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6238" y="684213"/>
                        <a:ext cx="2062162" cy="174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7" name="Object 5"/>
          <p:cNvGraphicFramePr>
            <a:graphicFrameLocks noChangeAspect="1"/>
          </p:cNvGraphicFramePr>
          <p:nvPr/>
        </p:nvGraphicFramePr>
        <p:xfrm>
          <a:off x="6372225" y="646113"/>
          <a:ext cx="2051050" cy="178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8" name="Image" r:id="rId7" imgW="2565079" imgH="2234921" progId="Photoshop.Image.6">
                  <p:embed/>
                </p:oleObj>
              </mc:Choice>
              <mc:Fallback>
                <p:oleObj name="Image" r:id="rId7" imgW="2565079" imgH="2234921" progId="Photoshop.Image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646113"/>
                        <a:ext cx="2051050" cy="178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0292352"/>
              </p:ext>
            </p:extLst>
          </p:nvPr>
        </p:nvGraphicFramePr>
        <p:xfrm>
          <a:off x="618123" y="2387601"/>
          <a:ext cx="2508250" cy="203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9" name="Image" r:id="rId9" imgW="3136508" imgH="2539683" progId="Photoshop.Image.6">
                  <p:embed/>
                </p:oleObj>
              </mc:Choice>
              <mc:Fallback>
                <p:oleObj name="Image" r:id="rId9" imgW="3136508" imgH="2539683" progId="Photoshop.Image.6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123" y="2387601"/>
                        <a:ext cx="2508250" cy="2030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0285728"/>
              </p:ext>
            </p:extLst>
          </p:nvPr>
        </p:nvGraphicFramePr>
        <p:xfrm>
          <a:off x="3210510" y="2374901"/>
          <a:ext cx="2528888" cy="206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0" name="Image" r:id="rId11" imgW="3161905" imgH="2577778" progId="Photoshop.Image.6">
                  <p:embed/>
                </p:oleObj>
              </mc:Choice>
              <mc:Fallback>
                <p:oleObj name="Image" r:id="rId11" imgW="3161905" imgH="2577778" progId="Photoshop.Image.6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0510" y="2374901"/>
                        <a:ext cx="2528888" cy="206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9244725"/>
              </p:ext>
            </p:extLst>
          </p:nvPr>
        </p:nvGraphicFramePr>
        <p:xfrm>
          <a:off x="5866262" y="2319338"/>
          <a:ext cx="2940050" cy="216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1" name="Image" r:id="rId13" imgW="3669841" imgH="2704762" progId="Photoshop.Image.6">
                  <p:embed/>
                </p:oleObj>
              </mc:Choice>
              <mc:Fallback>
                <p:oleObj name="Image" r:id="rId13" imgW="3669841" imgH="2704762" progId="Photoshop.Image.6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6262" y="2319338"/>
                        <a:ext cx="2940050" cy="2166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8444" name="Picture 12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0930" y="4461780"/>
            <a:ext cx="2514600" cy="2179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6" name="Picture 14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0607" y="4515428"/>
            <a:ext cx="2411310" cy="2053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8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8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8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8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782169" y="1268760"/>
            <a:ext cx="727280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</a:t>
            </a:r>
            <a:r>
              <a:rPr lang="zh-CN" altLang="en-US" b="1" dirty="0">
                <a:solidFill>
                  <a:srgbClr val="FE020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物体系统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是指由几个物体通过约束组成的系统。</a:t>
            </a:r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952501" y="1864305"/>
            <a:ext cx="7102475" cy="408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dirty="0">
                <a:solidFill>
                  <a:srgbClr val="FE020E"/>
                </a:solidFill>
                <a:ea typeface="华文中宋" panose="02010600040101010101" pitchFamily="2" charset="-122"/>
              </a:rPr>
              <a:t>        (1)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整体系统平衡，每个物体也平衡。因此，可取</a:t>
            </a:r>
            <a:r>
              <a:rPr lang="zh-CN" altLang="en-US" b="1" dirty="0">
                <a:solidFill>
                  <a:srgbClr val="FF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整体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或</a:t>
            </a:r>
            <a:r>
              <a:rPr lang="zh-CN" altLang="en-US" b="1" dirty="0">
                <a:solidFill>
                  <a:srgbClr val="FF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部分系统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有关联的若干物体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或</a:t>
            </a:r>
            <a:r>
              <a:rPr lang="zh-CN" altLang="en-US" b="1" dirty="0">
                <a:solidFill>
                  <a:srgbClr val="FF33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单个物体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为研究对象。</a:t>
            </a:r>
          </a:p>
          <a:p>
            <a:pPr eaLnBrk="1" hangingPunct="1">
              <a:lnSpc>
                <a:spcPct val="135000"/>
              </a:lnSpc>
            </a:pPr>
            <a:r>
              <a:rPr lang="zh-CN" altLang="en-US" dirty="0">
                <a:solidFill>
                  <a:srgbClr val="FE020E"/>
                </a:solidFill>
                <a:ea typeface="华文中宋" panose="02010600040101010101" pitchFamily="2" charset="-122"/>
              </a:rPr>
              <a:t>        </a:t>
            </a:r>
            <a:r>
              <a:rPr lang="en-US" altLang="zh-CN" dirty="0">
                <a:solidFill>
                  <a:srgbClr val="FE020E"/>
                </a:solidFill>
                <a:ea typeface="华文中宋" panose="02010600040101010101" pitchFamily="2" charset="-122"/>
              </a:rPr>
              <a:t>(2)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分清系统内力和外力。</a:t>
            </a:r>
          </a:p>
          <a:p>
            <a:pPr eaLnBrk="1" hangingPunct="1">
              <a:lnSpc>
                <a:spcPct val="135000"/>
              </a:lnSpc>
            </a:pPr>
            <a:r>
              <a:rPr lang="zh-CN" altLang="en-US" dirty="0">
                <a:solidFill>
                  <a:srgbClr val="FE020E"/>
                </a:solidFill>
                <a:ea typeface="华文中宋" panose="02010600040101010101" pitchFamily="2" charset="-122"/>
              </a:rPr>
              <a:t>        </a:t>
            </a:r>
            <a:r>
              <a:rPr lang="en-US" altLang="zh-CN" dirty="0">
                <a:solidFill>
                  <a:srgbClr val="FE020E"/>
                </a:solidFill>
                <a:ea typeface="华文中宋" panose="02010600040101010101" pitchFamily="2" charset="-122"/>
              </a:rPr>
              <a:t>(3)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如系统由</a:t>
            </a:r>
            <a:r>
              <a:rPr lang="en-US" altLang="zh-CN" i="1" dirty="0">
                <a:latin typeface="+mn-lt"/>
                <a:ea typeface="楷体" panose="02010609060101010101" pitchFamily="49" charset="-122"/>
              </a:rPr>
              <a:t>n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个物体组成，而每个物体在平面力系作用下平衡，则有</a:t>
            </a:r>
            <a:r>
              <a:rPr lang="en-US" altLang="zh-CN" dirty="0">
                <a:latin typeface="+mn-lt"/>
                <a:ea typeface="楷体" panose="02010609060101010101" pitchFamily="49" charset="-122"/>
              </a:rPr>
              <a:t>3</a:t>
            </a:r>
            <a:r>
              <a:rPr lang="en-US" altLang="zh-CN" i="1" dirty="0">
                <a:latin typeface="+mn-lt"/>
                <a:ea typeface="楷体" panose="02010609060101010101" pitchFamily="49" charset="-122"/>
              </a:rPr>
              <a:t>n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个独立的平衡方程，可解</a:t>
            </a:r>
            <a:r>
              <a:rPr lang="en-US" altLang="zh-CN" dirty="0">
                <a:latin typeface="+mn-lt"/>
                <a:ea typeface="楷体" panose="02010609060101010101" pitchFamily="49" charset="-122"/>
              </a:rPr>
              <a:t>3</a:t>
            </a:r>
            <a:r>
              <a:rPr lang="en-US" altLang="zh-CN" i="1" dirty="0">
                <a:latin typeface="+mn-lt"/>
                <a:ea typeface="楷体" panose="02010609060101010101" pitchFamily="49" charset="-122"/>
              </a:rPr>
              <a:t>n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个未知量。</a:t>
            </a:r>
          </a:p>
          <a:p>
            <a:pPr eaLnBrk="1" hangingPunct="1">
              <a:lnSpc>
                <a:spcPct val="135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 </a:t>
            </a:r>
            <a:r>
              <a:rPr lang="en-US" altLang="zh-CN" dirty="0">
                <a:solidFill>
                  <a:srgbClr val="FE020E"/>
                </a:solidFill>
                <a:ea typeface="华文中宋" panose="02010600040101010101" pitchFamily="2" charset="-122"/>
              </a:rPr>
              <a:t>(4)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灵活选取研究对象和列写平衡方程。 </a:t>
            </a:r>
          </a:p>
        </p:txBody>
      </p:sp>
      <p:sp>
        <p:nvSpPr>
          <p:cNvPr id="2" name="矩形 1"/>
          <p:cNvSpPr/>
          <p:nvPr/>
        </p:nvSpPr>
        <p:spPr>
          <a:xfrm>
            <a:off x="755576" y="415837"/>
            <a:ext cx="6234399" cy="7190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45000"/>
              </a:lnSpc>
            </a:pPr>
            <a:r>
              <a:rPr lang="en-US" altLang="zh-CN" sz="3200" b="1" dirty="0">
                <a:ea typeface="黑体" panose="02010609060101010101" pitchFamily="49" charset="-122"/>
              </a:rPr>
              <a:t>§4-4  </a:t>
            </a:r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物体系统的平衡</a:t>
            </a:r>
            <a:r>
              <a:rPr lang="zh-CN" altLang="en-US" b="1" dirty="0">
                <a:ea typeface="华文中宋" panose="02010600040101010101" pitchFamily="2" charset="-122"/>
              </a:rPr>
              <a:t>（书</a:t>
            </a:r>
            <a:r>
              <a:rPr lang="en-US" altLang="zh-CN" b="1" dirty="0">
                <a:latin typeface="宋体" panose="02010600030101010101" pitchFamily="2" charset="-122"/>
              </a:rPr>
              <a:t>§</a:t>
            </a:r>
            <a:r>
              <a:rPr lang="en-US" altLang="zh-CN" b="1" dirty="0"/>
              <a:t> 2.4.2 </a:t>
            </a:r>
            <a:r>
              <a:rPr lang="zh-CN" altLang="en-US" b="1" dirty="0">
                <a:ea typeface="华文中宋" panose="02010600040101010101" pitchFamily="2" charset="-122"/>
              </a:rPr>
              <a:t>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0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04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0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04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 autoUpdateAnimBg="0"/>
      <p:bldP spid="20484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8" name="Rectangle 2"/>
          <p:cNvSpPr>
            <a:spLocks noChangeArrowheads="1"/>
          </p:cNvSpPr>
          <p:nvPr/>
        </p:nvSpPr>
        <p:spPr bwMode="auto">
          <a:xfrm>
            <a:off x="971600" y="457735"/>
            <a:ext cx="675858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分析例</a:t>
            </a:r>
            <a:r>
              <a:rPr lang="en-US" altLang="zh-CN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已知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en-US" altLang="zh-CN" i="1" dirty="0">
                <a:latin typeface="+mn-lt"/>
                <a:ea typeface="楷体" panose="02010609060101010101" pitchFamily="49" charset="-122"/>
              </a:rPr>
              <a:t>a</a:t>
            </a:r>
            <a:r>
              <a:rPr lang="zh-CN" altLang="en-US" dirty="0">
                <a:latin typeface="+mn-lt"/>
                <a:ea typeface="楷体" panose="02010609060101010101" pitchFamily="49" charset="-122"/>
              </a:rPr>
              <a:t>、</a:t>
            </a:r>
            <a:r>
              <a:rPr lang="en-US" altLang="zh-CN" i="1" dirty="0">
                <a:latin typeface="+mn-lt"/>
                <a:ea typeface="楷体" panose="02010609060101010101" pitchFamily="49" charset="-122"/>
              </a:rPr>
              <a:t>P</a:t>
            </a:r>
            <a:r>
              <a:rPr lang="zh-CN" altLang="en-US" dirty="0">
                <a:latin typeface="+mn-lt"/>
                <a:ea typeface="楷体" panose="02010609060101010101" pitchFamily="49" charset="-122"/>
              </a:rPr>
              <a:t>、</a:t>
            </a:r>
            <a:r>
              <a:rPr lang="en-US" altLang="zh-CN" i="1" dirty="0">
                <a:latin typeface="+mn-lt"/>
                <a:ea typeface="楷体" panose="02010609060101010101" pitchFamily="49" charset="-122"/>
              </a:rPr>
              <a:t>Q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求</a:t>
            </a:r>
            <a:r>
              <a:rPr lang="en-US" altLang="zh-CN" i="1" dirty="0">
                <a:latin typeface="+mn-lt"/>
                <a:ea typeface="楷体" panose="02010609060101010101" pitchFamily="49" charset="-122"/>
              </a:rPr>
              <a:t>A</a:t>
            </a:r>
            <a:r>
              <a:rPr lang="zh-CN" altLang="en-US" dirty="0">
                <a:latin typeface="+mn-lt"/>
                <a:ea typeface="楷体" panose="02010609060101010101" pitchFamily="49" charset="-122"/>
              </a:rPr>
              <a:t>、</a:t>
            </a:r>
            <a:r>
              <a:rPr lang="en-US" altLang="zh-CN" i="1" dirty="0">
                <a:latin typeface="+mn-lt"/>
                <a:ea typeface="楷体" panose="02010609060101010101" pitchFamily="49" charset="-122"/>
              </a:rPr>
              <a:t>B</a:t>
            </a:r>
            <a:r>
              <a:rPr lang="en-US" altLang="zh-CN" dirty="0">
                <a:latin typeface="+mn-lt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的约束反力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sp>
        <p:nvSpPr>
          <p:cNvPr id="24579" name="Rectangle 3"/>
          <p:cNvSpPr>
            <a:spLocks noChangeArrowheads="1"/>
          </p:cNvSpPr>
          <p:nvPr/>
        </p:nvSpPr>
        <p:spPr bwMode="auto">
          <a:xfrm>
            <a:off x="971600" y="3126411"/>
            <a:ext cx="405431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解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(1)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考虑整体，受力如图</a:t>
            </a:r>
          </a:p>
          <a:p>
            <a:pPr eaLnBrk="1" hangingPunct="1"/>
            <a:endParaRPr lang="zh-CN" altLang="en-US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921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7662967"/>
              </p:ext>
            </p:extLst>
          </p:nvPr>
        </p:nvGraphicFramePr>
        <p:xfrm>
          <a:off x="932769" y="981566"/>
          <a:ext cx="2687637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4" name="BMP 图像" r:id="rId3" imgW="2688341" imgH="2057404" progId="Paint.Picture">
                  <p:embed/>
                </p:oleObj>
              </mc:Choice>
              <mc:Fallback>
                <p:oleObj name="BMP 图像" r:id="rId3" imgW="2688341" imgH="2057404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2769" y="981566"/>
                        <a:ext cx="2687637" cy="205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8878472"/>
              </p:ext>
            </p:extLst>
          </p:nvPr>
        </p:nvGraphicFramePr>
        <p:xfrm>
          <a:off x="3707903" y="1176628"/>
          <a:ext cx="2606675" cy="183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5" name="BMP 图像" r:id="rId5" imgW="2606045" imgH="1837948" progId="Paint.Picture">
                  <p:embed/>
                </p:oleObj>
              </mc:Choice>
              <mc:Fallback>
                <p:oleObj name="BMP 图像" r:id="rId5" imgW="2606045" imgH="1837948" progId="Paint.Picture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903" y="1176628"/>
                        <a:ext cx="2606675" cy="183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3954265"/>
              </p:ext>
            </p:extLst>
          </p:nvPr>
        </p:nvGraphicFramePr>
        <p:xfrm>
          <a:off x="1475656" y="3541909"/>
          <a:ext cx="4734780" cy="693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6" name="Equation" r:id="rId7" imgW="4940280" imgH="723600" progId="Equation.3">
                  <p:embed/>
                </p:oleObj>
              </mc:Choice>
              <mc:Fallback>
                <p:oleObj name="Equation" r:id="rId7" imgW="4940280" imgH="723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3541909"/>
                        <a:ext cx="4734780" cy="6937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1270637"/>
              </p:ext>
            </p:extLst>
          </p:nvPr>
        </p:nvGraphicFramePr>
        <p:xfrm>
          <a:off x="1467129" y="4126966"/>
          <a:ext cx="4743307" cy="764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7" name="公式" r:id="rId9" imgW="2438280" imgH="393480" progId="Equation.3">
                  <p:embed/>
                </p:oleObj>
              </mc:Choice>
              <mc:Fallback>
                <p:oleObj name="公式" r:id="rId9" imgW="2438280" imgH="3934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7129" y="4126966"/>
                        <a:ext cx="4743307" cy="7644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4296316"/>
              </p:ext>
            </p:extLst>
          </p:nvPr>
        </p:nvGraphicFramePr>
        <p:xfrm>
          <a:off x="1505432" y="4891371"/>
          <a:ext cx="3594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8" name="Equation" r:id="rId11" imgW="3593880" imgH="431640" progId="Equation.3">
                  <p:embed/>
                </p:oleObj>
              </mc:Choice>
              <mc:Fallback>
                <p:oleObj name="Equation" r:id="rId11" imgW="3593880" imgH="4316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5432" y="4891371"/>
                        <a:ext cx="35941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6" name="Rectangle 10"/>
          <p:cNvSpPr>
            <a:spLocks noChangeArrowheads="1"/>
          </p:cNvSpPr>
          <p:nvPr/>
        </p:nvSpPr>
        <p:spPr bwMode="auto">
          <a:xfrm>
            <a:off x="1603000" y="5376237"/>
            <a:ext cx="420980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(2)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考虑左半部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受力如图所示</a:t>
            </a:r>
          </a:p>
          <a:p>
            <a:pPr eaLnBrk="1" hangingPunct="1"/>
            <a:endParaRPr lang="zh-CN" altLang="en-US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2458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9477164"/>
              </p:ext>
            </p:extLst>
          </p:nvPr>
        </p:nvGraphicFramePr>
        <p:xfrm>
          <a:off x="6425334" y="1103267"/>
          <a:ext cx="1912214" cy="1941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9" name="BMP 图像" r:id="rId13" imgW="1819660" imgH="1847092" progId="Paint.Picture">
                  <p:embed/>
                </p:oleObj>
              </mc:Choice>
              <mc:Fallback>
                <p:oleObj name="BMP 图像" r:id="rId13" imgW="1819660" imgH="1847092" progId="Paint.Picture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5334" y="1103267"/>
                        <a:ext cx="1912214" cy="19417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2480259"/>
              </p:ext>
            </p:extLst>
          </p:nvPr>
        </p:nvGraphicFramePr>
        <p:xfrm>
          <a:off x="1603000" y="5791735"/>
          <a:ext cx="35560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0" name="Equation" r:id="rId15" imgW="3555720" imgH="723600" progId="Equation.3">
                  <p:embed/>
                </p:oleObj>
              </mc:Choice>
              <mc:Fallback>
                <p:oleObj name="Equation" r:id="rId15" imgW="3555720" imgH="7236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3000" y="5791735"/>
                        <a:ext cx="35560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24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 autoUpdateAnimBg="0"/>
      <p:bldP spid="24586" grpId="0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2482988"/>
              </p:ext>
            </p:extLst>
          </p:nvPr>
        </p:nvGraphicFramePr>
        <p:xfrm>
          <a:off x="968504" y="825949"/>
          <a:ext cx="2687637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2" name="BMP 图像" r:id="rId3" imgW="2688341" imgH="2057404" progId="Paint.Picture">
                  <p:embed/>
                </p:oleObj>
              </mc:Choice>
              <mc:Fallback>
                <p:oleObj name="BMP 图像" r:id="rId3" imgW="2688341" imgH="2057404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8504" y="825949"/>
                        <a:ext cx="2687637" cy="205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1716860"/>
              </p:ext>
            </p:extLst>
          </p:nvPr>
        </p:nvGraphicFramePr>
        <p:xfrm>
          <a:off x="3743639" y="962841"/>
          <a:ext cx="2606675" cy="183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3" name="BMP 图像" r:id="rId5" imgW="2606045" imgH="1837948" progId="Paint.Picture">
                  <p:embed/>
                </p:oleObj>
              </mc:Choice>
              <mc:Fallback>
                <p:oleObj name="BMP 图像" r:id="rId5" imgW="2606045" imgH="1837948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3639" y="962841"/>
                        <a:ext cx="2606675" cy="183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169685"/>
              </p:ext>
            </p:extLst>
          </p:nvPr>
        </p:nvGraphicFramePr>
        <p:xfrm>
          <a:off x="6469887" y="941602"/>
          <a:ext cx="1912214" cy="1941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4" name="BMP 图像" r:id="rId7" imgW="1819660" imgH="1847092" progId="Paint.Picture">
                  <p:embed/>
                </p:oleObj>
              </mc:Choice>
              <mc:Fallback>
                <p:oleObj name="BMP 图像" r:id="rId7" imgW="1819660" imgH="1847092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9887" y="941602"/>
                        <a:ext cx="1912214" cy="19417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标注 4"/>
          <p:cNvSpPr/>
          <p:nvPr/>
        </p:nvSpPr>
        <p:spPr bwMode="auto">
          <a:xfrm>
            <a:off x="968865" y="3182959"/>
            <a:ext cx="830919" cy="504056"/>
          </a:xfrm>
          <a:prstGeom prst="wedgeRectCallou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讨论</a:t>
            </a: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1187624" y="3933056"/>
            <a:ext cx="634407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分别研究左、右部分列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个方程也可求解。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187624" y="4490682"/>
            <a:ext cx="727280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若以整体为研究对象列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个方程求解，是否可行？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1187624" y="5048308"/>
            <a:ext cx="712879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若以整体、左、右部分分别为研究对象列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9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个方程求解，是否可行？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5707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995" name="Text Box 11"/>
          <p:cNvSpPr txBox="1">
            <a:spLocks noChangeArrowheads="1"/>
          </p:cNvSpPr>
          <p:nvPr/>
        </p:nvSpPr>
        <p:spPr bwMode="auto">
          <a:xfrm>
            <a:off x="2865698" y="424307"/>
            <a:ext cx="5738750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>
              <a:spcBef>
                <a:spcPct val="0"/>
              </a:spcBef>
            </a:pPr>
            <a:r>
              <a:rPr lang="zh-C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如图所示机构的自重不计。圆轮上的销子</a:t>
            </a:r>
            <a:r>
              <a:rPr lang="en-US" altLang="zh-CN" sz="20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放在摇杆</a:t>
            </a:r>
            <a:r>
              <a:rPr lang="en-US" altLang="zh-CN" sz="20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BC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上的光滑导槽内。圆轮上作用一力偶，其力偶矩为</a:t>
            </a:r>
            <a:r>
              <a:rPr lang="en-US" altLang="zh-CN" sz="20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2000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2kN·m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0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OA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20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 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0.5m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图示位置时</a:t>
            </a:r>
            <a:r>
              <a:rPr lang="en-US" altLang="zh-CN" sz="20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OA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0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OB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垂直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α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30</a:t>
            </a:r>
            <a:r>
              <a:rPr lang="en-US" altLang="zh-CN" sz="2000" baseline="3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lang="en-US" altLang="zh-CN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且系统平衡。求作用于摇杆</a:t>
            </a:r>
            <a:r>
              <a:rPr lang="en-US" altLang="zh-CN" sz="20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BC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的力偶矩</a:t>
            </a:r>
            <a:r>
              <a:rPr lang="en-US" altLang="zh-CN" sz="20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2000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及铰链</a:t>
            </a:r>
            <a:r>
              <a:rPr lang="en-US" altLang="zh-CN" sz="20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</a:t>
            </a:r>
            <a:r>
              <a:rPr lang="zh-CN" altLang="en-US" sz="2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0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处的约束力。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734642" y="405864"/>
            <a:ext cx="2151940" cy="3330575"/>
            <a:chOff x="794934" y="478704"/>
            <a:chExt cx="2151940" cy="3330575"/>
          </a:xfrm>
        </p:grpSpPr>
        <p:sp>
          <p:nvSpPr>
            <p:cNvPr id="1321996" name="Oval 12"/>
            <p:cNvSpPr>
              <a:spLocks noChangeArrowheads="1"/>
            </p:cNvSpPr>
            <p:nvPr/>
          </p:nvSpPr>
          <p:spPr bwMode="auto">
            <a:xfrm>
              <a:off x="1377547" y="1334366"/>
              <a:ext cx="1239837" cy="1287463"/>
            </a:xfrm>
            <a:prstGeom prst="ellipse">
              <a:avLst/>
            </a:prstGeom>
            <a:gradFill rotWithShape="0">
              <a:gsLst>
                <a:gs pos="0">
                  <a:srgbClr val="DDDDDD"/>
                </a:gs>
                <a:gs pos="100000">
                  <a:srgbClr val="DDDDDD">
                    <a:gamma/>
                    <a:shade val="46275"/>
                    <a:invGamma/>
                  </a:srgbClr>
                </a:gs>
              </a:gsLst>
              <a:lin ang="2700000" scaled="1"/>
            </a:gradFill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1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21997" name="AutoShape 13"/>
            <p:cNvSpPr>
              <a:spLocks noChangeArrowheads="1"/>
            </p:cNvSpPr>
            <p:nvPr/>
          </p:nvSpPr>
          <p:spPr bwMode="auto">
            <a:xfrm rot="20159403">
              <a:off x="1287059" y="556491"/>
              <a:ext cx="228600" cy="3048000"/>
            </a:xfrm>
            <a:prstGeom prst="roundRect">
              <a:avLst>
                <a:gd name="adj" fmla="val 16667"/>
              </a:avLst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1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21998" name="AutoShape 14"/>
            <p:cNvSpPr>
              <a:spLocks noChangeArrowheads="1"/>
            </p:cNvSpPr>
            <p:nvPr/>
          </p:nvSpPr>
          <p:spPr bwMode="auto">
            <a:xfrm rot="20159403">
              <a:off x="1345797" y="631104"/>
              <a:ext cx="111125" cy="2895600"/>
            </a:xfrm>
            <a:prstGeom prst="roundRect">
              <a:avLst>
                <a:gd name="adj" fmla="val 16667"/>
              </a:avLst>
            </a:prstGeom>
            <a:noFill/>
            <a:ln w="190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A3E0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1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21999" name="Line 15"/>
            <p:cNvSpPr>
              <a:spLocks noChangeShapeType="1"/>
            </p:cNvSpPr>
            <p:nvPr/>
          </p:nvSpPr>
          <p:spPr bwMode="auto">
            <a:xfrm flipV="1">
              <a:off x="1995084" y="578716"/>
              <a:ext cx="0" cy="29733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1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22000" name="Text Box 16"/>
            <p:cNvSpPr txBox="1">
              <a:spLocks noChangeArrowheads="1"/>
            </p:cNvSpPr>
            <p:nvPr/>
          </p:nvSpPr>
          <p:spPr bwMode="auto">
            <a:xfrm>
              <a:off x="2107855" y="3201341"/>
              <a:ext cx="34176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322001" name="Text Box 17"/>
            <p:cNvSpPr txBox="1">
              <a:spLocks noChangeArrowheads="1"/>
            </p:cNvSpPr>
            <p:nvPr/>
          </p:nvSpPr>
          <p:spPr bwMode="auto">
            <a:xfrm>
              <a:off x="2058584" y="1848716"/>
              <a:ext cx="370614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1322002" name="Text Box 18"/>
            <p:cNvSpPr txBox="1">
              <a:spLocks noChangeArrowheads="1"/>
            </p:cNvSpPr>
            <p:nvPr/>
          </p:nvSpPr>
          <p:spPr bwMode="auto">
            <a:xfrm>
              <a:off x="1548997" y="1956666"/>
              <a:ext cx="284052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1322003" name="Freeform 19"/>
            <p:cNvSpPr>
              <a:spLocks/>
            </p:cNvSpPr>
            <p:nvPr/>
          </p:nvSpPr>
          <p:spPr bwMode="auto">
            <a:xfrm rot="11432884">
              <a:off x="1804584" y="2775816"/>
              <a:ext cx="180975" cy="80963"/>
            </a:xfrm>
            <a:custGeom>
              <a:avLst/>
              <a:gdLst>
                <a:gd name="T0" fmla="*/ 114 w 114"/>
                <a:gd name="T1" fmla="*/ 0 h 51"/>
                <a:gd name="T2" fmla="*/ 96 w 114"/>
                <a:gd name="T3" fmla="*/ 29 h 51"/>
                <a:gd name="T4" fmla="*/ 67 w 114"/>
                <a:gd name="T5" fmla="*/ 45 h 51"/>
                <a:gd name="T6" fmla="*/ 38 w 114"/>
                <a:gd name="T7" fmla="*/ 51 h 51"/>
                <a:gd name="T8" fmla="*/ 0 w 114"/>
                <a:gd name="T9" fmla="*/ 48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51">
                  <a:moveTo>
                    <a:pt x="114" y="0"/>
                  </a:moveTo>
                  <a:lnTo>
                    <a:pt x="96" y="29"/>
                  </a:lnTo>
                  <a:lnTo>
                    <a:pt x="67" y="45"/>
                  </a:lnTo>
                  <a:cubicBezTo>
                    <a:pt x="57" y="49"/>
                    <a:pt x="49" y="51"/>
                    <a:pt x="38" y="51"/>
                  </a:cubicBezTo>
                  <a:cubicBezTo>
                    <a:pt x="27" y="51"/>
                    <a:pt x="8" y="49"/>
                    <a:pt x="0" y="48"/>
                  </a:cubicBezTo>
                </a:path>
              </a:pathLst>
            </a:custGeom>
            <a:noFill/>
            <a:ln w="19050" cap="sq" cmpd="sng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1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322004" name="Object 20"/>
            <p:cNvGraphicFramePr>
              <a:graphicFrameLocks noChangeAspect="1"/>
            </p:cNvGraphicFramePr>
            <p:nvPr/>
          </p:nvGraphicFramePr>
          <p:xfrm>
            <a:off x="1801409" y="2593253"/>
            <a:ext cx="221782" cy="203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90" name="公式" r:id="rId4" imgW="152280" imgH="139680" progId="Equation.3">
                    <p:embed/>
                  </p:oleObj>
                </mc:Choice>
                <mc:Fallback>
                  <p:oleObj name="公式" r:id="rId4" imgW="15228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01409" y="2593253"/>
                          <a:ext cx="221782" cy="203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22005" name="Text Box 21"/>
            <p:cNvSpPr txBox="1">
              <a:spLocks noChangeArrowheads="1"/>
            </p:cNvSpPr>
            <p:nvPr/>
          </p:nvSpPr>
          <p:spPr bwMode="auto">
            <a:xfrm>
              <a:off x="1007659" y="1901104"/>
              <a:ext cx="34176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322006" name="Oval 22"/>
            <p:cNvSpPr>
              <a:spLocks noChangeArrowheads="1"/>
            </p:cNvSpPr>
            <p:nvPr/>
          </p:nvSpPr>
          <p:spPr bwMode="auto">
            <a:xfrm>
              <a:off x="1345797" y="2012229"/>
              <a:ext cx="93662" cy="92075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chemeClr val="tx1">
                        <a:gamma/>
                        <a:shade val="60000"/>
                        <a:invGamma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322007" name="Group 23"/>
            <p:cNvGrpSpPr>
              <a:grpSpLocks/>
            </p:cNvGrpSpPr>
            <p:nvPr/>
          </p:nvGrpSpPr>
          <p:grpSpPr bwMode="auto">
            <a:xfrm>
              <a:off x="1545822" y="3398116"/>
              <a:ext cx="795337" cy="411163"/>
              <a:chOff x="1369" y="3315"/>
              <a:chExt cx="873" cy="464"/>
            </a:xfrm>
          </p:grpSpPr>
          <p:sp>
            <p:nvSpPr>
              <p:cNvPr id="1322008" name="Line 24"/>
              <p:cNvSpPr>
                <a:spLocks noChangeShapeType="1"/>
              </p:cNvSpPr>
              <p:nvPr/>
            </p:nvSpPr>
            <p:spPr bwMode="auto">
              <a:xfrm flipH="1">
                <a:off x="1369" y="3640"/>
                <a:ext cx="102" cy="139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22009" name="Line 25"/>
              <p:cNvSpPr>
                <a:spLocks noChangeShapeType="1"/>
              </p:cNvSpPr>
              <p:nvPr/>
            </p:nvSpPr>
            <p:spPr bwMode="auto">
              <a:xfrm flipH="1">
                <a:off x="1479" y="3640"/>
                <a:ext cx="102" cy="139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22010" name="Line 26"/>
              <p:cNvSpPr>
                <a:spLocks noChangeShapeType="1"/>
              </p:cNvSpPr>
              <p:nvPr/>
            </p:nvSpPr>
            <p:spPr bwMode="auto">
              <a:xfrm flipH="1">
                <a:off x="1589" y="3640"/>
                <a:ext cx="102" cy="139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22011" name="Line 27"/>
              <p:cNvSpPr>
                <a:spLocks noChangeShapeType="1"/>
              </p:cNvSpPr>
              <p:nvPr/>
            </p:nvSpPr>
            <p:spPr bwMode="auto">
              <a:xfrm flipH="1">
                <a:off x="1699" y="3640"/>
                <a:ext cx="102" cy="139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22012" name="Line 28"/>
              <p:cNvSpPr>
                <a:spLocks noChangeShapeType="1"/>
              </p:cNvSpPr>
              <p:nvPr/>
            </p:nvSpPr>
            <p:spPr bwMode="auto">
              <a:xfrm flipH="1">
                <a:off x="1809" y="3640"/>
                <a:ext cx="102" cy="139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22013" name="Line 29"/>
              <p:cNvSpPr>
                <a:spLocks noChangeShapeType="1"/>
              </p:cNvSpPr>
              <p:nvPr/>
            </p:nvSpPr>
            <p:spPr bwMode="auto">
              <a:xfrm flipH="1">
                <a:off x="1919" y="3640"/>
                <a:ext cx="102" cy="139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22014" name="Line 30"/>
              <p:cNvSpPr>
                <a:spLocks noChangeShapeType="1"/>
              </p:cNvSpPr>
              <p:nvPr/>
            </p:nvSpPr>
            <p:spPr bwMode="auto">
              <a:xfrm flipH="1">
                <a:off x="2029" y="3640"/>
                <a:ext cx="103" cy="139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22015" name="Line 31"/>
              <p:cNvSpPr>
                <a:spLocks noChangeShapeType="1"/>
              </p:cNvSpPr>
              <p:nvPr/>
            </p:nvSpPr>
            <p:spPr bwMode="auto">
              <a:xfrm flipH="1">
                <a:off x="2139" y="3640"/>
                <a:ext cx="103" cy="139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22016" name="Line 32"/>
              <p:cNvSpPr>
                <a:spLocks noChangeShapeType="1"/>
              </p:cNvSpPr>
              <p:nvPr/>
            </p:nvSpPr>
            <p:spPr bwMode="auto">
              <a:xfrm flipV="1">
                <a:off x="1473" y="3633"/>
                <a:ext cx="768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22017" name="Oval 33"/>
              <p:cNvSpPr>
                <a:spLocks noChangeArrowheads="1"/>
              </p:cNvSpPr>
              <p:nvPr/>
            </p:nvSpPr>
            <p:spPr bwMode="auto">
              <a:xfrm>
                <a:off x="1815" y="3315"/>
                <a:ext cx="114" cy="121"/>
              </a:xfrm>
              <a:prstGeom prst="ellipse">
                <a:avLst/>
              </a:prstGeom>
              <a:solidFill>
                <a:srgbClr val="A3E0FF"/>
              </a:solidFill>
              <a:ln w="1905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22018" name="Line 34"/>
              <p:cNvSpPr>
                <a:spLocks noChangeShapeType="1"/>
              </p:cNvSpPr>
              <p:nvPr/>
            </p:nvSpPr>
            <p:spPr bwMode="auto">
              <a:xfrm flipH="1">
                <a:off x="1565" y="3421"/>
                <a:ext cx="250" cy="212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22019" name="Line 35"/>
              <p:cNvSpPr>
                <a:spLocks noChangeShapeType="1"/>
              </p:cNvSpPr>
              <p:nvPr/>
            </p:nvSpPr>
            <p:spPr bwMode="auto">
              <a:xfrm>
                <a:off x="1929" y="3421"/>
                <a:ext cx="213" cy="198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1322020" name="Group 36"/>
            <p:cNvGrpSpPr>
              <a:grpSpLocks/>
            </p:cNvGrpSpPr>
            <p:nvPr/>
          </p:nvGrpSpPr>
          <p:grpSpPr bwMode="auto">
            <a:xfrm rot="10855906">
              <a:off x="1690284" y="1793154"/>
              <a:ext cx="706438" cy="325437"/>
              <a:chOff x="1369" y="3315"/>
              <a:chExt cx="873" cy="464"/>
            </a:xfrm>
          </p:grpSpPr>
          <p:sp>
            <p:nvSpPr>
              <p:cNvPr id="1322021" name="Line 37"/>
              <p:cNvSpPr>
                <a:spLocks noChangeShapeType="1"/>
              </p:cNvSpPr>
              <p:nvPr/>
            </p:nvSpPr>
            <p:spPr bwMode="auto">
              <a:xfrm flipH="1">
                <a:off x="1369" y="3640"/>
                <a:ext cx="102" cy="139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22022" name="Line 38"/>
              <p:cNvSpPr>
                <a:spLocks noChangeShapeType="1"/>
              </p:cNvSpPr>
              <p:nvPr/>
            </p:nvSpPr>
            <p:spPr bwMode="auto">
              <a:xfrm flipH="1">
                <a:off x="1479" y="3640"/>
                <a:ext cx="102" cy="139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22023" name="Line 39"/>
              <p:cNvSpPr>
                <a:spLocks noChangeShapeType="1"/>
              </p:cNvSpPr>
              <p:nvPr/>
            </p:nvSpPr>
            <p:spPr bwMode="auto">
              <a:xfrm flipH="1">
                <a:off x="1589" y="3640"/>
                <a:ext cx="102" cy="139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22024" name="Line 40"/>
              <p:cNvSpPr>
                <a:spLocks noChangeShapeType="1"/>
              </p:cNvSpPr>
              <p:nvPr/>
            </p:nvSpPr>
            <p:spPr bwMode="auto">
              <a:xfrm flipH="1">
                <a:off x="1699" y="3640"/>
                <a:ext cx="102" cy="139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22025" name="Line 41"/>
              <p:cNvSpPr>
                <a:spLocks noChangeShapeType="1"/>
              </p:cNvSpPr>
              <p:nvPr/>
            </p:nvSpPr>
            <p:spPr bwMode="auto">
              <a:xfrm flipH="1">
                <a:off x="1809" y="3640"/>
                <a:ext cx="102" cy="139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22026" name="Line 42"/>
              <p:cNvSpPr>
                <a:spLocks noChangeShapeType="1"/>
              </p:cNvSpPr>
              <p:nvPr/>
            </p:nvSpPr>
            <p:spPr bwMode="auto">
              <a:xfrm flipH="1">
                <a:off x="1919" y="3640"/>
                <a:ext cx="102" cy="139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22027" name="Line 43"/>
              <p:cNvSpPr>
                <a:spLocks noChangeShapeType="1"/>
              </p:cNvSpPr>
              <p:nvPr/>
            </p:nvSpPr>
            <p:spPr bwMode="auto">
              <a:xfrm flipH="1">
                <a:off x="2029" y="3640"/>
                <a:ext cx="103" cy="139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22028" name="Line 44"/>
              <p:cNvSpPr>
                <a:spLocks noChangeShapeType="1"/>
              </p:cNvSpPr>
              <p:nvPr/>
            </p:nvSpPr>
            <p:spPr bwMode="auto">
              <a:xfrm flipH="1">
                <a:off x="2139" y="3640"/>
                <a:ext cx="103" cy="139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22029" name="Line 45"/>
              <p:cNvSpPr>
                <a:spLocks noChangeShapeType="1"/>
              </p:cNvSpPr>
              <p:nvPr/>
            </p:nvSpPr>
            <p:spPr bwMode="auto">
              <a:xfrm flipV="1">
                <a:off x="1473" y="3633"/>
                <a:ext cx="768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22030" name="Oval 46"/>
              <p:cNvSpPr>
                <a:spLocks noChangeArrowheads="1"/>
              </p:cNvSpPr>
              <p:nvPr/>
            </p:nvSpPr>
            <p:spPr bwMode="auto">
              <a:xfrm>
                <a:off x="1805" y="3315"/>
                <a:ext cx="114" cy="121"/>
              </a:xfrm>
              <a:prstGeom prst="ellipse">
                <a:avLst/>
              </a:prstGeom>
              <a:solidFill>
                <a:schemeClr val="accent1"/>
              </a:solidFill>
              <a:ln w="1905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22031" name="Line 47"/>
              <p:cNvSpPr>
                <a:spLocks noChangeShapeType="1"/>
              </p:cNvSpPr>
              <p:nvPr/>
            </p:nvSpPr>
            <p:spPr bwMode="auto">
              <a:xfrm rot="21364094" flipH="1">
                <a:off x="1565" y="3421"/>
                <a:ext cx="250" cy="212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22032" name="Line 48"/>
              <p:cNvSpPr>
                <a:spLocks noChangeShapeType="1"/>
              </p:cNvSpPr>
              <p:nvPr/>
            </p:nvSpPr>
            <p:spPr bwMode="auto">
              <a:xfrm>
                <a:off x="1929" y="3421"/>
                <a:ext cx="213" cy="198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sp>
          <p:nvSpPr>
            <p:cNvPr id="1322033" name="Text Box 49"/>
            <p:cNvSpPr txBox="1">
              <a:spLocks noChangeArrowheads="1"/>
            </p:cNvSpPr>
            <p:nvPr/>
          </p:nvSpPr>
          <p:spPr bwMode="auto">
            <a:xfrm>
              <a:off x="912409" y="478704"/>
              <a:ext cx="356188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322034" name="Text Box 50"/>
            <p:cNvSpPr txBox="1">
              <a:spLocks noChangeArrowheads="1"/>
            </p:cNvSpPr>
            <p:nvPr/>
          </p:nvSpPr>
          <p:spPr bwMode="auto">
            <a:xfrm>
              <a:off x="1224578" y="790047"/>
              <a:ext cx="49084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FF0000"/>
                  </a:solidFill>
                  <a:miter lim="800000"/>
                  <a:headEnd type="none" w="sm" len="sm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altLang="zh-CN" sz="20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sz="2000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22035" name="Text Box 51"/>
            <p:cNvSpPr txBox="1">
              <a:spLocks noChangeArrowheads="1"/>
            </p:cNvSpPr>
            <p:nvPr/>
          </p:nvSpPr>
          <p:spPr bwMode="auto">
            <a:xfrm>
              <a:off x="2389661" y="2243261"/>
              <a:ext cx="557213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FF0000"/>
                  </a:solidFill>
                  <a:miter lim="800000"/>
                  <a:headEnd type="none" w="sm" len="sm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altLang="zh-CN" sz="20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sz="2000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22036" name="Line 52"/>
            <p:cNvSpPr>
              <a:spLocks noChangeShapeType="1"/>
            </p:cNvSpPr>
            <p:nvPr/>
          </p:nvSpPr>
          <p:spPr bwMode="auto">
            <a:xfrm>
              <a:off x="1451079" y="2065410"/>
              <a:ext cx="503238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22037" name="Line 53"/>
            <p:cNvSpPr>
              <a:spLocks noChangeShapeType="1"/>
            </p:cNvSpPr>
            <p:nvPr/>
          </p:nvSpPr>
          <p:spPr bwMode="auto">
            <a:xfrm flipH="1">
              <a:off x="1864909" y="2075729"/>
              <a:ext cx="3175" cy="117475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22038" name="Line 54"/>
            <p:cNvSpPr>
              <a:spLocks noChangeShapeType="1"/>
            </p:cNvSpPr>
            <p:nvPr/>
          </p:nvSpPr>
          <p:spPr bwMode="auto">
            <a:xfrm>
              <a:off x="1866497" y="2196379"/>
              <a:ext cx="112712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22039" name="Line 55"/>
            <p:cNvSpPr>
              <a:spLocks noChangeShapeType="1"/>
            </p:cNvSpPr>
            <p:nvPr/>
          </p:nvSpPr>
          <p:spPr bwMode="auto">
            <a:xfrm flipV="1">
              <a:off x="1604559" y="3682279"/>
              <a:ext cx="769938" cy="793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22040" name="Line 56"/>
            <p:cNvSpPr>
              <a:spLocks noChangeShapeType="1"/>
            </p:cNvSpPr>
            <p:nvPr/>
          </p:nvSpPr>
          <p:spPr bwMode="auto">
            <a:xfrm flipV="1">
              <a:off x="1696634" y="1891579"/>
              <a:ext cx="647700" cy="793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22041" name="Arc 57"/>
            <p:cNvSpPr>
              <a:spLocks/>
            </p:cNvSpPr>
            <p:nvPr/>
          </p:nvSpPr>
          <p:spPr bwMode="auto">
            <a:xfrm rot="16508058">
              <a:off x="783027" y="1108148"/>
              <a:ext cx="525463" cy="501650"/>
            </a:xfrm>
            <a:custGeom>
              <a:avLst/>
              <a:gdLst>
                <a:gd name="G0" fmla="+- 0 0 0"/>
                <a:gd name="G1" fmla="+- 19528 0 0"/>
                <a:gd name="G2" fmla="+- 21600 0 0"/>
                <a:gd name="T0" fmla="*/ 9231 w 21600"/>
                <a:gd name="T1" fmla="*/ 0 h 19528"/>
                <a:gd name="T2" fmla="*/ 21600 w 21600"/>
                <a:gd name="T3" fmla="*/ 19528 h 19528"/>
                <a:gd name="T4" fmla="*/ 0 w 21600"/>
                <a:gd name="T5" fmla="*/ 19528 h 19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528" fill="none" extrusionOk="0">
                  <a:moveTo>
                    <a:pt x="9231" y="-1"/>
                  </a:moveTo>
                  <a:cubicBezTo>
                    <a:pt x="16783" y="3569"/>
                    <a:pt x="21600" y="11174"/>
                    <a:pt x="21600" y="19528"/>
                  </a:cubicBezTo>
                </a:path>
                <a:path w="21600" h="19528" stroke="0" extrusionOk="0">
                  <a:moveTo>
                    <a:pt x="9231" y="-1"/>
                  </a:moveTo>
                  <a:cubicBezTo>
                    <a:pt x="16783" y="3569"/>
                    <a:pt x="21600" y="11174"/>
                    <a:pt x="21600" y="19528"/>
                  </a:cubicBezTo>
                  <a:lnTo>
                    <a:pt x="0" y="19528"/>
                  </a:lnTo>
                  <a:close/>
                </a:path>
              </a:pathLst>
            </a:custGeom>
            <a:noFill/>
            <a:ln w="31750" cap="sq">
              <a:solidFill>
                <a:srgbClr val="FF0000"/>
              </a:solidFill>
              <a:round/>
              <a:headEnd type="none" w="sm" len="sm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22042" name="Arc 58"/>
            <p:cNvSpPr>
              <a:spLocks/>
            </p:cNvSpPr>
            <p:nvPr/>
          </p:nvSpPr>
          <p:spPr bwMode="auto">
            <a:xfrm rot="195414" flipV="1">
              <a:off x="1985559" y="1945554"/>
              <a:ext cx="525463" cy="501650"/>
            </a:xfrm>
            <a:custGeom>
              <a:avLst/>
              <a:gdLst>
                <a:gd name="G0" fmla="+- 0 0 0"/>
                <a:gd name="G1" fmla="+- 19528 0 0"/>
                <a:gd name="G2" fmla="+- 21600 0 0"/>
                <a:gd name="T0" fmla="*/ 9231 w 21600"/>
                <a:gd name="T1" fmla="*/ 0 h 19528"/>
                <a:gd name="T2" fmla="*/ 21600 w 21600"/>
                <a:gd name="T3" fmla="*/ 19528 h 19528"/>
                <a:gd name="T4" fmla="*/ 0 w 21600"/>
                <a:gd name="T5" fmla="*/ 19528 h 19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9528" fill="none" extrusionOk="0">
                  <a:moveTo>
                    <a:pt x="9231" y="-1"/>
                  </a:moveTo>
                  <a:cubicBezTo>
                    <a:pt x="16783" y="3569"/>
                    <a:pt x="21600" y="11174"/>
                    <a:pt x="21600" y="19528"/>
                  </a:cubicBezTo>
                </a:path>
                <a:path w="21600" h="19528" stroke="0" extrusionOk="0">
                  <a:moveTo>
                    <a:pt x="9231" y="-1"/>
                  </a:moveTo>
                  <a:cubicBezTo>
                    <a:pt x="16783" y="3569"/>
                    <a:pt x="21600" y="11174"/>
                    <a:pt x="21600" y="19528"/>
                  </a:cubicBezTo>
                  <a:lnTo>
                    <a:pt x="0" y="19528"/>
                  </a:lnTo>
                  <a:close/>
                </a:path>
              </a:pathLst>
            </a:custGeom>
            <a:noFill/>
            <a:ln w="31750" cap="sq">
              <a:solidFill>
                <a:srgbClr val="FF0000"/>
              </a:solidFill>
              <a:round/>
              <a:headEnd type="none" w="sm" len="sm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>
                <a:spcBef>
                  <a:spcPct val="0"/>
                </a:spcBef>
              </a:pPr>
              <a:endParaRPr lang="zh-CN" altLang="zh-CN"/>
            </a:p>
          </p:txBody>
        </p:sp>
      </p:grpSp>
      <p:sp>
        <p:nvSpPr>
          <p:cNvPr id="58" name="Text Box 16"/>
          <p:cNvSpPr txBox="1">
            <a:spLocks noChangeArrowheads="1"/>
          </p:cNvSpPr>
          <p:nvPr/>
        </p:nvSpPr>
        <p:spPr bwMode="auto">
          <a:xfrm>
            <a:off x="3057498" y="2076439"/>
            <a:ext cx="9461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91240B29-F687-4F45-9708-019B960494DF}">
              <a14:hiddenLine xmlns:a14="http://schemas.microsoft.com/office/drawing/2010/main" w="31750" cap="sq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解：</a:t>
            </a:r>
          </a:p>
        </p:txBody>
      </p:sp>
      <p:sp>
        <p:nvSpPr>
          <p:cNvPr id="59" name="Text Box 11"/>
          <p:cNvSpPr txBox="1">
            <a:spLocks noChangeArrowheads="1"/>
          </p:cNvSpPr>
          <p:nvPr/>
        </p:nvSpPr>
        <p:spPr bwMode="auto">
          <a:xfrm>
            <a:off x="3698139" y="2060132"/>
            <a:ext cx="3883025" cy="4241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  <a:spcBef>
                <a:spcPct val="0"/>
              </a:spcBef>
            </a:pP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先取圆轮为研究对象</a:t>
            </a:r>
          </a:p>
        </p:txBody>
      </p:sp>
      <p:sp>
        <p:nvSpPr>
          <p:cNvPr id="2" name="矩形 1"/>
          <p:cNvSpPr/>
          <p:nvPr/>
        </p:nvSpPr>
        <p:spPr>
          <a:xfrm>
            <a:off x="4402896" y="2470597"/>
            <a:ext cx="94609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0" name="Object 13"/>
          <p:cNvGraphicFramePr>
            <a:graphicFrameLocks noChangeAspect="1"/>
          </p:cNvGraphicFramePr>
          <p:nvPr/>
        </p:nvGraphicFramePr>
        <p:xfrm>
          <a:off x="2908469" y="2834034"/>
          <a:ext cx="3798435" cy="6158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1" name="Equation" r:id="rId6" imgW="2031840" imgH="355320" progId="Equation.3">
                  <p:embed/>
                </p:oleObj>
              </mc:Choice>
              <mc:Fallback>
                <p:oleObj name="Equation" r:id="rId6" imgW="203184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8469" y="2834034"/>
                        <a:ext cx="3798435" cy="6158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" name="Object 15"/>
          <p:cNvGraphicFramePr>
            <a:graphicFrameLocks noChangeAspect="1"/>
          </p:cNvGraphicFramePr>
          <p:nvPr/>
        </p:nvGraphicFramePr>
        <p:xfrm>
          <a:off x="3980081" y="3358507"/>
          <a:ext cx="1693327" cy="6948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2" name="Equation" r:id="rId8" imgW="863280" imgH="393480" progId="Equation.3">
                  <p:embed/>
                </p:oleObj>
              </mc:Choice>
              <mc:Fallback>
                <p:oleObj name="Equation" r:id="rId8" imgW="8632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0081" y="3358507"/>
                        <a:ext cx="1693327" cy="6948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" name="Text Box 11"/>
          <p:cNvSpPr txBox="1">
            <a:spLocks noChangeArrowheads="1"/>
          </p:cNvSpPr>
          <p:nvPr/>
        </p:nvSpPr>
        <p:spPr bwMode="auto">
          <a:xfrm>
            <a:off x="3698139" y="4111180"/>
            <a:ext cx="257795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spcBef>
                <a:spcPct val="0"/>
              </a:spcBef>
            </a:pP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取摇杆</a:t>
            </a:r>
            <a:r>
              <a:rPr lang="en-US" altLang="zh-CN" sz="20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BC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为研究对象</a:t>
            </a:r>
          </a:p>
        </p:txBody>
      </p:sp>
      <p:graphicFrame>
        <p:nvGraphicFramePr>
          <p:cNvPr id="103" name="Object 12"/>
          <p:cNvGraphicFramePr>
            <a:graphicFrameLocks noChangeAspect="1"/>
          </p:cNvGraphicFramePr>
          <p:nvPr/>
        </p:nvGraphicFramePr>
        <p:xfrm>
          <a:off x="3680288" y="4562010"/>
          <a:ext cx="3575414" cy="6553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3" name="Equation" r:id="rId10" imgW="2019240" imgH="393480" progId="Equation.3">
                  <p:embed/>
                </p:oleObj>
              </mc:Choice>
              <mc:Fallback>
                <p:oleObj name="Equation" r:id="rId10" imgW="201924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0288" y="4562010"/>
                        <a:ext cx="3575414" cy="6553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" name="Object 16"/>
          <p:cNvGraphicFramePr>
            <a:graphicFrameLocks noChangeAspect="1"/>
          </p:cNvGraphicFramePr>
          <p:nvPr/>
        </p:nvGraphicFramePr>
        <p:xfrm>
          <a:off x="4475163" y="5313363"/>
          <a:ext cx="24368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4" name="Equation" r:id="rId12" imgW="1282680" imgH="228600" progId="Equation.DSMT4">
                  <p:embed/>
                </p:oleObj>
              </mc:Choice>
              <mc:Fallback>
                <p:oleObj name="Equation" r:id="rId12" imgW="1282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5163" y="5313363"/>
                        <a:ext cx="243681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" name="Object 13"/>
          <p:cNvGraphicFramePr>
            <a:graphicFrameLocks noChangeAspect="1"/>
          </p:cNvGraphicFramePr>
          <p:nvPr/>
        </p:nvGraphicFramePr>
        <p:xfrm>
          <a:off x="3698139" y="5764042"/>
          <a:ext cx="3957638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95" name="Equation" r:id="rId14" imgW="1917360" imgH="393480" progId="Equation.DSMT4">
                  <p:embed/>
                </p:oleObj>
              </mc:Choice>
              <mc:Fallback>
                <p:oleObj name="Equation" r:id="rId14" imgW="19173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8139" y="5764042"/>
                        <a:ext cx="3957638" cy="715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6" name="组合 105"/>
          <p:cNvGrpSpPr/>
          <p:nvPr/>
        </p:nvGrpSpPr>
        <p:grpSpPr>
          <a:xfrm>
            <a:off x="6898146" y="1948201"/>
            <a:ext cx="2052638" cy="1615331"/>
            <a:chOff x="5746532" y="3993624"/>
            <a:chExt cx="2052638" cy="1615331"/>
          </a:xfrm>
        </p:grpSpPr>
        <p:grpSp>
          <p:nvGrpSpPr>
            <p:cNvPr id="107" name="Group 17"/>
            <p:cNvGrpSpPr>
              <a:grpSpLocks/>
            </p:cNvGrpSpPr>
            <p:nvPr/>
          </p:nvGrpSpPr>
          <p:grpSpPr bwMode="auto">
            <a:xfrm>
              <a:off x="5746532" y="4321493"/>
              <a:ext cx="2052638" cy="1287462"/>
              <a:chOff x="2918" y="2497"/>
              <a:chExt cx="1293" cy="811"/>
            </a:xfrm>
          </p:grpSpPr>
          <p:sp>
            <p:nvSpPr>
              <p:cNvPr id="112" name="Oval 18"/>
              <p:cNvSpPr>
                <a:spLocks noChangeArrowheads="1"/>
              </p:cNvSpPr>
              <p:nvPr/>
            </p:nvSpPr>
            <p:spPr bwMode="auto">
              <a:xfrm>
                <a:off x="3156" y="2497"/>
                <a:ext cx="781" cy="811"/>
              </a:xfrm>
              <a:prstGeom prst="ellipse">
                <a:avLst/>
              </a:prstGeom>
              <a:gradFill rotWithShape="0">
                <a:gsLst>
                  <a:gs pos="0">
                    <a:srgbClr val="DDDDDD"/>
                  </a:gs>
                  <a:gs pos="100000">
                    <a:srgbClr val="DDDDDD">
                      <a:gamma/>
                      <a:shade val="46275"/>
                      <a:invGamma/>
                    </a:srgbClr>
                  </a:gs>
                </a:gsLst>
                <a:lin ang="2700000" scaled="1"/>
              </a:gra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tx1">
                          <a:gamma/>
                          <a:shade val="60000"/>
                          <a:invGamma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" name="Text Box 19"/>
              <p:cNvSpPr txBox="1">
                <a:spLocks noChangeArrowheads="1"/>
              </p:cNvSpPr>
              <p:nvPr/>
            </p:nvSpPr>
            <p:spPr bwMode="auto">
              <a:xfrm>
                <a:off x="3580" y="2759"/>
                <a:ext cx="233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altLang="zh-CN" sz="2000" i="1" dirty="0"/>
                  <a:t>O</a:t>
                </a:r>
              </a:p>
            </p:txBody>
          </p:sp>
          <p:graphicFrame>
            <p:nvGraphicFramePr>
              <p:cNvPr id="114" name="Object 20"/>
              <p:cNvGraphicFramePr>
                <a:graphicFrameLocks noChangeAspect="1"/>
              </p:cNvGraphicFramePr>
              <p:nvPr/>
            </p:nvGraphicFramePr>
            <p:xfrm>
              <a:off x="3380" y="2753"/>
              <a:ext cx="131" cy="12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596" name="公式" r:id="rId16" imgW="152280" imgH="139680" progId="Equation.3">
                      <p:embed/>
                    </p:oleObj>
                  </mc:Choice>
                  <mc:Fallback>
                    <p:oleObj name="公式" r:id="rId16" imgW="152280" imgH="1396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80" y="2753"/>
                            <a:ext cx="131" cy="12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2857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17961" dir="2700000" algn="ctr" rotWithShape="0">
                                    <a:srgbClr val="FFFFFF">
                                      <a:gamma/>
                                      <a:shade val="60000"/>
                                      <a:invGamma/>
                                    </a:srgb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5" name="Text Box 21"/>
              <p:cNvSpPr txBox="1">
                <a:spLocks noChangeArrowheads="1"/>
              </p:cNvSpPr>
              <p:nvPr/>
            </p:nvSpPr>
            <p:spPr bwMode="auto">
              <a:xfrm>
                <a:off x="2918" y="2792"/>
                <a:ext cx="215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altLang="zh-CN" sz="2000" i="1" dirty="0">
                    <a:effectLst>
                      <a:outerShdw blurRad="38100" dist="38100" dir="2700000" algn="tl">
                        <a:srgbClr val="FFFFFF"/>
                      </a:outerShdw>
                    </a:effectLst>
                  </a:rPr>
                  <a:t>A</a:t>
                </a:r>
              </a:p>
            </p:txBody>
          </p:sp>
          <p:sp>
            <p:nvSpPr>
              <p:cNvPr id="116" name="Oval 22"/>
              <p:cNvSpPr>
                <a:spLocks noChangeArrowheads="1"/>
              </p:cNvSpPr>
              <p:nvPr/>
            </p:nvSpPr>
            <p:spPr bwMode="auto">
              <a:xfrm>
                <a:off x="3141" y="2876"/>
                <a:ext cx="44" cy="44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tx1">
                          <a:gamma/>
                          <a:shade val="60000"/>
                          <a:invGamma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7" name="Oval 23"/>
              <p:cNvSpPr>
                <a:spLocks noChangeArrowheads="1"/>
              </p:cNvSpPr>
              <p:nvPr/>
            </p:nvSpPr>
            <p:spPr bwMode="auto">
              <a:xfrm rot="-10744094">
                <a:off x="3507" y="2875"/>
                <a:ext cx="58" cy="53"/>
              </a:xfrm>
              <a:prstGeom prst="ellipse">
                <a:avLst/>
              </a:prstGeom>
              <a:solidFill>
                <a:schemeClr val="accent1"/>
              </a:solidFill>
              <a:ln w="1905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8" name="Freeform 24"/>
              <p:cNvSpPr>
                <a:spLocks/>
              </p:cNvSpPr>
              <p:nvPr/>
            </p:nvSpPr>
            <p:spPr bwMode="auto">
              <a:xfrm rot="-1429257">
                <a:off x="3577" y="2827"/>
                <a:ext cx="338" cy="261"/>
              </a:xfrm>
              <a:custGeom>
                <a:avLst/>
                <a:gdLst>
                  <a:gd name="T0" fmla="*/ 338 w 338"/>
                  <a:gd name="T1" fmla="*/ 0 h 261"/>
                  <a:gd name="T2" fmla="*/ 254 w 338"/>
                  <a:gd name="T3" fmla="*/ 157 h 261"/>
                  <a:gd name="T4" fmla="*/ 140 w 338"/>
                  <a:gd name="T5" fmla="*/ 235 h 261"/>
                  <a:gd name="T6" fmla="*/ 0 w 338"/>
                  <a:gd name="T7" fmla="*/ 261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8" h="261">
                    <a:moveTo>
                      <a:pt x="338" y="0"/>
                    </a:moveTo>
                    <a:cubicBezTo>
                      <a:pt x="324" y="57"/>
                      <a:pt x="287" y="118"/>
                      <a:pt x="254" y="157"/>
                    </a:cubicBezTo>
                    <a:cubicBezTo>
                      <a:pt x="221" y="196"/>
                      <a:pt x="182" y="218"/>
                      <a:pt x="140" y="235"/>
                    </a:cubicBezTo>
                    <a:cubicBezTo>
                      <a:pt x="98" y="252"/>
                      <a:pt x="29" y="256"/>
                      <a:pt x="0" y="261"/>
                    </a:cubicBezTo>
                  </a:path>
                </a:pathLst>
              </a:custGeom>
              <a:noFill/>
              <a:ln w="28575" cap="sq" cmpd="sng">
                <a:solidFill>
                  <a:schemeClr val="accent2"/>
                </a:solidFill>
                <a:prstDash val="solid"/>
                <a:round/>
                <a:headEnd type="triangle" w="sm" len="lg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tx2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accent2">
                          <a:gamma/>
                          <a:shade val="60000"/>
                          <a:invGamma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9" name="Text Box 25"/>
              <p:cNvSpPr txBox="1">
                <a:spLocks noChangeArrowheads="1"/>
              </p:cNvSpPr>
              <p:nvPr/>
            </p:nvSpPr>
            <p:spPr bwMode="auto">
              <a:xfrm>
                <a:off x="3860" y="2983"/>
                <a:ext cx="351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 cap="sq">
                    <a:solidFill>
                      <a:srgbClr val="FF0000"/>
                    </a:solidFill>
                    <a:miter lim="800000"/>
                    <a:headEnd type="none" w="sm" len="sm"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altLang="zh-CN" sz="2000" i="1" dirty="0">
                    <a:solidFill>
                      <a:schemeClr val="accent2"/>
                    </a:solidFill>
                  </a:rPr>
                  <a:t>M</a:t>
                </a:r>
                <a:r>
                  <a:rPr lang="en-US" altLang="zh-CN" sz="2000" baseline="-25000" dirty="0">
                    <a:solidFill>
                      <a:schemeClr val="accent2"/>
                    </a:solidFill>
                  </a:rPr>
                  <a:t>1</a:t>
                </a:r>
                <a:endParaRPr lang="en-US" altLang="zh-CN" sz="2000" i="1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120" name="Line 26"/>
              <p:cNvSpPr>
                <a:spLocks noChangeShapeType="1"/>
              </p:cNvSpPr>
              <p:nvPr/>
            </p:nvSpPr>
            <p:spPr bwMode="auto">
              <a:xfrm>
                <a:off x="3192" y="2896"/>
                <a:ext cx="317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  <p:grpSp>
          <p:nvGrpSpPr>
            <p:cNvPr id="108" name="Group 32"/>
            <p:cNvGrpSpPr>
              <a:grpSpLocks/>
            </p:cNvGrpSpPr>
            <p:nvPr/>
          </p:nvGrpSpPr>
          <p:grpSpPr bwMode="auto">
            <a:xfrm>
              <a:off x="6158403" y="3993624"/>
              <a:ext cx="1038226" cy="939800"/>
              <a:chOff x="3166" y="2276"/>
              <a:chExt cx="654" cy="592"/>
            </a:xfrm>
          </p:grpSpPr>
          <p:sp>
            <p:nvSpPr>
              <p:cNvPr id="109" name="Line 33"/>
              <p:cNvSpPr>
                <a:spLocks noChangeShapeType="1"/>
              </p:cNvSpPr>
              <p:nvPr/>
            </p:nvSpPr>
            <p:spPr bwMode="auto">
              <a:xfrm rot="10842627" flipH="1">
                <a:off x="3166" y="2551"/>
                <a:ext cx="488" cy="317"/>
              </a:xfrm>
              <a:prstGeom prst="line">
                <a:avLst/>
              </a:prstGeom>
              <a:noFill/>
              <a:ln w="28575" cap="sq">
                <a:solidFill>
                  <a:srgbClr val="FF0000"/>
                </a:solidFill>
                <a:round/>
                <a:headEnd type="none" w="sm" len="sm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rgbClr val="FF0000">
                          <a:gamma/>
                          <a:shade val="60000"/>
                          <a:invGamma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10" name="Text Box 34"/>
              <p:cNvSpPr txBox="1">
                <a:spLocks noChangeArrowheads="1"/>
              </p:cNvSpPr>
              <p:nvPr/>
            </p:nvSpPr>
            <p:spPr bwMode="auto">
              <a:xfrm>
                <a:off x="3491" y="2276"/>
                <a:ext cx="329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 cap="sq">
                    <a:solidFill>
                      <a:srgbClr val="FF0000"/>
                    </a:solidFill>
                    <a:miter lim="800000"/>
                    <a:headEnd type="none" w="sm" len="sm"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altLang="zh-CN" sz="2000" b="1" i="1" dirty="0">
                    <a:solidFill>
                      <a:srgbClr val="FF0000"/>
                    </a:solidFill>
                  </a:rPr>
                  <a:t>F</a:t>
                </a:r>
                <a:r>
                  <a:rPr lang="en-US" altLang="zh-CN" sz="2000" i="1" baseline="-25000" dirty="0">
                    <a:solidFill>
                      <a:srgbClr val="FF0000"/>
                    </a:solidFill>
                  </a:rPr>
                  <a:t>A</a:t>
                </a:r>
                <a:endParaRPr lang="en-US" altLang="zh-CN" sz="2000" i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11" name="Arc 35"/>
              <p:cNvSpPr>
                <a:spLocks/>
              </p:cNvSpPr>
              <p:nvPr/>
            </p:nvSpPr>
            <p:spPr bwMode="auto">
              <a:xfrm rot="-8560871" flipH="1" flipV="1">
                <a:off x="3285" y="2775"/>
                <a:ext cx="101" cy="90"/>
              </a:xfrm>
              <a:custGeom>
                <a:avLst/>
                <a:gdLst>
                  <a:gd name="G0" fmla="+- 0 0 0"/>
                  <a:gd name="G1" fmla="+- 21341 0 0"/>
                  <a:gd name="G2" fmla="+- 21600 0 0"/>
                  <a:gd name="T0" fmla="*/ 3333 w 21600"/>
                  <a:gd name="T1" fmla="*/ 0 h 21341"/>
                  <a:gd name="T2" fmla="*/ 21600 w 21600"/>
                  <a:gd name="T3" fmla="*/ 21341 h 21341"/>
                  <a:gd name="T4" fmla="*/ 0 w 21600"/>
                  <a:gd name="T5" fmla="*/ 21341 h 213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341" fill="none" extrusionOk="0">
                    <a:moveTo>
                      <a:pt x="3333" y="-1"/>
                    </a:moveTo>
                    <a:cubicBezTo>
                      <a:pt x="13848" y="1641"/>
                      <a:pt x="21600" y="10698"/>
                      <a:pt x="21600" y="21341"/>
                    </a:cubicBezTo>
                  </a:path>
                  <a:path w="21600" h="21341" stroke="0" extrusionOk="0">
                    <a:moveTo>
                      <a:pt x="3333" y="-1"/>
                    </a:moveTo>
                    <a:cubicBezTo>
                      <a:pt x="13848" y="1641"/>
                      <a:pt x="21600" y="10698"/>
                      <a:pt x="21600" y="21341"/>
                    </a:cubicBezTo>
                    <a:lnTo>
                      <a:pt x="0" y="21341"/>
                    </a:lnTo>
                    <a:close/>
                  </a:path>
                </a:pathLst>
              </a:custGeom>
              <a:noFill/>
              <a:ln w="12700" cap="sq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21" name="Group 27"/>
          <p:cNvGrpSpPr>
            <a:grpSpLocks/>
          </p:cNvGrpSpPr>
          <p:nvPr/>
        </p:nvGrpSpPr>
        <p:grpSpPr bwMode="auto">
          <a:xfrm>
            <a:off x="6862823" y="2950001"/>
            <a:ext cx="965200" cy="833437"/>
            <a:chOff x="2921" y="2921"/>
            <a:chExt cx="608" cy="525"/>
          </a:xfrm>
        </p:grpSpPr>
        <p:sp>
          <p:nvSpPr>
            <p:cNvPr id="122" name="Line 28"/>
            <p:cNvSpPr>
              <a:spLocks noChangeShapeType="1"/>
            </p:cNvSpPr>
            <p:nvPr/>
          </p:nvSpPr>
          <p:spPr bwMode="auto">
            <a:xfrm flipH="1">
              <a:off x="3041" y="2921"/>
              <a:ext cx="488" cy="317"/>
            </a:xfrm>
            <a:prstGeom prst="line">
              <a:avLst/>
            </a:prstGeom>
            <a:noFill/>
            <a:ln w="28575" cap="sq">
              <a:solidFill>
                <a:srgbClr val="FF0000"/>
              </a:solidFill>
              <a:round/>
              <a:headEnd type="none" w="sm" len="sm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FF0000">
                        <a:gamma/>
                        <a:shade val="60000"/>
                        <a:invGamma/>
                      </a:srgb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aphicFrame>
          <p:nvGraphicFramePr>
            <p:cNvPr id="123" name="Object 29"/>
            <p:cNvGraphicFramePr>
              <a:graphicFrameLocks noChangeAspect="1"/>
            </p:cNvGraphicFramePr>
            <p:nvPr/>
          </p:nvGraphicFramePr>
          <p:xfrm>
            <a:off x="3179" y="2936"/>
            <a:ext cx="131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97" name="Equation" r:id="rId18" imgW="152280" imgH="139680" progId="Equation.3">
                    <p:embed/>
                  </p:oleObj>
                </mc:Choice>
                <mc:Fallback>
                  <p:oleObj name="Equation" r:id="rId18" imgW="15228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79" y="2936"/>
                          <a:ext cx="131" cy="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7961" dir="2700000" algn="ctr" rotWithShape="0">
                                  <a:srgbClr val="FFFFFF">
                                    <a:gamma/>
                                    <a:shade val="60000"/>
                                    <a:invGamma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4" name="Text Box 30"/>
            <p:cNvSpPr txBox="1">
              <a:spLocks noChangeArrowheads="1"/>
            </p:cNvSpPr>
            <p:nvPr/>
          </p:nvSpPr>
          <p:spPr bwMode="auto">
            <a:xfrm>
              <a:off x="2921" y="3196"/>
              <a:ext cx="49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FF0000"/>
                  </a:solidFill>
                  <a:miter lim="800000"/>
                  <a:headEnd type="none" w="sm" len="sm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altLang="zh-CN" sz="2000" b="1" i="1" dirty="0">
                  <a:solidFill>
                    <a:srgbClr val="FF0000"/>
                  </a:solidFill>
                </a:rPr>
                <a:t>F</a:t>
              </a:r>
              <a:r>
                <a:rPr lang="en-US" altLang="zh-CN" sz="2000" i="1" baseline="-25000" dirty="0">
                  <a:solidFill>
                    <a:srgbClr val="FF0000"/>
                  </a:solidFill>
                </a:rPr>
                <a:t>O</a:t>
              </a:r>
              <a:endParaRPr lang="en-US" altLang="zh-CN" sz="2000" i="1" dirty="0">
                <a:solidFill>
                  <a:srgbClr val="FF0000"/>
                </a:solidFill>
              </a:endParaRPr>
            </a:p>
          </p:txBody>
        </p:sp>
        <p:sp>
          <p:nvSpPr>
            <p:cNvPr id="125" name="Arc 31"/>
            <p:cNvSpPr>
              <a:spLocks/>
            </p:cNvSpPr>
            <p:nvPr/>
          </p:nvSpPr>
          <p:spPr bwMode="auto">
            <a:xfrm rot="-8560871">
              <a:off x="3295" y="2928"/>
              <a:ext cx="101" cy="90"/>
            </a:xfrm>
            <a:custGeom>
              <a:avLst/>
              <a:gdLst>
                <a:gd name="G0" fmla="+- 0 0 0"/>
                <a:gd name="G1" fmla="+- 21341 0 0"/>
                <a:gd name="G2" fmla="+- 21600 0 0"/>
                <a:gd name="T0" fmla="*/ 3333 w 21600"/>
                <a:gd name="T1" fmla="*/ 0 h 21341"/>
                <a:gd name="T2" fmla="*/ 21600 w 21600"/>
                <a:gd name="T3" fmla="*/ 21341 h 21341"/>
                <a:gd name="T4" fmla="*/ 0 w 21600"/>
                <a:gd name="T5" fmla="*/ 21341 h 213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341" fill="none" extrusionOk="0">
                  <a:moveTo>
                    <a:pt x="3333" y="-1"/>
                  </a:moveTo>
                  <a:cubicBezTo>
                    <a:pt x="13848" y="1641"/>
                    <a:pt x="21600" y="10698"/>
                    <a:pt x="21600" y="21341"/>
                  </a:cubicBezTo>
                </a:path>
                <a:path w="21600" h="21341" stroke="0" extrusionOk="0">
                  <a:moveTo>
                    <a:pt x="3333" y="-1"/>
                  </a:moveTo>
                  <a:cubicBezTo>
                    <a:pt x="13848" y="1641"/>
                    <a:pt x="21600" y="10698"/>
                    <a:pt x="21600" y="21341"/>
                  </a:cubicBezTo>
                  <a:lnTo>
                    <a:pt x="0" y="21341"/>
                  </a:lnTo>
                  <a:close/>
                </a:path>
              </a:pathLst>
            </a:custGeom>
            <a:noFill/>
            <a:ln w="12700" cap="sq">
              <a:solidFill>
                <a:schemeClr val="tx2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870600" y="3824266"/>
            <a:ext cx="2159204" cy="2738681"/>
            <a:chOff x="870600" y="3824266"/>
            <a:chExt cx="2159204" cy="2738681"/>
          </a:xfrm>
        </p:grpSpPr>
        <p:grpSp>
          <p:nvGrpSpPr>
            <p:cNvPr id="82" name="Group 18"/>
            <p:cNvGrpSpPr>
              <a:grpSpLocks/>
            </p:cNvGrpSpPr>
            <p:nvPr/>
          </p:nvGrpSpPr>
          <p:grpSpPr bwMode="auto">
            <a:xfrm>
              <a:off x="1042493" y="3824266"/>
              <a:ext cx="1987311" cy="2738681"/>
              <a:chOff x="317" y="2283"/>
              <a:chExt cx="1547" cy="2029"/>
            </a:xfrm>
          </p:grpSpPr>
          <p:sp>
            <p:nvSpPr>
              <p:cNvPr id="84" name="Text Box 20"/>
              <p:cNvSpPr txBox="1">
                <a:spLocks noChangeArrowheads="1"/>
              </p:cNvSpPr>
              <p:nvPr/>
            </p:nvSpPr>
            <p:spPr bwMode="auto">
              <a:xfrm>
                <a:off x="1363" y="4016"/>
                <a:ext cx="266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altLang="zh-C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85" name="Text Box 21"/>
              <p:cNvSpPr txBox="1">
                <a:spLocks noChangeArrowheads="1"/>
              </p:cNvSpPr>
              <p:nvPr/>
            </p:nvSpPr>
            <p:spPr bwMode="auto">
              <a:xfrm>
                <a:off x="587" y="2283"/>
                <a:ext cx="277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altLang="zh-C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86" name="Text Box 22"/>
              <p:cNvSpPr txBox="1">
                <a:spLocks noChangeArrowheads="1"/>
              </p:cNvSpPr>
              <p:nvPr/>
            </p:nvSpPr>
            <p:spPr bwMode="auto">
              <a:xfrm>
                <a:off x="910" y="2963"/>
                <a:ext cx="204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altLang="zh-CN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</a:p>
            </p:txBody>
          </p:sp>
          <p:graphicFrame>
            <p:nvGraphicFramePr>
              <p:cNvPr id="87" name="Object 23"/>
              <p:cNvGraphicFramePr>
                <a:graphicFrameLocks noChangeAspect="1"/>
              </p:cNvGraphicFramePr>
              <p:nvPr/>
            </p:nvGraphicFramePr>
            <p:xfrm>
              <a:off x="1148" y="3463"/>
              <a:ext cx="159" cy="14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598" name="公式" r:id="rId20" imgW="152280" imgH="139680" progId="Equation.3">
                      <p:embed/>
                    </p:oleObj>
                  </mc:Choice>
                  <mc:Fallback>
                    <p:oleObj name="公式" r:id="rId20" imgW="152280" imgH="1396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48" y="3463"/>
                            <a:ext cx="159" cy="14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8" name="Line 24"/>
              <p:cNvSpPr>
                <a:spLocks noChangeShapeType="1"/>
              </p:cNvSpPr>
              <p:nvPr/>
            </p:nvSpPr>
            <p:spPr bwMode="auto">
              <a:xfrm rot="259800" flipH="1">
                <a:off x="317" y="3204"/>
                <a:ext cx="488" cy="317"/>
              </a:xfrm>
              <a:prstGeom prst="line">
                <a:avLst/>
              </a:prstGeom>
              <a:noFill/>
              <a:ln w="28575" cap="sq">
                <a:solidFill>
                  <a:srgbClr val="FF0000"/>
                </a:solidFill>
                <a:round/>
                <a:headEnd type="none" w="sm" len="sm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rgbClr val="FF0000">
                          <a:gamma/>
                          <a:shade val="60000"/>
                          <a:invGamma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89" name="Line 25"/>
              <p:cNvSpPr>
                <a:spLocks noChangeShapeType="1"/>
              </p:cNvSpPr>
              <p:nvPr/>
            </p:nvSpPr>
            <p:spPr bwMode="auto">
              <a:xfrm flipV="1">
                <a:off x="1335" y="3814"/>
                <a:ext cx="529" cy="310"/>
              </a:xfrm>
              <a:prstGeom prst="line">
                <a:avLst/>
              </a:prstGeom>
              <a:noFill/>
              <a:ln w="28575" cap="sq">
                <a:solidFill>
                  <a:srgbClr val="FF0000"/>
                </a:solidFill>
                <a:round/>
                <a:headEnd type="none" w="sm" len="sm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rgbClr val="FF0000">
                          <a:gamma/>
                          <a:shade val="60000"/>
                          <a:invGamma/>
                        </a:srgb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0" name="Text Box 26"/>
              <p:cNvSpPr txBox="1">
                <a:spLocks noChangeArrowheads="1"/>
              </p:cNvSpPr>
              <p:nvPr/>
            </p:nvSpPr>
            <p:spPr bwMode="auto">
              <a:xfrm>
                <a:off x="1451" y="3629"/>
                <a:ext cx="375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 cap="sq">
                    <a:solidFill>
                      <a:srgbClr val="FF0000"/>
                    </a:solidFill>
                    <a:miter lim="800000"/>
                    <a:headEnd type="none" w="sm" len="sm"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altLang="zh-CN" sz="20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altLang="zh-CN" sz="2000" i="1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en-US" altLang="zh-CN" sz="20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2" name="AutoShape 28"/>
              <p:cNvSpPr>
                <a:spLocks noChangeArrowheads="1"/>
              </p:cNvSpPr>
              <p:nvPr/>
            </p:nvSpPr>
            <p:spPr bwMode="auto">
              <a:xfrm rot="-1440597">
                <a:off x="849" y="2315"/>
                <a:ext cx="144" cy="1920"/>
              </a:xfrm>
              <a:prstGeom prst="roundRect">
                <a:avLst>
                  <a:gd name="adj" fmla="val 16667"/>
                </a:avLst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tx1">
                          <a:gamma/>
                          <a:shade val="60000"/>
                          <a:invGamma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3" name="AutoShape 29"/>
              <p:cNvSpPr>
                <a:spLocks noChangeArrowheads="1"/>
              </p:cNvSpPr>
              <p:nvPr/>
            </p:nvSpPr>
            <p:spPr bwMode="auto">
              <a:xfrm rot="-1440597">
                <a:off x="886" y="2362"/>
                <a:ext cx="70" cy="1824"/>
              </a:xfrm>
              <a:prstGeom prst="roundRect">
                <a:avLst>
                  <a:gd name="adj" fmla="val 16667"/>
                </a:avLst>
              </a:prstGeom>
              <a:noFill/>
              <a:ln w="1905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33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tx1">
                          <a:gamma/>
                          <a:shade val="60000"/>
                          <a:invGamma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4" name="Line 30"/>
              <p:cNvSpPr>
                <a:spLocks noChangeShapeType="1"/>
              </p:cNvSpPr>
              <p:nvPr/>
            </p:nvSpPr>
            <p:spPr bwMode="auto">
              <a:xfrm flipV="1">
                <a:off x="1300" y="3148"/>
                <a:ext cx="0" cy="108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tx1">
                          <a:gamma/>
                          <a:shade val="60000"/>
                          <a:invGamma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5" name="Oval 31"/>
              <p:cNvSpPr>
                <a:spLocks noChangeArrowheads="1"/>
              </p:cNvSpPr>
              <p:nvPr/>
            </p:nvSpPr>
            <p:spPr bwMode="auto">
              <a:xfrm>
                <a:off x="1268" y="4105"/>
                <a:ext cx="65" cy="68"/>
              </a:xfrm>
              <a:prstGeom prst="ellipse">
                <a:avLst/>
              </a:prstGeom>
              <a:solidFill>
                <a:schemeClr val="accent1"/>
              </a:solidFill>
              <a:ln w="1905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6" name="Freeform 32"/>
              <p:cNvSpPr>
                <a:spLocks/>
              </p:cNvSpPr>
              <p:nvPr/>
            </p:nvSpPr>
            <p:spPr bwMode="auto">
              <a:xfrm>
                <a:off x="504" y="2658"/>
                <a:ext cx="418" cy="158"/>
              </a:xfrm>
              <a:custGeom>
                <a:avLst/>
                <a:gdLst>
                  <a:gd name="T0" fmla="*/ 0 w 384"/>
                  <a:gd name="T1" fmla="*/ 144 h 144"/>
                  <a:gd name="T2" fmla="*/ 144 w 384"/>
                  <a:gd name="T3" fmla="*/ 48 h 144"/>
                  <a:gd name="T4" fmla="*/ 384 w 384"/>
                  <a:gd name="T5" fmla="*/ 0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84" h="144">
                    <a:moveTo>
                      <a:pt x="0" y="144"/>
                    </a:moveTo>
                    <a:cubicBezTo>
                      <a:pt x="40" y="108"/>
                      <a:pt x="80" y="72"/>
                      <a:pt x="144" y="48"/>
                    </a:cubicBezTo>
                    <a:cubicBezTo>
                      <a:pt x="208" y="24"/>
                      <a:pt x="336" y="8"/>
                      <a:pt x="384" y="0"/>
                    </a:cubicBezTo>
                  </a:path>
                </a:pathLst>
              </a:custGeom>
              <a:noFill/>
              <a:ln w="28575" cap="sq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17961" dir="2700000" algn="ctr" rotWithShape="0">
                        <a:schemeClr val="accent2">
                          <a:gamma/>
                          <a:shade val="60000"/>
                          <a:invGamma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7" name="Text Box 33"/>
              <p:cNvSpPr txBox="1">
                <a:spLocks noChangeArrowheads="1"/>
              </p:cNvSpPr>
              <p:nvPr/>
            </p:nvSpPr>
            <p:spPr bwMode="auto">
              <a:xfrm>
                <a:off x="792" y="2653"/>
                <a:ext cx="376" cy="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 cap="sq">
                    <a:solidFill>
                      <a:srgbClr val="FF0000"/>
                    </a:solidFill>
                    <a:miter lim="800000"/>
                    <a:headEnd type="none" w="sm" len="sm"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>
                  <a:spcBef>
                    <a:spcPct val="0"/>
                  </a:spcBef>
                </a:pPr>
                <a:r>
                  <a:rPr lang="en-US" altLang="zh-CN" sz="2000" i="1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altLang="zh-CN" sz="2000" baseline="-25000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en-US" altLang="zh-CN" sz="2000" i="1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8" name="Line 34"/>
              <p:cNvSpPr>
                <a:spLocks noChangeShapeType="1"/>
              </p:cNvSpPr>
              <p:nvPr/>
            </p:nvSpPr>
            <p:spPr bwMode="auto">
              <a:xfrm>
                <a:off x="734" y="3272"/>
                <a:ext cx="33" cy="77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99" name="Line 35"/>
              <p:cNvSpPr>
                <a:spLocks noChangeShapeType="1"/>
              </p:cNvSpPr>
              <p:nvPr/>
            </p:nvSpPr>
            <p:spPr bwMode="auto">
              <a:xfrm flipV="1">
                <a:off x="767" y="3310"/>
                <a:ext cx="77" cy="39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0" name="Line 36"/>
              <p:cNvSpPr>
                <a:spLocks noChangeShapeType="1"/>
              </p:cNvSpPr>
              <p:nvPr/>
            </p:nvSpPr>
            <p:spPr bwMode="auto">
              <a:xfrm flipV="1">
                <a:off x="1333" y="3952"/>
                <a:ext cx="72" cy="39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1" name="Line 37"/>
              <p:cNvSpPr>
                <a:spLocks noChangeShapeType="1"/>
              </p:cNvSpPr>
              <p:nvPr/>
            </p:nvSpPr>
            <p:spPr bwMode="auto">
              <a:xfrm>
                <a:off x="1404" y="3959"/>
                <a:ext cx="49" cy="91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02" name="Arc 38"/>
              <p:cNvSpPr>
                <a:spLocks/>
              </p:cNvSpPr>
              <p:nvPr/>
            </p:nvSpPr>
            <p:spPr bwMode="auto">
              <a:xfrm rot="-2826739">
                <a:off x="1177" y="3617"/>
                <a:ext cx="101" cy="91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2700" cap="sq">
                <a:solidFill>
                  <a:schemeClr val="tx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26" name="Text Box 26"/>
            <p:cNvSpPr txBox="1">
              <a:spLocks noChangeArrowheads="1"/>
            </p:cNvSpPr>
            <p:nvPr/>
          </p:nvSpPr>
          <p:spPr bwMode="auto">
            <a:xfrm>
              <a:off x="870600" y="4889677"/>
              <a:ext cx="53910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cap="sq">
                  <a:solidFill>
                    <a:srgbClr val="FF0000"/>
                  </a:solidFill>
                  <a:miter lim="800000"/>
                  <a:headEnd type="none" w="sm" len="sm"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>
                <a:spcBef>
                  <a:spcPct val="0"/>
                </a:spcBef>
              </a:pPr>
              <a:r>
                <a:rPr lang="en-US" altLang="zh-CN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r>
                <a:rPr lang="en-US" altLang="zh-CN" sz="2000" b="1" i="1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′</a:t>
              </a:r>
              <a:r>
                <a:rPr lang="en-US" altLang="zh-CN" sz="2000" i="1" baseline="-250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A</a:t>
              </a:r>
              <a:endParaRPr lang="en-US" altLang="zh-CN" sz="20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95993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utoUpdateAnimBg="0"/>
      <p:bldP spid="2" grpId="0"/>
      <p:bldP spid="7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4"/>
          <p:cNvSpPr txBox="1">
            <a:spLocks noChangeArrowheads="1"/>
          </p:cNvSpPr>
          <p:nvPr/>
        </p:nvSpPr>
        <p:spPr bwMode="auto">
          <a:xfrm>
            <a:off x="871530" y="444448"/>
            <a:ext cx="7558732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kumimoji="1" lang="zh-CN" altLang="en-US" sz="2400" b="1" dirty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kumimoji="1" lang="en-US" altLang="zh-CN" sz="2400" b="1" dirty="0">
                <a:solidFill>
                  <a:srgbClr val="FF0066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刚杆</a:t>
            </a:r>
            <a:r>
              <a:rPr kumimoji="1" lang="en-US" altLang="zh-CN" sz="2400" i="1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</a:rPr>
              <a:t>AB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，轮</a:t>
            </a:r>
            <a:r>
              <a:rPr kumimoji="1" lang="en-US" altLang="zh-CN" sz="2400" i="1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</a:rPr>
              <a:t>C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和绳子</a:t>
            </a:r>
            <a:r>
              <a:rPr kumimoji="1" lang="en-US" altLang="zh-CN" sz="2400" i="1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</a:rPr>
              <a:t>AC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组成的物体系统</a:t>
            </a:r>
            <a:r>
              <a:rPr kumimoji="1" lang="en-US" altLang="zh-CN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已知</a:t>
            </a:r>
            <a:r>
              <a:rPr kumimoji="1" lang="en-US" altLang="zh-CN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杆上受到一主动力偶</a:t>
            </a:r>
            <a:r>
              <a:rPr kumimoji="1" lang="en-US" altLang="zh-CN" sz="2400" i="1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</a:rPr>
              <a:t>M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的作用，</a:t>
            </a:r>
            <a:r>
              <a:rPr kumimoji="1" lang="en-US" altLang="zh-CN" sz="2400" i="1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</a:rPr>
              <a:t>AC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</a:rPr>
              <a:t>=</a:t>
            </a:r>
            <a:r>
              <a:rPr kumimoji="1" lang="en-US" altLang="zh-CN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</a:rPr>
              <a:t>2</a:t>
            </a:r>
            <a:r>
              <a:rPr kumimoji="1" lang="en-US" altLang="zh-CN" sz="2400" i="1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</a:rPr>
              <a:t>R,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轮半径</a:t>
            </a:r>
            <a:r>
              <a:rPr kumimoji="1" lang="en-US" altLang="zh-CN" sz="2400" i="1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</a:rPr>
              <a:t>R,</a:t>
            </a:r>
            <a:r>
              <a:rPr kumimoji="1" lang="en-US" altLang="zh-CN" sz="240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各杆自重不计</a:t>
            </a:r>
            <a:r>
              <a:rPr kumimoji="1" lang="en-US" altLang="zh-CN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接触面光滑</a:t>
            </a:r>
            <a:r>
              <a:rPr kumimoji="1" lang="en-US" altLang="zh-CN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试确定绳子的拉力及铰链</a:t>
            </a:r>
            <a:r>
              <a:rPr kumimoji="1" lang="en-US" altLang="zh-CN" sz="2400" i="1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</a:rPr>
              <a:t>A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</a:t>
            </a:r>
            <a:r>
              <a:rPr kumimoji="1" lang="en-US" altLang="zh-CN" sz="2400" i="1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</a:rPr>
              <a:t>AB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杆的约束反力及地面对轮</a:t>
            </a:r>
            <a:r>
              <a:rPr kumimoji="1" lang="en-US" altLang="zh-CN" sz="2400" i="1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</a:rPr>
              <a:t>C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的反力。</a:t>
            </a:r>
            <a:r>
              <a:rPr kumimoji="1" lang="zh-CN" altLang="en-US" sz="2400" b="1" u="sng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        </a:t>
            </a:r>
            <a:r>
              <a:rPr kumimoji="1" lang="zh-CN" altLang="en-US" sz="2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grpSp>
        <p:nvGrpSpPr>
          <p:cNvPr id="34819" name="Group 165"/>
          <p:cNvGrpSpPr>
            <a:grpSpLocks/>
          </p:cNvGrpSpPr>
          <p:nvPr/>
        </p:nvGrpSpPr>
        <p:grpSpPr bwMode="auto">
          <a:xfrm>
            <a:off x="725532" y="1798200"/>
            <a:ext cx="3089275" cy="2592388"/>
            <a:chOff x="1343" y="1797"/>
            <a:chExt cx="1946" cy="1633"/>
          </a:xfrm>
        </p:grpSpPr>
        <p:sp>
          <p:nvSpPr>
            <p:cNvPr id="34820" name="Oval 5"/>
            <p:cNvSpPr>
              <a:spLocks noChangeArrowheads="1"/>
            </p:cNvSpPr>
            <p:nvPr/>
          </p:nvSpPr>
          <p:spPr bwMode="auto">
            <a:xfrm>
              <a:off x="2153" y="2297"/>
              <a:ext cx="907" cy="907"/>
            </a:xfrm>
            <a:prstGeom prst="ellipse">
              <a:avLst/>
            </a:prstGeom>
            <a:solidFill>
              <a:srgbClr val="CC99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endParaRPr lang="zh-CN" altLang="en-US"/>
            </a:p>
          </p:txBody>
        </p:sp>
        <p:grpSp>
          <p:nvGrpSpPr>
            <p:cNvPr id="34821" name="Group 128"/>
            <p:cNvGrpSpPr>
              <a:grpSpLocks/>
            </p:cNvGrpSpPr>
            <p:nvPr/>
          </p:nvGrpSpPr>
          <p:grpSpPr bwMode="auto">
            <a:xfrm>
              <a:off x="1553" y="3204"/>
              <a:ext cx="1736" cy="80"/>
              <a:chOff x="2016" y="3446"/>
              <a:chExt cx="1736" cy="80"/>
            </a:xfrm>
          </p:grpSpPr>
          <p:grpSp>
            <p:nvGrpSpPr>
              <p:cNvPr id="34843" name="Group 59"/>
              <p:cNvGrpSpPr>
                <a:grpSpLocks/>
              </p:cNvGrpSpPr>
              <p:nvPr/>
            </p:nvGrpSpPr>
            <p:grpSpPr bwMode="auto">
              <a:xfrm>
                <a:off x="2016" y="3446"/>
                <a:ext cx="936" cy="80"/>
                <a:chOff x="5310" y="14310"/>
                <a:chExt cx="2340" cy="198"/>
              </a:xfrm>
            </p:grpSpPr>
            <p:grpSp>
              <p:nvGrpSpPr>
                <p:cNvPr id="34867" name="Group 60"/>
                <p:cNvGrpSpPr>
                  <a:grpSpLocks/>
                </p:cNvGrpSpPr>
                <p:nvPr/>
              </p:nvGrpSpPr>
              <p:grpSpPr bwMode="auto">
                <a:xfrm>
                  <a:off x="6090" y="14328"/>
                  <a:ext cx="675" cy="180"/>
                  <a:chOff x="1260" y="6120"/>
                  <a:chExt cx="675" cy="180"/>
                </a:xfrm>
              </p:grpSpPr>
              <p:grpSp>
                <p:nvGrpSpPr>
                  <p:cNvPr id="34883" name="Group 61"/>
                  <p:cNvGrpSpPr>
                    <a:grpSpLocks/>
                  </p:cNvGrpSpPr>
                  <p:nvPr/>
                </p:nvGrpSpPr>
                <p:grpSpPr bwMode="auto">
                  <a:xfrm>
                    <a:off x="1260" y="6120"/>
                    <a:ext cx="345" cy="180"/>
                    <a:chOff x="1260" y="6120"/>
                    <a:chExt cx="345" cy="180"/>
                  </a:xfrm>
                </p:grpSpPr>
                <p:sp>
                  <p:nvSpPr>
                    <p:cNvPr id="34887" name="Line 62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260" y="6120"/>
                      <a:ext cx="180" cy="18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4888" name="Line 63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425" y="6120"/>
                      <a:ext cx="180" cy="18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34884" name="Group 64"/>
                  <p:cNvGrpSpPr>
                    <a:grpSpLocks/>
                  </p:cNvGrpSpPr>
                  <p:nvPr/>
                </p:nvGrpSpPr>
                <p:grpSpPr bwMode="auto">
                  <a:xfrm>
                    <a:off x="1590" y="6120"/>
                    <a:ext cx="345" cy="180"/>
                    <a:chOff x="1260" y="6120"/>
                    <a:chExt cx="345" cy="180"/>
                  </a:xfrm>
                </p:grpSpPr>
                <p:sp>
                  <p:nvSpPr>
                    <p:cNvPr id="34885" name="Line 65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260" y="6120"/>
                      <a:ext cx="180" cy="18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4886" name="Line 66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425" y="6120"/>
                      <a:ext cx="180" cy="18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34868" name="Group 67"/>
                <p:cNvGrpSpPr>
                  <a:grpSpLocks/>
                </p:cNvGrpSpPr>
                <p:nvPr/>
              </p:nvGrpSpPr>
              <p:grpSpPr bwMode="auto">
                <a:xfrm>
                  <a:off x="5445" y="14322"/>
                  <a:ext cx="675" cy="180"/>
                  <a:chOff x="1260" y="6120"/>
                  <a:chExt cx="675" cy="180"/>
                </a:xfrm>
              </p:grpSpPr>
              <p:grpSp>
                <p:nvGrpSpPr>
                  <p:cNvPr id="34877" name="Group 68"/>
                  <p:cNvGrpSpPr>
                    <a:grpSpLocks/>
                  </p:cNvGrpSpPr>
                  <p:nvPr/>
                </p:nvGrpSpPr>
                <p:grpSpPr bwMode="auto">
                  <a:xfrm>
                    <a:off x="1260" y="6120"/>
                    <a:ext cx="345" cy="180"/>
                    <a:chOff x="1260" y="6120"/>
                    <a:chExt cx="345" cy="180"/>
                  </a:xfrm>
                </p:grpSpPr>
                <p:sp>
                  <p:nvSpPr>
                    <p:cNvPr id="34881" name="Line 69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260" y="6120"/>
                      <a:ext cx="180" cy="18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4882" name="Line 70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425" y="6120"/>
                      <a:ext cx="180" cy="18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34878" name="Group 71"/>
                  <p:cNvGrpSpPr>
                    <a:grpSpLocks/>
                  </p:cNvGrpSpPr>
                  <p:nvPr/>
                </p:nvGrpSpPr>
                <p:grpSpPr bwMode="auto">
                  <a:xfrm>
                    <a:off x="1590" y="6120"/>
                    <a:ext cx="345" cy="180"/>
                    <a:chOff x="1260" y="6120"/>
                    <a:chExt cx="345" cy="180"/>
                  </a:xfrm>
                </p:grpSpPr>
                <p:sp>
                  <p:nvSpPr>
                    <p:cNvPr id="34879" name="Line 72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260" y="6120"/>
                      <a:ext cx="180" cy="18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4880" name="Line 73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425" y="6120"/>
                      <a:ext cx="180" cy="18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34869" name="Group 74"/>
                <p:cNvGrpSpPr>
                  <a:grpSpLocks/>
                </p:cNvGrpSpPr>
                <p:nvPr/>
              </p:nvGrpSpPr>
              <p:grpSpPr bwMode="auto">
                <a:xfrm>
                  <a:off x="6765" y="14313"/>
                  <a:ext cx="675" cy="180"/>
                  <a:chOff x="1260" y="6120"/>
                  <a:chExt cx="675" cy="180"/>
                </a:xfrm>
              </p:grpSpPr>
              <p:grpSp>
                <p:nvGrpSpPr>
                  <p:cNvPr id="34871" name="Group 75"/>
                  <p:cNvGrpSpPr>
                    <a:grpSpLocks/>
                  </p:cNvGrpSpPr>
                  <p:nvPr/>
                </p:nvGrpSpPr>
                <p:grpSpPr bwMode="auto">
                  <a:xfrm>
                    <a:off x="1260" y="6120"/>
                    <a:ext cx="345" cy="180"/>
                    <a:chOff x="1260" y="6120"/>
                    <a:chExt cx="345" cy="180"/>
                  </a:xfrm>
                </p:grpSpPr>
                <p:sp>
                  <p:nvSpPr>
                    <p:cNvPr id="34875" name="Line 76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260" y="6120"/>
                      <a:ext cx="180" cy="18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4876" name="Line 77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425" y="6120"/>
                      <a:ext cx="180" cy="18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34872" name="Group 78"/>
                  <p:cNvGrpSpPr>
                    <a:grpSpLocks/>
                  </p:cNvGrpSpPr>
                  <p:nvPr/>
                </p:nvGrpSpPr>
                <p:grpSpPr bwMode="auto">
                  <a:xfrm>
                    <a:off x="1590" y="6120"/>
                    <a:ext cx="345" cy="180"/>
                    <a:chOff x="1260" y="6120"/>
                    <a:chExt cx="345" cy="180"/>
                  </a:xfrm>
                </p:grpSpPr>
                <p:sp>
                  <p:nvSpPr>
                    <p:cNvPr id="34873" name="Line 79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260" y="6120"/>
                      <a:ext cx="180" cy="18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4874" name="Line 80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425" y="6120"/>
                      <a:ext cx="180" cy="18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sp>
              <p:nvSpPr>
                <p:cNvPr id="34870" name="Line 81"/>
                <p:cNvSpPr>
                  <a:spLocks noChangeShapeType="1"/>
                </p:cNvSpPr>
                <p:nvPr/>
              </p:nvSpPr>
              <p:spPr bwMode="auto">
                <a:xfrm>
                  <a:off x="5310" y="14310"/>
                  <a:ext cx="2340" cy="0"/>
                </a:xfrm>
                <a:prstGeom prst="line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4844" name="Group 105"/>
              <p:cNvGrpSpPr>
                <a:grpSpLocks/>
              </p:cNvGrpSpPr>
              <p:nvPr/>
            </p:nvGrpSpPr>
            <p:grpSpPr bwMode="auto">
              <a:xfrm>
                <a:off x="2816" y="3446"/>
                <a:ext cx="936" cy="80"/>
                <a:chOff x="5310" y="14310"/>
                <a:chExt cx="2340" cy="198"/>
              </a:xfrm>
            </p:grpSpPr>
            <p:grpSp>
              <p:nvGrpSpPr>
                <p:cNvPr id="34845" name="Group 106"/>
                <p:cNvGrpSpPr>
                  <a:grpSpLocks/>
                </p:cNvGrpSpPr>
                <p:nvPr/>
              </p:nvGrpSpPr>
              <p:grpSpPr bwMode="auto">
                <a:xfrm>
                  <a:off x="6090" y="14328"/>
                  <a:ext cx="675" cy="180"/>
                  <a:chOff x="1260" y="6120"/>
                  <a:chExt cx="675" cy="180"/>
                </a:xfrm>
              </p:grpSpPr>
              <p:grpSp>
                <p:nvGrpSpPr>
                  <p:cNvPr id="34861" name="Group 107"/>
                  <p:cNvGrpSpPr>
                    <a:grpSpLocks/>
                  </p:cNvGrpSpPr>
                  <p:nvPr/>
                </p:nvGrpSpPr>
                <p:grpSpPr bwMode="auto">
                  <a:xfrm>
                    <a:off x="1260" y="6120"/>
                    <a:ext cx="345" cy="180"/>
                    <a:chOff x="1260" y="6120"/>
                    <a:chExt cx="345" cy="180"/>
                  </a:xfrm>
                </p:grpSpPr>
                <p:sp>
                  <p:nvSpPr>
                    <p:cNvPr id="34865" name="Line 108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260" y="6120"/>
                      <a:ext cx="180" cy="18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4866" name="Line 109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425" y="6120"/>
                      <a:ext cx="180" cy="18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34862" name="Group 110"/>
                  <p:cNvGrpSpPr>
                    <a:grpSpLocks/>
                  </p:cNvGrpSpPr>
                  <p:nvPr/>
                </p:nvGrpSpPr>
                <p:grpSpPr bwMode="auto">
                  <a:xfrm>
                    <a:off x="1590" y="6120"/>
                    <a:ext cx="345" cy="180"/>
                    <a:chOff x="1260" y="6120"/>
                    <a:chExt cx="345" cy="180"/>
                  </a:xfrm>
                </p:grpSpPr>
                <p:sp>
                  <p:nvSpPr>
                    <p:cNvPr id="34863" name="Line 111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260" y="6120"/>
                      <a:ext cx="180" cy="18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4864" name="Line 112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425" y="6120"/>
                      <a:ext cx="180" cy="18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34846" name="Group 113"/>
                <p:cNvGrpSpPr>
                  <a:grpSpLocks/>
                </p:cNvGrpSpPr>
                <p:nvPr/>
              </p:nvGrpSpPr>
              <p:grpSpPr bwMode="auto">
                <a:xfrm>
                  <a:off x="5445" y="14322"/>
                  <a:ext cx="675" cy="180"/>
                  <a:chOff x="1260" y="6120"/>
                  <a:chExt cx="675" cy="180"/>
                </a:xfrm>
              </p:grpSpPr>
              <p:grpSp>
                <p:nvGrpSpPr>
                  <p:cNvPr id="34855" name="Group 114"/>
                  <p:cNvGrpSpPr>
                    <a:grpSpLocks/>
                  </p:cNvGrpSpPr>
                  <p:nvPr/>
                </p:nvGrpSpPr>
                <p:grpSpPr bwMode="auto">
                  <a:xfrm>
                    <a:off x="1260" y="6120"/>
                    <a:ext cx="345" cy="180"/>
                    <a:chOff x="1260" y="6120"/>
                    <a:chExt cx="345" cy="180"/>
                  </a:xfrm>
                </p:grpSpPr>
                <p:sp>
                  <p:nvSpPr>
                    <p:cNvPr id="34859" name="Line 115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260" y="6120"/>
                      <a:ext cx="180" cy="18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4860" name="Line 116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425" y="6120"/>
                      <a:ext cx="180" cy="18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34856" name="Group 117"/>
                  <p:cNvGrpSpPr>
                    <a:grpSpLocks/>
                  </p:cNvGrpSpPr>
                  <p:nvPr/>
                </p:nvGrpSpPr>
                <p:grpSpPr bwMode="auto">
                  <a:xfrm>
                    <a:off x="1590" y="6120"/>
                    <a:ext cx="345" cy="180"/>
                    <a:chOff x="1260" y="6120"/>
                    <a:chExt cx="345" cy="180"/>
                  </a:xfrm>
                </p:grpSpPr>
                <p:sp>
                  <p:nvSpPr>
                    <p:cNvPr id="34857" name="Line 118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260" y="6120"/>
                      <a:ext cx="180" cy="18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4858" name="Line 119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425" y="6120"/>
                      <a:ext cx="180" cy="18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pSp>
              <p:nvGrpSpPr>
                <p:cNvPr id="34847" name="Group 120"/>
                <p:cNvGrpSpPr>
                  <a:grpSpLocks/>
                </p:cNvGrpSpPr>
                <p:nvPr/>
              </p:nvGrpSpPr>
              <p:grpSpPr bwMode="auto">
                <a:xfrm>
                  <a:off x="6765" y="14313"/>
                  <a:ext cx="675" cy="180"/>
                  <a:chOff x="1260" y="6120"/>
                  <a:chExt cx="675" cy="180"/>
                </a:xfrm>
              </p:grpSpPr>
              <p:grpSp>
                <p:nvGrpSpPr>
                  <p:cNvPr id="34849" name="Group 121"/>
                  <p:cNvGrpSpPr>
                    <a:grpSpLocks/>
                  </p:cNvGrpSpPr>
                  <p:nvPr/>
                </p:nvGrpSpPr>
                <p:grpSpPr bwMode="auto">
                  <a:xfrm>
                    <a:off x="1260" y="6120"/>
                    <a:ext cx="345" cy="180"/>
                    <a:chOff x="1260" y="6120"/>
                    <a:chExt cx="345" cy="180"/>
                  </a:xfrm>
                </p:grpSpPr>
                <p:sp>
                  <p:nvSpPr>
                    <p:cNvPr id="34853" name="Line 122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260" y="6120"/>
                      <a:ext cx="180" cy="18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4854" name="Line 123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425" y="6120"/>
                      <a:ext cx="180" cy="18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34850" name="Group 124"/>
                  <p:cNvGrpSpPr>
                    <a:grpSpLocks/>
                  </p:cNvGrpSpPr>
                  <p:nvPr/>
                </p:nvGrpSpPr>
                <p:grpSpPr bwMode="auto">
                  <a:xfrm>
                    <a:off x="1590" y="6120"/>
                    <a:ext cx="345" cy="180"/>
                    <a:chOff x="1260" y="6120"/>
                    <a:chExt cx="345" cy="180"/>
                  </a:xfrm>
                </p:grpSpPr>
                <p:sp>
                  <p:nvSpPr>
                    <p:cNvPr id="34851" name="Line 125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260" y="6120"/>
                      <a:ext cx="180" cy="18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4852" name="Line 126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1425" y="6120"/>
                      <a:ext cx="180" cy="18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sp>
              <p:nvSpPr>
                <p:cNvPr id="34848" name="Line 127"/>
                <p:cNvSpPr>
                  <a:spLocks noChangeShapeType="1"/>
                </p:cNvSpPr>
                <p:nvPr/>
              </p:nvSpPr>
              <p:spPr bwMode="auto">
                <a:xfrm>
                  <a:off x="5310" y="14310"/>
                  <a:ext cx="2340" cy="0"/>
                </a:xfrm>
                <a:prstGeom prst="line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34822" name="Rectangle 130"/>
            <p:cNvSpPr>
              <a:spLocks noChangeArrowheads="1"/>
            </p:cNvSpPr>
            <p:nvPr/>
          </p:nvSpPr>
          <p:spPr bwMode="auto">
            <a:xfrm rot="-2996149">
              <a:off x="1353" y="2534"/>
              <a:ext cx="1542" cy="68"/>
            </a:xfrm>
            <a:prstGeom prst="rect">
              <a:avLst/>
            </a:prstGeom>
            <a:solidFill>
              <a:srgbClr val="3366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endParaRPr lang="zh-CN" altLang="en-US"/>
            </a:p>
          </p:txBody>
        </p:sp>
        <p:sp>
          <p:nvSpPr>
            <p:cNvPr id="34823" name="Line 131"/>
            <p:cNvSpPr>
              <a:spLocks noChangeAspect="1" noChangeShapeType="1"/>
            </p:cNvSpPr>
            <p:nvPr/>
          </p:nvSpPr>
          <p:spPr bwMode="auto">
            <a:xfrm rot="469048" flipV="1">
              <a:off x="1656" y="2676"/>
              <a:ext cx="936" cy="5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24" name="Oval 132"/>
            <p:cNvSpPr>
              <a:spLocks noChangeAspect="1" noChangeArrowheads="1"/>
            </p:cNvSpPr>
            <p:nvPr/>
          </p:nvSpPr>
          <p:spPr bwMode="auto">
            <a:xfrm>
              <a:off x="2610" y="2732"/>
              <a:ext cx="23" cy="23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endParaRPr lang="zh-CN" altLang="en-US"/>
            </a:p>
          </p:txBody>
        </p:sp>
        <p:sp>
          <p:nvSpPr>
            <p:cNvPr id="34825" name="Text Box 133"/>
            <p:cNvSpPr txBox="1">
              <a:spLocks noChangeArrowheads="1"/>
            </p:cNvSpPr>
            <p:nvPr/>
          </p:nvSpPr>
          <p:spPr bwMode="auto">
            <a:xfrm>
              <a:off x="2601" y="2603"/>
              <a:ext cx="40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50000"/>
                </a:spcBef>
              </a:pPr>
              <a:r>
                <a:rPr lang="en-US" altLang="zh-CN" sz="2000" i="1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34826" name="Text Box 134"/>
            <p:cNvSpPr txBox="1">
              <a:spLocks noChangeArrowheads="1"/>
            </p:cNvSpPr>
            <p:nvPr/>
          </p:nvSpPr>
          <p:spPr bwMode="auto">
            <a:xfrm>
              <a:off x="2471" y="2387"/>
              <a:ext cx="40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50000"/>
                </a:spcBef>
              </a:pPr>
              <a:r>
                <a:rPr lang="en-US" altLang="zh-CN" sz="2000" i="1" dirty="0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34827" name="Line 135"/>
            <p:cNvSpPr>
              <a:spLocks noChangeShapeType="1"/>
            </p:cNvSpPr>
            <p:nvPr/>
          </p:nvSpPr>
          <p:spPr bwMode="auto">
            <a:xfrm>
              <a:off x="2306" y="2425"/>
              <a:ext cx="318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4828" name="Group 136"/>
            <p:cNvGrpSpPr>
              <a:grpSpLocks noChangeAspect="1"/>
            </p:cNvGrpSpPr>
            <p:nvPr/>
          </p:nvGrpSpPr>
          <p:grpSpPr bwMode="auto">
            <a:xfrm rot="8064067">
              <a:off x="2258" y="2438"/>
              <a:ext cx="68" cy="68"/>
              <a:chOff x="9000" y="12048"/>
              <a:chExt cx="360" cy="357"/>
            </a:xfrm>
          </p:grpSpPr>
          <p:sp>
            <p:nvSpPr>
              <p:cNvPr id="34841" name="Line 137"/>
              <p:cNvSpPr>
                <a:spLocks noChangeAspect="1" noChangeShapeType="1"/>
              </p:cNvSpPr>
              <p:nvPr/>
            </p:nvSpPr>
            <p:spPr bwMode="auto">
              <a:xfrm>
                <a:off x="9000" y="12048"/>
                <a:ext cx="360" cy="0"/>
              </a:xfrm>
              <a:prstGeom prst="line">
                <a:avLst/>
              </a:prstGeom>
              <a:noFill/>
              <a:ln w="222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842" name="Line 138"/>
              <p:cNvSpPr>
                <a:spLocks noChangeAspect="1" noChangeShapeType="1"/>
              </p:cNvSpPr>
              <p:nvPr/>
            </p:nvSpPr>
            <p:spPr bwMode="auto">
              <a:xfrm>
                <a:off x="9360" y="12048"/>
                <a:ext cx="0" cy="357"/>
              </a:xfrm>
              <a:prstGeom prst="line">
                <a:avLst/>
              </a:prstGeom>
              <a:noFill/>
              <a:ln w="222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4829" name="Text Box 139"/>
            <p:cNvSpPr txBox="1">
              <a:spLocks noChangeArrowheads="1"/>
            </p:cNvSpPr>
            <p:nvPr/>
          </p:nvSpPr>
          <p:spPr bwMode="auto">
            <a:xfrm>
              <a:off x="1343" y="3068"/>
              <a:ext cx="40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50000"/>
                </a:spcBef>
              </a:pPr>
              <a:r>
                <a:rPr lang="en-US" altLang="zh-CN" sz="2000" i="1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4830" name="Text Box 140"/>
            <p:cNvSpPr txBox="1">
              <a:spLocks noChangeArrowheads="1"/>
            </p:cNvSpPr>
            <p:nvPr/>
          </p:nvSpPr>
          <p:spPr bwMode="auto">
            <a:xfrm>
              <a:off x="2013" y="2251"/>
              <a:ext cx="40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50000"/>
                </a:spcBef>
              </a:pPr>
              <a:r>
                <a:rPr lang="en-US" altLang="zh-CN" sz="2000" i="1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4831" name="Text Box 141"/>
            <p:cNvSpPr txBox="1">
              <a:spLocks noChangeArrowheads="1"/>
            </p:cNvSpPr>
            <p:nvPr/>
          </p:nvSpPr>
          <p:spPr bwMode="auto">
            <a:xfrm>
              <a:off x="2652" y="1934"/>
              <a:ext cx="40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50000"/>
                </a:spcBef>
              </a:pPr>
              <a:r>
                <a:rPr lang="en-US" altLang="zh-CN" sz="2000" i="1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4832" name="Text Box 142"/>
            <p:cNvSpPr txBox="1">
              <a:spLocks noChangeArrowheads="1"/>
            </p:cNvSpPr>
            <p:nvPr/>
          </p:nvSpPr>
          <p:spPr bwMode="auto">
            <a:xfrm>
              <a:off x="2654" y="3180"/>
              <a:ext cx="40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50000"/>
                </a:spcBef>
              </a:pPr>
              <a:r>
                <a:rPr lang="en-US" altLang="zh-CN" sz="2000" i="1" dirty="0"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34833" name="Line 143"/>
            <p:cNvSpPr>
              <a:spLocks noChangeShapeType="1"/>
            </p:cNvSpPr>
            <p:nvPr/>
          </p:nvSpPr>
          <p:spPr bwMode="auto">
            <a:xfrm>
              <a:off x="2631" y="2774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4" name="Arc 144"/>
            <p:cNvSpPr>
              <a:spLocks noChangeAspect="1"/>
            </p:cNvSpPr>
            <p:nvPr/>
          </p:nvSpPr>
          <p:spPr bwMode="auto">
            <a:xfrm rot="-835701">
              <a:off x="2354" y="2003"/>
              <a:ext cx="236" cy="25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5" name="Text Box 145"/>
            <p:cNvSpPr txBox="1">
              <a:spLocks noChangeArrowheads="1"/>
            </p:cNvSpPr>
            <p:nvPr/>
          </p:nvSpPr>
          <p:spPr bwMode="auto">
            <a:xfrm>
              <a:off x="2149" y="2001"/>
              <a:ext cx="40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50000"/>
                </a:spcBef>
              </a:pPr>
              <a:r>
                <a:rPr lang="en-US" altLang="zh-CN" sz="2000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34836" name="Arc 146"/>
            <p:cNvSpPr>
              <a:spLocks noChangeAspect="1"/>
            </p:cNvSpPr>
            <p:nvPr/>
          </p:nvSpPr>
          <p:spPr bwMode="auto">
            <a:xfrm>
              <a:off x="1825" y="2964"/>
              <a:ext cx="84" cy="9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7" name="Arc 147"/>
            <p:cNvSpPr>
              <a:spLocks noChangeAspect="1"/>
            </p:cNvSpPr>
            <p:nvPr/>
          </p:nvSpPr>
          <p:spPr bwMode="auto">
            <a:xfrm rot="1772346">
              <a:off x="1855" y="3092"/>
              <a:ext cx="84" cy="9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8" name="Text Box 149"/>
            <p:cNvSpPr txBox="1">
              <a:spLocks noChangeArrowheads="1"/>
            </p:cNvSpPr>
            <p:nvPr/>
          </p:nvSpPr>
          <p:spPr bwMode="auto">
            <a:xfrm>
              <a:off x="1876" y="2789"/>
              <a:ext cx="44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50000"/>
                </a:spcBef>
              </a:pPr>
              <a:r>
                <a:rPr lang="en-US" altLang="zh-CN" sz="20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30</a:t>
              </a:r>
            </a:p>
          </p:txBody>
        </p:sp>
        <p:sp>
          <p:nvSpPr>
            <p:cNvPr id="34839" name="Text Box 150"/>
            <p:cNvSpPr txBox="1">
              <a:spLocks noChangeArrowheads="1"/>
            </p:cNvSpPr>
            <p:nvPr/>
          </p:nvSpPr>
          <p:spPr bwMode="auto">
            <a:xfrm>
              <a:off x="1927" y="2977"/>
              <a:ext cx="41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50000"/>
                </a:spcBef>
              </a:pPr>
              <a:r>
                <a:rPr lang="en-US" altLang="zh-CN" sz="2000" dirty="0">
                  <a:latin typeface="Times New Roman" panose="02020603050405020304" pitchFamily="18" charset="0"/>
                  <a:sym typeface="Symbol" panose="05050102010706020507" pitchFamily="18" charset="2"/>
                </a:rPr>
                <a:t>30</a:t>
              </a:r>
            </a:p>
          </p:txBody>
        </p:sp>
        <p:sp>
          <p:nvSpPr>
            <p:cNvPr id="34840" name="Oval 129"/>
            <p:cNvSpPr>
              <a:spLocks noChangeArrowheads="1"/>
            </p:cNvSpPr>
            <p:nvPr/>
          </p:nvSpPr>
          <p:spPr bwMode="auto">
            <a:xfrm>
              <a:off x="1561" y="3143"/>
              <a:ext cx="91" cy="9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/>
              <a:endParaRPr lang="zh-CN" altLang="en-US"/>
            </a:p>
          </p:txBody>
        </p:sp>
      </p:grpSp>
      <p:sp>
        <p:nvSpPr>
          <p:cNvPr id="73" name="Text Box 131"/>
          <p:cNvSpPr txBox="1">
            <a:spLocks noChangeArrowheads="1"/>
          </p:cNvSpPr>
          <p:nvPr/>
        </p:nvSpPr>
        <p:spPr bwMode="auto">
          <a:xfrm>
            <a:off x="3814807" y="1981239"/>
            <a:ext cx="3455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解</a:t>
            </a:r>
            <a:r>
              <a:rPr lang="en-US" altLang="zh-CN" sz="24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研究</a:t>
            </a:r>
            <a:r>
              <a:rPr lang="en-US" altLang="zh-CN" sz="2400" i="1" dirty="0">
                <a:latin typeface="+mj-lt"/>
                <a:ea typeface="楷体" panose="02010609060101010101" pitchFamily="49" charset="-122"/>
              </a:rPr>
              <a:t>AB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杆</a:t>
            </a:r>
          </a:p>
        </p:txBody>
      </p:sp>
      <p:graphicFrame>
        <p:nvGraphicFramePr>
          <p:cNvPr id="75" name="Object 1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5690772"/>
              </p:ext>
            </p:extLst>
          </p:nvPr>
        </p:nvGraphicFramePr>
        <p:xfrm>
          <a:off x="3910294" y="3375794"/>
          <a:ext cx="2520950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2" name="公式" r:id="rId3" imgW="1266825" imgH="219075" progId="Equation.3">
                  <p:embed/>
                </p:oleObj>
              </mc:Choice>
              <mc:Fallback>
                <p:oleObj name="公式" r:id="rId3" imgW="1266825" imgH="21907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0294" y="3375794"/>
                        <a:ext cx="2520950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9" name="Group 130"/>
          <p:cNvGrpSpPr>
            <a:grpSpLocks/>
          </p:cNvGrpSpPr>
          <p:nvPr/>
        </p:nvGrpSpPr>
        <p:grpSpPr bwMode="auto">
          <a:xfrm>
            <a:off x="6895875" y="1575746"/>
            <a:ext cx="1834462" cy="2080384"/>
            <a:chOff x="1490" y="1306"/>
            <a:chExt cx="1390" cy="1580"/>
          </a:xfrm>
        </p:grpSpPr>
        <p:sp>
          <p:nvSpPr>
            <p:cNvPr id="90" name="Text Box 10"/>
            <p:cNvSpPr txBox="1">
              <a:spLocks noChangeArrowheads="1"/>
            </p:cNvSpPr>
            <p:nvPr/>
          </p:nvSpPr>
          <p:spPr bwMode="auto">
            <a:xfrm>
              <a:off x="2472" y="1616"/>
              <a:ext cx="40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50000"/>
                </a:spcBef>
              </a:pPr>
              <a:r>
                <a:rPr lang="en-US" altLang="zh-CN" sz="2000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M</a:t>
              </a:r>
            </a:p>
          </p:txBody>
        </p:sp>
        <p:grpSp>
          <p:nvGrpSpPr>
            <p:cNvPr id="91" name="Group 129"/>
            <p:cNvGrpSpPr>
              <a:grpSpLocks/>
            </p:cNvGrpSpPr>
            <p:nvPr/>
          </p:nvGrpSpPr>
          <p:grpSpPr bwMode="auto">
            <a:xfrm>
              <a:off x="1490" y="1306"/>
              <a:ext cx="1190" cy="1580"/>
              <a:chOff x="1581" y="2303"/>
              <a:chExt cx="1190" cy="1580"/>
            </a:xfrm>
          </p:grpSpPr>
          <p:sp>
            <p:nvSpPr>
              <p:cNvPr id="92" name="Rectangle 5"/>
              <p:cNvSpPr>
                <a:spLocks noChangeArrowheads="1"/>
              </p:cNvSpPr>
              <p:nvPr/>
            </p:nvSpPr>
            <p:spPr bwMode="auto">
              <a:xfrm rot="-2996149">
                <a:off x="1372" y="3078"/>
                <a:ext cx="1542" cy="68"/>
              </a:xfrm>
              <a:prstGeom prst="rect">
                <a:avLst/>
              </a:prstGeom>
              <a:solidFill>
                <a:srgbClr val="3366FF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endParaRPr lang="zh-CN" altLang="en-US"/>
              </a:p>
            </p:txBody>
          </p:sp>
          <p:sp>
            <p:nvSpPr>
              <p:cNvPr id="93" name="Oval 6"/>
              <p:cNvSpPr>
                <a:spLocks noChangeArrowheads="1"/>
              </p:cNvSpPr>
              <p:nvPr/>
            </p:nvSpPr>
            <p:spPr bwMode="auto">
              <a:xfrm>
                <a:off x="1581" y="3685"/>
                <a:ext cx="91" cy="9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/>
                <a:endParaRPr lang="zh-CN" altLang="en-US"/>
              </a:p>
            </p:txBody>
          </p:sp>
          <p:sp>
            <p:nvSpPr>
              <p:cNvPr id="94" name="Text Box 7"/>
              <p:cNvSpPr txBox="1">
                <a:spLocks noChangeArrowheads="1"/>
              </p:cNvSpPr>
              <p:nvPr/>
            </p:nvSpPr>
            <p:spPr bwMode="auto">
              <a:xfrm>
                <a:off x="1688" y="3580"/>
                <a:ext cx="4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50000"/>
                  </a:spcBef>
                </a:pPr>
                <a:r>
                  <a:rPr lang="en-US" altLang="zh-CN" sz="2000" i="1" dirty="0"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95" name="Text Box 8"/>
              <p:cNvSpPr txBox="1">
                <a:spLocks noChangeArrowheads="1"/>
              </p:cNvSpPr>
              <p:nvPr/>
            </p:nvSpPr>
            <p:spPr bwMode="auto">
              <a:xfrm>
                <a:off x="2363" y="2303"/>
                <a:ext cx="4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50000"/>
                  </a:spcBef>
                </a:pPr>
                <a:r>
                  <a:rPr lang="en-US" altLang="zh-CN" sz="2000" i="1" dirty="0">
                    <a:latin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96" name="Arc 9"/>
              <p:cNvSpPr>
                <a:spLocks noChangeAspect="1"/>
              </p:cNvSpPr>
              <p:nvPr/>
            </p:nvSpPr>
            <p:spPr bwMode="auto">
              <a:xfrm rot="-835701">
                <a:off x="2272" y="2688"/>
                <a:ext cx="236" cy="256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1750">
                <a:solidFill>
                  <a:srgbClr val="FF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7" name="Text Box 11"/>
              <p:cNvSpPr txBox="1">
                <a:spLocks noChangeArrowheads="1"/>
              </p:cNvSpPr>
              <p:nvPr/>
            </p:nvSpPr>
            <p:spPr bwMode="auto">
              <a:xfrm>
                <a:off x="2275" y="2985"/>
                <a:ext cx="40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50000"/>
                  </a:spcBef>
                </a:pPr>
                <a:r>
                  <a:rPr lang="en-US" altLang="zh-CN" sz="2000" i="1" dirty="0"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98" name="Line 12"/>
              <p:cNvSpPr>
                <a:spLocks noChangeShapeType="1"/>
              </p:cNvSpPr>
              <p:nvPr/>
            </p:nvSpPr>
            <p:spPr bwMode="auto">
              <a:xfrm>
                <a:off x="2322" y="2930"/>
                <a:ext cx="318" cy="31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99" name="Group 13"/>
              <p:cNvGrpSpPr>
                <a:grpSpLocks noChangeAspect="1"/>
              </p:cNvGrpSpPr>
              <p:nvPr/>
            </p:nvGrpSpPr>
            <p:grpSpPr bwMode="auto">
              <a:xfrm rot="8064067">
                <a:off x="2298" y="2965"/>
                <a:ext cx="68" cy="68"/>
                <a:chOff x="9000" y="12048"/>
                <a:chExt cx="360" cy="357"/>
              </a:xfrm>
            </p:grpSpPr>
            <p:sp>
              <p:nvSpPr>
                <p:cNvPr id="100" name="Line 14"/>
                <p:cNvSpPr>
                  <a:spLocks noChangeAspect="1" noChangeShapeType="1"/>
                </p:cNvSpPr>
                <p:nvPr/>
              </p:nvSpPr>
              <p:spPr bwMode="auto">
                <a:xfrm>
                  <a:off x="9000" y="12048"/>
                  <a:ext cx="360" cy="0"/>
                </a:xfrm>
                <a:prstGeom prst="line">
                  <a:avLst/>
                </a:prstGeom>
                <a:noFill/>
                <a:ln w="22225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1" name="Line 15"/>
                <p:cNvSpPr>
                  <a:spLocks noChangeAspect="1" noChangeShapeType="1"/>
                </p:cNvSpPr>
                <p:nvPr/>
              </p:nvSpPr>
              <p:spPr bwMode="auto">
                <a:xfrm>
                  <a:off x="9360" y="12048"/>
                  <a:ext cx="0" cy="357"/>
                </a:xfrm>
                <a:prstGeom prst="line">
                  <a:avLst/>
                </a:prstGeom>
                <a:noFill/>
                <a:ln w="22225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102" name="Group 109"/>
          <p:cNvGrpSpPr>
            <a:grpSpLocks/>
          </p:cNvGrpSpPr>
          <p:nvPr/>
        </p:nvGrpSpPr>
        <p:grpSpPr bwMode="auto">
          <a:xfrm>
            <a:off x="6445361" y="2859743"/>
            <a:ext cx="938213" cy="576263"/>
            <a:chOff x="1927" y="3657"/>
            <a:chExt cx="591" cy="363"/>
          </a:xfrm>
        </p:grpSpPr>
        <p:sp>
          <p:nvSpPr>
            <p:cNvPr id="103" name="Line 16"/>
            <p:cNvSpPr>
              <a:spLocks noChangeShapeType="1"/>
            </p:cNvSpPr>
            <p:nvPr/>
          </p:nvSpPr>
          <p:spPr bwMode="auto">
            <a:xfrm>
              <a:off x="1927" y="3702"/>
              <a:ext cx="318" cy="31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Text Box 95"/>
            <p:cNvSpPr txBox="1">
              <a:spLocks noChangeArrowheads="1"/>
            </p:cNvSpPr>
            <p:nvPr/>
          </p:nvSpPr>
          <p:spPr bwMode="auto">
            <a:xfrm>
              <a:off x="2064" y="3657"/>
              <a:ext cx="45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50000"/>
                </a:spcBef>
              </a:pPr>
              <a:r>
                <a:rPr lang="en-US" altLang="zh-CN" sz="2000" b="1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zh-CN" sz="2000" b="1" i="1" baseline="-25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105" name="Group 108"/>
          <p:cNvGrpSpPr>
            <a:grpSpLocks/>
          </p:cNvGrpSpPr>
          <p:nvPr/>
        </p:nvGrpSpPr>
        <p:grpSpPr bwMode="auto">
          <a:xfrm>
            <a:off x="7192521" y="1849381"/>
            <a:ext cx="720725" cy="519113"/>
            <a:chOff x="2330" y="3385"/>
            <a:chExt cx="454" cy="327"/>
          </a:xfrm>
        </p:grpSpPr>
        <p:sp>
          <p:nvSpPr>
            <p:cNvPr id="106" name="Line 97"/>
            <p:cNvSpPr>
              <a:spLocks noChangeShapeType="1"/>
            </p:cNvSpPr>
            <p:nvPr/>
          </p:nvSpPr>
          <p:spPr bwMode="auto">
            <a:xfrm rot="10800000">
              <a:off x="2426" y="3385"/>
              <a:ext cx="318" cy="31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Text Box 98"/>
            <p:cNvSpPr txBox="1">
              <a:spLocks noChangeArrowheads="1"/>
            </p:cNvSpPr>
            <p:nvPr/>
          </p:nvSpPr>
          <p:spPr bwMode="auto">
            <a:xfrm>
              <a:off x="2330" y="3460"/>
              <a:ext cx="45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50000"/>
                </a:spcBef>
              </a:pPr>
              <a:r>
                <a:rPr lang="en-US" altLang="zh-CN" sz="2000" b="1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zh-CN" sz="2000" b="1" i="1" baseline="-25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</p:grpSp>
      <p:graphicFrame>
        <p:nvGraphicFramePr>
          <p:cNvPr id="10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1079005"/>
              </p:ext>
            </p:extLst>
          </p:nvPr>
        </p:nvGraphicFramePr>
        <p:xfrm>
          <a:off x="4546349" y="2455090"/>
          <a:ext cx="1241425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3" name="Equation" r:id="rId5" imgW="558720" imgH="203040" progId="Equation.DSMT4">
                  <p:embed/>
                </p:oleObj>
              </mc:Choice>
              <mc:Fallback>
                <p:oleObj name="Equation" r:id="rId5" imgW="558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6349" y="2455090"/>
                        <a:ext cx="1241425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tx1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2753930"/>
              </p:ext>
            </p:extLst>
          </p:nvPr>
        </p:nvGraphicFramePr>
        <p:xfrm>
          <a:off x="3828905" y="2919989"/>
          <a:ext cx="2589481" cy="4470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4" name="Equation" r:id="rId7" imgW="1473120" imgH="253800" progId="Equation.DSMT4">
                  <p:embed/>
                </p:oleObj>
              </mc:Choice>
              <mc:Fallback>
                <p:oleObj name="Equation" r:id="rId7" imgW="147312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8905" y="2919989"/>
                        <a:ext cx="2589481" cy="4470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" name="Text Box 134"/>
          <p:cNvSpPr txBox="1">
            <a:spLocks noChangeArrowheads="1"/>
          </p:cNvSpPr>
          <p:nvPr/>
        </p:nvSpPr>
        <p:spPr bwMode="auto">
          <a:xfrm>
            <a:off x="4299049" y="3990762"/>
            <a:ext cx="1727994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研究轮</a:t>
            </a:r>
            <a:r>
              <a:rPr lang="en-US" altLang="zh-CN" sz="2400" i="1" dirty="0">
                <a:latin typeface="+mj-lt"/>
                <a:ea typeface="楷体" panose="02010609060101010101" pitchFamily="49" charset="-122"/>
              </a:rPr>
              <a:t>C</a:t>
            </a:r>
            <a:endParaRPr lang="en-US" altLang="zh-CN" sz="2400" dirty="0">
              <a:latin typeface="+mj-lt"/>
              <a:ea typeface="楷体" panose="02010609060101010101" pitchFamily="49" charset="-122"/>
            </a:endParaRPr>
          </a:p>
        </p:txBody>
      </p:sp>
      <p:grpSp>
        <p:nvGrpSpPr>
          <p:cNvPr id="114" name="Group 126"/>
          <p:cNvGrpSpPr>
            <a:grpSpLocks/>
          </p:cNvGrpSpPr>
          <p:nvPr/>
        </p:nvGrpSpPr>
        <p:grpSpPr bwMode="auto">
          <a:xfrm>
            <a:off x="7232244" y="5433726"/>
            <a:ext cx="720725" cy="566738"/>
            <a:chOff x="4345" y="3776"/>
            <a:chExt cx="454" cy="357"/>
          </a:xfrm>
        </p:grpSpPr>
        <p:sp>
          <p:nvSpPr>
            <p:cNvPr id="115" name="Line 120"/>
            <p:cNvSpPr>
              <a:spLocks noChangeShapeType="1"/>
            </p:cNvSpPr>
            <p:nvPr/>
          </p:nvSpPr>
          <p:spPr bwMode="auto">
            <a:xfrm flipV="1">
              <a:off x="4649" y="3776"/>
              <a:ext cx="0" cy="34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Text Box 121"/>
            <p:cNvSpPr txBox="1">
              <a:spLocks noChangeArrowheads="1"/>
            </p:cNvSpPr>
            <p:nvPr/>
          </p:nvSpPr>
          <p:spPr bwMode="auto">
            <a:xfrm>
              <a:off x="4345" y="3881"/>
              <a:ext cx="45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50000"/>
                </a:spcBef>
              </a:pPr>
              <a:r>
                <a:rPr lang="en-US" altLang="zh-CN" sz="2000" b="1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zh-CN" sz="2000" b="1" i="1" baseline="-25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</p:grpSp>
      <p:grpSp>
        <p:nvGrpSpPr>
          <p:cNvPr id="117" name="Group 123"/>
          <p:cNvGrpSpPr>
            <a:grpSpLocks/>
          </p:cNvGrpSpPr>
          <p:nvPr/>
        </p:nvGrpSpPr>
        <p:grpSpPr bwMode="auto">
          <a:xfrm>
            <a:off x="5913182" y="3820519"/>
            <a:ext cx="2784100" cy="1980842"/>
            <a:chOff x="3470" y="2478"/>
            <a:chExt cx="1859" cy="1347"/>
          </a:xfrm>
        </p:grpSpPr>
        <p:sp>
          <p:nvSpPr>
            <p:cNvPr id="118" name="Text Box 99"/>
            <p:cNvSpPr txBox="1">
              <a:spLocks noChangeArrowheads="1"/>
            </p:cNvSpPr>
            <p:nvPr/>
          </p:nvSpPr>
          <p:spPr bwMode="auto">
            <a:xfrm>
              <a:off x="4696" y="3553"/>
              <a:ext cx="454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50000"/>
                </a:spcBef>
              </a:pPr>
              <a:r>
                <a:rPr lang="en-US" altLang="zh-CN" sz="2000" i="1" dirty="0">
                  <a:latin typeface="Times New Roman" panose="02020603050405020304" pitchFamily="18" charset="0"/>
                </a:rPr>
                <a:t>E</a:t>
              </a:r>
              <a:endParaRPr lang="en-US" altLang="zh-CN" sz="2000" i="1" baseline="-250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19" name="Group 118"/>
            <p:cNvGrpSpPr>
              <a:grpSpLocks/>
            </p:cNvGrpSpPr>
            <p:nvPr/>
          </p:nvGrpSpPr>
          <p:grpSpPr bwMode="auto">
            <a:xfrm>
              <a:off x="3470" y="2478"/>
              <a:ext cx="1859" cy="1166"/>
              <a:chOff x="3515" y="2424"/>
              <a:chExt cx="1859" cy="1166"/>
            </a:xfrm>
          </p:grpSpPr>
          <p:grpSp>
            <p:nvGrpSpPr>
              <p:cNvPr id="121" name="Group 107"/>
              <p:cNvGrpSpPr>
                <a:grpSpLocks/>
              </p:cNvGrpSpPr>
              <p:nvPr/>
            </p:nvGrpSpPr>
            <p:grpSpPr bwMode="auto">
              <a:xfrm>
                <a:off x="3515" y="2614"/>
                <a:ext cx="1859" cy="976"/>
                <a:chOff x="3515" y="2614"/>
                <a:chExt cx="1859" cy="976"/>
              </a:xfrm>
            </p:grpSpPr>
            <p:sp>
              <p:nvSpPr>
                <p:cNvPr id="125" name="Oval 17"/>
                <p:cNvSpPr>
                  <a:spLocks noChangeArrowheads="1"/>
                </p:cNvSpPr>
                <p:nvPr/>
              </p:nvSpPr>
              <p:spPr bwMode="auto">
                <a:xfrm>
                  <a:off x="4240" y="2614"/>
                  <a:ext cx="907" cy="907"/>
                </a:xfrm>
                <a:prstGeom prst="ellipse">
                  <a:avLst/>
                </a:prstGeom>
                <a:solidFill>
                  <a:srgbClr val="CC99FF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/>
                  <a:endParaRPr lang="zh-CN" altLang="en-US"/>
                </a:p>
              </p:txBody>
            </p:sp>
            <p:sp>
              <p:nvSpPr>
                <p:cNvPr id="126" name="Line 18"/>
                <p:cNvSpPr>
                  <a:spLocks noChangeAspect="1" noChangeShapeType="1"/>
                </p:cNvSpPr>
                <p:nvPr/>
              </p:nvSpPr>
              <p:spPr bwMode="auto">
                <a:xfrm rot="469048" flipV="1">
                  <a:off x="3744" y="3009"/>
                  <a:ext cx="936" cy="58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lg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7" name="Line 102"/>
                <p:cNvSpPr>
                  <a:spLocks noChangeShapeType="1"/>
                </p:cNvSpPr>
                <p:nvPr/>
              </p:nvSpPr>
              <p:spPr bwMode="auto">
                <a:xfrm>
                  <a:off x="3515" y="3524"/>
                  <a:ext cx="1859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8" name="Text Box 103"/>
                <p:cNvSpPr txBox="1">
                  <a:spLocks noChangeArrowheads="1"/>
                </p:cNvSpPr>
                <p:nvPr/>
              </p:nvSpPr>
              <p:spPr bwMode="auto">
                <a:xfrm>
                  <a:off x="4721" y="2863"/>
                  <a:ext cx="453" cy="27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>
                    <a:spcBef>
                      <a:spcPct val="50000"/>
                    </a:spcBef>
                  </a:pPr>
                  <a:r>
                    <a:rPr lang="en-US" altLang="zh-CN" sz="2000" i="1" dirty="0">
                      <a:latin typeface="Times New Roman" panose="02020603050405020304" pitchFamily="18" charset="0"/>
                    </a:rPr>
                    <a:t>C</a:t>
                  </a:r>
                </a:p>
              </p:txBody>
            </p:sp>
            <p:sp>
              <p:nvSpPr>
                <p:cNvPr id="129" name="Oval 104"/>
                <p:cNvSpPr>
                  <a:spLocks noChangeArrowheads="1"/>
                </p:cNvSpPr>
                <p:nvPr/>
              </p:nvSpPr>
              <p:spPr bwMode="auto">
                <a:xfrm>
                  <a:off x="4694" y="3068"/>
                  <a:ext cx="23" cy="23"/>
                </a:xfrm>
                <a:prstGeom prst="ellipse">
                  <a:avLst/>
                </a:prstGeom>
                <a:solidFill>
                  <a:schemeClr val="accent1"/>
                </a:solidFill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/>
                  <a:endParaRPr lang="zh-CN" altLang="en-US"/>
                </a:p>
              </p:txBody>
            </p:sp>
            <p:sp>
              <p:nvSpPr>
                <p:cNvPr id="130" name="Text Box 106"/>
                <p:cNvSpPr txBox="1">
                  <a:spLocks noChangeArrowheads="1"/>
                </p:cNvSpPr>
                <p:nvPr/>
              </p:nvSpPr>
              <p:spPr bwMode="auto">
                <a:xfrm>
                  <a:off x="3515" y="3294"/>
                  <a:ext cx="453" cy="2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 eaLnBrk="1" hangingPunct="1">
                    <a:spcBef>
                      <a:spcPct val="50000"/>
                    </a:spcBef>
                  </a:pPr>
                  <a:r>
                    <a:rPr lang="en-US" altLang="zh-CN" sz="2000" i="1" dirty="0">
                      <a:latin typeface="Times New Roman" panose="02020603050405020304" pitchFamily="18" charset="0"/>
                    </a:rPr>
                    <a:t>A</a:t>
                  </a:r>
                </a:p>
              </p:txBody>
            </p:sp>
          </p:grpSp>
          <p:sp>
            <p:nvSpPr>
              <p:cNvPr id="122" name="Text Box 113"/>
              <p:cNvSpPr txBox="1">
                <a:spLocks noChangeArrowheads="1"/>
              </p:cNvSpPr>
              <p:nvPr/>
            </p:nvSpPr>
            <p:spPr bwMode="auto">
              <a:xfrm>
                <a:off x="4465" y="2619"/>
                <a:ext cx="499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50000"/>
                  </a:spcBef>
                </a:pPr>
                <a:r>
                  <a:rPr lang="en-US" altLang="zh-CN" sz="2000" i="1" dirty="0"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123" name="Line 114"/>
              <p:cNvSpPr>
                <a:spLocks noChangeShapeType="1"/>
              </p:cNvSpPr>
              <p:nvPr/>
            </p:nvSpPr>
            <p:spPr bwMode="auto">
              <a:xfrm flipH="1">
                <a:off x="3728" y="2424"/>
                <a:ext cx="908" cy="10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4" name="Line 116"/>
              <p:cNvSpPr>
                <a:spLocks noChangeShapeType="1"/>
              </p:cNvSpPr>
              <p:nvPr/>
            </p:nvSpPr>
            <p:spPr bwMode="auto">
              <a:xfrm>
                <a:off x="4377" y="2750"/>
                <a:ext cx="318" cy="31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"/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0" name="Line 122"/>
            <p:cNvSpPr>
              <a:spLocks noChangeShapeType="1"/>
            </p:cNvSpPr>
            <p:nvPr/>
          </p:nvSpPr>
          <p:spPr bwMode="auto">
            <a:xfrm>
              <a:off x="4668" y="3153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1" name="Group 128"/>
          <p:cNvGrpSpPr>
            <a:grpSpLocks/>
          </p:cNvGrpSpPr>
          <p:nvPr/>
        </p:nvGrpSpPr>
        <p:grpSpPr bwMode="auto">
          <a:xfrm>
            <a:off x="6630498" y="4800551"/>
            <a:ext cx="1076325" cy="674686"/>
            <a:chOff x="2381" y="3566"/>
            <a:chExt cx="678" cy="425"/>
          </a:xfrm>
        </p:grpSpPr>
        <p:sp>
          <p:nvSpPr>
            <p:cNvPr id="132" name="Text Box 117"/>
            <p:cNvSpPr txBox="1">
              <a:spLocks noChangeArrowheads="1"/>
            </p:cNvSpPr>
            <p:nvPr/>
          </p:nvSpPr>
          <p:spPr bwMode="auto">
            <a:xfrm>
              <a:off x="2487" y="3739"/>
              <a:ext cx="45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50000"/>
                </a:spcBef>
              </a:pPr>
              <a:r>
                <a:rPr lang="en-US" altLang="zh-CN" sz="2000" b="1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F</a:t>
              </a:r>
              <a:endParaRPr lang="en-US" altLang="zh-CN" sz="2000" b="1" i="1" baseline="-25000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3" name="Line 127"/>
            <p:cNvSpPr>
              <a:spLocks noChangeAspect="1" noChangeShapeType="1"/>
            </p:cNvSpPr>
            <p:nvPr/>
          </p:nvSpPr>
          <p:spPr bwMode="auto">
            <a:xfrm rot="21468394" flipH="1">
              <a:off x="2381" y="3566"/>
              <a:ext cx="678" cy="2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1" name="Group 110"/>
          <p:cNvGrpSpPr>
            <a:grpSpLocks/>
          </p:cNvGrpSpPr>
          <p:nvPr/>
        </p:nvGrpSpPr>
        <p:grpSpPr bwMode="auto">
          <a:xfrm>
            <a:off x="6520704" y="3839351"/>
            <a:ext cx="727075" cy="658813"/>
            <a:chOff x="1787" y="3702"/>
            <a:chExt cx="458" cy="415"/>
          </a:xfrm>
        </p:grpSpPr>
        <p:sp>
          <p:nvSpPr>
            <p:cNvPr id="112" name="Line 111"/>
            <p:cNvSpPr>
              <a:spLocks noChangeShapeType="1"/>
            </p:cNvSpPr>
            <p:nvPr/>
          </p:nvSpPr>
          <p:spPr bwMode="auto">
            <a:xfrm>
              <a:off x="1927" y="3702"/>
              <a:ext cx="318" cy="31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Text Box 112"/>
            <p:cNvSpPr txBox="1">
              <a:spLocks noChangeArrowheads="1"/>
            </p:cNvSpPr>
            <p:nvPr/>
          </p:nvSpPr>
          <p:spPr bwMode="auto">
            <a:xfrm>
              <a:off x="1787" y="3865"/>
              <a:ext cx="45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50000"/>
                </a:spcBef>
              </a:pPr>
              <a:r>
                <a:rPr lang="en-US" altLang="zh-CN" sz="2000" b="1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altLang="zh-CN" sz="2000" b="1" i="1" baseline="-25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D</a:t>
              </a:r>
              <a:r>
                <a:rPr lang="en-US" altLang="zh-CN" sz="20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'</a:t>
              </a:r>
              <a:endParaRPr lang="en-US" altLang="zh-CN" sz="2000" b="1" i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34" name="Object 1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1245061"/>
              </p:ext>
            </p:extLst>
          </p:nvPr>
        </p:nvGraphicFramePr>
        <p:xfrm>
          <a:off x="1095375" y="4657725"/>
          <a:ext cx="4154488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5" name="Equation" r:id="rId9" imgW="2349360" imgH="241200" progId="Equation.DSMT4">
                  <p:embed/>
                </p:oleObj>
              </mc:Choice>
              <mc:Fallback>
                <p:oleObj name="Equation" r:id="rId9" imgW="234936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5375" y="4657725"/>
                        <a:ext cx="4154488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" name="Object 1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1511202"/>
              </p:ext>
            </p:extLst>
          </p:nvPr>
        </p:nvGraphicFramePr>
        <p:xfrm>
          <a:off x="1073150" y="5097463"/>
          <a:ext cx="4646613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6" name="Equation" r:id="rId11" imgW="2628720" imgH="253800" progId="Equation.DSMT4">
                  <p:embed/>
                </p:oleObj>
              </mc:Choice>
              <mc:Fallback>
                <p:oleObj name="Equation" r:id="rId11" imgW="262872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3150" y="5097463"/>
                        <a:ext cx="4646613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" name="Object 1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9476965"/>
              </p:ext>
            </p:extLst>
          </p:nvPr>
        </p:nvGraphicFramePr>
        <p:xfrm>
          <a:off x="2027017" y="5586194"/>
          <a:ext cx="2395537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07" name="公式" r:id="rId13" imgW="1200150" imgH="219075" progId="Equation.3">
                  <p:embed/>
                </p:oleObj>
              </mc:Choice>
              <mc:Fallback>
                <p:oleObj name="公式" r:id="rId13" imgW="1200150" imgH="21907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7017" y="5586194"/>
                        <a:ext cx="2395537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674728" y="4005449"/>
            <a:ext cx="2352679" cy="641646"/>
            <a:chOff x="673145" y="4021956"/>
            <a:chExt cx="2352679" cy="641646"/>
          </a:xfrm>
        </p:grpSpPr>
        <p:grpSp>
          <p:nvGrpSpPr>
            <p:cNvPr id="138" name="Group 124"/>
            <p:cNvGrpSpPr>
              <a:grpSpLocks/>
            </p:cNvGrpSpPr>
            <p:nvPr/>
          </p:nvGrpSpPr>
          <p:grpSpPr bwMode="auto">
            <a:xfrm>
              <a:off x="2305099" y="4021956"/>
              <a:ext cx="720725" cy="612774"/>
              <a:chOff x="4671" y="1933"/>
              <a:chExt cx="454" cy="386"/>
            </a:xfrm>
          </p:grpSpPr>
          <p:sp>
            <p:nvSpPr>
              <p:cNvPr id="139" name="Line 89"/>
              <p:cNvSpPr>
                <a:spLocks noChangeShapeType="1"/>
              </p:cNvSpPr>
              <p:nvPr/>
            </p:nvSpPr>
            <p:spPr bwMode="auto">
              <a:xfrm flipV="1">
                <a:off x="4967" y="1933"/>
                <a:ext cx="0" cy="386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0" name="Text Box 90"/>
              <p:cNvSpPr txBox="1">
                <a:spLocks noChangeArrowheads="1"/>
              </p:cNvSpPr>
              <p:nvPr/>
            </p:nvSpPr>
            <p:spPr bwMode="auto">
              <a:xfrm>
                <a:off x="4671" y="2032"/>
                <a:ext cx="45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50000"/>
                  </a:spcBef>
                </a:pPr>
                <a:r>
                  <a:rPr lang="en-US" altLang="zh-CN" sz="2000" b="1" i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F</a:t>
                </a:r>
                <a:r>
                  <a:rPr lang="en-US" altLang="zh-CN" sz="2000" b="1" i="1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E</a:t>
                </a:r>
              </a:p>
            </p:txBody>
          </p:sp>
        </p:grpSp>
        <p:grpSp>
          <p:nvGrpSpPr>
            <p:cNvPr id="141" name="Group 125"/>
            <p:cNvGrpSpPr>
              <a:grpSpLocks/>
            </p:cNvGrpSpPr>
            <p:nvPr/>
          </p:nvGrpSpPr>
          <p:grpSpPr bwMode="auto">
            <a:xfrm>
              <a:off x="673145" y="4050827"/>
              <a:ext cx="720725" cy="612775"/>
              <a:chOff x="3585" y="1797"/>
              <a:chExt cx="454" cy="386"/>
            </a:xfrm>
          </p:grpSpPr>
          <p:sp>
            <p:nvSpPr>
              <p:cNvPr id="142" name="Text Box 91"/>
              <p:cNvSpPr txBox="1">
                <a:spLocks noChangeArrowheads="1"/>
              </p:cNvSpPr>
              <p:nvPr/>
            </p:nvSpPr>
            <p:spPr bwMode="auto">
              <a:xfrm>
                <a:off x="3585" y="1884"/>
                <a:ext cx="45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 eaLnBrk="1" hangingPunct="1">
                  <a:spcBef>
                    <a:spcPct val="50000"/>
                  </a:spcBef>
                </a:pPr>
                <a:r>
                  <a:rPr lang="en-US" altLang="zh-CN" sz="2000" b="1" i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F</a:t>
                </a:r>
                <a:r>
                  <a:rPr lang="en-US" altLang="zh-CN" sz="2000" b="1" i="1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0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'</a:t>
                </a:r>
                <a:endParaRPr lang="en-US" altLang="zh-CN" sz="2000" b="1" i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3" name="Line 94"/>
              <p:cNvSpPr>
                <a:spLocks noChangeShapeType="1"/>
              </p:cNvSpPr>
              <p:nvPr/>
            </p:nvSpPr>
            <p:spPr bwMode="auto">
              <a:xfrm>
                <a:off x="3878" y="1797"/>
                <a:ext cx="0" cy="386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46" name="Text Box 134"/>
          <p:cNvSpPr txBox="1">
            <a:spLocks noChangeArrowheads="1"/>
          </p:cNvSpPr>
          <p:nvPr/>
        </p:nvSpPr>
        <p:spPr bwMode="auto">
          <a:xfrm>
            <a:off x="2764144" y="6102860"/>
            <a:ext cx="3262899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若以整体为研究对象？</a:t>
            </a:r>
            <a:endParaRPr lang="en-US" altLang="zh-CN" sz="2400" dirty="0">
              <a:solidFill>
                <a:srgbClr val="0000FF"/>
              </a:solidFill>
              <a:latin typeface="+mj-lt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697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0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5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0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/>
      <p:bldP spid="110" grpId="0"/>
      <p:bldP spid="14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7" name="Text Box 64"/>
          <p:cNvSpPr txBox="1">
            <a:spLocks noChangeArrowheads="1"/>
          </p:cNvSpPr>
          <p:nvPr/>
        </p:nvSpPr>
        <p:spPr bwMode="auto">
          <a:xfrm>
            <a:off x="563972" y="467603"/>
            <a:ext cx="400802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chemeClr val="accent2"/>
                </a:solidFill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图示结构，各杆自重不计。已知：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楷体" panose="02010609060101010101" pitchFamily="49" charset="-122"/>
              </a:rPr>
              <a:t>l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楷体" panose="02010609060101010101" pitchFamily="49" charset="-122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楷体" panose="02010609060101010101" pitchFamily="49" charset="-122"/>
              </a:rPr>
              <a:t>q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楷体" panose="02010609060101010101" pitchFamily="49" charset="-122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楷体" panose="02010609060101010101" pitchFamily="49" charset="-122"/>
              </a:rPr>
              <a:t>M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</a:rPr>
              <a:t>。</a:t>
            </a:r>
            <a:r>
              <a:rPr lang="zh-CN" altLang="en-US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试确定固定端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</a:rPr>
              <a:t>E</a:t>
            </a:r>
            <a:r>
              <a:rPr lang="zh-CN" altLang="en-US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处约束反力。</a:t>
            </a:r>
            <a:r>
              <a:rPr lang="zh-CN" altLang="en-US" b="1" u="sng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         </a:t>
            </a:r>
            <a:r>
              <a:rPr lang="zh-CN" altLang="en-US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graphicFrame>
        <p:nvGraphicFramePr>
          <p:cNvPr id="10242" name="Object 6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0255419"/>
              </p:ext>
            </p:extLst>
          </p:nvPr>
        </p:nvGraphicFramePr>
        <p:xfrm>
          <a:off x="4602997" y="502456"/>
          <a:ext cx="4027488" cy="230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8" name="Image" r:id="rId3" imgW="1801067" imgH="1029964" progId="Photoshop.Image.6">
                  <p:embed/>
                </p:oleObj>
              </mc:Choice>
              <mc:Fallback>
                <p:oleObj name="Image" r:id="rId3" imgW="1801067" imgH="1029964" progId="Photoshop.Image.6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2997" y="502456"/>
                        <a:ext cx="4027488" cy="2303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70" name="Rectangle 66"/>
          <p:cNvSpPr>
            <a:spLocks noChangeArrowheads="1"/>
          </p:cNvSpPr>
          <p:nvPr/>
        </p:nvSpPr>
        <p:spPr bwMode="auto">
          <a:xfrm>
            <a:off x="598785" y="1643294"/>
            <a:ext cx="3492801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解：首先以</a:t>
            </a:r>
            <a:r>
              <a:rPr lang="en-US" altLang="zh-CN" sz="2000" i="1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</a:rPr>
              <a:t>AC</a:t>
            </a:r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杆为研究对象，受力如图所示。</a:t>
            </a:r>
            <a:r>
              <a:rPr lang="zh-CN" altLang="en-US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　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　　</a:t>
            </a:r>
          </a:p>
        </p:txBody>
      </p:sp>
      <p:graphicFrame>
        <p:nvGraphicFramePr>
          <p:cNvPr id="21571" name="Object 6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9850734"/>
              </p:ext>
            </p:extLst>
          </p:nvPr>
        </p:nvGraphicFramePr>
        <p:xfrm>
          <a:off x="683568" y="2447515"/>
          <a:ext cx="2896608" cy="12763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59" name="Image" r:id="rId5" imgW="1154901" imgH="566641" progId="Photoshop.Image.6">
                  <p:embed/>
                </p:oleObj>
              </mc:Choice>
              <mc:Fallback>
                <p:oleObj name="Image" r:id="rId5" imgW="1154901" imgH="566641" progId="Photoshop.Image.6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2447515"/>
                        <a:ext cx="2896608" cy="12763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73" name="Object 6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0569607"/>
              </p:ext>
            </p:extLst>
          </p:nvPr>
        </p:nvGraphicFramePr>
        <p:xfrm>
          <a:off x="836027" y="3806219"/>
          <a:ext cx="1584176" cy="3874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0" name="Equation" r:id="rId7" imgW="1765080" imgH="431640" progId="Equation.3">
                  <p:embed/>
                </p:oleObj>
              </mc:Choice>
              <mc:Fallback>
                <p:oleObj name="Equation" r:id="rId7" imgW="1765080" imgH="431640" progId="Equation.3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027" y="3806219"/>
                        <a:ext cx="1584176" cy="3874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74" name="Object 7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4432567"/>
              </p:ext>
            </p:extLst>
          </p:nvPr>
        </p:nvGraphicFramePr>
        <p:xfrm>
          <a:off x="536278" y="4201386"/>
          <a:ext cx="23495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1" name="Equation" r:id="rId9" imgW="2349360" imgH="723600" progId="Equation.3">
                  <p:embed/>
                </p:oleObj>
              </mc:Choice>
              <mc:Fallback>
                <p:oleObj name="Equation" r:id="rId9" imgW="2349360" imgH="723600" progId="Equation.3">
                  <p:embed/>
                  <p:pic>
                    <p:nvPicPr>
                      <p:cNvPr id="0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278" y="4201386"/>
                        <a:ext cx="23495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76" name="Object 7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1953644"/>
              </p:ext>
            </p:extLst>
          </p:nvPr>
        </p:nvGraphicFramePr>
        <p:xfrm>
          <a:off x="644188" y="4944066"/>
          <a:ext cx="1857375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2" name="Equation" r:id="rId11" imgW="1752480" imgH="723600" progId="Equation.3">
                  <p:embed/>
                </p:oleObj>
              </mc:Choice>
              <mc:Fallback>
                <p:oleObj name="Equation" r:id="rId11" imgW="1752480" imgH="723600" progId="Equation.3">
                  <p:embed/>
                  <p:pic>
                    <p:nvPicPr>
                      <p:cNvPr id="0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188" y="4944066"/>
                        <a:ext cx="1857375" cy="76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45"/>
          <p:cNvSpPr>
            <a:spLocks noChangeArrowheads="1"/>
          </p:cNvSpPr>
          <p:nvPr/>
        </p:nvSpPr>
        <p:spPr bwMode="auto">
          <a:xfrm>
            <a:off x="4225758" y="2775106"/>
            <a:ext cx="432048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以整体为研究对象，受力如图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　</a:t>
            </a:r>
            <a:r>
              <a:rPr lang="zh-CN" altLang="en-US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　　</a:t>
            </a:r>
          </a:p>
        </p:txBody>
      </p:sp>
      <p:graphicFrame>
        <p:nvGraphicFramePr>
          <p:cNvPr id="11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8481124"/>
              </p:ext>
            </p:extLst>
          </p:nvPr>
        </p:nvGraphicFramePr>
        <p:xfrm>
          <a:off x="5364088" y="3236771"/>
          <a:ext cx="3422384" cy="19325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3" name="Image" r:id="rId13" imgW="1715737" imgH="969102" progId="Photoshop.Image.6">
                  <p:embed/>
                </p:oleObj>
              </mc:Choice>
              <mc:Fallback>
                <p:oleObj name="Image" r:id="rId13" imgW="1715737" imgH="969102" progId="Photoshop.Image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088" y="3236771"/>
                        <a:ext cx="3422384" cy="19325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2264247"/>
              </p:ext>
            </p:extLst>
          </p:nvPr>
        </p:nvGraphicFramePr>
        <p:xfrm>
          <a:off x="3419872" y="3784067"/>
          <a:ext cx="1706098" cy="417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4" name="Equation" r:id="rId15" imgW="1765080" imgH="431640" progId="Equation.3">
                  <p:embed/>
                </p:oleObj>
              </mc:Choice>
              <mc:Fallback>
                <p:oleObj name="Equation" r:id="rId15" imgW="17650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872" y="3784067"/>
                        <a:ext cx="1706098" cy="4173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3869153"/>
              </p:ext>
            </p:extLst>
          </p:nvPr>
        </p:nvGraphicFramePr>
        <p:xfrm>
          <a:off x="3281790" y="4280507"/>
          <a:ext cx="3960813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5" name="公式" r:id="rId17" imgW="1866600" imgH="393480" progId="Equation.3">
                  <p:embed/>
                </p:oleObj>
              </mc:Choice>
              <mc:Fallback>
                <p:oleObj name="公式" r:id="rId17" imgW="18666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1790" y="4280507"/>
                        <a:ext cx="3960813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1428463"/>
              </p:ext>
            </p:extLst>
          </p:nvPr>
        </p:nvGraphicFramePr>
        <p:xfrm>
          <a:off x="4009484" y="5046737"/>
          <a:ext cx="2120248" cy="4648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6" name="公式" r:id="rId19" imgW="1041120" imgH="228600" progId="Equation.3">
                  <p:embed/>
                </p:oleObj>
              </mc:Choice>
              <mc:Fallback>
                <p:oleObj name="公式" r:id="rId19" imgW="104112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9484" y="5046737"/>
                        <a:ext cx="2120248" cy="4648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2750134"/>
              </p:ext>
            </p:extLst>
          </p:nvPr>
        </p:nvGraphicFramePr>
        <p:xfrm>
          <a:off x="2958763" y="5549185"/>
          <a:ext cx="1155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7" name="Equation" r:id="rId21" imgW="1155600" imgH="431640" progId="Equation.3">
                  <p:embed/>
                </p:oleObj>
              </mc:Choice>
              <mc:Fallback>
                <p:oleObj name="Equation" r:id="rId21" imgW="11556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8763" y="5549185"/>
                        <a:ext cx="1155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4743417"/>
              </p:ext>
            </p:extLst>
          </p:nvPr>
        </p:nvGraphicFramePr>
        <p:xfrm>
          <a:off x="5125970" y="5528006"/>
          <a:ext cx="9017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8" name="Equation" r:id="rId23" imgW="901440" imgH="380880" progId="Equation.3">
                  <p:embed/>
                </p:oleObj>
              </mc:Choice>
              <mc:Fallback>
                <p:oleObj name="Equation" r:id="rId23" imgW="901440" imgH="380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5970" y="5528006"/>
                        <a:ext cx="9017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4547674"/>
              </p:ext>
            </p:extLst>
          </p:nvPr>
        </p:nvGraphicFramePr>
        <p:xfrm>
          <a:off x="2958763" y="6079376"/>
          <a:ext cx="1168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9" name="Equation" r:id="rId25" imgW="1168200" imgH="444240" progId="Equation.3">
                  <p:embed/>
                </p:oleObj>
              </mc:Choice>
              <mc:Fallback>
                <p:oleObj name="Equation" r:id="rId25" imgW="116820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8763" y="6079376"/>
                        <a:ext cx="1168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4455091"/>
              </p:ext>
            </p:extLst>
          </p:nvPr>
        </p:nvGraphicFramePr>
        <p:xfrm>
          <a:off x="4497320" y="6059573"/>
          <a:ext cx="2159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70" name="Equation" r:id="rId27" imgW="2158920" imgH="419040" progId="Equation.3">
                  <p:embed/>
                </p:oleObj>
              </mc:Choice>
              <mc:Fallback>
                <p:oleObj name="Equation" r:id="rId27" imgW="215892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7320" y="6059573"/>
                        <a:ext cx="2159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4223425"/>
              </p:ext>
            </p:extLst>
          </p:nvPr>
        </p:nvGraphicFramePr>
        <p:xfrm>
          <a:off x="7026477" y="5818014"/>
          <a:ext cx="1944216" cy="705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71" name="Equation" r:id="rId29" imgW="1993680" imgH="723600" progId="Equation.3">
                  <p:embed/>
                </p:oleObj>
              </mc:Choice>
              <mc:Fallback>
                <p:oleObj name="Equation" r:id="rId29" imgW="1993680" imgH="723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6477" y="5818014"/>
                        <a:ext cx="1944216" cy="705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15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1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1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1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21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70" grpId="0" build="p" autoUpdateAnimBg="0"/>
      <p:bldP spid="1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4" descr="kPRF-LT2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2564904"/>
            <a:ext cx="4465637" cy="3348038"/>
          </a:xfrm>
          <a:prstGeom prst="rect">
            <a:avLst/>
          </a:prstGeom>
          <a:noFill/>
          <a:ln w="9525">
            <a:solidFill>
              <a:srgbClr val="3399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531" name="Text Box 5"/>
          <p:cNvSpPr txBox="1">
            <a:spLocks noChangeArrowheads="1"/>
          </p:cNvSpPr>
          <p:nvPr/>
        </p:nvSpPr>
        <p:spPr bwMode="auto">
          <a:xfrm>
            <a:off x="827584" y="476672"/>
            <a:ext cx="6999287" cy="1643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40000"/>
              </a:lnSpc>
              <a:spcBef>
                <a:spcPct val="50000"/>
              </a:spcBef>
            </a:pPr>
            <a:r>
              <a:rPr kumimoji="0" lang="zh-CN" altLang="en-US" b="1" u="sng" dirty="0">
                <a:solidFill>
                  <a:srgbClr val="00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练习</a:t>
            </a:r>
            <a:r>
              <a:rPr kumimoji="0" lang="en-US" altLang="zh-CN" b="1" u="sng" dirty="0">
                <a:solidFill>
                  <a:srgbClr val="00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kumimoji="0"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i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A</a:t>
            </a:r>
            <a:r>
              <a:rPr lang="zh-CN" altLang="en-US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，</a:t>
            </a:r>
            <a:r>
              <a:rPr lang="en-US" altLang="zh-CN" i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B</a:t>
            </a:r>
            <a:r>
              <a:rPr lang="zh-CN" altLang="en-US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，</a:t>
            </a:r>
            <a:r>
              <a:rPr lang="en-US" altLang="zh-CN" i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C</a:t>
            </a:r>
            <a:r>
              <a:rPr lang="zh-CN" altLang="en-US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，</a:t>
            </a:r>
            <a:r>
              <a:rPr lang="en-US" altLang="zh-CN" i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D</a:t>
            </a:r>
            <a:r>
              <a:rPr lang="zh-CN" altLang="en-US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处均为光滑铰链，物块重为</a:t>
            </a:r>
            <a:r>
              <a:rPr lang="en-US" altLang="zh-CN" b="1" i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G</a:t>
            </a:r>
            <a:r>
              <a:rPr lang="zh-CN" altLang="en-US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，通过绳子绕过滑轮水平地连接于杆</a:t>
            </a:r>
            <a:r>
              <a:rPr lang="en-US" altLang="zh-CN" i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AB</a:t>
            </a:r>
            <a:r>
              <a:rPr lang="zh-CN" altLang="en-US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en-US" altLang="zh-CN" i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E</a:t>
            </a:r>
            <a:r>
              <a:rPr lang="zh-CN" altLang="en-US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点，各构件自重不计，试求</a:t>
            </a:r>
            <a:r>
              <a:rPr lang="en-US" altLang="zh-CN" i="1" dirty="0">
                <a:solidFill>
                  <a:schemeClr val="tx2"/>
                </a:solidFill>
                <a:latin typeface="+mj-lt"/>
                <a:ea typeface="楷体" panose="02010609060101010101" pitchFamily="49" charset="-122"/>
              </a:rPr>
              <a:t>B</a:t>
            </a:r>
            <a:r>
              <a:rPr lang="zh-CN" altLang="en-US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处的约束力。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23" name="Picture 2" descr="kPRF-LT2c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684588"/>
            <a:ext cx="3300413" cy="2382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324" name="Group 3"/>
          <p:cNvGrpSpPr>
            <a:grpSpLocks/>
          </p:cNvGrpSpPr>
          <p:nvPr/>
        </p:nvGrpSpPr>
        <p:grpSpPr bwMode="auto">
          <a:xfrm>
            <a:off x="250825" y="3573463"/>
            <a:ext cx="3455988" cy="2520950"/>
            <a:chOff x="131" y="2701"/>
            <a:chExt cx="2047" cy="1483"/>
          </a:xfrm>
        </p:grpSpPr>
        <p:pic>
          <p:nvPicPr>
            <p:cNvPr id="13338" name="Picture 4" descr="kPRF-LT2c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1" y="2701"/>
              <a:ext cx="2047" cy="14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39" name="Text Box 5"/>
            <p:cNvSpPr txBox="1">
              <a:spLocks noChangeArrowheads="1"/>
            </p:cNvSpPr>
            <p:nvPr/>
          </p:nvSpPr>
          <p:spPr bwMode="auto">
            <a:xfrm>
              <a:off x="931" y="3731"/>
              <a:ext cx="355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 i="1">
                  <a:solidFill>
                    <a:srgbClr val="FF3D3D"/>
                  </a:solidFill>
                </a:rPr>
                <a:t>F</a:t>
              </a:r>
              <a:r>
                <a:rPr lang="en-US" altLang="zh-CN" sz="1600" b="1" i="1" baseline="-25000">
                  <a:solidFill>
                    <a:srgbClr val="FF3D3D"/>
                  </a:solidFill>
                </a:rPr>
                <a:t>B</a:t>
              </a:r>
              <a:r>
                <a:rPr lang="en-US" altLang="zh-CN" sz="2000" b="1" i="1" baseline="-25000">
                  <a:solidFill>
                    <a:srgbClr val="FF3D3D"/>
                  </a:solidFill>
                </a:rPr>
                <a:t>x</a:t>
              </a:r>
            </a:p>
          </p:txBody>
        </p:sp>
        <p:sp>
          <p:nvSpPr>
            <p:cNvPr id="13340" name="Text Box 6"/>
            <p:cNvSpPr txBox="1">
              <a:spLocks noChangeArrowheads="1"/>
            </p:cNvSpPr>
            <p:nvPr/>
          </p:nvSpPr>
          <p:spPr bwMode="auto">
            <a:xfrm>
              <a:off x="1319" y="2753"/>
              <a:ext cx="310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 i="1">
                  <a:solidFill>
                    <a:srgbClr val="FF3D3D"/>
                  </a:solidFill>
                </a:rPr>
                <a:t>F</a:t>
              </a:r>
              <a:r>
                <a:rPr lang="en-US" altLang="zh-CN" sz="1600" b="1" i="1" baseline="-25000">
                  <a:solidFill>
                    <a:srgbClr val="FF3D3D"/>
                  </a:solidFill>
                </a:rPr>
                <a:t>Ay</a:t>
              </a:r>
            </a:p>
          </p:txBody>
        </p:sp>
        <p:sp>
          <p:nvSpPr>
            <p:cNvPr id="13341" name="Text Box 7"/>
            <p:cNvSpPr txBox="1">
              <a:spLocks noChangeArrowheads="1"/>
            </p:cNvSpPr>
            <p:nvPr/>
          </p:nvSpPr>
          <p:spPr bwMode="auto">
            <a:xfrm>
              <a:off x="1701" y="3039"/>
              <a:ext cx="325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 i="1">
                  <a:solidFill>
                    <a:srgbClr val="FF3D3D"/>
                  </a:solidFill>
                </a:rPr>
                <a:t>F</a:t>
              </a:r>
              <a:r>
                <a:rPr lang="en-US" altLang="zh-CN" sz="1600" b="1" i="1" baseline="-25000">
                  <a:solidFill>
                    <a:srgbClr val="FF3D3D"/>
                  </a:solidFill>
                </a:rPr>
                <a:t>Ax</a:t>
              </a:r>
            </a:p>
          </p:txBody>
        </p:sp>
        <p:sp>
          <p:nvSpPr>
            <p:cNvPr id="13342" name="Text Box 8"/>
            <p:cNvSpPr txBox="1">
              <a:spLocks noChangeArrowheads="1"/>
            </p:cNvSpPr>
            <p:nvPr/>
          </p:nvSpPr>
          <p:spPr bwMode="auto">
            <a:xfrm>
              <a:off x="303" y="3942"/>
              <a:ext cx="355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 i="1">
                  <a:solidFill>
                    <a:srgbClr val="FF3D3D"/>
                  </a:solidFill>
                </a:rPr>
                <a:t>F</a:t>
              </a:r>
              <a:r>
                <a:rPr lang="en-US" altLang="zh-CN" sz="1600" b="1" i="1" baseline="-25000">
                  <a:solidFill>
                    <a:srgbClr val="FF3D3D"/>
                  </a:solidFill>
                </a:rPr>
                <a:t>B</a:t>
              </a:r>
              <a:r>
                <a:rPr lang="en-US" altLang="zh-CN" sz="2000" b="1" i="1" baseline="-25000">
                  <a:solidFill>
                    <a:srgbClr val="FF3D3D"/>
                  </a:solidFill>
                </a:rPr>
                <a:t>y</a:t>
              </a:r>
            </a:p>
          </p:txBody>
        </p:sp>
        <p:sp>
          <p:nvSpPr>
            <p:cNvPr id="13343" name="Text Box 9"/>
            <p:cNvSpPr txBox="1">
              <a:spLocks noChangeArrowheads="1"/>
            </p:cNvSpPr>
            <p:nvPr/>
          </p:nvSpPr>
          <p:spPr bwMode="auto">
            <a:xfrm>
              <a:off x="322" y="3347"/>
              <a:ext cx="355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 i="1">
                  <a:solidFill>
                    <a:srgbClr val="FF3D3D"/>
                  </a:solidFill>
                </a:rPr>
                <a:t>F</a:t>
              </a:r>
              <a:r>
                <a:rPr lang="en-US" altLang="zh-CN" sz="1600" b="1" i="1" baseline="-25000">
                  <a:solidFill>
                    <a:srgbClr val="FF3D3D"/>
                  </a:solidFill>
                </a:rPr>
                <a:t>E</a:t>
              </a:r>
              <a:endParaRPr lang="en-US" altLang="zh-CN" sz="2000" b="1" i="1" baseline="-25000">
                <a:solidFill>
                  <a:srgbClr val="FF3D3D"/>
                </a:solidFill>
              </a:endParaRPr>
            </a:p>
          </p:txBody>
        </p:sp>
      </p:grpSp>
      <p:grpSp>
        <p:nvGrpSpPr>
          <p:cNvPr id="13325" name="Group 11"/>
          <p:cNvGrpSpPr>
            <a:grpSpLocks/>
          </p:cNvGrpSpPr>
          <p:nvPr/>
        </p:nvGrpSpPr>
        <p:grpSpPr bwMode="auto">
          <a:xfrm>
            <a:off x="250825" y="696913"/>
            <a:ext cx="3527425" cy="2881312"/>
            <a:chOff x="121" y="1051"/>
            <a:chExt cx="2053" cy="1586"/>
          </a:xfrm>
        </p:grpSpPr>
        <p:pic>
          <p:nvPicPr>
            <p:cNvPr id="13332" name="Picture 12" descr="kPRF-LT2b2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" y="1072"/>
              <a:ext cx="2053" cy="15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33" name="Text Box 13"/>
            <p:cNvSpPr txBox="1">
              <a:spLocks noChangeArrowheads="1"/>
            </p:cNvSpPr>
            <p:nvPr/>
          </p:nvSpPr>
          <p:spPr bwMode="auto">
            <a:xfrm>
              <a:off x="1502" y="1051"/>
              <a:ext cx="310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 i="1">
                  <a:solidFill>
                    <a:srgbClr val="FF3D3D"/>
                  </a:solidFill>
                </a:rPr>
                <a:t>F</a:t>
              </a:r>
              <a:r>
                <a:rPr lang="en-US" altLang="zh-CN" sz="1600" b="1" i="1" baseline="-25000">
                  <a:solidFill>
                    <a:srgbClr val="FF3D3D"/>
                  </a:solidFill>
                </a:rPr>
                <a:t>Ay</a:t>
              </a:r>
            </a:p>
          </p:txBody>
        </p:sp>
        <p:sp>
          <p:nvSpPr>
            <p:cNvPr id="13334" name="Text Box 14"/>
            <p:cNvSpPr txBox="1">
              <a:spLocks noChangeArrowheads="1"/>
            </p:cNvSpPr>
            <p:nvPr/>
          </p:nvSpPr>
          <p:spPr bwMode="auto">
            <a:xfrm>
              <a:off x="1719" y="1240"/>
              <a:ext cx="325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 i="1">
                  <a:solidFill>
                    <a:srgbClr val="FF3D3D"/>
                  </a:solidFill>
                </a:rPr>
                <a:t>F</a:t>
              </a:r>
              <a:r>
                <a:rPr lang="en-US" altLang="zh-CN" sz="1600" b="1" i="1" baseline="-25000">
                  <a:solidFill>
                    <a:srgbClr val="FF3D3D"/>
                  </a:solidFill>
                </a:rPr>
                <a:t>Ax</a:t>
              </a:r>
            </a:p>
          </p:txBody>
        </p:sp>
        <p:sp>
          <p:nvSpPr>
            <p:cNvPr id="13335" name="Text Box 15"/>
            <p:cNvSpPr txBox="1">
              <a:spLocks noChangeArrowheads="1"/>
            </p:cNvSpPr>
            <p:nvPr/>
          </p:nvSpPr>
          <p:spPr bwMode="auto">
            <a:xfrm>
              <a:off x="1706" y="1721"/>
              <a:ext cx="355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 i="1">
                  <a:solidFill>
                    <a:srgbClr val="FF3D3D"/>
                  </a:solidFill>
                </a:rPr>
                <a:t>F</a:t>
              </a:r>
              <a:r>
                <a:rPr lang="en-US" altLang="zh-CN" sz="1600" b="1" i="1" baseline="-25000">
                  <a:solidFill>
                    <a:srgbClr val="FF3D3D"/>
                  </a:solidFill>
                </a:rPr>
                <a:t>C</a:t>
              </a:r>
              <a:r>
                <a:rPr lang="en-US" altLang="zh-CN" sz="2000" b="1" i="1" baseline="-25000">
                  <a:solidFill>
                    <a:srgbClr val="FF3D3D"/>
                  </a:solidFill>
                </a:rPr>
                <a:t>x</a:t>
              </a:r>
            </a:p>
          </p:txBody>
        </p:sp>
        <p:sp>
          <p:nvSpPr>
            <p:cNvPr id="13336" name="Text Box 16"/>
            <p:cNvSpPr txBox="1">
              <a:spLocks noChangeArrowheads="1"/>
            </p:cNvSpPr>
            <p:nvPr/>
          </p:nvSpPr>
          <p:spPr bwMode="auto">
            <a:xfrm>
              <a:off x="1516" y="1927"/>
              <a:ext cx="344" cy="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600" b="1" i="1">
                  <a:solidFill>
                    <a:srgbClr val="FF3D3D"/>
                  </a:solidFill>
                </a:rPr>
                <a:t>F</a:t>
              </a:r>
              <a:r>
                <a:rPr lang="en-US" altLang="zh-CN" sz="1600" b="1" i="1" baseline="-25000">
                  <a:solidFill>
                    <a:srgbClr val="FF3D3D"/>
                  </a:solidFill>
                </a:rPr>
                <a:t>Cy</a:t>
              </a:r>
            </a:p>
          </p:txBody>
        </p:sp>
        <p:sp>
          <p:nvSpPr>
            <p:cNvPr id="13337" name="Text Box 17"/>
            <p:cNvSpPr txBox="1">
              <a:spLocks noChangeArrowheads="1"/>
            </p:cNvSpPr>
            <p:nvPr/>
          </p:nvSpPr>
          <p:spPr bwMode="auto">
            <a:xfrm>
              <a:off x="420" y="2397"/>
              <a:ext cx="308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b="1" i="1">
                  <a:solidFill>
                    <a:srgbClr val="FF3D3D"/>
                  </a:solidFill>
                </a:rPr>
                <a:t>G</a:t>
              </a:r>
            </a:p>
          </p:txBody>
        </p:sp>
      </p:grpSp>
      <p:graphicFrame>
        <p:nvGraphicFramePr>
          <p:cNvPr id="1331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3620863"/>
              </p:ext>
            </p:extLst>
          </p:nvPr>
        </p:nvGraphicFramePr>
        <p:xfrm>
          <a:off x="6036910" y="2188265"/>
          <a:ext cx="273685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62" r:id="rId7" imgW="1308100" imgH="228600" progId="Equation.3">
                  <p:embed/>
                </p:oleObj>
              </mc:Choice>
              <mc:Fallback>
                <p:oleObj r:id="rId7" imgW="1308100" imgH="2286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6910" y="2188265"/>
                        <a:ext cx="2736850" cy="477838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1593903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1746958"/>
              </p:ext>
            </p:extLst>
          </p:nvPr>
        </p:nvGraphicFramePr>
        <p:xfrm>
          <a:off x="3851920" y="2212177"/>
          <a:ext cx="1871662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63" name="Equation" r:id="rId9" imgW="927000" imgH="253800" progId="Equation.3">
                  <p:embed/>
                </p:oleObj>
              </mc:Choice>
              <mc:Fallback>
                <p:oleObj name="Equation" r:id="rId9" imgW="927000" imgH="2538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920" y="2212177"/>
                        <a:ext cx="1871662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1593903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6" name="Text Box 20"/>
          <p:cNvSpPr txBox="1">
            <a:spLocks noChangeArrowheads="1"/>
          </p:cNvSpPr>
          <p:nvPr/>
        </p:nvSpPr>
        <p:spPr bwMode="auto">
          <a:xfrm>
            <a:off x="4075204" y="647043"/>
            <a:ext cx="1081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 cap="sq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解：</a:t>
            </a:r>
          </a:p>
        </p:txBody>
      </p:sp>
      <p:sp>
        <p:nvSpPr>
          <p:cNvPr id="13327" name="Text Box 21"/>
          <p:cNvSpPr txBox="1">
            <a:spLocks noChangeArrowheads="1"/>
          </p:cNvSpPr>
          <p:nvPr/>
        </p:nvSpPr>
        <p:spPr bwMode="auto">
          <a:xfrm>
            <a:off x="4888269" y="586718"/>
            <a:ext cx="3313113" cy="518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取整体为研究对象。</a:t>
            </a:r>
          </a:p>
        </p:txBody>
      </p:sp>
      <p:sp>
        <p:nvSpPr>
          <p:cNvPr id="13328" name="Text Box 22"/>
          <p:cNvSpPr txBox="1">
            <a:spLocks noChangeArrowheads="1"/>
          </p:cNvSpPr>
          <p:nvPr/>
        </p:nvSpPr>
        <p:spPr bwMode="auto">
          <a:xfrm>
            <a:off x="4888269" y="1085193"/>
            <a:ext cx="2665413" cy="518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受力分析如图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sp>
        <p:nvSpPr>
          <p:cNvPr id="13329" name="Text Box 23"/>
          <p:cNvSpPr txBox="1">
            <a:spLocks noChangeArrowheads="1"/>
          </p:cNvSpPr>
          <p:nvPr/>
        </p:nvSpPr>
        <p:spPr bwMode="auto">
          <a:xfrm>
            <a:off x="4908961" y="1578593"/>
            <a:ext cx="2366963" cy="518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5000"/>
              </a:lnSpc>
            </a:pP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列平衡方程。</a:t>
            </a:r>
          </a:p>
        </p:txBody>
      </p:sp>
      <p:sp>
        <p:nvSpPr>
          <p:cNvPr id="13330" name="Text Box 24"/>
          <p:cNvSpPr txBox="1">
            <a:spLocks noChangeArrowheads="1"/>
          </p:cNvSpPr>
          <p:nvPr/>
        </p:nvSpPr>
        <p:spPr bwMode="auto">
          <a:xfrm>
            <a:off x="3745887" y="3322665"/>
            <a:ext cx="5564344" cy="59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4.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取杆</a:t>
            </a:r>
            <a:r>
              <a:rPr lang="en-US" altLang="zh-CN" i="1" dirty="0">
                <a:latin typeface="+mn-lt"/>
                <a:ea typeface="楷体" panose="02010609060101010101" pitchFamily="49" charset="-122"/>
              </a:rPr>
              <a:t>AB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为研究对象，受力分析如图。</a:t>
            </a:r>
          </a:p>
        </p:txBody>
      </p:sp>
      <p:graphicFrame>
        <p:nvGraphicFramePr>
          <p:cNvPr id="13316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9510957"/>
              </p:ext>
            </p:extLst>
          </p:nvPr>
        </p:nvGraphicFramePr>
        <p:xfrm>
          <a:off x="5284968" y="4762376"/>
          <a:ext cx="3744912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64" r:id="rId11" imgW="1790700" imgH="241300" progId="Equation.3">
                  <p:embed/>
                </p:oleObj>
              </mc:Choice>
              <mc:Fallback>
                <p:oleObj r:id="rId11" imgW="1790700" imgH="24130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4968" y="4762376"/>
                        <a:ext cx="3744912" cy="51276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1593903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2442911"/>
              </p:ext>
            </p:extLst>
          </p:nvPr>
        </p:nvGraphicFramePr>
        <p:xfrm>
          <a:off x="3223663" y="4770849"/>
          <a:ext cx="1944688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65" name="Equation" r:id="rId13" imgW="927000" imgH="253800" progId="Equation.3">
                  <p:embed/>
                </p:oleObj>
              </mc:Choice>
              <mc:Fallback>
                <p:oleObj name="Equation" r:id="rId13" imgW="927000" imgH="2538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3663" y="4770849"/>
                        <a:ext cx="1944688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1593903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8940190"/>
              </p:ext>
            </p:extLst>
          </p:nvPr>
        </p:nvGraphicFramePr>
        <p:xfrm>
          <a:off x="5812017" y="4066595"/>
          <a:ext cx="2376488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66" r:id="rId15" imgW="1168400" imgH="228600" progId="Equation.3">
                  <p:embed/>
                </p:oleObj>
              </mc:Choice>
              <mc:Fallback>
                <p:oleObj r:id="rId15" imgW="1168400" imgH="22860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12017" y="4066595"/>
                        <a:ext cx="2376488" cy="46672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1593903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9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7755192"/>
              </p:ext>
            </p:extLst>
          </p:nvPr>
        </p:nvGraphicFramePr>
        <p:xfrm>
          <a:off x="4255010" y="4066644"/>
          <a:ext cx="12954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67" name="Equation" r:id="rId17" imgW="634680" imgH="253800" progId="Equation.3">
                  <p:embed/>
                </p:oleObj>
              </mc:Choice>
              <mc:Fallback>
                <p:oleObj name="Equation" r:id="rId17" imgW="634680" imgH="253800" progId="Equation.3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5010" y="4066644"/>
                        <a:ext cx="1295400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1593903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0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8494242"/>
              </p:ext>
            </p:extLst>
          </p:nvPr>
        </p:nvGraphicFramePr>
        <p:xfrm>
          <a:off x="4381500" y="5440200"/>
          <a:ext cx="1874663" cy="5195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68" name="Equation" r:id="rId19" imgW="825480" imgH="228600" progId="Equation.3">
                  <p:embed/>
                </p:oleObj>
              </mc:Choice>
              <mc:Fallback>
                <p:oleObj name="Equation" r:id="rId19" imgW="825480" imgH="22860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0" y="5440200"/>
                        <a:ext cx="1874663" cy="519509"/>
                      </a:xfrm>
                      <a:prstGeom prst="rect">
                        <a:avLst/>
                      </a:prstGeom>
                      <a:noFill/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1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4256330"/>
              </p:ext>
            </p:extLst>
          </p:nvPr>
        </p:nvGraphicFramePr>
        <p:xfrm>
          <a:off x="6594883" y="5387959"/>
          <a:ext cx="1570132" cy="545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69" r:id="rId21" imgW="698500" imgH="241300" progId="Equation.3">
                  <p:embed/>
                </p:oleObj>
              </mc:Choice>
              <mc:Fallback>
                <p:oleObj r:id="rId21" imgW="698500" imgH="24130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4883" y="5387959"/>
                        <a:ext cx="1570132" cy="545960"/>
                      </a:xfrm>
                      <a:prstGeom prst="rect">
                        <a:avLst/>
                      </a:prstGeom>
                      <a:noFill/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2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6455955"/>
              </p:ext>
            </p:extLst>
          </p:nvPr>
        </p:nvGraphicFramePr>
        <p:xfrm>
          <a:off x="5338614" y="2753068"/>
          <a:ext cx="1439863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70" name="Equation" r:id="rId23" imgW="711000" imgH="228600" progId="Equation.3">
                  <p:embed/>
                </p:oleObj>
              </mc:Choice>
              <mc:Fallback>
                <p:oleObj name="Equation" r:id="rId23" imgW="711000" imgH="22860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8614" y="2753068"/>
                        <a:ext cx="1439863" cy="46355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1593903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3313839" y="3035831"/>
            <a:ext cx="432048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32" name="文本框 31"/>
          <p:cNvSpPr txBox="1"/>
          <p:nvPr/>
        </p:nvSpPr>
        <p:spPr>
          <a:xfrm>
            <a:off x="3227140" y="5646242"/>
            <a:ext cx="432048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</p:spTree>
  </p:cSld>
  <p:clrMapOvr>
    <a:masterClrMapping/>
  </p:clrMapOvr>
  <p:transition>
    <p:fade thruBlk="1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4"/>
          <p:cNvSpPr txBox="1">
            <a:spLocks noChangeArrowheads="1"/>
          </p:cNvSpPr>
          <p:nvPr/>
        </p:nvSpPr>
        <p:spPr bwMode="auto">
          <a:xfrm>
            <a:off x="1497806" y="891292"/>
            <a:ext cx="6624637" cy="1089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miter lim="800000"/>
                <a:headEnd type="none" w="sm" len="sm"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zh-CN" altLang="en-US" b="1" u="sng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练习</a:t>
            </a:r>
            <a:r>
              <a:rPr lang="en-US" altLang="zh-CN" b="1" u="sng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如图已知 </a:t>
            </a:r>
            <a:r>
              <a:rPr lang="en-US" altLang="zh-CN" i="1" dirty="0">
                <a:latin typeface="+mn-lt"/>
                <a:ea typeface="楷体" panose="02010609060101010101" pitchFamily="49" charset="-122"/>
              </a:rPr>
              <a:t>F</a:t>
            </a:r>
            <a:r>
              <a:rPr lang="en-US" altLang="zh-CN" b="1" dirty="0">
                <a:latin typeface="+mn-lt"/>
                <a:ea typeface="楷体" panose="02010609060101010101" pitchFamily="49" charset="-122"/>
              </a:rPr>
              <a:t>=</a:t>
            </a:r>
            <a:r>
              <a:rPr lang="en-US" altLang="zh-CN" dirty="0">
                <a:latin typeface="+mn-lt"/>
                <a:ea typeface="楷体" panose="02010609060101010101" pitchFamily="49" charset="-122"/>
              </a:rPr>
              <a:t>15 </a:t>
            </a:r>
            <a:r>
              <a:rPr lang="en-US" altLang="zh-CN" dirty="0" err="1">
                <a:latin typeface="+mn-lt"/>
                <a:ea typeface="楷体" panose="02010609060101010101" pitchFamily="49" charset="-122"/>
              </a:rPr>
              <a:t>kN</a:t>
            </a:r>
            <a:r>
              <a:rPr lang="zh-CN" altLang="en-US" dirty="0">
                <a:latin typeface="+mn-lt"/>
                <a:ea typeface="楷体" panose="02010609060101010101" pitchFamily="49" charset="-122"/>
              </a:rPr>
              <a:t>，</a:t>
            </a:r>
            <a:r>
              <a:rPr lang="en-US" altLang="zh-CN" i="1" dirty="0">
                <a:latin typeface="+mn-lt"/>
                <a:ea typeface="楷体" panose="02010609060101010101" pitchFamily="49" charset="-122"/>
              </a:rPr>
              <a:t>M </a:t>
            </a:r>
            <a:r>
              <a:rPr lang="en-US" altLang="zh-CN" b="1" dirty="0">
                <a:latin typeface="+mn-lt"/>
                <a:ea typeface="楷体" panose="02010609060101010101" pitchFamily="49" charset="-122"/>
              </a:rPr>
              <a:t>=</a:t>
            </a:r>
            <a:r>
              <a:rPr lang="en-US" altLang="zh-CN" dirty="0">
                <a:latin typeface="+mn-lt"/>
                <a:ea typeface="楷体" panose="02010609060101010101" pitchFamily="49" charset="-122"/>
              </a:rPr>
              <a:t>40 </a:t>
            </a:r>
            <a:r>
              <a:rPr lang="en-US" altLang="zh-CN" dirty="0" err="1">
                <a:latin typeface="+mn-lt"/>
                <a:ea typeface="楷体" panose="02010609060101010101" pitchFamily="49" charset="-122"/>
              </a:rPr>
              <a:t>kN·m</a:t>
            </a:r>
            <a:r>
              <a:rPr lang="zh-CN" altLang="en-US" dirty="0">
                <a:latin typeface="+mn-lt"/>
                <a:ea typeface="楷体" panose="02010609060101010101" pitchFamily="49" charset="-122"/>
              </a:rPr>
              <a:t>。</a:t>
            </a:r>
            <a:r>
              <a:rPr lang="zh-CN" altLang="en-US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各杆件自重不计，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试求</a:t>
            </a:r>
            <a:r>
              <a:rPr lang="en-US" altLang="zh-CN" i="1" dirty="0">
                <a:latin typeface="+mn-lt"/>
                <a:ea typeface="楷体" panose="02010609060101010101" pitchFamily="49" charset="-122"/>
              </a:rPr>
              <a:t>D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i="1" dirty="0">
                <a:latin typeface="+mn-lt"/>
                <a:ea typeface="楷体" panose="02010609060101010101" pitchFamily="49" charset="-122"/>
              </a:rPr>
              <a:t>B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处的支座约束力。       </a:t>
            </a:r>
          </a:p>
        </p:txBody>
      </p:sp>
      <p:grpSp>
        <p:nvGrpSpPr>
          <p:cNvPr id="23555" name="Group 5"/>
          <p:cNvGrpSpPr>
            <a:grpSpLocks/>
          </p:cNvGrpSpPr>
          <p:nvPr/>
        </p:nvGrpSpPr>
        <p:grpSpPr bwMode="auto">
          <a:xfrm>
            <a:off x="2051720" y="2276302"/>
            <a:ext cx="5197475" cy="2881313"/>
            <a:chOff x="1196" y="1773"/>
            <a:chExt cx="3274" cy="1815"/>
          </a:xfrm>
        </p:grpSpPr>
        <p:sp>
          <p:nvSpPr>
            <p:cNvPr id="23556" name="Arc 6"/>
            <p:cNvSpPr>
              <a:spLocks/>
            </p:cNvSpPr>
            <p:nvPr/>
          </p:nvSpPr>
          <p:spPr bwMode="auto">
            <a:xfrm rot="2255586">
              <a:off x="3222" y="2162"/>
              <a:ext cx="151" cy="14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sq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557" name="Text Box 7"/>
            <p:cNvSpPr txBox="1">
              <a:spLocks noChangeArrowheads="1"/>
            </p:cNvSpPr>
            <p:nvPr/>
          </p:nvSpPr>
          <p:spPr bwMode="auto">
            <a:xfrm>
              <a:off x="1922" y="2627"/>
              <a:ext cx="2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i="1">
                  <a:ea typeface="黑体" panose="02010609060101010101" pitchFamily="49" charset="-122"/>
                  <a:sym typeface="Symbol" panose="05050102010706020507" pitchFamily="18" charset="2"/>
                </a:rPr>
                <a:t></a:t>
              </a:r>
              <a:endParaRPr lang="en-US" altLang="zh-CN" sz="2000" b="1" i="1">
                <a:ea typeface="黑体" panose="02010609060101010101" pitchFamily="49" charset="-122"/>
              </a:endParaRPr>
            </a:p>
          </p:txBody>
        </p:sp>
        <p:sp>
          <p:nvSpPr>
            <p:cNvPr id="23558" name="Text Box 8"/>
            <p:cNvSpPr txBox="1">
              <a:spLocks noChangeArrowheads="1"/>
            </p:cNvSpPr>
            <p:nvPr/>
          </p:nvSpPr>
          <p:spPr bwMode="auto">
            <a:xfrm>
              <a:off x="1196" y="2716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i="1">
                  <a:ea typeface="黑体" panose="02010609060101010101" pitchFamily="49" charset="-122"/>
                </a:rPr>
                <a:t>A</a:t>
              </a:r>
            </a:p>
          </p:txBody>
        </p:sp>
        <p:sp>
          <p:nvSpPr>
            <p:cNvPr id="23559" name="Text Box 9"/>
            <p:cNvSpPr txBox="1">
              <a:spLocks noChangeArrowheads="1"/>
            </p:cNvSpPr>
            <p:nvPr/>
          </p:nvSpPr>
          <p:spPr bwMode="auto">
            <a:xfrm>
              <a:off x="4012" y="2615"/>
              <a:ext cx="25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i="1" dirty="0">
                  <a:solidFill>
                    <a:srgbClr val="FF0000"/>
                  </a:solidFill>
                  <a:ea typeface="黑体" panose="02010609060101010101" pitchFamily="49" charset="-122"/>
                </a:rPr>
                <a:t>M</a:t>
              </a:r>
            </a:p>
          </p:txBody>
        </p:sp>
        <p:sp>
          <p:nvSpPr>
            <p:cNvPr id="23560" name="Text Box 10"/>
            <p:cNvSpPr txBox="1">
              <a:spLocks noChangeArrowheads="1"/>
            </p:cNvSpPr>
            <p:nvPr/>
          </p:nvSpPr>
          <p:spPr bwMode="auto">
            <a:xfrm>
              <a:off x="2401" y="2103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i="1">
                  <a:ea typeface="黑体" panose="02010609060101010101" pitchFamily="49" charset="-122"/>
                </a:rPr>
                <a:t>B</a:t>
              </a:r>
            </a:p>
          </p:txBody>
        </p:sp>
        <p:sp>
          <p:nvSpPr>
            <p:cNvPr id="23561" name="Rectangle 11"/>
            <p:cNvSpPr>
              <a:spLocks noChangeArrowheads="1"/>
            </p:cNvSpPr>
            <p:nvPr/>
          </p:nvSpPr>
          <p:spPr bwMode="auto">
            <a:xfrm rot="-5389576">
              <a:off x="2262" y="2604"/>
              <a:ext cx="576" cy="47"/>
            </a:xfrm>
            <a:prstGeom prst="rect">
              <a:avLst/>
            </a:prstGeom>
            <a:solidFill>
              <a:srgbClr val="B2B2B2"/>
            </a:solidFill>
            <a:ln w="12700" cap="sq">
              <a:solidFill>
                <a:schemeClr val="tx1"/>
              </a:solidFill>
              <a:miter lim="800000"/>
              <a:headEnd/>
              <a:tailEnd type="none" w="med" len="lg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562" name="Text Box 12"/>
            <p:cNvSpPr txBox="1">
              <a:spLocks noChangeArrowheads="1"/>
            </p:cNvSpPr>
            <p:nvPr/>
          </p:nvSpPr>
          <p:spPr bwMode="auto">
            <a:xfrm>
              <a:off x="3120" y="2387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i="1">
                  <a:ea typeface="黑体" panose="02010609060101010101" pitchFamily="49" charset="-122"/>
                </a:rPr>
                <a:t>E</a:t>
              </a:r>
            </a:p>
          </p:txBody>
        </p:sp>
        <p:sp>
          <p:nvSpPr>
            <p:cNvPr id="23563" name="Text Box 13"/>
            <p:cNvSpPr txBox="1">
              <a:spLocks noChangeArrowheads="1"/>
            </p:cNvSpPr>
            <p:nvPr/>
          </p:nvSpPr>
          <p:spPr bwMode="auto">
            <a:xfrm>
              <a:off x="4238" y="3213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i="1" dirty="0">
                  <a:ea typeface="黑体" panose="02010609060101010101" pitchFamily="49" charset="-122"/>
                </a:rPr>
                <a:t>D</a:t>
              </a:r>
            </a:p>
          </p:txBody>
        </p:sp>
        <p:sp>
          <p:nvSpPr>
            <p:cNvPr id="23564" name="Text Box 14"/>
            <p:cNvSpPr txBox="1">
              <a:spLocks noChangeArrowheads="1"/>
            </p:cNvSpPr>
            <p:nvPr/>
          </p:nvSpPr>
          <p:spPr bwMode="auto">
            <a:xfrm>
              <a:off x="3631" y="2090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i="1">
                  <a:ea typeface="黑体" panose="02010609060101010101" pitchFamily="49" charset="-122"/>
                </a:rPr>
                <a:t>C</a:t>
              </a:r>
            </a:p>
          </p:txBody>
        </p:sp>
        <p:sp>
          <p:nvSpPr>
            <p:cNvPr id="23565" name="Line 15"/>
            <p:cNvSpPr>
              <a:spLocks noChangeShapeType="1"/>
            </p:cNvSpPr>
            <p:nvPr/>
          </p:nvSpPr>
          <p:spPr bwMode="auto">
            <a:xfrm rot="5400000">
              <a:off x="1195" y="2902"/>
              <a:ext cx="624" cy="1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66" name="Line 16"/>
            <p:cNvSpPr>
              <a:spLocks noChangeShapeType="1"/>
            </p:cNvSpPr>
            <p:nvPr/>
          </p:nvSpPr>
          <p:spPr bwMode="auto">
            <a:xfrm rot="5400000" flipH="1">
              <a:off x="1454" y="2591"/>
              <a:ext cx="48" cy="4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67" name="Line 17"/>
            <p:cNvSpPr>
              <a:spLocks noChangeShapeType="1"/>
            </p:cNvSpPr>
            <p:nvPr/>
          </p:nvSpPr>
          <p:spPr bwMode="auto">
            <a:xfrm rot="5400000" flipH="1">
              <a:off x="1455" y="2677"/>
              <a:ext cx="48" cy="4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68" name="Line 18"/>
            <p:cNvSpPr>
              <a:spLocks noChangeShapeType="1"/>
            </p:cNvSpPr>
            <p:nvPr/>
          </p:nvSpPr>
          <p:spPr bwMode="auto">
            <a:xfrm rot="5400000" flipH="1">
              <a:off x="1455" y="2725"/>
              <a:ext cx="48" cy="4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69" name="Line 19"/>
            <p:cNvSpPr>
              <a:spLocks noChangeShapeType="1"/>
            </p:cNvSpPr>
            <p:nvPr/>
          </p:nvSpPr>
          <p:spPr bwMode="auto">
            <a:xfrm rot="5400000" flipH="1">
              <a:off x="1455" y="2773"/>
              <a:ext cx="48" cy="4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0" name="Line 20"/>
            <p:cNvSpPr>
              <a:spLocks noChangeShapeType="1"/>
            </p:cNvSpPr>
            <p:nvPr/>
          </p:nvSpPr>
          <p:spPr bwMode="auto">
            <a:xfrm rot="5400000" flipH="1">
              <a:off x="1455" y="2821"/>
              <a:ext cx="48" cy="4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1" name="Line 21"/>
            <p:cNvSpPr>
              <a:spLocks noChangeShapeType="1"/>
            </p:cNvSpPr>
            <p:nvPr/>
          </p:nvSpPr>
          <p:spPr bwMode="auto">
            <a:xfrm rot="5400000" flipH="1">
              <a:off x="1455" y="2639"/>
              <a:ext cx="48" cy="4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2" name="Line 22"/>
            <p:cNvSpPr>
              <a:spLocks noChangeShapeType="1"/>
            </p:cNvSpPr>
            <p:nvPr/>
          </p:nvSpPr>
          <p:spPr bwMode="auto">
            <a:xfrm rot="5400000" flipH="1">
              <a:off x="1460" y="2903"/>
              <a:ext cx="48" cy="4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3" name="Line 23"/>
            <p:cNvSpPr>
              <a:spLocks noChangeShapeType="1"/>
            </p:cNvSpPr>
            <p:nvPr/>
          </p:nvSpPr>
          <p:spPr bwMode="auto">
            <a:xfrm rot="5400000" flipH="1">
              <a:off x="1460" y="2951"/>
              <a:ext cx="48" cy="4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4" name="Line 24"/>
            <p:cNvSpPr>
              <a:spLocks noChangeShapeType="1"/>
            </p:cNvSpPr>
            <p:nvPr/>
          </p:nvSpPr>
          <p:spPr bwMode="auto">
            <a:xfrm rot="5400000" flipH="1">
              <a:off x="1460" y="2999"/>
              <a:ext cx="48" cy="4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5" name="Line 25"/>
            <p:cNvSpPr>
              <a:spLocks noChangeShapeType="1"/>
            </p:cNvSpPr>
            <p:nvPr/>
          </p:nvSpPr>
          <p:spPr bwMode="auto">
            <a:xfrm rot="5400000" flipH="1">
              <a:off x="1460" y="3047"/>
              <a:ext cx="48" cy="4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6" name="Line 26"/>
            <p:cNvSpPr>
              <a:spLocks noChangeShapeType="1"/>
            </p:cNvSpPr>
            <p:nvPr/>
          </p:nvSpPr>
          <p:spPr bwMode="auto">
            <a:xfrm rot="5400000" flipH="1">
              <a:off x="1460" y="2865"/>
              <a:ext cx="48" cy="4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7" name="Line 27"/>
            <p:cNvSpPr>
              <a:spLocks noChangeShapeType="1"/>
            </p:cNvSpPr>
            <p:nvPr/>
          </p:nvSpPr>
          <p:spPr bwMode="auto">
            <a:xfrm rot="5400000" flipH="1">
              <a:off x="1459" y="3129"/>
              <a:ext cx="48" cy="4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8" name="Line 28"/>
            <p:cNvSpPr>
              <a:spLocks noChangeShapeType="1"/>
            </p:cNvSpPr>
            <p:nvPr/>
          </p:nvSpPr>
          <p:spPr bwMode="auto">
            <a:xfrm rot="5400000" flipH="1">
              <a:off x="1459" y="3177"/>
              <a:ext cx="48" cy="4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9" name="Line 29"/>
            <p:cNvSpPr>
              <a:spLocks noChangeShapeType="1"/>
            </p:cNvSpPr>
            <p:nvPr/>
          </p:nvSpPr>
          <p:spPr bwMode="auto">
            <a:xfrm rot="5400000" flipH="1">
              <a:off x="1459" y="3091"/>
              <a:ext cx="48" cy="4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0" name="Line 30"/>
            <p:cNvSpPr>
              <a:spLocks noChangeShapeType="1"/>
            </p:cNvSpPr>
            <p:nvPr/>
          </p:nvSpPr>
          <p:spPr bwMode="auto">
            <a:xfrm flipH="1">
              <a:off x="3129" y="1920"/>
              <a:ext cx="260" cy="41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207" name="Text Box 31"/>
            <p:cNvSpPr txBox="1">
              <a:spLocks noChangeArrowheads="1"/>
            </p:cNvSpPr>
            <p:nvPr/>
          </p:nvSpPr>
          <p:spPr bwMode="auto">
            <a:xfrm>
              <a:off x="3086" y="1773"/>
              <a:ext cx="30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 i="1" dirty="0">
                  <a:solidFill>
                    <a:srgbClr val="FF0000"/>
                  </a:solidFill>
                </a:rPr>
                <a:t>F</a:t>
              </a:r>
            </a:p>
          </p:txBody>
        </p:sp>
        <p:sp>
          <p:nvSpPr>
            <p:cNvPr id="23582" name="Rectangle 32"/>
            <p:cNvSpPr>
              <a:spLocks noChangeArrowheads="1"/>
            </p:cNvSpPr>
            <p:nvPr/>
          </p:nvSpPr>
          <p:spPr bwMode="auto">
            <a:xfrm rot="9440">
              <a:off x="2529" y="2335"/>
              <a:ext cx="1167" cy="48"/>
            </a:xfrm>
            <a:prstGeom prst="rect">
              <a:avLst/>
            </a:prstGeom>
            <a:solidFill>
              <a:srgbClr val="B2B2B2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583" name="Rectangle 33"/>
            <p:cNvSpPr>
              <a:spLocks noChangeArrowheads="1"/>
            </p:cNvSpPr>
            <p:nvPr/>
          </p:nvSpPr>
          <p:spPr bwMode="auto">
            <a:xfrm rot="3987046">
              <a:off x="3364" y="2892"/>
              <a:ext cx="1167" cy="48"/>
            </a:xfrm>
            <a:prstGeom prst="rect">
              <a:avLst/>
            </a:prstGeom>
            <a:solidFill>
              <a:srgbClr val="B2B2B2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584" name="Line 34"/>
            <p:cNvSpPr>
              <a:spLocks noChangeShapeType="1"/>
            </p:cNvSpPr>
            <p:nvPr/>
          </p:nvSpPr>
          <p:spPr bwMode="auto">
            <a:xfrm>
              <a:off x="3125" y="2388"/>
              <a:ext cx="0" cy="11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5" name="Line 35"/>
            <p:cNvSpPr>
              <a:spLocks noChangeShapeType="1"/>
            </p:cNvSpPr>
            <p:nvPr/>
          </p:nvSpPr>
          <p:spPr bwMode="auto">
            <a:xfrm>
              <a:off x="2578" y="2925"/>
              <a:ext cx="0" cy="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6" name="Line 36"/>
            <p:cNvSpPr>
              <a:spLocks noChangeShapeType="1"/>
            </p:cNvSpPr>
            <p:nvPr/>
          </p:nvSpPr>
          <p:spPr bwMode="auto">
            <a:xfrm>
              <a:off x="3691" y="2388"/>
              <a:ext cx="0" cy="11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3587" name="Group 37"/>
            <p:cNvGrpSpPr>
              <a:grpSpLocks/>
            </p:cNvGrpSpPr>
            <p:nvPr/>
          </p:nvGrpSpPr>
          <p:grpSpPr bwMode="auto">
            <a:xfrm>
              <a:off x="4077" y="3401"/>
              <a:ext cx="202" cy="132"/>
              <a:chOff x="3455" y="1800"/>
              <a:chExt cx="193" cy="119"/>
            </a:xfrm>
          </p:grpSpPr>
          <p:sp>
            <p:nvSpPr>
              <p:cNvPr id="23620" name="AutoShape 38"/>
              <p:cNvSpPr>
                <a:spLocks noChangeArrowheads="1"/>
              </p:cNvSpPr>
              <p:nvPr/>
            </p:nvSpPr>
            <p:spPr bwMode="auto">
              <a:xfrm>
                <a:off x="3455" y="1824"/>
                <a:ext cx="193" cy="95"/>
              </a:xfrm>
              <a:prstGeom prst="triangle">
                <a:avLst>
                  <a:gd name="adj" fmla="val 50000"/>
                </a:avLst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miter lim="800000"/>
                <a:headEnd/>
                <a:tailEnd type="none" w="med" len="lg"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3621" name="Oval 39"/>
              <p:cNvSpPr>
                <a:spLocks noChangeArrowheads="1"/>
              </p:cNvSpPr>
              <p:nvPr/>
            </p:nvSpPr>
            <p:spPr bwMode="auto">
              <a:xfrm>
                <a:off x="3528" y="1800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12700" cap="sq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23588" name="Group 40"/>
            <p:cNvGrpSpPr>
              <a:grpSpLocks/>
            </p:cNvGrpSpPr>
            <p:nvPr/>
          </p:nvGrpSpPr>
          <p:grpSpPr bwMode="auto">
            <a:xfrm>
              <a:off x="3877" y="3535"/>
              <a:ext cx="567" cy="53"/>
              <a:chOff x="3264" y="1920"/>
              <a:chExt cx="542" cy="48"/>
            </a:xfrm>
          </p:grpSpPr>
          <p:sp>
            <p:nvSpPr>
              <p:cNvPr id="23606" name="Line 41"/>
              <p:cNvSpPr>
                <a:spLocks noChangeShapeType="1"/>
              </p:cNvSpPr>
              <p:nvPr/>
            </p:nvSpPr>
            <p:spPr bwMode="auto">
              <a:xfrm>
                <a:off x="3298" y="1920"/>
                <a:ext cx="508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23607" name="Group 42"/>
              <p:cNvGrpSpPr>
                <a:grpSpLocks/>
              </p:cNvGrpSpPr>
              <p:nvPr/>
            </p:nvGrpSpPr>
            <p:grpSpPr bwMode="auto">
              <a:xfrm>
                <a:off x="3264" y="1920"/>
                <a:ext cx="528" cy="48"/>
                <a:chOff x="3264" y="1920"/>
                <a:chExt cx="528" cy="48"/>
              </a:xfrm>
            </p:grpSpPr>
            <p:grpSp>
              <p:nvGrpSpPr>
                <p:cNvPr id="23608" name="Group 43"/>
                <p:cNvGrpSpPr>
                  <a:grpSpLocks/>
                </p:cNvGrpSpPr>
                <p:nvPr/>
              </p:nvGrpSpPr>
              <p:grpSpPr bwMode="auto">
                <a:xfrm>
                  <a:off x="3312" y="1920"/>
                  <a:ext cx="480" cy="48"/>
                  <a:chOff x="3312" y="1920"/>
                  <a:chExt cx="480" cy="48"/>
                </a:xfrm>
              </p:grpSpPr>
              <p:sp>
                <p:nvSpPr>
                  <p:cNvPr id="23610" name="Line 4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312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11" name="Line 4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360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12" name="Line 4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408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13" name="Line 4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456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14" name="Line 4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00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15" name="Line 4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48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16" name="Line 5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96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17" name="Line 5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744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18" name="Line 5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504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23619" name="Line 5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552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23609" name="Line 54"/>
                <p:cNvSpPr>
                  <a:spLocks noChangeShapeType="1"/>
                </p:cNvSpPr>
                <p:nvPr/>
              </p:nvSpPr>
              <p:spPr bwMode="auto">
                <a:xfrm flipH="1">
                  <a:off x="3264" y="1920"/>
                  <a:ext cx="48" cy="4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3589" name="Oval 55"/>
            <p:cNvSpPr>
              <a:spLocks noChangeArrowheads="1"/>
            </p:cNvSpPr>
            <p:nvPr/>
          </p:nvSpPr>
          <p:spPr bwMode="auto">
            <a:xfrm>
              <a:off x="2510" y="2326"/>
              <a:ext cx="75" cy="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590" name="Oval 56"/>
            <p:cNvSpPr>
              <a:spLocks noChangeArrowheads="1"/>
            </p:cNvSpPr>
            <p:nvPr/>
          </p:nvSpPr>
          <p:spPr bwMode="auto">
            <a:xfrm>
              <a:off x="3671" y="2335"/>
              <a:ext cx="75" cy="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591" name="Line 57"/>
            <p:cNvSpPr>
              <a:spLocks noChangeShapeType="1"/>
            </p:cNvSpPr>
            <p:nvPr/>
          </p:nvSpPr>
          <p:spPr bwMode="auto">
            <a:xfrm>
              <a:off x="1502" y="3218"/>
              <a:ext cx="0" cy="3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2" name="Line 58"/>
            <p:cNvSpPr>
              <a:spLocks noChangeShapeType="1"/>
            </p:cNvSpPr>
            <p:nvPr/>
          </p:nvSpPr>
          <p:spPr bwMode="auto">
            <a:xfrm>
              <a:off x="1493" y="3448"/>
              <a:ext cx="26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3" name="Line 59"/>
            <p:cNvSpPr>
              <a:spLocks noChangeShapeType="1"/>
            </p:cNvSpPr>
            <p:nvPr/>
          </p:nvSpPr>
          <p:spPr bwMode="auto">
            <a:xfrm>
              <a:off x="2558" y="2911"/>
              <a:ext cx="2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4" name="Text Box 60"/>
            <p:cNvSpPr txBox="1">
              <a:spLocks noChangeArrowheads="1"/>
            </p:cNvSpPr>
            <p:nvPr/>
          </p:nvSpPr>
          <p:spPr bwMode="auto">
            <a:xfrm>
              <a:off x="1847" y="3227"/>
              <a:ext cx="41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/>
                <a:t>4m</a:t>
              </a:r>
            </a:p>
          </p:txBody>
        </p:sp>
        <p:sp>
          <p:nvSpPr>
            <p:cNvPr id="23595" name="Text Box 61"/>
            <p:cNvSpPr txBox="1">
              <a:spLocks noChangeArrowheads="1"/>
            </p:cNvSpPr>
            <p:nvPr/>
          </p:nvSpPr>
          <p:spPr bwMode="auto">
            <a:xfrm>
              <a:off x="3364" y="2833"/>
              <a:ext cx="41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/>
                <a:t>4m</a:t>
              </a:r>
            </a:p>
          </p:txBody>
        </p:sp>
        <p:sp>
          <p:nvSpPr>
            <p:cNvPr id="23596" name="Text Box 62"/>
            <p:cNvSpPr txBox="1">
              <a:spLocks noChangeArrowheads="1"/>
            </p:cNvSpPr>
            <p:nvPr/>
          </p:nvSpPr>
          <p:spPr bwMode="auto">
            <a:xfrm>
              <a:off x="2624" y="3218"/>
              <a:ext cx="41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/>
                <a:t>2m</a:t>
              </a:r>
            </a:p>
          </p:txBody>
        </p:sp>
        <p:sp>
          <p:nvSpPr>
            <p:cNvPr id="23597" name="Text Box 63"/>
            <p:cNvSpPr txBox="1">
              <a:spLocks noChangeArrowheads="1"/>
            </p:cNvSpPr>
            <p:nvPr/>
          </p:nvSpPr>
          <p:spPr bwMode="auto">
            <a:xfrm>
              <a:off x="3171" y="3199"/>
              <a:ext cx="41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/>
                <a:t>2m</a:t>
              </a:r>
            </a:p>
          </p:txBody>
        </p:sp>
        <p:sp>
          <p:nvSpPr>
            <p:cNvPr id="23598" name="Line 64"/>
            <p:cNvSpPr>
              <a:spLocks noChangeShapeType="1"/>
            </p:cNvSpPr>
            <p:nvPr/>
          </p:nvSpPr>
          <p:spPr bwMode="auto">
            <a:xfrm>
              <a:off x="2712" y="2392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9" name="Text Box 65"/>
            <p:cNvSpPr txBox="1">
              <a:spLocks noChangeArrowheads="1"/>
            </p:cNvSpPr>
            <p:nvPr/>
          </p:nvSpPr>
          <p:spPr bwMode="auto">
            <a:xfrm>
              <a:off x="2633" y="2517"/>
              <a:ext cx="41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/>
                <a:t>2m</a:t>
              </a:r>
            </a:p>
          </p:txBody>
        </p:sp>
        <p:sp>
          <p:nvSpPr>
            <p:cNvPr id="23600" name="Text Box 66"/>
            <p:cNvSpPr txBox="1">
              <a:spLocks noChangeArrowheads="1"/>
            </p:cNvSpPr>
            <p:nvPr/>
          </p:nvSpPr>
          <p:spPr bwMode="auto">
            <a:xfrm>
              <a:off x="3709" y="3227"/>
              <a:ext cx="41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/>
                <a:t>2m</a:t>
              </a:r>
            </a:p>
          </p:txBody>
        </p:sp>
        <p:sp>
          <p:nvSpPr>
            <p:cNvPr id="23601" name="Arc 67"/>
            <p:cNvSpPr>
              <a:spLocks/>
            </p:cNvSpPr>
            <p:nvPr/>
          </p:nvSpPr>
          <p:spPr bwMode="auto">
            <a:xfrm flipV="1">
              <a:off x="3805" y="2837"/>
              <a:ext cx="372" cy="31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endParaRPr lang="zh-CN" altLang="zh-CN">
                <a:solidFill>
                  <a:srgbClr val="00FFFF"/>
                </a:solidFill>
              </a:endParaRPr>
            </a:p>
          </p:txBody>
        </p:sp>
        <p:sp>
          <p:nvSpPr>
            <p:cNvPr id="23602" name="Line 68"/>
            <p:cNvSpPr>
              <a:spLocks noChangeShapeType="1"/>
            </p:cNvSpPr>
            <p:nvPr/>
          </p:nvSpPr>
          <p:spPr bwMode="auto">
            <a:xfrm flipV="1">
              <a:off x="1501" y="2353"/>
              <a:ext cx="1041" cy="5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03" name="Arc 69"/>
            <p:cNvSpPr>
              <a:spLocks/>
            </p:cNvSpPr>
            <p:nvPr/>
          </p:nvSpPr>
          <p:spPr bwMode="auto">
            <a:xfrm rot="2255586">
              <a:off x="1831" y="2722"/>
              <a:ext cx="151" cy="14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sq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604" name="Text Box 70"/>
            <p:cNvSpPr txBox="1">
              <a:spLocks noChangeArrowheads="1"/>
            </p:cNvSpPr>
            <p:nvPr/>
          </p:nvSpPr>
          <p:spPr bwMode="auto">
            <a:xfrm>
              <a:off x="3312" y="2064"/>
              <a:ext cx="44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/>
                <a:t>60°</a:t>
              </a:r>
            </a:p>
          </p:txBody>
        </p:sp>
        <p:sp>
          <p:nvSpPr>
            <p:cNvPr id="23605" name="Rectangle 71"/>
            <p:cNvSpPr>
              <a:spLocks noChangeArrowheads="1"/>
            </p:cNvSpPr>
            <p:nvPr/>
          </p:nvSpPr>
          <p:spPr bwMode="auto">
            <a:xfrm rot="9440">
              <a:off x="1405" y="2873"/>
              <a:ext cx="1167" cy="48"/>
            </a:xfrm>
            <a:prstGeom prst="rect">
              <a:avLst/>
            </a:prstGeom>
            <a:solidFill>
              <a:srgbClr val="B2B2B2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6" name="Text Box 4"/>
          <p:cNvSpPr txBox="1">
            <a:spLocks noChangeArrowheads="1"/>
          </p:cNvSpPr>
          <p:nvPr/>
        </p:nvSpPr>
        <p:spPr bwMode="auto">
          <a:xfrm>
            <a:off x="772319" y="189441"/>
            <a:ext cx="6192837" cy="59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zh-CN" altLang="en-US" b="1" dirty="0">
                <a:solidFill>
                  <a:srgbClr val="0000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解：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先取</a:t>
            </a:r>
            <a:r>
              <a:rPr lang="en-US" altLang="zh-CN" i="1" dirty="0">
                <a:latin typeface="+mn-lt"/>
                <a:ea typeface="楷体" panose="02010609060101010101" pitchFamily="49" charset="-122"/>
              </a:rPr>
              <a:t>BC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为研究对象，受力分析如图。</a:t>
            </a:r>
          </a:p>
        </p:txBody>
      </p:sp>
      <p:grpSp>
        <p:nvGrpSpPr>
          <p:cNvPr id="14347" name="Group 30"/>
          <p:cNvGrpSpPr>
            <a:grpSpLocks/>
          </p:cNvGrpSpPr>
          <p:nvPr/>
        </p:nvGrpSpPr>
        <p:grpSpPr bwMode="auto">
          <a:xfrm>
            <a:off x="863107" y="723479"/>
            <a:ext cx="3579813" cy="1990725"/>
            <a:chOff x="345" y="2580"/>
            <a:chExt cx="2255" cy="1254"/>
          </a:xfrm>
        </p:grpSpPr>
        <p:sp>
          <p:nvSpPr>
            <p:cNvPr id="14384" name="Line 31"/>
            <p:cNvSpPr>
              <a:spLocks noChangeShapeType="1"/>
            </p:cNvSpPr>
            <p:nvPr/>
          </p:nvSpPr>
          <p:spPr bwMode="auto">
            <a:xfrm>
              <a:off x="2032" y="3168"/>
              <a:ext cx="0" cy="6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85" name="Line 32"/>
            <p:cNvSpPr>
              <a:spLocks noChangeShapeType="1"/>
            </p:cNvSpPr>
            <p:nvPr/>
          </p:nvSpPr>
          <p:spPr bwMode="auto">
            <a:xfrm rot="3184937" flipH="1" flipV="1">
              <a:off x="672" y="2764"/>
              <a:ext cx="375" cy="279"/>
            </a:xfrm>
            <a:prstGeom prst="line">
              <a:avLst/>
            </a:prstGeom>
            <a:noFill/>
            <a:ln w="38100" cap="sq">
              <a:solidFill>
                <a:srgbClr val="FF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86" name="Arc 33"/>
            <p:cNvSpPr>
              <a:spLocks/>
            </p:cNvSpPr>
            <p:nvPr/>
          </p:nvSpPr>
          <p:spPr bwMode="auto">
            <a:xfrm rot="2255586">
              <a:off x="1535" y="2949"/>
              <a:ext cx="151" cy="14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sq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387" name="Text Box 34"/>
            <p:cNvSpPr txBox="1">
              <a:spLocks noChangeArrowheads="1"/>
            </p:cNvSpPr>
            <p:nvPr/>
          </p:nvSpPr>
          <p:spPr bwMode="auto">
            <a:xfrm>
              <a:off x="881" y="3112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i="1">
                  <a:ea typeface="黑体" panose="02010609060101010101" pitchFamily="49" charset="-122"/>
                </a:rPr>
                <a:t>B</a:t>
              </a:r>
            </a:p>
          </p:txBody>
        </p:sp>
        <p:sp>
          <p:nvSpPr>
            <p:cNvPr id="14388" name="Line 35"/>
            <p:cNvSpPr>
              <a:spLocks noChangeShapeType="1"/>
            </p:cNvSpPr>
            <p:nvPr/>
          </p:nvSpPr>
          <p:spPr bwMode="auto">
            <a:xfrm flipV="1">
              <a:off x="410" y="3149"/>
              <a:ext cx="428" cy="1"/>
            </a:xfrm>
            <a:prstGeom prst="line">
              <a:avLst/>
            </a:prstGeom>
            <a:noFill/>
            <a:ln w="38100" cap="sq">
              <a:solidFill>
                <a:srgbClr val="FF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89" name="Text Box 36"/>
            <p:cNvSpPr txBox="1">
              <a:spLocks noChangeArrowheads="1"/>
            </p:cNvSpPr>
            <p:nvPr/>
          </p:nvSpPr>
          <p:spPr bwMode="auto">
            <a:xfrm>
              <a:off x="2256" y="2880"/>
              <a:ext cx="3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i="1">
                  <a:solidFill>
                    <a:srgbClr val="FF3300"/>
                  </a:solidFill>
                  <a:ea typeface="黑体" panose="02010609060101010101" pitchFamily="49" charset="-122"/>
                </a:rPr>
                <a:t>F</a:t>
              </a:r>
              <a:r>
                <a:rPr lang="en-US" altLang="zh-CN" sz="2000" b="1" i="1" baseline="-25000">
                  <a:solidFill>
                    <a:srgbClr val="FF3300"/>
                  </a:solidFill>
                  <a:ea typeface="黑体" panose="02010609060101010101" pitchFamily="49" charset="-122"/>
                </a:rPr>
                <a:t>Cx</a:t>
              </a:r>
            </a:p>
          </p:txBody>
        </p:sp>
        <p:sp>
          <p:nvSpPr>
            <p:cNvPr id="14390" name="Text Box 37"/>
            <p:cNvSpPr txBox="1">
              <a:spLocks noChangeArrowheads="1"/>
            </p:cNvSpPr>
            <p:nvPr/>
          </p:nvSpPr>
          <p:spPr bwMode="auto">
            <a:xfrm>
              <a:off x="1433" y="3174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i="1">
                  <a:ea typeface="黑体" panose="02010609060101010101" pitchFamily="49" charset="-122"/>
                </a:rPr>
                <a:t>E</a:t>
              </a:r>
            </a:p>
          </p:txBody>
        </p:sp>
        <p:sp>
          <p:nvSpPr>
            <p:cNvPr id="14391" name="Text Box 38"/>
            <p:cNvSpPr txBox="1">
              <a:spLocks noChangeArrowheads="1"/>
            </p:cNvSpPr>
            <p:nvPr/>
          </p:nvSpPr>
          <p:spPr bwMode="auto">
            <a:xfrm>
              <a:off x="1968" y="2880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i="1">
                  <a:ea typeface="黑体" panose="02010609060101010101" pitchFamily="49" charset="-122"/>
                </a:rPr>
                <a:t>C</a:t>
              </a:r>
            </a:p>
          </p:txBody>
        </p:sp>
        <p:sp>
          <p:nvSpPr>
            <p:cNvPr id="14392" name="Line 39"/>
            <p:cNvSpPr>
              <a:spLocks noChangeShapeType="1"/>
            </p:cNvSpPr>
            <p:nvPr/>
          </p:nvSpPr>
          <p:spPr bwMode="auto">
            <a:xfrm flipV="1">
              <a:off x="2029" y="3204"/>
              <a:ext cx="0" cy="394"/>
            </a:xfrm>
            <a:prstGeom prst="line">
              <a:avLst/>
            </a:prstGeom>
            <a:noFill/>
            <a:ln w="38100" cap="sq">
              <a:solidFill>
                <a:srgbClr val="FF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93" name="Line 40"/>
            <p:cNvSpPr>
              <a:spLocks noChangeShapeType="1"/>
            </p:cNvSpPr>
            <p:nvPr/>
          </p:nvSpPr>
          <p:spPr bwMode="auto">
            <a:xfrm flipH="1">
              <a:off x="1442" y="2707"/>
              <a:ext cx="260" cy="41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41" name="Text Box 41"/>
            <p:cNvSpPr txBox="1">
              <a:spLocks noChangeArrowheads="1"/>
            </p:cNvSpPr>
            <p:nvPr/>
          </p:nvSpPr>
          <p:spPr bwMode="auto">
            <a:xfrm>
              <a:off x="1396" y="2580"/>
              <a:ext cx="30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 i="1" dirty="0"/>
                <a:t>F</a:t>
              </a:r>
            </a:p>
          </p:txBody>
        </p:sp>
        <p:sp>
          <p:nvSpPr>
            <p:cNvPr id="14395" name="Rectangle 42"/>
            <p:cNvSpPr>
              <a:spLocks noChangeArrowheads="1"/>
            </p:cNvSpPr>
            <p:nvPr/>
          </p:nvSpPr>
          <p:spPr bwMode="auto">
            <a:xfrm rot="9440">
              <a:off x="842" y="3122"/>
              <a:ext cx="1167" cy="48"/>
            </a:xfrm>
            <a:prstGeom prst="rect">
              <a:avLst/>
            </a:prstGeom>
            <a:solidFill>
              <a:srgbClr val="B2B2B2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396" name="Line 43"/>
            <p:cNvSpPr>
              <a:spLocks noChangeShapeType="1"/>
            </p:cNvSpPr>
            <p:nvPr/>
          </p:nvSpPr>
          <p:spPr bwMode="auto">
            <a:xfrm>
              <a:off x="1438" y="3175"/>
              <a:ext cx="0" cy="6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97" name="Line 44"/>
            <p:cNvSpPr>
              <a:spLocks noChangeShapeType="1"/>
            </p:cNvSpPr>
            <p:nvPr/>
          </p:nvSpPr>
          <p:spPr bwMode="auto">
            <a:xfrm>
              <a:off x="859" y="3173"/>
              <a:ext cx="0" cy="6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98" name="Oval 45"/>
            <p:cNvSpPr>
              <a:spLocks noChangeArrowheads="1"/>
            </p:cNvSpPr>
            <p:nvPr/>
          </p:nvSpPr>
          <p:spPr bwMode="auto">
            <a:xfrm>
              <a:off x="823" y="3113"/>
              <a:ext cx="75" cy="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399" name="Oval 46"/>
            <p:cNvSpPr>
              <a:spLocks noChangeArrowheads="1"/>
            </p:cNvSpPr>
            <p:nvPr/>
          </p:nvSpPr>
          <p:spPr bwMode="auto">
            <a:xfrm>
              <a:off x="1984" y="3122"/>
              <a:ext cx="75" cy="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400" name="Line 47"/>
            <p:cNvSpPr>
              <a:spLocks noChangeShapeType="1"/>
            </p:cNvSpPr>
            <p:nvPr/>
          </p:nvSpPr>
          <p:spPr bwMode="auto">
            <a:xfrm>
              <a:off x="866" y="3677"/>
              <a:ext cx="1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01" name="Text Box 48"/>
            <p:cNvSpPr txBox="1">
              <a:spLocks noChangeArrowheads="1"/>
            </p:cNvSpPr>
            <p:nvPr/>
          </p:nvSpPr>
          <p:spPr bwMode="auto">
            <a:xfrm>
              <a:off x="937" y="3448"/>
              <a:ext cx="41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/>
                <a:t>2m</a:t>
              </a:r>
            </a:p>
          </p:txBody>
        </p:sp>
        <p:sp>
          <p:nvSpPr>
            <p:cNvPr id="14402" name="Text Box 49"/>
            <p:cNvSpPr txBox="1">
              <a:spLocks noChangeArrowheads="1"/>
            </p:cNvSpPr>
            <p:nvPr/>
          </p:nvSpPr>
          <p:spPr bwMode="auto">
            <a:xfrm>
              <a:off x="1521" y="3466"/>
              <a:ext cx="41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/>
                <a:t>2m</a:t>
              </a:r>
            </a:p>
          </p:txBody>
        </p:sp>
        <p:sp>
          <p:nvSpPr>
            <p:cNvPr id="14403" name="Line 50"/>
            <p:cNvSpPr>
              <a:spLocks noChangeShapeType="1"/>
            </p:cNvSpPr>
            <p:nvPr/>
          </p:nvSpPr>
          <p:spPr bwMode="auto">
            <a:xfrm flipH="1">
              <a:off x="2049" y="3154"/>
              <a:ext cx="428" cy="1"/>
            </a:xfrm>
            <a:prstGeom prst="line">
              <a:avLst/>
            </a:prstGeom>
            <a:noFill/>
            <a:ln w="38100" cap="sq">
              <a:solidFill>
                <a:srgbClr val="FF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04" name="Text Box 51"/>
            <p:cNvSpPr txBox="1">
              <a:spLocks noChangeArrowheads="1"/>
            </p:cNvSpPr>
            <p:nvPr/>
          </p:nvSpPr>
          <p:spPr bwMode="auto">
            <a:xfrm>
              <a:off x="506" y="2608"/>
              <a:ext cx="3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i="1">
                  <a:solidFill>
                    <a:srgbClr val="FF3300"/>
                  </a:solidFill>
                  <a:ea typeface="黑体" panose="02010609060101010101" pitchFamily="49" charset="-122"/>
                </a:rPr>
                <a:t>F</a:t>
              </a:r>
              <a:r>
                <a:rPr lang="en-US" altLang="zh-CN" sz="2000" b="1" i="1" baseline="-25000">
                  <a:solidFill>
                    <a:srgbClr val="FF3300"/>
                  </a:solidFill>
                  <a:ea typeface="黑体" panose="02010609060101010101" pitchFamily="49" charset="-122"/>
                </a:rPr>
                <a:t>By</a:t>
              </a:r>
            </a:p>
          </p:txBody>
        </p:sp>
        <p:sp>
          <p:nvSpPr>
            <p:cNvPr id="14405" name="Text Box 52"/>
            <p:cNvSpPr txBox="1">
              <a:spLocks noChangeArrowheads="1"/>
            </p:cNvSpPr>
            <p:nvPr/>
          </p:nvSpPr>
          <p:spPr bwMode="auto">
            <a:xfrm>
              <a:off x="345" y="3153"/>
              <a:ext cx="34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i="1" dirty="0" err="1">
                  <a:solidFill>
                    <a:srgbClr val="FF3300"/>
                  </a:solidFill>
                  <a:ea typeface="黑体" panose="02010609060101010101" pitchFamily="49" charset="-122"/>
                </a:rPr>
                <a:t>F</a:t>
              </a:r>
              <a:r>
                <a:rPr lang="en-US" altLang="zh-CN" sz="2000" b="1" i="1" baseline="-25000" dirty="0" err="1">
                  <a:solidFill>
                    <a:srgbClr val="FF3300"/>
                  </a:solidFill>
                  <a:ea typeface="黑体" panose="02010609060101010101" pitchFamily="49" charset="-122"/>
                </a:rPr>
                <a:t>Bx</a:t>
              </a:r>
              <a:endParaRPr lang="en-US" altLang="zh-CN" sz="2000" b="1" i="1" baseline="-25000" dirty="0">
                <a:solidFill>
                  <a:srgbClr val="FF33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14406" name="Text Box 53"/>
            <p:cNvSpPr txBox="1">
              <a:spLocks noChangeArrowheads="1"/>
            </p:cNvSpPr>
            <p:nvPr/>
          </p:nvSpPr>
          <p:spPr bwMode="auto">
            <a:xfrm>
              <a:off x="2064" y="3408"/>
              <a:ext cx="33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i="1">
                  <a:solidFill>
                    <a:srgbClr val="FF3300"/>
                  </a:solidFill>
                  <a:ea typeface="黑体" panose="02010609060101010101" pitchFamily="49" charset="-122"/>
                </a:rPr>
                <a:t>F</a:t>
              </a:r>
              <a:r>
                <a:rPr lang="en-US" altLang="zh-CN" sz="2000" b="1" i="1" baseline="-25000">
                  <a:solidFill>
                    <a:srgbClr val="FF3300"/>
                  </a:solidFill>
                  <a:ea typeface="黑体" panose="02010609060101010101" pitchFamily="49" charset="-122"/>
                </a:rPr>
                <a:t>Cy</a:t>
              </a:r>
            </a:p>
          </p:txBody>
        </p:sp>
        <p:sp>
          <p:nvSpPr>
            <p:cNvPr id="14407" name="Text Box 54"/>
            <p:cNvSpPr txBox="1">
              <a:spLocks noChangeArrowheads="1"/>
            </p:cNvSpPr>
            <p:nvPr/>
          </p:nvSpPr>
          <p:spPr bwMode="auto">
            <a:xfrm>
              <a:off x="1632" y="2832"/>
              <a:ext cx="44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/>
                <a:t>60°</a:t>
              </a:r>
            </a:p>
          </p:txBody>
        </p:sp>
      </p:grpSp>
      <p:graphicFrame>
        <p:nvGraphicFramePr>
          <p:cNvPr id="51255" name="Object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0701893"/>
              </p:ext>
            </p:extLst>
          </p:nvPr>
        </p:nvGraphicFramePr>
        <p:xfrm>
          <a:off x="4910137" y="738651"/>
          <a:ext cx="1843088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2" name="Equation" r:id="rId3" imgW="927000" imgH="253800" progId="Equation.3">
                  <p:embed/>
                </p:oleObj>
              </mc:Choice>
              <mc:Fallback>
                <p:oleObj name="Equation" r:id="rId3" imgW="927000" imgH="253800" progId="Equation.3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0137" y="738651"/>
                        <a:ext cx="1843088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56" name="Object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5031179"/>
              </p:ext>
            </p:extLst>
          </p:nvPr>
        </p:nvGraphicFramePr>
        <p:xfrm>
          <a:off x="4700108" y="1258985"/>
          <a:ext cx="3178175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3" name="Equation" r:id="rId5" imgW="1549080" imgH="241200" progId="Equation.3">
                  <p:embed/>
                </p:oleObj>
              </mc:Choice>
              <mc:Fallback>
                <p:oleObj name="Equation" r:id="rId5" imgW="1549080" imgH="241200" progId="Equation.3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0108" y="1258985"/>
                        <a:ext cx="3178175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57" name="Text Box 57"/>
          <p:cNvSpPr txBox="1">
            <a:spLocks noChangeArrowheads="1"/>
          </p:cNvSpPr>
          <p:nvPr/>
        </p:nvSpPr>
        <p:spPr bwMode="auto">
          <a:xfrm>
            <a:off x="4982300" y="1733284"/>
            <a:ext cx="24209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zh-CN" i="1" dirty="0" err="1">
                <a:solidFill>
                  <a:srgbClr val="660066"/>
                </a:solidFill>
              </a:rPr>
              <a:t>F</a:t>
            </a:r>
            <a:r>
              <a:rPr lang="en-US" altLang="zh-CN" i="1" baseline="-25000" dirty="0" err="1">
                <a:solidFill>
                  <a:srgbClr val="660066"/>
                </a:solidFill>
              </a:rPr>
              <a:t>By</a:t>
            </a:r>
            <a:r>
              <a:rPr lang="en-US" altLang="zh-CN" b="1" i="1" baseline="-25000" dirty="0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b="1" dirty="0">
                <a:solidFill>
                  <a:srgbClr val="660066"/>
                </a:solidFill>
              </a:rPr>
              <a:t>= </a:t>
            </a:r>
            <a:r>
              <a:rPr lang="en-US" altLang="zh-CN" dirty="0">
                <a:solidFill>
                  <a:srgbClr val="660066"/>
                </a:solidFill>
              </a:rPr>
              <a:t>6.5kN</a:t>
            </a:r>
          </a:p>
        </p:txBody>
      </p:sp>
      <p:sp>
        <p:nvSpPr>
          <p:cNvPr id="51258" name="Text Box 58"/>
          <p:cNvSpPr txBox="1">
            <a:spLocks noChangeArrowheads="1"/>
          </p:cNvSpPr>
          <p:nvPr/>
        </p:nvSpPr>
        <p:spPr bwMode="auto">
          <a:xfrm>
            <a:off x="4330729" y="2168685"/>
            <a:ext cx="3786187" cy="590931"/>
          </a:xfrm>
          <a:prstGeom prst="rect">
            <a:avLst/>
          </a:prstGeom>
          <a:noFill/>
          <a:ln w="31750">
            <a:noFill/>
            <a:miter lim="800000"/>
            <a:headEnd/>
            <a:tailEnd type="none" w="sm" len="lg"/>
          </a:ln>
          <a:effectLst/>
        </p:spPr>
        <p:txBody>
          <a:bodyPr>
            <a:spAutoFit/>
          </a:bodyPr>
          <a:lstStyle/>
          <a:p>
            <a:pPr>
              <a:lnSpc>
                <a:spcPct val="135000"/>
              </a:lnSpc>
              <a:defRPr/>
            </a:pPr>
            <a:r>
              <a:rPr lang="en-US" altLang="zh-CN" dirty="0">
                <a:latin typeface="华文中宋" pitchFamily="2" charset="-122"/>
                <a:ea typeface="华文中宋" pitchFamily="2" charset="-122"/>
              </a:rPr>
              <a:t>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再取</a:t>
            </a:r>
            <a:r>
              <a:rPr lang="en-US" altLang="zh-CN" i="1" dirty="0">
                <a:latin typeface="+mj-lt"/>
                <a:ea typeface="楷体" panose="02010609060101010101" pitchFamily="49" charset="-122"/>
              </a:rPr>
              <a:t>BCD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为研究对象，</a:t>
            </a:r>
          </a:p>
        </p:txBody>
      </p:sp>
      <p:grpSp>
        <p:nvGrpSpPr>
          <p:cNvPr id="14350" name="Group 59"/>
          <p:cNvGrpSpPr>
            <a:grpSpLocks/>
          </p:cNvGrpSpPr>
          <p:nvPr/>
        </p:nvGrpSpPr>
        <p:grpSpPr bwMode="auto">
          <a:xfrm>
            <a:off x="887979" y="2818640"/>
            <a:ext cx="3836818" cy="3002622"/>
            <a:chOff x="262" y="1818"/>
            <a:chExt cx="2512" cy="2016"/>
          </a:xfrm>
        </p:grpSpPr>
        <p:sp>
          <p:nvSpPr>
            <p:cNvPr id="14354" name="Line 60"/>
            <p:cNvSpPr>
              <a:spLocks noChangeShapeType="1"/>
            </p:cNvSpPr>
            <p:nvPr/>
          </p:nvSpPr>
          <p:spPr bwMode="auto">
            <a:xfrm rot="3184937" flipH="1" flipV="1">
              <a:off x="598" y="1983"/>
              <a:ext cx="375" cy="279"/>
            </a:xfrm>
            <a:prstGeom prst="line">
              <a:avLst/>
            </a:prstGeom>
            <a:noFill/>
            <a:ln w="38100" cap="sq">
              <a:solidFill>
                <a:srgbClr val="FF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55" name="Arc 61"/>
            <p:cNvSpPr>
              <a:spLocks/>
            </p:cNvSpPr>
            <p:nvPr/>
          </p:nvSpPr>
          <p:spPr bwMode="auto">
            <a:xfrm rot="2255586">
              <a:off x="1461" y="2168"/>
              <a:ext cx="151" cy="14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sq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356" name="Text Box 62"/>
            <p:cNvSpPr txBox="1">
              <a:spLocks noChangeArrowheads="1"/>
            </p:cNvSpPr>
            <p:nvPr/>
          </p:nvSpPr>
          <p:spPr bwMode="auto">
            <a:xfrm>
              <a:off x="2246" y="2612"/>
              <a:ext cx="270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i="1" dirty="0">
                  <a:ea typeface="黑体" panose="02010609060101010101" pitchFamily="49" charset="-122"/>
                </a:rPr>
                <a:t>M</a:t>
              </a:r>
            </a:p>
          </p:txBody>
        </p:sp>
        <p:sp>
          <p:nvSpPr>
            <p:cNvPr id="14357" name="Text Box 63"/>
            <p:cNvSpPr txBox="1">
              <a:spLocks noChangeArrowheads="1"/>
            </p:cNvSpPr>
            <p:nvPr/>
          </p:nvSpPr>
          <p:spPr bwMode="auto">
            <a:xfrm>
              <a:off x="803" y="2323"/>
              <a:ext cx="232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i="1">
                  <a:ea typeface="黑体" panose="02010609060101010101" pitchFamily="49" charset="-122"/>
                </a:rPr>
                <a:t>B</a:t>
              </a:r>
            </a:p>
          </p:txBody>
        </p:sp>
        <p:sp>
          <p:nvSpPr>
            <p:cNvPr id="14358" name="Line 64"/>
            <p:cNvSpPr>
              <a:spLocks noChangeShapeType="1"/>
            </p:cNvSpPr>
            <p:nvPr/>
          </p:nvSpPr>
          <p:spPr bwMode="auto">
            <a:xfrm flipV="1">
              <a:off x="336" y="2368"/>
              <a:ext cx="428" cy="1"/>
            </a:xfrm>
            <a:prstGeom prst="line">
              <a:avLst/>
            </a:prstGeom>
            <a:noFill/>
            <a:ln w="38100" cap="sq">
              <a:solidFill>
                <a:srgbClr val="FF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59" name="Text Box 65"/>
            <p:cNvSpPr txBox="1">
              <a:spLocks noChangeArrowheads="1"/>
            </p:cNvSpPr>
            <p:nvPr/>
          </p:nvSpPr>
          <p:spPr bwMode="auto">
            <a:xfrm>
              <a:off x="1916" y="3451"/>
              <a:ext cx="381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i="1" dirty="0" err="1">
                  <a:solidFill>
                    <a:srgbClr val="FF3300"/>
                  </a:solidFill>
                  <a:ea typeface="黑体" panose="02010609060101010101" pitchFamily="49" charset="-122"/>
                </a:rPr>
                <a:t>F</a:t>
              </a:r>
              <a:r>
                <a:rPr lang="en-US" altLang="zh-CN" sz="2000" b="1" i="1" baseline="-25000" dirty="0" err="1">
                  <a:solidFill>
                    <a:srgbClr val="FF3300"/>
                  </a:solidFill>
                  <a:ea typeface="黑体" panose="02010609060101010101" pitchFamily="49" charset="-122"/>
                </a:rPr>
                <a:t>D</a:t>
              </a:r>
              <a:r>
                <a:rPr lang="en-US" altLang="zh-CN" b="1" i="1" baseline="-25000" dirty="0" err="1">
                  <a:solidFill>
                    <a:srgbClr val="FF3300"/>
                  </a:solidFill>
                  <a:ea typeface="黑体" panose="02010609060101010101" pitchFamily="49" charset="-122"/>
                </a:rPr>
                <a:t>x</a:t>
              </a:r>
              <a:endParaRPr lang="en-US" altLang="zh-CN" b="1" i="1" baseline="-25000" dirty="0">
                <a:solidFill>
                  <a:srgbClr val="FF33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14360" name="Text Box 66"/>
            <p:cNvSpPr txBox="1">
              <a:spLocks noChangeArrowheads="1"/>
            </p:cNvSpPr>
            <p:nvPr/>
          </p:nvSpPr>
          <p:spPr bwMode="auto">
            <a:xfrm>
              <a:off x="1355" y="2385"/>
              <a:ext cx="232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i="1">
                  <a:ea typeface="黑体" panose="02010609060101010101" pitchFamily="49" charset="-122"/>
                </a:rPr>
                <a:t>E</a:t>
              </a:r>
            </a:p>
          </p:txBody>
        </p:sp>
        <p:sp>
          <p:nvSpPr>
            <p:cNvPr id="14361" name="Text Box 67"/>
            <p:cNvSpPr txBox="1">
              <a:spLocks noChangeArrowheads="1"/>
            </p:cNvSpPr>
            <p:nvPr/>
          </p:nvSpPr>
          <p:spPr bwMode="auto">
            <a:xfrm>
              <a:off x="2473" y="3211"/>
              <a:ext cx="241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i="1">
                  <a:ea typeface="黑体" panose="02010609060101010101" pitchFamily="49" charset="-122"/>
                </a:rPr>
                <a:t>D</a:t>
              </a:r>
            </a:p>
          </p:txBody>
        </p:sp>
        <p:sp>
          <p:nvSpPr>
            <p:cNvPr id="14362" name="Text Box 68"/>
            <p:cNvSpPr txBox="1">
              <a:spLocks noChangeArrowheads="1"/>
            </p:cNvSpPr>
            <p:nvPr/>
          </p:nvSpPr>
          <p:spPr bwMode="auto">
            <a:xfrm>
              <a:off x="1866" y="2088"/>
              <a:ext cx="231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i="1">
                  <a:ea typeface="黑体" panose="02010609060101010101" pitchFamily="49" charset="-122"/>
                </a:rPr>
                <a:t>C</a:t>
              </a:r>
            </a:p>
          </p:txBody>
        </p:sp>
        <p:sp>
          <p:nvSpPr>
            <p:cNvPr id="14363" name="Line 69"/>
            <p:cNvSpPr>
              <a:spLocks noChangeShapeType="1"/>
            </p:cNvSpPr>
            <p:nvPr/>
          </p:nvSpPr>
          <p:spPr bwMode="auto">
            <a:xfrm flipV="1">
              <a:off x="2430" y="3440"/>
              <a:ext cx="0" cy="394"/>
            </a:xfrm>
            <a:prstGeom prst="line">
              <a:avLst/>
            </a:prstGeom>
            <a:noFill/>
            <a:ln w="38100" cap="sq">
              <a:solidFill>
                <a:srgbClr val="FF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4" name="Line 70"/>
            <p:cNvSpPr>
              <a:spLocks noChangeShapeType="1"/>
            </p:cNvSpPr>
            <p:nvPr/>
          </p:nvSpPr>
          <p:spPr bwMode="auto">
            <a:xfrm flipH="1">
              <a:off x="1368" y="1926"/>
              <a:ext cx="260" cy="41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271" name="Text Box 71"/>
            <p:cNvSpPr txBox="1">
              <a:spLocks noChangeArrowheads="1"/>
            </p:cNvSpPr>
            <p:nvPr/>
          </p:nvSpPr>
          <p:spPr bwMode="auto">
            <a:xfrm>
              <a:off x="1308" y="1821"/>
              <a:ext cx="306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 b="1" i="1" dirty="0"/>
                <a:t>F</a:t>
              </a:r>
            </a:p>
          </p:txBody>
        </p:sp>
        <p:sp>
          <p:nvSpPr>
            <p:cNvPr id="14366" name="Rectangle 72"/>
            <p:cNvSpPr>
              <a:spLocks noChangeArrowheads="1"/>
            </p:cNvSpPr>
            <p:nvPr/>
          </p:nvSpPr>
          <p:spPr bwMode="auto">
            <a:xfrm rot="9440">
              <a:off x="768" y="2341"/>
              <a:ext cx="1167" cy="48"/>
            </a:xfrm>
            <a:prstGeom prst="rect">
              <a:avLst/>
            </a:prstGeom>
            <a:solidFill>
              <a:srgbClr val="B2B2B2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367" name="Rectangle 73"/>
            <p:cNvSpPr>
              <a:spLocks noChangeArrowheads="1"/>
            </p:cNvSpPr>
            <p:nvPr/>
          </p:nvSpPr>
          <p:spPr bwMode="auto">
            <a:xfrm rot="3987046">
              <a:off x="1603" y="2898"/>
              <a:ext cx="1167" cy="48"/>
            </a:xfrm>
            <a:prstGeom prst="rect">
              <a:avLst/>
            </a:prstGeom>
            <a:solidFill>
              <a:srgbClr val="B2B2B2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368" name="Line 74"/>
            <p:cNvSpPr>
              <a:spLocks noChangeShapeType="1"/>
            </p:cNvSpPr>
            <p:nvPr/>
          </p:nvSpPr>
          <p:spPr bwMode="auto">
            <a:xfrm>
              <a:off x="1364" y="2394"/>
              <a:ext cx="0" cy="11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9" name="Line 75"/>
            <p:cNvSpPr>
              <a:spLocks noChangeShapeType="1"/>
            </p:cNvSpPr>
            <p:nvPr/>
          </p:nvSpPr>
          <p:spPr bwMode="auto">
            <a:xfrm>
              <a:off x="817" y="2392"/>
              <a:ext cx="0" cy="11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0" name="Line 76"/>
            <p:cNvSpPr>
              <a:spLocks noChangeShapeType="1"/>
            </p:cNvSpPr>
            <p:nvPr/>
          </p:nvSpPr>
          <p:spPr bwMode="auto">
            <a:xfrm>
              <a:off x="1930" y="2394"/>
              <a:ext cx="0" cy="11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1" name="Oval 77"/>
            <p:cNvSpPr>
              <a:spLocks noChangeArrowheads="1"/>
            </p:cNvSpPr>
            <p:nvPr/>
          </p:nvSpPr>
          <p:spPr bwMode="auto">
            <a:xfrm>
              <a:off x="749" y="2332"/>
              <a:ext cx="75" cy="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372" name="Oval 78"/>
            <p:cNvSpPr>
              <a:spLocks noChangeArrowheads="1"/>
            </p:cNvSpPr>
            <p:nvPr/>
          </p:nvSpPr>
          <p:spPr bwMode="auto">
            <a:xfrm>
              <a:off x="1910" y="2341"/>
              <a:ext cx="75" cy="7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373" name="Line 79"/>
            <p:cNvSpPr>
              <a:spLocks noChangeShapeType="1"/>
            </p:cNvSpPr>
            <p:nvPr/>
          </p:nvSpPr>
          <p:spPr bwMode="auto">
            <a:xfrm>
              <a:off x="829" y="3454"/>
              <a:ext cx="16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4" name="Text Box 80"/>
            <p:cNvSpPr txBox="1">
              <a:spLocks noChangeArrowheads="1"/>
            </p:cNvSpPr>
            <p:nvPr/>
          </p:nvSpPr>
          <p:spPr bwMode="auto">
            <a:xfrm>
              <a:off x="1603" y="2839"/>
              <a:ext cx="413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/>
                <a:t>4m</a:t>
              </a:r>
            </a:p>
          </p:txBody>
        </p:sp>
        <p:sp>
          <p:nvSpPr>
            <p:cNvPr id="14375" name="Text Box 81"/>
            <p:cNvSpPr txBox="1">
              <a:spLocks noChangeArrowheads="1"/>
            </p:cNvSpPr>
            <p:nvPr/>
          </p:nvSpPr>
          <p:spPr bwMode="auto">
            <a:xfrm>
              <a:off x="863" y="3224"/>
              <a:ext cx="413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/>
                <a:t>2m</a:t>
              </a:r>
            </a:p>
          </p:txBody>
        </p:sp>
        <p:sp>
          <p:nvSpPr>
            <p:cNvPr id="14376" name="Text Box 82"/>
            <p:cNvSpPr txBox="1">
              <a:spLocks noChangeArrowheads="1"/>
            </p:cNvSpPr>
            <p:nvPr/>
          </p:nvSpPr>
          <p:spPr bwMode="auto">
            <a:xfrm>
              <a:off x="1410" y="3205"/>
              <a:ext cx="413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/>
                <a:t>2m</a:t>
              </a:r>
            </a:p>
          </p:txBody>
        </p:sp>
        <p:sp>
          <p:nvSpPr>
            <p:cNvPr id="14377" name="Text Box 83"/>
            <p:cNvSpPr txBox="1">
              <a:spLocks noChangeArrowheads="1"/>
            </p:cNvSpPr>
            <p:nvPr/>
          </p:nvSpPr>
          <p:spPr bwMode="auto">
            <a:xfrm>
              <a:off x="1948" y="3233"/>
              <a:ext cx="413" cy="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/>
                <a:t>2m</a:t>
              </a:r>
            </a:p>
          </p:txBody>
        </p:sp>
        <p:sp>
          <p:nvSpPr>
            <p:cNvPr id="14378" name="Arc 84"/>
            <p:cNvSpPr>
              <a:spLocks/>
            </p:cNvSpPr>
            <p:nvPr/>
          </p:nvSpPr>
          <p:spPr bwMode="auto">
            <a:xfrm flipV="1">
              <a:off x="2044" y="2843"/>
              <a:ext cx="372" cy="31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492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endParaRPr lang="zh-CN" altLang="zh-CN">
                <a:solidFill>
                  <a:srgbClr val="00FFFF"/>
                </a:solidFill>
              </a:endParaRPr>
            </a:p>
          </p:txBody>
        </p:sp>
        <p:sp>
          <p:nvSpPr>
            <p:cNvPr id="14379" name="Line 85"/>
            <p:cNvSpPr>
              <a:spLocks noChangeShapeType="1"/>
            </p:cNvSpPr>
            <p:nvPr/>
          </p:nvSpPr>
          <p:spPr bwMode="auto">
            <a:xfrm flipH="1">
              <a:off x="1978" y="3461"/>
              <a:ext cx="428" cy="1"/>
            </a:xfrm>
            <a:prstGeom prst="line">
              <a:avLst/>
            </a:prstGeom>
            <a:noFill/>
            <a:ln w="38100" cap="sq">
              <a:solidFill>
                <a:srgbClr val="FF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80" name="Text Box 86"/>
            <p:cNvSpPr txBox="1">
              <a:spLocks noChangeArrowheads="1"/>
            </p:cNvSpPr>
            <p:nvPr/>
          </p:nvSpPr>
          <p:spPr bwMode="auto">
            <a:xfrm>
              <a:off x="423" y="1818"/>
              <a:ext cx="35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i="1" dirty="0" err="1">
                  <a:solidFill>
                    <a:srgbClr val="FF3300"/>
                  </a:solidFill>
                  <a:ea typeface="黑体" panose="02010609060101010101" pitchFamily="49" charset="-122"/>
                </a:rPr>
                <a:t>F</a:t>
              </a:r>
              <a:r>
                <a:rPr lang="en-US" altLang="zh-CN" sz="2000" b="1" i="1" baseline="-25000" dirty="0" err="1">
                  <a:solidFill>
                    <a:srgbClr val="FF3300"/>
                  </a:solidFill>
                  <a:ea typeface="黑体" panose="02010609060101010101" pitchFamily="49" charset="-122"/>
                </a:rPr>
                <a:t>By</a:t>
              </a:r>
              <a:endParaRPr lang="en-US" altLang="zh-CN" sz="2000" b="1" i="1" baseline="-25000" dirty="0">
                <a:solidFill>
                  <a:srgbClr val="FF33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14381" name="Text Box 87"/>
            <p:cNvSpPr txBox="1">
              <a:spLocks noChangeArrowheads="1"/>
            </p:cNvSpPr>
            <p:nvPr/>
          </p:nvSpPr>
          <p:spPr bwMode="auto">
            <a:xfrm>
              <a:off x="262" y="2363"/>
              <a:ext cx="36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i="1" dirty="0" err="1">
                  <a:solidFill>
                    <a:srgbClr val="FF3300"/>
                  </a:solidFill>
                  <a:ea typeface="黑体" panose="02010609060101010101" pitchFamily="49" charset="-122"/>
                </a:rPr>
                <a:t>F</a:t>
              </a:r>
              <a:r>
                <a:rPr lang="en-US" altLang="zh-CN" sz="2000" b="1" i="1" baseline="-25000" dirty="0" err="1">
                  <a:solidFill>
                    <a:srgbClr val="FF3300"/>
                  </a:solidFill>
                  <a:ea typeface="黑体" panose="02010609060101010101" pitchFamily="49" charset="-122"/>
                </a:rPr>
                <a:t>Bx</a:t>
              </a:r>
              <a:endParaRPr lang="en-US" altLang="zh-CN" sz="2000" b="1" i="1" baseline="-25000" dirty="0">
                <a:solidFill>
                  <a:srgbClr val="FF33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14382" name="Text Box 88"/>
            <p:cNvSpPr txBox="1">
              <a:spLocks noChangeArrowheads="1"/>
            </p:cNvSpPr>
            <p:nvPr/>
          </p:nvSpPr>
          <p:spPr bwMode="auto">
            <a:xfrm>
              <a:off x="2411" y="3559"/>
              <a:ext cx="363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 cap="sq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b="1" i="1" dirty="0" err="1">
                  <a:solidFill>
                    <a:srgbClr val="FF3300"/>
                  </a:solidFill>
                  <a:ea typeface="黑体" panose="02010609060101010101" pitchFamily="49" charset="-122"/>
                </a:rPr>
                <a:t>F</a:t>
              </a:r>
              <a:r>
                <a:rPr lang="en-US" altLang="zh-CN" sz="2000" b="1" i="1" baseline="-25000" dirty="0" err="1">
                  <a:solidFill>
                    <a:srgbClr val="FF3300"/>
                  </a:solidFill>
                  <a:ea typeface="黑体" panose="02010609060101010101" pitchFamily="49" charset="-122"/>
                </a:rPr>
                <a:t>Dy</a:t>
              </a:r>
              <a:endParaRPr lang="en-US" altLang="zh-CN" sz="2000" b="1" i="1" baseline="-25000" dirty="0">
                <a:solidFill>
                  <a:srgbClr val="FF3300"/>
                </a:solidFill>
                <a:ea typeface="黑体" panose="02010609060101010101" pitchFamily="49" charset="-122"/>
              </a:endParaRPr>
            </a:p>
          </p:txBody>
        </p:sp>
        <p:sp>
          <p:nvSpPr>
            <p:cNvPr id="14383" name="Text Box 89"/>
            <p:cNvSpPr txBox="1">
              <a:spLocks noChangeArrowheads="1"/>
            </p:cNvSpPr>
            <p:nvPr/>
          </p:nvSpPr>
          <p:spPr bwMode="auto">
            <a:xfrm>
              <a:off x="1532" y="2063"/>
              <a:ext cx="446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2000"/>
                <a:t>60</a:t>
              </a:r>
              <a:r>
                <a:rPr lang="en-US" altLang="zh-CN" sz="2000">
                  <a:sym typeface="Symbol" panose="05050102010706020507" pitchFamily="18" charset="2"/>
                </a:rPr>
                <a:t></a:t>
              </a:r>
            </a:p>
          </p:txBody>
        </p:sp>
      </p:grpSp>
      <p:graphicFrame>
        <p:nvGraphicFramePr>
          <p:cNvPr id="63" name="Object 9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1630245"/>
              </p:ext>
            </p:extLst>
          </p:nvPr>
        </p:nvGraphicFramePr>
        <p:xfrm>
          <a:off x="5547449" y="4153588"/>
          <a:ext cx="1290638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4" name="Equation" r:id="rId7" imgW="647640" imgH="253800" progId="Equation.3">
                  <p:embed/>
                </p:oleObj>
              </mc:Choice>
              <mc:Fallback>
                <p:oleObj name="Equation" r:id="rId7" imgW="647640" imgH="253800" progId="Equation.3">
                  <p:embed/>
                  <p:pic>
                    <p:nvPicPr>
                      <p:cNvPr id="0" name="Object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7449" y="4153588"/>
                        <a:ext cx="1290638" cy="49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9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6392041"/>
              </p:ext>
            </p:extLst>
          </p:nvPr>
        </p:nvGraphicFramePr>
        <p:xfrm>
          <a:off x="4897547" y="4636782"/>
          <a:ext cx="3300413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5" name="Equation" r:id="rId9" imgW="1523880" imgH="228600" progId="Equation.3">
                  <p:embed/>
                </p:oleObj>
              </mc:Choice>
              <mc:Fallback>
                <p:oleObj name="Equation" r:id="rId9" imgW="1523880" imgH="228600" progId="Equation.3">
                  <p:embed/>
                  <p:pic>
                    <p:nvPicPr>
                      <p:cNvPr id="0" name="Object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7547" y="4636782"/>
                        <a:ext cx="3300413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Object 9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7250389"/>
              </p:ext>
            </p:extLst>
          </p:nvPr>
        </p:nvGraphicFramePr>
        <p:xfrm>
          <a:off x="5645944" y="5092202"/>
          <a:ext cx="1319212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6" name="Equation" r:id="rId11" imgW="647640" imgH="253800" progId="Equation.3">
                  <p:embed/>
                </p:oleObj>
              </mc:Choice>
              <mc:Fallback>
                <p:oleObj name="Equation" r:id="rId11" imgW="647640" imgH="253800" progId="Equation.3">
                  <p:embed/>
                  <p:pic>
                    <p:nvPicPr>
                      <p:cNvPr id="0" name="Object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5944" y="5092202"/>
                        <a:ext cx="1319212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" name="Object 9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6899220"/>
              </p:ext>
            </p:extLst>
          </p:nvPr>
        </p:nvGraphicFramePr>
        <p:xfrm>
          <a:off x="4897547" y="5566844"/>
          <a:ext cx="3373437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7" name="Equation" r:id="rId13" imgW="1511280" imgH="241200" progId="Equation.3">
                  <p:embed/>
                </p:oleObj>
              </mc:Choice>
              <mc:Fallback>
                <p:oleObj name="Equation" r:id="rId13" imgW="1511280" imgH="241200" progId="Equation.3">
                  <p:embed/>
                  <p:pic>
                    <p:nvPicPr>
                      <p:cNvPr id="0" name="Object 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7547" y="5566844"/>
                        <a:ext cx="3373437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51" name="Text Box 39"/>
          <p:cNvSpPr txBox="1">
            <a:spLocks noChangeArrowheads="1"/>
          </p:cNvSpPr>
          <p:nvPr/>
        </p:nvSpPr>
        <p:spPr bwMode="auto">
          <a:xfrm>
            <a:off x="5850047" y="6026077"/>
            <a:ext cx="24209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i="1" dirty="0" err="1">
                <a:solidFill>
                  <a:srgbClr val="660066"/>
                </a:solidFill>
              </a:rPr>
              <a:t>F</a:t>
            </a:r>
            <a:r>
              <a:rPr lang="en-US" altLang="zh-CN" i="1" baseline="-25000" dirty="0" err="1">
                <a:solidFill>
                  <a:srgbClr val="660066"/>
                </a:solidFill>
              </a:rPr>
              <a:t>Dy</a:t>
            </a:r>
            <a:r>
              <a:rPr lang="en-US" altLang="zh-CN" i="1" baseline="-25000" dirty="0">
                <a:solidFill>
                  <a:srgbClr val="660066"/>
                </a:solidFill>
              </a:rPr>
              <a:t> </a:t>
            </a:r>
            <a:r>
              <a:rPr lang="en-US" altLang="zh-CN" b="1" dirty="0">
                <a:solidFill>
                  <a:srgbClr val="660066"/>
                </a:solidFill>
              </a:rPr>
              <a:t>=</a:t>
            </a:r>
            <a:r>
              <a:rPr lang="en-US" altLang="zh-CN" dirty="0">
                <a:solidFill>
                  <a:srgbClr val="660066"/>
                </a:solidFill>
              </a:rPr>
              <a:t> 6.5kN</a:t>
            </a:r>
          </a:p>
        </p:txBody>
      </p:sp>
      <p:sp>
        <p:nvSpPr>
          <p:cNvPr id="14352" name="Text Box 40"/>
          <p:cNvSpPr txBox="1">
            <a:spLocks noChangeArrowheads="1"/>
          </p:cNvSpPr>
          <p:nvPr/>
        </p:nvSpPr>
        <p:spPr bwMode="auto">
          <a:xfrm>
            <a:off x="3538039" y="6042515"/>
            <a:ext cx="24209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i="1" dirty="0" err="1">
                <a:solidFill>
                  <a:srgbClr val="660066"/>
                </a:solidFill>
              </a:rPr>
              <a:t>F</a:t>
            </a:r>
            <a:r>
              <a:rPr lang="en-US" altLang="zh-CN" i="1" baseline="-25000" dirty="0" err="1">
                <a:solidFill>
                  <a:srgbClr val="660066"/>
                </a:solidFill>
              </a:rPr>
              <a:t>Dx</a:t>
            </a:r>
            <a:r>
              <a:rPr lang="en-US" altLang="zh-CN" i="1" baseline="-25000" dirty="0">
                <a:solidFill>
                  <a:srgbClr val="660066"/>
                </a:solidFill>
              </a:rPr>
              <a:t> </a:t>
            </a:r>
            <a:r>
              <a:rPr lang="en-US" altLang="zh-CN" b="1" dirty="0">
                <a:solidFill>
                  <a:srgbClr val="660066"/>
                </a:solidFill>
              </a:rPr>
              <a:t>=</a:t>
            </a:r>
            <a:r>
              <a:rPr lang="en-US" altLang="zh-CN" dirty="0">
                <a:solidFill>
                  <a:srgbClr val="660066"/>
                </a:solidFill>
              </a:rPr>
              <a:t> 13.25kN</a:t>
            </a:r>
          </a:p>
        </p:txBody>
      </p:sp>
      <p:sp>
        <p:nvSpPr>
          <p:cNvPr id="69" name="Text Box 42"/>
          <p:cNvSpPr txBox="1">
            <a:spLocks noChangeArrowheads="1"/>
          </p:cNvSpPr>
          <p:nvPr/>
        </p:nvSpPr>
        <p:spPr bwMode="auto">
          <a:xfrm>
            <a:off x="1258399" y="6026077"/>
            <a:ext cx="24209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zh-CN" i="1" dirty="0" err="1">
                <a:solidFill>
                  <a:srgbClr val="660066"/>
                </a:solidFill>
              </a:rPr>
              <a:t>F</a:t>
            </a:r>
            <a:r>
              <a:rPr lang="en-US" altLang="zh-CN" i="1" baseline="-25000" dirty="0" err="1">
                <a:solidFill>
                  <a:srgbClr val="660066"/>
                </a:solidFill>
              </a:rPr>
              <a:t>Bx</a:t>
            </a:r>
            <a:r>
              <a:rPr lang="en-US" altLang="zh-CN" i="1" baseline="-25000" dirty="0">
                <a:solidFill>
                  <a:srgbClr val="660066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b="1" dirty="0">
                <a:solidFill>
                  <a:srgbClr val="660066"/>
                </a:solidFill>
              </a:rPr>
              <a:t>= </a:t>
            </a:r>
            <a:r>
              <a:rPr lang="en-US" altLang="zh-CN" dirty="0">
                <a:solidFill>
                  <a:srgbClr val="660066"/>
                </a:solidFill>
              </a:rPr>
              <a:t>20.75kN</a:t>
            </a:r>
          </a:p>
        </p:txBody>
      </p:sp>
      <p:graphicFrame>
        <p:nvGraphicFramePr>
          <p:cNvPr id="70" name="Object 9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8399388"/>
              </p:ext>
            </p:extLst>
          </p:nvPr>
        </p:nvGraphicFramePr>
        <p:xfrm>
          <a:off x="5203347" y="2685328"/>
          <a:ext cx="1790700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8" name="公式" r:id="rId15" imgW="901440" imgH="253800" progId="Equation.3">
                  <p:embed/>
                </p:oleObj>
              </mc:Choice>
              <mc:Fallback>
                <p:oleObj name="公式" r:id="rId15" imgW="901440" imgH="253800" progId="Equation.3">
                  <p:embed/>
                  <p:pic>
                    <p:nvPicPr>
                      <p:cNvPr id="0" name="Object 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3347" y="2685328"/>
                        <a:ext cx="1790700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" name="Object 9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2366082"/>
              </p:ext>
            </p:extLst>
          </p:nvPr>
        </p:nvGraphicFramePr>
        <p:xfrm>
          <a:off x="4516814" y="3258801"/>
          <a:ext cx="3937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9" name="Equation" r:id="rId17" imgW="1968480" imgH="457200" progId="Equation.3">
                  <p:embed/>
                </p:oleObj>
              </mc:Choice>
              <mc:Fallback>
                <p:oleObj name="Equation" r:id="rId17" imgW="1968480" imgH="457200" progId="Equation.3">
                  <p:embed/>
                  <p:pic>
                    <p:nvPicPr>
                      <p:cNvPr id="0" name="Object 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6814" y="3258801"/>
                        <a:ext cx="39370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5"/>
          <p:cNvSpPr>
            <a:spLocks noChangeArrowheads="1"/>
          </p:cNvSpPr>
          <p:nvPr/>
        </p:nvSpPr>
        <p:spPr bwMode="auto">
          <a:xfrm>
            <a:off x="861708" y="771455"/>
            <a:ext cx="7581046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hangingPunct="0">
              <a:lnSpc>
                <a:spcPct val="150000"/>
              </a:lnSpc>
            </a:pPr>
            <a:r>
              <a:rPr lang="zh-CN" altLang="en-US" b="1" u="sng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练习</a:t>
            </a:r>
            <a:r>
              <a:rPr lang="en-US" altLang="zh-CN" b="1" u="sng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平面构架如图示。</a:t>
            </a:r>
            <a:r>
              <a:rPr kumimoji="0" lang="en-US" altLang="zh-CN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kumimoji="0" lang="zh-CN" altLang="en-US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处均为光滑铰链连接，</a:t>
            </a:r>
            <a:r>
              <a:rPr kumimoji="0" lang="en-US" altLang="zh-CN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BH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杆上的销钉</a:t>
            </a:r>
            <a:r>
              <a:rPr kumimoji="0" lang="en-US" altLang="zh-CN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置于</a:t>
            </a:r>
            <a:r>
              <a:rPr kumimoji="0" lang="en-US" altLang="zh-CN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AC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杆的光滑槽内，</a:t>
            </a:r>
            <a:r>
              <a:rPr kumimoji="0" lang="en-US" altLang="zh-CN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AB 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kumimoji="0" lang="en-US" altLang="zh-CN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BC</a:t>
            </a:r>
            <a:r>
              <a:rPr kumimoji="0" lang="en-US" altLang="zh-CN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kumimoji="0" lang="en-US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1 m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。不计各构件重量和各处摩擦，已知</a:t>
            </a:r>
            <a:r>
              <a:rPr kumimoji="0" lang="en-US" altLang="zh-CN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kumimoji="0" lang="en-US" altLang="zh-CN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kumimoji="0" lang="en-US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100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N/m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kumimoji="0" lang="zh-CN" altLang="en-US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0" lang="en-US" altLang="zh-CN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kumimoji="0" lang="en-US" altLang="zh-CN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 =</a:t>
            </a:r>
            <a:r>
              <a:rPr kumimoji="0" lang="en-US" altLang="zh-CN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100 Nm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，求</a:t>
            </a:r>
            <a:r>
              <a:rPr kumimoji="0" lang="en-US" altLang="zh-CN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0" lang="zh-CN" altLang="en-US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kumimoji="0" lang="zh-CN" altLang="en-US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处所受的力。</a:t>
            </a:r>
            <a:endParaRPr kumimoji="0" lang="zh-CN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楷体" panose="02010609060101010101" pitchFamily="49" charset="-122"/>
            </a:endParaRPr>
          </a:p>
        </p:txBody>
      </p:sp>
      <p:grpSp>
        <p:nvGrpSpPr>
          <p:cNvPr id="3" name="Group 1"/>
          <p:cNvGrpSpPr>
            <a:grpSpLocks noChangeAspect="1"/>
          </p:cNvGrpSpPr>
          <p:nvPr/>
        </p:nvGrpSpPr>
        <p:grpSpPr bwMode="auto">
          <a:xfrm>
            <a:off x="2699792" y="3212976"/>
            <a:ext cx="4279901" cy="2598414"/>
            <a:chOff x="2960" y="3164"/>
            <a:chExt cx="4212" cy="2558"/>
          </a:xfrm>
        </p:grpSpPr>
        <p:sp>
          <p:nvSpPr>
            <p:cNvPr id="4" name="Rectangle 54"/>
            <p:cNvSpPr>
              <a:spLocks noChangeArrowheads="1"/>
            </p:cNvSpPr>
            <p:nvPr/>
          </p:nvSpPr>
          <p:spPr bwMode="auto">
            <a:xfrm rot="5400000" flipH="1">
              <a:off x="5121" y="2844"/>
              <a:ext cx="124" cy="331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" name="Oval 53"/>
            <p:cNvSpPr>
              <a:spLocks noChangeArrowheads="1"/>
            </p:cNvSpPr>
            <p:nvPr/>
          </p:nvSpPr>
          <p:spPr bwMode="auto">
            <a:xfrm>
              <a:off x="4377" y="3352"/>
              <a:ext cx="110" cy="112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" name="Rectangle 52"/>
            <p:cNvSpPr>
              <a:spLocks noChangeArrowheads="1"/>
            </p:cNvSpPr>
            <p:nvPr/>
          </p:nvSpPr>
          <p:spPr bwMode="auto">
            <a:xfrm rot="1800000" flipH="1">
              <a:off x="3838" y="3253"/>
              <a:ext cx="121" cy="221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7" name="Group 45"/>
            <p:cNvGrpSpPr>
              <a:grpSpLocks/>
            </p:cNvGrpSpPr>
            <p:nvPr/>
          </p:nvGrpSpPr>
          <p:grpSpPr bwMode="auto">
            <a:xfrm>
              <a:off x="3069" y="5267"/>
              <a:ext cx="582" cy="455"/>
              <a:chOff x="5596" y="5950"/>
              <a:chExt cx="680" cy="508"/>
            </a:xfrm>
          </p:grpSpPr>
          <p:grpSp>
            <p:nvGrpSpPr>
              <p:cNvPr id="51" name="Group 49"/>
              <p:cNvGrpSpPr>
                <a:grpSpLocks/>
              </p:cNvGrpSpPr>
              <p:nvPr/>
            </p:nvGrpSpPr>
            <p:grpSpPr bwMode="auto">
              <a:xfrm>
                <a:off x="5596" y="6305"/>
                <a:ext cx="680" cy="153"/>
                <a:chOff x="4235" y="3434"/>
                <a:chExt cx="470" cy="179"/>
              </a:xfrm>
            </p:grpSpPr>
            <p:sp>
              <p:nvSpPr>
                <p:cNvPr id="55" name="Rectangle 51" descr="宽上对角线"/>
                <p:cNvSpPr>
                  <a:spLocks noChangeArrowheads="1"/>
                </p:cNvSpPr>
                <p:nvPr/>
              </p:nvSpPr>
              <p:spPr bwMode="auto">
                <a:xfrm>
                  <a:off x="4235" y="3434"/>
                  <a:ext cx="464" cy="179"/>
                </a:xfrm>
                <a:prstGeom prst="rect">
                  <a:avLst/>
                </a:prstGeom>
                <a:pattFill prst="wdUpDiag">
                  <a:fgClr>
                    <a:srgbClr val="000000"/>
                  </a:fgClr>
                  <a:bgClr>
                    <a:srgbClr val="FFFFFF"/>
                  </a:bgClr>
                </a:patt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6" name="Line 50"/>
                <p:cNvSpPr>
                  <a:spLocks noChangeShapeType="1"/>
                </p:cNvSpPr>
                <p:nvPr/>
              </p:nvSpPr>
              <p:spPr bwMode="auto">
                <a:xfrm>
                  <a:off x="4235" y="3434"/>
                  <a:ext cx="470" cy="1"/>
                </a:xfrm>
                <a:prstGeom prst="line">
                  <a:avLst/>
                </a:prstGeom>
                <a:noFill/>
                <a:ln w="222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52" name="Line 48"/>
              <p:cNvSpPr>
                <a:spLocks noChangeShapeType="1"/>
              </p:cNvSpPr>
              <p:nvPr/>
            </p:nvSpPr>
            <p:spPr bwMode="auto">
              <a:xfrm rot="19800000">
                <a:off x="6024" y="6010"/>
                <a:ext cx="5" cy="30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3" name="Line 47"/>
              <p:cNvSpPr>
                <a:spLocks noChangeShapeType="1"/>
              </p:cNvSpPr>
              <p:nvPr/>
            </p:nvSpPr>
            <p:spPr bwMode="auto">
              <a:xfrm rot="1800000">
                <a:off x="5817" y="6010"/>
                <a:ext cx="11" cy="3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4" name="Oval 46"/>
              <p:cNvSpPr>
                <a:spLocks noChangeArrowheads="1"/>
              </p:cNvSpPr>
              <p:nvPr/>
            </p:nvSpPr>
            <p:spPr bwMode="auto">
              <a:xfrm rot="5400000">
                <a:off x="5854" y="5950"/>
                <a:ext cx="124" cy="124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8" name="Rectangle 44"/>
            <p:cNvSpPr>
              <a:spLocks noChangeArrowheads="1"/>
            </p:cNvSpPr>
            <p:nvPr/>
          </p:nvSpPr>
          <p:spPr bwMode="auto">
            <a:xfrm rot="19800000" flipH="1">
              <a:off x="4908" y="3253"/>
              <a:ext cx="122" cy="221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9" name="Group 37"/>
            <p:cNvGrpSpPr>
              <a:grpSpLocks/>
            </p:cNvGrpSpPr>
            <p:nvPr/>
          </p:nvGrpSpPr>
          <p:grpSpPr bwMode="auto">
            <a:xfrm>
              <a:off x="5233" y="5267"/>
              <a:ext cx="582" cy="455"/>
              <a:chOff x="5596" y="5950"/>
              <a:chExt cx="680" cy="508"/>
            </a:xfrm>
          </p:grpSpPr>
          <p:grpSp>
            <p:nvGrpSpPr>
              <p:cNvPr id="45" name="Group 41"/>
              <p:cNvGrpSpPr>
                <a:grpSpLocks/>
              </p:cNvGrpSpPr>
              <p:nvPr/>
            </p:nvGrpSpPr>
            <p:grpSpPr bwMode="auto">
              <a:xfrm>
                <a:off x="5596" y="6305"/>
                <a:ext cx="680" cy="153"/>
                <a:chOff x="4235" y="3434"/>
                <a:chExt cx="470" cy="179"/>
              </a:xfrm>
            </p:grpSpPr>
            <p:sp>
              <p:nvSpPr>
                <p:cNvPr id="49" name="Rectangle 43" descr="宽上对角线"/>
                <p:cNvSpPr>
                  <a:spLocks noChangeArrowheads="1"/>
                </p:cNvSpPr>
                <p:nvPr/>
              </p:nvSpPr>
              <p:spPr bwMode="auto">
                <a:xfrm>
                  <a:off x="4235" y="3434"/>
                  <a:ext cx="464" cy="179"/>
                </a:xfrm>
                <a:prstGeom prst="rect">
                  <a:avLst/>
                </a:prstGeom>
                <a:pattFill prst="wdUpDiag">
                  <a:fgClr>
                    <a:srgbClr val="000000"/>
                  </a:fgClr>
                  <a:bgClr>
                    <a:srgbClr val="FFFFFF"/>
                  </a:bgClr>
                </a:patt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0" name="Line 42"/>
                <p:cNvSpPr>
                  <a:spLocks noChangeShapeType="1"/>
                </p:cNvSpPr>
                <p:nvPr/>
              </p:nvSpPr>
              <p:spPr bwMode="auto">
                <a:xfrm>
                  <a:off x="4235" y="3434"/>
                  <a:ext cx="470" cy="1"/>
                </a:xfrm>
                <a:prstGeom prst="line">
                  <a:avLst/>
                </a:prstGeom>
                <a:noFill/>
                <a:ln w="222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46" name="Line 40"/>
              <p:cNvSpPr>
                <a:spLocks noChangeShapeType="1"/>
              </p:cNvSpPr>
              <p:nvPr/>
            </p:nvSpPr>
            <p:spPr bwMode="auto">
              <a:xfrm rot="19800000">
                <a:off x="6024" y="6010"/>
                <a:ext cx="5" cy="30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7" name="Line 39"/>
              <p:cNvSpPr>
                <a:spLocks noChangeShapeType="1"/>
              </p:cNvSpPr>
              <p:nvPr/>
            </p:nvSpPr>
            <p:spPr bwMode="auto">
              <a:xfrm rot="1800000">
                <a:off x="5817" y="6010"/>
                <a:ext cx="11" cy="3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8" name="Oval 38"/>
              <p:cNvSpPr>
                <a:spLocks noChangeArrowheads="1"/>
              </p:cNvSpPr>
              <p:nvPr/>
            </p:nvSpPr>
            <p:spPr bwMode="auto">
              <a:xfrm rot="5400000">
                <a:off x="5854" y="5950"/>
                <a:ext cx="124" cy="124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0" name="Oval 36"/>
            <p:cNvSpPr>
              <a:spLocks noChangeArrowheads="1"/>
            </p:cNvSpPr>
            <p:nvPr/>
          </p:nvSpPr>
          <p:spPr bwMode="auto">
            <a:xfrm>
              <a:off x="4377" y="3366"/>
              <a:ext cx="125" cy="12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Oval 35"/>
            <p:cNvSpPr>
              <a:spLocks noChangeArrowheads="1"/>
            </p:cNvSpPr>
            <p:nvPr/>
          </p:nvSpPr>
          <p:spPr bwMode="auto">
            <a:xfrm>
              <a:off x="5009" y="4464"/>
              <a:ext cx="83" cy="8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AutoShape 34"/>
            <p:cNvSpPr>
              <a:spLocks noChangeArrowheads="1"/>
            </p:cNvSpPr>
            <p:nvPr/>
          </p:nvSpPr>
          <p:spPr bwMode="auto">
            <a:xfrm rot="18000000">
              <a:off x="3211" y="4480"/>
              <a:ext cx="1191" cy="66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Oval 33"/>
            <p:cNvSpPr>
              <a:spLocks noChangeAspect="1" noChangeArrowheads="1"/>
            </p:cNvSpPr>
            <p:nvPr/>
          </p:nvSpPr>
          <p:spPr bwMode="auto">
            <a:xfrm>
              <a:off x="3767" y="4464"/>
              <a:ext cx="79" cy="8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000000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Line 32"/>
            <p:cNvSpPr>
              <a:spLocks noChangeShapeType="1"/>
            </p:cNvSpPr>
            <p:nvPr/>
          </p:nvSpPr>
          <p:spPr bwMode="auto">
            <a:xfrm flipH="1">
              <a:off x="4807" y="5323"/>
              <a:ext cx="70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Arc 31"/>
            <p:cNvSpPr>
              <a:spLocks/>
            </p:cNvSpPr>
            <p:nvPr/>
          </p:nvSpPr>
          <p:spPr bwMode="auto">
            <a:xfrm rot="3600000" flipV="1">
              <a:off x="5098" y="5013"/>
              <a:ext cx="228" cy="265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420 w 21888"/>
                <a:gd name="T1" fmla="*/ 25841 h 25841"/>
                <a:gd name="T2" fmla="*/ 21888 w 21888"/>
                <a:gd name="T3" fmla="*/ 2 h 25841"/>
                <a:gd name="T4" fmla="*/ 21600 w 21888"/>
                <a:gd name="T5" fmla="*/ 21600 h 258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888" h="25841" fill="none" extrusionOk="0">
                  <a:moveTo>
                    <a:pt x="420" y="25840"/>
                  </a:moveTo>
                  <a:cubicBezTo>
                    <a:pt x="140" y="24444"/>
                    <a:pt x="0" y="2302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1696" y="-1"/>
                    <a:pt x="21792" y="0"/>
                    <a:pt x="21888" y="1"/>
                  </a:cubicBezTo>
                </a:path>
                <a:path w="21888" h="25841" stroke="0" extrusionOk="0">
                  <a:moveTo>
                    <a:pt x="420" y="25840"/>
                  </a:moveTo>
                  <a:cubicBezTo>
                    <a:pt x="140" y="24444"/>
                    <a:pt x="0" y="2302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1696" y="-1"/>
                    <a:pt x="21792" y="0"/>
                    <a:pt x="21888" y="1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Arc 30"/>
            <p:cNvSpPr>
              <a:spLocks/>
            </p:cNvSpPr>
            <p:nvPr/>
          </p:nvSpPr>
          <p:spPr bwMode="auto">
            <a:xfrm rot="3600000" flipH="1">
              <a:off x="3908" y="4261"/>
              <a:ext cx="282" cy="208"/>
            </a:xfrm>
            <a:custGeom>
              <a:avLst/>
              <a:gdLst>
                <a:gd name="G0" fmla="+- 12868 0 0"/>
                <a:gd name="G1" fmla="+- 21600 0 0"/>
                <a:gd name="G2" fmla="+- 21600 0 0"/>
                <a:gd name="T0" fmla="*/ 0 w 28833"/>
                <a:gd name="T1" fmla="*/ 4251 h 21600"/>
                <a:gd name="T2" fmla="*/ 28833 w 28833"/>
                <a:gd name="T3" fmla="*/ 7051 h 21600"/>
                <a:gd name="T4" fmla="*/ 12868 w 28833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833" h="21600" fill="none" extrusionOk="0">
                  <a:moveTo>
                    <a:pt x="0" y="4251"/>
                  </a:moveTo>
                  <a:cubicBezTo>
                    <a:pt x="3722" y="1490"/>
                    <a:pt x="8233" y="-1"/>
                    <a:pt x="12868" y="0"/>
                  </a:cubicBezTo>
                  <a:cubicBezTo>
                    <a:pt x="18944" y="0"/>
                    <a:pt x="24740" y="2559"/>
                    <a:pt x="28833" y="7050"/>
                  </a:cubicBezTo>
                </a:path>
                <a:path w="28833" h="21600" stroke="0" extrusionOk="0">
                  <a:moveTo>
                    <a:pt x="0" y="4251"/>
                  </a:moveTo>
                  <a:cubicBezTo>
                    <a:pt x="3722" y="1490"/>
                    <a:pt x="8233" y="-1"/>
                    <a:pt x="12868" y="0"/>
                  </a:cubicBezTo>
                  <a:cubicBezTo>
                    <a:pt x="18944" y="0"/>
                    <a:pt x="24740" y="2559"/>
                    <a:pt x="28833" y="7050"/>
                  </a:cubicBezTo>
                  <a:lnTo>
                    <a:pt x="12868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Text Box 29"/>
            <p:cNvSpPr txBox="1">
              <a:spLocks noChangeArrowheads="1"/>
            </p:cNvSpPr>
            <p:nvPr/>
          </p:nvSpPr>
          <p:spPr bwMode="auto">
            <a:xfrm>
              <a:off x="4755" y="5002"/>
              <a:ext cx="553" cy="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6000" tIns="7200" rIns="36000" bIns="72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cs typeface="Times New Roman" panose="02020603050405020304" pitchFamily="18" charset="0"/>
                </a:rPr>
                <a:t>60°</a:t>
              </a: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" name="Text Box 28"/>
            <p:cNvSpPr txBox="1">
              <a:spLocks noChangeArrowheads="1"/>
            </p:cNvSpPr>
            <p:nvPr/>
          </p:nvSpPr>
          <p:spPr bwMode="auto">
            <a:xfrm>
              <a:off x="4149" y="4082"/>
              <a:ext cx="546" cy="3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6000" tIns="7200" rIns="36000" bIns="72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cs typeface="Times New Roman" panose="02020603050405020304" pitchFamily="18" charset="0"/>
                </a:rPr>
                <a:t>60°</a:t>
              </a: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" name="Text Box 27"/>
            <p:cNvSpPr txBox="1">
              <a:spLocks noChangeArrowheads="1"/>
            </p:cNvSpPr>
            <p:nvPr/>
          </p:nvSpPr>
          <p:spPr bwMode="auto">
            <a:xfrm>
              <a:off x="2960" y="5096"/>
              <a:ext cx="292" cy="3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6000" tIns="7200" rIns="36000" bIns="72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cs typeface="Times New Roman" panose="02020603050405020304" pitchFamily="18" charset="0"/>
                </a:rPr>
                <a:t>A</a:t>
              </a: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" name="Text Box 26"/>
            <p:cNvSpPr txBox="1">
              <a:spLocks noChangeArrowheads="1"/>
            </p:cNvSpPr>
            <p:nvPr/>
          </p:nvSpPr>
          <p:spPr bwMode="auto">
            <a:xfrm>
              <a:off x="3558" y="4117"/>
              <a:ext cx="292" cy="3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6000" tIns="7200" rIns="36000" bIns="72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cs typeface="Times New Roman" panose="02020603050405020304" pitchFamily="18" charset="0"/>
                </a:rPr>
                <a:t>B</a:t>
              </a: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" name="Text Box 25"/>
            <p:cNvSpPr txBox="1">
              <a:spLocks noChangeArrowheads="1"/>
            </p:cNvSpPr>
            <p:nvPr/>
          </p:nvSpPr>
          <p:spPr bwMode="auto">
            <a:xfrm>
              <a:off x="4515" y="3164"/>
              <a:ext cx="292" cy="3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6000" tIns="7200" rIns="36000" bIns="72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cs typeface="Times New Roman" panose="02020603050405020304" pitchFamily="18" charset="0"/>
                </a:rPr>
                <a:t>C</a:t>
              </a: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" name="Text Box 24"/>
            <p:cNvSpPr txBox="1">
              <a:spLocks noChangeArrowheads="1"/>
            </p:cNvSpPr>
            <p:nvPr/>
          </p:nvSpPr>
          <p:spPr bwMode="auto">
            <a:xfrm>
              <a:off x="4820" y="4562"/>
              <a:ext cx="292" cy="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6000" tIns="7200" rIns="36000" bIns="72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cs typeface="Times New Roman" panose="02020603050405020304" pitchFamily="18" charset="0"/>
                </a:rPr>
                <a:t>D</a:t>
              </a: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3" name="Text Box 23"/>
            <p:cNvSpPr txBox="1">
              <a:spLocks noChangeArrowheads="1"/>
            </p:cNvSpPr>
            <p:nvPr/>
          </p:nvSpPr>
          <p:spPr bwMode="auto">
            <a:xfrm>
              <a:off x="4195" y="4600"/>
              <a:ext cx="292" cy="3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6000" tIns="7200" rIns="36000" bIns="72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cs typeface="Times New Roman" panose="02020603050405020304" pitchFamily="18" charset="0"/>
                </a:rPr>
                <a:t>M</a:t>
              </a: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" name="Text Box 22"/>
            <p:cNvSpPr txBox="1">
              <a:spLocks noChangeArrowheads="1"/>
            </p:cNvSpPr>
            <p:nvPr/>
          </p:nvSpPr>
          <p:spPr bwMode="auto">
            <a:xfrm>
              <a:off x="6880" y="4151"/>
              <a:ext cx="292" cy="3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6000" tIns="7200" rIns="36000" bIns="72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cs typeface="Times New Roman" panose="02020603050405020304" pitchFamily="18" charset="0"/>
                </a:rPr>
                <a:t>H</a:t>
              </a: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5" name="Text Box 21"/>
            <p:cNvSpPr txBox="1">
              <a:spLocks noChangeArrowheads="1"/>
            </p:cNvSpPr>
            <p:nvPr/>
          </p:nvSpPr>
          <p:spPr bwMode="auto">
            <a:xfrm>
              <a:off x="5768" y="3745"/>
              <a:ext cx="470" cy="4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6000" tIns="7200" rIns="36000" bIns="72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1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cs typeface="Times New Roman" panose="02020603050405020304" pitchFamily="18" charset="0"/>
                </a:rPr>
                <a:t>q</a:t>
              </a: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6" name="Line 20"/>
            <p:cNvSpPr>
              <a:spLocks noChangeShapeType="1"/>
            </p:cNvSpPr>
            <p:nvPr/>
          </p:nvSpPr>
          <p:spPr bwMode="auto">
            <a:xfrm flipV="1">
              <a:off x="5050" y="4518"/>
              <a:ext cx="1" cy="4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Line 19"/>
            <p:cNvSpPr>
              <a:spLocks noChangeShapeType="1"/>
            </p:cNvSpPr>
            <p:nvPr/>
          </p:nvSpPr>
          <p:spPr bwMode="auto">
            <a:xfrm rot="5400000">
              <a:off x="5933" y="3969"/>
              <a:ext cx="1" cy="17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Text Box 18"/>
            <p:cNvSpPr txBox="1">
              <a:spLocks noChangeArrowheads="1"/>
            </p:cNvSpPr>
            <p:nvPr/>
          </p:nvSpPr>
          <p:spPr bwMode="auto">
            <a:xfrm>
              <a:off x="5768" y="4562"/>
              <a:ext cx="700" cy="3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6000" tIns="7200" rIns="36000" bIns="72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cs typeface="Times New Roman" panose="02020603050405020304" pitchFamily="18" charset="0"/>
                </a:rPr>
                <a:t>1.6 m</a:t>
              </a: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" name="Arc 17"/>
            <p:cNvSpPr>
              <a:spLocks/>
            </p:cNvSpPr>
            <p:nvPr/>
          </p:nvSpPr>
          <p:spPr bwMode="auto">
            <a:xfrm rot="-4798198" flipH="1" flipV="1">
              <a:off x="4164" y="4364"/>
              <a:ext cx="775" cy="350"/>
            </a:xfrm>
            <a:custGeom>
              <a:avLst/>
              <a:gdLst>
                <a:gd name="G0" fmla="+- 21244 0 0"/>
                <a:gd name="G1" fmla="+- 21600 0 0"/>
                <a:gd name="G2" fmla="+- 21600 0 0"/>
                <a:gd name="T0" fmla="*/ 0 w 39498"/>
                <a:gd name="T1" fmla="*/ 17693 h 21600"/>
                <a:gd name="T2" fmla="*/ 39498 w 39498"/>
                <a:gd name="T3" fmla="*/ 10052 h 21600"/>
                <a:gd name="T4" fmla="*/ 21244 w 3949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498" h="21600" fill="none" extrusionOk="0">
                  <a:moveTo>
                    <a:pt x="0" y="17693"/>
                  </a:moveTo>
                  <a:cubicBezTo>
                    <a:pt x="1885" y="7442"/>
                    <a:pt x="10821" y="-1"/>
                    <a:pt x="21244" y="0"/>
                  </a:cubicBezTo>
                  <a:cubicBezTo>
                    <a:pt x="28649" y="0"/>
                    <a:pt x="35538" y="3793"/>
                    <a:pt x="39497" y="10052"/>
                  </a:cubicBezTo>
                </a:path>
                <a:path w="39498" h="21600" stroke="0" extrusionOk="0">
                  <a:moveTo>
                    <a:pt x="0" y="17693"/>
                  </a:moveTo>
                  <a:cubicBezTo>
                    <a:pt x="1885" y="7442"/>
                    <a:pt x="10821" y="-1"/>
                    <a:pt x="21244" y="0"/>
                  </a:cubicBezTo>
                  <a:cubicBezTo>
                    <a:pt x="28649" y="0"/>
                    <a:pt x="35538" y="3793"/>
                    <a:pt x="39497" y="10052"/>
                  </a:cubicBezTo>
                  <a:lnTo>
                    <a:pt x="21244" y="2160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sm" len="med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Text Box 16"/>
            <p:cNvSpPr txBox="1">
              <a:spLocks noChangeArrowheads="1"/>
            </p:cNvSpPr>
            <p:nvPr/>
          </p:nvSpPr>
          <p:spPr bwMode="auto">
            <a:xfrm>
              <a:off x="5627" y="5160"/>
              <a:ext cx="292" cy="3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6000" tIns="7200" rIns="36000" bIns="72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800" b="0" i="1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cs typeface="Times New Roman" panose="02020603050405020304" pitchFamily="18" charset="0"/>
                </a:rPr>
                <a:t>E</a:t>
              </a: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1" name="Line 15"/>
            <p:cNvSpPr>
              <a:spLocks noChangeShapeType="1"/>
            </p:cNvSpPr>
            <p:nvPr/>
          </p:nvSpPr>
          <p:spPr bwMode="auto">
            <a:xfrm flipV="1">
              <a:off x="6844" y="4530"/>
              <a:ext cx="1" cy="4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32" name="Group 2"/>
            <p:cNvGrpSpPr>
              <a:grpSpLocks/>
            </p:cNvGrpSpPr>
            <p:nvPr/>
          </p:nvGrpSpPr>
          <p:grpSpPr bwMode="auto">
            <a:xfrm>
              <a:off x="5054" y="4117"/>
              <a:ext cx="1784" cy="348"/>
              <a:chOff x="2700" y="3780"/>
              <a:chExt cx="2400" cy="440"/>
            </a:xfrm>
          </p:grpSpPr>
          <p:sp>
            <p:nvSpPr>
              <p:cNvPr id="33" name="Line 14"/>
              <p:cNvSpPr>
                <a:spLocks noChangeShapeType="1"/>
              </p:cNvSpPr>
              <p:nvPr/>
            </p:nvSpPr>
            <p:spPr bwMode="auto">
              <a:xfrm>
                <a:off x="2700" y="3780"/>
                <a:ext cx="239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4" name="Line 13"/>
              <p:cNvSpPr>
                <a:spLocks noChangeShapeType="1"/>
              </p:cNvSpPr>
              <p:nvPr/>
            </p:nvSpPr>
            <p:spPr bwMode="auto">
              <a:xfrm>
                <a:off x="2700" y="3780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5" name="Line 12"/>
              <p:cNvSpPr>
                <a:spLocks noChangeShapeType="1"/>
              </p:cNvSpPr>
              <p:nvPr/>
            </p:nvSpPr>
            <p:spPr bwMode="auto">
              <a:xfrm>
                <a:off x="2940" y="3795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6" name="Line 11"/>
              <p:cNvSpPr>
                <a:spLocks noChangeShapeType="1"/>
              </p:cNvSpPr>
              <p:nvPr/>
            </p:nvSpPr>
            <p:spPr bwMode="auto">
              <a:xfrm>
                <a:off x="3180" y="3795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7" name="Line 10"/>
              <p:cNvSpPr>
                <a:spLocks noChangeShapeType="1"/>
              </p:cNvSpPr>
              <p:nvPr/>
            </p:nvSpPr>
            <p:spPr bwMode="auto">
              <a:xfrm>
                <a:off x="3420" y="3795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8" name="Line 9"/>
              <p:cNvSpPr>
                <a:spLocks noChangeShapeType="1"/>
              </p:cNvSpPr>
              <p:nvPr/>
            </p:nvSpPr>
            <p:spPr bwMode="auto">
              <a:xfrm>
                <a:off x="3660" y="3795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39" name="Line 8"/>
              <p:cNvSpPr>
                <a:spLocks noChangeShapeType="1"/>
              </p:cNvSpPr>
              <p:nvPr/>
            </p:nvSpPr>
            <p:spPr bwMode="auto">
              <a:xfrm>
                <a:off x="3900" y="3795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0" name="Line 7"/>
              <p:cNvSpPr>
                <a:spLocks noChangeShapeType="1"/>
              </p:cNvSpPr>
              <p:nvPr/>
            </p:nvSpPr>
            <p:spPr bwMode="auto">
              <a:xfrm>
                <a:off x="4140" y="3795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1" name="Line 6"/>
              <p:cNvSpPr>
                <a:spLocks noChangeShapeType="1"/>
              </p:cNvSpPr>
              <p:nvPr/>
            </p:nvSpPr>
            <p:spPr bwMode="auto">
              <a:xfrm>
                <a:off x="4380" y="3795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2" name="Line 5"/>
              <p:cNvSpPr>
                <a:spLocks noChangeShapeType="1"/>
              </p:cNvSpPr>
              <p:nvPr/>
            </p:nvSpPr>
            <p:spPr bwMode="auto">
              <a:xfrm>
                <a:off x="4620" y="3795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3" name="Line 4"/>
              <p:cNvSpPr>
                <a:spLocks noChangeShapeType="1"/>
              </p:cNvSpPr>
              <p:nvPr/>
            </p:nvSpPr>
            <p:spPr bwMode="auto">
              <a:xfrm>
                <a:off x="4860" y="3795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44" name="Line 3"/>
              <p:cNvSpPr>
                <a:spLocks noChangeShapeType="1"/>
              </p:cNvSpPr>
              <p:nvPr/>
            </p:nvSpPr>
            <p:spPr bwMode="auto">
              <a:xfrm>
                <a:off x="5100" y="3780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57" name="Rectangle 67"/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77191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2489648"/>
              </p:ext>
            </p:extLst>
          </p:nvPr>
        </p:nvGraphicFramePr>
        <p:xfrm>
          <a:off x="544402" y="990616"/>
          <a:ext cx="1387379" cy="3853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34" name="Equation" r:id="rId3" imgW="914400" imgH="254000" progId="Equation.DSMT4">
                  <p:embed/>
                </p:oleObj>
              </mc:Choice>
              <mc:Fallback>
                <p:oleObj name="Equation" r:id="rId3" imgW="914400" imgH="254000" progId="Equation.DSMT4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402" y="990616"/>
                        <a:ext cx="1387379" cy="38538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5255809"/>
              </p:ext>
            </p:extLst>
          </p:nvPr>
        </p:nvGraphicFramePr>
        <p:xfrm>
          <a:off x="2171544" y="985119"/>
          <a:ext cx="2789737" cy="363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35" name="Equation" r:id="rId5" imgW="1854200" imgH="241300" progId="Equation.DSMT4">
                  <p:embed/>
                </p:oleObj>
              </mc:Choice>
              <mc:Fallback>
                <p:oleObj name="Equation" r:id="rId5" imgW="1854200" imgH="241300" progId="Equation.DSMT4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1544" y="985119"/>
                        <a:ext cx="2789737" cy="3630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8655328"/>
              </p:ext>
            </p:extLst>
          </p:nvPr>
        </p:nvGraphicFramePr>
        <p:xfrm>
          <a:off x="2448026" y="1378110"/>
          <a:ext cx="1152128" cy="3648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36" name="Equation" r:id="rId7" imgW="761669" imgH="241195" progId="Equation.DSMT4">
                  <p:embed/>
                </p:oleObj>
              </mc:Choice>
              <mc:Fallback>
                <p:oleObj name="Equation" r:id="rId7" imgW="761669" imgH="241195" progId="Equation.DSMT4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8026" y="1378110"/>
                        <a:ext cx="1152128" cy="36484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7708145"/>
              </p:ext>
            </p:extLst>
          </p:nvPr>
        </p:nvGraphicFramePr>
        <p:xfrm>
          <a:off x="331901" y="2298295"/>
          <a:ext cx="1316142" cy="365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37" name="Equation" r:id="rId9" imgW="914400" imgH="254000" progId="Equation.DSMT4">
                  <p:embed/>
                </p:oleObj>
              </mc:Choice>
              <mc:Fallback>
                <p:oleObj name="Equation" r:id="rId9" imgW="914400" imgH="254000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901" y="2298295"/>
                        <a:ext cx="1316142" cy="36559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8941734"/>
              </p:ext>
            </p:extLst>
          </p:nvPr>
        </p:nvGraphicFramePr>
        <p:xfrm>
          <a:off x="1800145" y="2285564"/>
          <a:ext cx="3131268" cy="352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38" name="Equation" r:id="rId11" imgW="2146300" imgH="241300" progId="Equation.DSMT4">
                  <p:embed/>
                </p:oleObj>
              </mc:Choice>
              <mc:Fallback>
                <p:oleObj name="Equation" r:id="rId11" imgW="2146300" imgH="24130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0145" y="2285564"/>
                        <a:ext cx="3131268" cy="35203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0097902"/>
              </p:ext>
            </p:extLst>
          </p:nvPr>
        </p:nvGraphicFramePr>
        <p:xfrm>
          <a:off x="2447810" y="2678471"/>
          <a:ext cx="1094473" cy="351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39" name="Equation" r:id="rId13" imgW="711200" imgH="228600" progId="Equation.DSMT4">
                  <p:embed/>
                </p:oleObj>
              </mc:Choice>
              <mc:Fallback>
                <p:oleObj name="Equation" r:id="rId13" imgW="711200" imgH="22860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7810" y="2678471"/>
                        <a:ext cx="1094473" cy="35179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6286146"/>
              </p:ext>
            </p:extLst>
          </p:nvPr>
        </p:nvGraphicFramePr>
        <p:xfrm>
          <a:off x="850367" y="3635094"/>
          <a:ext cx="797676" cy="3468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0" name="Equation" r:id="rId15" imgW="583947" imgH="253890" progId="Equation.DSMT4">
                  <p:embed/>
                </p:oleObj>
              </mc:Choice>
              <mc:Fallback>
                <p:oleObj name="Equation" r:id="rId15" imgW="583947" imgH="25389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0367" y="3635094"/>
                        <a:ext cx="797676" cy="3468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9920449"/>
              </p:ext>
            </p:extLst>
          </p:nvPr>
        </p:nvGraphicFramePr>
        <p:xfrm>
          <a:off x="2360450" y="3595626"/>
          <a:ext cx="2252724" cy="3508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1" name="Equation" r:id="rId17" imgW="1548728" imgH="241195" progId="Equation.DSMT4">
                  <p:embed/>
                </p:oleObj>
              </mc:Choice>
              <mc:Fallback>
                <p:oleObj name="Equation" r:id="rId17" imgW="1548728" imgH="241195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0450" y="3595626"/>
                        <a:ext cx="2252724" cy="35083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8614436"/>
              </p:ext>
            </p:extLst>
          </p:nvPr>
        </p:nvGraphicFramePr>
        <p:xfrm>
          <a:off x="889062" y="4153099"/>
          <a:ext cx="844815" cy="39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2" name="Equation" r:id="rId19" imgW="545626" imgH="253780" progId="Equation.DSMT4">
                  <p:embed/>
                </p:oleObj>
              </mc:Choice>
              <mc:Fallback>
                <p:oleObj name="Equation" r:id="rId19" imgW="545626" imgH="25378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9062" y="4153099"/>
                        <a:ext cx="844815" cy="3929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9637854"/>
              </p:ext>
            </p:extLst>
          </p:nvPr>
        </p:nvGraphicFramePr>
        <p:xfrm>
          <a:off x="2329017" y="4131931"/>
          <a:ext cx="2162476" cy="3574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3" name="Equation" r:id="rId21" imgW="1536033" imgH="253890" progId="Equation.DSMT4">
                  <p:embed/>
                </p:oleObj>
              </mc:Choice>
              <mc:Fallback>
                <p:oleObj name="Equation" r:id="rId21" imgW="1536033" imgH="25389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9017" y="4131931"/>
                        <a:ext cx="2162476" cy="35743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2592529"/>
              </p:ext>
            </p:extLst>
          </p:nvPr>
        </p:nvGraphicFramePr>
        <p:xfrm>
          <a:off x="529865" y="4686724"/>
          <a:ext cx="1264468" cy="3512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4" name="Equation" r:id="rId23" imgW="914400" imgH="254000" progId="Equation.DSMT4">
                  <p:embed/>
                </p:oleObj>
              </mc:Choice>
              <mc:Fallback>
                <p:oleObj name="Equation" r:id="rId23" imgW="914400" imgH="254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865" y="4686724"/>
                        <a:ext cx="1264468" cy="35124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977673"/>
              </p:ext>
            </p:extLst>
          </p:nvPr>
        </p:nvGraphicFramePr>
        <p:xfrm>
          <a:off x="2171544" y="4634238"/>
          <a:ext cx="4341628" cy="4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5" name="Equation" r:id="rId25" imgW="2755900" imgH="254000" progId="Equation.DSMT4">
                  <p:embed/>
                </p:oleObj>
              </mc:Choice>
              <mc:Fallback>
                <p:oleObj name="Equation" r:id="rId25" imgW="2755900" imgH="254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1544" y="4634238"/>
                        <a:ext cx="4341628" cy="4001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7723020"/>
              </p:ext>
            </p:extLst>
          </p:nvPr>
        </p:nvGraphicFramePr>
        <p:xfrm>
          <a:off x="1438935" y="5184121"/>
          <a:ext cx="2557001" cy="3816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6" name="Equation" r:id="rId27" imgW="1701800" imgH="254000" progId="Equation.DSMT4">
                  <p:embed/>
                </p:oleObj>
              </mc:Choice>
              <mc:Fallback>
                <p:oleObj name="Equation" r:id="rId27" imgW="1701800" imgH="254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8935" y="5184121"/>
                        <a:ext cx="2557001" cy="38164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3120511"/>
              </p:ext>
            </p:extLst>
          </p:nvPr>
        </p:nvGraphicFramePr>
        <p:xfrm>
          <a:off x="1232179" y="5555088"/>
          <a:ext cx="3049261" cy="3934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7" name="Equation" r:id="rId29" imgW="1968500" imgH="254000" progId="Equation.DSMT4">
                  <p:embed/>
                </p:oleObj>
              </mc:Choice>
              <mc:Fallback>
                <p:oleObj name="Equation" r:id="rId29" imgW="1968500" imgH="2540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2179" y="5555088"/>
                        <a:ext cx="3049261" cy="39345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2599793"/>
              </p:ext>
            </p:extLst>
          </p:nvPr>
        </p:nvGraphicFramePr>
        <p:xfrm>
          <a:off x="1837179" y="5943098"/>
          <a:ext cx="1221261" cy="35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8" name="Equation" r:id="rId31" imgW="838200" imgH="241300" progId="Equation.DSMT4">
                  <p:embed/>
                </p:oleObj>
              </mc:Choice>
              <mc:Fallback>
                <p:oleObj name="Equation" r:id="rId31" imgW="838200" imgH="2413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7179" y="5943098"/>
                        <a:ext cx="1221261" cy="3515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Group 64"/>
          <p:cNvGrpSpPr>
            <a:grpSpLocks/>
          </p:cNvGrpSpPr>
          <p:nvPr/>
        </p:nvGrpSpPr>
        <p:grpSpPr bwMode="auto">
          <a:xfrm>
            <a:off x="5782097" y="466777"/>
            <a:ext cx="2909888" cy="1901825"/>
            <a:chOff x="2070" y="10064"/>
            <a:chExt cx="4583" cy="2994"/>
          </a:xfrm>
        </p:grpSpPr>
        <p:sp>
          <p:nvSpPr>
            <p:cNvPr id="18" name="Rectangle 128"/>
            <p:cNvSpPr>
              <a:spLocks noChangeArrowheads="1"/>
            </p:cNvSpPr>
            <p:nvPr/>
          </p:nvSpPr>
          <p:spPr bwMode="auto">
            <a:xfrm rot="5400000" flipH="1">
              <a:off x="4602" y="9744"/>
              <a:ext cx="124" cy="331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Oval 127"/>
            <p:cNvSpPr>
              <a:spLocks noChangeArrowheads="1"/>
            </p:cNvSpPr>
            <p:nvPr/>
          </p:nvSpPr>
          <p:spPr bwMode="auto">
            <a:xfrm>
              <a:off x="3858" y="10252"/>
              <a:ext cx="110" cy="112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Rectangle 126"/>
            <p:cNvSpPr>
              <a:spLocks noChangeArrowheads="1"/>
            </p:cNvSpPr>
            <p:nvPr/>
          </p:nvSpPr>
          <p:spPr bwMode="auto">
            <a:xfrm rot="1800000" flipH="1">
              <a:off x="3319" y="10153"/>
              <a:ext cx="121" cy="221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21" name="Group 119"/>
            <p:cNvGrpSpPr>
              <a:grpSpLocks/>
            </p:cNvGrpSpPr>
            <p:nvPr/>
          </p:nvGrpSpPr>
          <p:grpSpPr bwMode="auto">
            <a:xfrm>
              <a:off x="2550" y="12167"/>
              <a:ext cx="582" cy="455"/>
              <a:chOff x="5596" y="5950"/>
              <a:chExt cx="680" cy="508"/>
            </a:xfrm>
          </p:grpSpPr>
          <p:grpSp>
            <p:nvGrpSpPr>
              <p:cNvPr id="76" name="Group 123"/>
              <p:cNvGrpSpPr>
                <a:grpSpLocks/>
              </p:cNvGrpSpPr>
              <p:nvPr/>
            </p:nvGrpSpPr>
            <p:grpSpPr bwMode="auto">
              <a:xfrm>
                <a:off x="5596" y="6305"/>
                <a:ext cx="680" cy="153"/>
                <a:chOff x="4235" y="3434"/>
                <a:chExt cx="470" cy="179"/>
              </a:xfrm>
            </p:grpSpPr>
            <p:sp>
              <p:nvSpPr>
                <p:cNvPr id="80" name="Rectangle 125" descr="宽上对角线"/>
                <p:cNvSpPr>
                  <a:spLocks noChangeArrowheads="1"/>
                </p:cNvSpPr>
                <p:nvPr/>
              </p:nvSpPr>
              <p:spPr bwMode="auto">
                <a:xfrm>
                  <a:off x="4235" y="3434"/>
                  <a:ext cx="464" cy="179"/>
                </a:xfrm>
                <a:prstGeom prst="rect">
                  <a:avLst/>
                </a:prstGeom>
                <a:pattFill prst="wdUpDiag">
                  <a:fgClr>
                    <a:srgbClr val="000000"/>
                  </a:fgClr>
                  <a:bgClr>
                    <a:srgbClr val="FFFFFF"/>
                  </a:bgClr>
                </a:patt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1" name="Line 124"/>
                <p:cNvSpPr>
                  <a:spLocks noChangeShapeType="1"/>
                </p:cNvSpPr>
                <p:nvPr/>
              </p:nvSpPr>
              <p:spPr bwMode="auto">
                <a:xfrm>
                  <a:off x="4235" y="3434"/>
                  <a:ext cx="470" cy="1"/>
                </a:xfrm>
                <a:prstGeom prst="line">
                  <a:avLst/>
                </a:prstGeom>
                <a:noFill/>
                <a:ln w="222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77" name="Line 122"/>
              <p:cNvSpPr>
                <a:spLocks noChangeShapeType="1"/>
              </p:cNvSpPr>
              <p:nvPr/>
            </p:nvSpPr>
            <p:spPr bwMode="auto">
              <a:xfrm rot="19800000">
                <a:off x="6024" y="6010"/>
                <a:ext cx="5" cy="30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Line 121"/>
              <p:cNvSpPr>
                <a:spLocks noChangeShapeType="1"/>
              </p:cNvSpPr>
              <p:nvPr/>
            </p:nvSpPr>
            <p:spPr bwMode="auto">
              <a:xfrm rot="1800000">
                <a:off x="5817" y="6010"/>
                <a:ext cx="11" cy="3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9" name="Oval 120"/>
              <p:cNvSpPr>
                <a:spLocks noChangeArrowheads="1"/>
              </p:cNvSpPr>
              <p:nvPr/>
            </p:nvSpPr>
            <p:spPr bwMode="auto">
              <a:xfrm rot="5400000">
                <a:off x="5854" y="5950"/>
                <a:ext cx="124" cy="124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2" name="Rectangle 118"/>
            <p:cNvSpPr>
              <a:spLocks noChangeArrowheads="1"/>
            </p:cNvSpPr>
            <p:nvPr/>
          </p:nvSpPr>
          <p:spPr bwMode="auto">
            <a:xfrm rot="19800000" flipH="1">
              <a:off x="4389" y="10153"/>
              <a:ext cx="122" cy="2211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23" name="Group 111"/>
            <p:cNvGrpSpPr>
              <a:grpSpLocks/>
            </p:cNvGrpSpPr>
            <p:nvPr/>
          </p:nvGrpSpPr>
          <p:grpSpPr bwMode="auto">
            <a:xfrm>
              <a:off x="4714" y="12167"/>
              <a:ext cx="582" cy="455"/>
              <a:chOff x="5596" y="5950"/>
              <a:chExt cx="680" cy="508"/>
            </a:xfrm>
          </p:grpSpPr>
          <p:grpSp>
            <p:nvGrpSpPr>
              <p:cNvPr id="70" name="Group 115"/>
              <p:cNvGrpSpPr>
                <a:grpSpLocks/>
              </p:cNvGrpSpPr>
              <p:nvPr/>
            </p:nvGrpSpPr>
            <p:grpSpPr bwMode="auto">
              <a:xfrm>
                <a:off x="5596" y="6305"/>
                <a:ext cx="680" cy="153"/>
                <a:chOff x="4235" y="3434"/>
                <a:chExt cx="470" cy="179"/>
              </a:xfrm>
            </p:grpSpPr>
            <p:sp>
              <p:nvSpPr>
                <p:cNvPr id="74" name="Rectangle 117" descr="宽上对角线"/>
                <p:cNvSpPr>
                  <a:spLocks noChangeArrowheads="1"/>
                </p:cNvSpPr>
                <p:nvPr/>
              </p:nvSpPr>
              <p:spPr bwMode="auto">
                <a:xfrm>
                  <a:off x="4235" y="3434"/>
                  <a:ext cx="464" cy="179"/>
                </a:xfrm>
                <a:prstGeom prst="rect">
                  <a:avLst/>
                </a:prstGeom>
                <a:pattFill prst="wdUpDiag">
                  <a:fgClr>
                    <a:srgbClr val="000000"/>
                  </a:fgClr>
                  <a:bgClr>
                    <a:srgbClr val="FFFFFF"/>
                  </a:bgClr>
                </a:patt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5" name="Line 116"/>
                <p:cNvSpPr>
                  <a:spLocks noChangeShapeType="1"/>
                </p:cNvSpPr>
                <p:nvPr/>
              </p:nvSpPr>
              <p:spPr bwMode="auto">
                <a:xfrm>
                  <a:off x="4235" y="3434"/>
                  <a:ext cx="470" cy="1"/>
                </a:xfrm>
                <a:prstGeom prst="line">
                  <a:avLst/>
                </a:prstGeom>
                <a:noFill/>
                <a:ln w="222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71" name="Line 114"/>
              <p:cNvSpPr>
                <a:spLocks noChangeShapeType="1"/>
              </p:cNvSpPr>
              <p:nvPr/>
            </p:nvSpPr>
            <p:spPr bwMode="auto">
              <a:xfrm rot="19800000">
                <a:off x="6024" y="6010"/>
                <a:ext cx="5" cy="30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2" name="Line 113"/>
              <p:cNvSpPr>
                <a:spLocks noChangeShapeType="1"/>
              </p:cNvSpPr>
              <p:nvPr/>
            </p:nvSpPr>
            <p:spPr bwMode="auto">
              <a:xfrm rot="1800000">
                <a:off x="5817" y="6010"/>
                <a:ext cx="11" cy="32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3" name="Oval 112"/>
              <p:cNvSpPr>
                <a:spLocks noChangeArrowheads="1"/>
              </p:cNvSpPr>
              <p:nvPr/>
            </p:nvSpPr>
            <p:spPr bwMode="auto">
              <a:xfrm rot="5400000">
                <a:off x="5854" y="5950"/>
                <a:ext cx="124" cy="124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4" name="Oval 110"/>
            <p:cNvSpPr>
              <a:spLocks noChangeArrowheads="1"/>
            </p:cNvSpPr>
            <p:nvPr/>
          </p:nvSpPr>
          <p:spPr bwMode="auto">
            <a:xfrm>
              <a:off x="3858" y="10266"/>
              <a:ext cx="125" cy="12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Oval 109"/>
            <p:cNvSpPr>
              <a:spLocks noChangeArrowheads="1"/>
            </p:cNvSpPr>
            <p:nvPr/>
          </p:nvSpPr>
          <p:spPr bwMode="auto">
            <a:xfrm>
              <a:off x="4490" y="11364"/>
              <a:ext cx="83" cy="85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AutoShape 108"/>
            <p:cNvSpPr>
              <a:spLocks noChangeArrowheads="1"/>
            </p:cNvSpPr>
            <p:nvPr/>
          </p:nvSpPr>
          <p:spPr bwMode="auto">
            <a:xfrm rot="18000000">
              <a:off x="2692" y="11380"/>
              <a:ext cx="1191" cy="66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Oval 107"/>
            <p:cNvSpPr>
              <a:spLocks noChangeAspect="1" noChangeArrowheads="1"/>
            </p:cNvSpPr>
            <p:nvPr/>
          </p:nvSpPr>
          <p:spPr bwMode="auto">
            <a:xfrm>
              <a:off x="3248" y="11364"/>
              <a:ext cx="79" cy="81"/>
            </a:xfrm>
            <a:prstGeom prst="ellipse">
              <a:avLst/>
            </a:prstGeom>
            <a:gradFill rotWithShape="1">
              <a:gsLst>
                <a:gs pos="0">
                  <a:srgbClr val="000000"/>
                </a:gs>
                <a:gs pos="100000">
                  <a:srgbClr val="000000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Line 106"/>
            <p:cNvSpPr>
              <a:spLocks noChangeShapeType="1"/>
            </p:cNvSpPr>
            <p:nvPr/>
          </p:nvSpPr>
          <p:spPr bwMode="auto">
            <a:xfrm flipH="1">
              <a:off x="4288" y="12223"/>
              <a:ext cx="70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Arc 105"/>
            <p:cNvSpPr>
              <a:spLocks/>
            </p:cNvSpPr>
            <p:nvPr/>
          </p:nvSpPr>
          <p:spPr bwMode="auto">
            <a:xfrm rot="3600000" flipV="1">
              <a:off x="4579" y="11913"/>
              <a:ext cx="228" cy="265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420 w 21888"/>
                <a:gd name="T1" fmla="*/ 25841 h 25841"/>
                <a:gd name="T2" fmla="*/ 21888 w 21888"/>
                <a:gd name="T3" fmla="*/ 2 h 25841"/>
                <a:gd name="T4" fmla="*/ 21600 w 21888"/>
                <a:gd name="T5" fmla="*/ 21600 h 258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888" h="25841" fill="none" extrusionOk="0">
                  <a:moveTo>
                    <a:pt x="420" y="25840"/>
                  </a:moveTo>
                  <a:cubicBezTo>
                    <a:pt x="140" y="24444"/>
                    <a:pt x="0" y="2302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1696" y="-1"/>
                    <a:pt x="21792" y="0"/>
                    <a:pt x="21888" y="1"/>
                  </a:cubicBezTo>
                </a:path>
                <a:path w="21888" h="25841" stroke="0" extrusionOk="0">
                  <a:moveTo>
                    <a:pt x="420" y="25840"/>
                  </a:moveTo>
                  <a:cubicBezTo>
                    <a:pt x="140" y="24444"/>
                    <a:pt x="0" y="23024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1696" y="-1"/>
                    <a:pt x="21792" y="0"/>
                    <a:pt x="21888" y="1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Arc 104"/>
            <p:cNvSpPr>
              <a:spLocks/>
            </p:cNvSpPr>
            <p:nvPr/>
          </p:nvSpPr>
          <p:spPr bwMode="auto">
            <a:xfrm rot="3600000" flipH="1">
              <a:off x="3389" y="11161"/>
              <a:ext cx="282" cy="208"/>
            </a:xfrm>
            <a:custGeom>
              <a:avLst/>
              <a:gdLst>
                <a:gd name="G0" fmla="+- 12868 0 0"/>
                <a:gd name="G1" fmla="+- 21600 0 0"/>
                <a:gd name="G2" fmla="+- 21600 0 0"/>
                <a:gd name="T0" fmla="*/ 0 w 28833"/>
                <a:gd name="T1" fmla="*/ 4251 h 21600"/>
                <a:gd name="T2" fmla="*/ 28833 w 28833"/>
                <a:gd name="T3" fmla="*/ 7051 h 21600"/>
                <a:gd name="T4" fmla="*/ 12868 w 28833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833" h="21600" fill="none" extrusionOk="0">
                  <a:moveTo>
                    <a:pt x="0" y="4251"/>
                  </a:moveTo>
                  <a:cubicBezTo>
                    <a:pt x="3722" y="1490"/>
                    <a:pt x="8233" y="-1"/>
                    <a:pt x="12868" y="0"/>
                  </a:cubicBezTo>
                  <a:cubicBezTo>
                    <a:pt x="18944" y="0"/>
                    <a:pt x="24740" y="2559"/>
                    <a:pt x="28833" y="7050"/>
                  </a:cubicBezTo>
                </a:path>
                <a:path w="28833" h="21600" stroke="0" extrusionOk="0">
                  <a:moveTo>
                    <a:pt x="0" y="4251"/>
                  </a:moveTo>
                  <a:cubicBezTo>
                    <a:pt x="3722" y="1490"/>
                    <a:pt x="8233" y="-1"/>
                    <a:pt x="12868" y="0"/>
                  </a:cubicBezTo>
                  <a:cubicBezTo>
                    <a:pt x="18944" y="0"/>
                    <a:pt x="24740" y="2559"/>
                    <a:pt x="28833" y="7050"/>
                  </a:cubicBezTo>
                  <a:lnTo>
                    <a:pt x="12868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Text Box 103"/>
            <p:cNvSpPr txBox="1">
              <a:spLocks noChangeArrowheads="1"/>
            </p:cNvSpPr>
            <p:nvPr/>
          </p:nvSpPr>
          <p:spPr bwMode="auto">
            <a:xfrm>
              <a:off x="4202" y="11872"/>
              <a:ext cx="577" cy="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6000" tIns="7200" rIns="36000" bIns="72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60°</a:t>
              </a: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2" name="Text Box 102"/>
            <p:cNvSpPr txBox="1">
              <a:spLocks noChangeArrowheads="1"/>
            </p:cNvSpPr>
            <p:nvPr/>
          </p:nvSpPr>
          <p:spPr bwMode="auto">
            <a:xfrm>
              <a:off x="3653" y="10983"/>
              <a:ext cx="645" cy="3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6000" tIns="7200" rIns="36000" bIns="72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60°</a:t>
              </a:r>
              <a:endPara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3" name="Text Box 101"/>
            <p:cNvSpPr txBox="1">
              <a:spLocks noChangeArrowheads="1"/>
            </p:cNvSpPr>
            <p:nvPr/>
          </p:nvSpPr>
          <p:spPr bwMode="auto">
            <a:xfrm>
              <a:off x="2447" y="11805"/>
              <a:ext cx="292" cy="3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6000" tIns="7200" rIns="36000" bIns="72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" name="Text Box 100"/>
            <p:cNvSpPr txBox="1">
              <a:spLocks noChangeArrowheads="1"/>
            </p:cNvSpPr>
            <p:nvPr/>
          </p:nvSpPr>
          <p:spPr bwMode="auto">
            <a:xfrm>
              <a:off x="3039" y="11017"/>
              <a:ext cx="292" cy="3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6000" tIns="7200" rIns="36000" bIns="72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5" name="Text Box 99"/>
            <p:cNvSpPr txBox="1">
              <a:spLocks noChangeArrowheads="1"/>
            </p:cNvSpPr>
            <p:nvPr/>
          </p:nvSpPr>
          <p:spPr bwMode="auto">
            <a:xfrm>
              <a:off x="3996" y="10064"/>
              <a:ext cx="292" cy="3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6000" tIns="7200" rIns="36000" bIns="72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6" name="Text Box 98"/>
            <p:cNvSpPr txBox="1">
              <a:spLocks noChangeArrowheads="1"/>
            </p:cNvSpPr>
            <p:nvPr/>
          </p:nvSpPr>
          <p:spPr bwMode="auto">
            <a:xfrm>
              <a:off x="4301" y="11462"/>
              <a:ext cx="292" cy="3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6000" tIns="7200" rIns="36000" bIns="72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7" name="Text Box 97"/>
            <p:cNvSpPr txBox="1">
              <a:spLocks noChangeArrowheads="1"/>
            </p:cNvSpPr>
            <p:nvPr/>
          </p:nvSpPr>
          <p:spPr bwMode="auto">
            <a:xfrm>
              <a:off x="3676" y="11500"/>
              <a:ext cx="292" cy="3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6000" tIns="7200" rIns="36000" bIns="72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8" name="Text Box 96"/>
            <p:cNvSpPr txBox="1">
              <a:spLocks noChangeArrowheads="1"/>
            </p:cNvSpPr>
            <p:nvPr/>
          </p:nvSpPr>
          <p:spPr bwMode="auto">
            <a:xfrm>
              <a:off x="6361" y="11051"/>
              <a:ext cx="292" cy="3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6000" tIns="7200" rIns="36000" bIns="72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9" name="Text Box 95"/>
            <p:cNvSpPr txBox="1">
              <a:spLocks noChangeArrowheads="1"/>
            </p:cNvSpPr>
            <p:nvPr/>
          </p:nvSpPr>
          <p:spPr bwMode="auto">
            <a:xfrm>
              <a:off x="2070" y="12241"/>
              <a:ext cx="582" cy="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6000" tIns="7200" rIns="36000" bIns="72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1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kumimoji="0" lang="en-US" altLang="zh-CN" sz="1200" b="1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Ax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0" name="Line 94"/>
            <p:cNvSpPr>
              <a:spLocks noChangeShapeType="1"/>
            </p:cNvSpPr>
            <p:nvPr/>
          </p:nvSpPr>
          <p:spPr bwMode="auto">
            <a:xfrm flipV="1">
              <a:off x="4531" y="11418"/>
              <a:ext cx="1" cy="4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Line 93"/>
            <p:cNvSpPr>
              <a:spLocks noChangeShapeType="1"/>
            </p:cNvSpPr>
            <p:nvPr/>
          </p:nvSpPr>
          <p:spPr bwMode="auto">
            <a:xfrm rot="5400000">
              <a:off x="5414" y="10869"/>
              <a:ext cx="1" cy="17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Text Box 92"/>
            <p:cNvSpPr txBox="1">
              <a:spLocks noChangeArrowheads="1"/>
            </p:cNvSpPr>
            <p:nvPr/>
          </p:nvSpPr>
          <p:spPr bwMode="auto">
            <a:xfrm>
              <a:off x="5249" y="11462"/>
              <a:ext cx="700" cy="3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6000" tIns="7200" rIns="36000" bIns="72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1.6 m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3" name="Arc 91"/>
            <p:cNvSpPr>
              <a:spLocks/>
            </p:cNvSpPr>
            <p:nvPr/>
          </p:nvSpPr>
          <p:spPr bwMode="auto">
            <a:xfrm rot="-4798198" flipH="1" flipV="1">
              <a:off x="3645" y="11264"/>
              <a:ext cx="775" cy="350"/>
            </a:xfrm>
            <a:custGeom>
              <a:avLst/>
              <a:gdLst>
                <a:gd name="G0" fmla="+- 21244 0 0"/>
                <a:gd name="G1" fmla="+- 21600 0 0"/>
                <a:gd name="G2" fmla="+- 21600 0 0"/>
                <a:gd name="T0" fmla="*/ 0 w 39498"/>
                <a:gd name="T1" fmla="*/ 17693 h 21600"/>
                <a:gd name="T2" fmla="*/ 39498 w 39498"/>
                <a:gd name="T3" fmla="*/ 10052 h 21600"/>
                <a:gd name="T4" fmla="*/ 21244 w 3949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498" h="21600" fill="none" extrusionOk="0">
                  <a:moveTo>
                    <a:pt x="0" y="17693"/>
                  </a:moveTo>
                  <a:cubicBezTo>
                    <a:pt x="1885" y="7442"/>
                    <a:pt x="10821" y="-1"/>
                    <a:pt x="21244" y="0"/>
                  </a:cubicBezTo>
                  <a:cubicBezTo>
                    <a:pt x="28649" y="0"/>
                    <a:pt x="35538" y="3793"/>
                    <a:pt x="39497" y="10052"/>
                  </a:cubicBezTo>
                </a:path>
                <a:path w="39498" h="21600" stroke="0" extrusionOk="0">
                  <a:moveTo>
                    <a:pt x="0" y="17693"/>
                  </a:moveTo>
                  <a:cubicBezTo>
                    <a:pt x="1885" y="7442"/>
                    <a:pt x="10821" y="-1"/>
                    <a:pt x="21244" y="0"/>
                  </a:cubicBezTo>
                  <a:cubicBezTo>
                    <a:pt x="28649" y="0"/>
                    <a:pt x="35538" y="3793"/>
                    <a:pt x="39497" y="10052"/>
                  </a:cubicBezTo>
                  <a:lnTo>
                    <a:pt x="21244" y="2160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sm" len="med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Text Box 90"/>
            <p:cNvSpPr txBox="1">
              <a:spLocks noChangeArrowheads="1"/>
            </p:cNvSpPr>
            <p:nvPr/>
          </p:nvSpPr>
          <p:spPr bwMode="auto">
            <a:xfrm>
              <a:off x="5048" y="11932"/>
              <a:ext cx="292" cy="3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6000" tIns="7200" rIns="36000" bIns="72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" name="Line 89"/>
            <p:cNvSpPr>
              <a:spLocks noChangeShapeType="1"/>
            </p:cNvSpPr>
            <p:nvPr/>
          </p:nvSpPr>
          <p:spPr bwMode="auto">
            <a:xfrm flipV="1">
              <a:off x="6325" y="11430"/>
              <a:ext cx="1" cy="4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grpSp>
          <p:nvGrpSpPr>
            <p:cNvPr id="46" name="Group 76"/>
            <p:cNvGrpSpPr>
              <a:grpSpLocks/>
            </p:cNvGrpSpPr>
            <p:nvPr/>
          </p:nvGrpSpPr>
          <p:grpSpPr bwMode="auto">
            <a:xfrm>
              <a:off x="4518" y="10997"/>
              <a:ext cx="1784" cy="348"/>
              <a:chOff x="2700" y="3780"/>
              <a:chExt cx="2400" cy="440"/>
            </a:xfrm>
          </p:grpSpPr>
          <p:sp>
            <p:nvSpPr>
              <p:cNvPr id="58" name="Line 88"/>
              <p:cNvSpPr>
                <a:spLocks noChangeShapeType="1"/>
              </p:cNvSpPr>
              <p:nvPr/>
            </p:nvSpPr>
            <p:spPr bwMode="auto">
              <a:xfrm>
                <a:off x="2700" y="3780"/>
                <a:ext cx="239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59" name="Line 87"/>
              <p:cNvSpPr>
                <a:spLocks noChangeShapeType="1"/>
              </p:cNvSpPr>
              <p:nvPr/>
            </p:nvSpPr>
            <p:spPr bwMode="auto">
              <a:xfrm>
                <a:off x="2700" y="3780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0" name="Line 86"/>
              <p:cNvSpPr>
                <a:spLocks noChangeShapeType="1"/>
              </p:cNvSpPr>
              <p:nvPr/>
            </p:nvSpPr>
            <p:spPr bwMode="auto">
              <a:xfrm>
                <a:off x="2940" y="3795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1" name="Line 85"/>
              <p:cNvSpPr>
                <a:spLocks noChangeShapeType="1"/>
              </p:cNvSpPr>
              <p:nvPr/>
            </p:nvSpPr>
            <p:spPr bwMode="auto">
              <a:xfrm>
                <a:off x="3180" y="3795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2" name="Line 84"/>
              <p:cNvSpPr>
                <a:spLocks noChangeShapeType="1"/>
              </p:cNvSpPr>
              <p:nvPr/>
            </p:nvSpPr>
            <p:spPr bwMode="auto">
              <a:xfrm>
                <a:off x="3420" y="3795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3" name="Line 83"/>
              <p:cNvSpPr>
                <a:spLocks noChangeShapeType="1"/>
              </p:cNvSpPr>
              <p:nvPr/>
            </p:nvSpPr>
            <p:spPr bwMode="auto">
              <a:xfrm>
                <a:off x="3660" y="3795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4" name="Line 82"/>
              <p:cNvSpPr>
                <a:spLocks noChangeShapeType="1"/>
              </p:cNvSpPr>
              <p:nvPr/>
            </p:nvSpPr>
            <p:spPr bwMode="auto">
              <a:xfrm>
                <a:off x="3900" y="3795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5" name="Line 81"/>
              <p:cNvSpPr>
                <a:spLocks noChangeShapeType="1"/>
              </p:cNvSpPr>
              <p:nvPr/>
            </p:nvSpPr>
            <p:spPr bwMode="auto">
              <a:xfrm>
                <a:off x="4140" y="3795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6" name="Line 80"/>
              <p:cNvSpPr>
                <a:spLocks noChangeShapeType="1"/>
              </p:cNvSpPr>
              <p:nvPr/>
            </p:nvSpPr>
            <p:spPr bwMode="auto">
              <a:xfrm>
                <a:off x="4380" y="3795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7" name="Line 79"/>
              <p:cNvSpPr>
                <a:spLocks noChangeShapeType="1"/>
              </p:cNvSpPr>
              <p:nvPr/>
            </p:nvSpPr>
            <p:spPr bwMode="auto">
              <a:xfrm>
                <a:off x="4620" y="3795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8" name="Line 78"/>
              <p:cNvSpPr>
                <a:spLocks noChangeShapeType="1"/>
              </p:cNvSpPr>
              <p:nvPr/>
            </p:nvSpPr>
            <p:spPr bwMode="auto">
              <a:xfrm>
                <a:off x="4860" y="3795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9" name="Line 77"/>
              <p:cNvSpPr>
                <a:spLocks noChangeShapeType="1"/>
              </p:cNvSpPr>
              <p:nvPr/>
            </p:nvSpPr>
            <p:spPr bwMode="auto">
              <a:xfrm>
                <a:off x="5100" y="3780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47" name="Text Box 75"/>
            <p:cNvSpPr txBox="1">
              <a:spLocks noChangeArrowheads="1"/>
            </p:cNvSpPr>
            <p:nvPr/>
          </p:nvSpPr>
          <p:spPr bwMode="auto">
            <a:xfrm>
              <a:off x="5289" y="10663"/>
              <a:ext cx="289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6000" tIns="7200" rIns="36000" bIns="72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1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pSp>
          <p:nvGrpSpPr>
            <p:cNvPr id="48" name="Group 70"/>
            <p:cNvGrpSpPr>
              <a:grpSpLocks/>
            </p:cNvGrpSpPr>
            <p:nvPr/>
          </p:nvGrpSpPr>
          <p:grpSpPr bwMode="auto">
            <a:xfrm>
              <a:off x="2108" y="12221"/>
              <a:ext cx="1270" cy="837"/>
              <a:chOff x="2327" y="7989"/>
              <a:chExt cx="1316" cy="895"/>
            </a:xfrm>
          </p:grpSpPr>
          <p:grpSp>
            <p:nvGrpSpPr>
              <p:cNvPr id="54" name="Group 72"/>
              <p:cNvGrpSpPr>
                <a:grpSpLocks/>
              </p:cNvGrpSpPr>
              <p:nvPr/>
            </p:nvGrpSpPr>
            <p:grpSpPr bwMode="auto">
              <a:xfrm>
                <a:off x="2327" y="7989"/>
                <a:ext cx="731" cy="599"/>
                <a:chOff x="2327" y="7989"/>
                <a:chExt cx="731" cy="599"/>
              </a:xfrm>
            </p:grpSpPr>
            <p:sp>
              <p:nvSpPr>
                <p:cNvPr id="56" name="Line 74"/>
                <p:cNvSpPr>
                  <a:spLocks noChangeShapeType="1"/>
                </p:cNvSpPr>
                <p:nvPr/>
              </p:nvSpPr>
              <p:spPr bwMode="auto">
                <a:xfrm>
                  <a:off x="3057" y="8010"/>
                  <a:ext cx="1" cy="57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 type="triangle" w="sm" len="lg"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" name="Line 73"/>
                <p:cNvSpPr>
                  <a:spLocks noChangeShapeType="1"/>
                </p:cNvSpPr>
                <p:nvPr/>
              </p:nvSpPr>
              <p:spPr bwMode="auto">
                <a:xfrm rot="5400000">
                  <a:off x="2670" y="7646"/>
                  <a:ext cx="1" cy="688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 type="triangle" w="sm" len="lg"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55" name="Text Box 71"/>
              <p:cNvSpPr txBox="1">
                <a:spLocks noChangeArrowheads="1"/>
              </p:cNvSpPr>
              <p:nvPr/>
            </p:nvSpPr>
            <p:spPr bwMode="auto">
              <a:xfrm>
                <a:off x="3163" y="8306"/>
                <a:ext cx="480" cy="5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36000" tIns="7200" rIns="36000" bIns="720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49" name="Line 69"/>
            <p:cNvSpPr>
              <a:spLocks noChangeShapeType="1"/>
            </p:cNvSpPr>
            <p:nvPr/>
          </p:nvSpPr>
          <p:spPr bwMode="auto">
            <a:xfrm>
              <a:off x="4992" y="12245"/>
              <a:ext cx="1" cy="5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Line 68"/>
            <p:cNvSpPr>
              <a:spLocks noChangeShapeType="1"/>
            </p:cNvSpPr>
            <p:nvPr/>
          </p:nvSpPr>
          <p:spPr bwMode="auto">
            <a:xfrm rot="16200000" flipH="1">
              <a:off x="5365" y="11882"/>
              <a:ext cx="1" cy="72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Text Box 67"/>
            <p:cNvSpPr txBox="1">
              <a:spLocks noChangeArrowheads="1"/>
            </p:cNvSpPr>
            <p:nvPr/>
          </p:nvSpPr>
          <p:spPr bwMode="auto">
            <a:xfrm>
              <a:off x="5006" y="12622"/>
              <a:ext cx="424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6000" tIns="7200" rIns="36000" bIns="72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kumimoji="0" lang="en-US" altLang="zh-CN" sz="10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Ey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2" name="Text Box 66"/>
            <p:cNvSpPr txBox="1">
              <a:spLocks noChangeArrowheads="1"/>
            </p:cNvSpPr>
            <p:nvPr/>
          </p:nvSpPr>
          <p:spPr bwMode="auto">
            <a:xfrm>
              <a:off x="5684" y="12008"/>
              <a:ext cx="424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6000" tIns="7200" rIns="36000" bIns="72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kumimoji="0" lang="en-US" altLang="zh-CN" sz="10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Ex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3" name="Text Box 65"/>
            <p:cNvSpPr txBox="1">
              <a:spLocks noChangeArrowheads="1"/>
            </p:cNvSpPr>
            <p:nvPr/>
          </p:nvSpPr>
          <p:spPr bwMode="auto">
            <a:xfrm>
              <a:off x="2768" y="12622"/>
              <a:ext cx="582" cy="3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6000" tIns="7200" rIns="36000" bIns="72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1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kumimoji="0" lang="en-US" altLang="zh-CN" sz="1200" b="1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Ay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grpSp>
        <p:nvGrpSpPr>
          <p:cNvPr id="82" name="Group 33"/>
          <p:cNvGrpSpPr>
            <a:grpSpLocks/>
          </p:cNvGrpSpPr>
          <p:nvPr/>
        </p:nvGrpSpPr>
        <p:grpSpPr bwMode="auto">
          <a:xfrm>
            <a:off x="5753855" y="2567963"/>
            <a:ext cx="2687638" cy="938213"/>
            <a:chOff x="1940" y="9213"/>
            <a:chExt cx="4233" cy="1477"/>
          </a:xfrm>
        </p:grpSpPr>
        <p:sp>
          <p:nvSpPr>
            <p:cNvPr id="83" name="Rectangle 60"/>
            <p:cNvSpPr>
              <a:spLocks noChangeArrowheads="1"/>
            </p:cNvSpPr>
            <p:nvPr/>
          </p:nvSpPr>
          <p:spPr bwMode="auto">
            <a:xfrm rot="5400000" flipH="1">
              <a:off x="4091" y="8234"/>
              <a:ext cx="125" cy="340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4" name="Text Box 59"/>
            <p:cNvSpPr txBox="1">
              <a:spLocks noChangeArrowheads="1"/>
            </p:cNvSpPr>
            <p:nvPr/>
          </p:nvSpPr>
          <p:spPr bwMode="auto">
            <a:xfrm>
              <a:off x="2153" y="9872"/>
              <a:ext cx="30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6000" tIns="7200" rIns="36000" bIns="72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5" name="Text Box 58"/>
            <p:cNvSpPr txBox="1">
              <a:spLocks noChangeArrowheads="1"/>
            </p:cNvSpPr>
            <p:nvPr/>
          </p:nvSpPr>
          <p:spPr bwMode="auto">
            <a:xfrm>
              <a:off x="3605" y="9477"/>
              <a:ext cx="30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6000" tIns="7200" rIns="36000" bIns="72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6" name="Text Box 57"/>
            <p:cNvSpPr txBox="1">
              <a:spLocks noChangeArrowheads="1"/>
            </p:cNvSpPr>
            <p:nvPr/>
          </p:nvSpPr>
          <p:spPr bwMode="auto">
            <a:xfrm>
              <a:off x="5873" y="9716"/>
              <a:ext cx="30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6000" tIns="7200" rIns="36000" bIns="72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7" name="Line 56"/>
            <p:cNvSpPr>
              <a:spLocks noChangeShapeType="1"/>
            </p:cNvSpPr>
            <p:nvPr/>
          </p:nvSpPr>
          <p:spPr bwMode="auto">
            <a:xfrm rot="5400000">
              <a:off x="4307" y="9547"/>
              <a:ext cx="1" cy="77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8" name="Line 55"/>
            <p:cNvSpPr>
              <a:spLocks noChangeShapeType="1"/>
            </p:cNvSpPr>
            <p:nvPr/>
          </p:nvSpPr>
          <p:spPr bwMode="auto">
            <a:xfrm>
              <a:off x="3933" y="9916"/>
              <a:ext cx="1" cy="77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9" name="Oval 54"/>
            <p:cNvSpPr>
              <a:spLocks noChangeArrowheads="1"/>
            </p:cNvSpPr>
            <p:nvPr/>
          </p:nvSpPr>
          <p:spPr bwMode="auto">
            <a:xfrm>
              <a:off x="3905" y="9888"/>
              <a:ext cx="68" cy="68"/>
            </a:xfrm>
            <a:prstGeom prst="ellipse">
              <a:avLst/>
            </a:prstGeom>
            <a:solidFill>
              <a:srgbClr val="000000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0" name="Arc 53"/>
            <p:cNvSpPr>
              <a:spLocks/>
            </p:cNvSpPr>
            <p:nvPr/>
          </p:nvSpPr>
          <p:spPr bwMode="auto">
            <a:xfrm rot="-4798198" flipH="1" flipV="1">
              <a:off x="2808" y="9759"/>
              <a:ext cx="780" cy="360"/>
            </a:xfrm>
            <a:custGeom>
              <a:avLst/>
              <a:gdLst>
                <a:gd name="G0" fmla="+- 21244 0 0"/>
                <a:gd name="G1" fmla="+- 21600 0 0"/>
                <a:gd name="G2" fmla="+- 21600 0 0"/>
                <a:gd name="T0" fmla="*/ 0 w 39498"/>
                <a:gd name="T1" fmla="*/ 17693 h 21600"/>
                <a:gd name="T2" fmla="*/ 39498 w 39498"/>
                <a:gd name="T3" fmla="*/ 10052 h 21600"/>
                <a:gd name="T4" fmla="*/ 21244 w 3949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9498" h="21600" fill="none" extrusionOk="0">
                  <a:moveTo>
                    <a:pt x="0" y="17693"/>
                  </a:moveTo>
                  <a:cubicBezTo>
                    <a:pt x="1885" y="7442"/>
                    <a:pt x="10821" y="-1"/>
                    <a:pt x="21244" y="0"/>
                  </a:cubicBezTo>
                  <a:cubicBezTo>
                    <a:pt x="28649" y="0"/>
                    <a:pt x="35538" y="3793"/>
                    <a:pt x="39497" y="10052"/>
                  </a:cubicBezTo>
                </a:path>
                <a:path w="39498" h="21600" stroke="0" extrusionOk="0">
                  <a:moveTo>
                    <a:pt x="0" y="17693"/>
                  </a:moveTo>
                  <a:cubicBezTo>
                    <a:pt x="1885" y="7442"/>
                    <a:pt x="10821" y="-1"/>
                    <a:pt x="21244" y="0"/>
                  </a:cubicBezTo>
                  <a:cubicBezTo>
                    <a:pt x="28649" y="0"/>
                    <a:pt x="35538" y="3793"/>
                    <a:pt x="39497" y="10052"/>
                  </a:cubicBezTo>
                  <a:lnTo>
                    <a:pt x="21244" y="21600"/>
                  </a:lnTo>
                  <a:close/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 type="none" w="sm" len="med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1" name="Text Box 52"/>
            <p:cNvSpPr txBox="1">
              <a:spLocks noChangeArrowheads="1"/>
            </p:cNvSpPr>
            <p:nvPr/>
          </p:nvSpPr>
          <p:spPr bwMode="auto">
            <a:xfrm>
              <a:off x="2896" y="10229"/>
              <a:ext cx="30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6000" tIns="7200" rIns="36000" bIns="72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2" name="Line 51"/>
            <p:cNvSpPr>
              <a:spLocks noChangeShapeType="1"/>
            </p:cNvSpPr>
            <p:nvPr/>
          </p:nvSpPr>
          <p:spPr bwMode="auto">
            <a:xfrm rot="18000000">
              <a:off x="2326" y="9308"/>
              <a:ext cx="1" cy="77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3" name="Text Box 50"/>
            <p:cNvSpPr txBox="1">
              <a:spLocks noChangeArrowheads="1"/>
            </p:cNvSpPr>
            <p:nvPr/>
          </p:nvSpPr>
          <p:spPr bwMode="auto">
            <a:xfrm>
              <a:off x="3516" y="10229"/>
              <a:ext cx="424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6000" tIns="7200" rIns="36000" bIns="72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kumimoji="0" lang="en-US" altLang="zh-CN" sz="10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Dy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4" name="Text Box 49"/>
            <p:cNvSpPr txBox="1">
              <a:spLocks noChangeArrowheads="1"/>
            </p:cNvSpPr>
            <p:nvPr/>
          </p:nvSpPr>
          <p:spPr bwMode="auto">
            <a:xfrm>
              <a:off x="4031" y="9997"/>
              <a:ext cx="424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6000" tIns="7200" rIns="36000" bIns="72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kumimoji="0" lang="en-US" altLang="zh-CN" sz="10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Dx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5" name="Text Box 48"/>
            <p:cNvSpPr txBox="1">
              <a:spLocks noChangeArrowheads="1"/>
            </p:cNvSpPr>
            <p:nvPr/>
          </p:nvSpPr>
          <p:spPr bwMode="auto">
            <a:xfrm>
              <a:off x="2070" y="9337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6000" tIns="7200" rIns="36000" bIns="72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F </a:t>
              </a:r>
              <a:r>
                <a:rPr kumimoji="0" lang="en-US" altLang="zh-CN" sz="900" b="1" i="1" u="none" strike="noStrike" cap="none" normalizeH="0" baseline="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′</a:t>
              </a:r>
              <a:r>
                <a:rPr kumimoji="0" lang="en-US" altLang="zh-CN" sz="10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6" name="Text Box 47"/>
            <p:cNvSpPr txBox="1">
              <a:spLocks noChangeArrowheads="1"/>
            </p:cNvSpPr>
            <p:nvPr/>
          </p:nvSpPr>
          <p:spPr bwMode="auto">
            <a:xfrm>
              <a:off x="4767" y="9213"/>
              <a:ext cx="470" cy="4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6000" tIns="7200" rIns="36000" bIns="72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1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pSp>
          <p:nvGrpSpPr>
            <p:cNvPr id="97" name="Group 34"/>
            <p:cNvGrpSpPr>
              <a:grpSpLocks/>
            </p:cNvGrpSpPr>
            <p:nvPr/>
          </p:nvGrpSpPr>
          <p:grpSpPr bwMode="auto">
            <a:xfrm>
              <a:off x="3982" y="9554"/>
              <a:ext cx="1839" cy="348"/>
              <a:chOff x="2700" y="3780"/>
              <a:chExt cx="2400" cy="440"/>
            </a:xfrm>
          </p:grpSpPr>
          <p:sp>
            <p:nvSpPr>
              <p:cNvPr id="98" name="Line 46"/>
              <p:cNvSpPr>
                <a:spLocks noChangeShapeType="1"/>
              </p:cNvSpPr>
              <p:nvPr/>
            </p:nvSpPr>
            <p:spPr bwMode="auto">
              <a:xfrm>
                <a:off x="2700" y="3780"/>
                <a:ext cx="239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9" name="Line 45"/>
              <p:cNvSpPr>
                <a:spLocks noChangeShapeType="1"/>
              </p:cNvSpPr>
              <p:nvPr/>
            </p:nvSpPr>
            <p:spPr bwMode="auto">
              <a:xfrm>
                <a:off x="2700" y="3780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0" name="Line 44"/>
              <p:cNvSpPr>
                <a:spLocks noChangeShapeType="1"/>
              </p:cNvSpPr>
              <p:nvPr/>
            </p:nvSpPr>
            <p:spPr bwMode="auto">
              <a:xfrm>
                <a:off x="2940" y="3795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Line 43"/>
              <p:cNvSpPr>
                <a:spLocks noChangeShapeType="1"/>
              </p:cNvSpPr>
              <p:nvPr/>
            </p:nvSpPr>
            <p:spPr bwMode="auto">
              <a:xfrm>
                <a:off x="3180" y="3795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2" name="Line 42"/>
              <p:cNvSpPr>
                <a:spLocks noChangeShapeType="1"/>
              </p:cNvSpPr>
              <p:nvPr/>
            </p:nvSpPr>
            <p:spPr bwMode="auto">
              <a:xfrm>
                <a:off x="3420" y="3795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3" name="Line 41"/>
              <p:cNvSpPr>
                <a:spLocks noChangeShapeType="1"/>
              </p:cNvSpPr>
              <p:nvPr/>
            </p:nvSpPr>
            <p:spPr bwMode="auto">
              <a:xfrm>
                <a:off x="3660" y="3795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4" name="Line 40"/>
              <p:cNvSpPr>
                <a:spLocks noChangeShapeType="1"/>
              </p:cNvSpPr>
              <p:nvPr/>
            </p:nvSpPr>
            <p:spPr bwMode="auto">
              <a:xfrm>
                <a:off x="3900" y="3795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Line 39"/>
              <p:cNvSpPr>
                <a:spLocks noChangeShapeType="1"/>
              </p:cNvSpPr>
              <p:nvPr/>
            </p:nvSpPr>
            <p:spPr bwMode="auto">
              <a:xfrm>
                <a:off x="4140" y="3795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6" name="Line 38"/>
              <p:cNvSpPr>
                <a:spLocks noChangeShapeType="1"/>
              </p:cNvSpPr>
              <p:nvPr/>
            </p:nvSpPr>
            <p:spPr bwMode="auto">
              <a:xfrm>
                <a:off x="4380" y="3795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7" name="Line 37"/>
              <p:cNvSpPr>
                <a:spLocks noChangeShapeType="1"/>
              </p:cNvSpPr>
              <p:nvPr/>
            </p:nvSpPr>
            <p:spPr bwMode="auto">
              <a:xfrm>
                <a:off x="4620" y="3795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8" name="Line 36"/>
              <p:cNvSpPr>
                <a:spLocks noChangeShapeType="1"/>
              </p:cNvSpPr>
              <p:nvPr/>
            </p:nvSpPr>
            <p:spPr bwMode="auto">
              <a:xfrm>
                <a:off x="4860" y="3795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9" name="Line 35"/>
              <p:cNvSpPr>
                <a:spLocks noChangeShapeType="1"/>
              </p:cNvSpPr>
              <p:nvPr/>
            </p:nvSpPr>
            <p:spPr bwMode="auto">
              <a:xfrm>
                <a:off x="5100" y="3780"/>
                <a:ext cx="0" cy="42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110" name="Group 10"/>
          <p:cNvGrpSpPr>
            <a:grpSpLocks/>
          </p:cNvGrpSpPr>
          <p:nvPr/>
        </p:nvGrpSpPr>
        <p:grpSpPr bwMode="auto">
          <a:xfrm>
            <a:off x="6539479" y="4360844"/>
            <a:ext cx="1663700" cy="1860550"/>
            <a:chOff x="7415" y="12146"/>
            <a:chExt cx="2621" cy="2931"/>
          </a:xfrm>
        </p:grpSpPr>
        <p:sp>
          <p:nvSpPr>
            <p:cNvPr id="111" name="Text Box 29"/>
            <p:cNvSpPr txBox="1">
              <a:spLocks noChangeArrowheads="1"/>
            </p:cNvSpPr>
            <p:nvPr/>
          </p:nvSpPr>
          <p:spPr bwMode="auto">
            <a:xfrm>
              <a:off x="7469" y="13979"/>
              <a:ext cx="424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6000" tIns="7200" rIns="36000" bIns="72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kumimoji="0" lang="en-US" altLang="zh-CN" sz="10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Ax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2" name="Text Box 28"/>
            <p:cNvSpPr txBox="1">
              <a:spLocks noChangeArrowheads="1"/>
            </p:cNvSpPr>
            <p:nvPr/>
          </p:nvSpPr>
          <p:spPr bwMode="auto">
            <a:xfrm>
              <a:off x="8129" y="14720"/>
              <a:ext cx="424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6000" tIns="7200" rIns="36000" bIns="72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kumimoji="0" lang="en-US" altLang="zh-CN" sz="10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Ay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grpSp>
          <p:nvGrpSpPr>
            <p:cNvPr id="113" name="Group 25"/>
            <p:cNvGrpSpPr>
              <a:grpSpLocks/>
            </p:cNvGrpSpPr>
            <p:nvPr/>
          </p:nvGrpSpPr>
          <p:grpSpPr bwMode="auto">
            <a:xfrm>
              <a:off x="7415" y="14344"/>
              <a:ext cx="731" cy="599"/>
              <a:chOff x="2327" y="7989"/>
              <a:chExt cx="731" cy="599"/>
            </a:xfrm>
          </p:grpSpPr>
          <p:sp>
            <p:nvSpPr>
              <p:cNvPr id="128" name="Line 27"/>
              <p:cNvSpPr>
                <a:spLocks noChangeShapeType="1"/>
              </p:cNvSpPr>
              <p:nvPr/>
            </p:nvSpPr>
            <p:spPr bwMode="auto">
              <a:xfrm>
                <a:off x="3057" y="8010"/>
                <a:ext cx="1" cy="57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triangle" w="sm" len="lg"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9" name="Line 26"/>
              <p:cNvSpPr>
                <a:spLocks noChangeShapeType="1"/>
              </p:cNvSpPr>
              <p:nvPr/>
            </p:nvSpPr>
            <p:spPr bwMode="auto">
              <a:xfrm rot="5400000">
                <a:off x="2670" y="7646"/>
                <a:ext cx="1" cy="68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triangle" w="sm" len="lg"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14" name="Text Box 24"/>
            <p:cNvSpPr txBox="1">
              <a:spLocks noChangeArrowheads="1"/>
            </p:cNvSpPr>
            <p:nvPr/>
          </p:nvSpPr>
          <p:spPr bwMode="auto">
            <a:xfrm>
              <a:off x="9175" y="13862"/>
              <a:ext cx="424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6000" tIns="7200" rIns="36000" bIns="72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kumimoji="0" lang="en-US" altLang="zh-CN" sz="10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5" name="Oval 23"/>
            <p:cNvSpPr>
              <a:spLocks noChangeArrowheads="1"/>
            </p:cNvSpPr>
            <p:nvPr/>
          </p:nvSpPr>
          <p:spPr bwMode="auto">
            <a:xfrm>
              <a:off x="9189" y="12416"/>
              <a:ext cx="113" cy="113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6" name="Rectangle 22"/>
            <p:cNvSpPr>
              <a:spLocks noChangeArrowheads="1"/>
            </p:cNvSpPr>
            <p:nvPr/>
          </p:nvSpPr>
          <p:spPr bwMode="auto">
            <a:xfrm rot="1800000" flipH="1">
              <a:off x="8635" y="12302"/>
              <a:ext cx="125" cy="2227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7" name="Oval 21"/>
            <p:cNvSpPr>
              <a:spLocks noChangeArrowheads="1"/>
            </p:cNvSpPr>
            <p:nvPr/>
          </p:nvSpPr>
          <p:spPr bwMode="auto">
            <a:xfrm>
              <a:off x="9189" y="12430"/>
              <a:ext cx="113" cy="113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8" name="AutoShape 20"/>
            <p:cNvSpPr>
              <a:spLocks noChangeArrowheads="1"/>
            </p:cNvSpPr>
            <p:nvPr/>
          </p:nvSpPr>
          <p:spPr bwMode="auto">
            <a:xfrm rot="18000000">
              <a:off x="8189" y="13426"/>
              <a:ext cx="964" cy="68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9" name="Oval 19"/>
            <p:cNvSpPr>
              <a:spLocks noChangeArrowheads="1"/>
            </p:cNvSpPr>
            <p:nvPr/>
          </p:nvSpPr>
          <p:spPr bwMode="auto">
            <a:xfrm>
              <a:off x="8081" y="14316"/>
              <a:ext cx="113" cy="113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0" name="Line 18"/>
            <p:cNvSpPr>
              <a:spLocks noChangeShapeType="1"/>
            </p:cNvSpPr>
            <p:nvPr/>
          </p:nvSpPr>
          <p:spPr bwMode="auto">
            <a:xfrm rot="5400000">
              <a:off x="9648" y="12092"/>
              <a:ext cx="1" cy="77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1" name="Line 17"/>
            <p:cNvSpPr>
              <a:spLocks noChangeShapeType="1"/>
            </p:cNvSpPr>
            <p:nvPr/>
          </p:nvSpPr>
          <p:spPr bwMode="auto">
            <a:xfrm>
              <a:off x="9240" y="12467"/>
              <a:ext cx="1" cy="77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sm" len="lg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2" name="Text Box 16"/>
            <p:cNvSpPr txBox="1">
              <a:spLocks noChangeArrowheads="1"/>
            </p:cNvSpPr>
            <p:nvPr/>
          </p:nvSpPr>
          <p:spPr bwMode="auto">
            <a:xfrm>
              <a:off x="8291" y="14282"/>
              <a:ext cx="30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6000" tIns="7200" rIns="36000" bIns="72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3" name="Text Box 15"/>
            <p:cNvSpPr txBox="1">
              <a:spLocks noChangeArrowheads="1"/>
            </p:cNvSpPr>
            <p:nvPr/>
          </p:nvSpPr>
          <p:spPr bwMode="auto">
            <a:xfrm>
              <a:off x="8344" y="13218"/>
              <a:ext cx="30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6000" tIns="7200" rIns="36000" bIns="72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4" name="Text Box 14"/>
            <p:cNvSpPr txBox="1">
              <a:spLocks noChangeArrowheads="1"/>
            </p:cNvSpPr>
            <p:nvPr/>
          </p:nvSpPr>
          <p:spPr bwMode="auto">
            <a:xfrm>
              <a:off x="8995" y="12146"/>
              <a:ext cx="30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6000" tIns="7200" rIns="36000" bIns="72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0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5" name="Line 13"/>
            <p:cNvSpPr>
              <a:spLocks noChangeShapeType="1"/>
            </p:cNvSpPr>
            <p:nvPr/>
          </p:nvSpPr>
          <p:spPr bwMode="auto">
            <a:xfrm rot="7200000">
              <a:off x="9036" y="13300"/>
              <a:ext cx="1" cy="77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6" name="Text Box 12"/>
            <p:cNvSpPr txBox="1">
              <a:spLocks noChangeArrowheads="1"/>
            </p:cNvSpPr>
            <p:nvPr/>
          </p:nvSpPr>
          <p:spPr bwMode="auto">
            <a:xfrm>
              <a:off x="9578" y="12458"/>
              <a:ext cx="424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6000" tIns="7200" rIns="36000" bIns="72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kumimoji="0" lang="en-US" altLang="zh-CN" sz="10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Cx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7" name="Text Box 11"/>
            <p:cNvSpPr txBox="1">
              <a:spLocks noChangeArrowheads="1"/>
            </p:cNvSpPr>
            <p:nvPr/>
          </p:nvSpPr>
          <p:spPr bwMode="auto">
            <a:xfrm>
              <a:off x="9221" y="13000"/>
              <a:ext cx="424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36000" tIns="7200" rIns="36000" bIns="720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000" b="1" i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kumimoji="0" lang="en-US" altLang="zh-CN" sz="1000" b="0" i="1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Cy</a:t>
              </a:r>
              <a:endParaRPr kumimoji="0" lang="en-US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131" name="Rectangle 146"/>
          <p:cNvSpPr>
            <a:spLocks noChangeArrowheads="1"/>
          </p:cNvSpPr>
          <p:nvPr/>
        </p:nvSpPr>
        <p:spPr bwMode="auto">
          <a:xfrm>
            <a:off x="255869" y="356834"/>
            <a:ext cx="4161179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Times New Roman" panose="02020603050405020304" pitchFamily="18" charset="0"/>
              </a:rPr>
              <a:t>解：</a:t>
            </a: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Times New Roman" panose="02020603050405020304" pitchFamily="18" charset="0"/>
              </a:rPr>
              <a:t>(1) 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Times New Roman" panose="02020603050405020304" pitchFamily="18" charset="0"/>
              </a:rPr>
              <a:t>取整个系统为研究对象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4" name="Rectangle 149"/>
          <p:cNvSpPr>
            <a:spLocks noChangeArrowheads="1"/>
          </p:cNvSpPr>
          <p:nvPr/>
        </p:nvSpPr>
        <p:spPr bwMode="auto">
          <a:xfrm>
            <a:off x="404457" y="1843918"/>
            <a:ext cx="462723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Times New Roman" panose="02020603050405020304" pitchFamily="18" charset="0"/>
              </a:rPr>
              <a:t>(2) 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Times New Roman" panose="02020603050405020304" pitchFamily="18" charset="0"/>
              </a:rPr>
              <a:t>取杆</a:t>
            </a:r>
            <a:r>
              <a:rPr kumimoji="0" lang="en-US" altLang="zh-CN" sz="18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Times New Roman" panose="02020603050405020304" pitchFamily="18" charset="0"/>
              </a:rPr>
              <a:t>BDH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Times New Roman" panose="02020603050405020304" pitchFamily="18" charset="0"/>
              </a:rPr>
              <a:t>为研究对象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38" name="Rectangle 161"/>
          <p:cNvSpPr>
            <a:spLocks noChangeArrowheads="1"/>
          </p:cNvSpPr>
          <p:nvPr/>
        </p:nvSpPr>
        <p:spPr bwMode="auto">
          <a:xfrm>
            <a:off x="475005" y="3061290"/>
            <a:ext cx="36063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0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Times New Roman" panose="02020603050405020304" pitchFamily="18" charset="0"/>
              </a:rPr>
              <a:t>(3) 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Times New Roman" panose="02020603050405020304" pitchFamily="18" charset="0"/>
              </a:rPr>
              <a:t>取杆</a:t>
            </a:r>
            <a:r>
              <a:rPr kumimoji="0" lang="en-US" altLang="zh-CN" sz="18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Times New Roman" panose="02020603050405020304" pitchFamily="18" charset="0"/>
              </a:rPr>
              <a:t>ABC</a:t>
            </a:r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cs typeface="Times New Roman" panose="02020603050405020304" pitchFamily="18" charset="0"/>
              </a:rPr>
              <a:t>为研究对象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2937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WordArt 4"/>
          <p:cNvSpPr>
            <a:spLocks noChangeArrowheads="1" noChangeShapeType="1" noTextEdit="1"/>
          </p:cNvSpPr>
          <p:nvPr/>
        </p:nvSpPr>
        <p:spPr bwMode="auto">
          <a:xfrm>
            <a:off x="1475656" y="620688"/>
            <a:ext cx="1828800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kern="10" dirty="0">
                <a:ln w="19050">
                  <a:solidFill>
                    <a:srgbClr val="333399"/>
                  </a:solidFill>
                  <a:round/>
                  <a:headEnd/>
                  <a:tailEnd/>
                </a:ln>
                <a:solidFill>
                  <a:srgbClr val="000080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宋体" panose="02010600030101010101" pitchFamily="2" charset="-122"/>
              </a:rPr>
              <a:t>求解策略</a:t>
            </a:r>
          </a:p>
        </p:txBody>
      </p:sp>
      <p:sp>
        <p:nvSpPr>
          <p:cNvPr id="24579" name="Text Box 5"/>
          <p:cNvSpPr txBox="1">
            <a:spLocks noChangeArrowheads="1"/>
          </p:cNvSpPr>
          <p:nvPr/>
        </p:nvSpPr>
        <p:spPr bwMode="auto">
          <a:xfrm>
            <a:off x="1450414" y="1412776"/>
            <a:ext cx="6553200" cy="3231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Blip>
                <a:blip r:embed="rId2"/>
              </a:buBlip>
            </a:pPr>
            <a:r>
              <a:rPr lang="en-US" altLang="zh-CN" dirty="0"/>
              <a:t>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研究对象的选取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尤其是第一个研究对象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             </a:t>
            </a:r>
            <a:r>
              <a:rPr lang="zh-CN" altLang="en-US" b="1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问题的突破</a:t>
            </a:r>
            <a:r>
              <a:rPr lang="en-US" altLang="zh-CN" b="1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.</a:t>
            </a:r>
          </a:p>
          <a:p>
            <a:pPr eaLnBrk="1" hangingPunct="1">
              <a:spcBef>
                <a:spcPct val="50000"/>
              </a:spcBef>
              <a:buFontTx/>
              <a:buBlip>
                <a:blip r:embed="rId2"/>
              </a:buBlip>
            </a:pP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平衡方程的选取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,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尤其是第一个方程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.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       </a:t>
            </a:r>
            <a:r>
              <a:rPr lang="zh-CN" altLang="en-US" b="1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矩式</a:t>
            </a:r>
            <a:r>
              <a:rPr lang="en-US" altLang="zh-CN" b="1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(</a:t>
            </a:r>
            <a:r>
              <a:rPr lang="zh-CN" altLang="en-US" b="1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矩心</a:t>
            </a:r>
            <a:r>
              <a:rPr lang="en-US" altLang="zh-CN" b="1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)</a:t>
            </a:r>
            <a:r>
              <a:rPr lang="zh-CN" altLang="en-US" b="1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和投影式</a:t>
            </a:r>
            <a:r>
              <a:rPr lang="en-US" altLang="zh-CN" b="1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(</a:t>
            </a:r>
            <a:r>
              <a:rPr lang="zh-CN" altLang="en-US" b="1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投影轴</a:t>
            </a:r>
            <a:r>
              <a:rPr lang="en-US" altLang="zh-CN" b="1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)</a:t>
            </a:r>
          </a:p>
          <a:p>
            <a:pPr eaLnBrk="1" hangingPunct="1">
              <a:spcBef>
                <a:spcPct val="50000"/>
              </a:spcBef>
              <a:buFontTx/>
              <a:buBlip>
                <a:blip r:embed="rId2"/>
              </a:buBlip>
            </a:pP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求解的次序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,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先解含一个未知量的方程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.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       </a:t>
            </a:r>
            <a:r>
              <a:rPr lang="zh-CN" altLang="en-US" b="1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避免解联立方程</a:t>
            </a:r>
            <a:r>
              <a:rPr lang="en-US" altLang="zh-CN" b="1" dirty="0">
                <a:solidFill>
                  <a:srgbClr val="660066"/>
                </a:solidFill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53256" name="Text Box 8"/>
          <p:cNvSpPr txBox="1">
            <a:spLocks noChangeArrowheads="1"/>
          </p:cNvSpPr>
          <p:nvPr/>
        </p:nvSpPr>
        <p:spPr bwMode="auto">
          <a:xfrm>
            <a:off x="1331193" y="4797400"/>
            <a:ext cx="6840538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注意</a:t>
            </a:r>
            <a:r>
              <a:rPr lang="en-US" altLang="zh-CN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 1.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销钉处的力如何处理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</a:t>
            </a:r>
            <a:r>
              <a:rPr lang="en-US" altLang="zh-CN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中间结果为负值时</a:t>
            </a:r>
            <a:r>
              <a:rPr lang="en-US" altLang="zh-CN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代入为代数值</a:t>
            </a:r>
            <a:r>
              <a:rPr lang="en-US" altLang="zh-CN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受力图遵守作用力反作用力不变</a:t>
            </a:r>
            <a:r>
              <a:rPr lang="en-US" altLang="zh-CN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" dur="2000"/>
                                        <p:tgtEl>
                                          <p:spTgt spid="5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ext Box 4"/>
          <p:cNvSpPr txBox="1">
            <a:spLocks noChangeArrowheads="1"/>
          </p:cNvSpPr>
          <p:nvPr/>
        </p:nvSpPr>
        <p:spPr bwMode="auto">
          <a:xfrm>
            <a:off x="761999" y="370682"/>
            <a:ext cx="4602089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miter lim="800000"/>
                <a:headEnd type="none" w="sm" len="sm"/>
                <a:tailEnd type="none" w="sm" len="lg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kumimoji="0"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kumimoji="0" lang="en-US" altLang="zh-CN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如图所示，已知重力</a:t>
            </a:r>
            <a:r>
              <a:rPr lang="en-US" altLang="zh-CN" b="1" i="1" dirty="0">
                <a:solidFill>
                  <a:schemeClr val="tx2"/>
                </a:solidFill>
                <a:latin typeface="+mj-lt"/>
                <a:ea typeface="楷体" panose="02010609060101010101" pitchFamily="49" charset="-122"/>
              </a:rPr>
              <a:t>G</a:t>
            </a:r>
            <a:r>
              <a:rPr lang="zh-CN" altLang="en-US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i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DC </a:t>
            </a:r>
            <a:r>
              <a:rPr lang="en-US" altLang="zh-CN" b="1" i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=</a:t>
            </a:r>
            <a:r>
              <a:rPr lang="en-US" altLang="zh-CN" i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CE</a:t>
            </a:r>
            <a:r>
              <a:rPr lang="en-US" altLang="zh-CN" b="1" i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=</a:t>
            </a:r>
            <a:r>
              <a:rPr lang="en-US" altLang="zh-CN" i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AC</a:t>
            </a:r>
            <a:r>
              <a:rPr lang="en-US" altLang="zh-CN" b="1" i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=</a:t>
            </a:r>
            <a:r>
              <a:rPr lang="en-US" altLang="zh-CN" i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CB</a:t>
            </a:r>
            <a:r>
              <a:rPr lang="en-US" altLang="zh-CN" b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=</a:t>
            </a:r>
            <a:r>
              <a:rPr lang="en-US" altLang="zh-CN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2</a:t>
            </a:r>
            <a:r>
              <a:rPr lang="en-US" altLang="zh-CN" i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l</a:t>
            </a:r>
            <a:r>
              <a:rPr lang="zh-CN" altLang="en-US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；定滑轮半径为</a:t>
            </a:r>
            <a:r>
              <a:rPr lang="en-US" altLang="zh-CN" i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R</a:t>
            </a:r>
            <a:r>
              <a:rPr lang="zh-CN" altLang="en-US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，动滑轮半径为</a:t>
            </a:r>
            <a:r>
              <a:rPr lang="en-US" altLang="zh-CN" i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r</a:t>
            </a:r>
            <a:r>
              <a:rPr lang="zh-CN" altLang="en-US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，且</a:t>
            </a:r>
            <a:r>
              <a:rPr lang="en-US" altLang="zh-CN" i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R</a:t>
            </a:r>
            <a:r>
              <a:rPr lang="en-US" altLang="zh-CN" b="1" i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=</a:t>
            </a:r>
            <a:r>
              <a:rPr lang="en-US" altLang="zh-CN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2</a:t>
            </a:r>
            <a:r>
              <a:rPr lang="en-US" altLang="zh-CN" i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r</a:t>
            </a:r>
            <a:r>
              <a:rPr lang="en-US" altLang="zh-CN" b="1" i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=</a:t>
            </a:r>
            <a:r>
              <a:rPr lang="en-US" altLang="zh-CN" i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l</a:t>
            </a:r>
            <a:r>
              <a:rPr lang="en-US" altLang="zh-CN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, </a:t>
            </a:r>
            <a:r>
              <a:rPr lang="en-US" altLang="zh-CN" i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θ</a:t>
            </a:r>
            <a:r>
              <a:rPr lang="en-US" altLang="zh-CN" b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=</a:t>
            </a:r>
            <a:r>
              <a:rPr lang="en-US" altLang="zh-CN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45°</a:t>
            </a:r>
            <a:r>
              <a:rPr lang="zh-CN" altLang="en-US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。试求：</a:t>
            </a:r>
            <a:r>
              <a:rPr lang="en-US" altLang="zh-CN" i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A</a:t>
            </a:r>
            <a:r>
              <a:rPr lang="zh-CN" altLang="en-US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，</a:t>
            </a:r>
            <a:r>
              <a:rPr lang="en-US" altLang="zh-CN" i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E</a:t>
            </a:r>
            <a:r>
              <a:rPr lang="zh-CN" altLang="en-US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支座的约束力及</a:t>
            </a:r>
            <a:r>
              <a:rPr lang="en-US" altLang="zh-CN" i="1" dirty="0">
                <a:solidFill>
                  <a:schemeClr val="tx2"/>
                </a:solidFill>
                <a:latin typeface="+mn-lt"/>
                <a:ea typeface="楷体" panose="02010609060101010101" pitchFamily="49" charset="-122"/>
              </a:rPr>
              <a:t>BD</a:t>
            </a:r>
            <a:r>
              <a:rPr lang="zh-CN" altLang="en-US" b="1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杆所受的力。</a:t>
            </a:r>
          </a:p>
        </p:txBody>
      </p:sp>
      <p:grpSp>
        <p:nvGrpSpPr>
          <p:cNvPr id="15364" name="Group 5"/>
          <p:cNvGrpSpPr>
            <a:grpSpLocks/>
          </p:cNvGrpSpPr>
          <p:nvPr/>
        </p:nvGrpSpPr>
        <p:grpSpPr bwMode="auto">
          <a:xfrm>
            <a:off x="5428902" y="382269"/>
            <a:ext cx="3424237" cy="4011613"/>
            <a:chOff x="252" y="879"/>
            <a:chExt cx="2157" cy="2527"/>
          </a:xfrm>
        </p:grpSpPr>
        <p:sp>
          <p:nvSpPr>
            <p:cNvPr id="15365" name="AutoShape 6"/>
            <p:cNvSpPr>
              <a:spLocks noChangeArrowheads="1"/>
            </p:cNvSpPr>
            <p:nvPr/>
          </p:nvSpPr>
          <p:spPr bwMode="auto">
            <a:xfrm>
              <a:off x="1164" y="2484"/>
              <a:ext cx="228" cy="96"/>
            </a:xfrm>
            <a:prstGeom prst="triangle">
              <a:avLst>
                <a:gd name="adj" fmla="val 50000"/>
              </a:avLst>
            </a:prstGeom>
            <a:gradFill rotWithShape="0">
              <a:gsLst>
                <a:gs pos="0">
                  <a:srgbClr val="666666"/>
                </a:gs>
                <a:gs pos="50000">
                  <a:srgbClr val="DDDDDD"/>
                </a:gs>
                <a:gs pos="100000">
                  <a:srgbClr val="666666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66" name="Line 7"/>
            <p:cNvSpPr>
              <a:spLocks noChangeShapeType="1"/>
            </p:cNvSpPr>
            <p:nvPr/>
          </p:nvSpPr>
          <p:spPr bwMode="auto">
            <a:xfrm flipH="1">
              <a:off x="2214" y="1773"/>
              <a:ext cx="2" cy="571"/>
            </a:xfrm>
            <a:prstGeom prst="line">
              <a:avLst/>
            </a:prstGeom>
            <a:noFill/>
            <a:ln w="28575" cap="sq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7" name="Oval 8"/>
            <p:cNvSpPr>
              <a:spLocks noChangeArrowheads="1"/>
            </p:cNvSpPr>
            <p:nvPr/>
          </p:nvSpPr>
          <p:spPr bwMode="auto">
            <a:xfrm>
              <a:off x="1923" y="2248"/>
              <a:ext cx="288" cy="288"/>
            </a:xfrm>
            <a:prstGeom prst="ellipse">
              <a:avLst/>
            </a:prstGeom>
            <a:gradFill rotWithShape="0">
              <a:gsLst>
                <a:gs pos="0">
                  <a:srgbClr val="DDDDDD"/>
                </a:gs>
                <a:gs pos="100000">
                  <a:srgbClr val="666666"/>
                </a:gs>
              </a:gsLst>
              <a:lin ang="5400000" scaled="1"/>
            </a:gradFill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68" name="Oval 9"/>
            <p:cNvSpPr>
              <a:spLocks noChangeArrowheads="1"/>
            </p:cNvSpPr>
            <p:nvPr/>
          </p:nvSpPr>
          <p:spPr bwMode="auto">
            <a:xfrm>
              <a:off x="1635" y="1480"/>
              <a:ext cx="576" cy="576"/>
            </a:xfrm>
            <a:prstGeom prst="ellipse">
              <a:avLst/>
            </a:prstGeom>
            <a:gradFill rotWithShape="0">
              <a:gsLst>
                <a:gs pos="0">
                  <a:srgbClr val="666666"/>
                </a:gs>
                <a:gs pos="100000">
                  <a:srgbClr val="DDDDDD"/>
                </a:gs>
              </a:gsLst>
              <a:lin ang="2700000" scaled="1"/>
            </a:gradFill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69" name="Rectangle 10"/>
            <p:cNvSpPr>
              <a:spLocks noChangeArrowheads="1"/>
            </p:cNvSpPr>
            <p:nvPr/>
          </p:nvSpPr>
          <p:spPr bwMode="auto">
            <a:xfrm rot="-2620953">
              <a:off x="1563" y="931"/>
              <a:ext cx="49" cy="902"/>
            </a:xfrm>
            <a:prstGeom prst="rect">
              <a:avLst/>
            </a:prstGeom>
            <a:solidFill>
              <a:schemeClr val="accent1"/>
            </a:solidFill>
            <a:ln w="2857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70" name="Line 11"/>
            <p:cNvSpPr>
              <a:spLocks noChangeAspect="1" noChangeShapeType="1"/>
            </p:cNvSpPr>
            <p:nvPr/>
          </p:nvSpPr>
          <p:spPr bwMode="auto">
            <a:xfrm flipV="1">
              <a:off x="624" y="1062"/>
              <a:ext cx="619" cy="65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1" name="Text Box 12"/>
            <p:cNvSpPr txBox="1">
              <a:spLocks noChangeArrowheads="1"/>
            </p:cNvSpPr>
            <p:nvPr/>
          </p:nvSpPr>
          <p:spPr bwMode="auto">
            <a:xfrm>
              <a:off x="1008" y="879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000" b="1" i="1" dirty="0"/>
                <a:t>D</a:t>
              </a:r>
            </a:p>
          </p:txBody>
        </p:sp>
        <p:sp>
          <p:nvSpPr>
            <p:cNvPr id="15372" name="Text Box 13"/>
            <p:cNvSpPr txBox="1">
              <a:spLocks noChangeArrowheads="1"/>
            </p:cNvSpPr>
            <p:nvPr/>
          </p:nvSpPr>
          <p:spPr bwMode="auto">
            <a:xfrm>
              <a:off x="2095" y="2433"/>
              <a:ext cx="31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000" b="1">
                  <a:ea typeface="华文楷体" panose="02010600040101010101" pitchFamily="2" charset="-122"/>
                </a:rPr>
                <a:t>Ⅱ</a:t>
              </a:r>
              <a:endParaRPr lang="en-US" altLang="zh-CN" b="1"/>
            </a:p>
          </p:txBody>
        </p:sp>
        <p:sp>
          <p:nvSpPr>
            <p:cNvPr id="15373" name="Rectangle 14"/>
            <p:cNvSpPr>
              <a:spLocks noChangeArrowheads="1"/>
            </p:cNvSpPr>
            <p:nvPr/>
          </p:nvSpPr>
          <p:spPr bwMode="auto">
            <a:xfrm>
              <a:off x="604" y="1735"/>
              <a:ext cx="1319" cy="33"/>
            </a:xfrm>
            <a:prstGeom prst="rect">
              <a:avLst/>
            </a:prstGeom>
            <a:noFill/>
            <a:ln w="28575" cap="sq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74" name="Rectangle 15"/>
            <p:cNvSpPr>
              <a:spLocks noChangeArrowheads="1"/>
            </p:cNvSpPr>
            <p:nvPr/>
          </p:nvSpPr>
          <p:spPr bwMode="auto">
            <a:xfrm>
              <a:off x="1251" y="1060"/>
              <a:ext cx="51" cy="1428"/>
            </a:xfrm>
            <a:prstGeom prst="rect">
              <a:avLst/>
            </a:prstGeom>
            <a:solidFill>
              <a:schemeClr val="accent1"/>
            </a:solidFill>
            <a:ln w="2857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75" name="Oval 16"/>
            <p:cNvSpPr>
              <a:spLocks noChangeArrowheads="1"/>
            </p:cNvSpPr>
            <p:nvPr/>
          </p:nvSpPr>
          <p:spPr bwMode="auto">
            <a:xfrm>
              <a:off x="1239" y="1020"/>
              <a:ext cx="68" cy="61"/>
            </a:xfrm>
            <a:prstGeom prst="ellipse">
              <a:avLst/>
            </a:prstGeom>
            <a:solidFill>
              <a:srgbClr val="DDDDDD"/>
            </a:solidFill>
            <a:ln w="19050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76" name="Line 17"/>
            <p:cNvSpPr>
              <a:spLocks noChangeShapeType="1"/>
            </p:cNvSpPr>
            <p:nvPr/>
          </p:nvSpPr>
          <p:spPr bwMode="auto">
            <a:xfrm flipV="1">
              <a:off x="1299" y="1480"/>
              <a:ext cx="576" cy="0"/>
            </a:xfrm>
            <a:prstGeom prst="line">
              <a:avLst/>
            </a:prstGeom>
            <a:noFill/>
            <a:ln w="28575" cap="sq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7" name="Line 18"/>
            <p:cNvSpPr>
              <a:spLocks noChangeShapeType="1"/>
            </p:cNvSpPr>
            <p:nvPr/>
          </p:nvSpPr>
          <p:spPr bwMode="auto">
            <a:xfrm>
              <a:off x="2067" y="2392"/>
              <a:ext cx="0" cy="432"/>
            </a:xfrm>
            <a:prstGeom prst="line">
              <a:avLst/>
            </a:prstGeom>
            <a:noFill/>
            <a:ln w="28575" cap="sq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8" name="Rectangle 19"/>
            <p:cNvSpPr>
              <a:spLocks noChangeArrowheads="1"/>
            </p:cNvSpPr>
            <p:nvPr/>
          </p:nvSpPr>
          <p:spPr bwMode="auto">
            <a:xfrm>
              <a:off x="1923" y="2824"/>
              <a:ext cx="288" cy="192"/>
            </a:xfrm>
            <a:prstGeom prst="rect">
              <a:avLst/>
            </a:prstGeom>
            <a:gradFill rotWithShape="0">
              <a:gsLst>
                <a:gs pos="0">
                  <a:srgbClr val="666666"/>
                </a:gs>
                <a:gs pos="50000">
                  <a:srgbClr val="DDDDDD"/>
                </a:gs>
                <a:gs pos="100000">
                  <a:srgbClr val="666666"/>
                </a:gs>
              </a:gsLst>
              <a:lin ang="0" scaled="1"/>
            </a:gradFill>
            <a:ln w="12700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/>
            </a:p>
          </p:txBody>
        </p:sp>
        <p:sp>
          <p:nvSpPr>
            <p:cNvPr id="15379" name="Text Box 20"/>
            <p:cNvSpPr txBox="1">
              <a:spLocks noChangeArrowheads="1"/>
            </p:cNvSpPr>
            <p:nvPr/>
          </p:nvSpPr>
          <p:spPr bwMode="auto">
            <a:xfrm>
              <a:off x="1066" y="1357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000" b="1" i="1"/>
                <a:t>K</a:t>
              </a:r>
            </a:p>
          </p:txBody>
        </p:sp>
        <p:sp>
          <p:nvSpPr>
            <p:cNvPr id="15380" name="Text Box 21"/>
            <p:cNvSpPr txBox="1">
              <a:spLocks noChangeArrowheads="1"/>
            </p:cNvSpPr>
            <p:nvPr/>
          </p:nvSpPr>
          <p:spPr bwMode="auto">
            <a:xfrm>
              <a:off x="1008" y="1728"/>
              <a:ext cx="21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000" b="1" i="1"/>
                <a:t>C</a:t>
              </a:r>
            </a:p>
          </p:txBody>
        </p:sp>
        <p:sp>
          <p:nvSpPr>
            <p:cNvPr id="15381" name="Text Box 22"/>
            <p:cNvSpPr txBox="1">
              <a:spLocks noChangeArrowheads="1"/>
            </p:cNvSpPr>
            <p:nvPr/>
          </p:nvSpPr>
          <p:spPr bwMode="auto">
            <a:xfrm>
              <a:off x="1734" y="1750"/>
              <a:ext cx="2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000" b="1" i="1"/>
                <a:t>B</a:t>
              </a:r>
            </a:p>
          </p:txBody>
        </p:sp>
        <p:sp>
          <p:nvSpPr>
            <p:cNvPr id="15382" name="Text Box 23"/>
            <p:cNvSpPr txBox="1">
              <a:spLocks noChangeArrowheads="1"/>
            </p:cNvSpPr>
            <p:nvPr/>
          </p:nvSpPr>
          <p:spPr bwMode="auto">
            <a:xfrm>
              <a:off x="1069" y="2309"/>
              <a:ext cx="2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000" b="1" i="1"/>
                <a:t>E</a:t>
              </a:r>
            </a:p>
          </p:txBody>
        </p:sp>
        <p:graphicFrame>
          <p:nvGraphicFramePr>
            <p:cNvPr id="15362" name="Object 24"/>
            <p:cNvGraphicFramePr>
              <a:graphicFrameLocks noChangeAspect="1"/>
            </p:cNvGraphicFramePr>
            <p:nvPr/>
          </p:nvGraphicFramePr>
          <p:xfrm>
            <a:off x="839" y="1527"/>
            <a:ext cx="136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10" name="公式" r:id="rId3" imgW="126720" imgH="177480" progId="Equation.3">
                    <p:embed/>
                  </p:oleObj>
                </mc:Choice>
                <mc:Fallback>
                  <p:oleObj name="公式" r:id="rId3" imgW="126720" imgH="177480" progId="Equation.3">
                    <p:embed/>
                    <p:pic>
                      <p:nvPicPr>
                        <p:cNvPr id="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9" y="1527"/>
                          <a:ext cx="136" cy="1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7961" dir="2700000" algn="ctr" rotWithShape="0">
                                  <a:srgbClr val="FFFFFF">
                                    <a:gamma/>
                                    <a:shade val="60000"/>
                                    <a:invGamma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3" name="Text Box 25"/>
            <p:cNvSpPr txBox="1">
              <a:spLocks noChangeArrowheads="1"/>
            </p:cNvSpPr>
            <p:nvPr/>
          </p:nvSpPr>
          <p:spPr bwMode="auto">
            <a:xfrm>
              <a:off x="1958" y="1678"/>
              <a:ext cx="2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000" b="1">
                  <a:ea typeface="华文楷体" panose="02010600040101010101" pitchFamily="2" charset="-122"/>
                </a:rPr>
                <a:t>Ⅰ</a:t>
              </a:r>
              <a:endParaRPr lang="en-US" altLang="zh-CN" b="1"/>
            </a:p>
          </p:txBody>
        </p:sp>
        <p:sp>
          <p:nvSpPr>
            <p:cNvPr id="54298" name="Text Box 26"/>
            <p:cNvSpPr txBox="1">
              <a:spLocks noChangeArrowheads="1"/>
            </p:cNvSpPr>
            <p:nvPr/>
          </p:nvSpPr>
          <p:spPr bwMode="auto">
            <a:xfrm>
              <a:off x="2075" y="3154"/>
              <a:ext cx="232" cy="250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000" b="1" i="1" dirty="0">
                  <a:solidFill>
                    <a:srgbClr val="FF0000"/>
                  </a:solidFill>
                </a:rPr>
                <a:t>G</a:t>
              </a:r>
            </a:p>
          </p:txBody>
        </p:sp>
        <p:sp>
          <p:nvSpPr>
            <p:cNvPr id="15385" name="Line 27"/>
            <p:cNvSpPr>
              <a:spLocks noChangeShapeType="1"/>
            </p:cNvSpPr>
            <p:nvPr/>
          </p:nvSpPr>
          <p:spPr bwMode="auto">
            <a:xfrm flipH="1">
              <a:off x="2075" y="2913"/>
              <a:ext cx="2" cy="493"/>
            </a:xfrm>
            <a:prstGeom prst="line">
              <a:avLst/>
            </a:prstGeom>
            <a:noFill/>
            <a:ln w="28575" cap="sq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86" name="Line 28"/>
            <p:cNvSpPr>
              <a:spLocks noChangeShapeType="1"/>
            </p:cNvSpPr>
            <p:nvPr/>
          </p:nvSpPr>
          <p:spPr bwMode="auto">
            <a:xfrm flipH="1">
              <a:off x="1048" y="2592"/>
              <a:ext cx="47" cy="5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387" name="Line 29"/>
            <p:cNvSpPr>
              <a:spLocks noChangeShapeType="1"/>
            </p:cNvSpPr>
            <p:nvPr/>
          </p:nvSpPr>
          <p:spPr bwMode="auto">
            <a:xfrm flipH="1">
              <a:off x="1099" y="2592"/>
              <a:ext cx="48" cy="5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388" name="Line 30"/>
            <p:cNvSpPr>
              <a:spLocks noChangeShapeType="1"/>
            </p:cNvSpPr>
            <p:nvPr/>
          </p:nvSpPr>
          <p:spPr bwMode="auto">
            <a:xfrm flipH="1">
              <a:off x="1150" y="2592"/>
              <a:ext cx="48" cy="5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389" name="Line 31"/>
            <p:cNvSpPr>
              <a:spLocks noChangeShapeType="1"/>
            </p:cNvSpPr>
            <p:nvPr/>
          </p:nvSpPr>
          <p:spPr bwMode="auto">
            <a:xfrm flipH="1">
              <a:off x="1201" y="2592"/>
              <a:ext cx="48" cy="5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390" name="Line 32"/>
            <p:cNvSpPr>
              <a:spLocks noChangeShapeType="1"/>
            </p:cNvSpPr>
            <p:nvPr/>
          </p:nvSpPr>
          <p:spPr bwMode="auto">
            <a:xfrm flipH="1">
              <a:off x="1253" y="2592"/>
              <a:ext cx="47" cy="5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391" name="Line 33"/>
            <p:cNvSpPr>
              <a:spLocks noChangeShapeType="1"/>
            </p:cNvSpPr>
            <p:nvPr/>
          </p:nvSpPr>
          <p:spPr bwMode="auto">
            <a:xfrm flipH="1">
              <a:off x="1304" y="2592"/>
              <a:ext cx="47" cy="5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392" name="Line 34"/>
            <p:cNvSpPr>
              <a:spLocks noChangeShapeType="1"/>
            </p:cNvSpPr>
            <p:nvPr/>
          </p:nvSpPr>
          <p:spPr bwMode="auto">
            <a:xfrm flipH="1">
              <a:off x="1355" y="2592"/>
              <a:ext cx="48" cy="5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393" name="Line 35"/>
            <p:cNvSpPr>
              <a:spLocks noChangeShapeType="1"/>
            </p:cNvSpPr>
            <p:nvPr/>
          </p:nvSpPr>
          <p:spPr bwMode="auto">
            <a:xfrm flipH="1">
              <a:off x="1406" y="2592"/>
              <a:ext cx="48" cy="56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394" name="Line 36"/>
            <p:cNvSpPr>
              <a:spLocks noChangeShapeType="1"/>
            </p:cNvSpPr>
            <p:nvPr/>
          </p:nvSpPr>
          <p:spPr bwMode="auto">
            <a:xfrm flipV="1">
              <a:off x="1096" y="2589"/>
              <a:ext cx="358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395" name="Oval 37"/>
            <p:cNvSpPr>
              <a:spLocks noChangeArrowheads="1"/>
            </p:cNvSpPr>
            <p:nvPr/>
          </p:nvSpPr>
          <p:spPr bwMode="auto">
            <a:xfrm>
              <a:off x="1249" y="2458"/>
              <a:ext cx="53" cy="49"/>
            </a:xfrm>
            <a:prstGeom prst="ellipse">
              <a:avLst/>
            </a:prstGeom>
            <a:solidFill>
              <a:srgbClr val="DDDDDD"/>
            </a:solidFill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96" name="Line 38"/>
            <p:cNvSpPr>
              <a:spLocks noChangeShapeType="1"/>
            </p:cNvSpPr>
            <p:nvPr/>
          </p:nvSpPr>
          <p:spPr bwMode="auto">
            <a:xfrm flipH="1">
              <a:off x="1139" y="2504"/>
              <a:ext cx="116" cy="85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397" name="Line 39"/>
            <p:cNvSpPr>
              <a:spLocks noChangeShapeType="1"/>
            </p:cNvSpPr>
            <p:nvPr/>
          </p:nvSpPr>
          <p:spPr bwMode="auto">
            <a:xfrm>
              <a:off x="1308" y="2504"/>
              <a:ext cx="99" cy="8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398" name="Rectangle 40"/>
            <p:cNvSpPr>
              <a:spLocks noChangeArrowheads="1"/>
            </p:cNvSpPr>
            <p:nvPr/>
          </p:nvSpPr>
          <p:spPr bwMode="auto">
            <a:xfrm>
              <a:off x="627" y="1706"/>
              <a:ext cx="1296" cy="53"/>
            </a:xfrm>
            <a:prstGeom prst="rect">
              <a:avLst/>
            </a:prstGeom>
            <a:solidFill>
              <a:schemeClr val="accent1"/>
            </a:solidFill>
            <a:ln w="2857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399" name="Oval 41"/>
            <p:cNvSpPr>
              <a:spLocks noChangeArrowheads="1"/>
            </p:cNvSpPr>
            <p:nvPr/>
          </p:nvSpPr>
          <p:spPr bwMode="auto">
            <a:xfrm>
              <a:off x="1898" y="1706"/>
              <a:ext cx="62" cy="62"/>
            </a:xfrm>
            <a:prstGeom prst="ellipse">
              <a:avLst/>
            </a:prstGeom>
            <a:solidFill>
              <a:srgbClr val="DDDDDD"/>
            </a:solidFill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00" name="Oval 42"/>
            <p:cNvSpPr>
              <a:spLocks noChangeArrowheads="1"/>
            </p:cNvSpPr>
            <p:nvPr/>
          </p:nvSpPr>
          <p:spPr bwMode="auto">
            <a:xfrm>
              <a:off x="2038" y="2358"/>
              <a:ext cx="56" cy="56"/>
            </a:xfrm>
            <a:prstGeom prst="ellipse">
              <a:avLst/>
            </a:prstGeom>
            <a:solidFill>
              <a:srgbClr val="808080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lg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01" name="Oval 43"/>
            <p:cNvSpPr>
              <a:spLocks noChangeArrowheads="1"/>
            </p:cNvSpPr>
            <p:nvPr/>
          </p:nvSpPr>
          <p:spPr bwMode="auto">
            <a:xfrm>
              <a:off x="1261" y="1708"/>
              <a:ext cx="37" cy="41"/>
            </a:xfrm>
            <a:prstGeom prst="ellipse">
              <a:avLst/>
            </a:prstGeom>
            <a:solidFill>
              <a:srgbClr val="DDDDDD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lg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02" name="Line 44"/>
            <p:cNvSpPr>
              <a:spLocks noChangeShapeType="1"/>
            </p:cNvSpPr>
            <p:nvPr/>
          </p:nvSpPr>
          <p:spPr bwMode="auto">
            <a:xfrm flipH="1">
              <a:off x="1923" y="1768"/>
              <a:ext cx="0" cy="576"/>
            </a:xfrm>
            <a:prstGeom prst="line">
              <a:avLst/>
            </a:prstGeom>
            <a:noFill/>
            <a:ln w="28575" cap="sq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3" name="Arc 45"/>
            <p:cNvSpPr>
              <a:spLocks/>
            </p:cNvSpPr>
            <p:nvPr/>
          </p:nvSpPr>
          <p:spPr bwMode="auto">
            <a:xfrm rot="2168654">
              <a:off x="754" y="1604"/>
              <a:ext cx="73" cy="6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905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04" name="Line 46"/>
            <p:cNvSpPr>
              <a:spLocks noChangeShapeType="1"/>
            </p:cNvSpPr>
            <p:nvPr/>
          </p:nvSpPr>
          <p:spPr bwMode="auto">
            <a:xfrm flipV="1">
              <a:off x="458" y="1728"/>
              <a:ext cx="177" cy="1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05" name="Text Box 47"/>
            <p:cNvSpPr txBox="1">
              <a:spLocks noChangeArrowheads="1"/>
            </p:cNvSpPr>
            <p:nvPr/>
          </p:nvSpPr>
          <p:spPr bwMode="auto">
            <a:xfrm>
              <a:off x="416" y="1506"/>
              <a:ext cx="22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None/>
              </a:pPr>
              <a:r>
                <a:rPr lang="en-US" altLang="zh-CN" sz="2000" b="1" i="1"/>
                <a:t>A</a:t>
              </a:r>
            </a:p>
          </p:txBody>
        </p:sp>
        <p:sp>
          <p:nvSpPr>
            <p:cNvPr id="15406" name="Line 48"/>
            <p:cNvSpPr>
              <a:spLocks noChangeShapeType="1"/>
            </p:cNvSpPr>
            <p:nvPr/>
          </p:nvSpPr>
          <p:spPr bwMode="auto">
            <a:xfrm rot="736289" flipV="1">
              <a:off x="349" y="1817"/>
              <a:ext cx="0" cy="0"/>
            </a:xfrm>
            <a:prstGeom prst="line">
              <a:avLst/>
            </a:prstGeom>
            <a:noFill/>
            <a:ln w="28575" cap="sq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07" name="Line 49"/>
            <p:cNvSpPr>
              <a:spLocks noChangeShapeType="1"/>
            </p:cNvSpPr>
            <p:nvPr/>
          </p:nvSpPr>
          <p:spPr bwMode="auto">
            <a:xfrm rot="2670725" flipH="1">
              <a:off x="252" y="1711"/>
              <a:ext cx="48" cy="6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08" name="Line 50"/>
            <p:cNvSpPr>
              <a:spLocks noChangeShapeType="1"/>
            </p:cNvSpPr>
            <p:nvPr/>
          </p:nvSpPr>
          <p:spPr bwMode="auto">
            <a:xfrm rot="2670725" flipH="1">
              <a:off x="289" y="1747"/>
              <a:ext cx="48" cy="6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09" name="Line 51"/>
            <p:cNvSpPr>
              <a:spLocks noChangeShapeType="1"/>
            </p:cNvSpPr>
            <p:nvPr/>
          </p:nvSpPr>
          <p:spPr bwMode="auto">
            <a:xfrm rot="2670725" flipH="1">
              <a:off x="326" y="1784"/>
              <a:ext cx="48" cy="6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10" name="Line 52"/>
            <p:cNvSpPr>
              <a:spLocks noChangeShapeType="1"/>
            </p:cNvSpPr>
            <p:nvPr/>
          </p:nvSpPr>
          <p:spPr bwMode="auto">
            <a:xfrm rot="2670725" flipH="1">
              <a:off x="362" y="1819"/>
              <a:ext cx="48" cy="6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11" name="Line 53"/>
            <p:cNvSpPr>
              <a:spLocks noChangeShapeType="1"/>
            </p:cNvSpPr>
            <p:nvPr/>
          </p:nvSpPr>
          <p:spPr bwMode="auto">
            <a:xfrm rot="2670725" flipH="1">
              <a:off x="400" y="1856"/>
              <a:ext cx="48" cy="6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12" name="Line 54"/>
            <p:cNvSpPr>
              <a:spLocks noChangeShapeType="1"/>
            </p:cNvSpPr>
            <p:nvPr/>
          </p:nvSpPr>
          <p:spPr bwMode="auto">
            <a:xfrm rot="2670725" flipH="1">
              <a:off x="437" y="1892"/>
              <a:ext cx="48" cy="6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13" name="Line 55"/>
            <p:cNvSpPr>
              <a:spLocks noChangeShapeType="1"/>
            </p:cNvSpPr>
            <p:nvPr/>
          </p:nvSpPr>
          <p:spPr bwMode="auto">
            <a:xfrm rot="2670725" flipH="1">
              <a:off x="474" y="1929"/>
              <a:ext cx="48" cy="6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14" name="Line 56"/>
            <p:cNvSpPr>
              <a:spLocks noChangeShapeType="1"/>
            </p:cNvSpPr>
            <p:nvPr/>
          </p:nvSpPr>
          <p:spPr bwMode="auto">
            <a:xfrm rot="2670725" flipH="1">
              <a:off x="511" y="1965"/>
              <a:ext cx="48" cy="62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15" name="Line 57"/>
            <p:cNvSpPr>
              <a:spLocks noChangeShapeType="1"/>
            </p:cNvSpPr>
            <p:nvPr/>
          </p:nvSpPr>
          <p:spPr bwMode="auto">
            <a:xfrm rot="2670725" flipV="1">
              <a:off x="266" y="1862"/>
              <a:ext cx="362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16" name="Oval 58"/>
            <p:cNvSpPr>
              <a:spLocks noChangeArrowheads="1"/>
            </p:cNvSpPr>
            <p:nvPr/>
          </p:nvSpPr>
          <p:spPr bwMode="auto">
            <a:xfrm>
              <a:off x="550" y="1710"/>
              <a:ext cx="86" cy="85"/>
            </a:xfrm>
            <a:prstGeom prst="ellipse">
              <a:avLst/>
            </a:prstGeom>
            <a:solidFill>
              <a:srgbClr val="DDDDDD"/>
            </a:solidFill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417" name="Oval 59"/>
            <p:cNvSpPr>
              <a:spLocks noChangeArrowheads="1"/>
            </p:cNvSpPr>
            <p:nvPr/>
          </p:nvSpPr>
          <p:spPr bwMode="auto">
            <a:xfrm rot="1934436">
              <a:off x="426" y="1835"/>
              <a:ext cx="85" cy="86"/>
            </a:xfrm>
            <a:prstGeom prst="ellipse">
              <a:avLst/>
            </a:prstGeom>
            <a:solidFill>
              <a:srgbClr val="DDDDDD"/>
            </a:solidFill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58" name="Text Box 97"/>
          <p:cNvSpPr txBox="1">
            <a:spLocks noChangeArrowheads="1"/>
          </p:cNvSpPr>
          <p:nvPr/>
        </p:nvSpPr>
        <p:spPr bwMode="auto">
          <a:xfrm>
            <a:off x="694199" y="2282238"/>
            <a:ext cx="411266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miter lim="800000"/>
                <a:headEnd type="none" w="sm" len="sm"/>
                <a:tailEnd type="none" w="sm" len="lg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chemeClr val="tx2"/>
                </a:solidFill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解：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.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选取</a:t>
            </a:r>
            <a:r>
              <a:rPr lang="zh-CN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整体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研究对象，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88" name="Group 88"/>
          <p:cNvGrpSpPr>
            <a:grpSpLocks/>
          </p:cNvGrpSpPr>
          <p:nvPr/>
        </p:nvGrpSpPr>
        <p:grpSpPr bwMode="auto">
          <a:xfrm>
            <a:off x="5989403" y="789530"/>
            <a:ext cx="1779588" cy="2544763"/>
            <a:chOff x="289" y="1714"/>
            <a:chExt cx="1121" cy="1603"/>
          </a:xfrm>
        </p:grpSpPr>
        <p:sp>
          <p:nvSpPr>
            <p:cNvPr id="89" name="Line 89"/>
            <p:cNvSpPr>
              <a:spLocks noChangeShapeType="1"/>
            </p:cNvSpPr>
            <p:nvPr/>
          </p:nvSpPr>
          <p:spPr bwMode="auto">
            <a:xfrm flipV="1">
              <a:off x="289" y="1834"/>
              <a:ext cx="452" cy="489"/>
            </a:xfrm>
            <a:prstGeom prst="line">
              <a:avLst/>
            </a:prstGeom>
            <a:noFill/>
            <a:ln w="28575" cap="sq">
              <a:solidFill>
                <a:srgbClr val="FF0000"/>
              </a:solidFill>
              <a:round/>
              <a:headEnd type="none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0" name="Text Box 90"/>
            <p:cNvSpPr txBox="1">
              <a:spLocks noChangeArrowheads="1"/>
            </p:cNvSpPr>
            <p:nvPr/>
          </p:nvSpPr>
          <p:spPr bwMode="auto">
            <a:xfrm>
              <a:off x="324" y="1714"/>
              <a:ext cx="290" cy="252"/>
            </a:xfrm>
            <a:prstGeom prst="rect">
              <a:avLst/>
            </a:prstGeom>
            <a:noFill/>
            <a:ln w="28575" cap="sq">
              <a:noFill/>
              <a:miter lim="800000"/>
              <a:headEnd type="none" w="sm" len="sm"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000" b="1" i="1" dirty="0">
                  <a:solidFill>
                    <a:srgbClr val="FF0000"/>
                  </a:solidFill>
                </a:rPr>
                <a:t>F</a:t>
              </a:r>
              <a:r>
                <a:rPr lang="en-US" altLang="zh-CN" sz="2000" i="1" baseline="-25000" dirty="0">
                  <a:solidFill>
                    <a:srgbClr val="FF0000"/>
                  </a:solidFill>
                </a:rPr>
                <a:t>A</a:t>
              </a:r>
              <a:endParaRPr lang="en-US" altLang="zh-CN" sz="2000" i="1" dirty="0">
                <a:solidFill>
                  <a:srgbClr val="FF0000"/>
                </a:solidFill>
              </a:endParaRPr>
            </a:p>
          </p:txBody>
        </p:sp>
        <p:sp>
          <p:nvSpPr>
            <p:cNvPr id="93" name="Line 93"/>
            <p:cNvSpPr>
              <a:spLocks noChangeShapeType="1"/>
            </p:cNvSpPr>
            <p:nvPr/>
          </p:nvSpPr>
          <p:spPr bwMode="auto">
            <a:xfrm>
              <a:off x="965" y="3067"/>
              <a:ext cx="445" cy="0"/>
            </a:xfrm>
            <a:prstGeom prst="line">
              <a:avLst/>
            </a:prstGeom>
            <a:noFill/>
            <a:ln w="28575" cap="sq">
              <a:solidFill>
                <a:srgbClr val="FF0000"/>
              </a:solidFill>
              <a:round/>
              <a:headEnd type="none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4" name="Line 94"/>
            <p:cNvSpPr>
              <a:spLocks noChangeShapeType="1"/>
            </p:cNvSpPr>
            <p:nvPr/>
          </p:nvSpPr>
          <p:spPr bwMode="auto">
            <a:xfrm flipV="1">
              <a:off x="972" y="2572"/>
              <a:ext cx="0" cy="488"/>
            </a:xfrm>
            <a:prstGeom prst="line">
              <a:avLst/>
            </a:prstGeom>
            <a:noFill/>
            <a:ln w="28575" cap="sq">
              <a:solidFill>
                <a:srgbClr val="FF0000"/>
              </a:solidFill>
              <a:round/>
              <a:headEnd type="none" w="sm" len="sm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95" name="Text Box 95"/>
            <p:cNvSpPr txBox="1">
              <a:spLocks noChangeArrowheads="1"/>
            </p:cNvSpPr>
            <p:nvPr/>
          </p:nvSpPr>
          <p:spPr bwMode="auto">
            <a:xfrm>
              <a:off x="1065" y="3065"/>
              <a:ext cx="337" cy="252"/>
            </a:xfrm>
            <a:prstGeom prst="rect">
              <a:avLst/>
            </a:prstGeom>
            <a:noFill/>
            <a:ln w="28575" cap="sq">
              <a:noFill/>
              <a:miter lim="800000"/>
              <a:headEnd type="none" w="sm" len="sm"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000" b="1" i="1" dirty="0" err="1">
                  <a:solidFill>
                    <a:srgbClr val="FF0000"/>
                  </a:solidFill>
                </a:rPr>
                <a:t>F</a:t>
              </a:r>
              <a:r>
                <a:rPr lang="en-US" altLang="zh-CN" sz="2000" i="1" baseline="-25000" dirty="0" err="1">
                  <a:solidFill>
                    <a:srgbClr val="FF0000"/>
                  </a:solidFill>
                </a:rPr>
                <a:t>Ex</a:t>
              </a:r>
              <a:endParaRPr lang="en-US" altLang="zh-CN" sz="2000" i="1" dirty="0">
                <a:solidFill>
                  <a:srgbClr val="FF0000"/>
                </a:solidFill>
              </a:endParaRPr>
            </a:p>
          </p:txBody>
        </p:sp>
        <p:sp>
          <p:nvSpPr>
            <p:cNvPr id="96" name="Text Box 96"/>
            <p:cNvSpPr txBox="1">
              <a:spLocks noChangeArrowheads="1"/>
            </p:cNvSpPr>
            <p:nvPr/>
          </p:nvSpPr>
          <p:spPr bwMode="auto">
            <a:xfrm>
              <a:off x="958" y="2570"/>
              <a:ext cx="337" cy="252"/>
            </a:xfrm>
            <a:prstGeom prst="rect">
              <a:avLst/>
            </a:prstGeom>
            <a:noFill/>
            <a:ln w="28575" cap="sq">
              <a:noFill/>
              <a:miter lim="800000"/>
              <a:headEnd type="none" w="sm" len="sm"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000" b="1" i="1" dirty="0" err="1">
                  <a:solidFill>
                    <a:srgbClr val="FF0000"/>
                  </a:solidFill>
                </a:rPr>
                <a:t>F</a:t>
              </a:r>
              <a:r>
                <a:rPr lang="en-US" altLang="zh-CN" sz="2000" i="1" baseline="-25000" dirty="0" err="1">
                  <a:solidFill>
                    <a:srgbClr val="FF0000"/>
                  </a:solidFill>
                </a:rPr>
                <a:t>Ey</a:t>
              </a:r>
              <a:endParaRPr lang="en-US" altLang="zh-CN" sz="2000" i="1" dirty="0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97" name="Object 9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034478"/>
              </p:ext>
            </p:extLst>
          </p:nvPr>
        </p:nvGraphicFramePr>
        <p:xfrm>
          <a:off x="869887" y="2704384"/>
          <a:ext cx="4789487" cy="179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1" name="Equation" r:id="rId5" imgW="2616120" imgH="1117440" progId="Equation.3">
                  <p:embed/>
                </p:oleObj>
              </mc:Choice>
              <mc:Fallback>
                <p:oleObj name="Equation" r:id="rId5" imgW="2616120" imgH="1117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9887" y="2704384"/>
                        <a:ext cx="4789487" cy="179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1593903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" name="Text Box 100"/>
          <p:cNvSpPr txBox="1">
            <a:spLocks noChangeArrowheads="1"/>
          </p:cNvSpPr>
          <p:nvPr/>
        </p:nvSpPr>
        <p:spPr bwMode="auto">
          <a:xfrm>
            <a:off x="731638" y="4499846"/>
            <a:ext cx="283225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miter lim="800000"/>
                <a:headEnd type="none" w="sm" len="sm"/>
                <a:tailEnd type="none" w="sm" len="lg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b="1" dirty="0">
                <a:solidFill>
                  <a:schemeClr val="tx2"/>
                </a:solidFill>
              </a:rPr>
              <a:t> 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.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研究对象</a:t>
            </a:r>
            <a:r>
              <a:rPr lang="en-US" altLang="zh-CN" i="1" dirty="0">
                <a:latin typeface="+mn-lt"/>
                <a:ea typeface="楷体" panose="02010609060101010101" pitchFamily="49" charset="-122"/>
              </a:rPr>
              <a:t>DCE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6331394" y="3436780"/>
            <a:ext cx="1630364" cy="2908300"/>
            <a:chOff x="6331394" y="3436780"/>
            <a:chExt cx="1630364" cy="2908300"/>
          </a:xfrm>
        </p:grpSpPr>
        <p:grpSp>
          <p:nvGrpSpPr>
            <p:cNvPr id="108" name="Group 103"/>
            <p:cNvGrpSpPr>
              <a:grpSpLocks/>
            </p:cNvGrpSpPr>
            <p:nvPr/>
          </p:nvGrpSpPr>
          <p:grpSpPr bwMode="auto">
            <a:xfrm>
              <a:off x="6698107" y="3436780"/>
              <a:ext cx="447675" cy="2908300"/>
              <a:chOff x="604" y="1989"/>
              <a:chExt cx="282" cy="1832"/>
            </a:xfrm>
          </p:grpSpPr>
          <p:sp>
            <p:nvSpPr>
              <p:cNvPr id="109" name="Text Box 104"/>
              <p:cNvSpPr txBox="1">
                <a:spLocks noChangeArrowheads="1"/>
              </p:cNvSpPr>
              <p:nvPr/>
            </p:nvSpPr>
            <p:spPr bwMode="auto">
              <a:xfrm>
                <a:off x="604" y="3590"/>
                <a:ext cx="21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CN" sz="1800" b="1" i="1" dirty="0"/>
                  <a:t>E</a:t>
                </a:r>
              </a:p>
            </p:txBody>
          </p:sp>
          <p:sp>
            <p:nvSpPr>
              <p:cNvPr id="110" name="Rectangle 105"/>
              <p:cNvSpPr>
                <a:spLocks noChangeArrowheads="1"/>
              </p:cNvSpPr>
              <p:nvPr/>
            </p:nvSpPr>
            <p:spPr bwMode="auto">
              <a:xfrm>
                <a:off x="832" y="2185"/>
                <a:ext cx="53" cy="1515"/>
              </a:xfrm>
              <a:prstGeom prst="rect">
                <a:avLst/>
              </a:prstGeom>
              <a:solidFill>
                <a:srgbClr val="6699FF"/>
              </a:solidFill>
              <a:ln w="28575" cap="sq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zh-CN"/>
              </a:p>
            </p:txBody>
          </p:sp>
          <p:sp>
            <p:nvSpPr>
              <p:cNvPr id="111" name="Text Box 106"/>
              <p:cNvSpPr txBox="1">
                <a:spLocks noChangeArrowheads="1"/>
              </p:cNvSpPr>
              <p:nvPr/>
            </p:nvSpPr>
            <p:spPr bwMode="auto">
              <a:xfrm>
                <a:off x="636" y="2871"/>
                <a:ext cx="213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CN" sz="1800" b="1" i="1"/>
                  <a:t>C</a:t>
                </a:r>
              </a:p>
            </p:txBody>
          </p:sp>
          <p:sp>
            <p:nvSpPr>
              <p:cNvPr id="112" name="Text Box 107"/>
              <p:cNvSpPr txBox="1">
                <a:spLocks noChangeArrowheads="1"/>
              </p:cNvSpPr>
              <p:nvPr/>
            </p:nvSpPr>
            <p:spPr bwMode="auto">
              <a:xfrm>
                <a:off x="638" y="2439"/>
                <a:ext cx="213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CN" sz="1800" b="1" i="1"/>
                  <a:t>K</a:t>
                </a:r>
              </a:p>
            </p:txBody>
          </p:sp>
          <p:sp>
            <p:nvSpPr>
              <p:cNvPr id="113" name="Text Box 108"/>
              <p:cNvSpPr txBox="1">
                <a:spLocks noChangeArrowheads="1"/>
              </p:cNvSpPr>
              <p:nvPr/>
            </p:nvSpPr>
            <p:spPr bwMode="auto">
              <a:xfrm>
                <a:off x="647" y="1989"/>
                <a:ext cx="22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None/>
                </a:pPr>
                <a:r>
                  <a:rPr lang="en-US" altLang="zh-CN" sz="1800" b="1" i="1"/>
                  <a:t>D</a:t>
                </a:r>
              </a:p>
            </p:txBody>
          </p:sp>
          <p:sp>
            <p:nvSpPr>
              <p:cNvPr id="114" name="Oval 109"/>
              <p:cNvSpPr>
                <a:spLocks noChangeArrowheads="1"/>
              </p:cNvSpPr>
              <p:nvPr/>
            </p:nvSpPr>
            <p:spPr bwMode="auto">
              <a:xfrm>
                <a:off x="835" y="2876"/>
                <a:ext cx="40" cy="39"/>
              </a:xfrm>
              <a:prstGeom prst="ellipse">
                <a:avLst/>
              </a:prstGeom>
              <a:solidFill>
                <a:srgbClr val="DDDDDD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lg"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5" name="Oval 110"/>
              <p:cNvSpPr>
                <a:spLocks noChangeArrowheads="1"/>
              </p:cNvSpPr>
              <p:nvPr/>
            </p:nvSpPr>
            <p:spPr bwMode="auto">
              <a:xfrm>
                <a:off x="827" y="3665"/>
                <a:ext cx="59" cy="53"/>
              </a:xfrm>
              <a:prstGeom prst="ellipse">
                <a:avLst/>
              </a:prstGeom>
              <a:solidFill>
                <a:srgbClr val="DDDDDD"/>
              </a:solidFill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lg"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6" name="Oval 111"/>
              <p:cNvSpPr>
                <a:spLocks noChangeArrowheads="1"/>
              </p:cNvSpPr>
              <p:nvPr/>
            </p:nvSpPr>
            <p:spPr bwMode="auto">
              <a:xfrm>
                <a:off x="828" y="2166"/>
                <a:ext cx="58" cy="53"/>
              </a:xfrm>
              <a:prstGeom prst="ellipse">
                <a:avLst/>
              </a:prstGeom>
              <a:solidFill>
                <a:srgbClr val="DDDDDD"/>
              </a:solidFill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lg"/>
              </a:ln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117" name="Group 112"/>
            <p:cNvGrpSpPr>
              <a:grpSpLocks/>
            </p:cNvGrpSpPr>
            <p:nvPr/>
          </p:nvGrpSpPr>
          <p:grpSpPr bwMode="auto">
            <a:xfrm>
              <a:off x="6331395" y="3746343"/>
              <a:ext cx="1630363" cy="2406650"/>
              <a:chOff x="243" y="2606"/>
              <a:chExt cx="1027" cy="1516"/>
            </a:xfrm>
          </p:grpSpPr>
          <p:sp>
            <p:nvSpPr>
              <p:cNvPr id="118" name="Line 113"/>
              <p:cNvSpPr>
                <a:spLocks noChangeShapeType="1"/>
              </p:cNvSpPr>
              <p:nvPr/>
            </p:nvSpPr>
            <p:spPr bwMode="auto">
              <a:xfrm>
                <a:off x="772" y="4114"/>
                <a:ext cx="432" cy="0"/>
              </a:xfrm>
              <a:prstGeom prst="line">
                <a:avLst/>
              </a:prstGeom>
              <a:noFill/>
              <a:ln w="28575" cap="sq">
                <a:solidFill>
                  <a:srgbClr val="FF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9" name="Line 114"/>
              <p:cNvSpPr>
                <a:spLocks noChangeShapeType="1"/>
              </p:cNvSpPr>
              <p:nvPr/>
            </p:nvSpPr>
            <p:spPr bwMode="auto">
              <a:xfrm flipV="1">
                <a:off x="730" y="3786"/>
                <a:ext cx="0" cy="336"/>
              </a:xfrm>
              <a:prstGeom prst="line">
                <a:avLst/>
              </a:prstGeom>
              <a:noFill/>
              <a:ln w="28575" cap="sq">
                <a:solidFill>
                  <a:srgbClr val="FF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" name="Line 115"/>
              <p:cNvSpPr>
                <a:spLocks noChangeShapeType="1"/>
              </p:cNvSpPr>
              <p:nvPr/>
            </p:nvSpPr>
            <p:spPr bwMode="auto">
              <a:xfrm flipH="1">
                <a:off x="243" y="3313"/>
                <a:ext cx="454" cy="3"/>
              </a:xfrm>
              <a:prstGeom prst="line">
                <a:avLst/>
              </a:prstGeom>
              <a:noFill/>
              <a:ln w="28575" cap="sq">
                <a:solidFill>
                  <a:srgbClr val="FF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1" name="Line 116"/>
              <p:cNvSpPr>
                <a:spLocks noChangeShapeType="1"/>
              </p:cNvSpPr>
              <p:nvPr/>
            </p:nvSpPr>
            <p:spPr bwMode="auto">
              <a:xfrm>
                <a:off x="732" y="3334"/>
                <a:ext cx="0" cy="336"/>
              </a:xfrm>
              <a:prstGeom prst="line">
                <a:avLst/>
              </a:prstGeom>
              <a:noFill/>
              <a:ln w="28575" cap="sq">
                <a:solidFill>
                  <a:srgbClr val="FF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" name="Line 117"/>
              <p:cNvSpPr>
                <a:spLocks noChangeShapeType="1"/>
              </p:cNvSpPr>
              <p:nvPr/>
            </p:nvSpPr>
            <p:spPr bwMode="auto">
              <a:xfrm>
                <a:off x="757" y="2976"/>
                <a:ext cx="479" cy="11"/>
              </a:xfrm>
              <a:prstGeom prst="line">
                <a:avLst/>
              </a:prstGeom>
              <a:noFill/>
              <a:ln w="28575" cap="sq">
                <a:solidFill>
                  <a:srgbClr val="FF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" name="Text Box 118"/>
              <p:cNvSpPr txBox="1">
                <a:spLocks noChangeArrowheads="1"/>
              </p:cNvSpPr>
              <p:nvPr/>
            </p:nvSpPr>
            <p:spPr bwMode="auto">
              <a:xfrm>
                <a:off x="926" y="2969"/>
                <a:ext cx="344" cy="250"/>
              </a:xfrm>
              <a:prstGeom prst="rect">
                <a:avLst/>
              </a:prstGeom>
              <a:noFill/>
              <a:ln w="28575" cap="sq">
                <a:noFill/>
                <a:miter lim="800000"/>
                <a:headEnd type="none" w="sm" len="sm"/>
                <a:tailEnd type="none" w="sm" len="lg"/>
              </a:ln>
              <a:effectLst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2000" b="1" i="1" dirty="0">
                    <a:solidFill>
                      <a:srgbClr val="FF0000"/>
                    </a:solidFill>
                  </a:rPr>
                  <a:t>F</a:t>
                </a:r>
                <a:r>
                  <a:rPr lang="en-US" altLang="zh-CN" sz="2000" i="1" baseline="-25000" dirty="0">
                    <a:solidFill>
                      <a:srgbClr val="FF0000"/>
                    </a:solidFill>
                  </a:rPr>
                  <a:t>K</a:t>
                </a:r>
                <a:endParaRPr lang="en-US" altLang="zh-CN" sz="2000" i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24" name="Text Box 119"/>
              <p:cNvSpPr txBox="1">
                <a:spLocks noChangeArrowheads="1"/>
              </p:cNvSpPr>
              <p:nvPr/>
            </p:nvSpPr>
            <p:spPr bwMode="auto">
              <a:xfrm>
                <a:off x="375" y="3762"/>
                <a:ext cx="337" cy="252"/>
              </a:xfrm>
              <a:prstGeom prst="rect">
                <a:avLst/>
              </a:prstGeom>
              <a:noFill/>
              <a:ln w="28575" cap="sq">
                <a:noFill/>
                <a:miter lim="800000"/>
                <a:headEnd type="none" w="sm" len="sm"/>
                <a:tailEnd type="none" w="sm" len="lg"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zh-CN" sz="2000" b="1" i="1" dirty="0" err="1">
                    <a:solidFill>
                      <a:srgbClr val="FF0000"/>
                    </a:solidFill>
                  </a:rPr>
                  <a:t>F</a:t>
                </a:r>
                <a:r>
                  <a:rPr lang="en-US" altLang="zh-CN" sz="2000" i="1" baseline="-25000" dirty="0" err="1">
                    <a:solidFill>
                      <a:srgbClr val="FF0000"/>
                    </a:solidFill>
                  </a:rPr>
                  <a:t>Ey</a:t>
                </a:r>
                <a:endParaRPr lang="en-US" altLang="zh-CN" sz="2000" i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25" name="Text Box 120"/>
              <p:cNvSpPr txBox="1">
                <a:spLocks noChangeArrowheads="1"/>
              </p:cNvSpPr>
              <p:nvPr/>
            </p:nvSpPr>
            <p:spPr bwMode="auto">
              <a:xfrm>
                <a:off x="864" y="3840"/>
                <a:ext cx="337" cy="252"/>
              </a:xfrm>
              <a:prstGeom prst="rect">
                <a:avLst/>
              </a:prstGeom>
              <a:noFill/>
              <a:ln w="28575" cap="sq">
                <a:noFill/>
                <a:miter lim="800000"/>
                <a:headEnd type="none" w="sm" len="sm"/>
                <a:tailEnd type="none" w="sm" len="lg"/>
              </a:ln>
              <a:effectLst/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zh-CN" sz="2000" b="1" i="1" dirty="0" err="1">
                    <a:solidFill>
                      <a:srgbClr val="FF0000"/>
                    </a:solidFill>
                  </a:rPr>
                  <a:t>F</a:t>
                </a:r>
                <a:r>
                  <a:rPr lang="en-US" altLang="zh-CN" sz="2000" i="1" baseline="-25000" dirty="0" err="1">
                    <a:solidFill>
                      <a:srgbClr val="FF0000"/>
                    </a:solidFill>
                  </a:rPr>
                  <a:t>Ex</a:t>
                </a:r>
                <a:endParaRPr lang="en-US" altLang="zh-CN" sz="2000" i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26" name="Line 121"/>
              <p:cNvSpPr>
                <a:spLocks noChangeShapeType="1"/>
              </p:cNvSpPr>
              <p:nvPr/>
            </p:nvSpPr>
            <p:spPr bwMode="auto">
              <a:xfrm>
                <a:off x="754" y="2606"/>
                <a:ext cx="466" cy="301"/>
              </a:xfrm>
              <a:prstGeom prst="line">
                <a:avLst/>
              </a:prstGeom>
              <a:noFill/>
              <a:ln w="28575" cap="sq">
                <a:solidFill>
                  <a:srgbClr val="FF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0" name="Text Box 120"/>
            <p:cNvSpPr txBox="1">
              <a:spLocks noChangeArrowheads="1"/>
            </p:cNvSpPr>
            <p:nvPr/>
          </p:nvSpPr>
          <p:spPr bwMode="auto">
            <a:xfrm>
              <a:off x="6331394" y="4413662"/>
              <a:ext cx="545342" cy="400110"/>
            </a:xfrm>
            <a:prstGeom prst="rect">
              <a:avLst/>
            </a:prstGeom>
            <a:noFill/>
            <a:ln w="28575" cap="sq">
              <a:noFill/>
              <a:miter lim="800000"/>
              <a:headEnd type="none" w="sm" len="sm"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000" b="1" i="1" dirty="0" err="1">
                  <a:solidFill>
                    <a:srgbClr val="FF0000"/>
                  </a:solidFill>
                </a:rPr>
                <a:t>F</a:t>
              </a:r>
              <a:r>
                <a:rPr lang="en-US" altLang="zh-CN" sz="2000" i="1" baseline="-25000" dirty="0" err="1">
                  <a:solidFill>
                    <a:srgbClr val="FF0000"/>
                  </a:solidFill>
                </a:rPr>
                <a:t>Cx</a:t>
              </a:r>
              <a:endParaRPr lang="en-US" altLang="zh-CN" sz="2000" i="1" dirty="0">
                <a:solidFill>
                  <a:srgbClr val="FF0000"/>
                </a:solidFill>
              </a:endParaRPr>
            </a:p>
          </p:txBody>
        </p:sp>
        <p:sp>
          <p:nvSpPr>
            <p:cNvPr id="131" name="Text Box 120"/>
            <p:cNvSpPr txBox="1">
              <a:spLocks noChangeArrowheads="1"/>
            </p:cNvSpPr>
            <p:nvPr/>
          </p:nvSpPr>
          <p:spPr bwMode="auto">
            <a:xfrm>
              <a:off x="7155310" y="4851977"/>
              <a:ext cx="545342" cy="400110"/>
            </a:xfrm>
            <a:prstGeom prst="rect">
              <a:avLst/>
            </a:prstGeom>
            <a:noFill/>
            <a:ln w="28575" cap="sq">
              <a:noFill/>
              <a:miter lim="800000"/>
              <a:headEnd type="none" w="sm" len="sm"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000" b="1" i="1" dirty="0" err="1">
                  <a:solidFill>
                    <a:srgbClr val="FF0000"/>
                  </a:solidFill>
                </a:rPr>
                <a:t>F</a:t>
              </a:r>
              <a:r>
                <a:rPr lang="en-US" altLang="zh-CN" sz="2000" i="1" baseline="-25000" dirty="0" err="1">
                  <a:solidFill>
                    <a:srgbClr val="FF0000"/>
                  </a:solidFill>
                </a:rPr>
                <a:t>Cy</a:t>
              </a:r>
              <a:endParaRPr lang="en-US" altLang="zh-CN" sz="2000" i="1" dirty="0">
                <a:solidFill>
                  <a:srgbClr val="FF0000"/>
                </a:solidFill>
              </a:endParaRPr>
            </a:p>
          </p:txBody>
        </p:sp>
        <p:sp>
          <p:nvSpPr>
            <p:cNvPr id="132" name="Text Box 120"/>
            <p:cNvSpPr txBox="1">
              <a:spLocks noChangeArrowheads="1"/>
            </p:cNvSpPr>
            <p:nvPr/>
          </p:nvSpPr>
          <p:spPr bwMode="auto">
            <a:xfrm>
              <a:off x="7362045" y="3644743"/>
              <a:ext cx="583814" cy="400110"/>
            </a:xfrm>
            <a:prstGeom prst="rect">
              <a:avLst/>
            </a:prstGeom>
            <a:noFill/>
            <a:ln w="28575" cap="sq">
              <a:noFill/>
              <a:miter lim="800000"/>
              <a:headEnd type="none" w="sm" len="sm"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000" b="1" i="1" dirty="0">
                  <a:solidFill>
                    <a:srgbClr val="FF0000"/>
                  </a:solidFill>
                </a:rPr>
                <a:t>F</a:t>
              </a:r>
              <a:r>
                <a:rPr lang="en-US" altLang="zh-CN" sz="2000" i="1" baseline="-25000" dirty="0">
                  <a:solidFill>
                    <a:srgbClr val="FF0000"/>
                  </a:solidFill>
                </a:rPr>
                <a:t>DB</a:t>
              </a:r>
              <a:endParaRPr lang="en-US" altLang="zh-CN" sz="2000" i="1" dirty="0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133" name="Object 10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624980"/>
              </p:ext>
            </p:extLst>
          </p:nvPr>
        </p:nvGraphicFramePr>
        <p:xfrm>
          <a:off x="919118" y="5025289"/>
          <a:ext cx="4129088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2" name="公式" r:id="rId7" imgW="2298600" imgH="507960" progId="Equation.3">
                  <p:embed/>
                </p:oleObj>
              </mc:Choice>
              <mc:Fallback>
                <p:oleObj name="公式" r:id="rId7" imgW="2298600" imgH="507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9118" y="5025289"/>
                        <a:ext cx="4129088" cy="912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1593903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" name="TextBox 67"/>
          <p:cNvSpPr txBox="1"/>
          <p:nvPr/>
        </p:nvSpPr>
        <p:spPr>
          <a:xfrm>
            <a:off x="1486345" y="6024807"/>
            <a:ext cx="4453490" cy="461963"/>
          </a:xfrm>
          <a:prstGeom prst="rect">
            <a:avLst/>
          </a:prstGeom>
          <a:solidFill>
            <a:schemeClr val="accent1">
              <a:alpha val="34000"/>
            </a:schemeClr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若求销钉</a:t>
            </a:r>
            <a:r>
              <a:rPr lang="en-US" altLang="zh-CN" i="1" dirty="0">
                <a:latin typeface="+mn-lt"/>
                <a:ea typeface="楷体" panose="02010609060101010101" pitchFamily="49" charset="-122"/>
              </a:rPr>
              <a:t>B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给</a:t>
            </a:r>
            <a:r>
              <a:rPr lang="en-US" altLang="zh-CN" i="1" dirty="0">
                <a:latin typeface="+mn-lt"/>
                <a:ea typeface="楷体" panose="02010609060101010101" pitchFamily="49" charset="-122"/>
              </a:rPr>
              <a:t>AB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杆的力，如何？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98" grpId="0"/>
      <p:bldP spid="13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702849" y="1691686"/>
            <a:ext cx="4489441" cy="2347651"/>
            <a:chOff x="2702849" y="1691686"/>
            <a:chExt cx="4489441" cy="2347651"/>
          </a:xfrm>
        </p:grpSpPr>
        <p:sp>
          <p:nvSpPr>
            <p:cNvPr id="19465" name="Text Box 9"/>
            <p:cNvSpPr txBox="1">
              <a:spLocks noChangeArrowheads="1"/>
            </p:cNvSpPr>
            <p:nvPr/>
          </p:nvSpPr>
          <p:spPr bwMode="auto">
            <a:xfrm>
              <a:off x="4239540" y="2636911"/>
              <a:ext cx="2952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空间力系平衡方程</a:t>
              </a:r>
            </a:p>
          </p:txBody>
        </p:sp>
        <p:graphicFrame>
          <p:nvGraphicFramePr>
            <p:cNvPr id="19466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86256037"/>
                </p:ext>
              </p:extLst>
            </p:nvPr>
          </p:nvGraphicFramePr>
          <p:xfrm>
            <a:off x="2702849" y="1691686"/>
            <a:ext cx="1504255" cy="23476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30" name="Equation" r:id="rId3" imgW="1790640" imgH="2793960" progId="Equation.3">
                    <p:embed/>
                  </p:oleObj>
                </mc:Choice>
                <mc:Fallback>
                  <p:oleObj name="Equation" r:id="rId3" imgW="1790640" imgH="27939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2849" y="1691686"/>
                          <a:ext cx="1504255" cy="23476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3454976" y="534379"/>
            <a:ext cx="16273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本章小结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1763713" y="1125538"/>
            <a:ext cx="56325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rgbClr val="0000FF"/>
                </a:solidFill>
              </a:rPr>
              <a:t>1</a:t>
            </a:r>
            <a:r>
              <a:rPr lang="zh-CN" altLang="en-US" dirty="0">
                <a:solidFill>
                  <a:srgbClr val="0000FF"/>
                </a:solidFill>
              </a:rPr>
              <a:t>．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空间任意力系平衡的必要与充分条件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785265" y="4047626"/>
            <a:ext cx="563250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．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平面任意力系平衡的必要与充分条件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707046" y="4645170"/>
            <a:ext cx="4502150" cy="1181100"/>
            <a:chOff x="2707046" y="4645170"/>
            <a:chExt cx="4502150" cy="1181100"/>
          </a:xfrm>
        </p:grpSpPr>
        <p:graphicFrame>
          <p:nvGraphicFramePr>
            <p:cNvPr id="9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48154775"/>
                </p:ext>
              </p:extLst>
            </p:nvPr>
          </p:nvGraphicFramePr>
          <p:xfrm>
            <a:off x="2707046" y="4645170"/>
            <a:ext cx="1549400" cy="1181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31" name="Equation" r:id="rId5" imgW="965160" imgH="736560" progId="Equation.3">
                    <p:embed/>
                  </p:oleObj>
                </mc:Choice>
                <mc:Fallback>
                  <p:oleObj name="Equation" r:id="rId5" imgW="965160" imgH="7365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07046" y="4645170"/>
                          <a:ext cx="1549400" cy="1181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4256446" y="4985055"/>
              <a:ext cx="29527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平面力系平衡方程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8066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2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  <p:bldP spid="7" grpId="0" build="p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8" name="Text Box 12"/>
          <p:cNvSpPr txBox="1">
            <a:spLocks noChangeArrowheads="1"/>
          </p:cNvSpPr>
          <p:nvPr/>
        </p:nvSpPr>
        <p:spPr bwMode="auto">
          <a:xfrm>
            <a:off x="1566137" y="2204864"/>
            <a:ext cx="3744936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．物体系统的平衡问题：</a:t>
            </a:r>
          </a:p>
          <a:p>
            <a:pPr eaLnBrk="1" hangingPunct="1"/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   注意研究对象的选取，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正确的受力分析，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/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合适的投影和矩方程。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9951" name="Text Box 15"/>
          <p:cNvSpPr txBox="1">
            <a:spLocks noChangeArrowheads="1"/>
          </p:cNvSpPr>
          <p:nvPr/>
        </p:nvSpPr>
        <p:spPr bwMode="auto">
          <a:xfrm>
            <a:off x="1595886" y="4077072"/>
            <a:ext cx="600045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．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静力学的任务</a:t>
            </a:r>
            <a:r>
              <a:rPr lang="en-US" altLang="zh-CN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</a:p>
          <a:p>
            <a:pPr eaLnBrk="1" hangingPunct="1"/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分析受力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平衡条件约束反力（平衡位置）</a:t>
            </a:r>
            <a:endParaRPr lang="zh-CN" altLang="en-US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1619672" y="1196752"/>
            <a:ext cx="31213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．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静定与静不定问题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9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8" grpId="0"/>
      <p:bldP spid="39951" grpId="0"/>
      <p:bldP spid="11" grpId="0" build="p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4"/>
          <p:cNvSpPr>
            <a:spLocks noChangeArrowheads="1"/>
          </p:cNvSpPr>
          <p:nvPr/>
        </p:nvSpPr>
        <p:spPr bwMode="auto">
          <a:xfrm>
            <a:off x="467544" y="1556792"/>
            <a:ext cx="5041304" cy="575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6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静力学专题</a:t>
            </a:r>
          </a:p>
        </p:txBody>
      </p:sp>
      <p:sp>
        <p:nvSpPr>
          <p:cNvPr id="33795" name="Rectangle 5"/>
          <p:cNvSpPr>
            <a:spLocks noChangeArrowheads="1"/>
          </p:cNvSpPr>
          <p:nvPr/>
        </p:nvSpPr>
        <p:spPr bwMode="auto">
          <a:xfrm>
            <a:off x="2267744" y="2996952"/>
            <a:ext cx="5544616" cy="683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3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-----</a:t>
            </a:r>
            <a:r>
              <a:rPr lang="zh-CN" altLang="en-US" sz="3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桁架的内力计算</a:t>
            </a:r>
          </a:p>
        </p:txBody>
      </p:sp>
      <p:sp>
        <p:nvSpPr>
          <p:cNvPr id="4" name="Text Box 13"/>
          <p:cNvSpPr txBox="1">
            <a:spLocks noChangeArrowheads="1"/>
          </p:cNvSpPr>
          <p:nvPr/>
        </p:nvSpPr>
        <p:spPr bwMode="auto">
          <a:xfrm>
            <a:off x="2915816" y="3717032"/>
            <a:ext cx="358784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一种典型的力学建模问题</a:t>
            </a:r>
          </a:p>
        </p:txBody>
      </p:sp>
    </p:spTree>
    <p:extLst>
      <p:ext uri="{BB962C8B-B14F-4D97-AF65-F5344CB8AC3E}">
        <p14:creationId xmlns:p14="http://schemas.microsoft.com/office/powerpoint/2010/main" val="2901558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0" name="Rectangle 6"/>
          <p:cNvSpPr>
            <a:spLocks noChangeArrowheads="1"/>
          </p:cNvSpPr>
          <p:nvPr/>
        </p:nvSpPr>
        <p:spPr bwMode="auto">
          <a:xfrm>
            <a:off x="631279" y="5674455"/>
            <a:ext cx="3775075" cy="523875"/>
          </a:xfrm>
          <a:prstGeom prst="rect">
            <a:avLst/>
          </a:prstGeom>
          <a:gradFill rotWithShape="0">
            <a:gsLst>
              <a:gs pos="0">
                <a:schemeClr val="accent2">
                  <a:gamma/>
                  <a:tint val="35686"/>
                  <a:invGamma/>
                  <a:alpha val="31000"/>
                </a:schemeClr>
              </a:gs>
              <a:gs pos="100000">
                <a:schemeClr val="accent5">
                  <a:lumMod val="50000"/>
                </a:schemeClr>
              </a:gs>
            </a:gsLst>
            <a:path path="shape">
              <a:fillToRect l="50000" t="50000" r="50000" b="50000"/>
            </a:path>
          </a:gra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工程中的各种桁架结构</a:t>
            </a:r>
            <a:endParaRPr lang="zh-CN" altLang="en-US" sz="28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67544" y="1340768"/>
            <a:ext cx="3737917" cy="2804704"/>
            <a:chOff x="441478" y="1844682"/>
            <a:chExt cx="3737917" cy="2804704"/>
          </a:xfrm>
        </p:grpSpPr>
        <p:pic>
          <p:nvPicPr>
            <p:cNvPr id="26632" name="Picture 8" descr="DSCN133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1478" y="1844682"/>
              <a:ext cx="3737917" cy="28047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633" name="Text Box 9"/>
            <p:cNvSpPr txBox="1">
              <a:spLocks noChangeArrowheads="1"/>
            </p:cNvSpPr>
            <p:nvPr/>
          </p:nvSpPr>
          <p:spPr bwMode="auto">
            <a:xfrm>
              <a:off x="499316" y="1844682"/>
              <a:ext cx="20891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dirty="0">
                  <a:latin typeface="楷体" panose="02010609060101010101" pitchFamily="49" charset="-122"/>
                  <a:ea typeface="楷体" panose="02010609060101010101" pitchFamily="49" charset="-122"/>
                </a:rPr>
                <a:t>悉尼海港大桥</a:t>
              </a:r>
            </a:p>
          </p:txBody>
        </p:sp>
      </p:grp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9350" y="692696"/>
            <a:ext cx="3810000" cy="256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7" descr="钢架桥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2926" y="3501008"/>
            <a:ext cx="3816424" cy="26110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00754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ChangeArrowheads="1"/>
          </p:cNvSpPr>
          <p:nvPr/>
        </p:nvSpPr>
        <p:spPr bwMode="auto">
          <a:xfrm>
            <a:off x="916583" y="1456744"/>
            <a:ext cx="3775075" cy="523875"/>
          </a:xfrm>
          <a:prstGeom prst="rect">
            <a:avLst/>
          </a:prstGeom>
          <a:gradFill rotWithShape="0">
            <a:gsLst>
              <a:gs pos="0">
                <a:schemeClr val="accent2">
                  <a:gamma/>
                  <a:tint val="35686"/>
                  <a:invGamma/>
                  <a:alpha val="31000"/>
                </a:schemeClr>
              </a:gs>
              <a:gs pos="100000">
                <a:schemeClr val="accent5">
                  <a:lumMod val="50000"/>
                </a:schemeClr>
              </a:gs>
            </a:gsLst>
            <a:path path="shape">
              <a:fillToRect l="50000" t="50000" r="50000" b="50000"/>
            </a:path>
          </a:gra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工程中的各种桁架结构</a:t>
            </a:r>
            <a:endParaRPr lang="zh-CN" altLang="en-US" sz="28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Picture 6" descr="桁架-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9268" y="756483"/>
            <a:ext cx="3669712" cy="24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0588" y="3212976"/>
            <a:ext cx="3528392" cy="352839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151" y="2780928"/>
            <a:ext cx="4407941" cy="2938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544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2256338" y="620688"/>
            <a:ext cx="3775075" cy="523875"/>
          </a:xfrm>
          <a:prstGeom prst="rect">
            <a:avLst/>
          </a:prstGeom>
          <a:gradFill rotWithShape="0">
            <a:gsLst>
              <a:gs pos="0">
                <a:schemeClr val="accent2">
                  <a:gamma/>
                  <a:tint val="35686"/>
                  <a:invGamma/>
                  <a:alpha val="31000"/>
                </a:schemeClr>
              </a:gs>
              <a:gs pos="100000">
                <a:schemeClr val="accent5">
                  <a:lumMod val="50000"/>
                </a:schemeClr>
              </a:gs>
            </a:gsLst>
            <a:path path="shape">
              <a:fillToRect l="50000" t="50000" r="50000" b="50000"/>
            </a:path>
          </a:gradFill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工程中的各种桁架结构</a:t>
            </a:r>
            <a:endParaRPr lang="zh-CN" altLang="en-US" sz="28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5" name="Picture 2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5485" y="1426613"/>
            <a:ext cx="2854958" cy="4591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467400"/>
            <a:ext cx="3024336" cy="45881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7920" y="1467400"/>
            <a:ext cx="2713493" cy="4550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978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ChangeArrowheads="1"/>
          </p:cNvSpPr>
          <p:nvPr/>
        </p:nvSpPr>
        <p:spPr bwMode="auto">
          <a:xfrm>
            <a:off x="1187624" y="1196752"/>
            <a:ext cx="6934200" cy="184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buClr>
                <a:schemeClr val="tx2"/>
              </a:buClr>
              <a:buSzPct val="95000"/>
              <a:buFont typeface="Wingdings" pitchFamily="2" charset="2"/>
              <a:buNone/>
              <a:defRPr/>
            </a:pPr>
            <a:r>
              <a:rPr lang="en-US" altLang="zh-CN" dirty="0">
                <a:solidFill>
                  <a:srgbClr val="FF0000"/>
                </a:solidFill>
                <a:ea typeface="华文中宋" pitchFamily="2" charset="-122"/>
              </a:rPr>
              <a:t>        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工程桁架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是由若干直杆在两端通过焊接、铆接所构成的几何形状不变的工程</a:t>
            </a:r>
            <a:r>
              <a:rPr lang="zh-CN" altLang="en-US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承载结构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其具有用料省、自重轻、承载能力强等优点，因此在工程中应用广泛。</a:t>
            </a:r>
          </a:p>
        </p:txBody>
      </p:sp>
      <p:pic>
        <p:nvPicPr>
          <p:cNvPr id="5" name="Picture 8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429000"/>
            <a:ext cx="7437513" cy="2016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5417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5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build="p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4" descr="5fbde0165b03334520a4e91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964335"/>
            <a:ext cx="3816424" cy="2557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5" descr="d584d8dd769fe5e077c6382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964335"/>
            <a:ext cx="4040386" cy="256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Box 90"/>
          <p:cNvSpPr txBox="1">
            <a:spLocks noChangeArrowheads="1"/>
          </p:cNvSpPr>
          <p:nvPr/>
        </p:nvSpPr>
        <p:spPr bwMode="auto">
          <a:xfrm>
            <a:off x="670719" y="3933056"/>
            <a:ext cx="3254375" cy="461665"/>
          </a:xfrm>
          <a:prstGeom prst="rect">
            <a:avLst/>
          </a:prstGeom>
          <a:solidFill>
            <a:srgbClr val="FFC000">
              <a:alpha val="65881"/>
            </a:srgbClr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1pPr>
            <a:lvl2pPr marL="742950" indent="-28575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3pPr>
            <a:lvl4pPr marL="16002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4pPr>
            <a:lvl5pPr marL="20574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66"/>
                </a:solidFill>
                <a:ea typeface="黑体" panose="02010609060101010101" pitchFamily="49" charset="-122"/>
              </a:rPr>
              <a:t>桁架静力分析的任务</a:t>
            </a:r>
          </a:p>
        </p:txBody>
      </p:sp>
      <p:sp>
        <p:nvSpPr>
          <p:cNvPr id="21" name="Text Box 96"/>
          <p:cNvSpPr txBox="1">
            <a:spLocks noChangeArrowheads="1"/>
          </p:cNvSpPr>
          <p:nvPr/>
        </p:nvSpPr>
        <p:spPr bwMode="auto">
          <a:xfrm>
            <a:off x="1026318" y="5236392"/>
            <a:ext cx="3124200" cy="40011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1pPr>
            <a:lvl2pPr marL="742950" indent="-28575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3pPr>
            <a:lvl4pPr marL="16002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4pPr>
            <a:lvl5pPr marL="20574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000">
                <a:solidFill>
                  <a:srgbClr val="000066"/>
                </a:solidFill>
                <a:ea typeface="黑体" panose="02010609060101010101" pitchFamily="49" charset="-122"/>
              </a:rPr>
              <a:t>桁架的设计（安全又经济）</a:t>
            </a:r>
          </a:p>
        </p:txBody>
      </p:sp>
      <p:sp>
        <p:nvSpPr>
          <p:cNvPr id="23" name="Text Box 98"/>
          <p:cNvSpPr txBox="1">
            <a:spLocks noChangeArrowheads="1"/>
          </p:cNvSpPr>
          <p:nvPr/>
        </p:nvSpPr>
        <p:spPr bwMode="auto">
          <a:xfrm>
            <a:off x="1027906" y="4601392"/>
            <a:ext cx="4029075" cy="40011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1pPr>
            <a:lvl2pPr marL="742950" indent="-28575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3pPr>
            <a:lvl4pPr marL="16002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4pPr>
            <a:lvl5pPr marL="20574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rgbClr val="000066"/>
                </a:solidFill>
                <a:ea typeface="黑体" panose="02010609060101010101" pitchFamily="49" charset="-122"/>
              </a:rPr>
              <a:t>确定桁架的支撑约束力和各杆内力</a:t>
            </a:r>
          </a:p>
        </p:txBody>
      </p:sp>
      <p:sp>
        <p:nvSpPr>
          <p:cNvPr id="24" name="Line 99"/>
          <p:cNvSpPr>
            <a:spLocks noChangeShapeType="1"/>
          </p:cNvSpPr>
          <p:nvPr/>
        </p:nvSpPr>
        <p:spPr bwMode="auto">
          <a:xfrm>
            <a:off x="416718" y="4756967"/>
            <a:ext cx="5762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Line 99"/>
          <p:cNvSpPr>
            <a:spLocks noChangeShapeType="1"/>
          </p:cNvSpPr>
          <p:nvPr/>
        </p:nvSpPr>
        <p:spPr bwMode="auto">
          <a:xfrm>
            <a:off x="438943" y="5374505"/>
            <a:ext cx="5762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Box 90"/>
          <p:cNvSpPr txBox="1">
            <a:spLocks noChangeArrowheads="1"/>
          </p:cNvSpPr>
          <p:nvPr/>
        </p:nvSpPr>
        <p:spPr bwMode="auto">
          <a:xfrm>
            <a:off x="4956176" y="3778251"/>
            <a:ext cx="3648272" cy="461665"/>
          </a:xfrm>
          <a:prstGeom prst="rect">
            <a:avLst/>
          </a:prstGeom>
          <a:solidFill>
            <a:srgbClr val="FFC000">
              <a:alpha val="65881"/>
            </a:srgbClr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1pPr>
            <a:lvl2pPr marL="742950" indent="-28575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3pPr>
            <a:lvl4pPr marL="16002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4pPr>
            <a:lvl5pPr marL="20574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>
                <a:solidFill>
                  <a:srgbClr val="000066"/>
                </a:solidFill>
                <a:ea typeface="黑体" panose="02010609060101010101" pitchFamily="49" charset="-122"/>
              </a:rPr>
              <a:t>如何进行桁架内力计算？</a:t>
            </a:r>
          </a:p>
        </p:txBody>
      </p:sp>
      <p:sp>
        <p:nvSpPr>
          <p:cNvPr id="12" name="Text Box 95"/>
          <p:cNvSpPr txBox="1">
            <a:spLocks noChangeArrowheads="1"/>
          </p:cNvSpPr>
          <p:nvPr/>
        </p:nvSpPr>
        <p:spPr bwMode="auto">
          <a:xfrm>
            <a:off x="5868144" y="4556912"/>
            <a:ext cx="1781175" cy="400110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sz="2000" dirty="0">
                <a:solidFill>
                  <a:srgbClr val="000066"/>
                </a:solidFill>
                <a:latin typeface="Arial" charset="0"/>
                <a:ea typeface="黑体" pitchFamily="2" charset="-122"/>
              </a:rPr>
              <a:t>建立力学模型</a:t>
            </a:r>
          </a:p>
        </p:txBody>
      </p:sp>
      <p:sp>
        <p:nvSpPr>
          <p:cNvPr id="14" name="Text Box 96"/>
          <p:cNvSpPr txBox="1">
            <a:spLocks noChangeArrowheads="1"/>
          </p:cNvSpPr>
          <p:nvPr/>
        </p:nvSpPr>
        <p:spPr bwMode="auto">
          <a:xfrm>
            <a:off x="6136431" y="5707850"/>
            <a:ext cx="1281113" cy="400110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sz="2000" dirty="0">
                <a:solidFill>
                  <a:srgbClr val="000066"/>
                </a:solidFill>
                <a:latin typeface="Arial" charset="0"/>
                <a:ea typeface="黑体" pitchFamily="2" charset="-122"/>
              </a:rPr>
              <a:t>实验验证</a:t>
            </a:r>
          </a:p>
        </p:txBody>
      </p:sp>
      <p:sp>
        <p:nvSpPr>
          <p:cNvPr id="15" name="Text Box 98"/>
          <p:cNvSpPr txBox="1">
            <a:spLocks noChangeArrowheads="1"/>
          </p:cNvSpPr>
          <p:nvPr/>
        </p:nvSpPr>
        <p:spPr bwMode="auto">
          <a:xfrm>
            <a:off x="6118968" y="5133175"/>
            <a:ext cx="1295400" cy="400110"/>
          </a:xfrm>
          <a:prstGeom prst="rect">
            <a:avLst/>
          </a:prstGeom>
          <a:solidFill>
            <a:schemeClr val="accent5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zh-CN" altLang="en-US" sz="2000" dirty="0">
                <a:solidFill>
                  <a:srgbClr val="000066"/>
                </a:solidFill>
                <a:latin typeface="Arial" charset="0"/>
                <a:ea typeface="黑体" pitchFamily="2" charset="-122"/>
              </a:rPr>
              <a:t>分析计算</a:t>
            </a:r>
          </a:p>
        </p:txBody>
      </p:sp>
      <p:sp>
        <p:nvSpPr>
          <p:cNvPr id="16" name="Line 99"/>
          <p:cNvSpPr>
            <a:spLocks noChangeShapeType="1"/>
          </p:cNvSpPr>
          <p:nvPr/>
        </p:nvSpPr>
        <p:spPr bwMode="auto">
          <a:xfrm rot="5400000">
            <a:off x="6630143" y="5018875"/>
            <a:ext cx="25082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Line 99"/>
          <p:cNvSpPr>
            <a:spLocks noChangeShapeType="1"/>
          </p:cNvSpPr>
          <p:nvPr/>
        </p:nvSpPr>
        <p:spPr bwMode="auto">
          <a:xfrm rot="5400000">
            <a:off x="6653162" y="5594344"/>
            <a:ext cx="2524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8344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 animBg="1"/>
      <p:bldP spid="23" grpId="0" animBg="1"/>
      <p:bldP spid="24" grpId="0" animBg="1"/>
      <p:bldP spid="27" grpId="0" animBg="1"/>
      <p:bldP spid="10" grpId="0" animBg="1"/>
      <p:bldP spid="12" grpId="0" animBg="1"/>
      <p:bldP spid="14" grpId="0" animBg="1"/>
      <p:bldP spid="15" grpId="0" animBg="1"/>
      <p:bldP spid="16" grpId="0" animBg="1"/>
      <p:bldP spid="18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61" name="Text Box 17"/>
          <p:cNvSpPr txBox="1">
            <a:spLocks noChangeArrowheads="1"/>
          </p:cNvSpPr>
          <p:nvPr/>
        </p:nvSpPr>
        <p:spPr bwMode="auto">
          <a:xfrm>
            <a:off x="607895" y="1612211"/>
            <a:ext cx="504031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1pPr>
            <a:lvl2pPr marL="742950" indent="-28575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3pPr>
            <a:lvl4pPr marL="16002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4pPr>
            <a:lvl5pPr marL="20574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平面桁架</a:t>
            </a:r>
            <a:r>
              <a:rPr lang="zh-CN" altLang="en-US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各杆件轴线在同一平面</a:t>
            </a:r>
            <a:endParaRPr lang="zh-CN" altLang="zh-CN" b="1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31763" name="Text Box 19"/>
          <p:cNvSpPr txBox="1">
            <a:spLocks noChangeArrowheads="1"/>
          </p:cNvSpPr>
          <p:nvPr/>
        </p:nvSpPr>
        <p:spPr bwMode="auto">
          <a:xfrm>
            <a:off x="634826" y="2154536"/>
            <a:ext cx="41306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1pPr>
            <a:lvl2pPr marL="742950" indent="-28575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3pPr>
            <a:lvl4pPr marL="16002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4pPr>
            <a:lvl5pPr marL="20574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节点</a:t>
            </a:r>
            <a:r>
              <a:rPr lang="zh-CN" altLang="en-US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各杆件轴线的交点</a:t>
            </a:r>
            <a:endParaRPr lang="zh-CN" altLang="zh-CN" b="1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sym typeface="Symbol" panose="05050102010706020507" pitchFamily="18" charset="2"/>
            </a:endParaRPr>
          </a:p>
        </p:txBody>
      </p:sp>
      <p:grpSp>
        <p:nvGrpSpPr>
          <p:cNvPr id="3" name="Group 22"/>
          <p:cNvGrpSpPr>
            <a:grpSpLocks/>
          </p:cNvGrpSpPr>
          <p:nvPr/>
        </p:nvGrpSpPr>
        <p:grpSpPr bwMode="auto">
          <a:xfrm>
            <a:off x="827584" y="3573016"/>
            <a:ext cx="7170737" cy="1665288"/>
            <a:chOff x="2342" y="1749"/>
            <a:chExt cx="9421" cy="2034"/>
          </a:xfrm>
        </p:grpSpPr>
        <p:pic>
          <p:nvPicPr>
            <p:cNvPr id="10250" name="Picture 2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2" y="1759"/>
              <a:ext cx="2940" cy="20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51" name="Picture 2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00" y="1749"/>
              <a:ext cx="2963" cy="2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52" name="Picture 2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50" y="1776"/>
              <a:ext cx="2778" cy="20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5" name="Picture 91" descr="j3-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0551" y="985333"/>
            <a:ext cx="2744787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Rectangle 7"/>
          <p:cNvSpPr>
            <a:spLocks noChangeArrowheads="1"/>
          </p:cNvSpPr>
          <p:nvPr/>
        </p:nvSpPr>
        <p:spPr bwMode="auto">
          <a:xfrm>
            <a:off x="1470521" y="5352604"/>
            <a:ext cx="1008063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1pPr>
            <a:lvl2pPr marL="742950" indent="-28575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3pPr>
            <a:lvl4pPr marL="16002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4pPr>
            <a:lvl5pPr marL="20574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tx1"/>
                </a:solidFill>
                <a:ea typeface="黑体" panose="02010609060101010101" pitchFamily="49" charset="-122"/>
              </a:rPr>
              <a:t>焊接</a:t>
            </a:r>
          </a:p>
        </p:txBody>
      </p:sp>
      <p:sp>
        <p:nvSpPr>
          <p:cNvPr id="18" name="Rectangle 8"/>
          <p:cNvSpPr>
            <a:spLocks noChangeArrowheads="1"/>
          </p:cNvSpPr>
          <p:nvPr/>
        </p:nvSpPr>
        <p:spPr bwMode="auto">
          <a:xfrm>
            <a:off x="6258421" y="5297042"/>
            <a:ext cx="1584325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1pPr>
            <a:lvl2pPr marL="742950" indent="-28575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3pPr>
            <a:lvl4pPr marL="16002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4pPr>
            <a:lvl5pPr marL="20574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tx2"/>
                </a:solidFill>
                <a:ea typeface="黑体" panose="02010609060101010101" pitchFamily="49" charset="-122"/>
              </a:rPr>
              <a:t>螺栓连接</a:t>
            </a:r>
          </a:p>
        </p:txBody>
      </p:sp>
      <p:sp>
        <p:nvSpPr>
          <p:cNvPr id="25" name="Rectangle 21"/>
          <p:cNvSpPr>
            <a:spLocks noChangeArrowheads="1"/>
          </p:cNvSpPr>
          <p:nvPr/>
        </p:nvSpPr>
        <p:spPr bwMode="auto">
          <a:xfrm>
            <a:off x="4078783" y="5346254"/>
            <a:ext cx="10080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1pPr>
            <a:lvl2pPr marL="742950" indent="-28575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3pPr>
            <a:lvl4pPr marL="16002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4pPr>
            <a:lvl5pPr marL="20574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9pPr>
          </a:lstStyle>
          <a:p>
            <a:pPr eaLnBrk="1" hangingPunct="1"/>
            <a:r>
              <a:rPr lang="zh-CN" altLang="en-US" sz="2000">
                <a:solidFill>
                  <a:schemeClr val="tx2"/>
                </a:solidFill>
                <a:ea typeface="黑体" panose="02010609060101010101" pitchFamily="49" charset="-122"/>
              </a:rPr>
              <a:t>铆接</a:t>
            </a:r>
          </a:p>
        </p:txBody>
      </p:sp>
      <p:grpSp>
        <p:nvGrpSpPr>
          <p:cNvPr id="16" name="Group 13"/>
          <p:cNvGrpSpPr>
            <a:grpSpLocks/>
          </p:cNvGrpSpPr>
          <p:nvPr/>
        </p:nvGrpSpPr>
        <p:grpSpPr bwMode="auto">
          <a:xfrm>
            <a:off x="634826" y="820602"/>
            <a:ext cx="2287588" cy="461963"/>
            <a:chOff x="181" y="1453"/>
            <a:chExt cx="1441" cy="291"/>
          </a:xfrm>
        </p:grpSpPr>
        <p:sp>
          <p:nvSpPr>
            <p:cNvPr id="19" name="Rectangle 14"/>
            <p:cNvSpPr>
              <a:spLocks noChangeArrowheads="1"/>
            </p:cNvSpPr>
            <p:nvPr/>
          </p:nvSpPr>
          <p:spPr bwMode="auto">
            <a:xfrm>
              <a:off x="336" y="1453"/>
              <a:ext cx="128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平面桁架模型</a:t>
              </a:r>
              <a:endParaRPr lang="zh-CN" alt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0" name="Oval 15"/>
            <p:cNvSpPr>
              <a:spLocks noChangeArrowheads="1"/>
            </p:cNvSpPr>
            <p:nvPr/>
          </p:nvSpPr>
          <p:spPr bwMode="auto">
            <a:xfrm>
              <a:off x="181" y="1532"/>
              <a:ext cx="149" cy="145"/>
            </a:xfrm>
            <a:prstGeom prst="ellipse">
              <a:avLst/>
            </a:pr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693833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1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1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61" grpId="0"/>
      <p:bldP spid="31763" grpId="0"/>
      <p:bldP spid="17" grpId="0"/>
      <p:bldP spid="18" grpId="0"/>
      <p:bldP spid="2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504746" y="1402895"/>
            <a:ext cx="766765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1pPr>
            <a:lvl2pPr marL="742950" indent="-28575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3pPr>
            <a:lvl4pPr marL="16002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4pPr>
            <a:lvl5pPr marL="20574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各杆件为直杆，各杆轴线位于同一平面内。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511098" y="1826758"/>
            <a:ext cx="54403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1pPr>
            <a:lvl2pPr marL="742950" indent="-28575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3pPr>
            <a:lvl4pPr marL="16002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4pPr>
            <a:lvl5pPr marL="20574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各杆件在节点处均为光滑铰链连接。</a:t>
            </a:r>
          </a:p>
        </p:txBody>
      </p:sp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511098" y="2240821"/>
            <a:ext cx="816535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1pPr>
            <a:lvl2pPr marL="742950" indent="-28575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3pPr>
            <a:lvl4pPr marL="16002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4pPr>
            <a:lvl5pPr marL="20574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00000"/>
              </a:lnSpc>
            </a:pPr>
            <a:r>
              <a:rPr lang="en-US" altLang="zh-CN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lang="zh-CN" altLang="en-US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各杆件自重不计或平均分布在节点上。载荷作用在节点上且位于桁架几何平面内。</a:t>
            </a:r>
          </a:p>
        </p:txBody>
      </p:sp>
      <p:sp>
        <p:nvSpPr>
          <p:cNvPr id="15" name="Text Box 8"/>
          <p:cNvSpPr txBox="1">
            <a:spLocks noChangeArrowheads="1"/>
          </p:cNvSpPr>
          <p:nvPr/>
        </p:nvSpPr>
        <p:spPr bwMode="auto">
          <a:xfrm>
            <a:off x="4611489" y="3171305"/>
            <a:ext cx="3920951" cy="461665"/>
          </a:xfrm>
          <a:prstGeom prst="rect">
            <a:avLst/>
          </a:prstGeom>
          <a:noFill/>
          <a:ln w="222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1pPr>
            <a:lvl2pPr marL="742950" indent="-28575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3pPr>
            <a:lvl4pPr marL="16002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4pPr>
            <a:lvl5pPr marL="20574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桁架中每根杆件均为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二力杆</a:t>
            </a:r>
          </a:p>
        </p:txBody>
      </p:sp>
      <p:sp>
        <p:nvSpPr>
          <p:cNvPr id="17" name="AutoShape 10"/>
          <p:cNvSpPr>
            <a:spLocks noChangeArrowheads="1"/>
          </p:cNvSpPr>
          <p:nvPr/>
        </p:nvSpPr>
        <p:spPr bwMode="auto">
          <a:xfrm>
            <a:off x="657067" y="3344867"/>
            <a:ext cx="923925" cy="211137"/>
          </a:xfrm>
          <a:prstGeom prst="rightArrow">
            <a:avLst>
              <a:gd name="adj1" fmla="val 50000"/>
              <a:gd name="adj2" fmla="val 80955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1pPr>
            <a:lvl2pPr marL="742950" indent="-28575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3pPr>
            <a:lvl4pPr marL="16002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4pPr>
            <a:lvl5pPr marL="20574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9pPr>
          </a:lstStyle>
          <a:p>
            <a:pPr algn="ctr" eaLnBrk="1" hangingPunct="1"/>
            <a:endParaRPr lang="zh-CN" altLang="zh-CN"/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1784327" y="3198060"/>
            <a:ext cx="1476375" cy="46166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1pPr>
            <a:lvl2pPr marL="742950" indent="-28575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3pPr>
            <a:lvl4pPr marL="16002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4pPr>
            <a:lvl5pPr marL="20574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9pPr>
          </a:lstStyle>
          <a:p>
            <a:pPr algn="ctr" eaLnBrk="1" hangingPunct="1"/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理想桁架</a:t>
            </a:r>
          </a:p>
        </p:txBody>
      </p:sp>
      <p:pic>
        <p:nvPicPr>
          <p:cNvPr id="24" name="Picture 13" descr="j3-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3"/>
          <a:stretch>
            <a:fillRect/>
          </a:stretch>
        </p:blipFill>
        <p:spPr bwMode="auto">
          <a:xfrm>
            <a:off x="1738924" y="3905008"/>
            <a:ext cx="2681288" cy="144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15" descr="j3-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713" y="3918501"/>
            <a:ext cx="2479675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16" descr="j3-14-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0" b="13480"/>
          <a:stretch>
            <a:fillRect/>
          </a:stretch>
        </p:blipFill>
        <p:spPr bwMode="auto">
          <a:xfrm>
            <a:off x="4317694" y="5223426"/>
            <a:ext cx="2779712" cy="10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18" descr="j3-14-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9" b="10109"/>
          <a:stretch>
            <a:fillRect/>
          </a:stretch>
        </p:blipFill>
        <p:spPr bwMode="auto">
          <a:xfrm>
            <a:off x="1784327" y="5334552"/>
            <a:ext cx="239077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" name="Group 13"/>
          <p:cNvGrpSpPr>
            <a:grpSpLocks/>
          </p:cNvGrpSpPr>
          <p:nvPr/>
        </p:nvGrpSpPr>
        <p:grpSpPr bwMode="auto">
          <a:xfrm>
            <a:off x="634826" y="820602"/>
            <a:ext cx="2287588" cy="461963"/>
            <a:chOff x="181" y="1453"/>
            <a:chExt cx="1441" cy="291"/>
          </a:xfrm>
        </p:grpSpPr>
        <p:sp>
          <p:nvSpPr>
            <p:cNvPr id="21" name="Rectangle 14"/>
            <p:cNvSpPr>
              <a:spLocks noChangeArrowheads="1"/>
            </p:cNvSpPr>
            <p:nvPr/>
          </p:nvSpPr>
          <p:spPr bwMode="auto">
            <a:xfrm>
              <a:off x="336" y="1453"/>
              <a:ext cx="128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平面桁架模型</a:t>
              </a:r>
              <a:endParaRPr lang="zh-CN" alt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2" name="Oval 15"/>
            <p:cNvSpPr>
              <a:spLocks noChangeArrowheads="1"/>
            </p:cNvSpPr>
            <p:nvPr/>
          </p:nvSpPr>
          <p:spPr bwMode="auto">
            <a:xfrm>
              <a:off x="181" y="1532"/>
              <a:ext cx="149" cy="145"/>
            </a:xfrm>
            <a:prstGeom prst="ellipse">
              <a:avLst/>
            </a:pr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28" name="AutoShape 10"/>
          <p:cNvSpPr>
            <a:spLocks noChangeArrowheads="1"/>
          </p:cNvSpPr>
          <p:nvPr/>
        </p:nvSpPr>
        <p:spPr bwMode="auto">
          <a:xfrm>
            <a:off x="3474133" y="3323323"/>
            <a:ext cx="923925" cy="211137"/>
          </a:xfrm>
          <a:prstGeom prst="rightArrow">
            <a:avLst>
              <a:gd name="adj1" fmla="val 50000"/>
              <a:gd name="adj2" fmla="val 80955"/>
            </a:avLst>
          </a:prstGeom>
          <a:solidFill>
            <a:srgbClr val="FF99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1pPr>
            <a:lvl2pPr marL="742950" indent="-28575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3pPr>
            <a:lvl4pPr marL="16002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4pPr>
            <a:lvl5pPr marL="20574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9pPr>
          </a:lstStyle>
          <a:p>
            <a:pPr algn="ctr"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782935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utoUpdateAnimBg="0"/>
      <p:bldP spid="12" grpId="0" autoUpdateAnimBg="0"/>
      <p:bldP spid="13" grpId="0" autoUpdateAnimBg="0"/>
      <p:bldP spid="15" grpId="0" animBg="1" autoUpdateAnimBg="0"/>
      <p:bldP spid="17" grpId="0" animBg="1"/>
      <p:bldP spid="18" grpId="0" animBg="1" autoUpdateAnimBg="0"/>
      <p:bldP spid="2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899592" y="980728"/>
            <a:ext cx="5370513" cy="461963"/>
            <a:chOff x="188" y="1453"/>
            <a:chExt cx="3383" cy="291"/>
          </a:xfrm>
        </p:grpSpPr>
        <p:sp>
          <p:nvSpPr>
            <p:cNvPr id="37892" name="Rectangle 5"/>
            <p:cNvSpPr>
              <a:spLocks noChangeArrowheads="1"/>
            </p:cNvSpPr>
            <p:nvPr/>
          </p:nvSpPr>
          <p:spPr bwMode="auto">
            <a:xfrm>
              <a:off x="336" y="1453"/>
              <a:ext cx="323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平面桁架的杆件内力测量</a:t>
              </a:r>
              <a:r>
                <a:rPr lang="en-US" altLang="zh-CN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(</a:t>
              </a:r>
              <a:r>
                <a:rPr lang="zh-CN" altLang="en-US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实验测量</a:t>
              </a:r>
              <a:r>
                <a:rPr lang="en-US" altLang="zh-CN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)</a:t>
              </a:r>
              <a:endParaRPr lang="en-US" altLang="zh-CN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9942" name="Oval 6"/>
            <p:cNvSpPr>
              <a:spLocks noChangeArrowheads="1"/>
            </p:cNvSpPr>
            <p:nvPr/>
          </p:nvSpPr>
          <p:spPr bwMode="auto">
            <a:xfrm>
              <a:off x="188" y="1544"/>
              <a:ext cx="136" cy="146"/>
            </a:xfrm>
            <a:prstGeom prst="ellipse">
              <a:avLst/>
            </a:pr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39943" name="Text Box 7"/>
          <p:cNvSpPr txBox="1">
            <a:spLocks noChangeArrowheads="1"/>
          </p:cNvSpPr>
          <p:nvPr/>
        </p:nvSpPr>
        <p:spPr bwMode="auto">
          <a:xfrm>
            <a:off x="688384" y="2132856"/>
            <a:ext cx="5040560" cy="3231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FF0066"/>
              </a:buClr>
              <a:buFont typeface="Wingdings" panose="05000000000000000000" pitchFamily="2" charset="2"/>
              <a:buChar char="Ø"/>
            </a:pPr>
            <a:r>
              <a:rPr lang="en-US" altLang="zh-CN" b="0" dirty="0"/>
              <a:t> </a:t>
            </a: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实验目的</a:t>
            </a:r>
            <a:r>
              <a:rPr lang="en-US" altLang="zh-CN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测量桁架杆件中各杆的受力</a:t>
            </a:r>
          </a:p>
          <a:p>
            <a:pPr eaLnBrk="1" hangingPunct="1">
              <a:spcBef>
                <a:spcPct val="50000"/>
              </a:spcBef>
              <a:buClr>
                <a:srgbClr val="FF0066"/>
              </a:buClr>
              <a:buFont typeface="Wingdings" panose="05000000000000000000" pitchFamily="2" charset="2"/>
              <a:buChar char="Ø"/>
            </a:pPr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实验对象</a:t>
            </a:r>
            <a:r>
              <a:rPr lang="en-US" altLang="zh-CN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几何尺寸相同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连接方式不同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焊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铆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铰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</a:p>
          <a:p>
            <a:pPr eaLnBrk="1" hangingPunct="1">
              <a:spcBef>
                <a:spcPct val="50000"/>
              </a:spcBef>
              <a:buClr>
                <a:srgbClr val="FF0066"/>
              </a:buClr>
              <a:buFont typeface="Wingdings" panose="05000000000000000000" pitchFamily="2" charset="2"/>
              <a:buChar char="Ø"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实验方法</a:t>
            </a:r>
            <a:r>
              <a:rPr lang="en-US" altLang="zh-CN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贴应变片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测变形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力</a:t>
            </a:r>
          </a:p>
          <a:p>
            <a:pPr eaLnBrk="1" hangingPunct="1">
              <a:spcBef>
                <a:spcPct val="50000"/>
              </a:spcBef>
              <a:buClr>
                <a:srgbClr val="FF0066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实验结论</a:t>
            </a:r>
            <a:r>
              <a:rPr lang="en-US" altLang="zh-CN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: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相同的载荷作用下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,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不同的连接方式对力的结果影响不大</a:t>
            </a:r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.</a:t>
            </a:r>
          </a:p>
        </p:txBody>
      </p:sp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2282" y="1844824"/>
            <a:ext cx="3154591" cy="409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9232871" y="3215050"/>
            <a:ext cx="395029" cy="194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1pPr>
            <a:lvl2pPr marL="742950" indent="-28575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3pPr>
            <a:lvl4pPr marL="16002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4pPr>
            <a:lvl5pPr marL="20574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9pPr>
          </a:lstStyle>
          <a:p>
            <a:pPr algn="just"/>
            <a:endParaRPr lang="zh-CN" altLang="zh-CN" sz="700">
              <a:latin typeface="Times New Roman" panose="02020603050405020304" pitchFamily="18" charset="0"/>
            </a:endParaRP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9475532" y="4615978"/>
            <a:ext cx="404435" cy="192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1pPr>
            <a:lvl2pPr marL="742950" indent="-28575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3pPr>
            <a:lvl4pPr marL="16002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4pPr>
            <a:lvl5pPr marL="20574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9pPr>
          </a:lstStyle>
          <a:p>
            <a:pPr algn="just"/>
            <a:endParaRPr lang="zh-CN" altLang="zh-CN" sz="7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56065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3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9" name="Text Box 11"/>
          <p:cNvSpPr txBox="1">
            <a:spLocks noChangeArrowheads="1"/>
          </p:cNvSpPr>
          <p:nvPr/>
        </p:nvSpPr>
        <p:spPr bwMode="auto">
          <a:xfrm>
            <a:off x="695007" y="4266487"/>
            <a:ext cx="7584171" cy="98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1717675" indent="-1717675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1pPr>
            <a:lvl2pPr marL="742950" indent="-28575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3pPr>
            <a:lvl4pPr marL="16002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4pPr>
            <a:lvl5pPr marL="20574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A5002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节点法 </a:t>
            </a:r>
            <a:r>
              <a:rPr lang="en-US" altLang="zh-CN" b="1" dirty="0">
                <a:solidFill>
                  <a:srgbClr val="A5002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— </a:t>
            </a:r>
            <a:r>
              <a:rPr lang="zh-CN" altLang="en-US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应用共点力系平衡条件，逐一研究桁架上每个节点的平衡。</a:t>
            </a:r>
          </a:p>
        </p:txBody>
      </p:sp>
      <p:sp>
        <p:nvSpPr>
          <p:cNvPr id="32780" name="Text Box 12"/>
          <p:cNvSpPr txBox="1">
            <a:spLocks noChangeArrowheads="1"/>
          </p:cNvSpPr>
          <p:nvPr/>
        </p:nvSpPr>
        <p:spPr bwMode="auto">
          <a:xfrm>
            <a:off x="683568" y="5305163"/>
            <a:ext cx="7539037" cy="98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17675" indent="-1717675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1pPr>
            <a:lvl2pPr marL="742950" indent="-28575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3pPr>
            <a:lvl4pPr marL="16002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4pPr>
            <a:lvl5pPr marL="20574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rgbClr val="A5002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截面法 </a:t>
            </a:r>
            <a:r>
              <a:rPr lang="en-US" altLang="zh-CN" b="1" dirty="0">
                <a:solidFill>
                  <a:srgbClr val="A5002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— </a:t>
            </a:r>
            <a:r>
              <a:rPr lang="zh-CN" altLang="en-US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应用平面任意力系的平衡条件，研究桁架由截面</a:t>
            </a:r>
            <a:r>
              <a:rPr lang="en-US" altLang="zh-CN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假想</a:t>
            </a:r>
            <a:r>
              <a:rPr lang="en-US" altLang="zh-CN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切出的某一部分的平衡。 </a:t>
            </a:r>
          </a:p>
        </p:txBody>
      </p:sp>
      <p:sp>
        <p:nvSpPr>
          <p:cNvPr id="9" name="Text Box 27"/>
          <p:cNvSpPr txBox="1">
            <a:spLocks noChangeArrowheads="1"/>
          </p:cNvSpPr>
          <p:nvPr/>
        </p:nvSpPr>
        <p:spPr bwMode="auto">
          <a:xfrm>
            <a:off x="986781" y="1415144"/>
            <a:ext cx="2348659" cy="2677656"/>
          </a:xfrm>
          <a:prstGeom prst="rect">
            <a:avLst/>
          </a:prstGeom>
          <a:solidFill>
            <a:schemeClr val="bg1"/>
          </a:solidFill>
          <a:ln w="25400">
            <a:solidFill>
              <a:srgbClr val="0000FF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1pPr>
            <a:lvl2pPr marL="742950" indent="-28575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3pPr>
            <a:lvl4pPr marL="16002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4pPr>
            <a:lvl5pPr marL="20574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以一个铰链三角形框架为基础，每增加一个节点需增加二根杆件，可以构成无余杆的平面桁架</a:t>
            </a:r>
            <a:r>
              <a:rPr lang="en-US" altLang="zh-CN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----</a:t>
            </a:r>
            <a:r>
              <a:rPr lang="zh-CN" altLang="en-US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简单桁架 </a:t>
            </a:r>
          </a:p>
        </p:txBody>
      </p:sp>
      <p:pic>
        <p:nvPicPr>
          <p:cNvPr id="10" name="Picture 28" descr="03-12-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9222" y="1320707"/>
            <a:ext cx="2473325" cy="164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9" descr="03-12-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1596" y="1246094"/>
            <a:ext cx="2732088" cy="1820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30" descr="03-12-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8585" y="1281019"/>
            <a:ext cx="2651125" cy="176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31" descr="03-12-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1193706"/>
            <a:ext cx="2908300" cy="193992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Box 38"/>
          <p:cNvSpPr txBox="1">
            <a:spLocks noChangeArrowheads="1"/>
          </p:cNvSpPr>
          <p:nvPr/>
        </p:nvSpPr>
        <p:spPr bwMode="auto">
          <a:xfrm>
            <a:off x="4213733" y="3750646"/>
            <a:ext cx="43347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1pPr>
            <a:lvl2pPr marL="742950" indent="-28575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3pPr>
            <a:lvl4pPr marL="16002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4pPr>
            <a:lvl5pPr marL="2057400" indent="-228600" eaLnBrk="0" hangingPunct="0"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75000"/>
              </a:spcBef>
              <a:spcAft>
                <a:spcPct val="0"/>
              </a:spcAft>
              <a:defRPr>
                <a:solidFill>
                  <a:schemeClr val="bg2"/>
                </a:solidFill>
                <a:latin typeface="Arial" panose="020B0604020202020204" pitchFamily="34" charset="0"/>
                <a:ea typeface="仿宋_GB2312" pitchFamily="49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平面简单桁架（平面静定桁架）</a:t>
            </a:r>
          </a:p>
        </p:txBody>
      </p:sp>
      <p:grpSp>
        <p:nvGrpSpPr>
          <p:cNvPr id="3" name="组合 14"/>
          <p:cNvGrpSpPr>
            <a:grpSpLocks/>
          </p:cNvGrpSpPr>
          <p:nvPr/>
        </p:nvGrpSpPr>
        <p:grpSpPr bwMode="auto">
          <a:xfrm>
            <a:off x="4716145" y="2754313"/>
            <a:ext cx="3227165" cy="968232"/>
            <a:chOff x="5225173" y="1405445"/>
            <a:chExt cx="3226402" cy="968451"/>
          </a:xfrm>
        </p:grpSpPr>
        <p:graphicFrame>
          <p:nvGraphicFramePr>
            <p:cNvPr id="18" name="Object 10"/>
            <p:cNvGraphicFramePr>
              <a:graphicFrameLocks noChangeAspect="1"/>
            </p:cNvGraphicFramePr>
            <p:nvPr/>
          </p:nvGraphicFramePr>
          <p:xfrm>
            <a:off x="6034925" y="1405445"/>
            <a:ext cx="1653784" cy="4366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50" name="Equation" r:id="rId7" imgW="672840" imgH="177480" progId="Equation.DSMT4">
                    <p:embed/>
                  </p:oleObj>
                </mc:Choice>
                <mc:Fallback>
                  <p:oleObj name="Equation" r:id="rId7" imgW="672840" imgH="177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34925" y="1405445"/>
                          <a:ext cx="1653784" cy="436661"/>
                        </a:xfrm>
                        <a:prstGeom prst="rect">
                          <a:avLst/>
                        </a:prstGeom>
                        <a:noFill/>
                        <a:ln w="25400">
                          <a:solidFill>
                            <a:srgbClr val="0000FF"/>
                          </a:solidFill>
                          <a:miter lim="800000"/>
                          <a:headEnd/>
                          <a:tailEnd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7" name="矩形 19"/>
            <p:cNvSpPr>
              <a:spLocks noChangeArrowheads="1"/>
            </p:cNvSpPr>
            <p:nvPr/>
          </p:nvSpPr>
          <p:spPr bwMode="auto">
            <a:xfrm>
              <a:off x="5225173" y="1912127"/>
              <a:ext cx="3226402" cy="4617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bg2"/>
                  </a:solidFill>
                  <a:latin typeface="Arial" panose="020B0604020202020204" pitchFamily="34" charset="0"/>
                  <a:ea typeface="仿宋_GB2312" pitchFamily="49" charset="-122"/>
                </a:defRPr>
              </a:lvl1pPr>
              <a:lvl2pPr marL="742950" indent="-285750" eaLnBrk="0" hangingPunct="0">
                <a:defRPr>
                  <a:solidFill>
                    <a:schemeClr val="bg2"/>
                  </a:solidFill>
                  <a:latin typeface="Arial" panose="020B0604020202020204" pitchFamily="34" charset="0"/>
                  <a:ea typeface="仿宋_GB2312" pitchFamily="49" charset="-122"/>
                </a:defRPr>
              </a:lvl2pPr>
              <a:lvl3pPr marL="1143000" indent="-228600" eaLnBrk="0" hangingPunct="0">
                <a:defRPr>
                  <a:solidFill>
                    <a:schemeClr val="bg2"/>
                  </a:solidFill>
                  <a:latin typeface="Arial" panose="020B0604020202020204" pitchFamily="34" charset="0"/>
                  <a:ea typeface="仿宋_GB2312" pitchFamily="49" charset="-122"/>
                </a:defRPr>
              </a:lvl3pPr>
              <a:lvl4pPr marL="1600200" indent="-228600" eaLnBrk="0" hangingPunct="0">
                <a:defRPr>
                  <a:solidFill>
                    <a:schemeClr val="bg2"/>
                  </a:solidFill>
                  <a:latin typeface="Arial" panose="020B0604020202020204" pitchFamily="34" charset="0"/>
                  <a:ea typeface="仿宋_GB2312" pitchFamily="49" charset="-122"/>
                </a:defRPr>
              </a:lvl4pPr>
              <a:lvl5pPr marL="2057400" indent="-228600" eaLnBrk="0" hangingPunct="0">
                <a:defRPr>
                  <a:solidFill>
                    <a:schemeClr val="bg2"/>
                  </a:solidFill>
                  <a:latin typeface="Arial" panose="020B0604020202020204" pitchFamily="34" charset="0"/>
                  <a:ea typeface="仿宋_GB2312" pitchFamily="49" charset="-122"/>
                </a:defRPr>
              </a:lvl5pPr>
              <a:lvl6pPr marL="2514600" indent="-228600" eaLnBrk="0" fontAlgn="base" hangingPunct="0">
                <a:lnSpc>
                  <a:spcPct val="80000"/>
                </a:lnSpc>
                <a:spcBef>
                  <a:spcPct val="75000"/>
                </a:spcBef>
                <a:spcAft>
                  <a:spcPct val="0"/>
                </a:spcAft>
                <a:defRPr>
                  <a:solidFill>
                    <a:schemeClr val="bg2"/>
                  </a:solidFill>
                  <a:latin typeface="Arial" panose="020B0604020202020204" pitchFamily="34" charset="0"/>
                  <a:ea typeface="仿宋_GB2312" pitchFamily="49" charset="-122"/>
                </a:defRPr>
              </a:lvl6pPr>
              <a:lvl7pPr marL="2971800" indent="-228600" eaLnBrk="0" fontAlgn="base" hangingPunct="0">
                <a:lnSpc>
                  <a:spcPct val="80000"/>
                </a:lnSpc>
                <a:spcBef>
                  <a:spcPct val="75000"/>
                </a:spcBef>
                <a:spcAft>
                  <a:spcPct val="0"/>
                </a:spcAft>
                <a:defRPr>
                  <a:solidFill>
                    <a:schemeClr val="bg2"/>
                  </a:solidFill>
                  <a:latin typeface="Arial" panose="020B0604020202020204" pitchFamily="34" charset="0"/>
                  <a:ea typeface="仿宋_GB2312" pitchFamily="49" charset="-122"/>
                </a:defRPr>
              </a:lvl7pPr>
              <a:lvl8pPr marL="3429000" indent="-228600" eaLnBrk="0" fontAlgn="base" hangingPunct="0">
                <a:lnSpc>
                  <a:spcPct val="80000"/>
                </a:lnSpc>
                <a:spcBef>
                  <a:spcPct val="75000"/>
                </a:spcBef>
                <a:spcAft>
                  <a:spcPct val="0"/>
                </a:spcAft>
                <a:defRPr>
                  <a:solidFill>
                    <a:schemeClr val="bg2"/>
                  </a:solidFill>
                  <a:latin typeface="Arial" panose="020B0604020202020204" pitchFamily="34" charset="0"/>
                  <a:ea typeface="仿宋_GB2312" pitchFamily="49" charset="-122"/>
                </a:defRPr>
              </a:lvl8pPr>
              <a:lvl9pPr marL="3886200" indent="-228600" eaLnBrk="0" fontAlgn="base" hangingPunct="0">
                <a:lnSpc>
                  <a:spcPct val="80000"/>
                </a:lnSpc>
                <a:spcBef>
                  <a:spcPct val="75000"/>
                </a:spcBef>
                <a:spcAft>
                  <a:spcPct val="0"/>
                </a:spcAft>
                <a:defRPr>
                  <a:solidFill>
                    <a:schemeClr val="bg2"/>
                  </a:solidFill>
                  <a:latin typeface="Arial" panose="020B0604020202020204" pitchFamily="34" charset="0"/>
                  <a:ea typeface="仿宋_GB2312" pitchFamily="49" charset="-122"/>
                </a:defRPr>
              </a:lvl9pPr>
            </a:lstStyle>
            <a:p>
              <a:pPr eaLnBrk="1" hangingPunct="1"/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m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dirty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-</a:t>
              </a:r>
              <a:r>
                <a:rPr lang="zh-CN" altLang="en-US" b="1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杆件数</a:t>
              </a:r>
              <a:r>
                <a:rPr lang="en-US" altLang="zh-CN" dirty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, </a:t>
              </a:r>
              <a:r>
                <a:rPr lang="en-US" altLang="zh-CN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n</a:t>
              </a:r>
              <a:r>
                <a:rPr lang="en-US" altLang="zh-CN" i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 </a:t>
              </a:r>
              <a:r>
                <a:rPr lang="en-US" altLang="zh-CN" dirty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-</a:t>
              </a:r>
              <a:r>
                <a:rPr lang="zh-CN" altLang="en-US" b="1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节点数</a:t>
              </a:r>
              <a:endParaRPr lang="zh-CN" altLang="en-US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Group 17"/>
          <p:cNvGrpSpPr>
            <a:grpSpLocks/>
          </p:cNvGrpSpPr>
          <p:nvPr/>
        </p:nvGrpSpPr>
        <p:grpSpPr bwMode="auto">
          <a:xfrm>
            <a:off x="683568" y="421694"/>
            <a:ext cx="4243388" cy="646113"/>
            <a:chOff x="1815" y="531"/>
            <a:chExt cx="2673" cy="407"/>
          </a:xfrm>
        </p:grpSpPr>
        <p:sp>
          <p:nvSpPr>
            <p:cNvPr id="17" name="Rectangle 2"/>
            <p:cNvSpPr>
              <a:spLocks noChangeArrowheads="1"/>
            </p:cNvSpPr>
            <p:nvPr/>
          </p:nvSpPr>
          <p:spPr bwMode="auto">
            <a:xfrm>
              <a:off x="1815" y="531"/>
              <a:ext cx="2673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3600" dirty="0"/>
                <a:t>   </a:t>
              </a:r>
              <a:r>
                <a:rPr lang="zh-CN" altLang="en-US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求平面桁架各杆内力的方法</a:t>
              </a:r>
            </a:p>
          </p:txBody>
        </p:sp>
        <p:sp>
          <p:nvSpPr>
            <p:cNvPr id="20" name="Oval 14"/>
            <p:cNvSpPr>
              <a:spLocks noChangeArrowheads="1"/>
            </p:cNvSpPr>
            <p:nvPr/>
          </p:nvSpPr>
          <p:spPr bwMode="auto">
            <a:xfrm>
              <a:off x="1836" y="701"/>
              <a:ext cx="170" cy="168"/>
            </a:xfrm>
            <a:prstGeom prst="ellipse">
              <a:avLst/>
            </a:pr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24949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8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2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2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9" grpId="0" autoUpdateAnimBg="0"/>
      <p:bldP spid="32780" grpId="0" autoUpdateAnimBg="0"/>
      <p:bldP spid="9" grpId="0" animBg="1"/>
      <p:bldP spid="19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4" name="Text Box 4"/>
          <p:cNvSpPr txBox="1">
            <a:spLocks noChangeArrowheads="1"/>
          </p:cNvSpPr>
          <p:nvPr/>
        </p:nvSpPr>
        <p:spPr bwMode="auto">
          <a:xfrm>
            <a:off x="598604" y="410369"/>
            <a:ext cx="7753233" cy="1000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kumimoji="0"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kumimoji="0" lang="en-US" altLang="zh-CN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kumimoji="0" lang="en-US" altLang="zh-CN" b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0"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如图平面桁架，求各杆内力。已知铅垂力</a:t>
            </a:r>
            <a:r>
              <a:rPr kumimoji="0" lang="en-US" altLang="zh-CN" b="0" i="1" dirty="0">
                <a:latin typeface="+mn-lt"/>
                <a:ea typeface="楷体" panose="02010609060101010101" pitchFamily="49" charset="-122"/>
              </a:rPr>
              <a:t>F</a:t>
            </a:r>
            <a:r>
              <a:rPr kumimoji="0" lang="en-US" altLang="zh-CN" b="0" i="1" baseline="-25000" dirty="0">
                <a:latin typeface="+mn-lt"/>
                <a:ea typeface="楷体" panose="02010609060101010101" pitchFamily="49" charset="-122"/>
              </a:rPr>
              <a:t>C </a:t>
            </a:r>
            <a:r>
              <a:rPr kumimoji="0" lang="en-US" altLang="zh-CN" dirty="0">
                <a:latin typeface="+mn-lt"/>
                <a:ea typeface="楷体" panose="02010609060101010101" pitchFamily="49" charset="-122"/>
              </a:rPr>
              <a:t>=</a:t>
            </a:r>
            <a:r>
              <a:rPr kumimoji="0" lang="en-US" altLang="zh-CN" b="0" dirty="0">
                <a:latin typeface="+mn-lt"/>
                <a:ea typeface="楷体" panose="02010609060101010101" pitchFamily="49" charset="-122"/>
              </a:rPr>
              <a:t>4kN</a:t>
            </a:r>
            <a:r>
              <a:rPr kumimoji="0" lang="zh-CN" altLang="en-US" b="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kumimoji="0"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水平力</a:t>
            </a:r>
            <a:r>
              <a:rPr kumimoji="0" lang="en-US" altLang="zh-CN" b="0" i="1" dirty="0">
                <a:latin typeface="+mn-lt"/>
                <a:ea typeface="楷体" panose="02010609060101010101" pitchFamily="49" charset="-122"/>
              </a:rPr>
              <a:t>F</a:t>
            </a:r>
            <a:r>
              <a:rPr kumimoji="0" lang="en-US" altLang="zh-CN" b="0" i="1" baseline="-25000" dirty="0">
                <a:latin typeface="+mn-lt"/>
                <a:ea typeface="楷体" panose="02010609060101010101" pitchFamily="49" charset="-122"/>
              </a:rPr>
              <a:t>E </a:t>
            </a:r>
            <a:r>
              <a:rPr kumimoji="0" lang="en-US" altLang="zh-CN" dirty="0">
                <a:latin typeface="+mn-lt"/>
                <a:ea typeface="楷体" panose="02010609060101010101" pitchFamily="49" charset="-122"/>
              </a:rPr>
              <a:t>=</a:t>
            </a:r>
            <a:r>
              <a:rPr kumimoji="0" lang="en-US" altLang="zh-CN" b="0" dirty="0">
                <a:latin typeface="+mn-lt"/>
                <a:ea typeface="楷体" panose="02010609060101010101" pitchFamily="49" charset="-122"/>
              </a:rPr>
              <a:t>2kN</a:t>
            </a:r>
            <a:r>
              <a:rPr kumimoji="0" lang="zh-CN" altLang="en-US" b="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grpSp>
        <p:nvGrpSpPr>
          <p:cNvPr id="4105" name="Group 69"/>
          <p:cNvGrpSpPr>
            <a:grpSpLocks/>
          </p:cNvGrpSpPr>
          <p:nvPr/>
        </p:nvGrpSpPr>
        <p:grpSpPr bwMode="auto">
          <a:xfrm>
            <a:off x="4896513" y="948423"/>
            <a:ext cx="3486150" cy="1970087"/>
            <a:chOff x="1640" y="1207"/>
            <a:chExt cx="2196" cy="1241"/>
          </a:xfrm>
        </p:grpSpPr>
        <p:sp>
          <p:nvSpPr>
            <p:cNvPr id="41030" name="Text Box 70"/>
            <p:cNvSpPr txBox="1">
              <a:spLocks noChangeArrowheads="1"/>
            </p:cNvSpPr>
            <p:nvPr/>
          </p:nvSpPr>
          <p:spPr bwMode="auto">
            <a:xfrm>
              <a:off x="3165" y="1207"/>
              <a:ext cx="290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2000" b="1" i="1" dirty="0">
                  <a:solidFill>
                    <a:srgbClr val="FF3D3D"/>
                  </a:solidFill>
                </a:rPr>
                <a:t>F</a:t>
              </a:r>
              <a:r>
                <a:rPr lang="en-US" altLang="zh-CN" sz="2000" b="0" i="1" baseline="-25000" dirty="0">
                  <a:solidFill>
                    <a:srgbClr val="FF3D3D"/>
                  </a:solidFill>
                </a:rPr>
                <a:t>E</a:t>
              </a:r>
            </a:p>
          </p:txBody>
        </p:sp>
        <p:grpSp>
          <p:nvGrpSpPr>
            <p:cNvPr id="4151" name="Group 71"/>
            <p:cNvGrpSpPr>
              <a:grpSpLocks/>
            </p:cNvGrpSpPr>
            <p:nvPr/>
          </p:nvGrpSpPr>
          <p:grpSpPr bwMode="auto">
            <a:xfrm>
              <a:off x="1640" y="1216"/>
              <a:ext cx="2196" cy="1232"/>
              <a:chOff x="1640" y="1216"/>
              <a:chExt cx="2196" cy="1232"/>
            </a:xfrm>
          </p:grpSpPr>
          <p:sp>
            <p:nvSpPr>
              <p:cNvPr id="4152" name="Line 72"/>
              <p:cNvSpPr>
                <a:spLocks noChangeShapeType="1"/>
              </p:cNvSpPr>
              <p:nvPr/>
            </p:nvSpPr>
            <p:spPr bwMode="auto">
              <a:xfrm>
                <a:off x="2484" y="1990"/>
                <a:ext cx="0" cy="458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53" name="Line 73"/>
              <p:cNvSpPr>
                <a:spLocks noChangeShapeType="1"/>
              </p:cNvSpPr>
              <p:nvPr/>
            </p:nvSpPr>
            <p:spPr bwMode="auto">
              <a:xfrm>
                <a:off x="3015" y="1532"/>
                <a:ext cx="424" cy="0"/>
              </a:xfrm>
              <a:prstGeom prst="line">
                <a:avLst/>
              </a:prstGeom>
              <a:noFill/>
              <a:ln w="31750">
                <a:solidFill>
                  <a:srgbClr val="FF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54" name="Line 74"/>
              <p:cNvSpPr>
                <a:spLocks noChangeShapeType="1"/>
              </p:cNvSpPr>
              <p:nvPr/>
            </p:nvSpPr>
            <p:spPr bwMode="auto">
              <a:xfrm flipV="1">
                <a:off x="2484" y="1532"/>
                <a:ext cx="531" cy="45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55" name="Line 75"/>
              <p:cNvSpPr>
                <a:spLocks noChangeShapeType="1"/>
              </p:cNvSpPr>
              <p:nvPr/>
            </p:nvSpPr>
            <p:spPr bwMode="auto">
              <a:xfrm>
                <a:off x="1953" y="2009"/>
                <a:ext cx="53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56" name="Line 76"/>
              <p:cNvSpPr>
                <a:spLocks noChangeShapeType="1"/>
              </p:cNvSpPr>
              <p:nvPr/>
            </p:nvSpPr>
            <p:spPr bwMode="auto">
              <a:xfrm>
                <a:off x="2484" y="2009"/>
                <a:ext cx="53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57" name="Line 77"/>
              <p:cNvSpPr>
                <a:spLocks noChangeShapeType="1"/>
              </p:cNvSpPr>
              <p:nvPr/>
            </p:nvSpPr>
            <p:spPr bwMode="auto">
              <a:xfrm>
                <a:off x="3015" y="2009"/>
                <a:ext cx="53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58" name="Line 78"/>
              <p:cNvSpPr>
                <a:spLocks noChangeShapeType="1"/>
              </p:cNvSpPr>
              <p:nvPr/>
            </p:nvSpPr>
            <p:spPr bwMode="auto">
              <a:xfrm>
                <a:off x="3015" y="1532"/>
                <a:ext cx="530" cy="47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59" name="Line 79"/>
              <p:cNvSpPr>
                <a:spLocks noChangeShapeType="1"/>
              </p:cNvSpPr>
              <p:nvPr/>
            </p:nvSpPr>
            <p:spPr bwMode="auto">
              <a:xfrm>
                <a:off x="3015" y="1532"/>
                <a:ext cx="0" cy="45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60" name="Line 80"/>
              <p:cNvSpPr>
                <a:spLocks noChangeShapeType="1"/>
              </p:cNvSpPr>
              <p:nvPr/>
            </p:nvSpPr>
            <p:spPr bwMode="auto">
              <a:xfrm>
                <a:off x="2484" y="1532"/>
                <a:ext cx="0" cy="45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61" name="Line 81"/>
              <p:cNvSpPr>
                <a:spLocks noChangeShapeType="1"/>
              </p:cNvSpPr>
              <p:nvPr/>
            </p:nvSpPr>
            <p:spPr bwMode="auto">
              <a:xfrm>
                <a:off x="2484" y="1532"/>
                <a:ext cx="531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62" name="Line 82"/>
              <p:cNvSpPr>
                <a:spLocks noChangeShapeType="1"/>
              </p:cNvSpPr>
              <p:nvPr/>
            </p:nvSpPr>
            <p:spPr bwMode="auto">
              <a:xfrm flipV="1">
                <a:off x="1953" y="1532"/>
                <a:ext cx="531" cy="45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163" name="AutoShape 83"/>
              <p:cNvSpPr>
                <a:spLocks noChangeArrowheads="1"/>
              </p:cNvSpPr>
              <p:nvPr/>
            </p:nvSpPr>
            <p:spPr bwMode="auto">
              <a:xfrm>
                <a:off x="1846" y="2004"/>
                <a:ext cx="213" cy="113"/>
              </a:xfrm>
              <a:prstGeom prst="triangle">
                <a:avLst>
                  <a:gd name="adj" fmla="val 50000"/>
                </a:avLst>
              </a:prstGeom>
              <a:gradFill rotWithShape="0">
                <a:gsLst>
                  <a:gs pos="0">
                    <a:srgbClr val="005E76"/>
                  </a:gs>
                  <a:gs pos="50000">
                    <a:srgbClr val="00CCFF"/>
                  </a:gs>
                  <a:gs pos="100000">
                    <a:srgbClr val="005E76"/>
                  </a:gs>
                </a:gsLst>
                <a:lin ang="0" scaled="1"/>
              </a:gradFill>
              <a:ln w="19050" cap="sq">
                <a:solidFill>
                  <a:schemeClr val="tx1"/>
                </a:solidFill>
                <a:miter lim="800000"/>
                <a:headEnd/>
                <a:tailEnd type="none" w="med" len="lg"/>
              </a:ln>
            </p:spPr>
            <p:txBody>
              <a:bodyPr wrap="none" anchor="ctr"/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164" name="Oval 84"/>
              <p:cNvSpPr>
                <a:spLocks noChangeArrowheads="1"/>
              </p:cNvSpPr>
              <p:nvPr/>
            </p:nvSpPr>
            <p:spPr bwMode="auto">
              <a:xfrm>
                <a:off x="1927" y="1975"/>
                <a:ext cx="53" cy="57"/>
              </a:xfrm>
              <a:prstGeom prst="ellipse">
                <a:avLst/>
              </a:prstGeom>
              <a:solidFill>
                <a:srgbClr val="969696"/>
              </a:solidFill>
              <a:ln w="19050" cap="sq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 wrap="none" anchor="ctr"/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4165" name="Group 85"/>
              <p:cNvGrpSpPr>
                <a:grpSpLocks/>
              </p:cNvGrpSpPr>
              <p:nvPr/>
            </p:nvGrpSpPr>
            <p:grpSpPr bwMode="auto">
              <a:xfrm>
                <a:off x="1640" y="2118"/>
                <a:ext cx="599" cy="57"/>
                <a:chOff x="3264" y="1920"/>
                <a:chExt cx="542" cy="48"/>
              </a:xfrm>
            </p:grpSpPr>
            <p:sp>
              <p:nvSpPr>
                <p:cNvPr id="4201" name="Line 86"/>
                <p:cNvSpPr>
                  <a:spLocks noChangeShapeType="1"/>
                </p:cNvSpPr>
                <p:nvPr/>
              </p:nvSpPr>
              <p:spPr bwMode="auto">
                <a:xfrm>
                  <a:off x="3298" y="1920"/>
                  <a:ext cx="508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4202" name="Group 87"/>
                <p:cNvGrpSpPr>
                  <a:grpSpLocks/>
                </p:cNvGrpSpPr>
                <p:nvPr/>
              </p:nvGrpSpPr>
              <p:grpSpPr bwMode="auto">
                <a:xfrm>
                  <a:off x="3264" y="1920"/>
                  <a:ext cx="528" cy="48"/>
                  <a:chOff x="3264" y="1920"/>
                  <a:chExt cx="528" cy="48"/>
                </a:xfrm>
              </p:grpSpPr>
              <p:grpSp>
                <p:nvGrpSpPr>
                  <p:cNvPr id="4203" name="Group 88"/>
                  <p:cNvGrpSpPr>
                    <a:grpSpLocks/>
                  </p:cNvGrpSpPr>
                  <p:nvPr/>
                </p:nvGrpSpPr>
                <p:grpSpPr bwMode="auto">
                  <a:xfrm>
                    <a:off x="3312" y="1920"/>
                    <a:ext cx="480" cy="48"/>
                    <a:chOff x="3312" y="1920"/>
                    <a:chExt cx="480" cy="48"/>
                  </a:xfrm>
                </p:grpSpPr>
                <p:sp>
                  <p:nvSpPr>
                    <p:cNvPr id="4205" name="Line 89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312" y="1920"/>
                      <a:ext cx="48" cy="48"/>
                    </a:xfrm>
                    <a:prstGeom prst="line">
                      <a:avLst/>
                    </a:prstGeom>
                    <a:noFill/>
                    <a:ln w="12700" cap="sq">
                      <a:solidFill>
                        <a:schemeClr val="tx1"/>
                      </a:solidFill>
                      <a:round/>
                      <a:headEnd/>
                      <a:tailEnd type="none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206" name="Line 90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360" y="1920"/>
                      <a:ext cx="48" cy="48"/>
                    </a:xfrm>
                    <a:prstGeom prst="line">
                      <a:avLst/>
                    </a:prstGeom>
                    <a:noFill/>
                    <a:ln w="12700" cap="sq">
                      <a:solidFill>
                        <a:schemeClr val="tx1"/>
                      </a:solidFill>
                      <a:round/>
                      <a:headEnd/>
                      <a:tailEnd type="none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207" name="Line 91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408" y="1920"/>
                      <a:ext cx="48" cy="48"/>
                    </a:xfrm>
                    <a:prstGeom prst="line">
                      <a:avLst/>
                    </a:prstGeom>
                    <a:noFill/>
                    <a:ln w="12700" cap="sq">
                      <a:solidFill>
                        <a:schemeClr val="tx1"/>
                      </a:solidFill>
                      <a:round/>
                      <a:headEnd/>
                      <a:tailEnd type="none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208" name="Line 92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456" y="1920"/>
                      <a:ext cx="48" cy="48"/>
                    </a:xfrm>
                    <a:prstGeom prst="line">
                      <a:avLst/>
                    </a:prstGeom>
                    <a:noFill/>
                    <a:ln w="12700" cap="sq">
                      <a:solidFill>
                        <a:schemeClr val="tx1"/>
                      </a:solidFill>
                      <a:round/>
                      <a:headEnd/>
                      <a:tailEnd type="none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209" name="Line 93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600" y="1920"/>
                      <a:ext cx="48" cy="48"/>
                    </a:xfrm>
                    <a:prstGeom prst="line">
                      <a:avLst/>
                    </a:prstGeom>
                    <a:noFill/>
                    <a:ln w="12700" cap="sq">
                      <a:solidFill>
                        <a:schemeClr val="tx1"/>
                      </a:solidFill>
                      <a:round/>
                      <a:headEnd/>
                      <a:tailEnd type="none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210" name="Line 94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648" y="1920"/>
                      <a:ext cx="48" cy="48"/>
                    </a:xfrm>
                    <a:prstGeom prst="line">
                      <a:avLst/>
                    </a:prstGeom>
                    <a:noFill/>
                    <a:ln w="12700" cap="sq">
                      <a:solidFill>
                        <a:schemeClr val="tx1"/>
                      </a:solidFill>
                      <a:round/>
                      <a:headEnd/>
                      <a:tailEnd type="none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211" name="Line 95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696" y="1920"/>
                      <a:ext cx="48" cy="48"/>
                    </a:xfrm>
                    <a:prstGeom prst="line">
                      <a:avLst/>
                    </a:prstGeom>
                    <a:noFill/>
                    <a:ln w="12700" cap="sq">
                      <a:solidFill>
                        <a:schemeClr val="tx1"/>
                      </a:solidFill>
                      <a:round/>
                      <a:headEnd/>
                      <a:tailEnd type="none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212" name="Line 96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744" y="1920"/>
                      <a:ext cx="48" cy="48"/>
                    </a:xfrm>
                    <a:prstGeom prst="line">
                      <a:avLst/>
                    </a:prstGeom>
                    <a:noFill/>
                    <a:ln w="12700" cap="sq">
                      <a:solidFill>
                        <a:schemeClr val="tx1"/>
                      </a:solidFill>
                      <a:round/>
                      <a:headEnd/>
                      <a:tailEnd type="none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213" name="Line 97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504" y="1920"/>
                      <a:ext cx="48" cy="48"/>
                    </a:xfrm>
                    <a:prstGeom prst="line">
                      <a:avLst/>
                    </a:prstGeom>
                    <a:noFill/>
                    <a:ln w="12700" cap="sq">
                      <a:solidFill>
                        <a:schemeClr val="tx1"/>
                      </a:solidFill>
                      <a:round/>
                      <a:headEnd/>
                      <a:tailEnd type="none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4214" name="Line 98"/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3552" y="1920"/>
                      <a:ext cx="48" cy="48"/>
                    </a:xfrm>
                    <a:prstGeom prst="line">
                      <a:avLst/>
                    </a:prstGeom>
                    <a:noFill/>
                    <a:ln w="12700" cap="sq">
                      <a:solidFill>
                        <a:schemeClr val="tx1"/>
                      </a:solidFill>
                      <a:round/>
                      <a:headEnd/>
                      <a:tailEnd type="none" w="med" len="lg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4204" name="Line 9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264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4166" name="Oval 100"/>
              <p:cNvSpPr>
                <a:spLocks noChangeArrowheads="1"/>
              </p:cNvSpPr>
              <p:nvPr/>
            </p:nvSpPr>
            <p:spPr bwMode="auto">
              <a:xfrm>
                <a:off x="3436" y="2123"/>
                <a:ext cx="53" cy="57"/>
              </a:xfrm>
              <a:prstGeom prst="ellipse">
                <a:avLst/>
              </a:prstGeom>
              <a:solidFill>
                <a:srgbClr val="969696"/>
              </a:solidFill>
              <a:ln w="19050" cap="sq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167" name="Oval 101"/>
              <p:cNvSpPr>
                <a:spLocks noChangeArrowheads="1"/>
              </p:cNvSpPr>
              <p:nvPr/>
            </p:nvSpPr>
            <p:spPr bwMode="auto">
              <a:xfrm>
                <a:off x="3595" y="2123"/>
                <a:ext cx="53" cy="57"/>
              </a:xfrm>
              <a:prstGeom prst="ellipse">
                <a:avLst/>
              </a:prstGeom>
              <a:solidFill>
                <a:srgbClr val="969696"/>
              </a:solidFill>
              <a:ln w="19050" cap="sq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168" name="AutoShape 102"/>
              <p:cNvSpPr>
                <a:spLocks noChangeArrowheads="1"/>
              </p:cNvSpPr>
              <p:nvPr/>
            </p:nvSpPr>
            <p:spPr bwMode="auto">
              <a:xfrm>
                <a:off x="3436" y="2010"/>
                <a:ext cx="213" cy="113"/>
              </a:xfrm>
              <a:prstGeom prst="triangle">
                <a:avLst>
                  <a:gd name="adj" fmla="val 50000"/>
                </a:avLst>
              </a:prstGeom>
              <a:gradFill rotWithShape="0">
                <a:gsLst>
                  <a:gs pos="0">
                    <a:srgbClr val="005E76"/>
                  </a:gs>
                  <a:gs pos="50000">
                    <a:srgbClr val="00CCFF"/>
                  </a:gs>
                  <a:gs pos="100000">
                    <a:srgbClr val="005E76"/>
                  </a:gs>
                </a:gsLst>
                <a:lin ang="0" scaled="1"/>
              </a:gradFill>
              <a:ln w="19050" cap="sq">
                <a:solidFill>
                  <a:schemeClr val="tx1"/>
                </a:solidFill>
                <a:miter lim="800000"/>
                <a:headEnd/>
                <a:tailEnd type="none" w="med" len="lg"/>
              </a:ln>
            </p:spPr>
            <p:txBody>
              <a:bodyPr wrap="none" anchor="ctr"/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169" name="Oval 103"/>
              <p:cNvSpPr>
                <a:spLocks noChangeArrowheads="1"/>
              </p:cNvSpPr>
              <p:nvPr/>
            </p:nvSpPr>
            <p:spPr bwMode="auto">
              <a:xfrm>
                <a:off x="3517" y="1981"/>
                <a:ext cx="53" cy="57"/>
              </a:xfrm>
              <a:prstGeom prst="ellipse">
                <a:avLst/>
              </a:prstGeom>
              <a:solidFill>
                <a:srgbClr val="969696"/>
              </a:solidFill>
              <a:ln w="19050" cap="sq">
                <a:solidFill>
                  <a:schemeClr val="tx1"/>
                </a:solidFill>
                <a:round/>
                <a:headEnd/>
                <a:tailEnd type="none" w="med" len="lg"/>
              </a:ln>
            </p:spPr>
            <p:txBody>
              <a:bodyPr wrap="none" anchor="ctr"/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170" name="Line 104"/>
              <p:cNvSpPr>
                <a:spLocks noChangeShapeType="1"/>
              </p:cNvSpPr>
              <p:nvPr/>
            </p:nvSpPr>
            <p:spPr bwMode="auto">
              <a:xfrm>
                <a:off x="3275" y="2180"/>
                <a:ext cx="561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4171" name="Group 105"/>
              <p:cNvGrpSpPr>
                <a:grpSpLocks/>
              </p:cNvGrpSpPr>
              <p:nvPr/>
            </p:nvGrpSpPr>
            <p:grpSpPr bwMode="auto">
              <a:xfrm>
                <a:off x="3237" y="2180"/>
                <a:ext cx="584" cy="57"/>
                <a:chOff x="3264" y="1920"/>
                <a:chExt cx="528" cy="48"/>
              </a:xfrm>
            </p:grpSpPr>
            <p:grpSp>
              <p:nvGrpSpPr>
                <p:cNvPr id="4189" name="Group 106"/>
                <p:cNvGrpSpPr>
                  <a:grpSpLocks/>
                </p:cNvGrpSpPr>
                <p:nvPr/>
              </p:nvGrpSpPr>
              <p:grpSpPr bwMode="auto">
                <a:xfrm>
                  <a:off x="3312" y="1920"/>
                  <a:ext cx="480" cy="48"/>
                  <a:chOff x="3312" y="1920"/>
                  <a:chExt cx="480" cy="48"/>
                </a:xfrm>
              </p:grpSpPr>
              <p:sp>
                <p:nvSpPr>
                  <p:cNvPr id="4191" name="Line 10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312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92" name="Line 10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360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93" name="Line 10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408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94" name="Line 11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456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95" name="Line 11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00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96" name="Line 11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48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97" name="Line 11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696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98" name="Line 11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744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199" name="Line 11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504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4200" name="Line 11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552" y="1920"/>
                    <a:ext cx="48" cy="4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4190" name="Line 117"/>
                <p:cNvSpPr>
                  <a:spLocks noChangeShapeType="1"/>
                </p:cNvSpPr>
                <p:nvPr/>
              </p:nvSpPr>
              <p:spPr bwMode="auto">
                <a:xfrm flipH="1">
                  <a:off x="3264" y="1920"/>
                  <a:ext cx="48" cy="4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/>
                  <a:tailEnd type="non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4172" name="Oval 118"/>
              <p:cNvSpPr>
                <a:spLocks noChangeArrowheads="1"/>
              </p:cNvSpPr>
              <p:nvPr/>
            </p:nvSpPr>
            <p:spPr bwMode="auto">
              <a:xfrm>
                <a:off x="2457" y="1974"/>
                <a:ext cx="54" cy="57"/>
              </a:xfrm>
              <a:prstGeom prst="ellipse">
                <a:avLst/>
              </a:prstGeom>
              <a:solidFill>
                <a:srgbClr val="969696"/>
              </a:solidFill>
              <a:ln w="1905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173" name="Oval 119"/>
              <p:cNvSpPr>
                <a:spLocks noChangeArrowheads="1"/>
              </p:cNvSpPr>
              <p:nvPr/>
            </p:nvSpPr>
            <p:spPr bwMode="auto">
              <a:xfrm>
                <a:off x="2988" y="1504"/>
                <a:ext cx="53" cy="57"/>
              </a:xfrm>
              <a:prstGeom prst="ellipse">
                <a:avLst/>
              </a:prstGeom>
              <a:solidFill>
                <a:srgbClr val="969696"/>
              </a:solidFill>
              <a:ln w="1905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174" name="Oval 120"/>
              <p:cNvSpPr>
                <a:spLocks noChangeArrowheads="1"/>
              </p:cNvSpPr>
              <p:nvPr/>
            </p:nvSpPr>
            <p:spPr bwMode="auto">
              <a:xfrm>
                <a:off x="2457" y="1504"/>
                <a:ext cx="54" cy="57"/>
              </a:xfrm>
              <a:prstGeom prst="ellipse">
                <a:avLst/>
              </a:prstGeom>
              <a:solidFill>
                <a:srgbClr val="969696"/>
              </a:solidFill>
              <a:ln w="1905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175" name="Oval 121"/>
              <p:cNvSpPr>
                <a:spLocks noChangeArrowheads="1"/>
              </p:cNvSpPr>
              <p:nvPr/>
            </p:nvSpPr>
            <p:spPr bwMode="auto">
              <a:xfrm>
                <a:off x="2988" y="1981"/>
                <a:ext cx="53" cy="57"/>
              </a:xfrm>
              <a:prstGeom prst="ellipse">
                <a:avLst/>
              </a:prstGeom>
              <a:solidFill>
                <a:srgbClr val="969696"/>
              </a:solidFill>
              <a:ln w="19050">
                <a:solidFill>
                  <a:schemeClr val="tx1"/>
                </a:solidFill>
                <a:round/>
                <a:headEnd/>
                <a:tailEnd type="none" w="sm" len="lg"/>
              </a:ln>
            </p:spPr>
            <p:txBody>
              <a:bodyPr wrap="none" anchor="ctr"/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41082" name="Text Box 122"/>
              <p:cNvSpPr txBox="1">
                <a:spLocks noChangeArrowheads="1"/>
              </p:cNvSpPr>
              <p:nvPr/>
            </p:nvSpPr>
            <p:spPr bwMode="auto">
              <a:xfrm>
                <a:off x="2169" y="1771"/>
                <a:ext cx="189" cy="269"/>
              </a:xfrm>
              <a:prstGeom prst="rect">
                <a:avLst/>
              </a:prstGeom>
              <a:noFill/>
              <a:ln w="31750">
                <a:noFill/>
                <a:miter lim="800000"/>
                <a:headEnd/>
                <a:tailEnd type="none" w="sm" len="lg"/>
              </a:ln>
              <a:effectLst/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35000"/>
                  </a:lnSpc>
                </a:pPr>
                <a:r>
                  <a:rPr lang="en-US" altLang="zh-CN" sz="1800" b="0" i="1" dirty="0"/>
                  <a:t>a</a:t>
                </a:r>
              </a:p>
            </p:txBody>
          </p:sp>
          <p:sp>
            <p:nvSpPr>
              <p:cNvPr id="41083" name="Text Box 123"/>
              <p:cNvSpPr txBox="1">
                <a:spLocks noChangeArrowheads="1"/>
              </p:cNvSpPr>
              <p:nvPr/>
            </p:nvSpPr>
            <p:spPr bwMode="auto">
              <a:xfrm>
                <a:off x="3151" y="1762"/>
                <a:ext cx="189" cy="269"/>
              </a:xfrm>
              <a:prstGeom prst="rect">
                <a:avLst/>
              </a:prstGeom>
              <a:noFill/>
              <a:ln w="31750">
                <a:noFill/>
                <a:miter lim="800000"/>
                <a:headEnd/>
                <a:tailEnd type="none" w="sm" len="lg"/>
              </a:ln>
              <a:effectLst/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35000"/>
                  </a:lnSpc>
                </a:pPr>
                <a:r>
                  <a:rPr lang="en-US" altLang="zh-CN" sz="1800" b="0" i="1" dirty="0"/>
                  <a:t>a</a:t>
                </a:r>
              </a:p>
            </p:txBody>
          </p:sp>
          <p:sp>
            <p:nvSpPr>
              <p:cNvPr id="41084" name="Text Box 124"/>
              <p:cNvSpPr txBox="1">
                <a:spLocks noChangeArrowheads="1"/>
              </p:cNvSpPr>
              <p:nvPr/>
            </p:nvSpPr>
            <p:spPr bwMode="auto">
              <a:xfrm>
                <a:off x="2690" y="1771"/>
                <a:ext cx="189" cy="269"/>
              </a:xfrm>
              <a:prstGeom prst="rect">
                <a:avLst/>
              </a:prstGeom>
              <a:noFill/>
              <a:ln w="31750">
                <a:noFill/>
                <a:miter lim="800000"/>
                <a:headEnd/>
                <a:tailEnd type="none" w="sm" len="lg"/>
              </a:ln>
              <a:effectLst/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35000"/>
                  </a:lnSpc>
                </a:pPr>
                <a:r>
                  <a:rPr lang="en-US" altLang="zh-CN" sz="1800" b="0" i="1" dirty="0"/>
                  <a:t>a</a:t>
                </a:r>
              </a:p>
            </p:txBody>
          </p:sp>
          <p:sp>
            <p:nvSpPr>
              <p:cNvPr id="41085" name="Text Box 125"/>
              <p:cNvSpPr txBox="1">
                <a:spLocks noChangeArrowheads="1"/>
              </p:cNvSpPr>
              <p:nvPr/>
            </p:nvSpPr>
            <p:spPr bwMode="auto">
              <a:xfrm>
                <a:off x="2981" y="1603"/>
                <a:ext cx="189" cy="269"/>
              </a:xfrm>
              <a:prstGeom prst="rect">
                <a:avLst/>
              </a:prstGeom>
              <a:noFill/>
              <a:ln w="31750">
                <a:noFill/>
                <a:miter lim="800000"/>
                <a:headEnd/>
                <a:tailEnd type="none" w="sm" len="lg"/>
              </a:ln>
              <a:effectLst/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35000"/>
                  </a:lnSpc>
                </a:pPr>
                <a:r>
                  <a:rPr lang="en-US" altLang="zh-CN" sz="1800" b="0" i="1" dirty="0"/>
                  <a:t>a</a:t>
                </a:r>
              </a:p>
            </p:txBody>
          </p:sp>
          <p:sp>
            <p:nvSpPr>
              <p:cNvPr id="41086" name="Text Box 126"/>
              <p:cNvSpPr txBox="1">
                <a:spLocks noChangeArrowheads="1"/>
              </p:cNvSpPr>
              <p:nvPr/>
            </p:nvSpPr>
            <p:spPr bwMode="auto">
              <a:xfrm>
                <a:off x="2473" y="2102"/>
                <a:ext cx="296" cy="292"/>
              </a:xfrm>
              <a:prstGeom prst="rect">
                <a:avLst/>
              </a:prstGeom>
              <a:noFill/>
              <a:ln w="31750">
                <a:noFill/>
                <a:miter lim="800000"/>
                <a:headEnd/>
                <a:tailEnd type="none" w="sm" len="lg"/>
              </a:ln>
              <a:effectLst/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35000"/>
                  </a:lnSpc>
                  <a:defRPr/>
                </a:pPr>
                <a:r>
                  <a:rPr lang="en-US" altLang="zh-CN" sz="2000" b="1" i="1" dirty="0">
                    <a:solidFill>
                      <a:srgbClr val="FF3D3D"/>
                    </a:solidFill>
                  </a:rPr>
                  <a:t>F</a:t>
                </a:r>
                <a:r>
                  <a:rPr lang="en-US" altLang="zh-CN" sz="2000" b="0" i="1" baseline="-25000" dirty="0">
                    <a:solidFill>
                      <a:srgbClr val="FF3D3D"/>
                    </a:solidFill>
                  </a:rPr>
                  <a:t>C</a:t>
                </a:r>
              </a:p>
            </p:txBody>
          </p:sp>
          <p:sp>
            <p:nvSpPr>
              <p:cNvPr id="41087" name="Text Box 127"/>
              <p:cNvSpPr txBox="1">
                <a:spLocks noChangeArrowheads="1"/>
              </p:cNvSpPr>
              <p:nvPr/>
            </p:nvSpPr>
            <p:spPr bwMode="auto">
              <a:xfrm>
                <a:off x="1690" y="1812"/>
                <a:ext cx="224" cy="290"/>
              </a:xfrm>
              <a:prstGeom prst="rect">
                <a:avLst/>
              </a:prstGeom>
              <a:noFill/>
              <a:ln w="31750">
                <a:noFill/>
                <a:miter lim="800000"/>
                <a:headEnd/>
                <a:tailEnd type="none" w="sm" len="lg"/>
              </a:ln>
              <a:effectLst/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35000"/>
                  </a:lnSpc>
                  <a:defRPr/>
                </a:pPr>
                <a:r>
                  <a:rPr lang="en-US" altLang="zh-CN" sz="2000" i="1" dirty="0"/>
                  <a:t>A</a:t>
                </a:r>
                <a:endParaRPr lang="en-US" altLang="zh-CN" sz="2000" i="1" dirty="0">
                  <a:latin typeface="宋体" pitchFamily="2" charset="-122"/>
                </a:endParaRPr>
              </a:p>
            </p:txBody>
          </p:sp>
          <p:sp>
            <p:nvSpPr>
              <p:cNvPr id="41088" name="Text Box 128"/>
              <p:cNvSpPr txBox="1">
                <a:spLocks noChangeArrowheads="1"/>
              </p:cNvSpPr>
              <p:nvPr/>
            </p:nvSpPr>
            <p:spPr bwMode="auto">
              <a:xfrm>
                <a:off x="2467" y="1925"/>
                <a:ext cx="224" cy="292"/>
              </a:xfrm>
              <a:prstGeom prst="rect">
                <a:avLst/>
              </a:prstGeom>
              <a:noFill/>
              <a:ln w="31750">
                <a:noFill/>
                <a:miter lim="800000"/>
                <a:headEnd/>
                <a:tailEnd type="none" w="sm" len="lg"/>
              </a:ln>
              <a:effectLst/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35000"/>
                  </a:lnSpc>
                </a:pPr>
                <a:r>
                  <a:rPr lang="en-US" altLang="zh-CN" sz="2000" b="0" i="1" dirty="0"/>
                  <a:t>C</a:t>
                </a:r>
              </a:p>
            </p:txBody>
          </p:sp>
          <p:sp>
            <p:nvSpPr>
              <p:cNvPr id="41089" name="Text Box 129"/>
              <p:cNvSpPr txBox="1">
                <a:spLocks noChangeArrowheads="1"/>
              </p:cNvSpPr>
              <p:nvPr/>
            </p:nvSpPr>
            <p:spPr bwMode="auto">
              <a:xfrm>
                <a:off x="2974" y="1925"/>
                <a:ext cx="233" cy="292"/>
              </a:xfrm>
              <a:prstGeom prst="rect">
                <a:avLst/>
              </a:prstGeom>
              <a:noFill/>
              <a:ln w="31750">
                <a:noFill/>
                <a:miter lim="800000"/>
                <a:headEnd/>
                <a:tailEnd type="none" w="sm" len="lg"/>
              </a:ln>
              <a:effectLst/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35000"/>
                  </a:lnSpc>
                </a:pPr>
                <a:r>
                  <a:rPr lang="en-US" altLang="zh-CN" sz="2000" b="0" i="1" dirty="0"/>
                  <a:t>D</a:t>
                </a:r>
              </a:p>
            </p:txBody>
          </p:sp>
          <p:sp>
            <p:nvSpPr>
              <p:cNvPr id="41090" name="Text Box 130"/>
              <p:cNvSpPr txBox="1">
                <a:spLocks noChangeArrowheads="1"/>
              </p:cNvSpPr>
              <p:nvPr/>
            </p:nvSpPr>
            <p:spPr bwMode="auto">
              <a:xfrm>
                <a:off x="3512" y="1732"/>
                <a:ext cx="215" cy="292"/>
              </a:xfrm>
              <a:prstGeom prst="rect">
                <a:avLst/>
              </a:prstGeom>
              <a:noFill/>
              <a:ln w="31750">
                <a:noFill/>
                <a:miter lim="800000"/>
                <a:headEnd/>
                <a:tailEnd type="none" w="sm" len="lg"/>
              </a:ln>
              <a:effectLst/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35000"/>
                  </a:lnSpc>
                </a:pPr>
                <a:r>
                  <a:rPr lang="en-US" altLang="zh-CN" sz="2000" b="0" i="1" dirty="0"/>
                  <a:t>B</a:t>
                </a:r>
              </a:p>
            </p:txBody>
          </p:sp>
          <p:sp>
            <p:nvSpPr>
              <p:cNvPr id="41091" name="Text Box 131"/>
              <p:cNvSpPr txBox="1">
                <a:spLocks noChangeArrowheads="1"/>
              </p:cNvSpPr>
              <p:nvPr/>
            </p:nvSpPr>
            <p:spPr bwMode="auto">
              <a:xfrm>
                <a:off x="2933" y="1216"/>
                <a:ext cx="215" cy="292"/>
              </a:xfrm>
              <a:prstGeom prst="rect">
                <a:avLst/>
              </a:prstGeom>
              <a:noFill/>
              <a:ln w="31750">
                <a:noFill/>
                <a:miter lim="800000"/>
                <a:headEnd/>
                <a:tailEnd type="none" w="sm" len="lg"/>
              </a:ln>
              <a:effectLst/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35000"/>
                  </a:lnSpc>
                </a:pPr>
                <a:r>
                  <a:rPr lang="en-US" altLang="zh-CN" sz="2000" b="0" i="1" dirty="0"/>
                  <a:t>E</a:t>
                </a:r>
              </a:p>
            </p:txBody>
          </p:sp>
          <p:sp>
            <p:nvSpPr>
              <p:cNvPr id="41092" name="Text Box 132"/>
              <p:cNvSpPr txBox="1">
                <a:spLocks noChangeArrowheads="1"/>
              </p:cNvSpPr>
              <p:nvPr/>
            </p:nvSpPr>
            <p:spPr bwMode="auto">
              <a:xfrm>
                <a:off x="2381" y="1216"/>
                <a:ext cx="215" cy="292"/>
              </a:xfrm>
              <a:prstGeom prst="rect">
                <a:avLst/>
              </a:prstGeom>
              <a:noFill/>
              <a:ln w="31750">
                <a:noFill/>
                <a:miter lim="800000"/>
                <a:headEnd/>
                <a:tailEnd type="none" w="sm" len="lg"/>
              </a:ln>
              <a:effectLst/>
            </p:spPr>
            <p:txBody>
              <a:bodyPr wrap="none"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35000"/>
                  </a:lnSpc>
                </a:pPr>
                <a:r>
                  <a:rPr lang="en-US" altLang="zh-CN" sz="2000" b="0" i="1" dirty="0"/>
                  <a:t>F</a:t>
                </a:r>
              </a:p>
            </p:txBody>
          </p:sp>
          <p:sp>
            <p:nvSpPr>
              <p:cNvPr id="4187" name="Line 133"/>
              <p:cNvSpPr>
                <a:spLocks noChangeShapeType="1"/>
              </p:cNvSpPr>
              <p:nvPr/>
            </p:nvSpPr>
            <p:spPr bwMode="auto">
              <a:xfrm flipV="1">
                <a:off x="1657" y="2124"/>
                <a:ext cx="571" cy="1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4188" name="Line 134"/>
              <p:cNvSpPr>
                <a:spLocks noChangeShapeType="1"/>
              </p:cNvSpPr>
              <p:nvPr/>
            </p:nvSpPr>
            <p:spPr bwMode="auto">
              <a:xfrm flipV="1">
                <a:off x="3266" y="2177"/>
                <a:ext cx="562" cy="4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  <p:sp>
        <p:nvSpPr>
          <p:cNvPr id="41095" name="Text Box 135"/>
          <p:cNvSpPr txBox="1">
            <a:spLocks noChangeArrowheads="1"/>
          </p:cNvSpPr>
          <p:nvPr/>
        </p:nvSpPr>
        <p:spPr bwMode="auto">
          <a:xfrm>
            <a:off x="778677" y="1602730"/>
            <a:ext cx="8034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 cap="sq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解：</a:t>
            </a:r>
          </a:p>
        </p:txBody>
      </p:sp>
      <p:sp>
        <p:nvSpPr>
          <p:cNvPr id="41096" name="Text Box 136"/>
          <p:cNvSpPr txBox="1">
            <a:spLocks noChangeArrowheads="1"/>
          </p:cNvSpPr>
          <p:nvPr/>
        </p:nvSpPr>
        <p:spPr bwMode="auto">
          <a:xfrm>
            <a:off x="1649120" y="1628774"/>
            <a:ext cx="1161632" cy="461665"/>
          </a:xfrm>
          <a:prstGeom prst="rect">
            <a:avLst/>
          </a:prstGeom>
          <a:solidFill>
            <a:srgbClr val="00CC66"/>
          </a:solidFill>
          <a:ln w="12700">
            <a:solidFill>
              <a:schemeClr val="tx2"/>
            </a:solidFill>
            <a:miter lim="800000"/>
            <a:headEnd/>
            <a:tailEnd type="none" w="sm" len="lg"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节点法</a:t>
            </a:r>
          </a:p>
        </p:txBody>
      </p:sp>
      <p:grpSp>
        <p:nvGrpSpPr>
          <p:cNvPr id="9" name="Group 137"/>
          <p:cNvGrpSpPr>
            <a:grpSpLocks/>
          </p:cNvGrpSpPr>
          <p:nvPr/>
        </p:nvGrpSpPr>
        <p:grpSpPr bwMode="auto">
          <a:xfrm>
            <a:off x="4980725" y="2915788"/>
            <a:ext cx="3452811" cy="1849438"/>
            <a:chOff x="2639" y="2976"/>
            <a:chExt cx="2175" cy="1165"/>
          </a:xfrm>
        </p:grpSpPr>
        <p:sp>
          <p:nvSpPr>
            <p:cNvPr id="4115" name="Line 138"/>
            <p:cNvSpPr>
              <a:spLocks noChangeShapeType="1"/>
            </p:cNvSpPr>
            <p:nvPr/>
          </p:nvSpPr>
          <p:spPr bwMode="auto">
            <a:xfrm flipV="1">
              <a:off x="4543" y="3311"/>
              <a:ext cx="0" cy="397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16" name="Line 139"/>
            <p:cNvSpPr>
              <a:spLocks noChangeShapeType="1"/>
            </p:cNvSpPr>
            <p:nvPr/>
          </p:nvSpPr>
          <p:spPr bwMode="auto">
            <a:xfrm flipV="1">
              <a:off x="3103" y="3279"/>
              <a:ext cx="0" cy="419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17" name="Line 140"/>
            <p:cNvSpPr>
              <a:spLocks noChangeShapeType="1"/>
            </p:cNvSpPr>
            <p:nvPr/>
          </p:nvSpPr>
          <p:spPr bwMode="auto">
            <a:xfrm>
              <a:off x="4063" y="3304"/>
              <a:ext cx="384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18" name="Line 141"/>
            <p:cNvSpPr>
              <a:spLocks noChangeShapeType="1"/>
            </p:cNvSpPr>
            <p:nvPr/>
          </p:nvSpPr>
          <p:spPr bwMode="auto">
            <a:xfrm>
              <a:off x="3583" y="3688"/>
              <a:ext cx="0" cy="384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19" name="Line 142"/>
            <p:cNvSpPr>
              <a:spLocks noChangeShapeType="1"/>
            </p:cNvSpPr>
            <p:nvPr/>
          </p:nvSpPr>
          <p:spPr bwMode="auto">
            <a:xfrm flipV="1">
              <a:off x="3583" y="3304"/>
              <a:ext cx="48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0" name="Line 143"/>
            <p:cNvSpPr>
              <a:spLocks noChangeShapeType="1"/>
            </p:cNvSpPr>
            <p:nvPr/>
          </p:nvSpPr>
          <p:spPr bwMode="auto">
            <a:xfrm>
              <a:off x="3103" y="3704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1" name="Line 144"/>
            <p:cNvSpPr>
              <a:spLocks noChangeShapeType="1"/>
            </p:cNvSpPr>
            <p:nvPr/>
          </p:nvSpPr>
          <p:spPr bwMode="auto">
            <a:xfrm>
              <a:off x="3583" y="3704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2" name="Line 145"/>
            <p:cNvSpPr>
              <a:spLocks noChangeShapeType="1"/>
            </p:cNvSpPr>
            <p:nvPr/>
          </p:nvSpPr>
          <p:spPr bwMode="auto">
            <a:xfrm>
              <a:off x="4063" y="3704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3" name="Line 146"/>
            <p:cNvSpPr>
              <a:spLocks noChangeShapeType="1"/>
            </p:cNvSpPr>
            <p:nvPr/>
          </p:nvSpPr>
          <p:spPr bwMode="auto">
            <a:xfrm>
              <a:off x="4063" y="3304"/>
              <a:ext cx="480" cy="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4" name="Line 147"/>
            <p:cNvSpPr>
              <a:spLocks noChangeShapeType="1"/>
            </p:cNvSpPr>
            <p:nvPr/>
          </p:nvSpPr>
          <p:spPr bwMode="auto">
            <a:xfrm>
              <a:off x="4063" y="3304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5" name="Line 148"/>
            <p:cNvSpPr>
              <a:spLocks noChangeShapeType="1"/>
            </p:cNvSpPr>
            <p:nvPr/>
          </p:nvSpPr>
          <p:spPr bwMode="auto">
            <a:xfrm>
              <a:off x="3583" y="3304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6" name="Line 149"/>
            <p:cNvSpPr>
              <a:spLocks noChangeShapeType="1"/>
            </p:cNvSpPr>
            <p:nvPr/>
          </p:nvSpPr>
          <p:spPr bwMode="auto">
            <a:xfrm>
              <a:off x="3583" y="3304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7" name="Line 150"/>
            <p:cNvSpPr>
              <a:spLocks noChangeShapeType="1"/>
            </p:cNvSpPr>
            <p:nvPr/>
          </p:nvSpPr>
          <p:spPr bwMode="auto">
            <a:xfrm flipV="1">
              <a:off x="3103" y="3304"/>
              <a:ext cx="48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28" name="Oval 151"/>
            <p:cNvSpPr>
              <a:spLocks noChangeArrowheads="1"/>
            </p:cNvSpPr>
            <p:nvPr/>
          </p:nvSpPr>
          <p:spPr bwMode="auto">
            <a:xfrm>
              <a:off x="3079" y="3675"/>
              <a:ext cx="48" cy="48"/>
            </a:xfrm>
            <a:prstGeom prst="ellipse">
              <a:avLst/>
            </a:prstGeom>
            <a:solidFill>
              <a:srgbClr val="969696"/>
            </a:solidFill>
            <a:ln w="12700" cap="sq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129" name="Oval 152"/>
            <p:cNvSpPr>
              <a:spLocks noChangeArrowheads="1"/>
            </p:cNvSpPr>
            <p:nvPr/>
          </p:nvSpPr>
          <p:spPr bwMode="auto">
            <a:xfrm>
              <a:off x="4517" y="3680"/>
              <a:ext cx="48" cy="48"/>
            </a:xfrm>
            <a:prstGeom prst="ellipse">
              <a:avLst/>
            </a:prstGeom>
            <a:solidFill>
              <a:srgbClr val="969696"/>
            </a:solidFill>
            <a:ln w="12700" cap="sq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130" name="Oval 153"/>
            <p:cNvSpPr>
              <a:spLocks noChangeArrowheads="1"/>
            </p:cNvSpPr>
            <p:nvPr/>
          </p:nvSpPr>
          <p:spPr bwMode="auto">
            <a:xfrm>
              <a:off x="3559" y="3674"/>
              <a:ext cx="48" cy="48"/>
            </a:xfrm>
            <a:prstGeom prst="ellipse">
              <a:avLst/>
            </a:prstGeom>
            <a:solidFill>
              <a:srgbClr val="969696"/>
            </a:solidFill>
            <a:ln w="1905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131" name="Oval 154"/>
            <p:cNvSpPr>
              <a:spLocks noChangeArrowheads="1"/>
            </p:cNvSpPr>
            <p:nvPr/>
          </p:nvSpPr>
          <p:spPr bwMode="auto">
            <a:xfrm>
              <a:off x="4039" y="3280"/>
              <a:ext cx="48" cy="48"/>
            </a:xfrm>
            <a:prstGeom prst="ellipse">
              <a:avLst/>
            </a:prstGeom>
            <a:solidFill>
              <a:srgbClr val="969696"/>
            </a:solidFill>
            <a:ln w="1905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132" name="Oval 155"/>
            <p:cNvSpPr>
              <a:spLocks noChangeArrowheads="1"/>
            </p:cNvSpPr>
            <p:nvPr/>
          </p:nvSpPr>
          <p:spPr bwMode="auto">
            <a:xfrm>
              <a:off x="3559" y="3280"/>
              <a:ext cx="48" cy="48"/>
            </a:xfrm>
            <a:prstGeom prst="ellipse">
              <a:avLst/>
            </a:prstGeom>
            <a:solidFill>
              <a:srgbClr val="969696"/>
            </a:solidFill>
            <a:ln w="1905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133" name="Oval 156"/>
            <p:cNvSpPr>
              <a:spLocks noChangeArrowheads="1"/>
            </p:cNvSpPr>
            <p:nvPr/>
          </p:nvSpPr>
          <p:spPr bwMode="auto">
            <a:xfrm>
              <a:off x="4039" y="3680"/>
              <a:ext cx="48" cy="48"/>
            </a:xfrm>
            <a:prstGeom prst="ellipse">
              <a:avLst/>
            </a:prstGeom>
            <a:solidFill>
              <a:srgbClr val="969696"/>
            </a:solidFill>
            <a:ln w="1905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1121" name="Text Box 161"/>
            <p:cNvSpPr txBox="1">
              <a:spLocks noChangeArrowheads="1"/>
            </p:cNvSpPr>
            <p:nvPr/>
          </p:nvSpPr>
          <p:spPr bwMode="auto">
            <a:xfrm>
              <a:off x="3546" y="3849"/>
              <a:ext cx="296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2000" b="1" i="1" dirty="0">
                  <a:solidFill>
                    <a:srgbClr val="FF3D3D"/>
                  </a:solidFill>
                </a:rPr>
                <a:t>F</a:t>
              </a:r>
              <a:r>
                <a:rPr lang="en-US" altLang="zh-CN" sz="2000" b="0" i="1" baseline="-25000" dirty="0">
                  <a:solidFill>
                    <a:srgbClr val="FF3D3D"/>
                  </a:solidFill>
                </a:rPr>
                <a:t>C</a:t>
              </a:r>
            </a:p>
          </p:txBody>
        </p:sp>
        <p:sp>
          <p:nvSpPr>
            <p:cNvPr id="41122" name="Text Box 162"/>
            <p:cNvSpPr txBox="1">
              <a:spLocks noChangeArrowheads="1"/>
            </p:cNvSpPr>
            <p:nvPr/>
          </p:nvSpPr>
          <p:spPr bwMode="auto">
            <a:xfrm>
              <a:off x="2998" y="3632"/>
              <a:ext cx="215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2000" b="0" i="1" dirty="0"/>
                <a:t>A</a:t>
              </a:r>
            </a:p>
          </p:txBody>
        </p:sp>
        <p:sp>
          <p:nvSpPr>
            <p:cNvPr id="41123" name="Text Box 163"/>
            <p:cNvSpPr txBox="1">
              <a:spLocks noChangeArrowheads="1"/>
            </p:cNvSpPr>
            <p:nvPr/>
          </p:nvSpPr>
          <p:spPr bwMode="auto">
            <a:xfrm>
              <a:off x="4501" y="3579"/>
              <a:ext cx="215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2000" b="0" i="1" dirty="0"/>
                <a:t>B</a:t>
              </a:r>
            </a:p>
          </p:txBody>
        </p:sp>
        <p:sp>
          <p:nvSpPr>
            <p:cNvPr id="41124" name="Text Box 164"/>
            <p:cNvSpPr txBox="1">
              <a:spLocks noChangeArrowheads="1"/>
            </p:cNvSpPr>
            <p:nvPr/>
          </p:nvSpPr>
          <p:spPr bwMode="auto">
            <a:xfrm>
              <a:off x="4017" y="3613"/>
              <a:ext cx="233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2000" b="0" i="1" dirty="0"/>
                <a:t>D</a:t>
              </a:r>
            </a:p>
          </p:txBody>
        </p:sp>
        <p:sp>
          <p:nvSpPr>
            <p:cNvPr id="41125" name="Text Box 165"/>
            <p:cNvSpPr txBox="1">
              <a:spLocks noChangeArrowheads="1"/>
            </p:cNvSpPr>
            <p:nvPr/>
          </p:nvSpPr>
          <p:spPr bwMode="auto">
            <a:xfrm>
              <a:off x="3581" y="3609"/>
              <a:ext cx="224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2000" b="0" i="1" dirty="0"/>
                <a:t>C</a:t>
              </a:r>
            </a:p>
          </p:txBody>
        </p:sp>
        <p:sp>
          <p:nvSpPr>
            <p:cNvPr id="41126" name="Text Box 166"/>
            <p:cNvSpPr txBox="1">
              <a:spLocks noChangeArrowheads="1"/>
            </p:cNvSpPr>
            <p:nvPr/>
          </p:nvSpPr>
          <p:spPr bwMode="auto">
            <a:xfrm>
              <a:off x="3979" y="3005"/>
              <a:ext cx="215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2000" b="0" i="1" dirty="0"/>
                <a:t>E</a:t>
              </a:r>
            </a:p>
          </p:txBody>
        </p:sp>
        <p:sp>
          <p:nvSpPr>
            <p:cNvPr id="41127" name="Text Box 167"/>
            <p:cNvSpPr txBox="1">
              <a:spLocks noChangeArrowheads="1"/>
            </p:cNvSpPr>
            <p:nvPr/>
          </p:nvSpPr>
          <p:spPr bwMode="auto">
            <a:xfrm>
              <a:off x="3490" y="3009"/>
              <a:ext cx="215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2000" b="0" i="1" dirty="0"/>
                <a:t>F</a:t>
              </a:r>
            </a:p>
          </p:txBody>
        </p:sp>
        <p:sp>
          <p:nvSpPr>
            <p:cNvPr id="41128" name="Text Box 168"/>
            <p:cNvSpPr txBox="1">
              <a:spLocks noChangeArrowheads="1"/>
            </p:cNvSpPr>
            <p:nvPr/>
          </p:nvSpPr>
          <p:spPr bwMode="auto">
            <a:xfrm>
              <a:off x="4180" y="2976"/>
              <a:ext cx="290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2000" b="1" i="1" dirty="0">
                  <a:solidFill>
                    <a:srgbClr val="FF3D3D"/>
                  </a:solidFill>
                </a:rPr>
                <a:t>F</a:t>
              </a:r>
              <a:r>
                <a:rPr lang="en-US" altLang="zh-CN" sz="2000" b="0" i="1" baseline="-25000" dirty="0">
                  <a:solidFill>
                    <a:srgbClr val="FF3D3D"/>
                  </a:solidFill>
                </a:rPr>
                <a:t>E</a:t>
              </a:r>
            </a:p>
          </p:txBody>
        </p:sp>
        <p:sp>
          <p:nvSpPr>
            <p:cNvPr id="4146" name="Line 169"/>
            <p:cNvSpPr>
              <a:spLocks noChangeShapeType="1"/>
            </p:cNvSpPr>
            <p:nvPr/>
          </p:nvSpPr>
          <p:spPr bwMode="auto">
            <a:xfrm>
              <a:off x="2639" y="3701"/>
              <a:ext cx="432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130" name="Text Box 170"/>
            <p:cNvSpPr txBox="1">
              <a:spLocks noChangeArrowheads="1"/>
            </p:cNvSpPr>
            <p:nvPr/>
          </p:nvSpPr>
          <p:spPr bwMode="auto">
            <a:xfrm>
              <a:off x="2787" y="3149"/>
              <a:ext cx="332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2000" b="1" i="1" dirty="0" err="1">
                  <a:solidFill>
                    <a:srgbClr val="FF3D3D"/>
                  </a:solidFill>
                </a:rPr>
                <a:t>F</a:t>
              </a:r>
              <a:r>
                <a:rPr lang="en-US" altLang="zh-CN" sz="2000" b="0" i="1" baseline="-25000" dirty="0" err="1">
                  <a:solidFill>
                    <a:srgbClr val="FF3D3D"/>
                  </a:solidFill>
                </a:rPr>
                <a:t>Ay</a:t>
              </a:r>
              <a:endParaRPr lang="en-US" altLang="zh-CN" sz="2000" b="0" i="1" dirty="0">
                <a:solidFill>
                  <a:srgbClr val="FF3D3D"/>
                </a:solidFill>
              </a:endParaRPr>
            </a:p>
          </p:txBody>
        </p:sp>
        <p:sp>
          <p:nvSpPr>
            <p:cNvPr id="41131" name="Text Box 171"/>
            <p:cNvSpPr txBox="1">
              <a:spLocks noChangeArrowheads="1"/>
            </p:cNvSpPr>
            <p:nvPr/>
          </p:nvSpPr>
          <p:spPr bwMode="auto">
            <a:xfrm>
              <a:off x="4524" y="3140"/>
              <a:ext cx="290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2000" b="1" i="1" dirty="0">
                  <a:solidFill>
                    <a:srgbClr val="FF3D3D"/>
                  </a:solidFill>
                </a:rPr>
                <a:t>F</a:t>
              </a:r>
              <a:r>
                <a:rPr lang="en-US" altLang="zh-CN" sz="2000" b="0" i="1" baseline="-25000" dirty="0">
                  <a:solidFill>
                    <a:srgbClr val="FF3D3D"/>
                  </a:solidFill>
                </a:rPr>
                <a:t>B</a:t>
              </a:r>
            </a:p>
          </p:txBody>
        </p:sp>
        <p:sp>
          <p:nvSpPr>
            <p:cNvPr id="41132" name="Text Box 172"/>
            <p:cNvSpPr txBox="1">
              <a:spLocks noChangeArrowheads="1"/>
            </p:cNvSpPr>
            <p:nvPr/>
          </p:nvSpPr>
          <p:spPr bwMode="auto">
            <a:xfrm>
              <a:off x="2664" y="3619"/>
              <a:ext cx="337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2000" b="1" i="1" dirty="0" err="1">
                  <a:solidFill>
                    <a:srgbClr val="FF3D3D"/>
                  </a:solidFill>
                </a:rPr>
                <a:t>F</a:t>
              </a:r>
              <a:r>
                <a:rPr lang="en-US" altLang="zh-CN" sz="2000" b="0" i="1" baseline="-25000" dirty="0" err="1">
                  <a:solidFill>
                    <a:srgbClr val="FF3D3D"/>
                  </a:solidFill>
                </a:rPr>
                <a:t>Ax</a:t>
              </a:r>
              <a:endParaRPr lang="en-US" altLang="zh-CN" sz="2000" b="0" i="1" dirty="0">
                <a:solidFill>
                  <a:srgbClr val="FF3D3D"/>
                </a:solidFill>
              </a:endParaRPr>
            </a:p>
          </p:txBody>
        </p:sp>
      </p:grpSp>
      <p:sp>
        <p:nvSpPr>
          <p:cNvPr id="41133" name="Text Box 173"/>
          <p:cNvSpPr txBox="1">
            <a:spLocks noChangeArrowheads="1"/>
          </p:cNvSpPr>
          <p:nvPr/>
        </p:nvSpPr>
        <p:spPr bwMode="auto">
          <a:xfrm>
            <a:off x="925566" y="2204160"/>
            <a:ext cx="3130550" cy="1016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取整体为研究对象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受力分析如图。</a:t>
            </a:r>
          </a:p>
        </p:txBody>
      </p:sp>
      <p:grpSp>
        <p:nvGrpSpPr>
          <p:cNvPr id="10" name="Group 5"/>
          <p:cNvGrpSpPr>
            <a:grpSpLocks/>
          </p:cNvGrpSpPr>
          <p:nvPr/>
        </p:nvGrpSpPr>
        <p:grpSpPr bwMode="auto">
          <a:xfrm>
            <a:off x="925566" y="3460522"/>
            <a:ext cx="3259138" cy="501650"/>
            <a:chOff x="688" y="864"/>
            <a:chExt cx="2053" cy="316"/>
          </a:xfrm>
        </p:grpSpPr>
        <p:graphicFrame>
          <p:nvGraphicFramePr>
            <p:cNvPr id="4102" name="Object 6"/>
            <p:cNvGraphicFramePr>
              <a:graphicFrameLocks noChangeAspect="1"/>
            </p:cNvGraphicFramePr>
            <p:nvPr/>
          </p:nvGraphicFramePr>
          <p:xfrm>
            <a:off x="1680" y="864"/>
            <a:ext cx="1061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94" name="Equation" r:id="rId3" imgW="787320" imgH="228600" progId="Equation.3">
                    <p:embed/>
                  </p:oleObj>
                </mc:Choice>
                <mc:Fallback>
                  <p:oleObj name="Equation" r:id="rId3" imgW="78732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80" y="864"/>
                          <a:ext cx="1061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1593903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3" name="Object 7"/>
            <p:cNvGraphicFramePr>
              <a:graphicFrameLocks noChangeAspect="1"/>
            </p:cNvGraphicFramePr>
            <p:nvPr/>
          </p:nvGraphicFramePr>
          <p:xfrm>
            <a:off x="688" y="880"/>
            <a:ext cx="752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95" name="Equation" r:id="rId5" imgW="634680" imgH="253800" progId="Equation.3">
                    <p:embed/>
                  </p:oleObj>
                </mc:Choice>
                <mc:Fallback>
                  <p:oleObj name="Equation" r:id="rId5" imgW="63468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8" y="880"/>
                          <a:ext cx="752" cy="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1593903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44"/>
          <p:cNvGrpSpPr>
            <a:grpSpLocks/>
          </p:cNvGrpSpPr>
          <p:nvPr/>
        </p:nvGrpSpPr>
        <p:grpSpPr bwMode="auto">
          <a:xfrm>
            <a:off x="911116" y="4098832"/>
            <a:ext cx="3797300" cy="519113"/>
            <a:chOff x="672" y="1296"/>
            <a:chExt cx="2392" cy="327"/>
          </a:xfrm>
        </p:grpSpPr>
        <p:graphicFrame>
          <p:nvGraphicFramePr>
            <p:cNvPr id="4100" name="Object 45"/>
            <p:cNvGraphicFramePr>
              <a:graphicFrameLocks noChangeAspect="1"/>
            </p:cNvGraphicFramePr>
            <p:nvPr/>
          </p:nvGraphicFramePr>
          <p:xfrm>
            <a:off x="1584" y="1296"/>
            <a:ext cx="1480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96" name="Equation" r:id="rId7" imgW="1091880" imgH="241200" progId="Equation.3">
                    <p:embed/>
                  </p:oleObj>
                </mc:Choice>
                <mc:Fallback>
                  <p:oleObj name="Equation" r:id="rId7" imgW="109188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4" y="1296"/>
                          <a:ext cx="1480" cy="3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1593903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1" name="Object 46"/>
            <p:cNvGraphicFramePr>
              <a:graphicFrameLocks noChangeAspect="1"/>
            </p:cNvGraphicFramePr>
            <p:nvPr/>
          </p:nvGraphicFramePr>
          <p:xfrm>
            <a:off x="672" y="1296"/>
            <a:ext cx="793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97" name="Equation" r:id="rId9" imgW="647640" imgH="253800" progId="Equation.3">
                    <p:embed/>
                  </p:oleObj>
                </mc:Choice>
                <mc:Fallback>
                  <p:oleObj name="Equation" r:id="rId9" imgW="64764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2" y="1296"/>
                          <a:ext cx="793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1593903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Group 47"/>
          <p:cNvGrpSpPr>
            <a:grpSpLocks/>
          </p:cNvGrpSpPr>
          <p:nvPr/>
        </p:nvGrpSpPr>
        <p:grpSpPr bwMode="auto">
          <a:xfrm>
            <a:off x="925566" y="4764881"/>
            <a:ext cx="5795962" cy="488950"/>
            <a:chOff x="699" y="1690"/>
            <a:chExt cx="3651" cy="308"/>
          </a:xfrm>
        </p:grpSpPr>
        <p:graphicFrame>
          <p:nvGraphicFramePr>
            <p:cNvPr id="4098" name="Object 48"/>
            <p:cNvGraphicFramePr>
              <a:graphicFrameLocks noChangeAspect="1"/>
            </p:cNvGraphicFramePr>
            <p:nvPr/>
          </p:nvGraphicFramePr>
          <p:xfrm>
            <a:off x="1974" y="1690"/>
            <a:ext cx="2376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98" name="Equation" r:id="rId11" imgW="1854000" imgH="228600" progId="Equation.3">
                    <p:embed/>
                  </p:oleObj>
                </mc:Choice>
                <mc:Fallback>
                  <p:oleObj name="Equation" r:id="rId11" imgW="18540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74" y="1690"/>
                          <a:ext cx="2376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1593903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99" name="Object 49"/>
            <p:cNvGraphicFramePr>
              <a:graphicFrameLocks noChangeAspect="1"/>
            </p:cNvGraphicFramePr>
            <p:nvPr/>
          </p:nvGraphicFramePr>
          <p:xfrm>
            <a:off x="699" y="1699"/>
            <a:ext cx="1124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799" name="Equation" r:id="rId13" imgW="927000" imgH="253800" progId="Equation.3">
                    <p:embed/>
                  </p:oleObj>
                </mc:Choice>
                <mc:Fallback>
                  <p:oleObj name="Equation" r:id="rId13" imgW="92700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9" y="1699"/>
                          <a:ext cx="1124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1593903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034" name="Text Box 50"/>
          <p:cNvSpPr txBox="1">
            <a:spLocks noChangeArrowheads="1"/>
          </p:cNvSpPr>
          <p:nvPr/>
        </p:nvSpPr>
        <p:spPr bwMode="auto">
          <a:xfrm>
            <a:off x="1773932" y="5531075"/>
            <a:ext cx="6048375" cy="585788"/>
          </a:xfrm>
          <a:prstGeom prst="rect">
            <a:avLst/>
          </a:prstGeom>
          <a:noFill/>
          <a:ln w="31750">
            <a:noFill/>
            <a:miter lim="800000"/>
            <a:headEnd/>
            <a:tailEnd type="none" w="sm" len="lg"/>
          </a:ln>
          <a:effectLst/>
        </p:spPr>
        <p:txBody>
          <a:bodyPr>
            <a:spAutoFit/>
          </a:bodyPr>
          <a:lstStyle/>
          <a:p>
            <a:pPr>
              <a:lnSpc>
                <a:spcPct val="135000"/>
              </a:lnSpc>
              <a:defRPr/>
            </a:pPr>
            <a:r>
              <a:rPr lang="en-US" altLang="zh-CN" b="0" i="1" dirty="0" err="1">
                <a:solidFill>
                  <a:schemeClr val="tx2"/>
                </a:solidFill>
              </a:rPr>
              <a:t>F</a:t>
            </a:r>
            <a:r>
              <a:rPr lang="en-US" altLang="zh-CN" b="0" i="1" baseline="-25000" dirty="0" err="1">
                <a:solidFill>
                  <a:schemeClr val="tx2"/>
                </a:solidFill>
              </a:rPr>
              <a:t>Ax</a:t>
            </a:r>
            <a:r>
              <a:rPr lang="en-US" altLang="zh-CN" dirty="0">
                <a:solidFill>
                  <a:schemeClr val="tx2"/>
                </a:solidFill>
              </a:rPr>
              <a:t>=</a:t>
            </a:r>
            <a:r>
              <a:rPr lang="en-US" altLang="zh-CN" b="0" dirty="0">
                <a:solidFill>
                  <a:schemeClr val="tx2"/>
                </a:solidFill>
              </a:rPr>
              <a:t> </a:t>
            </a:r>
            <a:r>
              <a:rPr lang="zh-CN" altLang="en-US" b="0" dirty="0">
                <a:solidFill>
                  <a:schemeClr val="tx2"/>
                </a:solidFill>
              </a:rPr>
              <a:t>－</a:t>
            </a:r>
            <a:r>
              <a:rPr lang="en-US" altLang="zh-CN" b="0" dirty="0">
                <a:solidFill>
                  <a:schemeClr val="tx2"/>
                </a:solidFill>
              </a:rPr>
              <a:t>2 </a:t>
            </a:r>
            <a:r>
              <a:rPr lang="en-US" altLang="zh-CN" b="0" dirty="0" err="1">
                <a:solidFill>
                  <a:schemeClr val="tx2"/>
                </a:solidFill>
              </a:rPr>
              <a:t>kN</a:t>
            </a:r>
            <a:r>
              <a:rPr lang="zh-CN" altLang="en-US" b="0" dirty="0">
                <a:solidFill>
                  <a:schemeClr val="tx2"/>
                </a:solidFill>
              </a:rPr>
              <a:t>，</a:t>
            </a:r>
            <a:r>
              <a:rPr lang="en-US" altLang="zh-CN" b="0" i="1" dirty="0" err="1">
                <a:solidFill>
                  <a:schemeClr val="tx2"/>
                </a:solidFill>
              </a:rPr>
              <a:t>F</a:t>
            </a:r>
            <a:r>
              <a:rPr lang="en-US" altLang="zh-CN" b="0" i="1" baseline="-25000" dirty="0" err="1">
                <a:solidFill>
                  <a:schemeClr val="tx2"/>
                </a:solidFill>
              </a:rPr>
              <a:t>Ay</a:t>
            </a:r>
            <a:r>
              <a:rPr lang="en-US" altLang="zh-CN" dirty="0">
                <a:solidFill>
                  <a:schemeClr val="tx2"/>
                </a:solidFill>
              </a:rPr>
              <a:t>= </a:t>
            </a:r>
            <a:r>
              <a:rPr lang="en-US" altLang="zh-CN" b="0" dirty="0">
                <a:solidFill>
                  <a:schemeClr val="tx2"/>
                </a:solidFill>
              </a:rPr>
              <a:t>2 </a:t>
            </a:r>
            <a:r>
              <a:rPr lang="en-US" altLang="zh-CN" b="0" dirty="0" err="1">
                <a:solidFill>
                  <a:schemeClr val="tx2"/>
                </a:solidFill>
              </a:rPr>
              <a:t>kN</a:t>
            </a:r>
            <a:r>
              <a:rPr lang="zh-CN" altLang="en-US" dirty="0">
                <a:solidFill>
                  <a:schemeClr val="tx2"/>
                </a:solidFill>
                <a:latin typeface="宋体" pitchFamily="2" charset="-122"/>
              </a:rPr>
              <a:t>，</a:t>
            </a:r>
            <a:r>
              <a:rPr lang="en-US" altLang="zh-CN" b="0" i="1" dirty="0">
                <a:solidFill>
                  <a:schemeClr val="tx2"/>
                </a:solidFill>
              </a:rPr>
              <a:t>F</a:t>
            </a:r>
            <a:r>
              <a:rPr lang="en-US" altLang="zh-CN" b="0" i="1" baseline="-25000" dirty="0">
                <a:solidFill>
                  <a:schemeClr val="tx2"/>
                </a:solidFill>
              </a:rPr>
              <a:t>B </a:t>
            </a:r>
            <a:r>
              <a:rPr lang="en-US" altLang="zh-CN" dirty="0">
                <a:solidFill>
                  <a:schemeClr val="tx2"/>
                </a:solidFill>
              </a:rPr>
              <a:t>=</a:t>
            </a:r>
            <a:r>
              <a:rPr lang="en-US" altLang="zh-CN" b="0" dirty="0">
                <a:solidFill>
                  <a:schemeClr val="tx2"/>
                </a:solidFill>
              </a:rPr>
              <a:t> 2 </a:t>
            </a:r>
            <a:r>
              <a:rPr lang="en-US" altLang="zh-CN" b="0" dirty="0" err="1">
                <a:solidFill>
                  <a:schemeClr val="tx2"/>
                </a:solidFill>
              </a:rPr>
              <a:t>kN</a:t>
            </a:r>
            <a:endParaRPr lang="en-US" altLang="zh-CN" b="0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0912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1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2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95" grpId="0" autoUpdateAnimBg="0"/>
      <p:bldP spid="41096" grpId="0" animBg="1" autoUpdateAnimBg="0"/>
      <p:bldP spid="41133" grpId="0" autoUpdateAnimBg="0"/>
      <p:bldP spid="42034" grpId="0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35" name="Text Box 51"/>
          <p:cNvSpPr txBox="1">
            <a:spLocks noChangeArrowheads="1"/>
          </p:cNvSpPr>
          <p:nvPr/>
        </p:nvSpPr>
        <p:spPr bwMode="auto">
          <a:xfrm>
            <a:off x="765968" y="371475"/>
            <a:ext cx="4081567" cy="59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取节点</a:t>
            </a:r>
            <a:r>
              <a:rPr lang="en-US" altLang="zh-CN" b="0" i="1" dirty="0">
                <a:latin typeface="+mn-lt"/>
                <a:ea typeface="楷体" panose="02010609060101010101" pitchFamily="49" charset="-122"/>
              </a:rPr>
              <a:t>A</a:t>
            </a:r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受力分析如图。</a:t>
            </a:r>
          </a:p>
        </p:txBody>
      </p:sp>
      <p:grpSp>
        <p:nvGrpSpPr>
          <p:cNvPr id="2" name="Group 52"/>
          <p:cNvGrpSpPr>
            <a:grpSpLocks/>
          </p:cNvGrpSpPr>
          <p:nvPr/>
        </p:nvGrpSpPr>
        <p:grpSpPr bwMode="auto">
          <a:xfrm>
            <a:off x="981075" y="1108077"/>
            <a:ext cx="2273301" cy="1778000"/>
            <a:chOff x="200" y="1180"/>
            <a:chExt cx="1432" cy="1120"/>
          </a:xfrm>
        </p:grpSpPr>
        <p:sp>
          <p:nvSpPr>
            <p:cNvPr id="5188" name="Line 53"/>
            <p:cNvSpPr>
              <a:spLocks noChangeAspect="1" noChangeShapeType="1"/>
            </p:cNvSpPr>
            <p:nvPr/>
          </p:nvSpPr>
          <p:spPr bwMode="auto">
            <a:xfrm rot="10800000" flipH="1">
              <a:off x="844" y="1263"/>
              <a:ext cx="461" cy="461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89" name="Line 54"/>
            <p:cNvSpPr>
              <a:spLocks noChangeShapeType="1"/>
            </p:cNvSpPr>
            <p:nvPr/>
          </p:nvSpPr>
          <p:spPr bwMode="auto">
            <a:xfrm rot="10769323" flipH="1">
              <a:off x="231" y="1733"/>
              <a:ext cx="576" cy="1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90" name="Line 55"/>
            <p:cNvSpPr>
              <a:spLocks noChangeShapeType="1"/>
            </p:cNvSpPr>
            <p:nvPr/>
          </p:nvSpPr>
          <p:spPr bwMode="auto">
            <a:xfrm>
              <a:off x="836" y="1730"/>
              <a:ext cx="635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91" name="Oval 56"/>
            <p:cNvSpPr>
              <a:spLocks noChangeArrowheads="1"/>
            </p:cNvSpPr>
            <p:nvPr/>
          </p:nvSpPr>
          <p:spPr bwMode="auto">
            <a:xfrm>
              <a:off x="812" y="1706"/>
              <a:ext cx="48" cy="48"/>
            </a:xfrm>
            <a:prstGeom prst="ellipse">
              <a:avLst/>
            </a:prstGeom>
            <a:solidFill>
              <a:srgbClr val="969696"/>
            </a:solidFill>
            <a:ln w="1905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2041" name="Text Box 57"/>
            <p:cNvSpPr txBox="1">
              <a:spLocks noChangeArrowheads="1"/>
            </p:cNvSpPr>
            <p:nvPr/>
          </p:nvSpPr>
          <p:spPr bwMode="auto">
            <a:xfrm>
              <a:off x="200" y="1659"/>
              <a:ext cx="337" cy="290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2000" b="1" i="1" dirty="0" err="1">
                  <a:solidFill>
                    <a:srgbClr val="FF3D3D"/>
                  </a:solidFill>
                </a:rPr>
                <a:t>F</a:t>
              </a:r>
              <a:r>
                <a:rPr lang="en-US" altLang="zh-CN" sz="2000" b="0" i="1" baseline="-25000" dirty="0" err="1">
                  <a:solidFill>
                    <a:srgbClr val="FF3D3D"/>
                  </a:solidFill>
                </a:rPr>
                <a:t>Ax</a:t>
              </a:r>
              <a:endParaRPr lang="en-US" altLang="zh-CN" sz="2000" b="0" i="1" dirty="0">
                <a:solidFill>
                  <a:srgbClr val="FF3D3D"/>
                </a:solidFill>
                <a:latin typeface="宋体" pitchFamily="2" charset="-122"/>
              </a:endParaRPr>
            </a:p>
          </p:txBody>
        </p:sp>
        <p:sp>
          <p:nvSpPr>
            <p:cNvPr id="42042" name="Text Box 58"/>
            <p:cNvSpPr txBox="1">
              <a:spLocks noChangeArrowheads="1"/>
            </p:cNvSpPr>
            <p:nvPr/>
          </p:nvSpPr>
          <p:spPr bwMode="auto">
            <a:xfrm>
              <a:off x="834" y="1997"/>
              <a:ext cx="332" cy="290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2000" i="1" dirty="0" err="1">
                  <a:solidFill>
                    <a:srgbClr val="FF3D3D"/>
                  </a:solidFill>
                </a:rPr>
                <a:t>F</a:t>
              </a:r>
              <a:r>
                <a:rPr lang="en-US" altLang="zh-CN" sz="2000" b="0" i="1" baseline="-25000" dirty="0" err="1">
                  <a:solidFill>
                    <a:srgbClr val="FF3D3D"/>
                  </a:solidFill>
                </a:rPr>
                <a:t>Ay</a:t>
              </a:r>
              <a:endParaRPr lang="en-US" altLang="zh-CN" sz="2000" b="0" i="1" dirty="0">
                <a:solidFill>
                  <a:srgbClr val="FF3D3D"/>
                </a:solidFill>
                <a:latin typeface="宋体" pitchFamily="2" charset="-122"/>
              </a:endParaRPr>
            </a:p>
          </p:txBody>
        </p:sp>
        <p:sp>
          <p:nvSpPr>
            <p:cNvPr id="42043" name="Text Box 59"/>
            <p:cNvSpPr txBox="1">
              <a:spLocks noChangeArrowheads="1"/>
            </p:cNvSpPr>
            <p:nvPr/>
          </p:nvSpPr>
          <p:spPr bwMode="auto">
            <a:xfrm>
              <a:off x="667" y="1441"/>
              <a:ext cx="224" cy="290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2000" i="1" dirty="0"/>
                <a:t>A</a:t>
              </a:r>
              <a:endParaRPr lang="en-US" altLang="zh-CN" sz="2000" i="1" dirty="0">
                <a:latin typeface="宋体" pitchFamily="2" charset="-122"/>
              </a:endParaRPr>
            </a:p>
          </p:txBody>
        </p:sp>
        <p:sp>
          <p:nvSpPr>
            <p:cNvPr id="42044" name="Text Box 60"/>
            <p:cNvSpPr txBox="1">
              <a:spLocks noChangeArrowheads="1"/>
            </p:cNvSpPr>
            <p:nvPr/>
          </p:nvSpPr>
          <p:spPr bwMode="auto">
            <a:xfrm>
              <a:off x="1270" y="1699"/>
              <a:ext cx="362" cy="290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2000" b="1" i="1" dirty="0">
                  <a:solidFill>
                    <a:srgbClr val="FF3D3D"/>
                  </a:solidFill>
                </a:rPr>
                <a:t>F</a:t>
              </a:r>
              <a:r>
                <a:rPr lang="en-US" altLang="zh-CN" sz="2000" b="0" i="1" baseline="-25000" dirty="0">
                  <a:solidFill>
                    <a:srgbClr val="FF3D3D"/>
                  </a:solidFill>
                </a:rPr>
                <a:t>AC</a:t>
              </a:r>
              <a:endParaRPr lang="en-US" altLang="zh-CN" sz="2000" b="0" i="1" dirty="0">
                <a:solidFill>
                  <a:srgbClr val="FF3D3D"/>
                </a:solidFill>
                <a:latin typeface="宋体" pitchFamily="2" charset="-122"/>
              </a:endParaRPr>
            </a:p>
          </p:txBody>
        </p:sp>
        <p:sp>
          <p:nvSpPr>
            <p:cNvPr id="42045" name="Text Box 61"/>
            <p:cNvSpPr txBox="1">
              <a:spLocks noChangeArrowheads="1"/>
            </p:cNvSpPr>
            <p:nvPr/>
          </p:nvSpPr>
          <p:spPr bwMode="auto">
            <a:xfrm>
              <a:off x="1261" y="1180"/>
              <a:ext cx="356" cy="290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2000" b="1" i="1" dirty="0">
                  <a:solidFill>
                    <a:srgbClr val="FF3D3D"/>
                  </a:solidFill>
                </a:rPr>
                <a:t>F</a:t>
              </a:r>
              <a:r>
                <a:rPr lang="en-US" altLang="zh-CN" sz="2000" b="0" i="1" baseline="-25000" dirty="0">
                  <a:solidFill>
                    <a:srgbClr val="FF3D3D"/>
                  </a:solidFill>
                </a:rPr>
                <a:t>AF</a:t>
              </a:r>
              <a:endParaRPr lang="en-US" altLang="zh-CN" sz="2000" b="0" i="1" dirty="0">
                <a:solidFill>
                  <a:srgbClr val="FF3D3D"/>
                </a:solidFill>
                <a:latin typeface="宋体" pitchFamily="2" charset="-122"/>
              </a:endParaRPr>
            </a:p>
          </p:txBody>
        </p:sp>
        <p:sp>
          <p:nvSpPr>
            <p:cNvPr id="5197" name="Line 62"/>
            <p:cNvSpPr>
              <a:spLocks noChangeShapeType="1"/>
            </p:cNvSpPr>
            <p:nvPr/>
          </p:nvSpPr>
          <p:spPr bwMode="auto">
            <a:xfrm flipV="1">
              <a:off x="835" y="1733"/>
              <a:ext cx="0" cy="567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63"/>
          <p:cNvGrpSpPr>
            <a:grpSpLocks/>
          </p:cNvGrpSpPr>
          <p:nvPr/>
        </p:nvGrpSpPr>
        <p:grpSpPr bwMode="auto">
          <a:xfrm>
            <a:off x="3407528" y="2305910"/>
            <a:ext cx="4656137" cy="493713"/>
            <a:chOff x="2531" y="1248"/>
            <a:chExt cx="2933" cy="311"/>
          </a:xfrm>
        </p:grpSpPr>
        <p:graphicFrame>
          <p:nvGraphicFramePr>
            <p:cNvPr id="5132" name="Object 64"/>
            <p:cNvGraphicFramePr>
              <a:graphicFrameLocks noChangeAspect="1"/>
            </p:cNvGraphicFramePr>
            <p:nvPr/>
          </p:nvGraphicFramePr>
          <p:xfrm>
            <a:off x="3312" y="1248"/>
            <a:ext cx="2152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42" name="Equation" r:id="rId3" imgW="1714320" imgH="228600" progId="Equation.3">
                    <p:embed/>
                  </p:oleObj>
                </mc:Choice>
                <mc:Fallback>
                  <p:oleObj name="Equation" r:id="rId3" imgW="171432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1248"/>
                          <a:ext cx="2152" cy="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1593903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33" name="Object 13"/>
            <p:cNvGraphicFramePr>
              <a:graphicFrameLocks noChangeAspect="1"/>
            </p:cNvGraphicFramePr>
            <p:nvPr/>
          </p:nvGraphicFramePr>
          <p:xfrm>
            <a:off x="2531" y="1259"/>
            <a:ext cx="752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43" name="Equation" r:id="rId5" imgW="634680" imgH="253800" progId="Equation.3">
                    <p:embed/>
                  </p:oleObj>
                </mc:Choice>
                <mc:Fallback>
                  <p:oleObj name="Equation" r:id="rId5" imgW="63468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31" y="1259"/>
                          <a:ext cx="752" cy="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1593903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66"/>
          <p:cNvGrpSpPr>
            <a:grpSpLocks/>
          </p:cNvGrpSpPr>
          <p:nvPr/>
        </p:nvGrpSpPr>
        <p:grpSpPr bwMode="auto">
          <a:xfrm>
            <a:off x="3378994" y="2879021"/>
            <a:ext cx="4054475" cy="508000"/>
            <a:chOff x="2519" y="2054"/>
            <a:chExt cx="2554" cy="320"/>
          </a:xfrm>
        </p:grpSpPr>
        <p:graphicFrame>
          <p:nvGraphicFramePr>
            <p:cNvPr id="5130" name="Object 67"/>
            <p:cNvGraphicFramePr>
              <a:graphicFrameLocks noChangeAspect="1"/>
            </p:cNvGraphicFramePr>
            <p:nvPr/>
          </p:nvGraphicFramePr>
          <p:xfrm>
            <a:off x="3408" y="2064"/>
            <a:ext cx="1665" cy="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44" name="Equation" r:id="rId7" imgW="1346040" imgH="241200" progId="Equation.3">
                    <p:embed/>
                  </p:oleObj>
                </mc:Choice>
                <mc:Fallback>
                  <p:oleObj name="Equation" r:id="rId7" imgW="134604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8" y="2064"/>
                          <a:ext cx="1665" cy="3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1593903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31" name="Object 11"/>
            <p:cNvGraphicFramePr>
              <a:graphicFrameLocks noChangeAspect="1"/>
            </p:cNvGraphicFramePr>
            <p:nvPr/>
          </p:nvGraphicFramePr>
          <p:xfrm>
            <a:off x="2519" y="2054"/>
            <a:ext cx="793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45" name="Equation" r:id="rId9" imgW="647640" imgH="253800" progId="Equation.3">
                    <p:embed/>
                  </p:oleObj>
                </mc:Choice>
                <mc:Fallback>
                  <p:oleObj name="Equation" r:id="rId9" imgW="64764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9" y="2054"/>
                          <a:ext cx="793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1593903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69"/>
          <p:cNvGrpSpPr>
            <a:grpSpLocks/>
          </p:cNvGrpSpPr>
          <p:nvPr/>
        </p:nvGrpSpPr>
        <p:grpSpPr bwMode="auto">
          <a:xfrm>
            <a:off x="3673476" y="3444311"/>
            <a:ext cx="3833812" cy="479425"/>
            <a:chOff x="2934" y="3277"/>
            <a:chExt cx="2415" cy="302"/>
          </a:xfrm>
        </p:grpSpPr>
        <p:graphicFrame>
          <p:nvGraphicFramePr>
            <p:cNvPr id="5128" name="Object 70"/>
            <p:cNvGraphicFramePr>
              <a:graphicFrameLocks noChangeAspect="1"/>
            </p:cNvGraphicFramePr>
            <p:nvPr/>
          </p:nvGraphicFramePr>
          <p:xfrm>
            <a:off x="2934" y="3277"/>
            <a:ext cx="1327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46" name="Equation" r:id="rId11" imgW="1079280" imgH="241200" progId="Equation.3">
                    <p:embed/>
                  </p:oleObj>
                </mc:Choice>
                <mc:Fallback>
                  <p:oleObj name="Equation" r:id="rId11" imgW="107928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34" y="3277"/>
                          <a:ext cx="1327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1593903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9" name="Object 71"/>
            <p:cNvGraphicFramePr>
              <a:graphicFrameLocks noChangeAspect="1"/>
            </p:cNvGraphicFramePr>
            <p:nvPr/>
          </p:nvGraphicFramePr>
          <p:xfrm>
            <a:off x="4320" y="3296"/>
            <a:ext cx="1029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47" name="Equation" r:id="rId13" imgW="761760" imgH="228600" progId="Equation.3">
                    <p:embed/>
                  </p:oleObj>
                </mc:Choice>
                <mc:Fallback>
                  <p:oleObj name="Equation" r:id="rId13" imgW="76176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3296"/>
                          <a:ext cx="1029" cy="2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1593903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048" name="Text Box 40"/>
          <p:cNvSpPr txBox="1">
            <a:spLocks noChangeArrowheads="1"/>
          </p:cNvSpPr>
          <p:nvPr/>
        </p:nvSpPr>
        <p:spPr bwMode="auto">
          <a:xfrm>
            <a:off x="3351902" y="3919454"/>
            <a:ext cx="4081567" cy="59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取节点</a:t>
            </a:r>
            <a:r>
              <a:rPr lang="en-US" altLang="zh-CN" b="0" i="1" dirty="0">
                <a:latin typeface="+mn-lt"/>
                <a:ea typeface="楷体" panose="02010609060101010101" pitchFamily="49" charset="-122"/>
              </a:rPr>
              <a:t>F</a:t>
            </a:r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受力分析如图。</a:t>
            </a:r>
          </a:p>
        </p:txBody>
      </p:sp>
      <p:grpSp>
        <p:nvGrpSpPr>
          <p:cNvPr id="7" name="Group 52"/>
          <p:cNvGrpSpPr>
            <a:grpSpLocks/>
          </p:cNvGrpSpPr>
          <p:nvPr/>
        </p:nvGrpSpPr>
        <p:grpSpPr bwMode="auto">
          <a:xfrm>
            <a:off x="1035530" y="3217862"/>
            <a:ext cx="2106612" cy="1538288"/>
            <a:chOff x="174" y="2872"/>
            <a:chExt cx="1327" cy="969"/>
          </a:xfrm>
        </p:grpSpPr>
        <p:sp>
          <p:nvSpPr>
            <p:cNvPr id="5145" name="Line 53"/>
            <p:cNvSpPr>
              <a:spLocks noChangeShapeType="1"/>
            </p:cNvSpPr>
            <p:nvPr/>
          </p:nvSpPr>
          <p:spPr bwMode="auto">
            <a:xfrm>
              <a:off x="788" y="3185"/>
              <a:ext cx="0" cy="544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46" name="Line 54"/>
            <p:cNvSpPr>
              <a:spLocks noChangeShapeType="1"/>
            </p:cNvSpPr>
            <p:nvPr/>
          </p:nvSpPr>
          <p:spPr bwMode="auto">
            <a:xfrm>
              <a:off x="788" y="3185"/>
              <a:ext cx="612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47" name="Line 55"/>
            <p:cNvSpPr>
              <a:spLocks noChangeShapeType="1"/>
            </p:cNvSpPr>
            <p:nvPr/>
          </p:nvSpPr>
          <p:spPr bwMode="auto">
            <a:xfrm flipH="1">
              <a:off x="308" y="3185"/>
              <a:ext cx="480" cy="48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48" name="Oval 56"/>
            <p:cNvSpPr>
              <a:spLocks noChangeArrowheads="1"/>
            </p:cNvSpPr>
            <p:nvPr/>
          </p:nvSpPr>
          <p:spPr bwMode="auto">
            <a:xfrm>
              <a:off x="764" y="3161"/>
              <a:ext cx="48" cy="48"/>
            </a:xfrm>
            <a:prstGeom prst="ellipse">
              <a:avLst/>
            </a:prstGeom>
            <a:solidFill>
              <a:srgbClr val="969696"/>
            </a:solidFill>
            <a:ln w="1905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3065" name="Text Box 57"/>
            <p:cNvSpPr txBox="1">
              <a:spLocks noChangeArrowheads="1"/>
            </p:cNvSpPr>
            <p:nvPr/>
          </p:nvSpPr>
          <p:spPr bwMode="auto">
            <a:xfrm>
              <a:off x="1145" y="2872"/>
              <a:ext cx="356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2000" b="1" i="1" dirty="0">
                  <a:solidFill>
                    <a:srgbClr val="FF3D3D"/>
                  </a:solidFill>
                </a:rPr>
                <a:t>F</a:t>
              </a:r>
              <a:r>
                <a:rPr lang="en-US" altLang="zh-CN" sz="2000" b="0" i="1" baseline="-25000" dirty="0">
                  <a:solidFill>
                    <a:srgbClr val="FF3D3D"/>
                  </a:solidFill>
                </a:rPr>
                <a:t>FE</a:t>
              </a:r>
            </a:p>
          </p:txBody>
        </p:sp>
        <p:sp>
          <p:nvSpPr>
            <p:cNvPr id="43066" name="Text Box 58"/>
            <p:cNvSpPr txBox="1">
              <a:spLocks noChangeArrowheads="1"/>
            </p:cNvSpPr>
            <p:nvPr/>
          </p:nvSpPr>
          <p:spPr bwMode="auto">
            <a:xfrm>
              <a:off x="174" y="3183"/>
              <a:ext cx="342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2000" b="1" i="1" dirty="0">
                  <a:solidFill>
                    <a:srgbClr val="FF3D3D"/>
                  </a:solidFill>
                </a:rPr>
                <a:t>F</a:t>
              </a:r>
              <a:r>
                <a:rPr lang="en-US" altLang="zh-CN" sz="2000" b="0" i="1" baseline="-25000" dirty="0">
                  <a:solidFill>
                    <a:srgbClr val="FF3D3D"/>
                  </a:solidFill>
                </a:rPr>
                <a:t>FA</a:t>
              </a:r>
            </a:p>
          </p:txBody>
        </p:sp>
        <p:sp>
          <p:nvSpPr>
            <p:cNvPr id="43067" name="Text Box 59"/>
            <p:cNvSpPr txBox="1">
              <a:spLocks noChangeArrowheads="1"/>
            </p:cNvSpPr>
            <p:nvPr/>
          </p:nvSpPr>
          <p:spPr bwMode="auto">
            <a:xfrm>
              <a:off x="764" y="3549"/>
              <a:ext cx="362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2000" b="1" i="1" dirty="0">
                  <a:solidFill>
                    <a:srgbClr val="FF3D3D"/>
                  </a:solidFill>
                </a:rPr>
                <a:t>F</a:t>
              </a:r>
              <a:r>
                <a:rPr lang="en-US" altLang="zh-CN" sz="2000" b="0" i="1" baseline="-25000" dirty="0">
                  <a:solidFill>
                    <a:srgbClr val="FF3D3D"/>
                  </a:solidFill>
                </a:rPr>
                <a:t>FC</a:t>
              </a:r>
            </a:p>
          </p:txBody>
        </p:sp>
        <p:sp>
          <p:nvSpPr>
            <p:cNvPr id="43068" name="Text Box 60"/>
            <p:cNvSpPr txBox="1">
              <a:spLocks noChangeArrowheads="1"/>
            </p:cNvSpPr>
            <p:nvPr/>
          </p:nvSpPr>
          <p:spPr bwMode="auto">
            <a:xfrm>
              <a:off x="610" y="2928"/>
              <a:ext cx="224" cy="290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2000" i="1" dirty="0"/>
                <a:t>F</a:t>
              </a:r>
              <a:endParaRPr lang="en-US" altLang="zh-CN" sz="2000" i="1" dirty="0">
                <a:latin typeface="宋体" pitchFamily="2" charset="-122"/>
              </a:endParaRPr>
            </a:p>
          </p:txBody>
        </p:sp>
      </p:grpSp>
      <p:grpSp>
        <p:nvGrpSpPr>
          <p:cNvPr id="8" name="Group 61"/>
          <p:cNvGrpSpPr>
            <a:grpSpLocks/>
          </p:cNvGrpSpPr>
          <p:nvPr/>
        </p:nvGrpSpPr>
        <p:grpSpPr bwMode="auto">
          <a:xfrm>
            <a:off x="3219914" y="4525195"/>
            <a:ext cx="4125913" cy="498475"/>
            <a:chOff x="2427" y="1376"/>
            <a:chExt cx="2599" cy="314"/>
          </a:xfrm>
        </p:grpSpPr>
        <p:graphicFrame>
          <p:nvGraphicFramePr>
            <p:cNvPr id="5126" name="Object 62"/>
            <p:cNvGraphicFramePr>
              <a:graphicFrameLocks noChangeAspect="1"/>
            </p:cNvGraphicFramePr>
            <p:nvPr/>
          </p:nvGraphicFramePr>
          <p:xfrm>
            <a:off x="2427" y="1390"/>
            <a:ext cx="752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48" name="Equation" r:id="rId15" imgW="634680" imgH="253800" progId="Equation.3">
                    <p:embed/>
                  </p:oleObj>
                </mc:Choice>
                <mc:Fallback>
                  <p:oleObj name="Equation" r:id="rId15" imgW="63468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7" y="1390"/>
                          <a:ext cx="752" cy="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1593903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7" name="Object 63"/>
            <p:cNvGraphicFramePr>
              <a:graphicFrameLocks noChangeAspect="1"/>
            </p:cNvGraphicFramePr>
            <p:nvPr/>
          </p:nvGraphicFramePr>
          <p:xfrm>
            <a:off x="3312" y="1376"/>
            <a:ext cx="1714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49" name="Equation" r:id="rId17" imgW="1346040" imgH="215640" progId="Equation.3">
                    <p:embed/>
                  </p:oleObj>
                </mc:Choice>
                <mc:Fallback>
                  <p:oleObj name="Equation" r:id="rId17" imgW="13460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1376"/>
                          <a:ext cx="1714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1593903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64"/>
          <p:cNvGrpSpPr>
            <a:grpSpLocks/>
          </p:cNvGrpSpPr>
          <p:nvPr/>
        </p:nvGrpSpPr>
        <p:grpSpPr bwMode="auto">
          <a:xfrm>
            <a:off x="3219914" y="5028433"/>
            <a:ext cx="4327525" cy="488950"/>
            <a:chOff x="2485" y="2184"/>
            <a:chExt cx="2726" cy="308"/>
          </a:xfrm>
        </p:grpSpPr>
        <p:graphicFrame>
          <p:nvGraphicFramePr>
            <p:cNvPr id="5124" name="Object 65"/>
            <p:cNvGraphicFramePr>
              <a:graphicFrameLocks noChangeAspect="1"/>
            </p:cNvGraphicFramePr>
            <p:nvPr/>
          </p:nvGraphicFramePr>
          <p:xfrm>
            <a:off x="2485" y="2184"/>
            <a:ext cx="793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50" name="Equation" r:id="rId19" imgW="647640" imgH="253800" progId="Equation.3">
                    <p:embed/>
                  </p:oleObj>
                </mc:Choice>
                <mc:Fallback>
                  <p:oleObj name="Equation" r:id="rId19" imgW="64764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5" y="2184"/>
                          <a:ext cx="793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1593903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5" name="Object 66"/>
            <p:cNvGraphicFramePr>
              <a:graphicFrameLocks noChangeAspect="1"/>
            </p:cNvGraphicFramePr>
            <p:nvPr/>
          </p:nvGraphicFramePr>
          <p:xfrm>
            <a:off x="3408" y="2192"/>
            <a:ext cx="1803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51" name="Equation" r:id="rId21" imgW="1460160" imgH="228600" progId="Equation.3">
                    <p:embed/>
                  </p:oleObj>
                </mc:Choice>
                <mc:Fallback>
                  <p:oleObj name="Equation" r:id="rId21" imgW="146016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8" y="2192"/>
                          <a:ext cx="1803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1593903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67"/>
          <p:cNvGrpSpPr>
            <a:grpSpLocks/>
          </p:cNvGrpSpPr>
          <p:nvPr/>
        </p:nvGrpSpPr>
        <p:grpSpPr bwMode="auto">
          <a:xfrm>
            <a:off x="3474245" y="5662545"/>
            <a:ext cx="3643313" cy="473075"/>
            <a:chOff x="2753" y="3308"/>
            <a:chExt cx="2295" cy="298"/>
          </a:xfrm>
        </p:grpSpPr>
        <p:graphicFrame>
          <p:nvGraphicFramePr>
            <p:cNvPr id="5122" name="Object 68"/>
            <p:cNvGraphicFramePr>
              <a:graphicFrameLocks noChangeAspect="1"/>
            </p:cNvGraphicFramePr>
            <p:nvPr/>
          </p:nvGraphicFramePr>
          <p:xfrm>
            <a:off x="2753" y="3314"/>
            <a:ext cx="1171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52" name="Equation" r:id="rId23" imgW="888840" imgH="215640" progId="Equation.3">
                    <p:embed/>
                  </p:oleObj>
                </mc:Choice>
                <mc:Fallback>
                  <p:oleObj name="Equation" r:id="rId23" imgW="8888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53" y="3314"/>
                          <a:ext cx="1171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1593903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23" name="Object 69"/>
            <p:cNvGraphicFramePr>
              <a:graphicFrameLocks noChangeAspect="1"/>
            </p:cNvGraphicFramePr>
            <p:nvPr/>
          </p:nvGraphicFramePr>
          <p:xfrm>
            <a:off x="4033" y="3308"/>
            <a:ext cx="1015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853" name="Equation" r:id="rId25" imgW="761760" imgH="228600" progId="Equation.3">
                    <p:embed/>
                  </p:oleObj>
                </mc:Choice>
                <mc:Fallback>
                  <p:oleObj name="Equation" r:id="rId25" imgW="76176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3" y="3308"/>
                          <a:ext cx="1015" cy="2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1593903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8" name="Group 137"/>
          <p:cNvGrpSpPr>
            <a:grpSpLocks/>
          </p:cNvGrpSpPr>
          <p:nvPr/>
        </p:nvGrpSpPr>
        <p:grpSpPr bwMode="auto">
          <a:xfrm>
            <a:off x="5060952" y="374347"/>
            <a:ext cx="3452811" cy="1849438"/>
            <a:chOff x="2639" y="2976"/>
            <a:chExt cx="2175" cy="1165"/>
          </a:xfrm>
        </p:grpSpPr>
        <p:sp>
          <p:nvSpPr>
            <p:cNvPr id="79" name="Line 138"/>
            <p:cNvSpPr>
              <a:spLocks noChangeShapeType="1"/>
            </p:cNvSpPr>
            <p:nvPr/>
          </p:nvSpPr>
          <p:spPr bwMode="auto">
            <a:xfrm flipV="1">
              <a:off x="4543" y="3311"/>
              <a:ext cx="0" cy="397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Line 139"/>
            <p:cNvSpPr>
              <a:spLocks noChangeShapeType="1"/>
            </p:cNvSpPr>
            <p:nvPr/>
          </p:nvSpPr>
          <p:spPr bwMode="auto">
            <a:xfrm flipV="1">
              <a:off x="3103" y="3279"/>
              <a:ext cx="0" cy="419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Line 140"/>
            <p:cNvSpPr>
              <a:spLocks noChangeShapeType="1"/>
            </p:cNvSpPr>
            <p:nvPr/>
          </p:nvSpPr>
          <p:spPr bwMode="auto">
            <a:xfrm>
              <a:off x="4063" y="3304"/>
              <a:ext cx="384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" name="Line 141"/>
            <p:cNvSpPr>
              <a:spLocks noChangeShapeType="1"/>
            </p:cNvSpPr>
            <p:nvPr/>
          </p:nvSpPr>
          <p:spPr bwMode="auto">
            <a:xfrm>
              <a:off x="3583" y="3688"/>
              <a:ext cx="0" cy="384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3" name="Line 142"/>
            <p:cNvSpPr>
              <a:spLocks noChangeShapeType="1"/>
            </p:cNvSpPr>
            <p:nvPr/>
          </p:nvSpPr>
          <p:spPr bwMode="auto">
            <a:xfrm flipV="1">
              <a:off x="3583" y="3304"/>
              <a:ext cx="48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" name="Line 143"/>
            <p:cNvSpPr>
              <a:spLocks noChangeShapeType="1"/>
            </p:cNvSpPr>
            <p:nvPr/>
          </p:nvSpPr>
          <p:spPr bwMode="auto">
            <a:xfrm>
              <a:off x="3103" y="3704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5" name="Line 144"/>
            <p:cNvSpPr>
              <a:spLocks noChangeShapeType="1"/>
            </p:cNvSpPr>
            <p:nvPr/>
          </p:nvSpPr>
          <p:spPr bwMode="auto">
            <a:xfrm>
              <a:off x="3583" y="3704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" name="Line 145"/>
            <p:cNvSpPr>
              <a:spLocks noChangeShapeType="1"/>
            </p:cNvSpPr>
            <p:nvPr/>
          </p:nvSpPr>
          <p:spPr bwMode="auto">
            <a:xfrm>
              <a:off x="4063" y="3704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" name="Line 146"/>
            <p:cNvSpPr>
              <a:spLocks noChangeShapeType="1"/>
            </p:cNvSpPr>
            <p:nvPr/>
          </p:nvSpPr>
          <p:spPr bwMode="auto">
            <a:xfrm>
              <a:off x="4063" y="3304"/>
              <a:ext cx="480" cy="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" name="Line 147"/>
            <p:cNvSpPr>
              <a:spLocks noChangeShapeType="1"/>
            </p:cNvSpPr>
            <p:nvPr/>
          </p:nvSpPr>
          <p:spPr bwMode="auto">
            <a:xfrm>
              <a:off x="4063" y="3304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" name="Line 148"/>
            <p:cNvSpPr>
              <a:spLocks noChangeShapeType="1"/>
            </p:cNvSpPr>
            <p:nvPr/>
          </p:nvSpPr>
          <p:spPr bwMode="auto">
            <a:xfrm>
              <a:off x="3583" y="3304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/>
            </a:p>
          </p:txBody>
        </p:sp>
        <p:sp>
          <p:nvSpPr>
            <p:cNvPr id="90" name="Line 149"/>
            <p:cNvSpPr>
              <a:spLocks noChangeShapeType="1"/>
            </p:cNvSpPr>
            <p:nvPr/>
          </p:nvSpPr>
          <p:spPr bwMode="auto">
            <a:xfrm>
              <a:off x="3583" y="3304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" name="Line 150"/>
            <p:cNvSpPr>
              <a:spLocks noChangeShapeType="1"/>
            </p:cNvSpPr>
            <p:nvPr/>
          </p:nvSpPr>
          <p:spPr bwMode="auto">
            <a:xfrm flipV="1">
              <a:off x="3103" y="3304"/>
              <a:ext cx="48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" name="Oval 151"/>
            <p:cNvSpPr>
              <a:spLocks noChangeArrowheads="1"/>
            </p:cNvSpPr>
            <p:nvPr/>
          </p:nvSpPr>
          <p:spPr bwMode="auto">
            <a:xfrm>
              <a:off x="3079" y="3675"/>
              <a:ext cx="48" cy="48"/>
            </a:xfrm>
            <a:prstGeom prst="ellipse">
              <a:avLst/>
            </a:prstGeom>
            <a:solidFill>
              <a:srgbClr val="969696"/>
            </a:solidFill>
            <a:ln w="12700" cap="sq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3" name="Oval 152"/>
            <p:cNvSpPr>
              <a:spLocks noChangeArrowheads="1"/>
            </p:cNvSpPr>
            <p:nvPr/>
          </p:nvSpPr>
          <p:spPr bwMode="auto">
            <a:xfrm>
              <a:off x="4517" y="3680"/>
              <a:ext cx="48" cy="48"/>
            </a:xfrm>
            <a:prstGeom prst="ellipse">
              <a:avLst/>
            </a:prstGeom>
            <a:solidFill>
              <a:srgbClr val="969696"/>
            </a:solidFill>
            <a:ln w="12700" cap="sq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4" name="Oval 153"/>
            <p:cNvSpPr>
              <a:spLocks noChangeArrowheads="1"/>
            </p:cNvSpPr>
            <p:nvPr/>
          </p:nvSpPr>
          <p:spPr bwMode="auto">
            <a:xfrm>
              <a:off x="3559" y="3674"/>
              <a:ext cx="48" cy="48"/>
            </a:xfrm>
            <a:prstGeom prst="ellipse">
              <a:avLst/>
            </a:prstGeom>
            <a:solidFill>
              <a:srgbClr val="969696"/>
            </a:solidFill>
            <a:ln w="1905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5" name="Oval 154"/>
            <p:cNvSpPr>
              <a:spLocks noChangeArrowheads="1"/>
            </p:cNvSpPr>
            <p:nvPr/>
          </p:nvSpPr>
          <p:spPr bwMode="auto">
            <a:xfrm>
              <a:off x="4039" y="3280"/>
              <a:ext cx="48" cy="48"/>
            </a:xfrm>
            <a:prstGeom prst="ellipse">
              <a:avLst/>
            </a:prstGeom>
            <a:solidFill>
              <a:srgbClr val="969696"/>
            </a:solidFill>
            <a:ln w="1905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6" name="Oval 155"/>
            <p:cNvSpPr>
              <a:spLocks noChangeArrowheads="1"/>
            </p:cNvSpPr>
            <p:nvPr/>
          </p:nvSpPr>
          <p:spPr bwMode="auto">
            <a:xfrm>
              <a:off x="3559" y="3280"/>
              <a:ext cx="48" cy="48"/>
            </a:xfrm>
            <a:prstGeom prst="ellipse">
              <a:avLst/>
            </a:prstGeom>
            <a:solidFill>
              <a:srgbClr val="969696"/>
            </a:solidFill>
            <a:ln w="1905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7" name="Oval 156"/>
            <p:cNvSpPr>
              <a:spLocks noChangeArrowheads="1"/>
            </p:cNvSpPr>
            <p:nvPr/>
          </p:nvSpPr>
          <p:spPr bwMode="auto">
            <a:xfrm>
              <a:off x="4039" y="3680"/>
              <a:ext cx="48" cy="48"/>
            </a:xfrm>
            <a:prstGeom prst="ellipse">
              <a:avLst/>
            </a:prstGeom>
            <a:solidFill>
              <a:srgbClr val="969696"/>
            </a:solidFill>
            <a:ln w="1905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8" name="Text Box 161"/>
            <p:cNvSpPr txBox="1">
              <a:spLocks noChangeArrowheads="1"/>
            </p:cNvSpPr>
            <p:nvPr/>
          </p:nvSpPr>
          <p:spPr bwMode="auto">
            <a:xfrm>
              <a:off x="3546" y="3849"/>
              <a:ext cx="296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2000" b="1" i="1" dirty="0">
                  <a:solidFill>
                    <a:srgbClr val="FF3D3D"/>
                  </a:solidFill>
                </a:rPr>
                <a:t>F</a:t>
              </a:r>
              <a:r>
                <a:rPr lang="en-US" altLang="zh-CN" sz="2000" b="0" i="1" baseline="-25000" dirty="0">
                  <a:solidFill>
                    <a:srgbClr val="FF3D3D"/>
                  </a:solidFill>
                </a:rPr>
                <a:t>C</a:t>
              </a:r>
            </a:p>
          </p:txBody>
        </p:sp>
        <p:sp>
          <p:nvSpPr>
            <p:cNvPr id="99" name="Text Box 162"/>
            <p:cNvSpPr txBox="1">
              <a:spLocks noChangeArrowheads="1"/>
            </p:cNvSpPr>
            <p:nvPr/>
          </p:nvSpPr>
          <p:spPr bwMode="auto">
            <a:xfrm>
              <a:off x="2998" y="3632"/>
              <a:ext cx="215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2000" b="0" i="1" dirty="0"/>
                <a:t>A</a:t>
              </a:r>
            </a:p>
          </p:txBody>
        </p:sp>
        <p:sp>
          <p:nvSpPr>
            <p:cNvPr id="100" name="Text Box 163"/>
            <p:cNvSpPr txBox="1">
              <a:spLocks noChangeArrowheads="1"/>
            </p:cNvSpPr>
            <p:nvPr/>
          </p:nvSpPr>
          <p:spPr bwMode="auto">
            <a:xfrm>
              <a:off x="4501" y="3579"/>
              <a:ext cx="215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2000" b="0" i="1" dirty="0"/>
                <a:t>B</a:t>
              </a:r>
            </a:p>
          </p:txBody>
        </p:sp>
        <p:sp>
          <p:nvSpPr>
            <p:cNvPr id="101" name="Text Box 164"/>
            <p:cNvSpPr txBox="1">
              <a:spLocks noChangeArrowheads="1"/>
            </p:cNvSpPr>
            <p:nvPr/>
          </p:nvSpPr>
          <p:spPr bwMode="auto">
            <a:xfrm>
              <a:off x="4017" y="3613"/>
              <a:ext cx="233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2000" b="0" i="1" dirty="0"/>
                <a:t>D</a:t>
              </a:r>
            </a:p>
          </p:txBody>
        </p:sp>
        <p:sp>
          <p:nvSpPr>
            <p:cNvPr id="102" name="Text Box 165"/>
            <p:cNvSpPr txBox="1">
              <a:spLocks noChangeArrowheads="1"/>
            </p:cNvSpPr>
            <p:nvPr/>
          </p:nvSpPr>
          <p:spPr bwMode="auto">
            <a:xfrm>
              <a:off x="3581" y="3609"/>
              <a:ext cx="224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2000" b="0" i="1" dirty="0"/>
                <a:t>C</a:t>
              </a:r>
            </a:p>
          </p:txBody>
        </p:sp>
        <p:sp>
          <p:nvSpPr>
            <p:cNvPr id="103" name="Text Box 166"/>
            <p:cNvSpPr txBox="1">
              <a:spLocks noChangeArrowheads="1"/>
            </p:cNvSpPr>
            <p:nvPr/>
          </p:nvSpPr>
          <p:spPr bwMode="auto">
            <a:xfrm>
              <a:off x="3979" y="3005"/>
              <a:ext cx="215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2000" b="0" i="1" dirty="0"/>
                <a:t>E</a:t>
              </a:r>
            </a:p>
          </p:txBody>
        </p:sp>
        <p:sp>
          <p:nvSpPr>
            <p:cNvPr id="104" name="Text Box 167"/>
            <p:cNvSpPr txBox="1">
              <a:spLocks noChangeArrowheads="1"/>
            </p:cNvSpPr>
            <p:nvPr/>
          </p:nvSpPr>
          <p:spPr bwMode="auto">
            <a:xfrm>
              <a:off x="3490" y="3009"/>
              <a:ext cx="215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2000" b="0" i="1" dirty="0"/>
                <a:t>F</a:t>
              </a:r>
            </a:p>
          </p:txBody>
        </p:sp>
        <p:sp>
          <p:nvSpPr>
            <p:cNvPr id="105" name="Text Box 168"/>
            <p:cNvSpPr txBox="1">
              <a:spLocks noChangeArrowheads="1"/>
            </p:cNvSpPr>
            <p:nvPr/>
          </p:nvSpPr>
          <p:spPr bwMode="auto">
            <a:xfrm>
              <a:off x="4180" y="2976"/>
              <a:ext cx="290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2000" b="1" i="1" dirty="0">
                  <a:solidFill>
                    <a:srgbClr val="FF3D3D"/>
                  </a:solidFill>
                </a:rPr>
                <a:t>F</a:t>
              </a:r>
              <a:r>
                <a:rPr lang="en-US" altLang="zh-CN" sz="2000" b="0" i="1" baseline="-25000" dirty="0">
                  <a:solidFill>
                    <a:srgbClr val="FF3D3D"/>
                  </a:solidFill>
                </a:rPr>
                <a:t>E</a:t>
              </a:r>
            </a:p>
          </p:txBody>
        </p:sp>
        <p:sp>
          <p:nvSpPr>
            <p:cNvPr id="106" name="Line 169"/>
            <p:cNvSpPr>
              <a:spLocks noChangeShapeType="1"/>
            </p:cNvSpPr>
            <p:nvPr/>
          </p:nvSpPr>
          <p:spPr bwMode="auto">
            <a:xfrm>
              <a:off x="2639" y="3701"/>
              <a:ext cx="432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" name="Text Box 170"/>
            <p:cNvSpPr txBox="1">
              <a:spLocks noChangeArrowheads="1"/>
            </p:cNvSpPr>
            <p:nvPr/>
          </p:nvSpPr>
          <p:spPr bwMode="auto">
            <a:xfrm>
              <a:off x="2787" y="3149"/>
              <a:ext cx="332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2000" b="1" i="1" dirty="0" err="1">
                  <a:solidFill>
                    <a:srgbClr val="FF3D3D"/>
                  </a:solidFill>
                </a:rPr>
                <a:t>F</a:t>
              </a:r>
              <a:r>
                <a:rPr lang="en-US" altLang="zh-CN" sz="2000" b="0" i="1" baseline="-25000" dirty="0" err="1">
                  <a:solidFill>
                    <a:srgbClr val="FF3D3D"/>
                  </a:solidFill>
                </a:rPr>
                <a:t>Ay</a:t>
              </a:r>
              <a:endParaRPr lang="en-US" altLang="zh-CN" sz="2000" b="0" i="1" dirty="0">
                <a:solidFill>
                  <a:srgbClr val="FF3D3D"/>
                </a:solidFill>
              </a:endParaRPr>
            </a:p>
          </p:txBody>
        </p:sp>
        <p:sp>
          <p:nvSpPr>
            <p:cNvPr id="108" name="Text Box 171"/>
            <p:cNvSpPr txBox="1">
              <a:spLocks noChangeArrowheads="1"/>
            </p:cNvSpPr>
            <p:nvPr/>
          </p:nvSpPr>
          <p:spPr bwMode="auto">
            <a:xfrm>
              <a:off x="4524" y="3140"/>
              <a:ext cx="290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2000" b="1" i="1" dirty="0">
                  <a:solidFill>
                    <a:srgbClr val="FF3D3D"/>
                  </a:solidFill>
                </a:rPr>
                <a:t>F</a:t>
              </a:r>
              <a:r>
                <a:rPr lang="en-US" altLang="zh-CN" sz="2000" b="0" i="1" baseline="-25000" dirty="0">
                  <a:solidFill>
                    <a:srgbClr val="FF3D3D"/>
                  </a:solidFill>
                </a:rPr>
                <a:t>B</a:t>
              </a:r>
            </a:p>
          </p:txBody>
        </p:sp>
        <p:sp>
          <p:nvSpPr>
            <p:cNvPr id="109" name="Text Box 172"/>
            <p:cNvSpPr txBox="1">
              <a:spLocks noChangeArrowheads="1"/>
            </p:cNvSpPr>
            <p:nvPr/>
          </p:nvSpPr>
          <p:spPr bwMode="auto">
            <a:xfrm>
              <a:off x="2664" y="3619"/>
              <a:ext cx="337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2000" b="1" i="1" dirty="0" err="1">
                  <a:solidFill>
                    <a:srgbClr val="FF3D3D"/>
                  </a:solidFill>
                </a:rPr>
                <a:t>F</a:t>
              </a:r>
              <a:r>
                <a:rPr lang="en-US" altLang="zh-CN" sz="2000" b="0" i="1" baseline="-25000" dirty="0" err="1">
                  <a:solidFill>
                    <a:srgbClr val="FF3D3D"/>
                  </a:solidFill>
                </a:rPr>
                <a:t>Ax</a:t>
              </a:r>
              <a:endParaRPr lang="en-US" altLang="zh-CN" sz="2000" b="0" i="1" dirty="0">
                <a:solidFill>
                  <a:srgbClr val="FF3D3D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10115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2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3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35" grpId="0"/>
      <p:bldP spid="43048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78" name="Text Box 70"/>
          <p:cNvSpPr txBox="1">
            <a:spLocks noChangeArrowheads="1"/>
          </p:cNvSpPr>
          <p:nvPr/>
        </p:nvSpPr>
        <p:spPr bwMode="auto">
          <a:xfrm>
            <a:off x="665162" y="338138"/>
            <a:ext cx="4099199" cy="59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4.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取节点</a:t>
            </a:r>
            <a:r>
              <a:rPr lang="en-US" altLang="zh-CN" b="0" i="1" dirty="0">
                <a:latin typeface="+mn-lt"/>
                <a:ea typeface="楷体" panose="02010609060101010101" pitchFamily="49" charset="-122"/>
              </a:rPr>
              <a:t>C</a:t>
            </a:r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受力分析如图。</a:t>
            </a:r>
          </a:p>
        </p:txBody>
      </p:sp>
      <p:grpSp>
        <p:nvGrpSpPr>
          <p:cNvPr id="2" name="Group 71"/>
          <p:cNvGrpSpPr>
            <a:grpSpLocks/>
          </p:cNvGrpSpPr>
          <p:nvPr/>
        </p:nvGrpSpPr>
        <p:grpSpPr bwMode="auto">
          <a:xfrm>
            <a:off x="459977" y="2562663"/>
            <a:ext cx="2155825" cy="1911350"/>
            <a:chOff x="415" y="1084"/>
            <a:chExt cx="1358" cy="1204"/>
          </a:xfrm>
        </p:grpSpPr>
        <p:sp>
          <p:nvSpPr>
            <p:cNvPr id="6190" name="Line 72"/>
            <p:cNvSpPr>
              <a:spLocks noChangeAspect="1" noChangeShapeType="1"/>
            </p:cNvSpPr>
            <p:nvPr/>
          </p:nvSpPr>
          <p:spPr bwMode="auto">
            <a:xfrm rot="10800000" flipH="1">
              <a:off x="1055" y="1253"/>
              <a:ext cx="487" cy="497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91" name="Line 73"/>
            <p:cNvSpPr>
              <a:spLocks noChangeShapeType="1"/>
            </p:cNvSpPr>
            <p:nvPr/>
          </p:nvSpPr>
          <p:spPr bwMode="auto">
            <a:xfrm flipH="1">
              <a:off x="415" y="1742"/>
              <a:ext cx="628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92" name="Line 74"/>
            <p:cNvSpPr>
              <a:spLocks noChangeShapeType="1"/>
            </p:cNvSpPr>
            <p:nvPr/>
          </p:nvSpPr>
          <p:spPr bwMode="auto">
            <a:xfrm>
              <a:off x="1062" y="1744"/>
              <a:ext cx="0" cy="544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93" name="Line 75"/>
            <p:cNvSpPr>
              <a:spLocks noChangeShapeType="1"/>
            </p:cNvSpPr>
            <p:nvPr/>
          </p:nvSpPr>
          <p:spPr bwMode="auto">
            <a:xfrm>
              <a:off x="1062" y="1744"/>
              <a:ext cx="590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94" name="Oval 76"/>
            <p:cNvSpPr>
              <a:spLocks noChangeArrowheads="1"/>
            </p:cNvSpPr>
            <p:nvPr/>
          </p:nvSpPr>
          <p:spPr bwMode="auto">
            <a:xfrm>
              <a:off x="1036" y="1718"/>
              <a:ext cx="53" cy="53"/>
            </a:xfrm>
            <a:prstGeom prst="ellipse">
              <a:avLst/>
            </a:prstGeom>
            <a:solidFill>
              <a:srgbClr val="969696"/>
            </a:solidFill>
            <a:ln w="1905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3085" name="Text Box 77"/>
            <p:cNvSpPr txBox="1">
              <a:spLocks noChangeArrowheads="1"/>
            </p:cNvSpPr>
            <p:nvPr/>
          </p:nvSpPr>
          <p:spPr bwMode="auto">
            <a:xfrm>
              <a:off x="678" y="1084"/>
              <a:ext cx="362" cy="290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2000" b="1" i="1" dirty="0">
                  <a:solidFill>
                    <a:srgbClr val="FF3D3D"/>
                  </a:solidFill>
                </a:rPr>
                <a:t>F</a:t>
              </a:r>
              <a:r>
                <a:rPr lang="en-US" altLang="zh-CN" sz="2000" b="0" i="1" baseline="-25000" dirty="0">
                  <a:solidFill>
                    <a:srgbClr val="FF3D3D"/>
                  </a:solidFill>
                </a:rPr>
                <a:t>CF</a:t>
              </a:r>
              <a:endParaRPr lang="en-US" altLang="zh-CN" sz="2000" b="0" i="1" dirty="0">
                <a:solidFill>
                  <a:srgbClr val="FF3D3D"/>
                </a:solidFill>
                <a:latin typeface="宋体" pitchFamily="2" charset="-122"/>
              </a:endParaRPr>
            </a:p>
          </p:txBody>
        </p:sp>
        <p:sp>
          <p:nvSpPr>
            <p:cNvPr id="43086" name="Text Box 78"/>
            <p:cNvSpPr txBox="1">
              <a:spLocks noChangeArrowheads="1"/>
            </p:cNvSpPr>
            <p:nvPr/>
          </p:nvSpPr>
          <p:spPr bwMode="auto">
            <a:xfrm>
              <a:off x="416" y="1701"/>
              <a:ext cx="362" cy="290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2000" b="1" i="1" dirty="0">
                  <a:solidFill>
                    <a:srgbClr val="FF3D3D"/>
                  </a:solidFill>
                </a:rPr>
                <a:t>F</a:t>
              </a:r>
              <a:r>
                <a:rPr lang="en-US" altLang="zh-CN" sz="2000" b="0" i="1" baseline="-25000" dirty="0">
                  <a:solidFill>
                    <a:srgbClr val="FF3D3D"/>
                  </a:solidFill>
                </a:rPr>
                <a:t>CA</a:t>
              </a:r>
              <a:endParaRPr lang="en-US" altLang="zh-CN" sz="2000" b="0" i="1" dirty="0">
                <a:solidFill>
                  <a:srgbClr val="FF3D3D"/>
                </a:solidFill>
                <a:latin typeface="宋体" pitchFamily="2" charset="-122"/>
              </a:endParaRPr>
            </a:p>
          </p:txBody>
        </p:sp>
        <p:sp>
          <p:nvSpPr>
            <p:cNvPr id="43087" name="Text Box 79"/>
            <p:cNvSpPr txBox="1">
              <a:spLocks noChangeArrowheads="1"/>
            </p:cNvSpPr>
            <p:nvPr/>
          </p:nvSpPr>
          <p:spPr bwMode="auto">
            <a:xfrm>
              <a:off x="1068" y="1993"/>
              <a:ext cx="296" cy="290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2000" b="1" i="1" dirty="0">
                  <a:solidFill>
                    <a:srgbClr val="FF3D3D"/>
                  </a:solidFill>
                </a:rPr>
                <a:t>F</a:t>
              </a:r>
              <a:r>
                <a:rPr lang="en-US" altLang="zh-CN" sz="2000" b="0" i="1" baseline="-25000" dirty="0">
                  <a:solidFill>
                    <a:srgbClr val="FF3D3D"/>
                  </a:solidFill>
                </a:rPr>
                <a:t>C</a:t>
              </a:r>
              <a:endParaRPr lang="en-US" altLang="zh-CN" sz="2000" b="0" i="1" dirty="0">
                <a:solidFill>
                  <a:srgbClr val="FF3D3D"/>
                </a:solidFill>
                <a:latin typeface="宋体" pitchFamily="2" charset="-122"/>
              </a:endParaRPr>
            </a:p>
          </p:txBody>
        </p:sp>
        <p:sp>
          <p:nvSpPr>
            <p:cNvPr id="43088" name="Text Box 80"/>
            <p:cNvSpPr txBox="1">
              <a:spLocks noChangeArrowheads="1"/>
            </p:cNvSpPr>
            <p:nvPr/>
          </p:nvSpPr>
          <p:spPr bwMode="auto">
            <a:xfrm>
              <a:off x="835" y="1465"/>
              <a:ext cx="224" cy="290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2000" i="1" dirty="0"/>
                <a:t>C</a:t>
              </a:r>
              <a:endParaRPr lang="en-US" altLang="zh-CN" sz="2000" i="1" dirty="0">
                <a:latin typeface="宋体" pitchFamily="2" charset="-122"/>
              </a:endParaRPr>
            </a:p>
          </p:txBody>
        </p:sp>
        <p:sp>
          <p:nvSpPr>
            <p:cNvPr id="6199" name="Line 81"/>
            <p:cNvSpPr>
              <a:spLocks noChangeShapeType="1"/>
            </p:cNvSpPr>
            <p:nvPr/>
          </p:nvSpPr>
          <p:spPr bwMode="auto">
            <a:xfrm flipV="1">
              <a:off x="1059" y="1229"/>
              <a:ext cx="0" cy="499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090" name="Text Box 82"/>
            <p:cNvSpPr txBox="1">
              <a:spLocks noChangeArrowheads="1"/>
            </p:cNvSpPr>
            <p:nvPr/>
          </p:nvSpPr>
          <p:spPr bwMode="auto">
            <a:xfrm>
              <a:off x="1399" y="1693"/>
              <a:ext cx="374" cy="290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2000" b="1" i="1" dirty="0">
                  <a:solidFill>
                    <a:srgbClr val="FF3D3D"/>
                  </a:solidFill>
                </a:rPr>
                <a:t>F</a:t>
              </a:r>
              <a:r>
                <a:rPr lang="en-US" altLang="zh-CN" sz="2000" b="0" i="1" baseline="-25000" dirty="0">
                  <a:solidFill>
                    <a:srgbClr val="FF3D3D"/>
                  </a:solidFill>
                </a:rPr>
                <a:t>CD</a:t>
              </a:r>
              <a:endParaRPr lang="en-US" altLang="zh-CN" sz="2000" b="0" i="1" dirty="0">
                <a:solidFill>
                  <a:srgbClr val="FF3D3D"/>
                </a:solidFill>
                <a:latin typeface="宋体" pitchFamily="2" charset="-122"/>
              </a:endParaRPr>
            </a:p>
          </p:txBody>
        </p:sp>
        <p:sp>
          <p:nvSpPr>
            <p:cNvPr id="43091" name="Text Box 83"/>
            <p:cNvSpPr txBox="1">
              <a:spLocks noChangeArrowheads="1"/>
            </p:cNvSpPr>
            <p:nvPr/>
          </p:nvSpPr>
          <p:spPr bwMode="auto">
            <a:xfrm>
              <a:off x="1403" y="1246"/>
              <a:ext cx="362" cy="290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2000" b="1" i="1" dirty="0">
                  <a:solidFill>
                    <a:srgbClr val="FF3D3D"/>
                  </a:solidFill>
                </a:rPr>
                <a:t>F</a:t>
              </a:r>
              <a:r>
                <a:rPr lang="en-US" altLang="zh-CN" sz="2000" b="0" i="1" baseline="-25000" dirty="0">
                  <a:solidFill>
                    <a:srgbClr val="FF3D3D"/>
                  </a:solidFill>
                </a:rPr>
                <a:t>CE</a:t>
              </a:r>
              <a:endParaRPr lang="en-US" altLang="zh-CN" sz="2000" b="0" i="1" dirty="0">
                <a:solidFill>
                  <a:srgbClr val="FF3D3D"/>
                </a:solidFill>
                <a:latin typeface="宋体" pitchFamily="2" charset="-122"/>
              </a:endParaRPr>
            </a:p>
          </p:txBody>
        </p:sp>
      </p:grpSp>
      <p:grpSp>
        <p:nvGrpSpPr>
          <p:cNvPr id="3" name="Group 84"/>
          <p:cNvGrpSpPr>
            <a:grpSpLocks/>
          </p:cNvGrpSpPr>
          <p:nvPr/>
        </p:nvGrpSpPr>
        <p:grpSpPr bwMode="auto">
          <a:xfrm>
            <a:off x="793750" y="1023716"/>
            <a:ext cx="4724400" cy="476250"/>
            <a:chOff x="2558" y="1434"/>
            <a:chExt cx="2976" cy="300"/>
          </a:xfrm>
        </p:grpSpPr>
        <p:graphicFrame>
          <p:nvGraphicFramePr>
            <p:cNvPr id="6159" name="Object 85"/>
            <p:cNvGraphicFramePr>
              <a:graphicFrameLocks noChangeAspect="1"/>
            </p:cNvGraphicFramePr>
            <p:nvPr/>
          </p:nvGraphicFramePr>
          <p:xfrm>
            <a:off x="3360" y="1440"/>
            <a:ext cx="2174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78" name="Equation" r:id="rId3" imgW="1777680" imgH="228600" progId="Equation.3">
                    <p:embed/>
                  </p:oleObj>
                </mc:Choice>
                <mc:Fallback>
                  <p:oleObj name="Equation" r:id="rId3" imgW="177768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0" y="1440"/>
                          <a:ext cx="2174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1593903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60" name="Object 86"/>
            <p:cNvGraphicFramePr>
              <a:graphicFrameLocks noChangeAspect="1"/>
            </p:cNvGraphicFramePr>
            <p:nvPr/>
          </p:nvGraphicFramePr>
          <p:xfrm>
            <a:off x="2558" y="1434"/>
            <a:ext cx="752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79" name="Equation" r:id="rId5" imgW="634680" imgH="253800" progId="Equation.3">
                    <p:embed/>
                  </p:oleObj>
                </mc:Choice>
                <mc:Fallback>
                  <p:oleObj name="Equation" r:id="rId5" imgW="63468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58" y="1434"/>
                          <a:ext cx="752" cy="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1593903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87"/>
          <p:cNvGrpSpPr>
            <a:grpSpLocks/>
          </p:cNvGrpSpPr>
          <p:nvPr/>
        </p:nvGrpSpPr>
        <p:grpSpPr bwMode="auto">
          <a:xfrm>
            <a:off x="790575" y="1569816"/>
            <a:ext cx="4618038" cy="488950"/>
            <a:chOff x="2511" y="2184"/>
            <a:chExt cx="2909" cy="308"/>
          </a:xfrm>
        </p:grpSpPr>
        <p:graphicFrame>
          <p:nvGraphicFramePr>
            <p:cNvPr id="6157" name="Object 88"/>
            <p:cNvGraphicFramePr>
              <a:graphicFrameLocks noChangeAspect="1"/>
            </p:cNvGraphicFramePr>
            <p:nvPr/>
          </p:nvGraphicFramePr>
          <p:xfrm>
            <a:off x="3312" y="2208"/>
            <a:ext cx="2108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80" name="Equation" r:id="rId7" imgW="1726920" imgH="228600" progId="Equation.3">
                    <p:embed/>
                  </p:oleObj>
                </mc:Choice>
                <mc:Fallback>
                  <p:oleObj name="Equation" r:id="rId7" imgW="172692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2208"/>
                          <a:ext cx="2108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1593903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8" name="Object 89"/>
            <p:cNvGraphicFramePr>
              <a:graphicFrameLocks noChangeAspect="1"/>
            </p:cNvGraphicFramePr>
            <p:nvPr/>
          </p:nvGraphicFramePr>
          <p:xfrm>
            <a:off x="2511" y="2184"/>
            <a:ext cx="793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81" name="Equation" r:id="rId9" imgW="647640" imgH="253800" progId="Equation.3">
                    <p:embed/>
                  </p:oleObj>
                </mc:Choice>
                <mc:Fallback>
                  <p:oleObj name="Equation" r:id="rId9" imgW="64764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1" y="2184"/>
                          <a:ext cx="793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1593903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90"/>
          <p:cNvGrpSpPr>
            <a:grpSpLocks/>
          </p:cNvGrpSpPr>
          <p:nvPr/>
        </p:nvGrpSpPr>
        <p:grpSpPr bwMode="auto">
          <a:xfrm>
            <a:off x="1189038" y="2138364"/>
            <a:ext cx="3743325" cy="515937"/>
            <a:chOff x="2687" y="3254"/>
            <a:chExt cx="2358" cy="325"/>
          </a:xfrm>
        </p:grpSpPr>
        <p:graphicFrame>
          <p:nvGraphicFramePr>
            <p:cNvPr id="6155" name="Object 91"/>
            <p:cNvGraphicFramePr>
              <a:graphicFrameLocks noChangeAspect="1"/>
            </p:cNvGraphicFramePr>
            <p:nvPr/>
          </p:nvGraphicFramePr>
          <p:xfrm>
            <a:off x="2687" y="3254"/>
            <a:ext cx="1300" cy="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82" name="Equation" r:id="rId11" imgW="1015920" imgH="253800" progId="Equation.3">
                    <p:embed/>
                  </p:oleObj>
                </mc:Choice>
                <mc:Fallback>
                  <p:oleObj name="Equation" r:id="rId11" imgW="101592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7" y="3254"/>
                          <a:ext cx="1300" cy="3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1593903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6" name="Object 92"/>
            <p:cNvGraphicFramePr>
              <a:graphicFrameLocks noChangeAspect="1"/>
            </p:cNvGraphicFramePr>
            <p:nvPr/>
          </p:nvGraphicFramePr>
          <p:xfrm>
            <a:off x="4072" y="3272"/>
            <a:ext cx="973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83" name="Equation" r:id="rId13" imgW="761760" imgH="228600" progId="Equation.3">
                    <p:embed/>
                  </p:oleObj>
                </mc:Choice>
                <mc:Fallback>
                  <p:oleObj name="Equation" r:id="rId13" imgW="76176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2" y="3272"/>
                          <a:ext cx="973" cy="2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1593903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4072" name="Text Box 40"/>
          <p:cNvSpPr txBox="1">
            <a:spLocks noChangeArrowheads="1"/>
          </p:cNvSpPr>
          <p:nvPr/>
        </p:nvSpPr>
        <p:spPr bwMode="auto">
          <a:xfrm>
            <a:off x="2732087" y="2574457"/>
            <a:ext cx="4116833" cy="59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5.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取节点</a:t>
            </a:r>
            <a:r>
              <a:rPr lang="en-US" altLang="zh-CN" b="0" i="1" dirty="0">
                <a:latin typeface="+mn-lt"/>
                <a:ea typeface="楷体" panose="02010609060101010101" pitchFamily="49" charset="-122"/>
              </a:rPr>
              <a:t>D</a:t>
            </a:r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受力分析如图。</a:t>
            </a:r>
          </a:p>
        </p:txBody>
      </p:sp>
      <p:grpSp>
        <p:nvGrpSpPr>
          <p:cNvPr id="6" name="Group 47"/>
          <p:cNvGrpSpPr>
            <a:grpSpLocks/>
          </p:cNvGrpSpPr>
          <p:nvPr/>
        </p:nvGrpSpPr>
        <p:grpSpPr bwMode="auto">
          <a:xfrm>
            <a:off x="6570662" y="2251945"/>
            <a:ext cx="1941512" cy="1587500"/>
            <a:chOff x="407" y="2737"/>
            <a:chExt cx="1223" cy="1000"/>
          </a:xfrm>
        </p:grpSpPr>
        <p:sp>
          <p:nvSpPr>
            <p:cNvPr id="6182" name="Line 48"/>
            <p:cNvSpPr>
              <a:spLocks noChangeShapeType="1"/>
            </p:cNvSpPr>
            <p:nvPr/>
          </p:nvSpPr>
          <p:spPr bwMode="auto">
            <a:xfrm flipH="1">
              <a:off x="407" y="3501"/>
              <a:ext cx="590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83" name="Line 49"/>
            <p:cNvSpPr>
              <a:spLocks noChangeShapeType="1"/>
            </p:cNvSpPr>
            <p:nvPr/>
          </p:nvSpPr>
          <p:spPr bwMode="auto">
            <a:xfrm flipV="1">
              <a:off x="1011" y="2908"/>
              <a:ext cx="0" cy="567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84" name="Line 50"/>
            <p:cNvSpPr>
              <a:spLocks noChangeShapeType="1"/>
            </p:cNvSpPr>
            <p:nvPr/>
          </p:nvSpPr>
          <p:spPr bwMode="auto">
            <a:xfrm>
              <a:off x="1018" y="3503"/>
              <a:ext cx="590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85" name="Oval 51"/>
            <p:cNvSpPr>
              <a:spLocks noChangeArrowheads="1"/>
            </p:cNvSpPr>
            <p:nvPr/>
          </p:nvSpPr>
          <p:spPr bwMode="auto">
            <a:xfrm>
              <a:off x="989" y="3472"/>
              <a:ext cx="57" cy="61"/>
            </a:xfrm>
            <a:prstGeom prst="ellipse">
              <a:avLst/>
            </a:prstGeom>
            <a:solidFill>
              <a:srgbClr val="969696"/>
            </a:solidFill>
            <a:ln w="1905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4084" name="Text Box 52"/>
            <p:cNvSpPr txBox="1">
              <a:spLocks noChangeArrowheads="1"/>
            </p:cNvSpPr>
            <p:nvPr/>
          </p:nvSpPr>
          <p:spPr bwMode="auto">
            <a:xfrm>
              <a:off x="629" y="2737"/>
              <a:ext cx="368" cy="290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2000" b="1" i="1" dirty="0">
                  <a:solidFill>
                    <a:srgbClr val="FF3D3D"/>
                  </a:solidFill>
                </a:rPr>
                <a:t>F</a:t>
              </a:r>
              <a:r>
                <a:rPr lang="en-US" altLang="zh-CN" sz="2000" b="0" i="1" baseline="-25000" dirty="0">
                  <a:solidFill>
                    <a:srgbClr val="FF3D3D"/>
                  </a:solidFill>
                </a:rPr>
                <a:t>DE</a:t>
              </a:r>
              <a:endParaRPr lang="en-US" altLang="zh-CN" sz="2000" b="0" i="1" dirty="0">
                <a:solidFill>
                  <a:srgbClr val="FF3D3D"/>
                </a:solidFill>
                <a:latin typeface="宋体" pitchFamily="2" charset="-122"/>
              </a:endParaRPr>
            </a:p>
          </p:txBody>
        </p:sp>
        <p:sp>
          <p:nvSpPr>
            <p:cNvPr id="44085" name="Text Box 53"/>
            <p:cNvSpPr txBox="1">
              <a:spLocks noChangeArrowheads="1"/>
            </p:cNvSpPr>
            <p:nvPr/>
          </p:nvSpPr>
          <p:spPr bwMode="auto">
            <a:xfrm>
              <a:off x="430" y="3441"/>
              <a:ext cx="374" cy="290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2000" b="1" i="1" dirty="0">
                  <a:solidFill>
                    <a:srgbClr val="FF3D3D"/>
                  </a:solidFill>
                </a:rPr>
                <a:t>F</a:t>
              </a:r>
              <a:r>
                <a:rPr lang="en-US" altLang="zh-CN" sz="2000" b="0" i="1" baseline="-25000" dirty="0">
                  <a:solidFill>
                    <a:srgbClr val="FF3D3D"/>
                  </a:solidFill>
                </a:rPr>
                <a:t>DC</a:t>
              </a:r>
              <a:endParaRPr lang="en-US" altLang="zh-CN" sz="2000" b="0" i="1" dirty="0">
                <a:solidFill>
                  <a:srgbClr val="FF3D3D"/>
                </a:solidFill>
                <a:latin typeface="宋体" pitchFamily="2" charset="-122"/>
              </a:endParaRPr>
            </a:p>
          </p:txBody>
        </p:sp>
        <p:sp>
          <p:nvSpPr>
            <p:cNvPr id="44086" name="Text Box 54"/>
            <p:cNvSpPr txBox="1">
              <a:spLocks noChangeArrowheads="1"/>
            </p:cNvSpPr>
            <p:nvPr/>
          </p:nvSpPr>
          <p:spPr bwMode="auto">
            <a:xfrm>
              <a:off x="778" y="3218"/>
              <a:ext cx="236" cy="290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2000" i="1" dirty="0"/>
                <a:t>D</a:t>
              </a:r>
              <a:endParaRPr lang="en-US" altLang="zh-CN" sz="2000" i="1" dirty="0">
                <a:latin typeface="宋体" pitchFamily="2" charset="-122"/>
              </a:endParaRPr>
            </a:p>
          </p:txBody>
        </p:sp>
        <p:sp>
          <p:nvSpPr>
            <p:cNvPr id="44087" name="Text Box 55"/>
            <p:cNvSpPr txBox="1">
              <a:spLocks noChangeArrowheads="1"/>
            </p:cNvSpPr>
            <p:nvPr/>
          </p:nvSpPr>
          <p:spPr bwMode="auto">
            <a:xfrm>
              <a:off x="1262" y="3447"/>
              <a:ext cx="368" cy="290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2000" b="1" i="1" dirty="0">
                  <a:solidFill>
                    <a:srgbClr val="FF3D3D"/>
                  </a:solidFill>
                </a:rPr>
                <a:t>F</a:t>
              </a:r>
              <a:r>
                <a:rPr lang="en-US" altLang="zh-CN" sz="2000" b="0" i="1" baseline="-25000" dirty="0">
                  <a:solidFill>
                    <a:srgbClr val="FF3D3D"/>
                  </a:solidFill>
                </a:rPr>
                <a:t>DB</a:t>
              </a:r>
              <a:endParaRPr lang="en-US" altLang="zh-CN" sz="2000" b="0" i="1" dirty="0">
                <a:solidFill>
                  <a:srgbClr val="FF3D3D"/>
                </a:solidFill>
                <a:latin typeface="宋体" pitchFamily="2" charset="-122"/>
              </a:endParaRPr>
            </a:p>
          </p:txBody>
        </p:sp>
      </p:grpSp>
      <p:grpSp>
        <p:nvGrpSpPr>
          <p:cNvPr id="7" name="Group 41"/>
          <p:cNvGrpSpPr>
            <a:grpSpLocks/>
          </p:cNvGrpSpPr>
          <p:nvPr/>
        </p:nvGrpSpPr>
        <p:grpSpPr bwMode="auto">
          <a:xfrm>
            <a:off x="2858690" y="3124761"/>
            <a:ext cx="3021012" cy="482600"/>
            <a:chOff x="2690" y="1536"/>
            <a:chExt cx="1903" cy="304"/>
          </a:xfrm>
        </p:grpSpPr>
        <p:graphicFrame>
          <p:nvGraphicFramePr>
            <p:cNvPr id="6153" name="Object 42"/>
            <p:cNvGraphicFramePr>
              <a:graphicFrameLocks noChangeAspect="1"/>
            </p:cNvGraphicFramePr>
            <p:nvPr/>
          </p:nvGraphicFramePr>
          <p:xfrm>
            <a:off x="3552" y="1536"/>
            <a:ext cx="1041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84" name="Equation" r:id="rId15" imgW="876240" imgH="228600" progId="Equation.3">
                    <p:embed/>
                  </p:oleObj>
                </mc:Choice>
                <mc:Fallback>
                  <p:oleObj name="Equation" r:id="rId15" imgW="87624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1536"/>
                          <a:ext cx="1041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1593903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4" name="Object 43"/>
            <p:cNvGraphicFramePr>
              <a:graphicFrameLocks noChangeAspect="1"/>
            </p:cNvGraphicFramePr>
            <p:nvPr/>
          </p:nvGraphicFramePr>
          <p:xfrm>
            <a:off x="2690" y="1540"/>
            <a:ext cx="752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85" name="Equation" r:id="rId17" imgW="634680" imgH="253800" progId="Equation.3">
                    <p:embed/>
                  </p:oleObj>
                </mc:Choice>
                <mc:Fallback>
                  <p:oleObj name="Equation" r:id="rId17" imgW="63468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0" y="1540"/>
                          <a:ext cx="752" cy="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1593903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44"/>
          <p:cNvGrpSpPr>
            <a:grpSpLocks/>
          </p:cNvGrpSpPr>
          <p:nvPr/>
        </p:nvGrpSpPr>
        <p:grpSpPr bwMode="auto">
          <a:xfrm>
            <a:off x="2858690" y="3627999"/>
            <a:ext cx="2449512" cy="488950"/>
            <a:chOff x="2687" y="2274"/>
            <a:chExt cx="1543" cy="308"/>
          </a:xfrm>
        </p:grpSpPr>
        <p:graphicFrame>
          <p:nvGraphicFramePr>
            <p:cNvPr id="6151" name="Object 45"/>
            <p:cNvGraphicFramePr>
              <a:graphicFrameLocks noChangeAspect="1"/>
            </p:cNvGraphicFramePr>
            <p:nvPr/>
          </p:nvGraphicFramePr>
          <p:xfrm>
            <a:off x="3552" y="2280"/>
            <a:ext cx="67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86" name="Equation" r:id="rId19" imgW="507960" imgH="215640" progId="Equation.3">
                    <p:embed/>
                  </p:oleObj>
                </mc:Choice>
                <mc:Fallback>
                  <p:oleObj name="Equation" r:id="rId19" imgW="50796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2" y="2280"/>
                          <a:ext cx="678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1593903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2" name="Object 46"/>
            <p:cNvGraphicFramePr>
              <a:graphicFrameLocks noChangeAspect="1"/>
            </p:cNvGraphicFramePr>
            <p:nvPr/>
          </p:nvGraphicFramePr>
          <p:xfrm>
            <a:off x="2687" y="2274"/>
            <a:ext cx="793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87" name="Equation" r:id="rId21" imgW="647640" imgH="253800" progId="Equation.3">
                    <p:embed/>
                  </p:oleObj>
                </mc:Choice>
                <mc:Fallback>
                  <p:oleObj name="Equation" r:id="rId21" imgW="64764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87" y="2274"/>
                          <a:ext cx="793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1593903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56"/>
          <p:cNvGrpSpPr>
            <a:grpSpLocks/>
          </p:cNvGrpSpPr>
          <p:nvPr/>
        </p:nvGrpSpPr>
        <p:grpSpPr bwMode="auto">
          <a:xfrm>
            <a:off x="2787252" y="4204261"/>
            <a:ext cx="2778125" cy="439738"/>
            <a:chOff x="2886" y="3456"/>
            <a:chExt cx="1750" cy="277"/>
          </a:xfrm>
        </p:grpSpPr>
        <p:graphicFrame>
          <p:nvGraphicFramePr>
            <p:cNvPr id="6149" name="Object 57"/>
            <p:cNvGraphicFramePr>
              <a:graphicFrameLocks noChangeAspect="1"/>
            </p:cNvGraphicFramePr>
            <p:nvPr/>
          </p:nvGraphicFramePr>
          <p:xfrm>
            <a:off x="2886" y="3460"/>
            <a:ext cx="1028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88" name="公式" r:id="rId23" imgW="825480" imgH="215640" progId="Equation.3">
                    <p:embed/>
                  </p:oleObj>
                </mc:Choice>
                <mc:Fallback>
                  <p:oleObj name="公式" r:id="rId23" imgW="82548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6" y="3460"/>
                          <a:ext cx="1028" cy="2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1593903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0" name="Object 58"/>
            <p:cNvGraphicFramePr>
              <a:graphicFrameLocks noChangeAspect="1"/>
            </p:cNvGraphicFramePr>
            <p:nvPr/>
          </p:nvGraphicFramePr>
          <p:xfrm>
            <a:off x="3984" y="3456"/>
            <a:ext cx="652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89" name="Equation" r:id="rId25" imgW="507960" imgH="215640" progId="Equation.3">
                    <p:embed/>
                  </p:oleObj>
                </mc:Choice>
                <mc:Fallback>
                  <p:oleObj name="Equation" r:id="rId25" imgW="50796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4" y="3456"/>
                          <a:ext cx="652" cy="2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1593903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4091" name="Text Box 59"/>
          <p:cNvSpPr txBox="1">
            <a:spLocks noChangeArrowheads="1"/>
          </p:cNvSpPr>
          <p:nvPr/>
        </p:nvSpPr>
        <p:spPr bwMode="auto">
          <a:xfrm>
            <a:off x="755924" y="4640879"/>
            <a:ext cx="4081567" cy="5909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6.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取节点</a:t>
            </a:r>
            <a:r>
              <a:rPr lang="en-US" altLang="zh-CN" b="0" i="1" dirty="0">
                <a:latin typeface="+mn-lt"/>
                <a:ea typeface="楷体" panose="02010609060101010101" pitchFamily="49" charset="-122"/>
              </a:rPr>
              <a:t>B</a:t>
            </a:r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受力分析如图。</a:t>
            </a:r>
          </a:p>
        </p:txBody>
      </p:sp>
      <p:grpSp>
        <p:nvGrpSpPr>
          <p:cNvPr id="10" name="Group 60"/>
          <p:cNvGrpSpPr>
            <a:grpSpLocks/>
          </p:cNvGrpSpPr>
          <p:nvPr/>
        </p:nvGrpSpPr>
        <p:grpSpPr bwMode="auto">
          <a:xfrm>
            <a:off x="6428071" y="4137743"/>
            <a:ext cx="1981200" cy="1766888"/>
            <a:chOff x="359" y="1251"/>
            <a:chExt cx="1248" cy="1113"/>
          </a:xfrm>
        </p:grpSpPr>
        <p:sp>
          <p:nvSpPr>
            <p:cNvPr id="6174" name="Line 61"/>
            <p:cNvSpPr>
              <a:spLocks noChangeShapeType="1"/>
            </p:cNvSpPr>
            <p:nvPr/>
          </p:nvSpPr>
          <p:spPr bwMode="auto">
            <a:xfrm flipH="1" flipV="1">
              <a:off x="1324" y="1482"/>
              <a:ext cx="0" cy="612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75" name="Line 62"/>
            <p:cNvSpPr>
              <a:spLocks noChangeAspect="1" noChangeShapeType="1"/>
            </p:cNvSpPr>
            <p:nvPr/>
          </p:nvSpPr>
          <p:spPr bwMode="auto">
            <a:xfrm rot="10800000">
              <a:off x="754" y="1565"/>
              <a:ext cx="561" cy="571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76" name="Line 63"/>
            <p:cNvSpPr>
              <a:spLocks noChangeShapeType="1"/>
            </p:cNvSpPr>
            <p:nvPr/>
          </p:nvSpPr>
          <p:spPr bwMode="auto">
            <a:xfrm flipH="1">
              <a:off x="655" y="2130"/>
              <a:ext cx="635" cy="16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77" name="Oval 64"/>
            <p:cNvSpPr>
              <a:spLocks noChangeArrowheads="1"/>
            </p:cNvSpPr>
            <p:nvPr/>
          </p:nvSpPr>
          <p:spPr bwMode="auto">
            <a:xfrm flipH="1">
              <a:off x="1286" y="2096"/>
              <a:ext cx="78" cy="79"/>
            </a:xfrm>
            <a:prstGeom prst="ellipse">
              <a:avLst/>
            </a:prstGeom>
            <a:solidFill>
              <a:srgbClr val="969696"/>
            </a:solidFill>
            <a:ln w="1905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4097" name="Text Box 65"/>
            <p:cNvSpPr txBox="1">
              <a:spLocks noChangeArrowheads="1"/>
            </p:cNvSpPr>
            <p:nvPr/>
          </p:nvSpPr>
          <p:spPr bwMode="auto">
            <a:xfrm flipH="1">
              <a:off x="1317" y="1251"/>
              <a:ext cx="290" cy="290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2000" b="1" i="1" dirty="0">
                  <a:solidFill>
                    <a:srgbClr val="FF3D3D"/>
                  </a:solidFill>
                </a:rPr>
                <a:t>F</a:t>
              </a:r>
              <a:r>
                <a:rPr lang="en-US" altLang="zh-CN" sz="2000" b="0" i="1" baseline="-25000" dirty="0">
                  <a:solidFill>
                    <a:srgbClr val="FF3D3D"/>
                  </a:solidFill>
                </a:rPr>
                <a:t>B</a:t>
              </a:r>
              <a:endParaRPr lang="en-US" altLang="zh-CN" sz="2000" b="0" i="1" dirty="0">
                <a:solidFill>
                  <a:srgbClr val="FF3D3D"/>
                </a:solidFill>
                <a:latin typeface="宋体" pitchFamily="2" charset="-122"/>
              </a:endParaRPr>
            </a:p>
          </p:txBody>
        </p:sp>
        <p:sp>
          <p:nvSpPr>
            <p:cNvPr id="44098" name="Text Box 66"/>
            <p:cNvSpPr txBox="1">
              <a:spLocks noChangeArrowheads="1"/>
            </p:cNvSpPr>
            <p:nvPr/>
          </p:nvSpPr>
          <p:spPr bwMode="auto">
            <a:xfrm flipH="1">
              <a:off x="1363" y="1968"/>
              <a:ext cx="224" cy="290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2000" i="1" dirty="0"/>
                <a:t>B</a:t>
              </a:r>
              <a:endParaRPr lang="en-US" altLang="zh-CN" sz="2000" i="1" dirty="0">
                <a:latin typeface="宋体" pitchFamily="2" charset="-122"/>
              </a:endParaRPr>
            </a:p>
          </p:txBody>
        </p:sp>
        <p:sp>
          <p:nvSpPr>
            <p:cNvPr id="44099" name="Text Box 67"/>
            <p:cNvSpPr txBox="1">
              <a:spLocks noChangeArrowheads="1"/>
            </p:cNvSpPr>
            <p:nvPr/>
          </p:nvSpPr>
          <p:spPr bwMode="auto">
            <a:xfrm flipH="1">
              <a:off x="671" y="2074"/>
              <a:ext cx="368" cy="290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2000" b="1" i="1" dirty="0">
                  <a:solidFill>
                    <a:srgbClr val="FF3D3D"/>
                  </a:solidFill>
                </a:rPr>
                <a:t>F</a:t>
              </a:r>
              <a:r>
                <a:rPr lang="en-US" altLang="zh-CN" sz="2000" b="0" i="1" baseline="-25000" dirty="0">
                  <a:solidFill>
                    <a:srgbClr val="FF3D3D"/>
                  </a:solidFill>
                </a:rPr>
                <a:t>BD</a:t>
              </a:r>
              <a:endParaRPr lang="en-US" altLang="zh-CN" sz="2000" b="0" i="1" dirty="0">
                <a:solidFill>
                  <a:srgbClr val="FF3D3D"/>
                </a:solidFill>
                <a:latin typeface="宋体" pitchFamily="2" charset="-122"/>
              </a:endParaRPr>
            </a:p>
          </p:txBody>
        </p:sp>
        <p:sp>
          <p:nvSpPr>
            <p:cNvPr id="44100" name="Text Box 68"/>
            <p:cNvSpPr txBox="1">
              <a:spLocks noChangeArrowheads="1"/>
            </p:cNvSpPr>
            <p:nvPr/>
          </p:nvSpPr>
          <p:spPr bwMode="auto">
            <a:xfrm flipH="1">
              <a:off x="359" y="1332"/>
              <a:ext cx="356" cy="290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2000" b="1" i="1" dirty="0">
                  <a:solidFill>
                    <a:srgbClr val="FF3D3D"/>
                  </a:solidFill>
                </a:rPr>
                <a:t>F</a:t>
              </a:r>
              <a:r>
                <a:rPr lang="en-US" altLang="zh-CN" sz="2000" b="0" i="1" baseline="-25000" dirty="0">
                  <a:solidFill>
                    <a:srgbClr val="FF3D3D"/>
                  </a:solidFill>
                </a:rPr>
                <a:t>BE</a:t>
              </a:r>
              <a:endParaRPr lang="en-US" altLang="zh-CN" sz="2000" b="0" i="1" dirty="0">
                <a:solidFill>
                  <a:srgbClr val="FF3D3D"/>
                </a:solidFill>
                <a:latin typeface="宋体" pitchFamily="2" charset="-122"/>
              </a:endParaRPr>
            </a:p>
          </p:txBody>
        </p:sp>
      </p:grpSp>
      <p:grpSp>
        <p:nvGrpSpPr>
          <p:cNvPr id="11" name="Group 69"/>
          <p:cNvGrpSpPr>
            <a:grpSpLocks/>
          </p:cNvGrpSpPr>
          <p:nvPr/>
        </p:nvGrpSpPr>
        <p:grpSpPr bwMode="auto">
          <a:xfrm>
            <a:off x="919000" y="5292679"/>
            <a:ext cx="4276725" cy="487363"/>
            <a:chOff x="2447" y="1392"/>
            <a:chExt cx="2694" cy="307"/>
          </a:xfrm>
        </p:grpSpPr>
        <p:graphicFrame>
          <p:nvGraphicFramePr>
            <p:cNvPr id="6147" name="Object 70"/>
            <p:cNvGraphicFramePr>
              <a:graphicFrameLocks noChangeAspect="1"/>
            </p:cNvGraphicFramePr>
            <p:nvPr/>
          </p:nvGraphicFramePr>
          <p:xfrm>
            <a:off x="3240" y="1392"/>
            <a:ext cx="1901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90" name="Equation" r:id="rId27" imgW="1473120" imgH="215640" progId="Equation.3">
                    <p:embed/>
                  </p:oleObj>
                </mc:Choice>
                <mc:Fallback>
                  <p:oleObj name="Equation" r:id="rId27" imgW="147312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0" y="1392"/>
                          <a:ext cx="1901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1593903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48" name="Object 71"/>
            <p:cNvGraphicFramePr>
              <a:graphicFrameLocks noChangeAspect="1"/>
            </p:cNvGraphicFramePr>
            <p:nvPr/>
          </p:nvGraphicFramePr>
          <p:xfrm>
            <a:off x="2447" y="1399"/>
            <a:ext cx="752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891" name="Equation" r:id="rId29" imgW="634680" imgH="253800" progId="Equation.3">
                    <p:embed/>
                  </p:oleObj>
                </mc:Choice>
                <mc:Fallback>
                  <p:oleObj name="Equation" r:id="rId29" imgW="63468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7" y="1399"/>
                          <a:ext cx="752" cy="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1593903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146" name="Object 77"/>
          <p:cNvGraphicFramePr>
            <a:graphicFrameLocks noChangeAspect="1"/>
          </p:cNvGraphicFramePr>
          <p:nvPr/>
        </p:nvGraphicFramePr>
        <p:xfrm>
          <a:off x="2858690" y="5825714"/>
          <a:ext cx="2243138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92" name="Equation" r:id="rId31" imgW="1041120" imgH="241200" progId="Equation.DSMT4">
                  <p:embed/>
                </p:oleObj>
              </mc:Choice>
              <mc:Fallback>
                <p:oleObj name="Equation" r:id="rId31" imgW="104112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8690" y="5825714"/>
                        <a:ext cx="2243138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28398" dir="1593903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" name="Group 137"/>
          <p:cNvGrpSpPr>
            <a:grpSpLocks/>
          </p:cNvGrpSpPr>
          <p:nvPr/>
        </p:nvGrpSpPr>
        <p:grpSpPr bwMode="auto">
          <a:xfrm>
            <a:off x="5661819" y="145256"/>
            <a:ext cx="3452811" cy="1849438"/>
            <a:chOff x="2639" y="2976"/>
            <a:chExt cx="2175" cy="1165"/>
          </a:xfrm>
        </p:grpSpPr>
        <p:sp>
          <p:nvSpPr>
            <p:cNvPr id="59" name="Line 138"/>
            <p:cNvSpPr>
              <a:spLocks noChangeShapeType="1"/>
            </p:cNvSpPr>
            <p:nvPr/>
          </p:nvSpPr>
          <p:spPr bwMode="auto">
            <a:xfrm flipV="1">
              <a:off x="4543" y="3311"/>
              <a:ext cx="0" cy="397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" name="Line 139"/>
            <p:cNvSpPr>
              <a:spLocks noChangeShapeType="1"/>
            </p:cNvSpPr>
            <p:nvPr/>
          </p:nvSpPr>
          <p:spPr bwMode="auto">
            <a:xfrm flipV="1">
              <a:off x="3103" y="3279"/>
              <a:ext cx="0" cy="419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" name="Line 140"/>
            <p:cNvSpPr>
              <a:spLocks noChangeShapeType="1"/>
            </p:cNvSpPr>
            <p:nvPr/>
          </p:nvSpPr>
          <p:spPr bwMode="auto">
            <a:xfrm>
              <a:off x="4063" y="3304"/>
              <a:ext cx="384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" name="Line 141"/>
            <p:cNvSpPr>
              <a:spLocks noChangeShapeType="1"/>
            </p:cNvSpPr>
            <p:nvPr/>
          </p:nvSpPr>
          <p:spPr bwMode="auto">
            <a:xfrm>
              <a:off x="3583" y="3688"/>
              <a:ext cx="0" cy="384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Line 142"/>
            <p:cNvSpPr>
              <a:spLocks noChangeShapeType="1"/>
            </p:cNvSpPr>
            <p:nvPr/>
          </p:nvSpPr>
          <p:spPr bwMode="auto">
            <a:xfrm flipV="1">
              <a:off x="3583" y="3304"/>
              <a:ext cx="48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" name="Line 143"/>
            <p:cNvSpPr>
              <a:spLocks noChangeShapeType="1"/>
            </p:cNvSpPr>
            <p:nvPr/>
          </p:nvSpPr>
          <p:spPr bwMode="auto">
            <a:xfrm>
              <a:off x="3103" y="3704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Line 144"/>
            <p:cNvSpPr>
              <a:spLocks noChangeShapeType="1"/>
            </p:cNvSpPr>
            <p:nvPr/>
          </p:nvSpPr>
          <p:spPr bwMode="auto">
            <a:xfrm>
              <a:off x="3583" y="3704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Line 145"/>
            <p:cNvSpPr>
              <a:spLocks noChangeShapeType="1"/>
            </p:cNvSpPr>
            <p:nvPr/>
          </p:nvSpPr>
          <p:spPr bwMode="auto">
            <a:xfrm>
              <a:off x="4063" y="3704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Line 146"/>
            <p:cNvSpPr>
              <a:spLocks noChangeShapeType="1"/>
            </p:cNvSpPr>
            <p:nvPr/>
          </p:nvSpPr>
          <p:spPr bwMode="auto">
            <a:xfrm>
              <a:off x="4063" y="3304"/>
              <a:ext cx="480" cy="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" name="Line 147"/>
            <p:cNvSpPr>
              <a:spLocks noChangeShapeType="1"/>
            </p:cNvSpPr>
            <p:nvPr/>
          </p:nvSpPr>
          <p:spPr bwMode="auto">
            <a:xfrm>
              <a:off x="4063" y="3304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" name="Line 148"/>
            <p:cNvSpPr>
              <a:spLocks noChangeShapeType="1"/>
            </p:cNvSpPr>
            <p:nvPr/>
          </p:nvSpPr>
          <p:spPr bwMode="auto">
            <a:xfrm>
              <a:off x="3583" y="3304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" name="Line 149"/>
            <p:cNvSpPr>
              <a:spLocks noChangeShapeType="1"/>
            </p:cNvSpPr>
            <p:nvPr/>
          </p:nvSpPr>
          <p:spPr bwMode="auto">
            <a:xfrm>
              <a:off x="3583" y="3304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" name="Line 150"/>
            <p:cNvSpPr>
              <a:spLocks noChangeShapeType="1"/>
            </p:cNvSpPr>
            <p:nvPr/>
          </p:nvSpPr>
          <p:spPr bwMode="auto">
            <a:xfrm flipV="1">
              <a:off x="3103" y="3304"/>
              <a:ext cx="48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" name="Oval 151"/>
            <p:cNvSpPr>
              <a:spLocks noChangeArrowheads="1"/>
            </p:cNvSpPr>
            <p:nvPr/>
          </p:nvSpPr>
          <p:spPr bwMode="auto">
            <a:xfrm>
              <a:off x="3079" y="3675"/>
              <a:ext cx="48" cy="48"/>
            </a:xfrm>
            <a:prstGeom prst="ellipse">
              <a:avLst/>
            </a:prstGeom>
            <a:solidFill>
              <a:srgbClr val="969696"/>
            </a:solidFill>
            <a:ln w="12700" cap="sq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3" name="Oval 152"/>
            <p:cNvSpPr>
              <a:spLocks noChangeArrowheads="1"/>
            </p:cNvSpPr>
            <p:nvPr/>
          </p:nvSpPr>
          <p:spPr bwMode="auto">
            <a:xfrm>
              <a:off x="4517" y="3680"/>
              <a:ext cx="48" cy="48"/>
            </a:xfrm>
            <a:prstGeom prst="ellipse">
              <a:avLst/>
            </a:prstGeom>
            <a:solidFill>
              <a:srgbClr val="969696"/>
            </a:solidFill>
            <a:ln w="12700" cap="sq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4" name="Oval 153"/>
            <p:cNvSpPr>
              <a:spLocks noChangeArrowheads="1"/>
            </p:cNvSpPr>
            <p:nvPr/>
          </p:nvSpPr>
          <p:spPr bwMode="auto">
            <a:xfrm>
              <a:off x="3559" y="3674"/>
              <a:ext cx="48" cy="48"/>
            </a:xfrm>
            <a:prstGeom prst="ellipse">
              <a:avLst/>
            </a:prstGeom>
            <a:solidFill>
              <a:srgbClr val="969696"/>
            </a:solidFill>
            <a:ln w="1905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5" name="Oval 154"/>
            <p:cNvSpPr>
              <a:spLocks noChangeArrowheads="1"/>
            </p:cNvSpPr>
            <p:nvPr/>
          </p:nvSpPr>
          <p:spPr bwMode="auto">
            <a:xfrm>
              <a:off x="4039" y="3280"/>
              <a:ext cx="48" cy="48"/>
            </a:xfrm>
            <a:prstGeom prst="ellipse">
              <a:avLst/>
            </a:prstGeom>
            <a:solidFill>
              <a:srgbClr val="969696"/>
            </a:solidFill>
            <a:ln w="1905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6" name="Oval 155"/>
            <p:cNvSpPr>
              <a:spLocks noChangeArrowheads="1"/>
            </p:cNvSpPr>
            <p:nvPr/>
          </p:nvSpPr>
          <p:spPr bwMode="auto">
            <a:xfrm>
              <a:off x="3559" y="3280"/>
              <a:ext cx="48" cy="48"/>
            </a:xfrm>
            <a:prstGeom prst="ellipse">
              <a:avLst/>
            </a:prstGeom>
            <a:solidFill>
              <a:srgbClr val="969696"/>
            </a:solidFill>
            <a:ln w="1905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7" name="Oval 156"/>
            <p:cNvSpPr>
              <a:spLocks noChangeArrowheads="1"/>
            </p:cNvSpPr>
            <p:nvPr/>
          </p:nvSpPr>
          <p:spPr bwMode="auto">
            <a:xfrm>
              <a:off x="4039" y="3680"/>
              <a:ext cx="48" cy="48"/>
            </a:xfrm>
            <a:prstGeom prst="ellipse">
              <a:avLst/>
            </a:prstGeom>
            <a:solidFill>
              <a:srgbClr val="969696"/>
            </a:solidFill>
            <a:ln w="1905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8" name="Text Box 161"/>
            <p:cNvSpPr txBox="1">
              <a:spLocks noChangeArrowheads="1"/>
            </p:cNvSpPr>
            <p:nvPr/>
          </p:nvSpPr>
          <p:spPr bwMode="auto">
            <a:xfrm>
              <a:off x="3546" y="3849"/>
              <a:ext cx="296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2000" b="1" i="1" dirty="0">
                  <a:solidFill>
                    <a:srgbClr val="FF3D3D"/>
                  </a:solidFill>
                </a:rPr>
                <a:t>F</a:t>
              </a:r>
              <a:r>
                <a:rPr lang="en-US" altLang="zh-CN" sz="2000" b="0" i="1" baseline="-25000" dirty="0">
                  <a:solidFill>
                    <a:srgbClr val="FF3D3D"/>
                  </a:solidFill>
                </a:rPr>
                <a:t>C</a:t>
              </a:r>
            </a:p>
          </p:txBody>
        </p:sp>
        <p:sp>
          <p:nvSpPr>
            <p:cNvPr id="79" name="Text Box 162"/>
            <p:cNvSpPr txBox="1">
              <a:spLocks noChangeArrowheads="1"/>
            </p:cNvSpPr>
            <p:nvPr/>
          </p:nvSpPr>
          <p:spPr bwMode="auto">
            <a:xfrm>
              <a:off x="2998" y="3632"/>
              <a:ext cx="215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2000" b="0" i="1" dirty="0"/>
                <a:t>A</a:t>
              </a:r>
            </a:p>
          </p:txBody>
        </p:sp>
        <p:sp>
          <p:nvSpPr>
            <p:cNvPr id="80" name="Text Box 163"/>
            <p:cNvSpPr txBox="1">
              <a:spLocks noChangeArrowheads="1"/>
            </p:cNvSpPr>
            <p:nvPr/>
          </p:nvSpPr>
          <p:spPr bwMode="auto">
            <a:xfrm>
              <a:off x="4501" y="3579"/>
              <a:ext cx="215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2000" b="0" i="1" dirty="0"/>
                <a:t>B</a:t>
              </a:r>
            </a:p>
          </p:txBody>
        </p:sp>
        <p:sp>
          <p:nvSpPr>
            <p:cNvPr id="81" name="Text Box 164"/>
            <p:cNvSpPr txBox="1">
              <a:spLocks noChangeArrowheads="1"/>
            </p:cNvSpPr>
            <p:nvPr/>
          </p:nvSpPr>
          <p:spPr bwMode="auto">
            <a:xfrm>
              <a:off x="4017" y="3613"/>
              <a:ext cx="233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2000" b="0" i="1" dirty="0"/>
                <a:t>D</a:t>
              </a:r>
            </a:p>
          </p:txBody>
        </p:sp>
        <p:sp>
          <p:nvSpPr>
            <p:cNvPr id="82" name="Text Box 165"/>
            <p:cNvSpPr txBox="1">
              <a:spLocks noChangeArrowheads="1"/>
            </p:cNvSpPr>
            <p:nvPr/>
          </p:nvSpPr>
          <p:spPr bwMode="auto">
            <a:xfrm>
              <a:off x="3581" y="3609"/>
              <a:ext cx="224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2000" b="0" i="1" dirty="0"/>
                <a:t>C</a:t>
              </a:r>
            </a:p>
          </p:txBody>
        </p:sp>
        <p:sp>
          <p:nvSpPr>
            <p:cNvPr id="83" name="Text Box 166"/>
            <p:cNvSpPr txBox="1">
              <a:spLocks noChangeArrowheads="1"/>
            </p:cNvSpPr>
            <p:nvPr/>
          </p:nvSpPr>
          <p:spPr bwMode="auto">
            <a:xfrm>
              <a:off x="3979" y="3005"/>
              <a:ext cx="215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2000" b="0" i="1" dirty="0"/>
                <a:t>E</a:t>
              </a:r>
            </a:p>
          </p:txBody>
        </p:sp>
        <p:sp>
          <p:nvSpPr>
            <p:cNvPr id="84" name="Text Box 167"/>
            <p:cNvSpPr txBox="1">
              <a:spLocks noChangeArrowheads="1"/>
            </p:cNvSpPr>
            <p:nvPr/>
          </p:nvSpPr>
          <p:spPr bwMode="auto">
            <a:xfrm>
              <a:off x="3490" y="3009"/>
              <a:ext cx="215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2000" b="0" i="1" dirty="0"/>
                <a:t>F</a:t>
              </a:r>
            </a:p>
          </p:txBody>
        </p:sp>
        <p:sp>
          <p:nvSpPr>
            <p:cNvPr id="85" name="Text Box 168"/>
            <p:cNvSpPr txBox="1">
              <a:spLocks noChangeArrowheads="1"/>
            </p:cNvSpPr>
            <p:nvPr/>
          </p:nvSpPr>
          <p:spPr bwMode="auto">
            <a:xfrm>
              <a:off x="4180" y="2976"/>
              <a:ext cx="290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2000" b="1" i="1" dirty="0">
                  <a:solidFill>
                    <a:srgbClr val="FF3D3D"/>
                  </a:solidFill>
                </a:rPr>
                <a:t>F</a:t>
              </a:r>
              <a:r>
                <a:rPr lang="en-US" altLang="zh-CN" sz="2000" b="0" i="1" baseline="-25000" dirty="0">
                  <a:solidFill>
                    <a:srgbClr val="FF3D3D"/>
                  </a:solidFill>
                </a:rPr>
                <a:t>E</a:t>
              </a:r>
            </a:p>
          </p:txBody>
        </p:sp>
        <p:sp>
          <p:nvSpPr>
            <p:cNvPr id="86" name="Line 169"/>
            <p:cNvSpPr>
              <a:spLocks noChangeShapeType="1"/>
            </p:cNvSpPr>
            <p:nvPr/>
          </p:nvSpPr>
          <p:spPr bwMode="auto">
            <a:xfrm>
              <a:off x="2639" y="3701"/>
              <a:ext cx="432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" name="Text Box 170"/>
            <p:cNvSpPr txBox="1">
              <a:spLocks noChangeArrowheads="1"/>
            </p:cNvSpPr>
            <p:nvPr/>
          </p:nvSpPr>
          <p:spPr bwMode="auto">
            <a:xfrm>
              <a:off x="2787" y="3149"/>
              <a:ext cx="332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2000" b="1" i="1" dirty="0" err="1">
                  <a:solidFill>
                    <a:srgbClr val="FF3D3D"/>
                  </a:solidFill>
                </a:rPr>
                <a:t>F</a:t>
              </a:r>
              <a:r>
                <a:rPr lang="en-US" altLang="zh-CN" sz="2000" b="0" i="1" baseline="-25000" dirty="0" err="1">
                  <a:solidFill>
                    <a:srgbClr val="FF3D3D"/>
                  </a:solidFill>
                </a:rPr>
                <a:t>Ay</a:t>
              </a:r>
              <a:endParaRPr lang="en-US" altLang="zh-CN" sz="2000" b="0" i="1" dirty="0">
                <a:solidFill>
                  <a:srgbClr val="FF3D3D"/>
                </a:solidFill>
              </a:endParaRPr>
            </a:p>
          </p:txBody>
        </p:sp>
        <p:sp>
          <p:nvSpPr>
            <p:cNvPr id="88" name="Text Box 171"/>
            <p:cNvSpPr txBox="1">
              <a:spLocks noChangeArrowheads="1"/>
            </p:cNvSpPr>
            <p:nvPr/>
          </p:nvSpPr>
          <p:spPr bwMode="auto">
            <a:xfrm>
              <a:off x="4524" y="3140"/>
              <a:ext cx="290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2000" b="1" i="1" dirty="0">
                  <a:solidFill>
                    <a:srgbClr val="FF3D3D"/>
                  </a:solidFill>
                </a:rPr>
                <a:t>F</a:t>
              </a:r>
              <a:r>
                <a:rPr lang="en-US" altLang="zh-CN" sz="2000" b="0" i="1" baseline="-25000" dirty="0">
                  <a:solidFill>
                    <a:srgbClr val="FF3D3D"/>
                  </a:solidFill>
                </a:rPr>
                <a:t>B</a:t>
              </a:r>
            </a:p>
          </p:txBody>
        </p:sp>
        <p:sp>
          <p:nvSpPr>
            <p:cNvPr id="89" name="Text Box 172"/>
            <p:cNvSpPr txBox="1">
              <a:spLocks noChangeArrowheads="1"/>
            </p:cNvSpPr>
            <p:nvPr/>
          </p:nvSpPr>
          <p:spPr bwMode="auto">
            <a:xfrm>
              <a:off x="2664" y="3619"/>
              <a:ext cx="337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2000" b="1" i="1" dirty="0" err="1">
                  <a:solidFill>
                    <a:srgbClr val="FF3D3D"/>
                  </a:solidFill>
                </a:rPr>
                <a:t>F</a:t>
              </a:r>
              <a:r>
                <a:rPr lang="en-US" altLang="zh-CN" sz="2000" b="0" i="1" baseline="-25000" dirty="0" err="1">
                  <a:solidFill>
                    <a:srgbClr val="FF3D3D"/>
                  </a:solidFill>
                </a:rPr>
                <a:t>Ax</a:t>
              </a:r>
              <a:endParaRPr lang="en-US" altLang="zh-CN" sz="2000" b="0" i="1" dirty="0">
                <a:solidFill>
                  <a:srgbClr val="FF3D3D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92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4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7" dur="500"/>
                                        <p:tgtEl>
                                          <p:spTgt spid="44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78" grpId="0"/>
      <p:bldP spid="44072" grpId="0" autoUpdateAnimBg="0"/>
      <p:bldP spid="4409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Text Box 4"/>
          <p:cNvSpPr txBox="1">
            <a:spLocks noChangeArrowheads="1"/>
          </p:cNvSpPr>
          <p:nvPr/>
        </p:nvSpPr>
        <p:spPr bwMode="auto">
          <a:xfrm>
            <a:off x="865322" y="580291"/>
            <a:ext cx="1114290" cy="461665"/>
          </a:xfrm>
          <a:prstGeom prst="rect">
            <a:avLst/>
          </a:prstGeom>
          <a:solidFill>
            <a:srgbClr val="00CC66"/>
          </a:solidFill>
          <a:ln w="12700">
            <a:solidFill>
              <a:schemeClr val="tx2"/>
            </a:solidFill>
            <a:miter lim="800000"/>
            <a:headEnd/>
            <a:tailEnd type="none" w="sm" len="lg"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截面法</a:t>
            </a:r>
          </a:p>
        </p:txBody>
      </p:sp>
      <p:grpSp>
        <p:nvGrpSpPr>
          <p:cNvPr id="7180" name="Group 5"/>
          <p:cNvGrpSpPr>
            <a:grpSpLocks/>
          </p:cNvGrpSpPr>
          <p:nvPr/>
        </p:nvGrpSpPr>
        <p:grpSpPr bwMode="auto">
          <a:xfrm>
            <a:off x="4644429" y="427604"/>
            <a:ext cx="3444874" cy="1849438"/>
            <a:chOff x="2639" y="2976"/>
            <a:chExt cx="2170" cy="1165"/>
          </a:xfrm>
        </p:grpSpPr>
        <p:sp>
          <p:nvSpPr>
            <p:cNvPr id="7221" name="Line 6"/>
            <p:cNvSpPr>
              <a:spLocks noChangeShapeType="1"/>
            </p:cNvSpPr>
            <p:nvPr/>
          </p:nvSpPr>
          <p:spPr bwMode="auto">
            <a:xfrm flipV="1">
              <a:off x="4543" y="3311"/>
              <a:ext cx="0" cy="397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22" name="Line 7"/>
            <p:cNvSpPr>
              <a:spLocks noChangeShapeType="1"/>
            </p:cNvSpPr>
            <p:nvPr/>
          </p:nvSpPr>
          <p:spPr bwMode="auto">
            <a:xfrm flipV="1">
              <a:off x="3103" y="3279"/>
              <a:ext cx="0" cy="419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23" name="Line 8"/>
            <p:cNvSpPr>
              <a:spLocks noChangeShapeType="1"/>
            </p:cNvSpPr>
            <p:nvPr/>
          </p:nvSpPr>
          <p:spPr bwMode="auto">
            <a:xfrm>
              <a:off x="4063" y="3304"/>
              <a:ext cx="384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24" name="Line 9"/>
            <p:cNvSpPr>
              <a:spLocks noChangeShapeType="1"/>
            </p:cNvSpPr>
            <p:nvPr/>
          </p:nvSpPr>
          <p:spPr bwMode="auto">
            <a:xfrm>
              <a:off x="3583" y="3688"/>
              <a:ext cx="0" cy="384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25" name="Line 10"/>
            <p:cNvSpPr>
              <a:spLocks noChangeShapeType="1"/>
            </p:cNvSpPr>
            <p:nvPr/>
          </p:nvSpPr>
          <p:spPr bwMode="auto">
            <a:xfrm flipV="1">
              <a:off x="3583" y="3304"/>
              <a:ext cx="48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26" name="Line 11"/>
            <p:cNvSpPr>
              <a:spLocks noChangeShapeType="1"/>
            </p:cNvSpPr>
            <p:nvPr/>
          </p:nvSpPr>
          <p:spPr bwMode="auto">
            <a:xfrm>
              <a:off x="3103" y="3704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27" name="Line 12"/>
            <p:cNvSpPr>
              <a:spLocks noChangeShapeType="1"/>
            </p:cNvSpPr>
            <p:nvPr/>
          </p:nvSpPr>
          <p:spPr bwMode="auto">
            <a:xfrm>
              <a:off x="3583" y="3704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28" name="Line 13"/>
            <p:cNvSpPr>
              <a:spLocks noChangeShapeType="1"/>
            </p:cNvSpPr>
            <p:nvPr/>
          </p:nvSpPr>
          <p:spPr bwMode="auto">
            <a:xfrm>
              <a:off x="4063" y="3704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29" name="Line 14"/>
            <p:cNvSpPr>
              <a:spLocks noChangeShapeType="1"/>
            </p:cNvSpPr>
            <p:nvPr/>
          </p:nvSpPr>
          <p:spPr bwMode="auto">
            <a:xfrm>
              <a:off x="4063" y="3304"/>
              <a:ext cx="480" cy="4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30" name="Line 15"/>
            <p:cNvSpPr>
              <a:spLocks noChangeShapeType="1"/>
            </p:cNvSpPr>
            <p:nvPr/>
          </p:nvSpPr>
          <p:spPr bwMode="auto">
            <a:xfrm>
              <a:off x="4063" y="3304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31" name="Line 16"/>
            <p:cNvSpPr>
              <a:spLocks noChangeShapeType="1"/>
            </p:cNvSpPr>
            <p:nvPr/>
          </p:nvSpPr>
          <p:spPr bwMode="auto">
            <a:xfrm>
              <a:off x="3583" y="3304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32" name="Line 17"/>
            <p:cNvSpPr>
              <a:spLocks noChangeShapeType="1"/>
            </p:cNvSpPr>
            <p:nvPr/>
          </p:nvSpPr>
          <p:spPr bwMode="auto">
            <a:xfrm>
              <a:off x="3583" y="3304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33" name="Line 18"/>
            <p:cNvSpPr>
              <a:spLocks noChangeShapeType="1"/>
            </p:cNvSpPr>
            <p:nvPr/>
          </p:nvSpPr>
          <p:spPr bwMode="auto">
            <a:xfrm flipV="1">
              <a:off x="3103" y="3304"/>
              <a:ext cx="48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34" name="Oval 19"/>
            <p:cNvSpPr>
              <a:spLocks noChangeArrowheads="1"/>
            </p:cNvSpPr>
            <p:nvPr/>
          </p:nvSpPr>
          <p:spPr bwMode="auto">
            <a:xfrm>
              <a:off x="3079" y="3675"/>
              <a:ext cx="48" cy="48"/>
            </a:xfrm>
            <a:prstGeom prst="ellipse">
              <a:avLst/>
            </a:prstGeom>
            <a:solidFill>
              <a:srgbClr val="969696"/>
            </a:solidFill>
            <a:ln w="12700" cap="sq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35" name="Oval 20"/>
            <p:cNvSpPr>
              <a:spLocks noChangeArrowheads="1"/>
            </p:cNvSpPr>
            <p:nvPr/>
          </p:nvSpPr>
          <p:spPr bwMode="auto">
            <a:xfrm>
              <a:off x="4517" y="3680"/>
              <a:ext cx="48" cy="48"/>
            </a:xfrm>
            <a:prstGeom prst="ellipse">
              <a:avLst/>
            </a:prstGeom>
            <a:solidFill>
              <a:srgbClr val="969696"/>
            </a:solidFill>
            <a:ln w="12700" cap="sq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36" name="Oval 21"/>
            <p:cNvSpPr>
              <a:spLocks noChangeArrowheads="1"/>
            </p:cNvSpPr>
            <p:nvPr/>
          </p:nvSpPr>
          <p:spPr bwMode="auto">
            <a:xfrm>
              <a:off x="3559" y="3674"/>
              <a:ext cx="48" cy="48"/>
            </a:xfrm>
            <a:prstGeom prst="ellipse">
              <a:avLst/>
            </a:prstGeom>
            <a:solidFill>
              <a:srgbClr val="969696"/>
            </a:solidFill>
            <a:ln w="1905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37" name="Oval 22"/>
            <p:cNvSpPr>
              <a:spLocks noChangeArrowheads="1"/>
            </p:cNvSpPr>
            <p:nvPr/>
          </p:nvSpPr>
          <p:spPr bwMode="auto">
            <a:xfrm>
              <a:off x="4039" y="3280"/>
              <a:ext cx="48" cy="48"/>
            </a:xfrm>
            <a:prstGeom prst="ellipse">
              <a:avLst/>
            </a:prstGeom>
            <a:solidFill>
              <a:srgbClr val="969696"/>
            </a:solidFill>
            <a:ln w="1905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38" name="Oval 23"/>
            <p:cNvSpPr>
              <a:spLocks noChangeArrowheads="1"/>
            </p:cNvSpPr>
            <p:nvPr/>
          </p:nvSpPr>
          <p:spPr bwMode="auto">
            <a:xfrm>
              <a:off x="3559" y="3280"/>
              <a:ext cx="48" cy="48"/>
            </a:xfrm>
            <a:prstGeom prst="ellipse">
              <a:avLst/>
            </a:prstGeom>
            <a:solidFill>
              <a:srgbClr val="969696"/>
            </a:solidFill>
            <a:ln w="1905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39" name="Oval 24"/>
            <p:cNvSpPr>
              <a:spLocks noChangeArrowheads="1"/>
            </p:cNvSpPr>
            <p:nvPr/>
          </p:nvSpPr>
          <p:spPr bwMode="auto">
            <a:xfrm>
              <a:off x="4039" y="3680"/>
              <a:ext cx="48" cy="48"/>
            </a:xfrm>
            <a:prstGeom prst="ellipse">
              <a:avLst/>
            </a:prstGeom>
            <a:solidFill>
              <a:srgbClr val="969696"/>
            </a:solidFill>
            <a:ln w="1905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5081" name="Text Box 25"/>
            <p:cNvSpPr txBox="1">
              <a:spLocks noChangeArrowheads="1"/>
            </p:cNvSpPr>
            <p:nvPr/>
          </p:nvSpPr>
          <p:spPr bwMode="auto">
            <a:xfrm>
              <a:off x="3329" y="3457"/>
              <a:ext cx="189" cy="269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1800" b="0" i="1" dirty="0"/>
                <a:t>a</a:t>
              </a:r>
            </a:p>
          </p:txBody>
        </p:sp>
        <p:sp>
          <p:nvSpPr>
            <p:cNvPr id="45082" name="Text Box 26"/>
            <p:cNvSpPr txBox="1">
              <a:spLocks noChangeArrowheads="1"/>
            </p:cNvSpPr>
            <p:nvPr/>
          </p:nvSpPr>
          <p:spPr bwMode="auto">
            <a:xfrm>
              <a:off x="4166" y="3466"/>
              <a:ext cx="189" cy="269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1800" b="0" i="1" dirty="0"/>
                <a:t>a</a:t>
              </a:r>
            </a:p>
          </p:txBody>
        </p:sp>
        <p:sp>
          <p:nvSpPr>
            <p:cNvPr id="45083" name="Text Box 27"/>
            <p:cNvSpPr txBox="1">
              <a:spLocks noChangeArrowheads="1"/>
            </p:cNvSpPr>
            <p:nvPr/>
          </p:nvSpPr>
          <p:spPr bwMode="auto">
            <a:xfrm>
              <a:off x="3744" y="3469"/>
              <a:ext cx="189" cy="269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1800" b="0" i="1" dirty="0"/>
                <a:t>a</a:t>
              </a:r>
            </a:p>
          </p:txBody>
        </p:sp>
        <p:sp>
          <p:nvSpPr>
            <p:cNvPr id="45084" name="Text Box 28"/>
            <p:cNvSpPr txBox="1">
              <a:spLocks noChangeArrowheads="1"/>
            </p:cNvSpPr>
            <p:nvPr/>
          </p:nvSpPr>
          <p:spPr bwMode="auto">
            <a:xfrm>
              <a:off x="4031" y="3346"/>
              <a:ext cx="189" cy="269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1800" b="0" i="1" dirty="0"/>
                <a:t>a</a:t>
              </a:r>
            </a:p>
          </p:txBody>
        </p:sp>
        <p:sp>
          <p:nvSpPr>
            <p:cNvPr id="45085" name="Text Box 29"/>
            <p:cNvSpPr txBox="1">
              <a:spLocks noChangeArrowheads="1"/>
            </p:cNvSpPr>
            <p:nvPr/>
          </p:nvSpPr>
          <p:spPr bwMode="auto">
            <a:xfrm>
              <a:off x="3546" y="3849"/>
              <a:ext cx="296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2000" b="1" i="1" dirty="0">
                  <a:solidFill>
                    <a:srgbClr val="FF3D3D"/>
                  </a:solidFill>
                </a:rPr>
                <a:t>F</a:t>
              </a:r>
              <a:r>
                <a:rPr lang="en-US" altLang="zh-CN" sz="2000" b="0" i="1" baseline="-25000" dirty="0">
                  <a:solidFill>
                    <a:srgbClr val="FF3D3D"/>
                  </a:solidFill>
                </a:rPr>
                <a:t>C</a:t>
              </a:r>
            </a:p>
          </p:txBody>
        </p:sp>
        <p:sp>
          <p:nvSpPr>
            <p:cNvPr id="45086" name="Text Box 30"/>
            <p:cNvSpPr txBox="1">
              <a:spLocks noChangeArrowheads="1"/>
            </p:cNvSpPr>
            <p:nvPr/>
          </p:nvSpPr>
          <p:spPr bwMode="auto">
            <a:xfrm>
              <a:off x="2919" y="3407"/>
              <a:ext cx="215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2000" b="0" i="1" dirty="0"/>
                <a:t>A</a:t>
              </a:r>
            </a:p>
          </p:txBody>
        </p:sp>
        <p:sp>
          <p:nvSpPr>
            <p:cNvPr id="45087" name="Text Box 31"/>
            <p:cNvSpPr txBox="1">
              <a:spLocks noChangeArrowheads="1"/>
            </p:cNvSpPr>
            <p:nvPr/>
          </p:nvSpPr>
          <p:spPr bwMode="auto">
            <a:xfrm>
              <a:off x="4501" y="3579"/>
              <a:ext cx="215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2000" b="0" i="1" dirty="0"/>
                <a:t>B</a:t>
              </a:r>
            </a:p>
          </p:txBody>
        </p:sp>
        <p:sp>
          <p:nvSpPr>
            <p:cNvPr id="45088" name="Text Box 32"/>
            <p:cNvSpPr txBox="1">
              <a:spLocks noChangeArrowheads="1"/>
            </p:cNvSpPr>
            <p:nvPr/>
          </p:nvSpPr>
          <p:spPr bwMode="auto">
            <a:xfrm>
              <a:off x="4017" y="3610"/>
              <a:ext cx="233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2000" b="0" i="1" dirty="0"/>
                <a:t>D</a:t>
              </a:r>
            </a:p>
          </p:txBody>
        </p:sp>
        <p:sp>
          <p:nvSpPr>
            <p:cNvPr id="45089" name="Text Box 33"/>
            <p:cNvSpPr txBox="1">
              <a:spLocks noChangeArrowheads="1"/>
            </p:cNvSpPr>
            <p:nvPr/>
          </p:nvSpPr>
          <p:spPr bwMode="auto">
            <a:xfrm>
              <a:off x="3569" y="3611"/>
              <a:ext cx="224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2000" b="0" i="1" dirty="0"/>
                <a:t>C</a:t>
              </a:r>
            </a:p>
          </p:txBody>
        </p:sp>
        <p:sp>
          <p:nvSpPr>
            <p:cNvPr id="45090" name="Text Box 34"/>
            <p:cNvSpPr txBox="1">
              <a:spLocks noChangeArrowheads="1"/>
            </p:cNvSpPr>
            <p:nvPr/>
          </p:nvSpPr>
          <p:spPr bwMode="auto">
            <a:xfrm>
              <a:off x="3979" y="3005"/>
              <a:ext cx="215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2000" b="0" i="1" dirty="0"/>
                <a:t>E</a:t>
              </a:r>
            </a:p>
          </p:txBody>
        </p:sp>
        <p:sp>
          <p:nvSpPr>
            <p:cNvPr id="45091" name="Text Box 35"/>
            <p:cNvSpPr txBox="1">
              <a:spLocks noChangeArrowheads="1"/>
            </p:cNvSpPr>
            <p:nvPr/>
          </p:nvSpPr>
          <p:spPr bwMode="auto">
            <a:xfrm>
              <a:off x="3490" y="3009"/>
              <a:ext cx="215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2000" b="0" i="1" dirty="0"/>
                <a:t>F</a:t>
              </a:r>
            </a:p>
          </p:txBody>
        </p:sp>
        <p:sp>
          <p:nvSpPr>
            <p:cNvPr id="45092" name="Text Box 36"/>
            <p:cNvSpPr txBox="1">
              <a:spLocks noChangeArrowheads="1"/>
            </p:cNvSpPr>
            <p:nvPr/>
          </p:nvSpPr>
          <p:spPr bwMode="auto">
            <a:xfrm>
              <a:off x="4180" y="2976"/>
              <a:ext cx="290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2000" b="1" i="1" dirty="0">
                  <a:solidFill>
                    <a:srgbClr val="FF3D3D"/>
                  </a:solidFill>
                </a:rPr>
                <a:t>F</a:t>
              </a:r>
              <a:r>
                <a:rPr lang="en-US" altLang="zh-CN" sz="2000" b="0" i="1" baseline="-25000" dirty="0">
                  <a:solidFill>
                    <a:srgbClr val="FF3D3D"/>
                  </a:solidFill>
                </a:rPr>
                <a:t>E</a:t>
              </a:r>
            </a:p>
          </p:txBody>
        </p:sp>
        <p:sp>
          <p:nvSpPr>
            <p:cNvPr id="7252" name="Line 37"/>
            <p:cNvSpPr>
              <a:spLocks noChangeShapeType="1"/>
            </p:cNvSpPr>
            <p:nvPr/>
          </p:nvSpPr>
          <p:spPr bwMode="auto">
            <a:xfrm>
              <a:off x="2639" y="3701"/>
              <a:ext cx="432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094" name="Text Box 38"/>
            <p:cNvSpPr txBox="1">
              <a:spLocks noChangeArrowheads="1"/>
            </p:cNvSpPr>
            <p:nvPr/>
          </p:nvSpPr>
          <p:spPr bwMode="auto">
            <a:xfrm>
              <a:off x="2787" y="3149"/>
              <a:ext cx="332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2000" b="1" i="1" dirty="0" err="1">
                  <a:solidFill>
                    <a:srgbClr val="FF3D3D"/>
                  </a:solidFill>
                </a:rPr>
                <a:t>F</a:t>
              </a:r>
              <a:r>
                <a:rPr lang="en-US" altLang="zh-CN" sz="2000" b="1" i="1" baseline="-25000" dirty="0" err="1">
                  <a:solidFill>
                    <a:srgbClr val="FF3D3D"/>
                  </a:solidFill>
                </a:rPr>
                <a:t>A</a:t>
              </a:r>
              <a:r>
                <a:rPr lang="en-US" altLang="zh-CN" sz="2000" b="0" i="1" baseline="-25000" dirty="0" err="1">
                  <a:solidFill>
                    <a:srgbClr val="FF3D3D"/>
                  </a:solidFill>
                </a:rPr>
                <a:t>y</a:t>
              </a:r>
              <a:endParaRPr lang="en-US" altLang="zh-CN" sz="2000" b="0" i="1" dirty="0">
                <a:solidFill>
                  <a:srgbClr val="FF3D3D"/>
                </a:solidFill>
              </a:endParaRPr>
            </a:p>
          </p:txBody>
        </p:sp>
        <p:sp>
          <p:nvSpPr>
            <p:cNvPr id="45095" name="Text Box 39"/>
            <p:cNvSpPr txBox="1">
              <a:spLocks noChangeArrowheads="1"/>
            </p:cNvSpPr>
            <p:nvPr/>
          </p:nvSpPr>
          <p:spPr bwMode="auto">
            <a:xfrm>
              <a:off x="4519" y="3145"/>
              <a:ext cx="290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2000" b="1" i="1" dirty="0">
                  <a:solidFill>
                    <a:srgbClr val="FF3D3D"/>
                  </a:solidFill>
                </a:rPr>
                <a:t>F</a:t>
              </a:r>
              <a:r>
                <a:rPr lang="en-US" altLang="zh-CN" sz="2000" b="0" i="1" baseline="-25000" dirty="0">
                  <a:solidFill>
                    <a:srgbClr val="FF3D3D"/>
                  </a:solidFill>
                </a:rPr>
                <a:t>B</a:t>
              </a:r>
            </a:p>
          </p:txBody>
        </p:sp>
        <p:sp>
          <p:nvSpPr>
            <p:cNvPr id="45096" name="Text Box 40"/>
            <p:cNvSpPr txBox="1">
              <a:spLocks noChangeArrowheads="1"/>
            </p:cNvSpPr>
            <p:nvPr/>
          </p:nvSpPr>
          <p:spPr bwMode="auto">
            <a:xfrm>
              <a:off x="2664" y="3619"/>
              <a:ext cx="337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2000" b="1" i="1" dirty="0" err="1">
                  <a:solidFill>
                    <a:srgbClr val="FF3D3D"/>
                  </a:solidFill>
                </a:rPr>
                <a:t>F</a:t>
              </a:r>
              <a:r>
                <a:rPr lang="en-US" altLang="zh-CN" sz="2000" b="0" i="1" baseline="-25000" dirty="0" err="1">
                  <a:solidFill>
                    <a:srgbClr val="FF3D3D"/>
                  </a:solidFill>
                </a:rPr>
                <a:t>Ax</a:t>
              </a:r>
              <a:endParaRPr lang="en-US" altLang="zh-CN" sz="2000" b="0" i="1" dirty="0">
                <a:solidFill>
                  <a:srgbClr val="FF3D3D"/>
                </a:solidFill>
              </a:endParaRPr>
            </a:p>
          </p:txBody>
        </p:sp>
      </p:grpSp>
      <p:sp>
        <p:nvSpPr>
          <p:cNvPr id="45097" name="Text Box 41"/>
          <p:cNvSpPr txBox="1">
            <a:spLocks noChangeArrowheads="1"/>
          </p:cNvSpPr>
          <p:nvPr/>
        </p:nvSpPr>
        <p:spPr bwMode="auto">
          <a:xfrm>
            <a:off x="823012" y="1110119"/>
            <a:ext cx="3130550" cy="1016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取整体为研究对象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受力分析如图。</a:t>
            </a:r>
          </a:p>
        </p:txBody>
      </p:sp>
      <p:sp>
        <p:nvSpPr>
          <p:cNvPr id="45098" name="Text Box 42"/>
          <p:cNvSpPr txBox="1">
            <a:spLocks noChangeArrowheads="1"/>
          </p:cNvSpPr>
          <p:nvPr/>
        </p:nvSpPr>
        <p:spPr bwMode="auto">
          <a:xfrm>
            <a:off x="1048813" y="2179522"/>
            <a:ext cx="2447925" cy="1573212"/>
          </a:xfrm>
          <a:prstGeom prst="rect">
            <a:avLst/>
          </a:prstGeom>
          <a:noFill/>
          <a:ln w="31750">
            <a:noFill/>
            <a:miter lim="800000"/>
            <a:headEnd/>
            <a:tailEnd type="none" w="sm" len="lg"/>
          </a:ln>
          <a:effectLst/>
        </p:spPr>
        <p:txBody>
          <a:bodyPr>
            <a:spAutoFit/>
          </a:bodyPr>
          <a:lstStyle/>
          <a:p>
            <a:pPr>
              <a:lnSpc>
                <a:spcPct val="135000"/>
              </a:lnSpc>
              <a:defRPr/>
            </a:pPr>
            <a:r>
              <a:rPr lang="en-US" altLang="zh-CN" b="0" i="1" dirty="0" err="1">
                <a:solidFill>
                  <a:srgbClr val="0000FF"/>
                </a:solidFill>
              </a:rPr>
              <a:t>F</a:t>
            </a:r>
            <a:r>
              <a:rPr lang="en-US" altLang="zh-CN" b="0" i="1" baseline="-25000" dirty="0" err="1">
                <a:solidFill>
                  <a:srgbClr val="0000FF"/>
                </a:solidFill>
              </a:rPr>
              <a:t>Ax</a:t>
            </a:r>
            <a:r>
              <a:rPr lang="en-US" altLang="zh-CN" b="0" dirty="0">
                <a:solidFill>
                  <a:srgbClr val="0000FF"/>
                </a:solidFill>
              </a:rPr>
              <a:t>= </a:t>
            </a:r>
            <a:r>
              <a:rPr lang="zh-CN" altLang="en-US" b="0" dirty="0">
                <a:solidFill>
                  <a:srgbClr val="0000FF"/>
                </a:solidFill>
              </a:rPr>
              <a:t>－</a:t>
            </a:r>
            <a:r>
              <a:rPr lang="en-US" altLang="zh-CN" b="0" dirty="0">
                <a:solidFill>
                  <a:srgbClr val="0000FF"/>
                </a:solidFill>
              </a:rPr>
              <a:t>2 </a:t>
            </a:r>
            <a:r>
              <a:rPr lang="en-US" altLang="zh-CN" b="0" dirty="0" err="1">
                <a:solidFill>
                  <a:srgbClr val="0000FF"/>
                </a:solidFill>
              </a:rPr>
              <a:t>kN</a:t>
            </a:r>
            <a:endParaRPr lang="en-US" altLang="zh-CN" b="0" dirty="0">
              <a:solidFill>
                <a:srgbClr val="0000FF"/>
              </a:solidFill>
            </a:endParaRPr>
          </a:p>
          <a:p>
            <a:pPr>
              <a:lnSpc>
                <a:spcPct val="135000"/>
              </a:lnSpc>
              <a:defRPr/>
            </a:pPr>
            <a:r>
              <a:rPr lang="en-US" altLang="zh-CN" b="0" i="1" dirty="0" err="1">
                <a:solidFill>
                  <a:srgbClr val="0000FF"/>
                </a:solidFill>
              </a:rPr>
              <a:t>F</a:t>
            </a:r>
            <a:r>
              <a:rPr lang="en-US" altLang="zh-CN" b="0" i="1" baseline="-25000" dirty="0" err="1">
                <a:solidFill>
                  <a:srgbClr val="0000FF"/>
                </a:solidFill>
              </a:rPr>
              <a:t>Ay</a:t>
            </a:r>
            <a:r>
              <a:rPr lang="en-US" altLang="zh-CN" b="0" dirty="0">
                <a:solidFill>
                  <a:srgbClr val="0000FF"/>
                </a:solidFill>
              </a:rPr>
              <a:t>= 2 </a:t>
            </a:r>
            <a:r>
              <a:rPr lang="en-US" altLang="zh-CN" b="0" dirty="0" err="1">
                <a:solidFill>
                  <a:srgbClr val="0000FF"/>
                </a:solidFill>
              </a:rPr>
              <a:t>kN</a:t>
            </a:r>
            <a:endParaRPr lang="en-US" altLang="zh-CN" dirty="0">
              <a:solidFill>
                <a:srgbClr val="0000FF"/>
              </a:solidFill>
              <a:latin typeface="宋体" pitchFamily="2" charset="-122"/>
            </a:endParaRPr>
          </a:p>
          <a:p>
            <a:pPr>
              <a:lnSpc>
                <a:spcPct val="135000"/>
              </a:lnSpc>
              <a:defRPr/>
            </a:pPr>
            <a:r>
              <a:rPr lang="en-US" altLang="zh-CN" b="0" i="1" dirty="0">
                <a:solidFill>
                  <a:srgbClr val="0000FF"/>
                </a:solidFill>
              </a:rPr>
              <a:t>F</a:t>
            </a:r>
            <a:r>
              <a:rPr lang="en-US" altLang="zh-CN" b="0" i="1" baseline="-25000" dirty="0">
                <a:solidFill>
                  <a:srgbClr val="0000FF"/>
                </a:solidFill>
              </a:rPr>
              <a:t>B </a:t>
            </a:r>
            <a:r>
              <a:rPr lang="en-US" altLang="zh-CN" b="0" dirty="0">
                <a:solidFill>
                  <a:srgbClr val="0000FF"/>
                </a:solidFill>
              </a:rPr>
              <a:t>= 2 </a:t>
            </a:r>
            <a:r>
              <a:rPr lang="en-US" altLang="zh-CN" b="0" dirty="0" err="1">
                <a:solidFill>
                  <a:srgbClr val="0000FF"/>
                </a:solidFill>
              </a:rPr>
              <a:t>kN</a:t>
            </a:r>
            <a:endParaRPr lang="en-US" altLang="zh-CN" b="0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</a:endParaRPr>
          </a:p>
        </p:txBody>
      </p:sp>
      <p:sp>
        <p:nvSpPr>
          <p:cNvPr id="45099" name="Text Box 43"/>
          <p:cNvSpPr txBox="1">
            <a:spLocks noChangeArrowheads="1"/>
          </p:cNvSpPr>
          <p:nvPr/>
        </p:nvSpPr>
        <p:spPr bwMode="auto">
          <a:xfrm>
            <a:off x="3243423" y="2244156"/>
            <a:ext cx="4826000" cy="10895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b="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作一截面</a:t>
            </a:r>
            <a:r>
              <a:rPr lang="en-US" altLang="zh-CN" b="0" i="1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</a:rPr>
              <a:t>m-m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将三杆截断，取左部分为分离体，受力分析如图。</a:t>
            </a:r>
          </a:p>
        </p:txBody>
      </p:sp>
      <p:grpSp>
        <p:nvGrpSpPr>
          <p:cNvPr id="3" name="Group 44"/>
          <p:cNvGrpSpPr>
            <a:grpSpLocks/>
          </p:cNvGrpSpPr>
          <p:nvPr/>
        </p:nvGrpSpPr>
        <p:grpSpPr bwMode="auto">
          <a:xfrm>
            <a:off x="6300192" y="500628"/>
            <a:ext cx="600075" cy="1712913"/>
            <a:chOff x="1186" y="558"/>
            <a:chExt cx="378" cy="1079"/>
          </a:xfrm>
        </p:grpSpPr>
        <p:sp>
          <p:nvSpPr>
            <p:cNvPr id="7218" name="Text Box 45"/>
            <p:cNvSpPr txBox="1">
              <a:spLocks noChangeArrowheads="1"/>
            </p:cNvSpPr>
            <p:nvPr/>
          </p:nvSpPr>
          <p:spPr bwMode="auto">
            <a:xfrm>
              <a:off x="1186" y="558"/>
              <a:ext cx="2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>
                  <a:solidFill>
                    <a:srgbClr val="0000FF"/>
                  </a:solidFill>
                </a:rPr>
                <a:t>m</a:t>
              </a:r>
            </a:p>
          </p:txBody>
        </p:sp>
        <p:sp>
          <p:nvSpPr>
            <p:cNvPr id="7219" name="Line 46"/>
            <p:cNvSpPr>
              <a:spLocks noChangeShapeType="1"/>
            </p:cNvSpPr>
            <p:nvPr/>
          </p:nvSpPr>
          <p:spPr bwMode="auto">
            <a:xfrm>
              <a:off x="1186" y="695"/>
              <a:ext cx="371" cy="806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lgDash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20" name="Text Box 47"/>
            <p:cNvSpPr txBox="1">
              <a:spLocks noChangeArrowheads="1"/>
            </p:cNvSpPr>
            <p:nvPr/>
          </p:nvSpPr>
          <p:spPr bwMode="auto">
            <a:xfrm>
              <a:off x="1360" y="1387"/>
              <a:ext cx="2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 i="1">
                  <a:solidFill>
                    <a:srgbClr val="0000FF"/>
                  </a:solidFill>
                </a:rPr>
                <a:t>m</a:t>
              </a:r>
            </a:p>
          </p:txBody>
        </p:sp>
      </p:grpSp>
      <p:grpSp>
        <p:nvGrpSpPr>
          <p:cNvPr id="4" name="Group 48"/>
          <p:cNvGrpSpPr>
            <a:grpSpLocks/>
          </p:cNvGrpSpPr>
          <p:nvPr/>
        </p:nvGrpSpPr>
        <p:grpSpPr bwMode="auto">
          <a:xfrm>
            <a:off x="692151" y="4077559"/>
            <a:ext cx="2473325" cy="1843088"/>
            <a:chOff x="288" y="1828"/>
            <a:chExt cx="1558" cy="1161"/>
          </a:xfrm>
        </p:grpSpPr>
        <p:sp>
          <p:nvSpPr>
            <p:cNvPr id="45105" name="Text Box 49"/>
            <p:cNvSpPr txBox="1">
              <a:spLocks noChangeArrowheads="1"/>
            </p:cNvSpPr>
            <p:nvPr/>
          </p:nvSpPr>
          <p:spPr bwMode="auto">
            <a:xfrm>
              <a:off x="1279" y="1828"/>
              <a:ext cx="356" cy="290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2000" b="1" i="1" dirty="0">
                  <a:solidFill>
                    <a:srgbClr val="FF3D3D"/>
                  </a:solidFill>
                </a:rPr>
                <a:t>F</a:t>
              </a:r>
              <a:r>
                <a:rPr lang="en-US" altLang="zh-CN" sz="2000" b="0" i="1" baseline="-25000" dirty="0">
                  <a:solidFill>
                    <a:srgbClr val="FF3D3D"/>
                  </a:solidFill>
                </a:rPr>
                <a:t>FE</a:t>
              </a:r>
              <a:endParaRPr lang="en-US" altLang="zh-CN" sz="2000" i="1" dirty="0">
                <a:solidFill>
                  <a:srgbClr val="FF3D3D"/>
                </a:solidFill>
                <a:latin typeface="宋体" pitchFamily="2" charset="-122"/>
              </a:endParaRPr>
            </a:p>
          </p:txBody>
        </p:sp>
        <p:sp>
          <p:nvSpPr>
            <p:cNvPr id="7191" name="Line 50"/>
            <p:cNvSpPr>
              <a:spLocks noChangeShapeType="1"/>
            </p:cNvSpPr>
            <p:nvPr/>
          </p:nvSpPr>
          <p:spPr bwMode="auto">
            <a:xfrm flipV="1">
              <a:off x="1237" y="2548"/>
              <a:ext cx="43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92" name="Line 51"/>
            <p:cNvSpPr>
              <a:spLocks noChangeShapeType="1"/>
            </p:cNvSpPr>
            <p:nvPr/>
          </p:nvSpPr>
          <p:spPr bwMode="auto">
            <a:xfrm flipV="1">
              <a:off x="1255" y="2157"/>
              <a:ext cx="404" cy="3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93" name="Line 52"/>
            <p:cNvSpPr>
              <a:spLocks noChangeShapeType="1"/>
            </p:cNvSpPr>
            <p:nvPr/>
          </p:nvSpPr>
          <p:spPr bwMode="auto">
            <a:xfrm>
              <a:off x="1270" y="2147"/>
              <a:ext cx="40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94" name="Line 53"/>
            <p:cNvSpPr>
              <a:spLocks noChangeShapeType="1"/>
            </p:cNvSpPr>
            <p:nvPr/>
          </p:nvSpPr>
          <p:spPr bwMode="auto">
            <a:xfrm flipV="1">
              <a:off x="1226" y="2149"/>
              <a:ext cx="206" cy="5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95" name="Line 54"/>
            <p:cNvSpPr>
              <a:spLocks noChangeShapeType="1"/>
            </p:cNvSpPr>
            <p:nvPr/>
          </p:nvSpPr>
          <p:spPr bwMode="auto">
            <a:xfrm flipV="1">
              <a:off x="1250" y="2305"/>
              <a:ext cx="253" cy="207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96" name="Line 55"/>
            <p:cNvSpPr>
              <a:spLocks noChangeShapeType="1"/>
            </p:cNvSpPr>
            <p:nvPr/>
          </p:nvSpPr>
          <p:spPr bwMode="auto">
            <a:xfrm>
              <a:off x="1270" y="2542"/>
              <a:ext cx="329" cy="5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12" name="Text Box 56"/>
            <p:cNvSpPr txBox="1">
              <a:spLocks noChangeArrowheads="1"/>
            </p:cNvSpPr>
            <p:nvPr/>
          </p:nvSpPr>
          <p:spPr bwMode="auto">
            <a:xfrm>
              <a:off x="1373" y="2480"/>
              <a:ext cx="374" cy="290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2000" b="1" i="1" dirty="0">
                  <a:solidFill>
                    <a:srgbClr val="FF3D3D"/>
                  </a:solidFill>
                </a:rPr>
                <a:t>F</a:t>
              </a:r>
              <a:r>
                <a:rPr lang="en-US" altLang="zh-CN" sz="2000" b="0" i="1" baseline="-25000" dirty="0">
                  <a:solidFill>
                    <a:srgbClr val="FF3D3D"/>
                  </a:solidFill>
                </a:rPr>
                <a:t>CD</a:t>
              </a:r>
              <a:endParaRPr lang="en-US" altLang="zh-CN" sz="2000" i="1" dirty="0">
                <a:solidFill>
                  <a:srgbClr val="FF3D3D"/>
                </a:solidFill>
                <a:latin typeface="宋体" pitchFamily="2" charset="-122"/>
              </a:endParaRPr>
            </a:p>
          </p:txBody>
        </p:sp>
        <p:sp>
          <p:nvSpPr>
            <p:cNvPr id="7198" name="Line 57"/>
            <p:cNvSpPr>
              <a:spLocks noChangeShapeType="1"/>
            </p:cNvSpPr>
            <p:nvPr/>
          </p:nvSpPr>
          <p:spPr bwMode="auto">
            <a:xfrm flipV="1">
              <a:off x="752" y="2127"/>
              <a:ext cx="0" cy="419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99" name="Line 58"/>
            <p:cNvSpPr>
              <a:spLocks noChangeShapeType="1"/>
            </p:cNvSpPr>
            <p:nvPr/>
          </p:nvSpPr>
          <p:spPr bwMode="auto">
            <a:xfrm>
              <a:off x="1232" y="2536"/>
              <a:ext cx="0" cy="384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0" name="Line 59"/>
            <p:cNvSpPr>
              <a:spLocks noChangeShapeType="1"/>
            </p:cNvSpPr>
            <p:nvPr/>
          </p:nvSpPr>
          <p:spPr bwMode="auto">
            <a:xfrm>
              <a:off x="752" y="2552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1" name="Line 60"/>
            <p:cNvSpPr>
              <a:spLocks noChangeShapeType="1"/>
            </p:cNvSpPr>
            <p:nvPr/>
          </p:nvSpPr>
          <p:spPr bwMode="auto">
            <a:xfrm>
              <a:off x="1232" y="2152"/>
              <a:ext cx="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2" name="Line 61"/>
            <p:cNvSpPr>
              <a:spLocks noChangeShapeType="1"/>
            </p:cNvSpPr>
            <p:nvPr/>
          </p:nvSpPr>
          <p:spPr bwMode="auto">
            <a:xfrm flipV="1">
              <a:off x="752" y="2152"/>
              <a:ext cx="480" cy="3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03" name="Oval 62"/>
            <p:cNvSpPr>
              <a:spLocks noChangeArrowheads="1"/>
            </p:cNvSpPr>
            <p:nvPr/>
          </p:nvSpPr>
          <p:spPr bwMode="auto">
            <a:xfrm>
              <a:off x="728" y="2523"/>
              <a:ext cx="48" cy="48"/>
            </a:xfrm>
            <a:prstGeom prst="ellipse">
              <a:avLst/>
            </a:prstGeom>
            <a:solidFill>
              <a:srgbClr val="969696"/>
            </a:solidFill>
            <a:ln w="12700" cap="sq">
              <a:solidFill>
                <a:schemeClr val="tx1"/>
              </a:solidFill>
              <a:round/>
              <a:headEnd/>
              <a:tailEnd type="none" w="med" len="lg"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04" name="Oval 63"/>
            <p:cNvSpPr>
              <a:spLocks noChangeArrowheads="1"/>
            </p:cNvSpPr>
            <p:nvPr/>
          </p:nvSpPr>
          <p:spPr bwMode="auto">
            <a:xfrm>
              <a:off x="1208" y="2522"/>
              <a:ext cx="48" cy="48"/>
            </a:xfrm>
            <a:prstGeom prst="ellipse">
              <a:avLst/>
            </a:prstGeom>
            <a:solidFill>
              <a:srgbClr val="969696"/>
            </a:solidFill>
            <a:ln w="1905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205" name="Oval 64"/>
            <p:cNvSpPr>
              <a:spLocks noChangeArrowheads="1"/>
            </p:cNvSpPr>
            <p:nvPr/>
          </p:nvSpPr>
          <p:spPr bwMode="auto">
            <a:xfrm>
              <a:off x="1208" y="2128"/>
              <a:ext cx="48" cy="48"/>
            </a:xfrm>
            <a:prstGeom prst="ellipse">
              <a:avLst/>
            </a:prstGeom>
            <a:solidFill>
              <a:srgbClr val="969696"/>
            </a:solidFill>
            <a:ln w="19050">
              <a:solidFill>
                <a:schemeClr val="tx1"/>
              </a:solidFill>
              <a:round/>
              <a:headEnd/>
              <a:tailEnd type="none" w="sm" len="lg"/>
            </a:ln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45121" name="Text Box 65"/>
            <p:cNvSpPr txBox="1">
              <a:spLocks noChangeArrowheads="1"/>
            </p:cNvSpPr>
            <p:nvPr/>
          </p:nvSpPr>
          <p:spPr bwMode="auto">
            <a:xfrm>
              <a:off x="978" y="2305"/>
              <a:ext cx="189" cy="269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1800" b="0" i="1" dirty="0"/>
                <a:t>a</a:t>
              </a:r>
            </a:p>
          </p:txBody>
        </p:sp>
        <p:sp>
          <p:nvSpPr>
            <p:cNvPr id="45122" name="Text Box 66"/>
            <p:cNvSpPr txBox="1">
              <a:spLocks noChangeArrowheads="1"/>
            </p:cNvSpPr>
            <p:nvPr/>
          </p:nvSpPr>
          <p:spPr bwMode="auto">
            <a:xfrm>
              <a:off x="1195" y="2697"/>
              <a:ext cx="296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2000" b="1" i="1" dirty="0">
                  <a:solidFill>
                    <a:srgbClr val="FF3D3D"/>
                  </a:solidFill>
                </a:rPr>
                <a:t>F</a:t>
              </a:r>
              <a:r>
                <a:rPr lang="en-US" altLang="zh-CN" sz="2000" b="0" i="1" baseline="-25000" dirty="0">
                  <a:solidFill>
                    <a:srgbClr val="FF3D3D"/>
                  </a:solidFill>
                </a:rPr>
                <a:t>C</a:t>
              </a:r>
            </a:p>
          </p:txBody>
        </p:sp>
        <p:sp>
          <p:nvSpPr>
            <p:cNvPr id="45123" name="Text Box 67"/>
            <p:cNvSpPr txBox="1">
              <a:spLocks noChangeArrowheads="1"/>
            </p:cNvSpPr>
            <p:nvPr/>
          </p:nvSpPr>
          <p:spPr bwMode="auto">
            <a:xfrm>
              <a:off x="568" y="2255"/>
              <a:ext cx="215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2000" b="0" i="1" dirty="0"/>
                <a:t>A</a:t>
              </a:r>
            </a:p>
          </p:txBody>
        </p:sp>
        <p:sp>
          <p:nvSpPr>
            <p:cNvPr id="45124" name="Text Box 68"/>
            <p:cNvSpPr txBox="1">
              <a:spLocks noChangeArrowheads="1"/>
            </p:cNvSpPr>
            <p:nvPr/>
          </p:nvSpPr>
          <p:spPr bwMode="auto">
            <a:xfrm>
              <a:off x="1208" y="2458"/>
              <a:ext cx="224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2000" b="0" i="1" dirty="0"/>
                <a:t>C</a:t>
              </a:r>
            </a:p>
          </p:txBody>
        </p:sp>
        <p:sp>
          <p:nvSpPr>
            <p:cNvPr id="45125" name="Text Box 69"/>
            <p:cNvSpPr txBox="1">
              <a:spLocks noChangeArrowheads="1"/>
            </p:cNvSpPr>
            <p:nvPr/>
          </p:nvSpPr>
          <p:spPr bwMode="auto">
            <a:xfrm>
              <a:off x="1103" y="1860"/>
              <a:ext cx="215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2000" b="0" i="1" dirty="0"/>
                <a:t>F</a:t>
              </a:r>
            </a:p>
          </p:txBody>
        </p:sp>
        <p:sp>
          <p:nvSpPr>
            <p:cNvPr id="7211" name="Line 70"/>
            <p:cNvSpPr>
              <a:spLocks noChangeShapeType="1"/>
            </p:cNvSpPr>
            <p:nvPr/>
          </p:nvSpPr>
          <p:spPr bwMode="auto">
            <a:xfrm>
              <a:off x="288" y="2549"/>
              <a:ext cx="432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27" name="Text Box 71"/>
            <p:cNvSpPr txBox="1">
              <a:spLocks noChangeArrowheads="1"/>
            </p:cNvSpPr>
            <p:nvPr/>
          </p:nvSpPr>
          <p:spPr bwMode="auto">
            <a:xfrm>
              <a:off x="460" y="2064"/>
              <a:ext cx="332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2000" b="1" i="1" dirty="0" err="1">
                  <a:solidFill>
                    <a:srgbClr val="FF3D3D"/>
                  </a:solidFill>
                </a:rPr>
                <a:t>F</a:t>
              </a:r>
              <a:r>
                <a:rPr lang="en-US" altLang="zh-CN" sz="2000" b="0" i="1" baseline="-25000" dirty="0" err="1">
                  <a:solidFill>
                    <a:srgbClr val="FF3D3D"/>
                  </a:solidFill>
                </a:rPr>
                <a:t>Ay</a:t>
              </a:r>
              <a:endParaRPr lang="en-US" altLang="zh-CN" sz="2000" b="0" i="1" dirty="0">
                <a:solidFill>
                  <a:srgbClr val="FF3D3D"/>
                </a:solidFill>
              </a:endParaRPr>
            </a:p>
          </p:txBody>
        </p:sp>
        <p:sp>
          <p:nvSpPr>
            <p:cNvPr id="45128" name="Text Box 72"/>
            <p:cNvSpPr txBox="1">
              <a:spLocks noChangeArrowheads="1"/>
            </p:cNvSpPr>
            <p:nvPr/>
          </p:nvSpPr>
          <p:spPr bwMode="auto">
            <a:xfrm>
              <a:off x="397" y="2508"/>
              <a:ext cx="337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2000" b="1" i="1" dirty="0" err="1">
                  <a:solidFill>
                    <a:srgbClr val="FF3D3D"/>
                  </a:solidFill>
                </a:rPr>
                <a:t>F</a:t>
              </a:r>
              <a:r>
                <a:rPr lang="en-US" altLang="zh-CN" sz="2000" b="0" i="1" baseline="-25000" dirty="0" err="1">
                  <a:solidFill>
                    <a:srgbClr val="FF3D3D"/>
                  </a:solidFill>
                </a:rPr>
                <a:t>Ax</a:t>
              </a:r>
              <a:endParaRPr lang="en-US" altLang="zh-CN" sz="2000" b="0" i="1" dirty="0">
                <a:solidFill>
                  <a:srgbClr val="FF3D3D"/>
                </a:solidFill>
              </a:endParaRPr>
            </a:p>
          </p:txBody>
        </p:sp>
        <p:sp>
          <p:nvSpPr>
            <p:cNvPr id="7214" name="Line 73"/>
            <p:cNvSpPr>
              <a:spLocks noChangeShapeType="1"/>
            </p:cNvSpPr>
            <p:nvPr/>
          </p:nvSpPr>
          <p:spPr bwMode="auto">
            <a:xfrm flipV="1">
              <a:off x="1660" y="2178"/>
              <a:ext cx="0" cy="36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130" name="Text Box 74"/>
            <p:cNvSpPr txBox="1">
              <a:spLocks noChangeArrowheads="1"/>
            </p:cNvSpPr>
            <p:nvPr/>
          </p:nvSpPr>
          <p:spPr bwMode="auto">
            <a:xfrm>
              <a:off x="1613" y="2357"/>
              <a:ext cx="233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2000" b="0" i="1" dirty="0"/>
                <a:t>D</a:t>
              </a:r>
            </a:p>
          </p:txBody>
        </p:sp>
        <p:sp>
          <p:nvSpPr>
            <p:cNvPr id="45131" name="Text Box 75"/>
            <p:cNvSpPr txBox="1">
              <a:spLocks noChangeArrowheads="1"/>
            </p:cNvSpPr>
            <p:nvPr/>
          </p:nvSpPr>
          <p:spPr bwMode="auto">
            <a:xfrm>
              <a:off x="1603" y="1891"/>
              <a:ext cx="215" cy="292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5000"/>
                </a:lnSpc>
              </a:pPr>
              <a:r>
                <a:rPr lang="en-US" altLang="zh-CN" sz="2000" b="0" i="1" dirty="0"/>
                <a:t>E</a:t>
              </a:r>
            </a:p>
          </p:txBody>
        </p:sp>
        <p:sp>
          <p:nvSpPr>
            <p:cNvPr id="45132" name="Text Box 76"/>
            <p:cNvSpPr txBox="1">
              <a:spLocks noChangeArrowheads="1"/>
            </p:cNvSpPr>
            <p:nvPr/>
          </p:nvSpPr>
          <p:spPr bwMode="auto">
            <a:xfrm>
              <a:off x="1470" y="2181"/>
              <a:ext cx="362" cy="290"/>
            </a:xfrm>
            <a:prstGeom prst="rect">
              <a:avLst/>
            </a:prstGeom>
            <a:noFill/>
            <a:ln w="31750">
              <a:noFill/>
              <a:miter lim="800000"/>
              <a:headEnd/>
              <a:tailEnd type="none" w="sm" len="lg"/>
            </a:ln>
            <a:effectLst/>
          </p:spPr>
          <p:txBody>
            <a:bodyPr wrap="none">
              <a:spAutoFit/>
            </a:bodyPr>
            <a:lstStyle/>
            <a:p>
              <a:pPr algn="ctr">
                <a:lnSpc>
                  <a:spcPct val="135000"/>
                </a:lnSpc>
                <a:defRPr/>
              </a:pPr>
              <a:r>
                <a:rPr lang="en-US" altLang="zh-CN" sz="2000" b="1" i="1" dirty="0">
                  <a:solidFill>
                    <a:srgbClr val="FF3D3D"/>
                  </a:solidFill>
                </a:rPr>
                <a:t>F</a:t>
              </a:r>
              <a:r>
                <a:rPr lang="en-US" altLang="zh-CN" sz="2000" b="0" i="1" baseline="-25000" dirty="0">
                  <a:solidFill>
                    <a:srgbClr val="FF3D3D"/>
                  </a:solidFill>
                </a:rPr>
                <a:t>C</a:t>
              </a:r>
              <a:r>
                <a:rPr lang="en-US" altLang="zh-CN" sz="2000" b="0" baseline="-25000" dirty="0">
                  <a:solidFill>
                    <a:srgbClr val="FF3D3D"/>
                  </a:solidFill>
                </a:rPr>
                <a:t>E</a:t>
              </a:r>
              <a:endParaRPr lang="en-US" altLang="zh-CN" sz="2000" dirty="0">
                <a:solidFill>
                  <a:srgbClr val="FF3D3D"/>
                </a:solidFill>
                <a:latin typeface="宋体" pitchFamily="2" charset="-122"/>
              </a:endParaRPr>
            </a:p>
          </p:txBody>
        </p:sp>
      </p:grpSp>
      <p:grpSp>
        <p:nvGrpSpPr>
          <p:cNvPr id="5" name="Group 77"/>
          <p:cNvGrpSpPr>
            <a:grpSpLocks/>
          </p:cNvGrpSpPr>
          <p:nvPr/>
        </p:nvGrpSpPr>
        <p:grpSpPr bwMode="auto">
          <a:xfrm>
            <a:off x="3246641" y="3338848"/>
            <a:ext cx="5275262" cy="490538"/>
            <a:chOff x="2035" y="1835"/>
            <a:chExt cx="3323" cy="309"/>
          </a:xfrm>
        </p:grpSpPr>
        <p:graphicFrame>
          <p:nvGraphicFramePr>
            <p:cNvPr id="7177" name="Object 78"/>
            <p:cNvGraphicFramePr>
              <a:graphicFrameLocks noChangeAspect="1"/>
            </p:cNvGraphicFramePr>
            <p:nvPr/>
          </p:nvGraphicFramePr>
          <p:xfrm>
            <a:off x="2890" y="1835"/>
            <a:ext cx="2468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78" name="Equation" r:id="rId3" imgW="2057400" imgH="228600" progId="Equation.3">
                    <p:embed/>
                  </p:oleObj>
                </mc:Choice>
                <mc:Fallback>
                  <p:oleObj name="Equation" r:id="rId3" imgW="205740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90" y="1835"/>
                          <a:ext cx="2468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1593903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8" name="Object 79"/>
            <p:cNvGraphicFramePr>
              <a:graphicFrameLocks noChangeAspect="1"/>
            </p:cNvGraphicFramePr>
            <p:nvPr/>
          </p:nvGraphicFramePr>
          <p:xfrm>
            <a:off x="2035" y="1844"/>
            <a:ext cx="752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79" name="Equation" r:id="rId5" imgW="634680" imgH="253800" progId="Equation.3">
                    <p:embed/>
                  </p:oleObj>
                </mc:Choice>
                <mc:Fallback>
                  <p:oleObj name="Equation" r:id="rId5" imgW="63468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35" y="1844"/>
                          <a:ext cx="752" cy="3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1593903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80"/>
          <p:cNvGrpSpPr>
            <a:grpSpLocks/>
          </p:cNvGrpSpPr>
          <p:nvPr/>
        </p:nvGrpSpPr>
        <p:grpSpPr bwMode="auto">
          <a:xfrm>
            <a:off x="3246641" y="3800811"/>
            <a:ext cx="4498975" cy="492125"/>
            <a:chOff x="2024" y="2252"/>
            <a:chExt cx="2834" cy="310"/>
          </a:xfrm>
        </p:grpSpPr>
        <p:graphicFrame>
          <p:nvGraphicFramePr>
            <p:cNvPr id="7175" name="Object 81"/>
            <p:cNvGraphicFramePr>
              <a:graphicFrameLocks noChangeAspect="1"/>
            </p:cNvGraphicFramePr>
            <p:nvPr/>
          </p:nvGraphicFramePr>
          <p:xfrm>
            <a:off x="2932" y="2252"/>
            <a:ext cx="1926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80" name="Equation" r:id="rId7" imgW="1638000" imgH="241200" progId="Equation.3">
                    <p:embed/>
                  </p:oleObj>
                </mc:Choice>
                <mc:Fallback>
                  <p:oleObj name="Equation" r:id="rId7" imgW="163800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32" y="2252"/>
                          <a:ext cx="1926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1593903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6" name="Object 82"/>
            <p:cNvGraphicFramePr>
              <a:graphicFrameLocks noChangeAspect="1"/>
            </p:cNvGraphicFramePr>
            <p:nvPr/>
          </p:nvGraphicFramePr>
          <p:xfrm>
            <a:off x="2024" y="2254"/>
            <a:ext cx="793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81" name="Equation" r:id="rId9" imgW="647640" imgH="253800" progId="Equation.3">
                    <p:embed/>
                  </p:oleObj>
                </mc:Choice>
                <mc:Fallback>
                  <p:oleObj name="Equation" r:id="rId9" imgW="64764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24" y="2254"/>
                          <a:ext cx="793" cy="3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1593903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83"/>
          <p:cNvGrpSpPr>
            <a:grpSpLocks/>
          </p:cNvGrpSpPr>
          <p:nvPr/>
        </p:nvGrpSpPr>
        <p:grpSpPr bwMode="auto">
          <a:xfrm>
            <a:off x="3241878" y="4270711"/>
            <a:ext cx="4702175" cy="503237"/>
            <a:chOff x="2011" y="2645"/>
            <a:chExt cx="2962" cy="317"/>
          </a:xfrm>
        </p:grpSpPr>
        <p:graphicFrame>
          <p:nvGraphicFramePr>
            <p:cNvPr id="7173" name="Object 84"/>
            <p:cNvGraphicFramePr>
              <a:graphicFrameLocks noChangeAspect="1"/>
            </p:cNvGraphicFramePr>
            <p:nvPr/>
          </p:nvGraphicFramePr>
          <p:xfrm>
            <a:off x="3251" y="2645"/>
            <a:ext cx="1722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82" name="Equation" r:id="rId11" imgW="1371600" imgH="241200" progId="Equation.3">
                    <p:embed/>
                  </p:oleObj>
                </mc:Choice>
                <mc:Fallback>
                  <p:oleObj name="Equation" r:id="rId11" imgW="137160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51" y="2645"/>
                          <a:ext cx="1722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1593903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4" name="Object 85"/>
            <p:cNvGraphicFramePr>
              <a:graphicFrameLocks noChangeAspect="1"/>
            </p:cNvGraphicFramePr>
            <p:nvPr/>
          </p:nvGraphicFramePr>
          <p:xfrm>
            <a:off x="2011" y="2663"/>
            <a:ext cx="1124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83" name="Equation" r:id="rId13" imgW="927000" imgH="253800" progId="Equation.3">
                    <p:embed/>
                  </p:oleObj>
                </mc:Choice>
                <mc:Fallback>
                  <p:oleObj name="Equation" r:id="rId13" imgW="92700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1" y="2663"/>
                          <a:ext cx="1124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1593903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86"/>
          <p:cNvGrpSpPr>
            <a:grpSpLocks/>
          </p:cNvGrpSpPr>
          <p:nvPr/>
        </p:nvGrpSpPr>
        <p:grpSpPr bwMode="auto">
          <a:xfrm>
            <a:off x="4508500" y="4999103"/>
            <a:ext cx="2190750" cy="1282700"/>
            <a:chOff x="2872" y="3151"/>
            <a:chExt cx="1380" cy="808"/>
          </a:xfrm>
        </p:grpSpPr>
        <p:graphicFrame>
          <p:nvGraphicFramePr>
            <p:cNvPr id="7170" name="Object 87"/>
            <p:cNvGraphicFramePr>
              <a:graphicFrameLocks noChangeAspect="1"/>
            </p:cNvGraphicFramePr>
            <p:nvPr/>
          </p:nvGraphicFramePr>
          <p:xfrm>
            <a:off x="2940" y="3408"/>
            <a:ext cx="1312" cy="30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84" name="公式" r:id="rId15" imgW="977760" imgH="253800" progId="Equation.3">
                    <p:embed/>
                  </p:oleObj>
                </mc:Choice>
                <mc:Fallback>
                  <p:oleObj name="公式" r:id="rId15" imgW="97776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40" y="3408"/>
                          <a:ext cx="1312" cy="30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1593903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1" name="Object 88"/>
            <p:cNvGraphicFramePr>
              <a:graphicFrameLocks noChangeAspect="1"/>
            </p:cNvGraphicFramePr>
            <p:nvPr/>
          </p:nvGraphicFramePr>
          <p:xfrm>
            <a:off x="2883" y="3151"/>
            <a:ext cx="1102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85" name="公式" r:id="rId17" imgW="799920" imgH="228600" progId="Equation.3">
                    <p:embed/>
                  </p:oleObj>
                </mc:Choice>
                <mc:Fallback>
                  <p:oleObj name="公式" r:id="rId17" imgW="79992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3" y="3151"/>
                          <a:ext cx="1102" cy="2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1593903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72" name="Object 89"/>
            <p:cNvGraphicFramePr>
              <a:graphicFrameLocks noChangeAspect="1"/>
            </p:cNvGraphicFramePr>
            <p:nvPr/>
          </p:nvGraphicFramePr>
          <p:xfrm>
            <a:off x="2872" y="3696"/>
            <a:ext cx="1139" cy="2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886" name="Equation" r:id="rId19" imgW="838080" imgH="215640" progId="Equation.3">
                    <p:embed/>
                  </p:oleObj>
                </mc:Choice>
                <mc:Fallback>
                  <p:oleObj name="Equation" r:id="rId19" imgW="83808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2" y="3696"/>
                          <a:ext cx="1139" cy="2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28398" dir="1593903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674068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5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5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8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4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97" grpId="0" autoUpdateAnimBg="0"/>
      <p:bldP spid="45098" grpId="0" autoUpdateAnimBg="0"/>
      <p:bldP spid="45099" grpId="0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ChangeArrowheads="1"/>
          </p:cNvSpPr>
          <p:nvPr/>
        </p:nvSpPr>
        <p:spPr bwMode="auto">
          <a:xfrm>
            <a:off x="981075" y="683419"/>
            <a:ext cx="1731564" cy="4616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零杆的确定</a:t>
            </a:r>
          </a:p>
        </p:txBody>
      </p:sp>
      <p:sp>
        <p:nvSpPr>
          <p:cNvPr id="34819" name="Rectangle 3"/>
          <p:cNvSpPr>
            <a:spLocks noChangeArrowheads="1"/>
          </p:cNvSpPr>
          <p:nvPr/>
        </p:nvSpPr>
        <p:spPr bwMode="auto">
          <a:xfrm>
            <a:off x="994693" y="1365556"/>
            <a:ext cx="35814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）若某节点只与两杆相连，节点上无主动力，两杆不平行，则两杆均为零杆。（右图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杆） </a:t>
            </a:r>
          </a:p>
        </p:txBody>
      </p:sp>
      <p:pic>
        <p:nvPicPr>
          <p:cNvPr id="348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8700" y="791778"/>
            <a:ext cx="3429000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1" name="Rectangle 5"/>
          <p:cNvSpPr>
            <a:spLocks noChangeArrowheads="1"/>
          </p:cNvSpPr>
          <p:nvPr/>
        </p:nvSpPr>
        <p:spPr bwMode="auto">
          <a:xfrm>
            <a:off x="1115616" y="3298633"/>
            <a:ext cx="633571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）若某节点与三杆相连，节点上无主动力，两杆平行，则第三杆为零杆。</a:t>
            </a:r>
          </a:p>
        </p:txBody>
      </p:sp>
      <p:pic>
        <p:nvPicPr>
          <p:cNvPr id="3482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4221088"/>
            <a:ext cx="30480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3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5743" y="4221088"/>
            <a:ext cx="3048000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07678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48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34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34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build="p" autoUpdateAnimBg="0"/>
      <p:bldP spid="34821" grpId="0" build="p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4"/>
          <p:cNvSpPr txBox="1">
            <a:spLocks noChangeArrowheads="1"/>
          </p:cNvSpPr>
          <p:nvPr/>
        </p:nvSpPr>
        <p:spPr bwMode="auto">
          <a:xfrm>
            <a:off x="1331640" y="1772816"/>
            <a:ext cx="6696744" cy="3416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FF0066"/>
              </a:buClr>
              <a:buFont typeface="Wingdings" panose="05000000000000000000" pitchFamily="2" charset="2"/>
              <a:buChar char="u"/>
            </a:pPr>
            <a:r>
              <a:rPr lang="en-US" altLang="zh-CN" b="0" dirty="0"/>
              <a:t>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首先去掉零杆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</a:p>
          <a:p>
            <a:pPr eaLnBrk="1" hangingPunct="1">
              <a:spcBef>
                <a:spcPct val="50000"/>
              </a:spcBef>
              <a:buClr>
                <a:srgbClr val="FF0066"/>
              </a:buClr>
              <a:buFont typeface="Wingdings" panose="05000000000000000000" pitchFamily="2" charset="2"/>
              <a:buChar char="u"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求支座反力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</a:p>
          <a:p>
            <a:pPr eaLnBrk="1" hangingPunct="1">
              <a:spcBef>
                <a:spcPct val="50000"/>
              </a:spcBef>
              <a:buClr>
                <a:srgbClr val="FF0066"/>
              </a:buClr>
              <a:buFont typeface="Wingdings" panose="05000000000000000000" pitchFamily="2" charset="2"/>
              <a:buChar char="u"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节点法通常从未知力少杆件入手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使独立平衡方程数等于未知量个数，避免解联立方程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一般假设杆件受拉力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</a:p>
          <a:p>
            <a:pPr eaLnBrk="1" hangingPunct="1">
              <a:spcBef>
                <a:spcPct val="50000"/>
              </a:spcBef>
              <a:buClr>
                <a:srgbClr val="FF0066"/>
              </a:buClr>
              <a:buFont typeface="Wingdings" panose="05000000000000000000" pitchFamily="2" charset="2"/>
              <a:buChar char="u"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截面法用截面截得杆件数通常不超过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个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</a:p>
          <a:p>
            <a:pPr eaLnBrk="1" hangingPunct="1">
              <a:spcBef>
                <a:spcPct val="50000"/>
              </a:spcBef>
              <a:buClr>
                <a:srgbClr val="FF0066"/>
              </a:buClr>
              <a:buFont typeface="Wingdings" panose="05000000000000000000" pitchFamily="2" charset="2"/>
              <a:buChar char="u"/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合理使用截面技巧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节点法与截面法结合使用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043608" y="836712"/>
            <a:ext cx="1415772" cy="4616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求解技巧</a:t>
            </a:r>
          </a:p>
        </p:txBody>
      </p:sp>
    </p:spTree>
    <p:extLst>
      <p:ext uri="{BB962C8B-B14F-4D97-AF65-F5344CB8AC3E}">
        <p14:creationId xmlns:p14="http://schemas.microsoft.com/office/powerpoint/2010/main" val="375376856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4"/>
          <p:cNvSpPr>
            <a:spLocks noChangeArrowheads="1"/>
          </p:cNvSpPr>
          <p:nvPr/>
        </p:nvSpPr>
        <p:spPr bwMode="auto">
          <a:xfrm>
            <a:off x="467544" y="1556792"/>
            <a:ext cx="5041304" cy="575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6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静力学专题</a:t>
            </a:r>
          </a:p>
        </p:txBody>
      </p:sp>
      <p:sp>
        <p:nvSpPr>
          <p:cNvPr id="33795" name="Rectangle 5"/>
          <p:cNvSpPr>
            <a:spLocks noChangeArrowheads="1"/>
          </p:cNvSpPr>
          <p:nvPr/>
        </p:nvSpPr>
        <p:spPr bwMode="auto">
          <a:xfrm>
            <a:off x="2267744" y="2996952"/>
            <a:ext cx="5544616" cy="604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32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-----</a:t>
            </a:r>
            <a:r>
              <a:rPr lang="zh-CN" altLang="en-US" sz="32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考虑摩擦的平衡问题</a:t>
            </a:r>
            <a:endParaRPr lang="zh-CN" altLang="en-US" sz="32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77645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0" name="Text Box 3"/>
          <p:cNvSpPr txBox="1">
            <a:spLocks noChangeArrowheads="1"/>
          </p:cNvSpPr>
          <p:nvPr/>
        </p:nvSpPr>
        <p:spPr bwMode="auto">
          <a:xfrm>
            <a:off x="503258" y="549519"/>
            <a:ext cx="8244435" cy="867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05000"/>
              </a:lnSpc>
            </a:pP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讨论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两等长的均质</a:t>
            </a:r>
            <a:r>
              <a:rPr lang="zh-CN" altLang="en-US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梯长</a:t>
            </a:r>
            <a:r>
              <a:rPr lang="en-US" altLang="en-US" b="0" i="1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</a:rPr>
              <a:t>l</a:t>
            </a:r>
            <a:r>
              <a:rPr lang="zh-CN" altLang="en-US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，两梯之间的夹角为</a:t>
            </a:r>
            <a:r>
              <a:rPr lang="en-US" altLang="zh-CN" b="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</a:rPr>
              <a:t>2</a:t>
            </a:r>
            <a:r>
              <a:rPr lang="zh-CN" altLang="en-US" b="0" i="1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Symbol" panose="05050102010706020507" pitchFamily="18" charset="2"/>
              </a:rPr>
              <a:t></a:t>
            </a:r>
            <a:r>
              <a:rPr lang="zh-CN" altLang="en-US" b="0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Symbol" panose="05050102010706020507" pitchFamily="18" charset="2"/>
              </a:rPr>
              <a:t>。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sym typeface="Symbol" panose="05050102010706020507" pitchFamily="18" charset="2"/>
              </a:rPr>
              <a:t>现有</a:t>
            </a:r>
            <a:r>
              <a:rPr lang="zh-CN" altLang="en-US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重为</a:t>
            </a:r>
            <a:r>
              <a:rPr lang="en-US" altLang="en-US" i="1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</a:rPr>
              <a:t>P</a:t>
            </a:r>
            <a:r>
              <a:rPr lang="zh-CN" altLang="en-US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的人沿梯子缓慢地向上爬，</a:t>
            </a:r>
            <a:r>
              <a:rPr lang="zh-CN" altLang="en-US" b="0" i="1" dirty="0">
                <a:solidFill>
                  <a:srgbClr val="000000"/>
                </a:solidFill>
                <a:ea typeface="楷体" panose="02010609060101010101" pitchFamily="49" charset="-122"/>
                <a:sym typeface="Symbol" panose="05050102010706020507" pitchFamily="18" charset="2"/>
              </a:rPr>
              <a:t></a:t>
            </a:r>
            <a:r>
              <a:rPr lang="zh-CN" altLang="en-US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在何范围内梯子保持静止？</a:t>
            </a:r>
            <a:endParaRPr lang="en-US" altLang="zh-CN" i="1" dirty="0">
              <a:solidFill>
                <a:srgbClr val="000000"/>
              </a:solidFill>
              <a:latin typeface="+mn-lt"/>
              <a:ea typeface="楷体" panose="02010609060101010101" pitchFamily="49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89" r="6657" b="6998"/>
          <a:stretch/>
        </p:blipFill>
        <p:spPr>
          <a:xfrm>
            <a:off x="1673146" y="1556792"/>
            <a:ext cx="5904657" cy="4827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69864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611560" y="476672"/>
            <a:ext cx="10710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建模</a:t>
            </a:r>
            <a:r>
              <a:rPr lang="en-US" altLang="zh-CN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endParaRPr lang="zh-CN" altLang="en-US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2" name="Text Box 6"/>
          <p:cNvSpPr txBox="1">
            <a:spLocks noChangeArrowheads="1"/>
          </p:cNvSpPr>
          <p:nvPr/>
        </p:nvSpPr>
        <p:spPr bwMode="auto">
          <a:xfrm>
            <a:off x="4103332" y="1679947"/>
            <a:ext cx="458465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0" dirty="0">
                <a:solidFill>
                  <a:srgbClr val="000000"/>
                </a:solidFill>
              </a:rPr>
              <a:t>       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整体平衡，但</a:t>
            </a:r>
            <a:r>
              <a:rPr lang="en-US" altLang="zh-CN" b="0" i="1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</a:rPr>
              <a:t>AC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无法平衡</a:t>
            </a:r>
          </a:p>
        </p:txBody>
      </p:sp>
      <p:grpSp>
        <p:nvGrpSpPr>
          <p:cNvPr id="33" name="组合 32"/>
          <p:cNvGrpSpPr/>
          <p:nvPr/>
        </p:nvGrpSpPr>
        <p:grpSpPr>
          <a:xfrm>
            <a:off x="547760" y="978331"/>
            <a:ext cx="2139928" cy="2014156"/>
            <a:chOff x="395536" y="3429000"/>
            <a:chExt cx="2139928" cy="2014156"/>
          </a:xfrm>
        </p:grpSpPr>
        <p:grpSp>
          <p:nvGrpSpPr>
            <p:cNvPr id="34" name="组合 33"/>
            <p:cNvGrpSpPr/>
            <p:nvPr/>
          </p:nvGrpSpPr>
          <p:grpSpPr>
            <a:xfrm>
              <a:off x="395536" y="3429000"/>
              <a:ext cx="2139928" cy="2014156"/>
              <a:chOff x="3042" y="3194816"/>
              <a:chExt cx="2139928" cy="2014156"/>
            </a:xfrm>
          </p:grpSpPr>
          <p:sp>
            <p:nvSpPr>
              <p:cNvPr id="37" name="弧形 120"/>
              <p:cNvSpPr>
                <a:spLocks noChangeAspect="1"/>
              </p:cNvSpPr>
              <p:nvPr/>
            </p:nvSpPr>
            <p:spPr bwMode="auto">
              <a:xfrm rot="12780000" flipH="1">
                <a:off x="1112586" y="3739512"/>
                <a:ext cx="84038" cy="84036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6350">
                <a:solidFill>
                  <a:srgbClr val="000000"/>
                </a:solidFill>
                <a:round/>
                <a:headEnd type="none" w="sm" len="med"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38" name="组合 37"/>
              <p:cNvGrpSpPr/>
              <p:nvPr/>
            </p:nvGrpSpPr>
            <p:grpSpPr>
              <a:xfrm>
                <a:off x="726538" y="3342696"/>
                <a:ext cx="742100" cy="1822807"/>
                <a:chOff x="-33930" y="0"/>
                <a:chExt cx="481879" cy="1183641"/>
              </a:xfrm>
            </p:grpSpPr>
            <p:sp>
              <p:nvSpPr>
                <p:cNvPr id="74" name="矩形 73"/>
                <p:cNvSpPr/>
                <p:nvPr/>
              </p:nvSpPr>
              <p:spPr>
                <a:xfrm rot="1260000">
                  <a:off x="-33930" y="0"/>
                  <a:ext cx="45085" cy="117729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75" name="矩形 74"/>
                <p:cNvSpPr/>
                <p:nvPr/>
              </p:nvSpPr>
              <p:spPr>
                <a:xfrm rot="20280000" flipH="1">
                  <a:off x="402230" y="6350"/>
                  <a:ext cx="45719" cy="1177291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39" name="椭圆 38"/>
              <p:cNvSpPr/>
              <p:nvPr/>
            </p:nvSpPr>
            <p:spPr>
              <a:xfrm>
                <a:off x="1033047" y="3352475"/>
                <a:ext cx="99792" cy="9979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40" name="文本框 115"/>
              <p:cNvSpPr txBox="1">
                <a:spLocks noChangeArrowheads="1"/>
              </p:cNvSpPr>
              <p:nvPr/>
            </p:nvSpPr>
            <p:spPr bwMode="auto">
              <a:xfrm>
                <a:off x="820856" y="3194816"/>
                <a:ext cx="205360" cy="2610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800" i="1" kern="1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C</a:t>
                </a:r>
                <a:endParaRPr lang="zh-CN" sz="1800" kern="100" dirty="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" name="文本框 113"/>
              <p:cNvSpPr txBox="1">
                <a:spLocks noChangeArrowheads="1"/>
              </p:cNvSpPr>
              <p:nvPr/>
            </p:nvSpPr>
            <p:spPr bwMode="auto">
              <a:xfrm>
                <a:off x="1865663" y="4861648"/>
                <a:ext cx="205360" cy="2610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800" i="1" kern="1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B</a:t>
                </a:r>
                <a:endParaRPr lang="zh-CN" sz="1800" kern="100" dirty="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" name="文本框 111"/>
              <p:cNvSpPr txBox="1">
                <a:spLocks noChangeArrowheads="1"/>
              </p:cNvSpPr>
              <p:nvPr/>
            </p:nvSpPr>
            <p:spPr bwMode="auto">
              <a:xfrm>
                <a:off x="166161" y="4856906"/>
                <a:ext cx="205360" cy="2610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800" i="1" kern="1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endParaRPr lang="zh-CN" sz="1800" kern="100" dirty="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3" name="直线 103"/>
              <p:cNvCxnSpPr>
                <a:cxnSpLocks noChangeShapeType="1"/>
              </p:cNvCxnSpPr>
              <p:nvPr/>
            </p:nvCxnSpPr>
            <p:spPr bwMode="auto">
              <a:xfrm>
                <a:off x="1085094" y="3468052"/>
                <a:ext cx="978" cy="1628203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prstDash val="dash"/>
                <a:round/>
                <a:headEnd type="none" w="sm" len="med"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sp>
            <p:nvSpPr>
              <p:cNvPr id="44" name="文本框 121"/>
              <p:cNvSpPr txBox="1">
                <a:spLocks noChangeArrowheads="1"/>
              </p:cNvSpPr>
              <p:nvPr/>
            </p:nvSpPr>
            <p:spPr bwMode="auto">
              <a:xfrm>
                <a:off x="950468" y="3762871"/>
                <a:ext cx="205360" cy="2610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l-GR" sz="1800" b="0" i="1" kern="100" dirty="0">
                    <a:effectLst/>
                    <a:cs typeface="Times New Roman" panose="02020603050405020304" pitchFamily="18" charset="0"/>
                  </a:rPr>
                  <a:t>α</a:t>
                </a:r>
                <a:endParaRPr lang="zh-CN" sz="1800" b="0" kern="100" dirty="0">
                  <a:effectLst/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5" name="Group 7"/>
              <p:cNvGrpSpPr>
                <a:grpSpLocks/>
              </p:cNvGrpSpPr>
              <p:nvPr/>
            </p:nvGrpSpPr>
            <p:grpSpPr bwMode="auto">
              <a:xfrm>
                <a:off x="18970" y="5113722"/>
                <a:ext cx="2124000" cy="95250"/>
                <a:chOff x="347" y="3693"/>
                <a:chExt cx="1565" cy="86"/>
              </a:xfrm>
            </p:grpSpPr>
            <p:sp>
              <p:nvSpPr>
                <p:cNvPr id="49" name="Line 8"/>
                <p:cNvSpPr>
                  <a:spLocks noChangeShapeType="1"/>
                </p:cNvSpPr>
                <p:nvPr/>
              </p:nvSpPr>
              <p:spPr bwMode="auto">
                <a:xfrm flipH="1">
                  <a:off x="1369" y="3701"/>
                  <a:ext cx="57" cy="7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0" name="Line 9"/>
                <p:cNvSpPr>
                  <a:spLocks noChangeShapeType="1"/>
                </p:cNvSpPr>
                <p:nvPr/>
              </p:nvSpPr>
              <p:spPr bwMode="auto">
                <a:xfrm flipH="1">
                  <a:off x="1431" y="3701"/>
                  <a:ext cx="57" cy="7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1" name="Line 10"/>
                <p:cNvSpPr>
                  <a:spLocks noChangeShapeType="1"/>
                </p:cNvSpPr>
                <p:nvPr/>
              </p:nvSpPr>
              <p:spPr bwMode="auto">
                <a:xfrm flipH="1">
                  <a:off x="1493" y="3701"/>
                  <a:ext cx="57" cy="7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2" name="Line 11"/>
                <p:cNvSpPr>
                  <a:spLocks noChangeShapeType="1"/>
                </p:cNvSpPr>
                <p:nvPr/>
              </p:nvSpPr>
              <p:spPr bwMode="auto">
                <a:xfrm flipH="1">
                  <a:off x="1555" y="3701"/>
                  <a:ext cx="57" cy="7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3" name="Line 12"/>
                <p:cNvSpPr>
                  <a:spLocks noChangeShapeType="1"/>
                </p:cNvSpPr>
                <p:nvPr/>
              </p:nvSpPr>
              <p:spPr bwMode="auto">
                <a:xfrm flipH="1">
                  <a:off x="1617" y="3701"/>
                  <a:ext cx="57" cy="7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4" name="Line 13"/>
                <p:cNvSpPr>
                  <a:spLocks noChangeShapeType="1"/>
                </p:cNvSpPr>
                <p:nvPr/>
              </p:nvSpPr>
              <p:spPr bwMode="auto">
                <a:xfrm flipH="1">
                  <a:off x="1679" y="3701"/>
                  <a:ext cx="57" cy="7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5" name="Line 14"/>
                <p:cNvSpPr>
                  <a:spLocks noChangeShapeType="1"/>
                </p:cNvSpPr>
                <p:nvPr/>
              </p:nvSpPr>
              <p:spPr bwMode="auto">
                <a:xfrm flipH="1">
                  <a:off x="1741" y="3701"/>
                  <a:ext cx="58" cy="7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6" name="Line 15"/>
                <p:cNvSpPr>
                  <a:spLocks noChangeShapeType="1"/>
                </p:cNvSpPr>
                <p:nvPr/>
              </p:nvSpPr>
              <p:spPr bwMode="auto">
                <a:xfrm flipH="1">
                  <a:off x="1803" y="3701"/>
                  <a:ext cx="58" cy="7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7" name="Line 16"/>
                <p:cNvSpPr>
                  <a:spLocks noChangeShapeType="1"/>
                </p:cNvSpPr>
                <p:nvPr/>
              </p:nvSpPr>
              <p:spPr bwMode="auto">
                <a:xfrm>
                  <a:off x="347" y="3693"/>
                  <a:ext cx="1565" cy="1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8" name="Line 17"/>
                <p:cNvSpPr>
                  <a:spLocks noChangeShapeType="1"/>
                </p:cNvSpPr>
                <p:nvPr/>
              </p:nvSpPr>
              <p:spPr bwMode="auto">
                <a:xfrm flipH="1">
                  <a:off x="861" y="3701"/>
                  <a:ext cx="57" cy="7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59" name="Line 18"/>
                <p:cNvSpPr>
                  <a:spLocks noChangeShapeType="1"/>
                </p:cNvSpPr>
                <p:nvPr/>
              </p:nvSpPr>
              <p:spPr bwMode="auto">
                <a:xfrm flipH="1">
                  <a:off x="923" y="3701"/>
                  <a:ext cx="57" cy="7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60" name="Line 19"/>
                <p:cNvSpPr>
                  <a:spLocks noChangeShapeType="1"/>
                </p:cNvSpPr>
                <p:nvPr/>
              </p:nvSpPr>
              <p:spPr bwMode="auto">
                <a:xfrm flipH="1">
                  <a:off x="985" y="3701"/>
                  <a:ext cx="57" cy="7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61" name="Line 20"/>
                <p:cNvSpPr>
                  <a:spLocks noChangeShapeType="1"/>
                </p:cNvSpPr>
                <p:nvPr/>
              </p:nvSpPr>
              <p:spPr bwMode="auto">
                <a:xfrm flipH="1">
                  <a:off x="1047" y="3701"/>
                  <a:ext cx="57" cy="7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62" name="Line 21"/>
                <p:cNvSpPr>
                  <a:spLocks noChangeShapeType="1"/>
                </p:cNvSpPr>
                <p:nvPr/>
              </p:nvSpPr>
              <p:spPr bwMode="auto">
                <a:xfrm flipH="1">
                  <a:off x="1109" y="3701"/>
                  <a:ext cx="57" cy="7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63" name="Line 22"/>
                <p:cNvSpPr>
                  <a:spLocks noChangeShapeType="1"/>
                </p:cNvSpPr>
                <p:nvPr/>
              </p:nvSpPr>
              <p:spPr bwMode="auto">
                <a:xfrm flipH="1">
                  <a:off x="1171" y="3701"/>
                  <a:ext cx="57" cy="7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64" name="Line 23"/>
                <p:cNvSpPr>
                  <a:spLocks noChangeShapeType="1"/>
                </p:cNvSpPr>
                <p:nvPr/>
              </p:nvSpPr>
              <p:spPr bwMode="auto">
                <a:xfrm flipH="1">
                  <a:off x="1233" y="3701"/>
                  <a:ext cx="58" cy="7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65" name="Line 24"/>
                <p:cNvSpPr>
                  <a:spLocks noChangeShapeType="1"/>
                </p:cNvSpPr>
                <p:nvPr/>
              </p:nvSpPr>
              <p:spPr bwMode="auto">
                <a:xfrm flipH="1">
                  <a:off x="1295" y="3701"/>
                  <a:ext cx="58" cy="7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66" name="Line 25"/>
                <p:cNvSpPr>
                  <a:spLocks noChangeShapeType="1"/>
                </p:cNvSpPr>
                <p:nvPr/>
              </p:nvSpPr>
              <p:spPr bwMode="auto">
                <a:xfrm flipH="1">
                  <a:off x="352" y="3696"/>
                  <a:ext cx="57" cy="7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67" name="Line 26"/>
                <p:cNvSpPr>
                  <a:spLocks noChangeShapeType="1"/>
                </p:cNvSpPr>
                <p:nvPr/>
              </p:nvSpPr>
              <p:spPr bwMode="auto">
                <a:xfrm flipH="1">
                  <a:off x="414" y="3696"/>
                  <a:ext cx="57" cy="7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68" name="Line 27"/>
                <p:cNvSpPr>
                  <a:spLocks noChangeShapeType="1"/>
                </p:cNvSpPr>
                <p:nvPr/>
              </p:nvSpPr>
              <p:spPr bwMode="auto">
                <a:xfrm flipH="1">
                  <a:off x="476" y="3696"/>
                  <a:ext cx="57" cy="7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69" name="Line 28"/>
                <p:cNvSpPr>
                  <a:spLocks noChangeShapeType="1"/>
                </p:cNvSpPr>
                <p:nvPr/>
              </p:nvSpPr>
              <p:spPr bwMode="auto">
                <a:xfrm flipH="1">
                  <a:off x="538" y="3696"/>
                  <a:ext cx="57" cy="7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70" name="Line 29"/>
                <p:cNvSpPr>
                  <a:spLocks noChangeShapeType="1"/>
                </p:cNvSpPr>
                <p:nvPr/>
              </p:nvSpPr>
              <p:spPr bwMode="auto">
                <a:xfrm flipH="1">
                  <a:off x="600" y="3696"/>
                  <a:ext cx="57" cy="7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71" name="Line 30"/>
                <p:cNvSpPr>
                  <a:spLocks noChangeShapeType="1"/>
                </p:cNvSpPr>
                <p:nvPr/>
              </p:nvSpPr>
              <p:spPr bwMode="auto">
                <a:xfrm flipH="1">
                  <a:off x="662" y="3696"/>
                  <a:ext cx="57" cy="7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72" name="Line 31"/>
                <p:cNvSpPr>
                  <a:spLocks noChangeShapeType="1"/>
                </p:cNvSpPr>
                <p:nvPr/>
              </p:nvSpPr>
              <p:spPr bwMode="auto">
                <a:xfrm flipH="1">
                  <a:off x="724" y="3696"/>
                  <a:ext cx="58" cy="7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  <p:sp>
              <p:nvSpPr>
                <p:cNvPr id="73" name="Line 32"/>
                <p:cNvSpPr>
                  <a:spLocks noChangeShapeType="1"/>
                </p:cNvSpPr>
                <p:nvPr/>
              </p:nvSpPr>
              <p:spPr bwMode="auto">
                <a:xfrm flipH="1">
                  <a:off x="786" y="3696"/>
                  <a:ext cx="58" cy="7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/>
                <a:lstStyle/>
                <a:p>
                  <a:endParaRPr lang="zh-CN" altLang="en-US"/>
                </a:p>
              </p:txBody>
            </p:sp>
          </p:grpSp>
          <p:sp>
            <p:nvSpPr>
              <p:cNvPr id="46" name="Line 51"/>
              <p:cNvSpPr>
                <a:spLocks noChangeShapeType="1"/>
              </p:cNvSpPr>
              <p:nvPr/>
            </p:nvSpPr>
            <p:spPr bwMode="auto">
              <a:xfrm>
                <a:off x="3042" y="5110547"/>
                <a:ext cx="2124000" cy="635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7" name="弧形 120"/>
              <p:cNvSpPr>
                <a:spLocks noChangeAspect="1"/>
              </p:cNvSpPr>
              <p:nvPr/>
            </p:nvSpPr>
            <p:spPr bwMode="auto">
              <a:xfrm rot="13680000" flipH="1">
                <a:off x="987706" y="3733139"/>
                <a:ext cx="84038" cy="84036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6350">
                <a:solidFill>
                  <a:srgbClr val="000000"/>
                </a:solidFill>
                <a:round/>
                <a:headEnd type="none" w="sm" len="med"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48" name="文本框 121"/>
              <p:cNvSpPr txBox="1">
                <a:spLocks noChangeArrowheads="1"/>
              </p:cNvSpPr>
              <p:nvPr/>
            </p:nvSpPr>
            <p:spPr bwMode="auto">
              <a:xfrm>
                <a:off x="1109400" y="3757021"/>
                <a:ext cx="205360" cy="2610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l-GR" sz="1800" b="0" i="1" kern="100" dirty="0">
                    <a:effectLst/>
                    <a:cs typeface="Times New Roman" panose="02020603050405020304" pitchFamily="18" charset="0"/>
                  </a:rPr>
                  <a:t>α</a:t>
                </a:r>
                <a:endParaRPr lang="zh-CN" sz="1800" b="0" kern="100" dirty="0">
                  <a:effectLst/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35" name="直线 104"/>
            <p:cNvCxnSpPr>
              <a:cxnSpLocks noChangeShapeType="1"/>
            </p:cNvCxnSpPr>
            <p:nvPr/>
          </p:nvCxnSpPr>
          <p:spPr bwMode="auto">
            <a:xfrm flipH="1">
              <a:off x="1684827" y="4140269"/>
              <a:ext cx="7823" cy="6239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36" name="文本框 118"/>
            <p:cNvSpPr txBox="1">
              <a:spLocks noChangeArrowheads="1"/>
            </p:cNvSpPr>
            <p:nvPr/>
          </p:nvSpPr>
          <p:spPr bwMode="auto">
            <a:xfrm>
              <a:off x="1490054" y="4466128"/>
              <a:ext cx="314885" cy="2875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800" b="1" i="1" kern="100" dirty="0"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endParaRPr 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1756835" y="496820"/>
            <a:ext cx="67329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i="1" dirty="0">
                <a:solidFill>
                  <a:srgbClr val="0000FF"/>
                </a:solidFill>
                <a:ea typeface="楷体" panose="02010609060101010101" pitchFamily="49" charset="-122"/>
              </a:rPr>
              <a:t>C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处为光滑铰链连接</a:t>
            </a:r>
            <a:r>
              <a:rPr lang="en-US" altLang="zh-CN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不计梯子自重，地面光滑。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994035" y="2846935"/>
            <a:ext cx="1909430" cy="589511"/>
            <a:chOff x="6722724" y="2887291"/>
            <a:chExt cx="1909430" cy="589511"/>
          </a:xfrm>
        </p:grpSpPr>
        <p:cxnSp>
          <p:nvCxnSpPr>
            <p:cNvPr id="120" name="直线 105"/>
            <p:cNvCxnSpPr>
              <a:cxnSpLocks noChangeShapeType="1"/>
            </p:cNvCxnSpPr>
            <p:nvPr/>
          </p:nvCxnSpPr>
          <p:spPr bwMode="auto">
            <a:xfrm flipH="1" flipV="1">
              <a:off x="6722724" y="2916847"/>
              <a:ext cx="7823" cy="5040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121" name="文本框 118"/>
            <p:cNvSpPr txBox="1">
              <a:spLocks noChangeArrowheads="1"/>
            </p:cNvSpPr>
            <p:nvPr/>
          </p:nvSpPr>
          <p:spPr bwMode="auto">
            <a:xfrm>
              <a:off x="6792381" y="3101599"/>
              <a:ext cx="517927" cy="3752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800" b="1" i="1" kern="100" dirty="0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sz="1800" b="1" i="1" kern="100" baseline="-25000" dirty="0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NA</a:t>
              </a:r>
              <a:endParaRPr lang="zh-CN" sz="1800" kern="100" baseline="-250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2" name="文本框 118"/>
            <p:cNvSpPr txBox="1">
              <a:spLocks noChangeArrowheads="1"/>
            </p:cNvSpPr>
            <p:nvPr/>
          </p:nvSpPr>
          <p:spPr bwMode="auto">
            <a:xfrm>
              <a:off x="8114227" y="3085526"/>
              <a:ext cx="517927" cy="3752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800" b="1" i="1" kern="100" dirty="0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sz="1800" b="1" i="1" kern="100" baseline="-25000" dirty="0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NB</a:t>
              </a:r>
              <a:endParaRPr lang="zh-CN" sz="1800" kern="100" baseline="-250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23" name="直线 105"/>
            <p:cNvCxnSpPr>
              <a:cxnSpLocks noChangeShapeType="1"/>
            </p:cNvCxnSpPr>
            <p:nvPr/>
          </p:nvCxnSpPr>
          <p:spPr bwMode="auto">
            <a:xfrm flipH="1" flipV="1">
              <a:off x="8040069" y="2887291"/>
              <a:ext cx="7823" cy="5040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</p:grpSp>
      <p:sp>
        <p:nvSpPr>
          <p:cNvPr id="125" name="Text Box 4"/>
          <p:cNvSpPr txBox="1">
            <a:spLocks noChangeArrowheads="1"/>
          </p:cNvSpPr>
          <p:nvPr/>
        </p:nvSpPr>
        <p:spPr bwMode="auto">
          <a:xfrm>
            <a:off x="735257" y="3449615"/>
            <a:ext cx="10710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建模</a:t>
            </a:r>
            <a:r>
              <a:rPr lang="en-US" altLang="zh-CN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endParaRPr lang="zh-CN" altLang="en-US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6" name="矩形 125"/>
          <p:cNvSpPr/>
          <p:nvPr/>
        </p:nvSpPr>
        <p:spPr>
          <a:xfrm>
            <a:off x="1905400" y="3452231"/>
            <a:ext cx="68178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i="1" dirty="0">
                <a:solidFill>
                  <a:srgbClr val="0000FF"/>
                </a:solidFill>
                <a:ea typeface="楷体" panose="02010609060101010101" pitchFamily="49" charset="-122"/>
              </a:rPr>
              <a:t>C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处为光滑铰链连接</a:t>
            </a:r>
            <a:r>
              <a:rPr lang="en-US" altLang="zh-CN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梯子重均为</a:t>
            </a:r>
            <a:r>
              <a:rPr lang="en-US" altLang="zh-CN" b="1" i="1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</a:rPr>
              <a:t>Q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，地面光滑。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519406" y="3930880"/>
            <a:ext cx="2139928" cy="2014156"/>
            <a:chOff x="630663" y="4297005"/>
            <a:chExt cx="2139928" cy="2014156"/>
          </a:xfrm>
        </p:grpSpPr>
        <p:grpSp>
          <p:nvGrpSpPr>
            <p:cNvPr id="127" name="组合 126"/>
            <p:cNvGrpSpPr/>
            <p:nvPr/>
          </p:nvGrpSpPr>
          <p:grpSpPr>
            <a:xfrm>
              <a:off x="630663" y="4297005"/>
              <a:ext cx="2139928" cy="2014156"/>
              <a:chOff x="395536" y="3429000"/>
              <a:chExt cx="2139928" cy="2014156"/>
            </a:xfrm>
          </p:grpSpPr>
          <p:grpSp>
            <p:nvGrpSpPr>
              <p:cNvPr id="128" name="组合 127"/>
              <p:cNvGrpSpPr/>
              <p:nvPr/>
            </p:nvGrpSpPr>
            <p:grpSpPr>
              <a:xfrm>
                <a:off x="395536" y="3429000"/>
                <a:ext cx="2139928" cy="2014156"/>
                <a:chOff x="3042" y="3194816"/>
                <a:chExt cx="2139928" cy="2014156"/>
              </a:xfrm>
            </p:grpSpPr>
            <p:sp>
              <p:nvSpPr>
                <p:cNvPr id="131" name="弧形 120"/>
                <p:cNvSpPr>
                  <a:spLocks noChangeAspect="1"/>
                </p:cNvSpPr>
                <p:nvPr/>
              </p:nvSpPr>
              <p:spPr bwMode="auto">
                <a:xfrm rot="12780000" flipH="1">
                  <a:off x="1112586" y="3739512"/>
                  <a:ext cx="84038" cy="8403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6350">
                  <a:solidFill>
                    <a:srgbClr val="000000"/>
                  </a:solidFill>
                  <a:round/>
                  <a:headEnd type="none" w="sm" len="med"/>
                  <a:tailEnd type="non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zh-CN" altLang="en-US"/>
                </a:p>
              </p:txBody>
            </p:sp>
            <p:grpSp>
              <p:nvGrpSpPr>
                <p:cNvPr id="132" name="组合 131"/>
                <p:cNvGrpSpPr/>
                <p:nvPr/>
              </p:nvGrpSpPr>
              <p:grpSpPr>
                <a:xfrm>
                  <a:off x="726538" y="3342696"/>
                  <a:ext cx="742100" cy="1822807"/>
                  <a:chOff x="-33930" y="0"/>
                  <a:chExt cx="481879" cy="1183641"/>
                </a:xfrm>
              </p:grpSpPr>
              <p:sp>
                <p:nvSpPr>
                  <p:cNvPr id="168" name="矩形 167"/>
                  <p:cNvSpPr/>
                  <p:nvPr/>
                </p:nvSpPr>
                <p:spPr>
                  <a:xfrm rot="1260000">
                    <a:off x="-33930" y="0"/>
                    <a:ext cx="45085" cy="117729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69" name="矩形 168"/>
                  <p:cNvSpPr/>
                  <p:nvPr/>
                </p:nvSpPr>
                <p:spPr>
                  <a:xfrm rot="20280000" flipH="1">
                    <a:off x="402230" y="6350"/>
                    <a:ext cx="45719" cy="1177291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33" name="椭圆 132"/>
                <p:cNvSpPr/>
                <p:nvPr/>
              </p:nvSpPr>
              <p:spPr>
                <a:xfrm>
                  <a:off x="1033047" y="3352475"/>
                  <a:ext cx="99792" cy="9979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34" name="文本框 115"/>
                <p:cNvSpPr txBox="1">
                  <a:spLocks noChangeArrowheads="1"/>
                </p:cNvSpPr>
                <p:nvPr/>
              </p:nvSpPr>
              <p:spPr bwMode="auto">
                <a:xfrm>
                  <a:off x="820856" y="3194816"/>
                  <a:ext cx="205360" cy="2610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algn="just">
                    <a:spcAft>
                      <a:spcPts val="0"/>
                    </a:spcAft>
                  </a:pPr>
                  <a:r>
                    <a:rPr lang="en-US" sz="1800" i="1" kern="100" dirty="0">
                      <a:effectLst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C</a:t>
                  </a:r>
                  <a:endParaRPr lang="zh-CN" sz="1800" kern="100" dirty="0"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5" name="文本框 113"/>
                <p:cNvSpPr txBox="1">
                  <a:spLocks noChangeArrowheads="1"/>
                </p:cNvSpPr>
                <p:nvPr/>
              </p:nvSpPr>
              <p:spPr bwMode="auto">
                <a:xfrm>
                  <a:off x="1491319" y="4853731"/>
                  <a:ext cx="205360" cy="2610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algn="just">
                    <a:spcAft>
                      <a:spcPts val="0"/>
                    </a:spcAft>
                  </a:pPr>
                  <a:r>
                    <a:rPr lang="en-US" sz="1800" i="1" kern="100" dirty="0">
                      <a:effectLst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B</a:t>
                  </a:r>
                  <a:endParaRPr lang="zh-CN" sz="1800" kern="100" dirty="0"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6" name="文本框 111"/>
                <p:cNvSpPr txBox="1">
                  <a:spLocks noChangeArrowheads="1"/>
                </p:cNvSpPr>
                <p:nvPr/>
              </p:nvSpPr>
              <p:spPr bwMode="auto">
                <a:xfrm>
                  <a:off x="166161" y="4856906"/>
                  <a:ext cx="205360" cy="2610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algn="just">
                    <a:spcAft>
                      <a:spcPts val="0"/>
                    </a:spcAft>
                  </a:pPr>
                  <a:r>
                    <a:rPr lang="en-US" sz="1800" i="1" kern="100" dirty="0">
                      <a:effectLst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A</a:t>
                  </a:r>
                  <a:endParaRPr lang="zh-CN" sz="1800" kern="100" dirty="0"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37" name="直线 103"/>
                <p:cNvCxnSpPr>
                  <a:cxnSpLocks noChangeShapeType="1"/>
                </p:cNvCxnSpPr>
                <p:nvPr/>
              </p:nvCxnSpPr>
              <p:spPr bwMode="auto">
                <a:xfrm>
                  <a:off x="1085094" y="3468052"/>
                  <a:ext cx="978" cy="1628203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prstDash val="dash"/>
                  <a:round/>
                  <a:headEnd type="none" w="sm" len="med"/>
                  <a:tailEnd type="non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138" name="文本框 121"/>
                <p:cNvSpPr txBox="1">
                  <a:spLocks noChangeArrowheads="1"/>
                </p:cNvSpPr>
                <p:nvPr/>
              </p:nvSpPr>
              <p:spPr bwMode="auto">
                <a:xfrm>
                  <a:off x="950468" y="3762871"/>
                  <a:ext cx="205360" cy="2610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algn="just">
                    <a:spcAft>
                      <a:spcPts val="0"/>
                    </a:spcAft>
                  </a:pPr>
                  <a:r>
                    <a:rPr lang="el-GR" sz="1800" b="0" i="1" kern="100" dirty="0">
                      <a:effectLst/>
                      <a:cs typeface="Times New Roman" panose="02020603050405020304" pitchFamily="18" charset="0"/>
                    </a:rPr>
                    <a:t>α</a:t>
                  </a:r>
                  <a:endParaRPr lang="zh-CN" sz="1800" b="0" kern="100" dirty="0">
                    <a:effectLst/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139" name="Group 7"/>
                <p:cNvGrpSpPr>
                  <a:grpSpLocks/>
                </p:cNvGrpSpPr>
                <p:nvPr/>
              </p:nvGrpSpPr>
              <p:grpSpPr bwMode="auto">
                <a:xfrm>
                  <a:off x="18970" y="5113722"/>
                  <a:ext cx="2124000" cy="95250"/>
                  <a:chOff x="347" y="3693"/>
                  <a:chExt cx="1565" cy="86"/>
                </a:xfrm>
              </p:grpSpPr>
              <p:sp>
                <p:nvSpPr>
                  <p:cNvPr id="143" name="Line 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369" y="3701"/>
                    <a:ext cx="57" cy="7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4" name="Line 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431" y="3701"/>
                    <a:ext cx="57" cy="7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5" name="Line 1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493" y="3701"/>
                    <a:ext cx="57" cy="7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6" name="Line 1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555" y="3701"/>
                    <a:ext cx="57" cy="7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7" name="Line 1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617" y="3701"/>
                    <a:ext cx="57" cy="7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8" name="Line 1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679" y="3701"/>
                    <a:ext cx="57" cy="7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49" name="Line 1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741" y="3701"/>
                    <a:ext cx="58" cy="7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0" name="Line 1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803" y="3701"/>
                    <a:ext cx="58" cy="7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1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347" y="3693"/>
                    <a:ext cx="1565" cy="1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2" name="Line 1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861" y="3701"/>
                    <a:ext cx="57" cy="7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3" name="Line 1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923" y="3701"/>
                    <a:ext cx="57" cy="7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4" name="Line 1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985" y="3701"/>
                    <a:ext cx="57" cy="7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5" name="Line 2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47" y="3701"/>
                    <a:ext cx="57" cy="7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6" name="Line 2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109" y="3701"/>
                    <a:ext cx="57" cy="7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7" name="Line 2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171" y="3701"/>
                    <a:ext cx="57" cy="7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8" name="Line 2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233" y="3701"/>
                    <a:ext cx="58" cy="7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59" name="Line 2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295" y="3701"/>
                    <a:ext cx="58" cy="7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0" name="Line 2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52" y="3696"/>
                    <a:ext cx="57" cy="7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1" name="Line 2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14" y="3696"/>
                    <a:ext cx="57" cy="7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2" name="Line 2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76" y="3696"/>
                    <a:ext cx="57" cy="7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3" name="Line 2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538" y="3696"/>
                    <a:ext cx="57" cy="7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4" name="Line 2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600" y="3696"/>
                    <a:ext cx="57" cy="7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5" name="Line 3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662" y="3696"/>
                    <a:ext cx="57" cy="7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6" name="Line 3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724" y="3696"/>
                    <a:ext cx="58" cy="7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67" name="Line 3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786" y="3696"/>
                    <a:ext cx="58" cy="7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140" name="Line 51"/>
                <p:cNvSpPr>
                  <a:spLocks noChangeShapeType="1"/>
                </p:cNvSpPr>
                <p:nvPr/>
              </p:nvSpPr>
              <p:spPr bwMode="auto">
                <a:xfrm>
                  <a:off x="3042" y="5110547"/>
                  <a:ext cx="2124000" cy="635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1" name="弧形 120"/>
                <p:cNvSpPr>
                  <a:spLocks noChangeAspect="1"/>
                </p:cNvSpPr>
                <p:nvPr/>
              </p:nvSpPr>
              <p:spPr bwMode="auto">
                <a:xfrm rot="13680000" flipH="1">
                  <a:off x="987706" y="3733139"/>
                  <a:ext cx="84038" cy="8403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6350">
                  <a:solidFill>
                    <a:srgbClr val="000000"/>
                  </a:solidFill>
                  <a:round/>
                  <a:headEnd type="none" w="sm" len="med"/>
                  <a:tailEnd type="non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2" name="文本框 121"/>
                <p:cNvSpPr txBox="1">
                  <a:spLocks noChangeArrowheads="1"/>
                </p:cNvSpPr>
                <p:nvPr/>
              </p:nvSpPr>
              <p:spPr bwMode="auto">
                <a:xfrm>
                  <a:off x="1109400" y="3757021"/>
                  <a:ext cx="205360" cy="2610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algn="just">
                    <a:spcAft>
                      <a:spcPts val="0"/>
                    </a:spcAft>
                  </a:pPr>
                  <a:r>
                    <a:rPr lang="el-GR" sz="1800" b="0" i="1" kern="100" dirty="0">
                      <a:effectLst/>
                      <a:cs typeface="Times New Roman" panose="02020603050405020304" pitchFamily="18" charset="0"/>
                    </a:rPr>
                    <a:t>α</a:t>
                  </a:r>
                  <a:endParaRPr lang="zh-CN" sz="1800" b="0" kern="100" dirty="0">
                    <a:effectLst/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129" name="直线 104"/>
              <p:cNvCxnSpPr>
                <a:cxnSpLocks noChangeShapeType="1"/>
              </p:cNvCxnSpPr>
              <p:nvPr/>
            </p:nvCxnSpPr>
            <p:spPr bwMode="auto">
              <a:xfrm flipH="1">
                <a:off x="1684827" y="4140269"/>
                <a:ext cx="7823" cy="62390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med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sp>
            <p:nvSpPr>
              <p:cNvPr id="130" name="文本框 118"/>
              <p:cNvSpPr txBox="1">
                <a:spLocks noChangeArrowheads="1"/>
              </p:cNvSpPr>
              <p:nvPr/>
            </p:nvSpPr>
            <p:spPr bwMode="auto">
              <a:xfrm>
                <a:off x="1481231" y="4431620"/>
                <a:ext cx="314885" cy="2875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800" b="1" i="1" kern="1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P</a:t>
                </a:r>
                <a:endParaRPr lang="zh-CN" sz="1800" kern="100" dirty="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70" name="直线 104"/>
            <p:cNvCxnSpPr>
              <a:cxnSpLocks noChangeShapeType="1"/>
            </p:cNvCxnSpPr>
            <p:nvPr/>
          </p:nvCxnSpPr>
          <p:spPr bwMode="auto">
            <a:xfrm flipH="1">
              <a:off x="1384126" y="5342732"/>
              <a:ext cx="7823" cy="5400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71" name="直线 104"/>
            <p:cNvCxnSpPr>
              <a:cxnSpLocks noChangeShapeType="1"/>
            </p:cNvCxnSpPr>
            <p:nvPr/>
          </p:nvCxnSpPr>
          <p:spPr bwMode="auto">
            <a:xfrm flipH="1">
              <a:off x="2058853" y="5349988"/>
              <a:ext cx="7823" cy="5400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172" name="文本框 118"/>
            <p:cNvSpPr txBox="1">
              <a:spLocks noChangeArrowheads="1"/>
            </p:cNvSpPr>
            <p:nvPr/>
          </p:nvSpPr>
          <p:spPr bwMode="auto">
            <a:xfrm>
              <a:off x="1417673" y="5774068"/>
              <a:ext cx="314885" cy="2875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800" b="1" i="1" kern="100" dirty="0"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endParaRPr 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3" name="文本框 118"/>
            <p:cNvSpPr txBox="1">
              <a:spLocks noChangeArrowheads="1"/>
            </p:cNvSpPr>
            <p:nvPr/>
          </p:nvSpPr>
          <p:spPr bwMode="auto">
            <a:xfrm>
              <a:off x="1837730" y="5760236"/>
              <a:ext cx="314885" cy="2875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800" b="1" i="1" kern="100" dirty="0"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endParaRPr 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5" name="组合 174"/>
          <p:cNvGrpSpPr/>
          <p:nvPr/>
        </p:nvGrpSpPr>
        <p:grpSpPr>
          <a:xfrm>
            <a:off x="940134" y="5832612"/>
            <a:ext cx="1909430" cy="589511"/>
            <a:chOff x="6722724" y="2887291"/>
            <a:chExt cx="1909430" cy="589511"/>
          </a:xfrm>
        </p:grpSpPr>
        <p:cxnSp>
          <p:nvCxnSpPr>
            <p:cNvPr id="176" name="直线 105"/>
            <p:cNvCxnSpPr>
              <a:cxnSpLocks noChangeShapeType="1"/>
            </p:cNvCxnSpPr>
            <p:nvPr/>
          </p:nvCxnSpPr>
          <p:spPr bwMode="auto">
            <a:xfrm flipH="1" flipV="1">
              <a:off x="6722724" y="2890720"/>
              <a:ext cx="7823" cy="5040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177" name="文本框 118"/>
            <p:cNvSpPr txBox="1">
              <a:spLocks noChangeArrowheads="1"/>
            </p:cNvSpPr>
            <p:nvPr/>
          </p:nvSpPr>
          <p:spPr bwMode="auto">
            <a:xfrm>
              <a:off x="6792381" y="3101599"/>
              <a:ext cx="517927" cy="3752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800" b="1" i="1" kern="100" dirty="0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sz="1800" b="1" i="1" kern="100" baseline="-25000" dirty="0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NA</a:t>
              </a:r>
              <a:endParaRPr lang="zh-CN" sz="1800" kern="100" baseline="-250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8" name="文本框 118"/>
            <p:cNvSpPr txBox="1">
              <a:spLocks noChangeArrowheads="1"/>
            </p:cNvSpPr>
            <p:nvPr/>
          </p:nvSpPr>
          <p:spPr bwMode="auto">
            <a:xfrm>
              <a:off x="8114227" y="3085526"/>
              <a:ext cx="517927" cy="3752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800" b="1" i="1" kern="100" dirty="0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sz="1800" b="1" i="1" kern="100" baseline="-25000" dirty="0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NB</a:t>
              </a:r>
              <a:endParaRPr lang="zh-CN" sz="1800" kern="100" baseline="-250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79" name="直线 105"/>
            <p:cNvCxnSpPr>
              <a:cxnSpLocks noChangeShapeType="1"/>
            </p:cNvCxnSpPr>
            <p:nvPr/>
          </p:nvCxnSpPr>
          <p:spPr bwMode="auto">
            <a:xfrm flipH="1" flipV="1">
              <a:off x="8040069" y="2887291"/>
              <a:ext cx="7823" cy="5040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</p:grpSp>
      <p:sp>
        <p:nvSpPr>
          <p:cNvPr id="180" name="Text Box 6"/>
          <p:cNvSpPr txBox="1">
            <a:spLocks noChangeArrowheads="1"/>
          </p:cNvSpPr>
          <p:nvPr/>
        </p:nvSpPr>
        <p:spPr bwMode="auto">
          <a:xfrm>
            <a:off x="3212492" y="6111475"/>
            <a:ext cx="37444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</a:rPr>
              <a:t>5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个未知量，</a:t>
            </a:r>
            <a:r>
              <a:rPr lang="en-US" altLang="zh-CN" b="0" dirty="0">
                <a:solidFill>
                  <a:srgbClr val="FF0000"/>
                </a:solidFill>
                <a:ea typeface="楷体" panose="02010609060101010101" pitchFamily="49" charset="-122"/>
              </a:rPr>
              <a:t>6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个独立方程</a:t>
            </a:r>
          </a:p>
        </p:txBody>
      </p:sp>
      <p:graphicFrame>
        <p:nvGraphicFramePr>
          <p:cNvPr id="181" name="Object 2"/>
          <p:cNvGraphicFramePr>
            <a:graphicFrameLocks noChangeAspect="1"/>
          </p:cNvGraphicFramePr>
          <p:nvPr/>
        </p:nvGraphicFramePr>
        <p:xfrm>
          <a:off x="2643406" y="4948356"/>
          <a:ext cx="5105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2" name="Equation" r:id="rId4" imgW="3149280" imgH="228600" progId="Equation.DSMT4">
                  <p:embed/>
                </p:oleObj>
              </mc:Choice>
              <mc:Fallback>
                <p:oleObj name="Equation" r:id="rId4" imgW="3149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3406" y="4948356"/>
                        <a:ext cx="510540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组合 7"/>
          <p:cNvGrpSpPr/>
          <p:nvPr/>
        </p:nvGrpSpPr>
        <p:grpSpPr>
          <a:xfrm>
            <a:off x="1840274" y="4460326"/>
            <a:ext cx="912939" cy="1296000"/>
            <a:chOff x="1975488" y="4560630"/>
            <a:chExt cx="912939" cy="1296000"/>
          </a:xfrm>
        </p:grpSpPr>
        <p:sp>
          <p:nvSpPr>
            <p:cNvPr id="182" name="Line 34"/>
            <p:cNvSpPr>
              <a:spLocks noChangeShapeType="1"/>
            </p:cNvSpPr>
            <p:nvPr/>
          </p:nvSpPr>
          <p:spPr bwMode="auto">
            <a:xfrm rot="3960000" flipV="1">
              <a:off x="2195357" y="4417864"/>
              <a:ext cx="0" cy="43973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3" name="Line 34"/>
            <p:cNvSpPr>
              <a:spLocks noChangeShapeType="1"/>
            </p:cNvSpPr>
            <p:nvPr/>
          </p:nvSpPr>
          <p:spPr bwMode="auto">
            <a:xfrm rot="3960000" flipV="1">
              <a:off x="2668558" y="5614161"/>
              <a:ext cx="0" cy="439738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4" name="Line 34"/>
            <p:cNvSpPr>
              <a:spLocks noChangeShapeType="1"/>
            </p:cNvSpPr>
            <p:nvPr/>
          </p:nvSpPr>
          <p:spPr bwMode="auto">
            <a:xfrm rot="20160000" flipV="1">
              <a:off x="2494038" y="4560630"/>
              <a:ext cx="0" cy="129600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85" name="文本框 121"/>
            <p:cNvSpPr txBox="1">
              <a:spLocks noChangeArrowheads="1"/>
            </p:cNvSpPr>
            <p:nvPr/>
          </p:nvSpPr>
          <p:spPr bwMode="auto">
            <a:xfrm>
              <a:off x="2530617" y="4960694"/>
              <a:ext cx="205360" cy="2610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800" b="0" i="1" kern="100" dirty="0">
                  <a:effectLst/>
                  <a:cs typeface="Times New Roman" panose="02020603050405020304" pitchFamily="18" charset="0"/>
                </a:rPr>
                <a:t>a</a:t>
              </a:r>
              <a:endParaRPr lang="zh-CN" sz="1800" b="0" kern="100" dirty="0">
                <a:effectLst/>
                <a:latin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74" name="Object 2"/>
          <p:cNvGraphicFramePr>
            <a:graphicFrameLocks noChangeAspect="1"/>
          </p:cNvGraphicFramePr>
          <p:nvPr/>
        </p:nvGraphicFramePr>
        <p:xfrm>
          <a:off x="3438233" y="5345583"/>
          <a:ext cx="1398587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3" name="Equation" r:id="rId6" imgW="863280" imgH="393480" progId="Equation.DSMT4">
                  <p:embed/>
                </p:oleObj>
              </mc:Choice>
              <mc:Fallback>
                <p:oleObj name="Equation" r:id="rId6" imgW="8632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8233" y="5345583"/>
                        <a:ext cx="1398587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>
          <a:xfrm>
            <a:off x="7365979" y="4082108"/>
            <a:ext cx="1529916" cy="2381609"/>
            <a:chOff x="7365979" y="4082108"/>
            <a:chExt cx="1529916" cy="2381609"/>
          </a:xfrm>
        </p:grpSpPr>
        <p:grpSp>
          <p:nvGrpSpPr>
            <p:cNvPr id="186" name="组合 185"/>
            <p:cNvGrpSpPr/>
            <p:nvPr/>
          </p:nvGrpSpPr>
          <p:grpSpPr>
            <a:xfrm>
              <a:off x="7365979" y="4082108"/>
              <a:ext cx="989667" cy="2381609"/>
              <a:chOff x="5291518" y="1201501"/>
              <a:chExt cx="989667" cy="2381609"/>
            </a:xfrm>
          </p:grpSpPr>
          <p:cxnSp>
            <p:nvCxnSpPr>
              <p:cNvPr id="187" name="直线 105"/>
              <p:cNvCxnSpPr>
                <a:cxnSpLocks noChangeShapeType="1"/>
              </p:cNvCxnSpPr>
              <p:nvPr/>
            </p:nvCxnSpPr>
            <p:spPr bwMode="auto">
              <a:xfrm flipH="1" flipV="1">
                <a:off x="5571039" y="3079110"/>
                <a:ext cx="7823" cy="50400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none" w="sm" len="med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sp>
            <p:nvSpPr>
              <p:cNvPr id="188" name="矩形 187"/>
              <p:cNvSpPr/>
              <p:nvPr/>
            </p:nvSpPr>
            <p:spPr>
              <a:xfrm rot="1260000">
                <a:off x="5851895" y="1349381"/>
                <a:ext cx="69431" cy="181302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89" name="椭圆 188"/>
              <p:cNvSpPr/>
              <p:nvPr/>
            </p:nvSpPr>
            <p:spPr>
              <a:xfrm>
                <a:off x="6158404" y="1359160"/>
                <a:ext cx="99792" cy="9979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90" name="文本框 115"/>
              <p:cNvSpPr txBox="1">
                <a:spLocks noChangeArrowheads="1"/>
              </p:cNvSpPr>
              <p:nvPr/>
            </p:nvSpPr>
            <p:spPr bwMode="auto">
              <a:xfrm>
                <a:off x="5946213" y="1201501"/>
                <a:ext cx="205360" cy="2610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800" i="1" kern="1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C</a:t>
                </a:r>
                <a:endParaRPr lang="zh-CN" sz="1800" kern="100" dirty="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1" name="文本框 111"/>
              <p:cNvSpPr txBox="1">
                <a:spLocks noChangeArrowheads="1"/>
              </p:cNvSpPr>
              <p:nvPr/>
            </p:nvSpPr>
            <p:spPr bwMode="auto">
              <a:xfrm>
                <a:off x="5291518" y="2863591"/>
                <a:ext cx="205360" cy="2610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800" i="1" kern="1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endParaRPr lang="zh-CN" sz="1800" kern="100" dirty="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92" name="直线 103"/>
              <p:cNvCxnSpPr>
                <a:cxnSpLocks noChangeShapeType="1"/>
              </p:cNvCxnSpPr>
              <p:nvPr/>
            </p:nvCxnSpPr>
            <p:spPr bwMode="auto">
              <a:xfrm>
                <a:off x="6227869" y="1474737"/>
                <a:ext cx="978" cy="1628203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prstDash val="dash"/>
                <a:round/>
                <a:headEnd type="none" w="sm" len="med"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sp>
            <p:nvSpPr>
              <p:cNvPr id="193" name="文本框 121"/>
              <p:cNvSpPr txBox="1">
                <a:spLocks noChangeArrowheads="1"/>
              </p:cNvSpPr>
              <p:nvPr/>
            </p:nvSpPr>
            <p:spPr bwMode="auto">
              <a:xfrm>
                <a:off x="6075825" y="1769556"/>
                <a:ext cx="205360" cy="2610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l-GR" sz="1800" b="0" i="1" kern="100" dirty="0">
                    <a:effectLst/>
                    <a:cs typeface="Times New Roman" panose="02020603050405020304" pitchFamily="18" charset="0"/>
                  </a:rPr>
                  <a:t>α</a:t>
                </a:r>
                <a:endParaRPr lang="zh-CN" sz="1800" b="0" kern="100" dirty="0">
                  <a:effectLst/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4" name="弧形 120"/>
              <p:cNvSpPr>
                <a:spLocks noChangeAspect="1"/>
              </p:cNvSpPr>
              <p:nvPr/>
            </p:nvSpPr>
            <p:spPr bwMode="auto">
              <a:xfrm rot="13680000" flipH="1">
                <a:off x="6113063" y="1739824"/>
                <a:ext cx="84038" cy="84036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6350">
                <a:solidFill>
                  <a:srgbClr val="000000"/>
                </a:solidFill>
                <a:round/>
                <a:headEnd type="none" w="sm" len="med"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95" name="文本框 118"/>
              <p:cNvSpPr txBox="1">
                <a:spLocks noChangeArrowheads="1"/>
              </p:cNvSpPr>
              <p:nvPr/>
            </p:nvSpPr>
            <p:spPr bwMode="auto">
              <a:xfrm>
                <a:off x="5664028" y="3195920"/>
                <a:ext cx="517927" cy="3752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800" b="1" i="1" kern="100" dirty="0">
                    <a:solidFill>
                      <a:srgbClr val="FF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F</a:t>
                </a:r>
                <a:r>
                  <a:rPr lang="en-US" sz="1800" b="1" i="1" kern="100" baseline="-25000" dirty="0">
                    <a:solidFill>
                      <a:srgbClr val="FF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NA</a:t>
                </a:r>
                <a:endParaRPr lang="zh-CN" sz="1800" kern="100" baseline="-25000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96" name="文本框 118"/>
            <p:cNvSpPr txBox="1">
              <a:spLocks noChangeArrowheads="1"/>
            </p:cNvSpPr>
            <p:nvPr/>
          </p:nvSpPr>
          <p:spPr bwMode="auto">
            <a:xfrm>
              <a:off x="7959196" y="5570162"/>
              <a:ext cx="314885" cy="2875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800" b="1" i="1" kern="100" dirty="0"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endParaRPr 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97" name="直线 104"/>
            <p:cNvCxnSpPr>
              <a:cxnSpLocks noChangeShapeType="1"/>
            </p:cNvCxnSpPr>
            <p:nvPr/>
          </p:nvCxnSpPr>
          <p:spPr bwMode="auto">
            <a:xfrm flipH="1">
              <a:off x="7954246" y="5131512"/>
              <a:ext cx="7823" cy="5400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98" name="直线 105"/>
            <p:cNvCxnSpPr>
              <a:cxnSpLocks noChangeShapeType="1"/>
            </p:cNvCxnSpPr>
            <p:nvPr/>
          </p:nvCxnSpPr>
          <p:spPr bwMode="auto">
            <a:xfrm flipH="1" flipV="1">
              <a:off x="8302330" y="4328754"/>
              <a:ext cx="7823" cy="5040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199" name="文本框 118"/>
            <p:cNvSpPr txBox="1">
              <a:spLocks noChangeArrowheads="1"/>
            </p:cNvSpPr>
            <p:nvPr/>
          </p:nvSpPr>
          <p:spPr bwMode="auto">
            <a:xfrm>
              <a:off x="8377968" y="4278113"/>
              <a:ext cx="517927" cy="3752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800" b="1" i="1" kern="100" dirty="0" err="1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sz="1800" b="1" i="1" kern="100" baseline="-25000" dirty="0" err="1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Cy</a:t>
              </a:r>
              <a:endParaRPr lang="zh-CN" sz="1800" kern="100" baseline="-250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0" name="组合 199"/>
          <p:cNvGrpSpPr/>
          <p:nvPr/>
        </p:nvGrpSpPr>
        <p:grpSpPr>
          <a:xfrm>
            <a:off x="3353701" y="1029838"/>
            <a:ext cx="1529916" cy="2381609"/>
            <a:chOff x="7365979" y="4082108"/>
            <a:chExt cx="1529916" cy="2381609"/>
          </a:xfrm>
        </p:grpSpPr>
        <p:grpSp>
          <p:nvGrpSpPr>
            <p:cNvPr id="201" name="组合 200"/>
            <p:cNvGrpSpPr/>
            <p:nvPr/>
          </p:nvGrpSpPr>
          <p:grpSpPr>
            <a:xfrm>
              <a:off x="7365979" y="4082108"/>
              <a:ext cx="989667" cy="2381609"/>
              <a:chOff x="5291518" y="1201501"/>
              <a:chExt cx="989667" cy="2381609"/>
            </a:xfrm>
          </p:grpSpPr>
          <p:cxnSp>
            <p:nvCxnSpPr>
              <p:cNvPr id="206" name="直线 105"/>
              <p:cNvCxnSpPr>
                <a:cxnSpLocks noChangeShapeType="1"/>
              </p:cNvCxnSpPr>
              <p:nvPr/>
            </p:nvCxnSpPr>
            <p:spPr bwMode="auto">
              <a:xfrm flipH="1" flipV="1">
                <a:off x="5571039" y="3079110"/>
                <a:ext cx="7823" cy="50400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none" w="sm" len="med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sp>
            <p:nvSpPr>
              <p:cNvPr id="207" name="矩形 206"/>
              <p:cNvSpPr/>
              <p:nvPr/>
            </p:nvSpPr>
            <p:spPr>
              <a:xfrm rot="1260000">
                <a:off x="5851895" y="1349381"/>
                <a:ext cx="69431" cy="181302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08" name="椭圆 207"/>
              <p:cNvSpPr/>
              <p:nvPr/>
            </p:nvSpPr>
            <p:spPr>
              <a:xfrm>
                <a:off x="6158404" y="1359160"/>
                <a:ext cx="99792" cy="9979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09" name="文本框 115"/>
              <p:cNvSpPr txBox="1">
                <a:spLocks noChangeArrowheads="1"/>
              </p:cNvSpPr>
              <p:nvPr/>
            </p:nvSpPr>
            <p:spPr bwMode="auto">
              <a:xfrm>
                <a:off x="5946213" y="1201501"/>
                <a:ext cx="205360" cy="2610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800" i="1" kern="1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C</a:t>
                </a:r>
                <a:endParaRPr lang="zh-CN" sz="1800" kern="100" dirty="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0" name="文本框 111"/>
              <p:cNvSpPr txBox="1">
                <a:spLocks noChangeArrowheads="1"/>
              </p:cNvSpPr>
              <p:nvPr/>
            </p:nvSpPr>
            <p:spPr bwMode="auto">
              <a:xfrm>
                <a:off x="5291518" y="2863591"/>
                <a:ext cx="205360" cy="2610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800" i="1" kern="1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endParaRPr lang="zh-CN" sz="1800" kern="100" dirty="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11" name="直线 103"/>
              <p:cNvCxnSpPr>
                <a:cxnSpLocks noChangeShapeType="1"/>
              </p:cNvCxnSpPr>
              <p:nvPr/>
            </p:nvCxnSpPr>
            <p:spPr bwMode="auto">
              <a:xfrm>
                <a:off x="6227869" y="1474737"/>
                <a:ext cx="978" cy="1628203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prstDash val="dash"/>
                <a:round/>
                <a:headEnd type="none" w="sm" len="med"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sp>
            <p:nvSpPr>
              <p:cNvPr id="212" name="文本框 121"/>
              <p:cNvSpPr txBox="1">
                <a:spLocks noChangeArrowheads="1"/>
              </p:cNvSpPr>
              <p:nvPr/>
            </p:nvSpPr>
            <p:spPr bwMode="auto">
              <a:xfrm>
                <a:off x="6075825" y="1769556"/>
                <a:ext cx="205360" cy="2610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l-GR" sz="1800" b="0" i="1" kern="100" dirty="0">
                    <a:effectLst/>
                    <a:cs typeface="Times New Roman" panose="02020603050405020304" pitchFamily="18" charset="0"/>
                  </a:rPr>
                  <a:t>α</a:t>
                </a:r>
                <a:endParaRPr lang="zh-CN" sz="1800" b="0" kern="100" dirty="0">
                  <a:effectLst/>
                  <a:latin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3" name="弧形 120"/>
              <p:cNvSpPr>
                <a:spLocks noChangeAspect="1"/>
              </p:cNvSpPr>
              <p:nvPr/>
            </p:nvSpPr>
            <p:spPr bwMode="auto">
              <a:xfrm rot="13680000" flipH="1">
                <a:off x="6113063" y="1739824"/>
                <a:ext cx="84038" cy="84036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6350">
                <a:solidFill>
                  <a:srgbClr val="000000"/>
                </a:solidFill>
                <a:round/>
                <a:headEnd type="none" w="sm" len="med"/>
                <a:tailEnd type="non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14" name="文本框 118"/>
              <p:cNvSpPr txBox="1">
                <a:spLocks noChangeArrowheads="1"/>
              </p:cNvSpPr>
              <p:nvPr/>
            </p:nvSpPr>
            <p:spPr bwMode="auto">
              <a:xfrm>
                <a:off x="5664028" y="3195920"/>
                <a:ext cx="517927" cy="3752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800" b="1" i="1" kern="100" dirty="0">
                    <a:solidFill>
                      <a:srgbClr val="FF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F</a:t>
                </a:r>
                <a:r>
                  <a:rPr lang="en-US" sz="1800" b="1" i="1" kern="100" baseline="-25000" dirty="0">
                    <a:solidFill>
                      <a:srgbClr val="FF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NA</a:t>
                </a:r>
                <a:endParaRPr lang="zh-CN" sz="1800" kern="100" baseline="-25000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204" name="直线 105"/>
            <p:cNvCxnSpPr>
              <a:cxnSpLocks noChangeShapeType="1"/>
            </p:cNvCxnSpPr>
            <p:nvPr/>
          </p:nvCxnSpPr>
          <p:spPr bwMode="auto">
            <a:xfrm flipH="1">
              <a:off x="8302330" y="4328754"/>
              <a:ext cx="7823" cy="5040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205" name="文本框 118"/>
            <p:cNvSpPr txBox="1">
              <a:spLocks noChangeArrowheads="1"/>
            </p:cNvSpPr>
            <p:nvPr/>
          </p:nvSpPr>
          <p:spPr bwMode="auto">
            <a:xfrm>
              <a:off x="8377968" y="4278113"/>
              <a:ext cx="517927" cy="3752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800" b="1" i="1" kern="100" dirty="0" err="1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sz="1800" b="1" i="1" kern="100" baseline="-25000" dirty="0" err="1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Cy</a:t>
              </a:r>
              <a:endParaRPr lang="zh-CN" sz="1800" kern="100" baseline="-250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215" name="Object 2"/>
          <p:cNvGraphicFramePr>
            <a:graphicFrameLocks noChangeAspect="1"/>
          </p:cNvGraphicFramePr>
          <p:nvPr/>
        </p:nvGraphicFramePr>
        <p:xfrm>
          <a:off x="3078952" y="3924449"/>
          <a:ext cx="411797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4" name="Equation" r:id="rId8" imgW="2539800" imgH="228600" progId="Equation.DSMT4">
                  <p:embed/>
                </p:oleObj>
              </mc:Choice>
              <mc:Fallback>
                <p:oleObj name="Equation" r:id="rId8" imgW="2539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8952" y="3924449"/>
                        <a:ext cx="4117975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" name="Object 2"/>
          <p:cNvGraphicFramePr>
            <a:graphicFrameLocks noChangeAspect="1"/>
          </p:cNvGraphicFramePr>
          <p:nvPr/>
        </p:nvGraphicFramePr>
        <p:xfrm>
          <a:off x="4470011" y="4288965"/>
          <a:ext cx="884238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5" name="Equation" r:id="rId10" imgW="545760" imgH="393480" progId="Equation.DSMT4">
                  <p:embed/>
                </p:oleObj>
              </mc:Choice>
              <mc:Fallback>
                <p:oleObj name="Equation" r:id="rId10" imgW="5457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0011" y="4288965"/>
                        <a:ext cx="884238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爆炸形 2 3"/>
          <p:cNvSpPr/>
          <p:nvPr/>
        </p:nvSpPr>
        <p:spPr bwMode="auto">
          <a:xfrm>
            <a:off x="5513879" y="5266939"/>
            <a:ext cx="2004751" cy="954517"/>
          </a:xfrm>
          <a:prstGeom prst="irregularSeal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矛盾</a:t>
            </a:r>
            <a:r>
              <a:rPr lang="zh-CN" altLang="en-US" dirty="0"/>
              <a:t>！</a:t>
            </a:r>
            <a:endParaRPr kumimoji="1" lang="zh-CN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49561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9" dur="500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1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6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1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6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8" dur="500"/>
                                        <p:tgtEl>
                                          <p:spTgt spid="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 autoUpdateAnimBg="0"/>
      <p:bldP spid="32" grpId="0" build="p" autoUpdateAnimBg="0"/>
      <p:bldP spid="2" grpId="0"/>
      <p:bldP spid="125" grpId="0" build="p" autoUpdateAnimBg="0"/>
      <p:bldP spid="126" grpId="0"/>
      <p:bldP spid="180" grpId="0" build="p" autoUpdateAnimBg="0"/>
      <p:bldP spid="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Box 4"/>
          <p:cNvSpPr txBox="1">
            <a:spLocks noChangeArrowheads="1"/>
          </p:cNvSpPr>
          <p:nvPr/>
        </p:nvSpPr>
        <p:spPr bwMode="auto">
          <a:xfrm>
            <a:off x="662778" y="378497"/>
            <a:ext cx="10710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建模</a:t>
            </a:r>
            <a:r>
              <a:rPr lang="en-US" altLang="zh-CN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endParaRPr lang="zh-CN" altLang="en-US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1832921" y="381113"/>
            <a:ext cx="643123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0" i="1" dirty="0">
                <a:solidFill>
                  <a:srgbClr val="0000FF"/>
                </a:solidFill>
                <a:ea typeface="楷体" panose="02010609060101010101" pitchFamily="49" charset="-122"/>
              </a:rPr>
              <a:t>C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处为光滑铰链连接</a:t>
            </a:r>
            <a:r>
              <a:rPr lang="en-US" altLang="zh-CN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梯子重均为</a:t>
            </a:r>
            <a:r>
              <a:rPr lang="en-US" altLang="zh-CN" b="1" i="1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</a:rPr>
              <a:t>Q</a:t>
            </a:r>
            <a:r>
              <a:rPr lang="zh-CN" altLang="en-US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，梯子与地面的摩擦系数为</a:t>
            </a:r>
            <a:r>
              <a:rPr lang="en-US" altLang="zh-CN" b="0" i="1" dirty="0">
                <a:solidFill>
                  <a:srgbClr val="0000FF"/>
                </a:solidFill>
                <a:latin typeface="+mn-lt"/>
                <a:ea typeface="楷体" panose="02010609060101010101" pitchFamily="49" charset="-122"/>
              </a:rPr>
              <a:t>f</a:t>
            </a:r>
            <a:r>
              <a:rPr lang="zh-CN" altLang="en-US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dirty="0">
              <a:solidFill>
                <a:srgbClr val="0000FF"/>
              </a:solidFill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6340748" y="964475"/>
            <a:ext cx="2139928" cy="2014156"/>
            <a:chOff x="630663" y="4297005"/>
            <a:chExt cx="2139928" cy="2014156"/>
          </a:xfrm>
        </p:grpSpPr>
        <p:grpSp>
          <p:nvGrpSpPr>
            <p:cNvPr id="72" name="组合 71"/>
            <p:cNvGrpSpPr/>
            <p:nvPr/>
          </p:nvGrpSpPr>
          <p:grpSpPr>
            <a:xfrm>
              <a:off x="630663" y="4297005"/>
              <a:ext cx="2139928" cy="2014156"/>
              <a:chOff x="395536" y="3429000"/>
              <a:chExt cx="2139928" cy="2014156"/>
            </a:xfrm>
          </p:grpSpPr>
          <p:grpSp>
            <p:nvGrpSpPr>
              <p:cNvPr id="77" name="组合 76"/>
              <p:cNvGrpSpPr/>
              <p:nvPr/>
            </p:nvGrpSpPr>
            <p:grpSpPr>
              <a:xfrm>
                <a:off x="395536" y="3429000"/>
                <a:ext cx="2139928" cy="2014156"/>
                <a:chOff x="3042" y="3194816"/>
                <a:chExt cx="2139928" cy="2014156"/>
              </a:xfrm>
            </p:grpSpPr>
            <p:sp>
              <p:nvSpPr>
                <p:cNvPr id="80" name="弧形 120"/>
                <p:cNvSpPr>
                  <a:spLocks noChangeAspect="1"/>
                </p:cNvSpPr>
                <p:nvPr/>
              </p:nvSpPr>
              <p:spPr bwMode="auto">
                <a:xfrm rot="12780000" flipH="1">
                  <a:off x="1112586" y="3739512"/>
                  <a:ext cx="84038" cy="8403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6350">
                  <a:solidFill>
                    <a:srgbClr val="000000"/>
                  </a:solidFill>
                  <a:round/>
                  <a:headEnd type="none" w="sm" len="med"/>
                  <a:tailEnd type="non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zh-CN" altLang="en-US"/>
                </a:p>
              </p:txBody>
            </p:sp>
            <p:grpSp>
              <p:nvGrpSpPr>
                <p:cNvPr id="81" name="组合 80"/>
                <p:cNvGrpSpPr/>
                <p:nvPr/>
              </p:nvGrpSpPr>
              <p:grpSpPr>
                <a:xfrm>
                  <a:off x="726538" y="3342696"/>
                  <a:ext cx="742100" cy="1822807"/>
                  <a:chOff x="-33930" y="0"/>
                  <a:chExt cx="481879" cy="1183641"/>
                </a:xfrm>
              </p:grpSpPr>
              <p:sp>
                <p:nvSpPr>
                  <p:cNvPr id="117" name="矩形 116"/>
                  <p:cNvSpPr/>
                  <p:nvPr/>
                </p:nvSpPr>
                <p:spPr>
                  <a:xfrm rot="1260000">
                    <a:off x="-33930" y="0"/>
                    <a:ext cx="45085" cy="117729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CN" altLang="en-US"/>
                  </a:p>
                </p:txBody>
              </p:sp>
              <p:sp>
                <p:nvSpPr>
                  <p:cNvPr id="118" name="矩形 117"/>
                  <p:cNvSpPr/>
                  <p:nvPr/>
                </p:nvSpPr>
                <p:spPr>
                  <a:xfrm rot="20280000" flipH="1">
                    <a:off x="402230" y="6350"/>
                    <a:ext cx="45719" cy="1177291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82" name="椭圆 81"/>
                <p:cNvSpPr/>
                <p:nvPr/>
              </p:nvSpPr>
              <p:spPr>
                <a:xfrm>
                  <a:off x="1033047" y="3352475"/>
                  <a:ext cx="99792" cy="9979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文本框 115"/>
                <p:cNvSpPr txBox="1">
                  <a:spLocks noChangeArrowheads="1"/>
                </p:cNvSpPr>
                <p:nvPr/>
              </p:nvSpPr>
              <p:spPr bwMode="auto">
                <a:xfrm>
                  <a:off x="820856" y="3194816"/>
                  <a:ext cx="205360" cy="2610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algn="just">
                    <a:spcAft>
                      <a:spcPts val="0"/>
                    </a:spcAft>
                  </a:pPr>
                  <a:r>
                    <a:rPr lang="en-US" sz="1800" i="1" kern="100" dirty="0">
                      <a:effectLst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C</a:t>
                  </a:r>
                  <a:endParaRPr lang="zh-CN" sz="1800" kern="100" dirty="0"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4" name="文本框 113"/>
                <p:cNvSpPr txBox="1">
                  <a:spLocks noChangeArrowheads="1"/>
                </p:cNvSpPr>
                <p:nvPr/>
              </p:nvSpPr>
              <p:spPr bwMode="auto">
                <a:xfrm>
                  <a:off x="1491319" y="4853731"/>
                  <a:ext cx="205360" cy="2610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algn="just">
                    <a:spcAft>
                      <a:spcPts val="0"/>
                    </a:spcAft>
                  </a:pPr>
                  <a:r>
                    <a:rPr lang="en-US" sz="1800" i="1" kern="100" dirty="0">
                      <a:effectLst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B</a:t>
                  </a:r>
                  <a:endParaRPr lang="zh-CN" sz="1800" kern="100" dirty="0"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5" name="文本框 111"/>
                <p:cNvSpPr txBox="1">
                  <a:spLocks noChangeArrowheads="1"/>
                </p:cNvSpPr>
                <p:nvPr/>
              </p:nvSpPr>
              <p:spPr bwMode="auto">
                <a:xfrm>
                  <a:off x="203635" y="4813071"/>
                  <a:ext cx="205360" cy="2610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algn="just">
                    <a:spcAft>
                      <a:spcPts val="0"/>
                    </a:spcAft>
                  </a:pPr>
                  <a:r>
                    <a:rPr lang="en-US" sz="1800" i="1" kern="100" dirty="0">
                      <a:effectLst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A</a:t>
                  </a:r>
                  <a:endParaRPr lang="zh-CN" sz="1800" kern="100" dirty="0"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86" name="直线 103"/>
                <p:cNvCxnSpPr>
                  <a:cxnSpLocks noChangeShapeType="1"/>
                </p:cNvCxnSpPr>
                <p:nvPr/>
              </p:nvCxnSpPr>
              <p:spPr bwMode="auto">
                <a:xfrm>
                  <a:off x="1085094" y="3468052"/>
                  <a:ext cx="978" cy="1628203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prstDash val="dash"/>
                  <a:round/>
                  <a:headEnd type="none" w="sm" len="med"/>
                  <a:tailEnd type="non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87" name="文本框 121"/>
                <p:cNvSpPr txBox="1">
                  <a:spLocks noChangeArrowheads="1"/>
                </p:cNvSpPr>
                <p:nvPr/>
              </p:nvSpPr>
              <p:spPr bwMode="auto">
                <a:xfrm>
                  <a:off x="950468" y="3762871"/>
                  <a:ext cx="205360" cy="2610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algn="just">
                    <a:spcAft>
                      <a:spcPts val="0"/>
                    </a:spcAft>
                  </a:pPr>
                  <a:r>
                    <a:rPr lang="el-GR" sz="1800" b="0" i="1" kern="100" dirty="0">
                      <a:effectLst/>
                      <a:cs typeface="Times New Roman" panose="02020603050405020304" pitchFamily="18" charset="0"/>
                    </a:rPr>
                    <a:t>α</a:t>
                  </a:r>
                  <a:endParaRPr lang="zh-CN" sz="1800" b="0" kern="100" dirty="0">
                    <a:effectLst/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88" name="Group 7"/>
                <p:cNvGrpSpPr>
                  <a:grpSpLocks/>
                </p:cNvGrpSpPr>
                <p:nvPr/>
              </p:nvGrpSpPr>
              <p:grpSpPr bwMode="auto">
                <a:xfrm>
                  <a:off x="18970" y="5113722"/>
                  <a:ext cx="2124000" cy="95250"/>
                  <a:chOff x="347" y="3693"/>
                  <a:chExt cx="1565" cy="86"/>
                </a:xfrm>
              </p:grpSpPr>
              <p:sp>
                <p:nvSpPr>
                  <p:cNvPr id="92" name="Line 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369" y="3701"/>
                    <a:ext cx="57" cy="7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3" name="Line 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431" y="3701"/>
                    <a:ext cx="57" cy="7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4" name="Line 1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493" y="3701"/>
                    <a:ext cx="57" cy="7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5" name="Line 1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555" y="3701"/>
                    <a:ext cx="57" cy="7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6" name="Line 1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617" y="3701"/>
                    <a:ext cx="57" cy="7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7" name="Line 1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679" y="3701"/>
                    <a:ext cx="57" cy="7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8" name="Line 1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741" y="3701"/>
                    <a:ext cx="58" cy="7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99" name="Line 1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803" y="3701"/>
                    <a:ext cx="58" cy="7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0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347" y="3693"/>
                    <a:ext cx="1565" cy="1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1" name="Line 1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861" y="3701"/>
                    <a:ext cx="57" cy="7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2" name="Line 1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923" y="3701"/>
                    <a:ext cx="57" cy="7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3" name="Line 1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985" y="3701"/>
                    <a:ext cx="57" cy="7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4" name="Line 2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047" y="3701"/>
                    <a:ext cx="57" cy="7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5" name="Line 2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109" y="3701"/>
                    <a:ext cx="57" cy="7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6" name="Line 2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171" y="3701"/>
                    <a:ext cx="57" cy="7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7" name="Line 23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233" y="3701"/>
                    <a:ext cx="58" cy="7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8" name="Line 2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295" y="3701"/>
                    <a:ext cx="58" cy="7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09" name="Line 2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52" y="3696"/>
                    <a:ext cx="57" cy="7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0" name="Line 2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14" y="3696"/>
                    <a:ext cx="57" cy="7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1" name="Line 2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76" y="3696"/>
                    <a:ext cx="57" cy="7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2" name="Line 2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538" y="3696"/>
                    <a:ext cx="57" cy="7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3" name="Line 29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600" y="3696"/>
                    <a:ext cx="57" cy="7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4" name="Line 3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662" y="3696"/>
                    <a:ext cx="57" cy="7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5" name="Line 3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724" y="3696"/>
                    <a:ext cx="58" cy="7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16" name="Line 3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786" y="3696"/>
                    <a:ext cx="58" cy="78"/>
                  </a:xfrm>
                  <a:prstGeom prst="line">
                    <a:avLst/>
                  </a:prstGeom>
                  <a:noFill/>
                  <a:ln w="12700" cap="sq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89" name="Line 51"/>
                <p:cNvSpPr>
                  <a:spLocks noChangeShapeType="1"/>
                </p:cNvSpPr>
                <p:nvPr/>
              </p:nvSpPr>
              <p:spPr bwMode="auto">
                <a:xfrm>
                  <a:off x="3042" y="5110547"/>
                  <a:ext cx="2124000" cy="635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0" name="弧形 120"/>
                <p:cNvSpPr>
                  <a:spLocks noChangeAspect="1"/>
                </p:cNvSpPr>
                <p:nvPr/>
              </p:nvSpPr>
              <p:spPr bwMode="auto">
                <a:xfrm rot="13680000" flipH="1">
                  <a:off x="987706" y="3733139"/>
                  <a:ext cx="84038" cy="8403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6350">
                  <a:solidFill>
                    <a:srgbClr val="000000"/>
                  </a:solidFill>
                  <a:round/>
                  <a:headEnd type="none" w="sm" len="med"/>
                  <a:tailEnd type="non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1" name="文本框 121"/>
                <p:cNvSpPr txBox="1">
                  <a:spLocks noChangeArrowheads="1"/>
                </p:cNvSpPr>
                <p:nvPr/>
              </p:nvSpPr>
              <p:spPr bwMode="auto">
                <a:xfrm>
                  <a:off x="1109400" y="3757021"/>
                  <a:ext cx="205360" cy="2610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algn="just">
                    <a:spcAft>
                      <a:spcPts val="0"/>
                    </a:spcAft>
                  </a:pPr>
                  <a:r>
                    <a:rPr lang="el-GR" sz="1800" b="0" i="1" kern="100" dirty="0">
                      <a:effectLst/>
                      <a:cs typeface="Times New Roman" panose="02020603050405020304" pitchFamily="18" charset="0"/>
                    </a:rPr>
                    <a:t>α</a:t>
                  </a:r>
                  <a:endParaRPr lang="zh-CN" sz="1800" b="0" kern="100" dirty="0">
                    <a:effectLst/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</p:grpSp>
          <p:cxnSp>
            <p:nvCxnSpPr>
              <p:cNvPr id="78" name="直线 104"/>
              <p:cNvCxnSpPr>
                <a:cxnSpLocks noChangeShapeType="1"/>
              </p:cNvCxnSpPr>
              <p:nvPr/>
            </p:nvCxnSpPr>
            <p:spPr bwMode="auto">
              <a:xfrm flipH="1">
                <a:off x="1684827" y="4140269"/>
                <a:ext cx="7823" cy="62390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med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sp>
            <p:nvSpPr>
              <p:cNvPr id="79" name="文本框 118"/>
              <p:cNvSpPr txBox="1">
                <a:spLocks noChangeArrowheads="1"/>
              </p:cNvSpPr>
              <p:nvPr/>
            </p:nvSpPr>
            <p:spPr bwMode="auto">
              <a:xfrm>
                <a:off x="1481231" y="4431620"/>
                <a:ext cx="314885" cy="2875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800" b="1" i="1" kern="1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P</a:t>
                </a:r>
                <a:endParaRPr lang="zh-CN" sz="1800" kern="100" dirty="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73" name="直线 104"/>
            <p:cNvCxnSpPr>
              <a:cxnSpLocks noChangeShapeType="1"/>
            </p:cNvCxnSpPr>
            <p:nvPr/>
          </p:nvCxnSpPr>
          <p:spPr bwMode="auto">
            <a:xfrm flipH="1">
              <a:off x="1384126" y="5342732"/>
              <a:ext cx="7823" cy="5400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74" name="直线 104"/>
            <p:cNvCxnSpPr>
              <a:cxnSpLocks noChangeShapeType="1"/>
            </p:cNvCxnSpPr>
            <p:nvPr/>
          </p:nvCxnSpPr>
          <p:spPr bwMode="auto">
            <a:xfrm flipH="1">
              <a:off x="2058853" y="5349988"/>
              <a:ext cx="7823" cy="540000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 type="none" w="sm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75" name="文本框 118"/>
            <p:cNvSpPr txBox="1">
              <a:spLocks noChangeArrowheads="1"/>
            </p:cNvSpPr>
            <p:nvPr/>
          </p:nvSpPr>
          <p:spPr bwMode="auto">
            <a:xfrm>
              <a:off x="1417673" y="5774068"/>
              <a:ext cx="314885" cy="2875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800" b="1" i="1" kern="100" dirty="0"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endParaRPr 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6" name="文本框 118"/>
            <p:cNvSpPr txBox="1">
              <a:spLocks noChangeArrowheads="1"/>
            </p:cNvSpPr>
            <p:nvPr/>
          </p:nvSpPr>
          <p:spPr bwMode="auto">
            <a:xfrm>
              <a:off x="1837730" y="5760236"/>
              <a:ext cx="314885" cy="2875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800" b="1" i="1" kern="100" dirty="0"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endParaRPr lang="zh-CN" sz="18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20" name="Text Box 6"/>
          <p:cNvSpPr txBox="1">
            <a:spLocks noChangeArrowheads="1"/>
          </p:cNvSpPr>
          <p:nvPr/>
        </p:nvSpPr>
        <p:spPr bwMode="auto">
          <a:xfrm>
            <a:off x="1698099" y="1173649"/>
            <a:ext cx="37444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0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</a:rPr>
              <a:t>7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个未知量，</a:t>
            </a:r>
            <a:r>
              <a:rPr lang="en-US" altLang="zh-CN" b="0" dirty="0">
                <a:solidFill>
                  <a:srgbClr val="FF0000"/>
                </a:solidFill>
                <a:ea typeface="楷体" panose="02010609060101010101" pitchFamily="49" charset="-122"/>
              </a:rPr>
              <a:t>6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个独立方程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6207584" y="2841687"/>
            <a:ext cx="2778384" cy="605396"/>
            <a:chOff x="6207584" y="2841687"/>
            <a:chExt cx="2778384" cy="605396"/>
          </a:xfrm>
        </p:grpSpPr>
        <p:grpSp>
          <p:nvGrpSpPr>
            <p:cNvPr id="121" name="组合 120"/>
            <p:cNvGrpSpPr/>
            <p:nvPr/>
          </p:nvGrpSpPr>
          <p:grpSpPr>
            <a:xfrm>
              <a:off x="6790510" y="2857572"/>
              <a:ext cx="1909430" cy="589511"/>
              <a:chOff x="6722724" y="2887291"/>
              <a:chExt cx="1909430" cy="589511"/>
            </a:xfrm>
          </p:grpSpPr>
          <p:cxnSp>
            <p:nvCxnSpPr>
              <p:cNvPr id="122" name="直线 105"/>
              <p:cNvCxnSpPr>
                <a:cxnSpLocks noChangeShapeType="1"/>
              </p:cNvCxnSpPr>
              <p:nvPr/>
            </p:nvCxnSpPr>
            <p:spPr bwMode="auto">
              <a:xfrm flipH="1" flipV="1">
                <a:off x="6722724" y="2890720"/>
                <a:ext cx="7823" cy="50400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none" w="sm" len="med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sp>
            <p:nvSpPr>
              <p:cNvPr id="123" name="文本框 118"/>
              <p:cNvSpPr txBox="1">
                <a:spLocks noChangeArrowheads="1"/>
              </p:cNvSpPr>
              <p:nvPr/>
            </p:nvSpPr>
            <p:spPr bwMode="auto">
              <a:xfrm>
                <a:off x="6792381" y="3101599"/>
                <a:ext cx="517927" cy="3752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800" b="1" i="1" kern="100" dirty="0">
                    <a:solidFill>
                      <a:srgbClr val="FF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F</a:t>
                </a:r>
                <a:r>
                  <a:rPr lang="en-US" sz="1800" b="1" i="1" kern="100" baseline="-25000" dirty="0">
                    <a:solidFill>
                      <a:srgbClr val="FF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NA</a:t>
                </a:r>
                <a:endParaRPr lang="zh-CN" sz="1800" kern="100" baseline="-25000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4" name="文本框 118"/>
              <p:cNvSpPr txBox="1">
                <a:spLocks noChangeArrowheads="1"/>
              </p:cNvSpPr>
              <p:nvPr/>
            </p:nvSpPr>
            <p:spPr bwMode="auto">
              <a:xfrm>
                <a:off x="8114227" y="3085526"/>
                <a:ext cx="517927" cy="3752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800" b="1" i="1" kern="100" dirty="0">
                    <a:solidFill>
                      <a:srgbClr val="FF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F</a:t>
                </a:r>
                <a:r>
                  <a:rPr lang="en-US" sz="1800" b="1" i="1" kern="100" baseline="-25000" dirty="0">
                    <a:solidFill>
                      <a:srgbClr val="FF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NB</a:t>
                </a:r>
                <a:endParaRPr lang="zh-CN" sz="1800" kern="100" baseline="-25000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25" name="直线 105"/>
              <p:cNvCxnSpPr>
                <a:cxnSpLocks noChangeShapeType="1"/>
              </p:cNvCxnSpPr>
              <p:nvPr/>
            </p:nvCxnSpPr>
            <p:spPr bwMode="auto">
              <a:xfrm flipH="1" flipV="1">
                <a:off x="8040069" y="2887291"/>
                <a:ext cx="7823" cy="50400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none" w="sm" len="med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126" name="直线 105"/>
            <p:cNvCxnSpPr>
              <a:cxnSpLocks noChangeShapeType="1"/>
            </p:cNvCxnSpPr>
            <p:nvPr/>
          </p:nvCxnSpPr>
          <p:spPr bwMode="auto">
            <a:xfrm rot="5400000" flipH="1" flipV="1">
              <a:off x="6522659" y="2593599"/>
              <a:ext cx="7823" cy="5040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cxnSp>
          <p:nvCxnSpPr>
            <p:cNvPr id="127" name="直线 105"/>
            <p:cNvCxnSpPr>
              <a:cxnSpLocks noChangeShapeType="1"/>
            </p:cNvCxnSpPr>
            <p:nvPr/>
          </p:nvCxnSpPr>
          <p:spPr bwMode="auto">
            <a:xfrm rot="16200000" flipV="1">
              <a:off x="8339316" y="2594561"/>
              <a:ext cx="7823" cy="5040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128" name="文本框 118"/>
            <p:cNvSpPr txBox="1">
              <a:spLocks noChangeArrowheads="1"/>
            </p:cNvSpPr>
            <p:nvPr/>
          </p:nvSpPr>
          <p:spPr bwMode="auto">
            <a:xfrm>
              <a:off x="6207584" y="2911599"/>
              <a:ext cx="453262" cy="3662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800" b="1" i="1" kern="100" dirty="0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sz="1800" b="1" i="1" kern="100" baseline="-25000" dirty="0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endParaRPr lang="zh-CN" sz="1800" kern="100" baseline="-250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9" name="文本框 118"/>
            <p:cNvSpPr txBox="1">
              <a:spLocks noChangeArrowheads="1"/>
            </p:cNvSpPr>
            <p:nvPr/>
          </p:nvSpPr>
          <p:spPr bwMode="auto">
            <a:xfrm>
              <a:off x="8468041" y="2884278"/>
              <a:ext cx="517927" cy="3752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800" b="1" i="1" kern="100" dirty="0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sz="1800" i="1" kern="100" baseline="-25000" dirty="0">
                  <a:solidFill>
                    <a:srgbClr val="FF0000"/>
                  </a:solidFill>
                  <a:cs typeface="Times New Roman" panose="02020603050405020304" pitchFamily="18" charset="0"/>
                </a:rPr>
                <a:t>B</a:t>
              </a:r>
              <a:endParaRPr lang="zh-CN" sz="1800" kern="100" baseline="-250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31" name="Object 32"/>
          <p:cNvGraphicFramePr>
            <a:graphicFrameLocks noChangeAspect="1"/>
          </p:cNvGraphicFramePr>
          <p:nvPr>
            <p:extLst/>
          </p:nvPr>
        </p:nvGraphicFramePr>
        <p:xfrm>
          <a:off x="1423451" y="1602989"/>
          <a:ext cx="2605087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38" name="Equation" r:id="rId3" imgW="1396800" imgH="241200" progId="Equation.DSMT4">
                  <p:embed/>
                </p:oleObj>
              </mc:Choice>
              <mc:Fallback>
                <p:oleObj name="Equation" r:id="rId3" imgW="13968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3451" y="1602989"/>
                        <a:ext cx="2605087" cy="465137"/>
                      </a:xfrm>
                      <a:prstGeom prst="rect">
                        <a:avLst/>
                      </a:prstGeom>
                      <a:noFill/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" name="Object 32"/>
          <p:cNvGraphicFramePr>
            <a:graphicFrameLocks noChangeAspect="1"/>
          </p:cNvGraphicFramePr>
          <p:nvPr/>
        </p:nvGraphicFramePr>
        <p:xfrm>
          <a:off x="921403" y="2064654"/>
          <a:ext cx="390842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39" name="Equation" r:id="rId5" imgW="2095200" imgH="253800" progId="Equation.DSMT4">
                  <p:embed/>
                </p:oleObj>
              </mc:Choice>
              <mc:Fallback>
                <p:oleObj name="Equation" r:id="rId5" imgW="20952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1403" y="2064654"/>
                        <a:ext cx="3908425" cy="488950"/>
                      </a:xfrm>
                      <a:prstGeom prst="rect">
                        <a:avLst/>
                      </a:prstGeom>
                      <a:noFill/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" name="Object 2"/>
          <p:cNvGraphicFramePr>
            <a:graphicFrameLocks noChangeAspect="1"/>
          </p:cNvGraphicFramePr>
          <p:nvPr/>
        </p:nvGraphicFramePr>
        <p:xfrm>
          <a:off x="375504" y="2529791"/>
          <a:ext cx="5795397" cy="421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40" name="Equation" r:id="rId7" imgW="3149280" imgH="228600" progId="Equation.DSMT4">
                  <p:embed/>
                </p:oleObj>
              </mc:Choice>
              <mc:Fallback>
                <p:oleObj name="Equation" r:id="rId7" imgW="3149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504" y="2529791"/>
                        <a:ext cx="5795397" cy="4216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" name="Object 2"/>
          <p:cNvGraphicFramePr>
            <a:graphicFrameLocks noChangeAspect="1"/>
          </p:cNvGraphicFramePr>
          <p:nvPr/>
        </p:nvGraphicFramePr>
        <p:xfrm>
          <a:off x="1145267" y="3005061"/>
          <a:ext cx="1398587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41" name="Equation" r:id="rId9" imgW="863280" imgH="393480" progId="Equation.DSMT4">
                  <p:embed/>
                </p:oleObj>
              </mc:Choice>
              <mc:Fallback>
                <p:oleObj name="Equation" r:id="rId9" imgW="86328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5267" y="3005061"/>
                        <a:ext cx="1398587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" name="Object 2"/>
          <p:cNvGraphicFramePr>
            <a:graphicFrameLocks noChangeAspect="1"/>
          </p:cNvGraphicFramePr>
          <p:nvPr/>
        </p:nvGraphicFramePr>
        <p:xfrm>
          <a:off x="3187682" y="3022246"/>
          <a:ext cx="1871662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42" name="Equation" r:id="rId11" imgW="1155600" imgH="393480" progId="Equation.DSMT4">
                  <p:embed/>
                </p:oleObj>
              </mc:Choice>
              <mc:Fallback>
                <p:oleObj name="Equation" r:id="rId11" imgW="115560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7682" y="3022246"/>
                        <a:ext cx="1871662" cy="639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" name="Text Box 6"/>
          <p:cNvSpPr txBox="1">
            <a:spLocks noChangeArrowheads="1"/>
          </p:cNvSpPr>
          <p:nvPr/>
        </p:nvSpPr>
        <p:spPr bwMode="auto">
          <a:xfrm>
            <a:off x="1198323" y="3695220"/>
            <a:ext cx="37444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判断</a:t>
            </a:r>
            <a:r>
              <a:rPr lang="en-US" altLang="zh-CN" b="0" i="1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</a:rPr>
              <a:t>A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b="0" i="1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</a:rPr>
              <a:t>B</a:t>
            </a:r>
            <a:r>
              <a:rPr lang="zh-CN" altLang="en-US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</a:rPr>
              <a:t>谁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先滑？</a:t>
            </a:r>
          </a:p>
        </p:txBody>
      </p:sp>
      <p:graphicFrame>
        <p:nvGraphicFramePr>
          <p:cNvPr id="137" name="Object 3"/>
          <p:cNvGraphicFramePr>
            <a:graphicFrameLocks noChangeAspect="1"/>
          </p:cNvGraphicFramePr>
          <p:nvPr/>
        </p:nvGraphicFramePr>
        <p:xfrm>
          <a:off x="662778" y="4177264"/>
          <a:ext cx="1338263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43" name="Equation" r:id="rId13" imgW="672840" imgH="177480" progId="Equation.DSMT4">
                  <p:embed/>
                </p:oleObj>
              </mc:Choice>
              <mc:Fallback>
                <p:oleObj name="Equation" r:id="rId13" imgW="67284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778" y="4177264"/>
                        <a:ext cx="1338263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8" name="Object 3"/>
          <p:cNvGraphicFramePr>
            <a:graphicFrameLocks noChangeAspect="1"/>
          </p:cNvGraphicFramePr>
          <p:nvPr/>
        </p:nvGraphicFramePr>
        <p:xfrm>
          <a:off x="2543854" y="4126463"/>
          <a:ext cx="148907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44" name="Equation" r:id="rId15" imgW="749160" imgH="228600" progId="Equation.DSMT4">
                  <p:embed/>
                </p:oleObj>
              </mc:Choice>
              <mc:Fallback>
                <p:oleObj name="Equation" r:id="rId15" imgW="7491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3854" y="4126463"/>
                        <a:ext cx="1489075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" name="Text Box 6"/>
          <p:cNvSpPr txBox="1">
            <a:spLocks noChangeArrowheads="1"/>
          </p:cNvSpPr>
          <p:nvPr/>
        </p:nvSpPr>
        <p:spPr bwMode="auto">
          <a:xfrm>
            <a:off x="4227285" y="4102104"/>
            <a:ext cx="29884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0" i="1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</a:rPr>
              <a:t>A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先达到临界状态</a:t>
            </a:r>
          </a:p>
        </p:txBody>
      </p:sp>
      <p:graphicFrame>
        <p:nvGraphicFramePr>
          <p:cNvPr id="140" name="Object 3"/>
          <p:cNvGraphicFramePr>
            <a:graphicFrameLocks noChangeAspect="1"/>
          </p:cNvGraphicFramePr>
          <p:nvPr/>
        </p:nvGraphicFramePr>
        <p:xfrm>
          <a:off x="6841240" y="4098560"/>
          <a:ext cx="127774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45" name="Equation" r:id="rId17" imgW="545760" imgH="228600" progId="Equation.DSMT4">
                  <p:embed/>
                </p:oleObj>
              </mc:Choice>
              <mc:Fallback>
                <p:oleObj name="Equation" r:id="rId17" imgW="5457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1240" y="4098560"/>
                        <a:ext cx="127774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626652" y="4606777"/>
            <a:ext cx="2142893" cy="2104456"/>
            <a:chOff x="890585" y="4600867"/>
            <a:chExt cx="2142893" cy="2104456"/>
          </a:xfrm>
        </p:grpSpPr>
        <p:grpSp>
          <p:nvGrpSpPr>
            <p:cNvPr id="119" name="组合 118"/>
            <p:cNvGrpSpPr/>
            <p:nvPr/>
          </p:nvGrpSpPr>
          <p:grpSpPr>
            <a:xfrm>
              <a:off x="890585" y="4600867"/>
              <a:ext cx="1707546" cy="1960906"/>
              <a:chOff x="7188601" y="4082108"/>
              <a:chExt cx="1707546" cy="1960906"/>
            </a:xfrm>
          </p:grpSpPr>
          <p:grpSp>
            <p:nvGrpSpPr>
              <p:cNvPr id="130" name="组合 129"/>
              <p:cNvGrpSpPr/>
              <p:nvPr/>
            </p:nvGrpSpPr>
            <p:grpSpPr>
              <a:xfrm>
                <a:off x="7188601" y="4082108"/>
                <a:ext cx="1167045" cy="1960906"/>
                <a:chOff x="5114140" y="1201501"/>
                <a:chExt cx="1167045" cy="1960906"/>
              </a:xfrm>
            </p:grpSpPr>
            <p:cxnSp>
              <p:nvCxnSpPr>
                <p:cNvPr id="145" name="直线 105"/>
                <p:cNvCxnSpPr>
                  <a:cxnSpLocks noChangeShapeType="1"/>
                </p:cNvCxnSpPr>
                <p:nvPr/>
              </p:nvCxnSpPr>
              <p:spPr bwMode="auto">
                <a:xfrm flipH="1" flipV="1">
                  <a:off x="5555464" y="2577209"/>
                  <a:ext cx="7823" cy="504000"/>
                </a:xfrm>
                <a:prstGeom prst="line">
                  <a:avLst/>
                </a:prstGeom>
                <a:noFill/>
                <a:ln w="25400">
                  <a:solidFill>
                    <a:srgbClr val="FF0000"/>
                  </a:solidFill>
                  <a:round/>
                  <a:headEnd type="none" w="sm" len="med"/>
                  <a:tailEnd type="triangl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146" name="矩形 145"/>
                <p:cNvSpPr/>
                <p:nvPr/>
              </p:nvSpPr>
              <p:spPr>
                <a:xfrm rot="1260000">
                  <a:off x="5851895" y="1349381"/>
                  <a:ext cx="69431" cy="181302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7" name="椭圆 146"/>
                <p:cNvSpPr/>
                <p:nvPr/>
              </p:nvSpPr>
              <p:spPr>
                <a:xfrm>
                  <a:off x="6158404" y="1359160"/>
                  <a:ext cx="99792" cy="9979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48" name="文本框 115"/>
                <p:cNvSpPr txBox="1">
                  <a:spLocks noChangeArrowheads="1"/>
                </p:cNvSpPr>
                <p:nvPr/>
              </p:nvSpPr>
              <p:spPr bwMode="auto">
                <a:xfrm>
                  <a:off x="5946213" y="1201501"/>
                  <a:ext cx="205360" cy="2610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algn="just">
                    <a:spcAft>
                      <a:spcPts val="0"/>
                    </a:spcAft>
                  </a:pPr>
                  <a:r>
                    <a:rPr lang="en-US" sz="1800" i="1" kern="100" dirty="0">
                      <a:effectLst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C</a:t>
                  </a:r>
                  <a:endParaRPr lang="zh-CN" sz="1800" kern="100" dirty="0"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9" name="文本框 111"/>
                <p:cNvSpPr txBox="1">
                  <a:spLocks noChangeArrowheads="1"/>
                </p:cNvSpPr>
                <p:nvPr/>
              </p:nvSpPr>
              <p:spPr bwMode="auto">
                <a:xfrm>
                  <a:off x="5291518" y="2863591"/>
                  <a:ext cx="205360" cy="2610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algn="just">
                    <a:spcAft>
                      <a:spcPts val="0"/>
                    </a:spcAft>
                  </a:pPr>
                  <a:r>
                    <a:rPr lang="en-US" sz="1800" i="1" kern="100" dirty="0">
                      <a:effectLst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A</a:t>
                  </a:r>
                  <a:endParaRPr lang="zh-CN" sz="1800" kern="100" dirty="0"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  <p:cxnSp>
              <p:nvCxnSpPr>
                <p:cNvPr id="150" name="直线 103"/>
                <p:cNvCxnSpPr>
                  <a:cxnSpLocks noChangeShapeType="1"/>
                </p:cNvCxnSpPr>
                <p:nvPr/>
              </p:nvCxnSpPr>
              <p:spPr bwMode="auto">
                <a:xfrm>
                  <a:off x="6227869" y="1474737"/>
                  <a:ext cx="978" cy="1628203"/>
                </a:xfrm>
                <a:prstGeom prst="line">
                  <a:avLst/>
                </a:prstGeom>
                <a:noFill/>
                <a:ln w="6350">
                  <a:solidFill>
                    <a:srgbClr val="000000"/>
                  </a:solidFill>
                  <a:prstDash val="dash"/>
                  <a:round/>
                  <a:headEnd type="none" w="sm" len="med"/>
                  <a:tailEnd type="non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151" name="文本框 121"/>
                <p:cNvSpPr txBox="1">
                  <a:spLocks noChangeArrowheads="1"/>
                </p:cNvSpPr>
                <p:nvPr/>
              </p:nvSpPr>
              <p:spPr bwMode="auto">
                <a:xfrm>
                  <a:off x="6075825" y="1769556"/>
                  <a:ext cx="205360" cy="2610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algn="just">
                    <a:spcAft>
                      <a:spcPts val="0"/>
                    </a:spcAft>
                  </a:pPr>
                  <a:r>
                    <a:rPr lang="el-GR" sz="1800" b="0" i="1" kern="100" dirty="0">
                      <a:effectLst/>
                      <a:cs typeface="Times New Roman" panose="02020603050405020304" pitchFamily="18" charset="0"/>
                    </a:rPr>
                    <a:t>α</a:t>
                  </a:r>
                  <a:endParaRPr lang="zh-CN" sz="1800" b="0" kern="100" dirty="0">
                    <a:effectLst/>
                    <a:latin typeface="Calibri" panose="020F0502020204030204" pitchFamily="34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2" name="弧形 120"/>
                <p:cNvSpPr>
                  <a:spLocks noChangeAspect="1"/>
                </p:cNvSpPr>
                <p:nvPr/>
              </p:nvSpPr>
              <p:spPr bwMode="auto">
                <a:xfrm rot="13680000" flipH="1">
                  <a:off x="6113063" y="1739824"/>
                  <a:ext cx="84038" cy="84036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0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6350">
                  <a:solidFill>
                    <a:srgbClr val="000000"/>
                  </a:solidFill>
                  <a:round/>
                  <a:headEnd type="none" w="sm" len="med"/>
                  <a:tailEnd type="non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53" name="文本框 118"/>
                <p:cNvSpPr txBox="1">
                  <a:spLocks noChangeArrowheads="1"/>
                </p:cNvSpPr>
                <p:nvPr/>
              </p:nvSpPr>
              <p:spPr bwMode="auto">
                <a:xfrm>
                  <a:off x="5114140" y="2454006"/>
                  <a:ext cx="517927" cy="37520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/>
                    </a14:hiddenEffects>
                  </a:ext>
                </a:extLst>
              </p:spPr>
              <p:txBody>
                <a:bodyPr rot="0" vert="horz" wrap="square" lIns="0" tIns="0" rIns="0" bIns="0" anchor="t" anchorCtr="0" upright="1">
                  <a:noAutofit/>
                </a:bodyPr>
                <a:lstStyle/>
                <a:p>
                  <a:pPr algn="just">
                    <a:spcAft>
                      <a:spcPts val="0"/>
                    </a:spcAft>
                  </a:pPr>
                  <a:r>
                    <a:rPr lang="en-US" sz="1800" b="1" i="1" kern="100" dirty="0">
                      <a:solidFill>
                        <a:srgbClr val="FF0000"/>
                      </a:solidFill>
                      <a:effectLst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F</a:t>
                  </a:r>
                  <a:r>
                    <a:rPr lang="en-US" sz="1800" b="1" i="1" kern="100" baseline="-25000" dirty="0">
                      <a:solidFill>
                        <a:srgbClr val="FF0000"/>
                      </a:solidFill>
                      <a:effectLst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NA</a:t>
                  </a:r>
                  <a:endParaRPr lang="zh-CN" sz="1800" kern="100" baseline="-25000" dirty="0">
                    <a:solidFill>
                      <a:srgbClr val="FF0000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41" name="文本框 118"/>
              <p:cNvSpPr txBox="1">
                <a:spLocks noChangeArrowheads="1"/>
              </p:cNvSpPr>
              <p:nvPr/>
            </p:nvSpPr>
            <p:spPr bwMode="auto">
              <a:xfrm>
                <a:off x="7959196" y="5570162"/>
                <a:ext cx="314885" cy="28750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800" b="1" i="1" kern="1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Q</a:t>
                </a:r>
                <a:endParaRPr lang="zh-CN" sz="1800" kern="100" dirty="0"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42" name="直线 104"/>
              <p:cNvCxnSpPr>
                <a:cxnSpLocks noChangeShapeType="1"/>
              </p:cNvCxnSpPr>
              <p:nvPr/>
            </p:nvCxnSpPr>
            <p:spPr bwMode="auto">
              <a:xfrm flipH="1">
                <a:off x="7954246" y="5131512"/>
                <a:ext cx="7823" cy="54000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 type="none" w="sm" len="med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43" name="直线 105"/>
              <p:cNvCxnSpPr>
                <a:cxnSpLocks noChangeShapeType="1"/>
              </p:cNvCxnSpPr>
              <p:nvPr/>
            </p:nvCxnSpPr>
            <p:spPr bwMode="auto">
              <a:xfrm flipH="1" flipV="1">
                <a:off x="8302330" y="4328754"/>
                <a:ext cx="7823" cy="50400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none" w="sm" len="med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</p:cxnSp>
          <p:sp>
            <p:nvSpPr>
              <p:cNvPr id="144" name="文本框 118"/>
              <p:cNvSpPr txBox="1">
                <a:spLocks noChangeArrowheads="1"/>
              </p:cNvSpPr>
              <p:nvPr/>
            </p:nvSpPr>
            <p:spPr bwMode="auto">
              <a:xfrm>
                <a:off x="8378220" y="4406800"/>
                <a:ext cx="517927" cy="3752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/>
                  </a14:hiddenEffects>
                </a:ext>
              </a:extLst>
            </p:spPr>
            <p:txBody>
              <a:bodyPr rot="0" vert="horz" wrap="square" lIns="0" tIns="0" rIns="0" bIns="0" anchor="t" anchorCtr="0" upright="1">
                <a:noAutofit/>
              </a:bodyPr>
              <a:lstStyle/>
              <a:p>
                <a:pPr algn="just">
                  <a:spcAft>
                    <a:spcPts val="0"/>
                  </a:spcAft>
                </a:pPr>
                <a:r>
                  <a:rPr lang="en-US" sz="1800" b="1" i="1" kern="100" dirty="0" err="1">
                    <a:solidFill>
                      <a:srgbClr val="FF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F</a:t>
                </a:r>
                <a:r>
                  <a:rPr lang="en-US" sz="1800" b="1" i="1" kern="100" baseline="-25000" dirty="0" err="1">
                    <a:solidFill>
                      <a:srgbClr val="FF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Cy</a:t>
                </a:r>
                <a:endParaRPr lang="zh-CN" sz="1800" kern="100" baseline="-25000" dirty="0">
                  <a:solidFill>
                    <a:srgbClr val="FF0000"/>
                  </a:solidFill>
                  <a:effectLst/>
                  <a:latin typeface="Calibri" panose="020F0502020204030204" pitchFamily="34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54" name="直线 105"/>
            <p:cNvCxnSpPr>
              <a:cxnSpLocks noChangeShapeType="1"/>
            </p:cNvCxnSpPr>
            <p:nvPr/>
          </p:nvCxnSpPr>
          <p:spPr bwMode="auto">
            <a:xfrm rot="5400000" flipH="1" flipV="1">
              <a:off x="1596358" y="6228574"/>
              <a:ext cx="7823" cy="5040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155" name="文本框 118"/>
            <p:cNvSpPr txBox="1">
              <a:spLocks noChangeArrowheads="1"/>
            </p:cNvSpPr>
            <p:nvPr/>
          </p:nvSpPr>
          <p:spPr bwMode="auto">
            <a:xfrm>
              <a:off x="1894759" y="6339064"/>
              <a:ext cx="453262" cy="3662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800" b="1" i="1" kern="100" dirty="0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sz="1800" b="1" i="1" kern="100" baseline="-25000" dirty="0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endParaRPr lang="zh-CN" sz="1800" kern="100" baseline="-250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56" name="直线 105"/>
            <p:cNvCxnSpPr>
              <a:cxnSpLocks noChangeShapeType="1"/>
            </p:cNvCxnSpPr>
            <p:nvPr/>
          </p:nvCxnSpPr>
          <p:spPr bwMode="auto">
            <a:xfrm rot="16200000" flipV="1">
              <a:off x="2259639" y="4567911"/>
              <a:ext cx="7823" cy="5040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med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sp>
          <p:nvSpPr>
            <p:cNvPr id="157" name="文本框 118"/>
            <p:cNvSpPr txBox="1">
              <a:spLocks noChangeArrowheads="1"/>
            </p:cNvSpPr>
            <p:nvPr/>
          </p:nvSpPr>
          <p:spPr bwMode="auto">
            <a:xfrm>
              <a:off x="2515551" y="4670716"/>
              <a:ext cx="517927" cy="37520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/>
                </a14:hiddenEffects>
              </a:ext>
            </a:extLst>
          </p:spPr>
          <p:txBody>
            <a:bodyPr rot="0" vert="horz" wrap="square" lIns="0" tIns="0" rIns="0" bIns="0" anchor="t" anchorCtr="0" upright="1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800" b="1" i="1" kern="100" dirty="0" err="1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sz="1800" b="1" i="1" kern="100" baseline="-25000" dirty="0" err="1">
                  <a:solidFill>
                    <a:srgbClr val="FF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rPr>
                <a:t>Cx</a:t>
              </a:r>
              <a:endParaRPr lang="zh-CN" sz="1800" kern="100" baseline="-250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58" name="Object 2"/>
          <p:cNvGraphicFramePr>
            <a:graphicFrameLocks noChangeAspect="1"/>
          </p:cNvGraphicFramePr>
          <p:nvPr/>
        </p:nvGraphicFramePr>
        <p:xfrm>
          <a:off x="2843153" y="4659087"/>
          <a:ext cx="5752075" cy="4167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46" name="Equation" r:id="rId19" imgW="3162240" imgH="228600" progId="Equation.DSMT4">
                  <p:embed/>
                </p:oleObj>
              </mc:Choice>
              <mc:Fallback>
                <p:oleObj name="Equation" r:id="rId19" imgW="3162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153" y="4659087"/>
                        <a:ext cx="5752075" cy="4167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" name="Object 2"/>
          <p:cNvGraphicFramePr>
            <a:graphicFrameLocks noChangeAspect="1"/>
          </p:cNvGraphicFramePr>
          <p:nvPr/>
        </p:nvGraphicFramePr>
        <p:xfrm>
          <a:off x="2875280" y="5187951"/>
          <a:ext cx="1973263" cy="68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47" name="Equation" r:id="rId21" imgW="1218960" imgH="419040" progId="Equation.DSMT4">
                  <p:embed/>
                </p:oleObj>
              </mc:Choice>
              <mc:Fallback>
                <p:oleObj name="Equation" r:id="rId21" imgW="12189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5280" y="5187951"/>
                        <a:ext cx="1973263" cy="681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0" name="Text Box 6"/>
          <p:cNvSpPr txBox="1">
            <a:spLocks noChangeArrowheads="1"/>
          </p:cNvSpPr>
          <p:nvPr/>
        </p:nvSpPr>
        <p:spPr bwMode="auto">
          <a:xfrm>
            <a:off x="2311425" y="6013392"/>
            <a:ext cx="298849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0" i="1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</a:rPr>
              <a:t>a=l</a:t>
            </a:r>
            <a:r>
              <a:rPr lang="zh-CN" altLang="en-US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</a:rPr>
              <a:t>时，</a:t>
            </a:r>
            <a:r>
              <a:rPr lang="el-GR" altLang="zh-CN" b="0" i="1" dirty="0">
                <a:solidFill>
                  <a:srgbClr val="FF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α</a:t>
            </a:r>
            <a:r>
              <a:rPr lang="zh-CN" altLang="en-US" dirty="0">
                <a:solidFill>
                  <a:srgbClr val="FF0000"/>
                </a:solidFill>
                <a:latin typeface="+mn-lt"/>
                <a:ea typeface="楷体" panose="02010609060101010101" pitchFamily="49" charset="-122"/>
              </a:rPr>
              <a:t>取得最小值</a:t>
            </a:r>
            <a:endParaRPr lang="zh-CN" altLang="en-US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161" name="Object 2"/>
          <p:cNvGraphicFramePr>
            <a:graphicFrameLocks noChangeAspect="1"/>
          </p:cNvGraphicFramePr>
          <p:nvPr/>
        </p:nvGraphicFramePr>
        <p:xfrm>
          <a:off x="5657676" y="5892522"/>
          <a:ext cx="2178050" cy="68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48" name="Equation" r:id="rId23" imgW="1346040" imgH="419040" progId="Equation.DSMT4">
                  <p:embed/>
                </p:oleObj>
              </mc:Choice>
              <mc:Fallback>
                <p:oleObj name="Equation" r:id="rId23" imgW="13460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7676" y="5892522"/>
                        <a:ext cx="2178050" cy="681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2" name="Object 2"/>
          <p:cNvGraphicFramePr>
            <a:graphicFrameLocks noChangeAspect="1"/>
          </p:cNvGraphicFramePr>
          <p:nvPr/>
        </p:nvGraphicFramePr>
        <p:xfrm>
          <a:off x="5706627" y="5126752"/>
          <a:ext cx="1973263" cy="68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49" name="Equation" r:id="rId25" imgW="1218960" imgH="419040" progId="Equation.DSMT4">
                  <p:embed/>
                </p:oleObj>
              </mc:Choice>
              <mc:Fallback>
                <p:oleObj name="Equation" r:id="rId25" imgW="12189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6627" y="5126752"/>
                        <a:ext cx="1973263" cy="681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20652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1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0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5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0" dur="500"/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5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0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5" dur="500"/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0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5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0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5" dur="500"/>
                                        <p:tgtEl>
                                          <p:spTgt spid="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0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build="p" autoUpdateAnimBg="0"/>
      <p:bldP spid="70" grpId="0"/>
      <p:bldP spid="120" grpId="0" build="p" autoUpdateAnimBg="0"/>
      <p:bldP spid="136" grpId="0" build="p" autoUpdateAnimBg="0"/>
      <p:bldP spid="139" grpId="0" build="p" autoUpdateAnimBg="0"/>
      <p:bldP spid="160" grpId="0" build="p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88"/>
          <p:cNvSpPr>
            <a:spLocks noChangeArrowheads="1"/>
          </p:cNvSpPr>
          <p:nvPr/>
        </p:nvSpPr>
        <p:spPr bwMode="auto">
          <a:xfrm>
            <a:off x="563701" y="766227"/>
            <a:ext cx="5213447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kumimoji="0" lang="zh-CN" alt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习题</a:t>
            </a:r>
            <a:r>
              <a:rPr kumimoji="0" lang="en-US" altLang="zh-CN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2-14 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不计自重梯子的两部分</a:t>
            </a:r>
            <a:r>
              <a:rPr kumimoji="0" lang="en-US" altLang="zh-CN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AB</a:t>
            </a:r>
            <a:r>
              <a:rPr kumimoji="0" lang="zh-CN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kumimoji="0" lang="en-US" altLang="zh-CN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AC</a:t>
            </a:r>
            <a:r>
              <a:rPr kumimoji="0" lang="zh-CN" altLang="zh-CN" b="1" dirty="0"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在点</a:t>
            </a:r>
            <a:r>
              <a:rPr kumimoji="0" lang="en-US" altLang="zh-CN" i="1" dirty="0"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kumimoji="0" lang="zh-CN" altLang="zh-CN" b="1" dirty="0"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铰接，在</a:t>
            </a:r>
            <a:r>
              <a:rPr kumimoji="0" lang="en-US" altLang="zh-CN" i="1" dirty="0"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kumimoji="0" lang="zh-CN" altLang="en-US" b="1" dirty="0"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kumimoji="0" lang="en-US" altLang="zh-CN" i="1" dirty="0"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kumimoji="0" lang="zh-CN" altLang="zh-CN" b="1" dirty="0"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两点用水平绳连接，如图所示。梯子放在光滑的水平面上，其一边作用有铅垂力</a:t>
            </a:r>
            <a:r>
              <a:rPr kumimoji="0" lang="en-US" altLang="zh-CN" b="1" i="1" dirty="0"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kumimoji="0" lang="zh-CN" altLang="zh-CN" b="1" dirty="0"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，几何尺寸如图所示。求绳的张力大小。</a:t>
            </a:r>
            <a:endParaRPr kumimoji="0" lang="zh-CN" altLang="zh-CN" sz="4000" b="1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5914396" y="620688"/>
            <a:ext cx="2952214" cy="2430468"/>
            <a:chOff x="5914396" y="620688"/>
            <a:chExt cx="2952214" cy="2430468"/>
          </a:xfrm>
        </p:grpSpPr>
        <p:grpSp>
          <p:nvGrpSpPr>
            <p:cNvPr id="107" name="组合 142"/>
            <p:cNvGrpSpPr>
              <a:grpSpLocks/>
            </p:cNvGrpSpPr>
            <p:nvPr/>
          </p:nvGrpSpPr>
          <p:grpSpPr bwMode="auto">
            <a:xfrm>
              <a:off x="5914396" y="620688"/>
              <a:ext cx="2952214" cy="2430468"/>
              <a:chOff x="6454" y="6766"/>
              <a:chExt cx="2614" cy="2245"/>
            </a:xfrm>
          </p:grpSpPr>
          <p:pic>
            <p:nvPicPr>
              <p:cNvPr id="128" name="对象 108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454" y="6779"/>
                <a:ext cx="2614" cy="22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6" name="文本框 135"/>
              <p:cNvSpPr txBox="1">
                <a:spLocks noChangeArrowheads="1"/>
              </p:cNvSpPr>
              <p:nvPr/>
            </p:nvSpPr>
            <p:spPr bwMode="auto">
              <a:xfrm>
                <a:off x="7610" y="6766"/>
                <a:ext cx="171" cy="28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b="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cs typeface="Times New Roman" panose="02020603050405020304" pitchFamily="18" charset="0"/>
                  </a:rPr>
                  <a:t>A</a:t>
                </a: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7" name="文本框 136"/>
              <p:cNvSpPr txBox="1">
                <a:spLocks noChangeArrowheads="1"/>
              </p:cNvSpPr>
              <p:nvPr/>
            </p:nvSpPr>
            <p:spPr bwMode="auto">
              <a:xfrm>
                <a:off x="6565" y="7464"/>
                <a:ext cx="210" cy="31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b="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cs typeface="Times New Roman" panose="02020603050405020304" pitchFamily="18" charset="0"/>
                  </a:rPr>
                  <a:t>h</a:t>
                </a: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8" name="文本框 137"/>
              <p:cNvSpPr txBox="1">
                <a:spLocks noChangeArrowheads="1"/>
              </p:cNvSpPr>
              <p:nvPr/>
            </p:nvSpPr>
            <p:spPr bwMode="auto">
              <a:xfrm>
                <a:off x="6997" y="7475"/>
                <a:ext cx="105" cy="31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b="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cs typeface="Times New Roman" panose="02020603050405020304" pitchFamily="18" charset="0"/>
                  </a:rPr>
                  <a:t>l</a:t>
                </a: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9" name="文本框 141"/>
              <p:cNvSpPr txBox="1">
                <a:spLocks noChangeArrowheads="1"/>
              </p:cNvSpPr>
              <p:nvPr/>
            </p:nvSpPr>
            <p:spPr bwMode="auto">
              <a:xfrm>
                <a:off x="8549" y="7400"/>
                <a:ext cx="105" cy="31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b="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cs typeface="Times New Roman" panose="02020603050405020304" pitchFamily="18" charset="0"/>
                  </a:rPr>
                  <a:t>l</a:t>
                </a: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20" name="文本框 124"/>
              <p:cNvSpPr txBox="1">
                <a:spLocks noChangeArrowheads="1"/>
              </p:cNvSpPr>
              <p:nvPr/>
            </p:nvSpPr>
            <p:spPr bwMode="auto">
              <a:xfrm>
                <a:off x="6788" y="8728"/>
                <a:ext cx="270" cy="28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b="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cs typeface="Times New Roman" panose="02020603050405020304" pitchFamily="18" charset="0"/>
                  </a:rPr>
                  <a:t>B</a:t>
                </a: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21" name="文本框 125"/>
              <p:cNvSpPr txBox="1">
                <a:spLocks noChangeArrowheads="1"/>
              </p:cNvSpPr>
              <p:nvPr/>
            </p:nvSpPr>
            <p:spPr bwMode="auto">
              <a:xfrm>
                <a:off x="8366" y="8735"/>
                <a:ext cx="255" cy="27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b="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cs typeface="Times New Roman" panose="02020603050405020304" pitchFamily="18" charset="0"/>
                  </a:rPr>
                  <a:t>C</a:t>
                </a: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22" name="文本框 139"/>
              <p:cNvSpPr txBox="1">
                <a:spLocks noChangeArrowheads="1"/>
              </p:cNvSpPr>
              <p:nvPr/>
            </p:nvSpPr>
            <p:spPr bwMode="auto">
              <a:xfrm>
                <a:off x="7701" y="7764"/>
                <a:ext cx="179" cy="24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b="1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cs typeface="Times New Roman" panose="02020603050405020304" pitchFamily="18" charset="0"/>
                  </a:rPr>
                  <a:t>F</a:t>
                </a: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23" name="文本框 133"/>
              <p:cNvSpPr txBox="1">
                <a:spLocks noChangeArrowheads="1"/>
              </p:cNvSpPr>
              <p:nvPr/>
            </p:nvSpPr>
            <p:spPr bwMode="auto">
              <a:xfrm>
                <a:off x="8366" y="7748"/>
                <a:ext cx="210" cy="26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b="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cs typeface="Times New Roman" panose="02020603050405020304" pitchFamily="18" charset="0"/>
                  </a:rPr>
                  <a:t>a</a:t>
                </a: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24" name="文本框 126"/>
              <p:cNvSpPr txBox="1">
                <a:spLocks noChangeArrowheads="1"/>
              </p:cNvSpPr>
              <p:nvPr/>
            </p:nvSpPr>
            <p:spPr bwMode="auto">
              <a:xfrm>
                <a:off x="7202" y="8008"/>
                <a:ext cx="177" cy="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b="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cs typeface="Times New Roman" panose="02020603050405020304" pitchFamily="18" charset="0"/>
                  </a:rPr>
                  <a:t>D</a:t>
                </a: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25" name="文本框 127"/>
              <p:cNvSpPr txBox="1">
                <a:spLocks noChangeArrowheads="1"/>
              </p:cNvSpPr>
              <p:nvPr/>
            </p:nvSpPr>
            <p:spPr bwMode="auto">
              <a:xfrm>
                <a:off x="8027" y="8008"/>
                <a:ext cx="177" cy="2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b="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cs typeface="Times New Roman" panose="02020603050405020304" pitchFamily="18" charset="0"/>
                  </a:rPr>
                  <a:t>E</a:t>
                </a:r>
                <a:endParaRPr kumimoji="0" lang="en-US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26" name="文本框 130"/>
              <p:cNvSpPr txBox="1">
                <a:spLocks noChangeArrowheads="1"/>
              </p:cNvSpPr>
              <p:nvPr/>
            </p:nvSpPr>
            <p:spPr bwMode="auto">
              <a:xfrm>
                <a:off x="7098" y="8272"/>
                <a:ext cx="228" cy="36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b="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宋体" panose="0201060003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</a:t>
                </a:r>
              </a:p>
            </p:txBody>
          </p:sp>
          <p:sp>
            <p:nvSpPr>
              <p:cNvPr id="127" name="文本框 131"/>
              <p:cNvSpPr txBox="1">
                <a:spLocks noChangeArrowheads="1"/>
              </p:cNvSpPr>
              <p:nvPr/>
            </p:nvSpPr>
            <p:spPr bwMode="auto">
              <a:xfrm>
                <a:off x="8091" y="8269"/>
                <a:ext cx="205" cy="369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800" b="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</a:t>
                </a:r>
              </a:p>
            </p:txBody>
          </p:sp>
        </p:grpSp>
        <p:sp>
          <p:nvSpPr>
            <p:cNvPr id="72" name="文本框 131"/>
            <p:cNvSpPr txBox="1">
              <a:spLocks noChangeArrowheads="1"/>
            </p:cNvSpPr>
            <p:nvPr/>
          </p:nvSpPr>
          <p:spPr bwMode="auto">
            <a:xfrm>
              <a:off x="7861623" y="2431317"/>
              <a:ext cx="231524" cy="2160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zh-CN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9452" y="3189450"/>
            <a:ext cx="2677004" cy="3430534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827584" y="3717032"/>
            <a:ext cx="4360489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思考：</a:t>
            </a:r>
            <a:endParaRPr lang="en-US" altLang="zh-CN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、不计自重；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、不计摩擦；</a:t>
            </a:r>
            <a:endParaRPr lang="en-US" altLang="zh-CN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、未知量个数和独立方程数？</a:t>
            </a:r>
          </a:p>
        </p:txBody>
      </p:sp>
    </p:spTree>
    <p:extLst>
      <p:ext uri="{BB962C8B-B14F-4D97-AF65-F5344CB8AC3E}">
        <p14:creationId xmlns:p14="http://schemas.microsoft.com/office/powerpoint/2010/main" val="3239157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2207</TotalTime>
  <Words>3522</Words>
  <Application>Microsoft Office PowerPoint</Application>
  <PresentationFormat>全屏显示(4:3)</PresentationFormat>
  <Paragraphs>718</Paragraphs>
  <Slides>62</Slides>
  <Notes>3</Notes>
  <HiddenSlides>2</HiddenSlides>
  <MMClips>1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62</vt:i4>
      </vt:variant>
    </vt:vector>
  </HeadingPairs>
  <TitlesOfParts>
    <vt:vector size="81" baseType="lpstr">
      <vt:lpstr>仿宋_GB2312</vt:lpstr>
      <vt:lpstr>黑体</vt:lpstr>
      <vt:lpstr>华文楷体</vt:lpstr>
      <vt:lpstr>华文中宋</vt:lpstr>
      <vt:lpstr>楷体</vt:lpstr>
      <vt:lpstr>楷体_GB2312</vt:lpstr>
      <vt:lpstr>宋体</vt:lpstr>
      <vt:lpstr>Arial</vt:lpstr>
      <vt:lpstr>Calibri</vt:lpstr>
      <vt:lpstr>Symbol</vt:lpstr>
      <vt:lpstr>Tahoma</vt:lpstr>
      <vt:lpstr>Times New Roman</vt:lpstr>
      <vt:lpstr>Wingdings</vt:lpstr>
      <vt:lpstr>默认设计模板</vt:lpstr>
      <vt:lpstr>Image</vt:lpstr>
      <vt:lpstr>Equation</vt:lpstr>
      <vt:lpstr>公式</vt:lpstr>
      <vt:lpstr>BMP 图像</vt:lpstr>
      <vt:lpstr>Microsoft Equation 3.0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liujie</dc:creator>
  <cp:lastModifiedBy>User</cp:lastModifiedBy>
  <cp:revision>242</cp:revision>
  <dcterms:created xsi:type="dcterms:W3CDTF">2003-11-13T15:45:13Z</dcterms:created>
  <dcterms:modified xsi:type="dcterms:W3CDTF">2026-10-09T02:59:42Z</dcterms:modified>
</cp:coreProperties>
</file>