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3" r:id="rId3"/>
    <p:sldId id="278" r:id="rId4"/>
    <p:sldId id="294" r:id="rId5"/>
    <p:sldId id="279" r:id="rId6"/>
    <p:sldId id="309" r:id="rId7"/>
    <p:sldId id="281" r:id="rId8"/>
    <p:sldId id="310" r:id="rId9"/>
    <p:sldId id="264" r:id="rId10"/>
    <p:sldId id="265" r:id="rId11"/>
    <p:sldId id="267" r:id="rId12"/>
    <p:sldId id="330" r:id="rId13"/>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modifyVerifier cryptProviderType="rsaAES" cryptAlgorithmClass="hash" cryptAlgorithmType="typeAny" cryptAlgorithmSid="14" spinCount="100000" saltData="Av7GgEwawH9sZ4c0U9mJwQ==" hashData="Zee+xduSlS/gCbDubn2hmh+byidHMXptLvcT9nEGhdDKEpY2W543qHOwbXYbgD9x5Npehbr+F0h5T6YzXQL08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800000"/>
    <a:srgbClr val="000099"/>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3719" autoAdjust="0"/>
  </p:normalViewPr>
  <p:slideViewPr>
    <p:cSldViewPr>
      <p:cViewPr varScale="1">
        <p:scale>
          <a:sx n="168" d="100"/>
          <a:sy n="168" d="100"/>
        </p:scale>
        <p:origin x="1644"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 Id="rId4"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6.wmf"/><Relationship Id="rId5" Type="http://schemas.openxmlformats.org/officeDocument/2006/relationships/image" Target="../media/image12.wmf"/><Relationship Id="rId4"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png"/><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png"/><Relationship Id="rId1" Type="http://schemas.openxmlformats.org/officeDocument/2006/relationships/image" Target="../media/image33.wmf"/><Relationship Id="rId4" Type="http://schemas.openxmlformats.org/officeDocument/2006/relationships/image" Target="../media/image36.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10" Type="http://schemas.openxmlformats.org/officeDocument/2006/relationships/image" Target="../media/image50.wmf"/><Relationship Id="rId4" Type="http://schemas.openxmlformats.org/officeDocument/2006/relationships/image" Target="../media/image44.wmf"/><Relationship Id="rId9"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8495060E-49BE-4539-94C2-CED182A4CC12}" type="slidenum">
              <a:rPr lang="en-US" altLang="zh-CN"/>
              <a:pPr>
                <a:defRPr/>
              </a:pPr>
              <a:t>‹#›</a:t>
            </a:fld>
            <a:endParaRPr lang="en-US" altLang="zh-CN"/>
          </a:p>
        </p:txBody>
      </p:sp>
    </p:spTree>
    <p:extLst>
      <p:ext uri="{BB962C8B-B14F-4D97-AF65-F5344CB8AC3E}">
        <p14:creationId xmlns:p14="http://schemas.microsoft.com/office/powerpoint/2010/main" val="16118952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745496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98369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16466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06497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5481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41266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652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4833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99179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22684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94825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18" Type="http://schemas.openxmlformats.org/officeDocument/2006/relationships/hyperlink" Target="../&#31532;&#19977;&#31456;/chap3.ppt" TargetMode="Externa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hyperlink" Target="../&#31532;&#22235;&#31456;/chap4.ppt" TargetMode="Externa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1.png"/><Relationship Id="rId25" Type="http://schemas.openxmlformats.org/officeDocument/2006/relationships/oleObject" Target="../embeddings/oleObject4.bin"/><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hyperlink" Target="../&#31532;&#19968;&#31456;/chap1.ppt" TargetMode="External"/><Relationship Id="rId5" Type="http://schemas.openxmlformats.org/officeDocument/2006/relationships/slideLayout" Target="../slideLayouts/slideLayout5.xml"/><Relationship Id="rId15" Type="http://schemas.openxmlformats.org/officeDocument/2006/relationships/hyperlink" Target="../&#31532;&#20108;&#31456;/chap2.ppt" TargetMode="Externa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oleObject" Target="../embeddings/oleObject2.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5.jpeg"/><Relationship Id="rId22"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背景(静力学)"/>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AutoShape 8">
            <a:hlinkClick r:id="" action="ppaction://hlinkshowjump?jump=previousslide" highlightClick="1"/>
          </p:cNvPr>
          <p:cNvSpPr>
            <a:spLocks noChangeArrowheads="1"/>
          </p:cNvSpPr>
          <p:nvPr userDrawn="1"/>
        </p:nvSpPr>
        <p:spPr bwMode="auto">
          <a:xfrm>
            <a:off x="228600" y="6248400"/>
            <a:ext cx="3810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sp>
        <p:nvSpPr>
          <p:cNvPr id="1033" name="AutoShape 9">
            <a:hlinkClick r:id="" action="ppaction://hlinkshowjump?jump=nextslide" highlightClick="1"/>
          </p:cNvPr>
          <p:cNvSpPr>
            <a:spLocks noChangeAspect="1" noChangeArrowheads="1"/>
          </p:cNvSpPr>
          <p:nvPr userDrawn="1"/>
        </p:nvSpPr>
        <p:spPr bwMode="auto">
          <a:xfrm>
            <a:off x="762000" y="6248400"/>
            <a:ext cx="3810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graphicFrame>
        <p:nvGraphicFramePr>
          <p:cNvPr id="1029" name="Object 10">
            <a:hlinkClick r:id="rId15"/>
          </p:cNvPr>
          <p:cNvGraphicFramePr>
            <a:graphicFrameLocks noChangeAspect="1"/>
          </p:cNvGraphicFramePr>
          <p:nvPr userDrawn="1"/>
        </p:nvGraphicFramePr>
        <p:xfrm>
          <a:off x="0" y="1649413"/>
          <a:ext cx="503238" cy="1738312"/>
        </p:xfrm>
        <a:graphic>
          <a:graphicData uri="http://schemas.openxmlformats.org/presentationml/2006/ole">
            <mc:AlternateContent xmlns:mc="http://schemas.openxmlformats.org/markup-compatibility/2006">
              <mc:Choice xmlns:v="urn:schemas-microsoft-com:vml" Requires="v">
                <p:oleObj spid="_x0000_s1034" name="Image" r:id="rId16" imgW="557643" imgH="1926014" progId="Photoshop.Image.6">
                  <p:embed/>
                </p:oleObj>
              </mc:Choice>
              <mc:Fallback>
                <p:oleObj name="Image" r:id="rId16" imgW="557643" imgH="1926014" progId="Photoshop.Image.6">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1649413"/>
                        <a:ext cx="503238"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0" name="Object 11">
            <a:hlinkClick r:id="rId18"/>
          </p:cNvPr>
          <p:cNvGraphicFramePr>
            <a:graphicFrameLocks noChangeAspect="1"/>
          </p:cNvGraphicFramePr>
          <p:nvPr userDrawn="1"/>
        </p:nvGraphicFramePr>
        <p:xfrm>
          <a:off x="0" y="3325813"/>
          <a:ext cx="508000" cy="1730375"/>
        </p:xfrm>
        <a:graphic>
          <a:graphicData uri="http://schemas.openxmlformats.org/presentationml/2006/ole">
            <mc:AlternateContent xmlns:mc="http://schemas.openxmlformats.org/markup-compatibility/2006">
              <mc:Choice xmlns:v="urn:schemas-microsoft-com:vml" Requires="v">
                <p:oleObj spid="_x0000_s1035" name="Image" r:id="rId19" imgW="563738" imgH="1920244" progId="Photoshop.Image.6">
                  <p:embed/>
                </p:oleObj>
              </mc:Choice>
              <mc:Fallback>
                <p:oleObj name="Image" r:id="rId19" imgW="563738" imgH="1920244" progId="Photoshop.Image.6">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3325813"/>
                        <a:ext cx="508000" cy="173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1" name="Object 12">
            <a:hlinkClick r:id="rId21"/>
          </p:cNvPr>
          <p:cNvGraphicFramePr>
            <a:graphicFrameLocks noChangeAspect="1"/>
          </p:cNvGraphicFramePr>
          <p:nvPr userDrawn="1"/>
        </p:nvGraphicFramePr>
        <p:xfrm>
          <a:off x="36513" y="5002213"/>
          <a:ext cx="468312" cy="1093787"/>
        </p:xfrm>
        <a:graphic>
          <a:graphicData uri="http://schemas.openxmlformats.org/presentationml/2006/ole">
            <mc:AlternateContent xmlns:mc="http://schemas.openxmlformats.org/markup-compatibility/2006">
              <mc:Choice xmlns:v="urn:schemas-microsoft-com:vml" Requires="v">
                <p:oleObj spid="_x0000_s1036" name="Image" r:id="rId22" imgW="518029" imgH="1209956" progId="Photoshop.Image.6">
                  <p:embed/>
                </p:oleObj>
              </mc:Choice>
              <mc:Fallback>
                <p:oleObj name="Image" r:id="rId22" imgW="518029" imgH="1209956" progId="Photoshop.Image.6">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513" y="5002213"/>
                        <a:ext cx="468312" cy="109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14">
            <a:hlinkClick r:id="rId24"/>
          </p:cNvPr>
          <p:cNvGraphicFramePr>
            <a:graphicFrameLocks noChangeAspect="1"/>
          </p:cNvGraphicFramePr>
          <p:nvPr userDrawn="1"/>
        </p:nvGraphicFramePr>
        <p:xfrm>
          <a:off x="28575" y="0"/>
          <a:ext cx="471488" cy="1666875"/>
        </p:xfrm>
        <a:graphic>
          <a:graphicData uri="http://schemas.openxmlformats.org/presentationml/2006/ole">
            <mc:AlternateContent xmlns:mc="http://schemas.openxmlformats.org/markup-compatibility/2006">
              <mc:Choice xmlns:v="urn:schemas-microsoft-com:vml" Requires="v">
                <p:oleObj spid="_x0000_s1037" name="Image" r:id="rId25" imgW="520900" imgH="1837792" progId="Photoshop.Image.6">
                  <p:embed/>
                </p:oleObj>
              </mc:Choice>
              <mc:Fallback>
                <p:oleObj name="Image" r:id="rId25" imgW="520900" imgH="1837792" progId="Photoshop.Image.6">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575" y="0"/>
                        <a:ext cx="471488"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8.jpeg"/><Relationship Id="rId4" Type="http://schemas.openxmlformats.org/officeDocument/2006/relationships/image" Target="../media/image6.wmf"/></Relationships>
</file>

<file path=ppt/slides/_rels/slide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1.png"/><Relationship Id="rId4" Type="http://schemas.openxmlformats.org/officeDocument/2006/relationships/image" Target="../media/image6.wmf"/><Relationship Id="rId9"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F:\2015&#29702;&#21147;&#35838;&#20214;\&#38745;&#21147;&#23398;\J3&#21147;&#23545;&#28857;&#30340;&#30697;a.avi" TargetMode="Externa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2.bin"/><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15.wmf"/></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image" Target="../media/image21.png"/><Relationship Id="rId10" Type="http://schemas.openxmlformats.org/officeDocument/2006/relationships/image" Target="../media/image9.wmf"/><Relationship Id="rId4" Type="http://schemas.openxmlformats.org/officeDocument/2006/relationships/image" Target="../media/image17.wmf"/><Relationship Id="rId9" Type="http://schemas.openxmlformats.org/officeDocument/2006/relationships/oleObject" Target="../embeddings/oleObject18.bin"/><Relationship Id="rId14" Type="http://schemas.openxmlformats.org/officeDocument/2006/relationships/image" Target="../media/image20.wmf"/></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6.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4.bin"/></Relationships>
</file>

<file path=ppt/slides/_rels/slide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2.jpe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1.wmf"/><Relationship Id="rId5" Type="http://schemas.openxmlformats.org/officeDocument/2006/relationships/oleObject" Target="../embeddings/oleObject27.bin"/><Relationship Id="rId4" Type="http://schemas.openxmlformats.org/officeDocument/2006/relationships/image" Target="../media/image30.wmf"/></Relationships>
</file>

<file path=ppt/slides/_rels/slide1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4.png"/><Relationship Id="rId5" Type="http://schemas.openxmlformats.org/officeDocument/2006/relationships/oleObject" Target="../embeddings/oleObject29.bin"/><Relationship Id="rId10" Type="http://schemas.openxmlformats.org/officeDocument/2006/relationships/image" Target="../media/image36.emf"/><Relationship Id="rId4" Type="http://schemas.openxmlformats.org/officeDocument/2006/relationships/image" Target="../media/image33.wmf"/><Relationship Id="rId9" Type="http://schemas.openxmlformats.org/officeDocument/2006/relationships/oleObject" Target="../embeddings/oleObject3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39.wmf"/><Relationship Id="rId3" Type="http://schemas.openxmlformats.org/officeDocument/2006/relationships/image" Target="../media/image21.png"/><Relationship Id="rId7" Type="http://schemas.openxmlformats.org/officeDocument/2006/relationships/image" Target="../media/image18.wmf"/><Relationship Id="rId12"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3.bin"/><Relationship Id="rId11" Type="http://schemas.openxmlformats.org/officeDocument/2006/relationships/image" Target="../media/image38.wmf"/><Relationship Id="rId5" Type="http://schemas.openxmlformats.org/officeDocument/2006/relationships/image" Target="../media/image17.wmf"/><Relationship Id="rId15" Type="http://schemas.openxmlformats.org/officeDocument/2006/relationships/image" Target="../media/image40.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7.wmf"/><Relationship Id="rId14" Type="http://schemas.openxmlformats.org/officeDocument/2006/relationships/oleObject" Target="../embeddings/oleObject37.bin"/></Relationships>
</file>

<file path=ppt/slides/_rels/slide12.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51.png"/><Relationship Id="rId18" Type="http://schemas.openxmlformats.org/officeDocument/2006/relationships/oleObject" Target="../embeddings/oleObject45.bin"/><Relationship Id="rId3" Type="http://schemas.openxmlformats.org/officeDocument/2006/relationships/oleObject" Target="../embeddings/oleObject38.bin"/><Relationship Id="rId21" Type="http://schemas.openxmlformats.org/officeDocument/2006/relationships/image" Target="../media/image49.wmf"/><Relationship Id="rId7" Type="http://schemas.openxmlformats.org/officeDocument/2006/relationships/oleObject" Target="../embeddings/oleObject40.bin"/><Relationship Id="rId12" Type="http://schemas.openxmlformats.org/officeDocument/2006/relationships/image" Target="../media/image45.wmf"/><Relationship Id="rId17" Type="http://schemas.openxmlformats.org/officeDocument/2006/relationships/image" Target="../media/image47.wmf"/><Relationship Id="rId2" Type="http://schemas.openxmlformats.org/officeDocument/2006/relationships/slideLayout" Target="../slideLayouts/slideLayout2.xml"/><Relationship Id="rId16" Type="http://schemas.openxmlformats.org/officeDocument/2006/relationships/oleObject" Target="../embeddings/oleObject44.bin"/><Relationship Id="rId20" Type="http://schemas.openxmlformats.org/officeDocument/2006/relationships/oleObject" Target="../embeddings/oleObject46.bin"/><Relationship Id="rId1" Type="http://schemas.openxmlformats.org/officeDocument/2006/relationships/vmlDrawing" Target="../drawings/vmlDrawing11.vml"/><Relationship Id="rId6" Type="http://schemas.openxmlformats.org/officeDocument/2006/relationships/image" Target="../media/image42.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image" Target="../media/image46.wmf"/><Relationship Id="rId23" Type="http://schemas.openxmlformats.org/officeDocument/2006/relationships/image" Target="../media/image50.wmf"/><Relationship Id="rId10" Type="http://schemas.openxmlformats.org/officeDocument/2006/relationships/image" Target="../media/image44.wmf"/><Relationship Id="rId19" Type="http://schemas.openxmlformats.org/officeDocument/2006/relationships/image" Target="../media/image48.wmf"/><Relationship Id="rId4" Type="http://schemas.openxmlformats.org/officeDocument/2006/relationships/image" Target="../media/image41.wmf"/><Relationship Id="rId9" Type="http://schemas.openxmlformats.org/officeDocument/2006/relationships/oleObject" Target="../embeddings/oleObject41.bin"/><Relationship Id="rId14" Type="http://schemas.openxmlformats.org/officeDocument/2006/relationships/oleObject" Target="../embeddings/oleObject43.bin"/><Relationship Id="rId22" Type="http://schemas.openxmlformats.org/officeDocument/2006/relationships/oleObject" Target="../embeddings/oleObject47.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971600" y="1124744"/>
            <a:ext cx="71368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黑体" panose="02010609060101010101" pitchFamily="49" charset="-122"/>
                <a:ea typeface="黑体" panose="02010609060101010101" pitchFamily="49" charset="-122"/>
              </a:rPr>
              <a:t>第二章  刚体上力系的等效与简化</a:t>
            </a:r>
          </a:p>
        </p:txBody>
      </p:sp>
      <p:sp>
        <p:nvSpPr>
          <p:cNvPr id="3076" name="Text Box 4"/>
          <p:cNvSpPr txBox="1">
            <a:spLocks noChangeArrowheads="1"/>
          </p:cNvSpPr>
          <p:nvPr/>
        </p:nvSpPr>
        <p:spPr bwMode="auto">
          <a:xfrm>
            <a:off x="1487853" y="2276872"/>
            <a:ext cx="6248400"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5000"/>
              </a:lnSpc>
            </a:pPr>
            <a:r>
              <a:rPr lang="en-US" altLang="zh-CN" sz="3200" b="1" dirty="0">
                <a:latin typeface="+mn-lt"/>
                <a:ea typeface="黑体" panose="02010609060101010101" pitchFamily="49" charset="-122"/>
              </a:rPr>
              <a:t>§2-1  </a:t>
            </a:r>
            <a:r>
              <a:rPr lang="zh-CN" altLang="en-US" sz="3200" b="1" dirty="0">
                <a:solidFill>
                  <a:srgbClr val="FF0000"/>
                </a:solidFill>
                <a:latin typeface="黑体" panose="02010609060101010101" pitchFamily="49" charset="-122"/>
                <a:ea typeface="黑体" panose="02010609060101010101" pitchFamily="49" charset="-122"/>
              </a:rPr>
              <a:t>力矩</a:t>
            </a:r>
          </a:p>
          <a:p>
            <a:pPr eaLnBrk="1" hangingPunct="1">
              <a:lnSpc>
                <a:spcPct val="145000"/>
              </a:lnSpc>
            </a:pPr>
            <a:r>
              <a:rPr lang="en-US" altLang="zh-CN" sz="3200" b="1" dirty="0">
                <a:latin typeface="+mn-lt"/>
                <a:ea typeface="黑体" panose="02010609060101010101" pitchFamily="49" charset="-122"/>
              </a:rPr>
              <a:t>§2-2  </a:t>
            </a:r>
            <a:r>
              <a:rPr lang="zh-CN" altLang="en-US" sz="3200" b="1" dirty="0">
                <a:solidFill>
                  <a:srgbClr val="FF0000"/>
                </a:solidFill>
                <a:latin typeface="黑体" panose="02010609060101010101" pitchFamily="49" charset="-122"/>
                <a:ea typeface="黑体" panose="02010609060101010101" pitchFamily="49" charset="-122"/>
              </a:rPr>
              <a:t>力偶</a:t>
            </a:r>
            <a:endParaRPr lang="en-US" altLang="zh-CN" sz="3200" b="1" dirty="0">
              <a:solidFill>
                <a:srgbClr val="FF0000"/>
              </a:solidFill>
              <a:latin typeface="黑体" panose="02010609060101010101" pitchFamily="49" charset="-122"/>
              <a:ea typeface="黑体" panose="02010609060101010101" pitchFamily="49" charset="-122"/>
            </a:endParaRPr>
          </a:p>
          <a:p>
            <a:pPr eaLnBrk="1" hangingPunct="1">
              <a:lnSpc>
                <a:spcPct val="145000"/>
              </a:lnSpc>
            </a:pPr>
            <a:r>
              <a:rPr lang="en-US" altLang="zh-CN" sz="3200" b="1" dirty="0">
                <a:latin typeface="+mn-lt"/>
                <a:ea typeface="黑体" panose="02010609060101010101" pitchFamily="49" charset="-122"/>
              </a:rPr>
              <a:t>§2-3  </a:t>
            </a:r>
            <a:r>
              <a:rPr lang="zh-CN" altLang="en-US" sz="3200" b="1" dirty="0">
                <a:solidFill>
                  <a:srgbClr val="FF0000"/>
                </a:solidFill>
                <a:latin typeface="黑体" panose="02010609060101010101" pitchFamily="49" charset="-122"/>
                <a:ea typeface="黑体" panose="02010609060101010101" pitchFamily="49" charset="-122"/>
              </a:rPr>
              <a:t>空间任意力系的简化</a:t>
            </a:r>
          </a:p>
          <a:p>
            <a:pPr eaLnBrk="1" hangingPunct="1">
              <a:lnSpc>
                <a:spcPct val="145000"/>
              </a:lnSpc>
            </a:pPr>
            <a:r>
              <a:rPr lang="en-US" altLang="zh-CN" sz="3200" b="1" dirty="0">
                <a:latin typeface="+mn-lt"/>
                <a:ea typeface="黑体" panose="02010609060101010101" pitchFamily="49" charset="-122"/>
              </a:rPr>
              <a:t>§2-4  </a:t>
            </a:r>
            <a:r>
              <a:rPr lang="zh-CN" altLang="en-US" sz="3200" b="1" dirty="0">
                <a:solidFill>
                  <a:srgbClr val="FF0000"/>
                </a:solidFill>
                <a:latin typeface="黑体" panose="02010609060101010101" pitchFamily="49" charset="-122"/>
                <a:ea typeface="黑体" panose="02010609060101010101" pitchFamily="49" charset="-122"/>
              </a:rPr>
              <a:t>平行力系的中心与重心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wipe(up)">
                                      <p:cBhvr>
                                        <p:cTn id="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804265" y="1147833"/>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sp>
        <p:nvSpPr>
          <p:cNvPr id="9221" name="Text Box 5"/>
          <p:cNvSpPr txBox="1">
            <a:spLocks noChangeArrowheads="1"/>
          </p:cNvSpPr>
          <p:nvPr/>
        </p:nvSpPr>
        <p:spPr bwMode="auto">
          <a:xfrm>
            <a:off x="635747" y="5029093"/>
            <a:ext cx="15776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定位矢量</a:t>
            </a:r>
            <a:r>
              <a:rPr lang="en-US" altLang="zh-CN" b="1" dirty="0">
                <a:latin typeface="楷体" panose="02010609060101010101" pitchFamily="49" charset="-122"/>
                <a:ea typeface="楷体" panose="02010609060101010101" pitchFamily="49" charset="-122"/>
              </a:rPr>
              <a:t>:</a:t>
            </a:r>
          </a:p>
        </p:txBody>
      </p:sp>
      <p:sp>
        <p:nvSpPr>
          <p:cNvPr id="9228" name="Text Box 12"/>
          <p:cNvSpPr txBox="1">
            <a:spLocks noChangeArrowheads="1"/>
          </p:cNvSpPr>
          <p:nvPr/>
        </p:nvSpPr>
        <p:spPr bwMode="auto">
          <a:xfrm>
            <a:off x="837679" y="1812313"/>
            <a:ext cx="3887788" cy="830263"/>
          </a:xfrm>
          <a:prstGeom prst="rect">
            <a:avLst/>
          </a:prstGeom>
          <a:noFill/>
          <a:ln w="9525">
            <a:noFill/>
            <a:miter lim="800000"/>
            <a:headEnd/>
            <a:tailEnd/>
          </a:ln>
          <a:effectLst/>
        </p:spPr>
        <p:txBody>
          <a:bodyPr>
            <a:spAutoFit/>
          </a:bodyPr>
          <a:lstStyle/>
          <a:p>
            <a:pPr algn="ctr" eaLnBrk="1" hangingPunct="1">
              <a:defRPr/>
            </a:pPr>
            <a:r>
              <a:rPr lang="zh-CN" altLang="en-US" b="1" dirty="0">
                <a:solidFill>
                  <a:srgbClr val="FF0000"/>
                </a:solidFill>
                <a:latin typeface="黑体" panose="02010609060101010101" pitchFamily="49" charset="-122"/>
                <a:ea typeface="黑体" panose="02010609060101010101" pitchFamily="49" charset="-122"/>
              </a:rPr>
              <a:t>力对点之矩</a:t>
            </a:r>
            <a:r>
              <a:rPr lang="zh-CN" altLang="en-US" b="1" dirty="0">
                <a:latin typeface="黑体" panose="02010609060101010101" pitchFamily="49" charset="-122"/>
                <a:ea typeface="黑体" panose="02010609060101010101" pitchFamily="49" charset="-122"/>
              </a:rPr>
              <a:t>是力使物体绕某点转动效果的度量</a:t>
            </a:r>
            <a:r>
              <a:rPr lang="zh-CN" altLang="en-US" dirty="0">
                <a:latin typeface="黑体" panose="02010609060101010101" pitchFamily="49" charset="-122"/>
                <a:ea typeface="黑体" panose="02010609060101010101" pitchFamily="49" charset="-122"/>
              </a:rPr>
              <a:t>。</a:t>
            </a:r>
          </a:p>
        </p:txBody>
      </p:sp>
      <p:graphicFrame>
        <p:nvGraphicFramePr>
          <p:cNvPr id="9230" name="Object 14"/>
          <p:cNvGraphicFramePr>
            <a:graphicFrameLocks noChangeAspect="1"/>
          </p:cNvGraphicFramePr>
          <p:nvPr>
            <p:extLst>
              <p:ext uri="{D42A27DB-BD31-4B8C-83A1-F6EECF244321}">
                <p14:modId xmlns:p14="http://schemas.microsoft.com/office/powerpoint/2010/main" val="851696093"/>
              </p:ext>
            </p:extLst>
          </p:nvPr>
        </p:nvGraphicFramePr>
        <p:xfrm>
          <a:off x="1651799" y="3592461"/>
          <a:ext cx="2736850" cy="549275"/>
        </p:xfrm>
        <a:graphic>
          <a:graphicData uri="http://schemas.openxmlformats.org/presentationml/2006/ole">
            <mc:AlternateContent xmlns:mc="http://schemas.openxmlformats.org/markup-compatibility/2006">
              <mc:Choice xmlns:v="urn:schemas-microsoft-com:vml" Requires="v">
                <p:oleObj spid="_x0000_s2054" name="Equation" r:id="rId3" imgW="1905000" imgH="381000" progId="Equation.3">
                  <p:embed/>
                </p:oleObj>
              </mc:Choice>
              <mc:Fallback>
                <p:oleObj name="Equation" r:id="rId3" imgW="1905000" imgH="3810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799" y="3592461"/>
                        <a:ext cx="27368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1" name="Text Box 15"/>
          <p:cNvSpPr txBox="1">
            <a:spLocks noChangeArrowheads="1"/>
          </p:cNvSpPr>
          <p:nvPr/>
        </p:nvSpPr>
        <p:spPr bwMode="auto">
          <a:xfrm>
            <a:off x="2118678" y="4538345"/>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大小</a:t>
            </a:r>
            <a:r>
              <a:rPr lang="en-US" altLang="zh-CN" b="1" dirty="0">
                <a:solidFill>
                  <a:srgbClr val="000099"/>
                </a:solidFill>
                <a:latin typeface="楷体" panose="02010609060101010101" pitchFamily="49" charset="-122"/>
                <a:ea typeface="楷体" panose="02010609060101010101" pitchFamily="49" charset="-122"/>
              </a:rPr>
              <a:t>:</a:t>
            </a:r>
          </a:p>
        </p:txBody>
      </p:sp>
      <p:sp>
        <p:nvSpPr>
          <p:cNvPr id="9234" name="Text Box 18"/>
          <p:cNvSpPr txBox="1">
            <a:spLocks noChangeArrowheads="1"/>
          </p:cNvSpPr>
          <p:nvPr/>
        </p:nvSpPr>
        <p:spPr bwMode="auto">
          <a:xfrm>
            <a:off x="2118678" y="5070157"/>
            <a:ext cx="67017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方向</a:t>
            </a:r>
            <a:r>
              <a:rPr lang="en-US" altLang="zh-CN" b="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垂直于</a:t>
            </a:r>
            <a:r>
              <a:rPr lang="en-US" altLang="zh-CN" b="1" i="1" dirty="0">
                <a:solidFill>
                  <a:srgbClr val="000099"/>
                </a:solidFill>
                <a:latin typeface="+mn-lt"/>
                <a:ea typeface="楷体" panose="02010609060101010101" pitchFamily="49" charset="-122"/>
              </a:rPr>
              <a:t>r</a:t>
            </a:r>
            <a:r>
              <a:rPr lang="zh-CN" altLang="en-US" b="1" dirty="0">
                <a:solidFill>
                  <a:srgbClr val="000099"/>
                </a:solidFill>
                <a:latin typeface="楷体" panose="02010609060101010101" pitchFamily="49" charset="-122"/>
                <a:ea typeface="楷体" panose="02010609060101010101" pitchFamily="49" charset="-122"/>
              </a:rPr>
              <a:t>与</a:t>
            </a:r>
            <a:r>
              <a:rPr lang="en-US" altLang="zh-CN" b="1" i="1" dirty="0">
                <a:solidFill>
                  <a:srgbClr val="000099"/>
                </a:solidFill>
                <a:latin typeface="+mn-lt"/>
                <a:ea typeface="楷体" panose="02010609060101010101" pitchFamily="49" charset="-122"/>
              </a:rPr>
              <a:t>F </a:t>
            </a:r>
            <a:r>
              <a:rPr lang="zh-CN" altLang="en-US" b="1" dirty="0">
                <a:solidFill>
                  <a:srgbClr val="000099"/>
                </a:solidFill>
                <a:latin typeface="楷体" panose="02010609060101010101" pitchFamily="49" charset="-122"/>
                <a:ea typeface="楷体" panose="02010609060101010101" pitchFamily="49" charset="-122"/>
              </a:rPr>
              <a:t>组成的平面</a:t>
            </a:r>
            <a:r>
              <a:rPr lang="en-US" altLang="zh-CN" b="1" dirty="0">
                <a:solidFill>
                  <a:srgbClr val="000099"/>
                </a:solidFill>
                <a:latin typeface="楷体" panose="02010609060101010101" pitchFamily="49" charset="-122"/>
                <a:ea typeface="楷体" panose="02010609060101010101" pitchFamily="49" charset="-122"/>
              </a:rPr>
              <a:t>,</a:t>
            </a:r>
            <a:r>
              <a:rPr lang="zh-CN" altLang="en-US" b="1" dirty="0">
                <a:solidFill>
                  <a:srgbClr val="000099"/>
                </a:solidFill>
                <a:latin typeface="楷体" panose="02010609060101010101" pitchFamily="49" charset="-122"/>
                <a:ea typeface="楷体" panose="02010609060101010101" pitchFamily="49" charset="-122"/>
              </a:rPr>
              <a:t>右手螺旋法则</a:t>
            </a:r>
          </a:p>
        </p:txBody>
      </p:sp>
      <p:sp>
        <p:nvSpPr>
          <p:cNvPr id="9235" name="Text Box 19"/>
          <p:cNvSpPr txBox="1">
            <a:spLocks noChangeArrowheads="1"/>
          </p:cNvSpPr>
          <p:nvPr/>
        </p:nvSpPr>
        <p:spPr bwMode="auto">
          <a:xfrm>
            <a:off x="2118678" y="5572886"/>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作用点</a:t>
            </a:r>
            <a:r>
              <a:rPr lang="en-US" altLang="zh-CN" b="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过矩心</a:t>
            </a:r>
            <a:r>
              <a:rPr lang="en-US" altLang="zh-CN" b="1" i="1" dirty="0">
                <a:solidFill>
                  <a:srgbClr val="000099"/>
                </a:solidFill>
                <a:latin typeface="+mn-lt"/>
                <a:ea typeface="楷体" panose="02010609060101010101" pitchFamily="49" charset="-122"/>
              </a:rPr>
              <a:t>O</a:t>
            </a:r>
            <a:r>
              <a:rPr lang="en-US" altLang="zh-CN" b="1" dirty="0">
                <a:solidFill>
                  <a:srgbClr val="000099"/>
                </a:solidFill>
                <a:latin typeface="楷体" panose="02010609060101010101" pitchFamily="49" charset="-122"/>
                <a:ea typeface="楷体" panose="02010609060101010101" pitchFamily="49" charset="-122"/>
              </a:rPr>
              <a:t>,</a:t>
            </a:r>
            <a:r>
              <a:rPr lang="en-US" altLang="zh-CN" b="1" i="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任意指定点</a:t>
            </a:r>
            <a:endParaRPr lang="en-US" altLang="zh-CN" b="1" dirty="0">
              <a:solidFill>
                <a:srgbClr val="000099"/>
              </a:solidFill>
              <a:latin typeface="楷体" panose="02010609060101010101" pitchFamily="49" charset="-122"/>
              <a:ea typeface="楷体" panose="02010609060101010101" pitchFamily="49" charset="-122"/>
            </a:endParaRPr>
          </a:p>
        </p:txBody>
      </p:sp>
      <p:sp>
        <p:nvSpPr>
          <p:cNvPr id="9250" name="Text Box 34"/>
          <p:cNvSpPr txBox="1">
            <a:spLocks noChangeArrowheads="1"/>
          </p:cNvSpPr>
          <p:nvPr/>
        </p:nvSpPr>
        <p:spPr bwMode="auto">
          <a:xfrm>
            <a:off x="661930" y="2979029"/>
            <a:ext cx="4712979" cy="46166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空间情况下的力对点之矩</a:t>
            </a:r>
            <a:r>
              <a:rPr lang="zh-CN" altLang="en-US" b="1" dirty="0">
                <a:solidFill>
                  <a:srgbClr val="FF0000"/>
                </a:solidFill>
                <a:latin typeface="黑体" panose="02010609060101010101" pitchFamily="49" charset="-122"/>
                <a:ea typeface="黑体" panose="02010609060101010101" pitchFamily="49" charset="-122"/>
              </a:rPr>
              <a:t>（矢量）</a:t>
            </a:r>
          </a:p>
        </p:txBody>
      </p:sp>
      <p:sp>
        <p:nvSpPr>
          <p:cNvPr id="13" name="TextBox 12"/>
          <p:cNvSpPr txBox="1">
            <a:spLocks noChangeArrowheads="1"/>
          </p:cNvSpPr>
          <p:nvPr/>
        </p:nvSpPr>
        <p:spPr bwMode="auto">
          <a:xfrm>
            <a:off x="6778020" y="4554511"/>
            <a:ext cx="171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单位</a:t>
            </a:r>
            <a:r>
              <a:rPr lang="zh-CN" altLang="en-US" dirty="0"/>
              <a:t>  </a:t>
            </a:r>
            <a:r>
              <a:rPr lang="en-US" altLang="zh-CN" dirty="0" err="1"/>
              <a:t>N</a:t>
            </a:r>
            <a:r>
              <a:rPr lang="en-US" altLang="zh-CN" dirty="0" err="1">
                <a:sym typeface="Symbol" panose="05050102010706020507" pitchFamily="18" charset="2"/>
              </a:rPr>
              <a:t></a:t>
            </a:r>
            <a:r>
              <a:rPr lang="en-US" altLang="zh-CN" dirty="0" err="1"/>
              <a:t>m</a:t>
            </a:r>
            <a:endParaRPr lang="zh-CN" altLang="en-US" dirty="0"/>
          </a:p>
        </p:txBody>
      </p:sp>
      <p:grpSp>
        <p:nvGrpSpPr>
          <p:cNvPr id="14" name="Group 38"/>
          <p:cNvGrpSpPr>
            <a:grpSpLocks/>
          </p:cNvGrpSpPr>
          <p:nvPr/>
        </p:nvGrpSpPr>
        <p:grpSpPr bwMode="auto">
          <a:xfrm>
            <a:off x="5403893" y="874686"/>
            <a:ext cx="3048000" cy="3214687"/>
            <a:chOff x="1008" y="1563"/>
            <a:chExt cx="1920" cy="2025"/>
          </a:xfrm>
        </p:grpSpPr>
        <p:pic>
          <p:nvPicPr>
            <p:cNvPr id="15" name="Picture 35" descr="tu静(2)-9"/>
            <p:cNvPicPr>
              <a:picLocks noChangeAspect="1" noChangeArrowheads="1"/>
            </p:cNvPicPr>
            <p:nvPr/>
          </p:nvPicPr>
          <p:blipFill>
            <a:blip r:embed="rId5">
              <a:lum bright="18000"/>
              <a:extLst>
                <a:ext uri="{28A0092B-C50C-407E-A947-70E740481C1C}">
                  <a14:useLocalDpi xmlns:a14="http://schemas.microsoft.com/office/drawing/2010/main" val="0"/>
                </a:ext>
              </a:extLst>
            </a:blip>
            <a:srcRect/>
            <a:stretch>
              <a:fillRect/>
            </a:stretch>
          </p:blipFill>
          <p:spPr bwMode="auto">
            <a:xfrm>
              <a:off x="1033" y="1563"/>
              <a:ext cx="1895" cy="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36"/>
            <p:cNvSpPr>
              <a:spLocks noChangeArrowheads="1"/>
            </p:cNvSpPr>
            <p:nvPr/>
          </p:nvSpPr>
          <p:spPr bwMode="auto">
            <a:xfrm rot="20040000" flipV="1">
              <a:off x="1211" y="2515"/>
              <a:ext cx="709" cy="4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17739 h 21600"/>
              </a:gdLst>
              <a:ahLst/>
              <a:cxnLst>
                <a:cxn ang="T8">
                  <a:pos x="T0" y="T1"/>
                </a:cxn>
                <a:cxn ang="T9">
                  <a:pos x="T2" y="T3"/>
                </a:cxn>
                <a:cxn ang="T10">
                  <a:pos x="T4" y="T5"/>
                </a:cxn>
                <a:cxn ang="T11">
                  <a:pos x="T6" y="T7"/>
                </a:cxn>
              </a:cxnLst>
              <a:rect l="T12" t="T13" r="T14" b="T15"/>
              <a:pathLst>
                <a:path w="21600" h="21600">
                  <a:moveTo>
                    <a:pt x="5295" y="17825"/>
                  </a:moveTo>
                  <a:cubicBezTo>
                    <a:pt x="3136" y="16133"/>
                    <a:pt x="1875" y="13542"/>
                    <a:pt x="1875" y="10800"/>
                  </a:cubicBezTo>
                  <a:cubicBezTo>
                    <a:pt x="1875" y="5870"/>
                    <a:pt x="5870" y="1875"/>
                    <a:pt x="10800" y="1875"/>
                  </a:cubicBezTo>
                  <a:cubicBezTo>
                    <a:pt x="15729" y="1875"/>
                    <a:pt x="19725" y="5870"/>
                    <a:pt x="19725" y="10800"/>
                  </a:cubicBezTo>
                  <a:cubicBezTo>
                    <a:pt x="19725" y="13542"/>
                    <a:pt x="18463" y="16133"/>
                    <a:pt x="16304" y="17825"/>
                  </a:cubicBezTo>
                  <a:lnTo>
                    <a:pt x="17460" y="19301"/>
                  </a:lnTo>
                  <a:cubicBezTo>
                    <a:pt x="20073" y="17254"/>
                    <a:pt x="21600" y="14119"/>
                    <a:pt x="21600" y="10800"/>
                  </a:cubicBezTo>
                  <a:cubicBezTo>
                    <a:pt x="21600" y="4835"/>
                    <a:pt x="16764" y="0"/>
                    <a:pt x="10800" y="0"/>
                  </a:cubicBezTo>
                  <a:cubicBezTo>
                    <a:pt x="4835" y="0"/>
                    <a:pt x="0" y="4835"/>
                    <a:pt x="0" y="10800"/>
                  </a:cubicBezTo>
                  <a:cubicBezTo>
                    <a:pt x="-1" y="14119"/>
                    <a:pt x="1526" y="17254"/>
                    <a:pt x="4139" y="19301"/>
                  </a:cubicBezTo>
                  <a:lnTo>
                    <a:pt x="5295" y="17825"/>
                  </a:lnTo>
                  <a:close/>
                </a:path>
              </a:pathLst>
            </a:custGeom>
            <a:solidFill>
              <a:srgbClr val="FFFFFF"/>
            </a:solidFill>
            <a:ln w="9525">
              <a:solidFill>
                <a:srgbClr val="FFFFFF"/>
              </a:solidFill>
              <a:miter lim="800000"/>
              <a:headEnd/>
              <a:tailEnd/>
            </a:ln>
          </p:spPr>
          <p:txBody>
            <a:bodyPr wrap="none" anchor="ctr"/>
            <a:lstStyle/>
            <a:p>
              <a:endParaRPr lang="zh-CN" altLang="en-US"/>
            </a:p>
          </p:txBody>
        </p:sp>
        <p:sp>
          <p:nvSpPr>
            <p:cNvPr id="17" name="Text Box 37"/>
            <p:cNvSpPr txBox="1">
              <a:spLocks noChangeArrowheads="1"/>
            </p:cNvSpPr>
            <p:nvPr/>
          </p:nvSpPr>
          <p:spPr bwMode="auto">
            <a:xfrm>
              <a:off x="1008" y="2016"/>
              <a:ext cx="5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i="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8" name="Group 48"/>
          <p:cNvGrpSpPr>
            <a:grpSpLocks/>
          </p:cNvGrpSpPr>
          <p:nvPr/>
        </p:nvGrpSpPr>
        <p:grpSpPr bwMode="auto">
          <a:xfrm>
            <a:off x="6927186" y="1213245"/>
            <a:ext cx="1069975" cy="2263775"/>
            <a:chOff x="1966" y="1774"/>
            <a:chExt cx="674" cy="1426"/>
          </a:xfrm>
        </p:grpSpPr>
        <p:sp>
          <p:nvSpPr>
            <p:cNvPr id="19" name="AutoShape 39"/>
            <p:cNvSpPr>
              <a:spLocks noChangeArrowheads="1"/>
            </p:cNvSpPr>
            <p:nvPr/>
          </p:nvSpPr>
          <p:spPr bwMode="auto">
            <a:xfrm rot="1320000">
              <a:off x="2304" y="1892"/>
              <a:ext cx="45" cy="816"/>
            </a:xfrm>
            <a:prstGeom prst="upArrow">
              <a:avLst>
                <a:gd name="adj1" fmla="val 50000"/>
                <a:gd name="adj2" fmla="val 453333"/>
              </a:avLst>
            </a:prstGeom>
            <a:solidFill>
              <a:srgbClr val="2113DD"/>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0" name="Oval 40"/>
            <p:cNvSpPr>
              <a:spLocks noChangeArrowheads="1"/>
            </p:cNvSpPr>
            <p:nvPr/>
          </p:nvSpPr>
          <p:spPr bwMode="auto">
            <a:xfrm>
              <a:off x="2141" y="2672"/>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1" name="Text Box 41"/>
            <p:cNvSpPr txBox="1">
              <a:spLocks noChangeArrowheads="1"/>
            </p:cNvSpPr>
            <p:nvPr/>
          </p:nvSpPr>
          <p:spPr bwMode="auto">
            <a:xfrm>
              <a:off x="2160" y="2745"/>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p:txBody>
        </p:sp>
        <p:sp>
          <p:nvSpPr>
            <p:cNvPr id="22" name="Line 42"/>
            <p:cNvSpPr>
              <a:spLocks noChangeShapeType="1"/>
            </p:cNvSpPr>
            <p:nvPr/>
          </p:nvSpPr>
          <p:spPr bwMode="auto">
            <a:xfrm flipH="1">
              <a:off x="1966" y="1774"/>
              <a:ext cx="567" cy="1426"/>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Text Box 47"/>
            <p:cNvSpPr txBox="1">
              <a:spLocks noChangeArrowheads="1"/>
            </p:cNvSpPr>
            <p:nvPr/>
          </p:nvSpPr>
          <p:spPr bwMode="auto">
            <a:xfrm>
              <a:off x="2496" y="1968"/>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p>
          </p:txBody>
        </p:sp>
      </p:grpSp>
      <p:grpSp>
        <p:nvGrpSpPr>
          <p:cNvPr id="24" name="Group 70"/>
          <p:cNvGrpSpPr>
            <a:grpSpLocks/>
          </p:cNvGrpSpPr>
          <p:nvPr/>
        </p:nvGrpSpPr>
        <p:grpSpPr bwMode="auto">
          <a:xfrm>
            <a:off x="6131849" y="2345132"/>
            <a:ext cx="1987550" cy="858838"/>
            <a:chOff x="1473" y="3347"/>
            <a:chExt cx="1252" cy="541"/>
          </a:xfrm>
        </p:grpSpPr>
        <p:sp>
          <p:nvSpPr>
            <p:cNvPr id="25" name="AutoShape 50"/>
            <p:cNvSpPr>
              <a:spLocks noChangeArrowheads="1"/>
            </p:cNvSpPr>
            <p:nvPr/>
          </p:nvSpPr>
          <p:spPr bwMode="auto">
            <a:xfrm rot="-600000">
              <a:off x="1582" y="3592"/>
              <a:ext cx="542" cy="36"/>
            </a:xfrm>
            <a:prstGeom prst="rightArrow">
              <a:avLst>
                <a:gd name="adj1" fmla="val 50000"/>
                <a:gd name="adj2" fmla="val 376389"/>
              </a:avLst>
            </a:prstGeom>
            <a:solidFill>
              <a:srgbClr val="800080"/>
            </a:solidFill>
            <a:ln w="9525">
              <a:solidFill>
                <a:srgbClr val="800080"/>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26" name="Group 55"/>
            <p:cNvGrpSpPr>
              <a:grpSpLocks/>
            </p:cNvGrpSpPr>
            <p:nvPr/>
          </p:nvGrpSpPr>
          <p:grpSpPr bwMode="auto">
            <a:xfrm>
              <a:off x="1473" y="3347"/>
              <a:ext cx="1252" cy="541"/>
              <a:chOff x="1473" y="2471"/>
              <a:chExt cx="1252" cy="541"/>
            </a:xfrm>
          </p:grpSpPr>
          <p:sp>
            <p:nvSpPr>
              <p:cNvPr id="27" name="Line 49"/>
              <p:cNvSpPr>
                <a:spLocks noChangeShapeType="1"/>
              </p:cNvSpPr>
              <p:nvPr/>
            </p:nvSpPr>
            <p:spPr bwMode="auto">
              <a:xfrm flipV="1">
                <a:off x="1584" y="2562"/>
                <a:ext cx="1141" cy="206"/>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 name="Text Box 51"/>
              <p:cNvSpPr txBox="1">
                <a:spLocks noChangeArrowheads="1"/>
              </p:cNvSpPr>
              <p:nvPr/>
            </p:nvSpPr>
            <p:spPr bwMode="auto">
              <a:xfrm>
                <a:off x="1900" y="2471"/>
                <a:ext cx="1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b="1" i="1" dirty="0">
                    <a:solidFill>
                      <a:srgbClr val="2113DD"/>
                    </a:solidFill>
                    <a:latin typeface="Times New Roman" panose="02020603050405020304" pitchFamily="18" charset="0"/>
                    <a:ea typeface="宋体" panose="02010600030101010101" pitchFamily="2" charset="-122"/>
                    <a:cs typeface="Times New Roman" panose="02020603050405020304" pitchFamily="18" charset="0"/>
                  </a:rPr>
                  <a:t>r</a:t>
                </a:r>
              </a:p>
            </p:txBody>
          </p:sp>
          <p:grpSp>
            <p:nvGrpSpPr>
              <p:cNvPr id="29" name="Group 54"/>
              <p:cNvGrpSpPr>
                <a:grpSpLocks/>
              </p:cNvGrpSpPr>
              <p:nvPr/>
            </p:nvGrpSpPr>
            <p:grpSpPr bwMode="auto">
              <a:xfrm>
                <a:off x="1473" y="2757"/>
                <a:ext cx="153" cy="255"/>
                <a:chOff x="1473" y="2757"/>
                <a:chExt cx="153" cy="255"/>
              </a:xfrm>
            </p:grpSpPr>
            <p:sp>
              <p:nvSpPr>
                <p:cNvPr id="30" name="Text Box 52"/>
                <p:cNvSpPr txBox="1">
                  <a:spLocks noChangeArrowheads="1"/>
                </p:cNvSpPr>
                <p:nvPr/>
              </p:nvSpPr>
              <p:spPr bwMode="auto">
                <a:xfrm>
                  <a:off x="1473" y="2820"/>
                  <a:ext cx="153"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31" name="Oval 53"/>
                <p:cNvSpPr>
                  <a:spLocks noChangeArrowheads="1"/>
                </p:cNvSpPr>
                <p:nvPr/>
              </p:nvSpPr>
              <p:spPr bwMode="auto">
                <a:xfrm>
                  <a:off x="1572" y="2757"/>
                  <a:ext cx="48" cy="48"/>
                </a:xfrm>
                <a:prstGeom prst="ellipse">
                  <a:avLst/>
                </a:prstGeom>
                <a:solidFill>
                  <a:srgbClr val="969696"/>
                </a:solidFill>
                <a:ln w="9525">
                  <a:solidFill>
                    <a:srgbClr val="333333"/>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grpSp>
      <p:grpSp>
        <p:nvGrpSpPr>
          <p:cNvPr id="32" name="Group 71"/>
          <p:cNvGrpSpPr>
            <a:grpSpLocks/>
          </p:cNvGrpSpPr>
          <p:nvPr/>
        </p:nvGrpSpPr>
        <p:grpSpPr bwMode="auto">
          <a:xfrm>
            <a:off x="7371686" y="2239413"/>
            <a:ext cx="244475" cy="381000"/>
            <a:chOff x="2256" y="2400"/>
            <a:chExt cx="154" cy="240"/>
          </a:xfrm>
        </p:grpSpPr>
        <p:sp>
          <p:nvSpPr>
            <p:cNvPr id="33" name="Freeform 57"/>
            <p:cNvSpPr>
              <a:spLocks/>
            </p:cNvSpPr>
            <p:nvPr/>
          </p:nvSpPr>
          <p:spPr bwMode="auto">
            <a:xfrm>
              <a:off x="2256" y="2496"/>
              <a:ext cx="56" cy="144"/>
            </a:xfrm>
            <a:custGeom>
              <a:avLst/>
              <a:gdLst>
                <a:gd name="T0" fmla="*/ 48 w 56"/>
                <a:gd name="T1" fmla="*/ 144 h 144"/>
                <a:gd name="T2" fmla="*/ 48 w 56"/>
                <a:gd name="T3" fmla="*/ 48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48" y="144"/>
                  </a:moveTo>
                  <a:cubicBezTo>
                    <a:pt x="52" y="108"/>
                    <a:pt x="56" y="72"/>
                    <a:pt x="48" y="48"/>
                  </a:cubicBezTo>
                  <a:cubicBezTo>
                    <a:pt x="40" y="24"/>
                    <a:pt x="20" y="12"/>
                    <a:pt x="0" y="0"/>
                  </a:cubicBez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4" name="Text Box 58"/>
            <p:cNvSpPr txBox="1">
              <a:spLocks noChangeArrowheads="1"/>
            </p:cNvSpPr>
            <p:nvPr/>
          </p:nvSpPr>
          <p:spPr bwMode="auto">
            <a:xfrm>
              <a:off x="2304" y="2400"/>
              <a:ext cx="1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5" name="Group 63"/>
          <p:cNvGrpSpPr>
            <a:grpSpLocks/>
          </p:cNvGrpSpPr>
          <p:nvPr/>
        </p:nvGrpSpPr>
        <p:grpSpPr bwMode="auto">
          <a:xfrm>
            <a:off x="6323936" y="2840436"/>
            <a:ext cx="739775" cy="493713"/>
            <a:chOff x="1621" y="2767"/>
            <a:chExt cx="466" cy="311"/>
          </a:xfrm>
        </p:grpSpPr>
        <p:sp>
          <p:nvSpPr>
            <p:cNvPr id="36" name="Line 60"/>
            <p:cNvSpPr>
              <a:spLocks noChangeShapeType="1"/>
            </p:cNvSpPr>
            <p:nvPr/>
          </p:nvSpPr>
          <p:spPr bwMode="auto">
            <a:xfrm>
              <a:off x="1621" y="2767"/>
              <a:ext cx="466" cy="183"/>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Text Box 61"/>
            <p:cNvSpPr txBox="1">
              <a:spLocks noChangeArrowheads="1"/>
            </p:cNvSpPr>
            <p:nvPr/>
          </p:nvSpPr>
          <p:spPr bwMode="auto">
            <a:xfrm>
              <a:off x="1796" y="2845"/>
              <a:ext cx="10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a:t>
              </a:r>
            </a:p>
          </p:txBody>
        </p:sp>
        <p:sp>
          <p:nvSpPr>
            <p:cNvPr id="38" name="Freeform 62"/>
            <p:cNvSpPr>
              <a:spLocks/>
            </p:cNvSpPr>
            <p:nvPr/>
          </p:nvSpPr>
          <p:spPr bwMode="auto">
            <a:xfrm>
              <a:off x="1993" y="2928"/>
              <a:ext cx="55" cy="98"/>
            </a:xfrm>
            <a:custGeom>
              <a:avLst/>
              <a:gdLst>
                <a:gd name="T0" fmla="*/ 23 w 55"/>
                <a:gd name="T1" fmla="*/ 0 h 98"/>
                <a:gd name="T2" fmla="*/ 0 w 55"/>
                <a:gd name="T3" fmla="*/ 80 h 98"/>
                <a:gd name="T4" fmla="*/ 55 w 55"/>
                <a:gd name="T5" fmla="*/ 98 h 98"/>
                <a:gd name="T6" fmla="*/ 0 60000 65536"/>
                <a:gd name="T7" fmla="*/ 0 60000 65536"/>
                <a:gd name="T8" fmla="*/ 0 60000 65536"/>
                <a:gd name="T9" fmla="*/ 0 w 55"/>
                <a:gd name="T10" fmla="*/ 0 h 98"/>
                <a:gd name="T11" fmla="*/ 55 w 55"/>
                <a:gd name="T12" fmla="*/ 98 h 98"/>
              </a:gdLst>
              <a:ahLst/>
              <a:cxnLst>
                <a:cxn ang="T6">
                  <a:pos x="T0" y="T1"/>
                </a:cxn>
                <a:cxn ang="T7">
                  <a:pos x="T2" y="T3"/>
                </a:cxn>
                <a:cxn ang="T8">
                  <a:pos x="T4" y="T5"/>
                </a:cxn>
              </a:cxnLst>
              <a:rect l="T9" t="T10" r="T11" b="T12"/>
              <a:pathLst>
                <a:path w="55" h="98">
                  <a:moveTo>
                    <a:pt x="23" y="0"/>
                  </a:moveTo>
                  <a:lnTo>
                    <a:pt x="0" y="80"/>
                  </a:lnTo>
                  <a:lnTo>
                    <a:pt x="55" y="98"/>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aphicFrame>
        <p:nvGraphicFramePr>
          <p:cNvPr id="39" name="Object 1025"/>
          <p:cNvGraphicFramePr>
            <a:graphicFrameLocks noChangeAspect="1"/>
          </p:cNvGraphicFramePr>
          <p:nvPr>
            <p:extLst>
              <p:ext uri="{D42A27DB-BD31-4B8C-83A1-F6EECF244321}">
                <p14:modId xmlns:p14="http://schemas.microsoft.com/office/powerpoint/2010/main" val="1155869712"/>
              </p:ext>
            </p:extLst>
          </p:nvPr>
        </p:nvGraphicFramePr>
        <p:xfrm>
          <a:off x="3115110" y="4497002"/>
          <a:ext cx="3429000" cy="568325"/>
        </p:xfrm>
        <a:graphic>
          <a:graphicData uri="http://schemas.openxmlformats.org/presentationml/2006/ole">
            <mc:AlternateContent xmlns:mc="http://schemas.openxmlformats.org/markup-compatibility/2006">
              <mc:Choice xmlns:v="urn:schemas-microsoft-com:vml" Requires="v">
                <p:oleObj spid="_x0000_s2055" name="Equation" r:id="rId6" imgW="1536033" imgH="253890" progId="Equation.DSMT4">
                  <p:embed/>
                </p:oleObj>
              </mc:Choice>
              <mc:Fallback>
                <p:oleObj name="Equation" r:id="rId6" imgW="1536033" imgH="25389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15110" y="4497002"/>
                        <a:ext cx="34290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 name="Text Box 2"/>
          <p:cNvSpPr txBox="1">
            <a:spLocks noChangeArrowheads="1"/>
          </p:cNvSpPr>
          <p:nvPr/>
        </p:nvSpPr>
        <p:spPr bwMode="auto">
          <a:xfrm>
            <a:off x="408854" y="489021"/>
            <a:ext cx="65929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latin typeface="宋体" panose="02010600030101010101" pitchFamily="2" charset="-122"/>
              </a:rPr>
              <a:t>§</a:t>
            </a:r>
            <a:r>
              <a:rPr lang="en-US" altLang="zh-CN" sz="3200" b="1" dirty="0"/>
              <a:t>2-1  </a:t>
            </a:r>
            <a:r>
              <a:rPr lang="zh-CN" altLang="en-US" sz="3200" b="1" dirty="0">
                <a:solidFill>
                  <a:srgbClr val="FF0000"/>
                </a:solidFill>
                <a:latin typeface="黑体" panose="02010609060101010101" pitchFamily="49" charset="-122"/>
                <a:ea typeface="黑体" panose="02010609060101010101" pitchFamily="49" charset="-122"/>
              </a:rPr>
              <a:t>力矩</a:t>
            </a:r>
            <a:r>
              <a:rPr lang="en-US" altLang="zh-CN" sz="3200" b="1" dirty="0">
                <a:ea typeface="华文中宋" panose="02010600040101010101" pitchFamily="2" charset="-122"/>
              </a:rPr>
              <a:t>(moment)</a:t>
            </a:r>
            <a:r>
              <a:rPr lang="zh-CN" altLang="en-US" b="1" dirty="0">
                <a:latin typeface="+mn-lt"/>
                <a:ea typeface="华文中宋" panose="02010600040101010101" pitchFamily="2" charset="-122"/>
              </a:rPr>
              <a:t>（</a:t>
            </a:r>
            <a:r>
              <a:rPr lang="zh-CN" altLang="en-US" b="1" dirty="0">
                <a:ea typeface="华文中宋" panose="02010600040101010101" pitchFamily="2" charset="-122"/>
              </a:rPr>
              <a:t>书</a:t>
            </a:r>
            <a:r>
              <a:rPr lang="en-US" altLang="zh-CN" b="1" dirty="0">
                <a:latin typeface="宋体" panose="02010600030101010101" pitchFamily="2" charset="-122"/>
              </a:rPr>
              <a:t>§</a:t>
            </a:r>
            <a:r>
              <a:rPr lang="en-US" altLang="zh-CN" b="1" dirty="0"/>
              <a:t>1.1.5</a:t>
            </a:r>
            <a:r>
              <a:rPr lang="zh-CN" altLang="en-US" b="1" dirty="0"/>
              <a:t>和</a:t>
            </a:r>
            <a:r>
              <a:rPr lang="en-US" altLang="zh-CN" b="1" dirty="0">
                <a:latin typeface="宋体" panose="02010600030101010101" pitchFamily="2" charset="-122"/>
              </a:rPr>
              <a:t>§</a:t>
            </a:r>
            <a:r>
              <a:rPr lang="en-US" altLang="zh-CN" b="1" dirty="0"/>
              <a:t>3.2</a:t>
            </a:r>
            <a:r>
              <a:rPr lang="zh-CN" altLang="en-US" b="1" dirty="0">
                <a:latin typeface="+mn-lt"/>
                <a:ea typeface="华文中宋" panose="02010600040101010101" pitchFamily="2" charset="-122"/>
              </a:rPr>
              <a:t>）</a:t>
            </a:r>
            <a:endParaRPr lang="zh-CN" altLang="en-US" b="1"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ox(out)">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228">
                                            <p:txEl>
                                              <p:pRg st="0" end="0"/>
                                            </p:txEl>
                                          </p:spTgt>
                                        </p:tgtEl>
                                        <p:attrNameLst>
                                          <p:attrName>style.visibility</p:attrName>
                                        </p:attrNameLst>
                                      </p:cBhvr>
                                      <p:to>
                                        <p:strVal val="visible"/>
                                      </p:to>
                                    </p:set>
                                    <p:animEffect transition="in" filter="box(out)">
                                      <p:cBhvr>
                                        <p:cTn id="12" dur="500"/>
                                        <p:tgtEl>
                                          <p:spTgt spid="922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250"/>
                                        </p:tgtEl>
                                        <p:attrNameLst>
                                          <p:attrName>style.visibility</p:attrName>
                                        </p:attrNameLst>
                                      </p:cBhvr>
                                      <p:to>
                                        <p:strVal val="visible"/>
                                      </p:to>
                                    </p:set>
                                    <p:animEffect transition="in" filter="checkerboard(across)">
                                      <p:cBhvr>
                                        <p:cTn id="17" dur="500"/>
                                        <p:tgtEl>
                                          <p:spTgt spid="925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ou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ox(ou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230"/>
                                        </p:tgtEl>
                                        <p:attrNameLst>
                                          <p:attrName>style.visibility</p:attrName>
                                        </p:attrNameLst>
                                      </p:cBhvr>
                                      <p:to>
                                        <p:strVal val="visible"/>
                                      </p:to>
                                    </p:set>
                                    <p:animEffect transition="in" filter="box(out)">
                                      <p:cBhvr>
                                        <p:cTn id="32" dur="500"/>
                                        <p:tgtEl>
                                          <p:spTgt spid="923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ox(ou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9221">
                                            <p:txEl>
                                              <p:pRg st="0" end="0"/>
                                            </p:txEl>
                                          </p:spTgt>
                                        </p:tgtEl>
                                        <p:attrNameLst>
                                          <p:attrName>style.visibility</p:attrName>
                                        </p:attrNameLst>
                                      </p:cBhvr>
                                      <p:to>
                                        <p:strVal val="visible"/>
                                      </p:to>
                                    </p:set>
                                    <p:animEffect transition="in" filter="box(out)">
                                      <p:cBhvr>
                                        <p:cTn id="42" dur="500"/>
                                        <p:tgtEl>
                                          <p:spTgt spid="92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231"/>
                                        </p:tgtEl>
                                        <p:attrNameLst>
                                          <p:attrName>style.visibility</p:attrName>
                                        </p:attrNameLst>
                                      </p:cBhvr>
                                      <p:to>
                                        <p:strVal val="visible"/>
                                      </p:to>
                                    </p:set>
                                    <p:animEffect transition="in" filter="checkerboard(across)">
                                      <p:cBhvr>
                                        <p:cTn id="47" dur="500"/>
                                        <p:tgtEl>
                                          <p:spTgt spid="923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checkerboard(across)">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ox(out)">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box(in)">
                                      <p:cBhvr>
                                        <p:cTn id="62" dur="500"/>
                                        <p:tgtEl>
                                          <p:spTgt spid="35"/>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1+#ppt_w/2"/>
                                          </p:val>
                                        </p:tav>
                                        <p:tav tm="100000">
                                          <p:val>
                                            <p:strVal val="#ppt_x"/>
                                          </p:val>
                                        </p:tav>
                                      </p:tavLst>
                                    </p:anim>
                                    <p:anim calcmode="lin" valueType="num">
                                      <p:cBhvr additive="base">
                                        <p:cTn id="6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8" presetClass="entr" presetSubtype="32" fill="hold" grpId="0" nodeType="clickEffect">
                                  <p:stCondLst>
                                    <p:cond delay="0"/>
                                  </p:stCondLst>
                                  <p:childTnLst>
                                    <p:set>
                                      <p:cBhvr>
                                        <p:cTn id="72" dur="1" fill="hold">
                                          <p:stCondLst>
                                            <p:cond delay="0"/>
                                          </p:stCondLst>
                                        </p:cTn>
                                        <p:tgtEl>
                                          <p:spTgt spid="9234"/>
                                        </p:tgtEl>
                                        <p:attrNameLst>
                                          <p:attrName>style.visibility</p:attrName>
                                        </p:attrNameLst>
                                      </p:cBhvr>
                                      <p:to>
                                        <p:strVal val="visible"/>
                                      </p:to>
                                    </p:set>
                                    <p:animEffect transition="in" filter="diamond(out)">
                                      <p:cBhvr>
                                        <p:cTn id="73" dur="500"/>
                                        <p:tgtEl>
                                          <p:spTgt spid="9234"/>
                                        </p:tgtEl>
                                      </p:cBhvr>
                                    </p:animEffect>
                                  </p:childTnLst>
                                </p:cTn>
                              </p:par>
                            </p:childTnLst>
                          </p:cTn>
                        </p:par>
                      </p:childTnLst>
                    </p:cTn>
                  </p:par>
                  <p:par>
                    <p:cTn id="74" fill="hold">
                      <p:stCondLst>
                        <p:cond delay="indefinite"/>
                      </p:stCondLst>
                      <p:childTnLst>
                        <p:par>
                          <p:cTn id="75" fill="hold">
                            <p:stCondLst>
                              <p:cond delay="0"/>
                            </p:stCondLst>
                            <p:childTnLst>
                              <p:par>
                                <p:cTn id="76" presetID="8" presetClass="entr" presetSubtype="32" fill="hold" grpId="0" nodeType="clickEffect">
                                  <p:stCondLst>
                                    <p:cond delay="0"/>
                                  </p:stCondLst>
                                  <p:childTnLst>
                                    <p:set>
                                      <p:cBhvr>
                                        <p:cTn id="77" dur="1" fill="hold">
                                          <p:stCondLst>
                                            <p:cond delay="0"/>
                                          </p:stCondLst>
                                        </p:cTn>
                                        <p:tgtEl>
                                          <p:spTgt spid="9235"/>
                                        </p:tgtEl>
                                        <p:attrNameLst>
                                          <p:attrName>style.visibility</p:attrName>
                                        </p:attrNameLst>
                                      </p:cBhvr>
                                      <p:to>
                                        <p:strVal val="visible"/>
                                      </p:to>
                                    </p:set>
                                    <p:animEffect transition="in" filter="diamond(out)">
                                      <p:cBhvr>
                                        <p:cTn id="78" dur="500"/>
                                        <p:tgtEl>
                                          <p:spTgt spid="9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P spid="9221" grpId="0" build="p" autoUpdateAnimBg="0"/>
      <p:bldP spid="9228" grpId="0" build="p" autoUpdateAnimBg="0"/>
      <p:bldP spid="9231" grpId="0"/>
      <p:bldP spid="9234" grpId="0"/>
      <p:bldP spid="9235" grpId="0"/>
      <p:bldP spid="9250" grpId="0" animBg="1" autoUpdateAnimBg="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4580" name="Object 4"/>
          <p:cNvGraphicFramePr>
            <a:graphicFrameLocks noChangeAspect="1"/>
          </p:cNvGraphicFramePr>
          <p:nvPr>
            <p:extLst>
              <p:ext uri="{D42A27DB-BD31-4B8C-83A1-F6EECF244321}">
                <p14:modId xmlns:p14="http://schemas.microsoft.com/office/powerpoint/2010/main" val="2038318422"/>
              </p:ext>
            </p:extLst>
          </p:nvPr>
        </p:nvGraphicFramePr>
        <p:xfrm>
          <a:off x="875713" y="3106390"/>
          <a:ext cx="2374900" cy="476250"/>
        </p:xfrm>
        <a:graphic>
          <a:graphicData uri="http://schemas.openxmlformats.org/presentationml/2006/ole">
            <mc:AlternateContent xmlns:mc="http://schemas.openxmlformats.org/markup-compatibility/2006">
              <mc:Choice xmlns:v="urn:schemas-microsoft-com:vml" Requires="v">
                <p:oleObj spid="_x0000_s3084" name="Equation" r:id="rId3" imgW="1905000" imgH="381000" progId="Equation.3">
                  <p:embed/>
                </p:oleObj>
              </mc:Choice>
              <mc:Fallback>
                <p:oleObj name="Equation" r:id="rId3" imgW="1905000" imgH="38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713" y="3106390"/>
                        <a:ext cx="23749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1" name="Object 5"/>
          <p:cNvGraphicFramePr>
            <a:graphicFrameLocks noChangeAspect="1"/>
          </p:cNvGraphicFramePr>
          <p:nvPr>
            <p:extLst>
              <p:ext uri="{D42A27DB-BD31-4B8C-83A1-F6EECF244321}">
                <p14:modId xmlns:p14="http://schemas.microsoft.com/office/powerpoint/2010/main" val="2156573389"/>
              </p:ext>
            </p:extLst>
          </p:nvPr>
        </p:nvGraphicFramePr>
        <p:xfrm>
          <a:off x="3320180" y="2616610"/>
          <a:ext cx="1835150" cy="1398588"/>
        </p:xfrm>
        <a:graphic>
          <a:graphicData uri="http://schemas.openxmlformats.org/presentationml/2006/ole">
            <mc:AlternateContent xmlns:mc="http://schemas.openxmlformats.org/markup-compatibility/2006">
              <mc:Choice xmlns:v="urn:schemas-microsoft-com:vml" Requires="v">
                <p:oleObj spid="_x0000_s3085" name="Equation" r:id="rId5" imgW="1828800" imgH="1397000" progId="Equation.3">
                  <p:embed/>
                </p:oleObj>
              </mc:Choice>
              <mc:Fallback>
                <p:oleObj name="Equation" r:id="rId5" imgW="1828800" imgH="13970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0180" y="2616610"/>
                        <a:ext cx="1835150"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2" name="Object 6"/>
          <p:cNvGraphicFramePr>
            <a:graphicFrameLocks noChangeAspect="1"/>
          </p:cNvGraphicFramePr>
          <p:nvPr>
            <p:extLst>
              <p:ext uri="{D42A27DB-BD31-4B8C-83A1-F6EECF244321}">
                <p14:modId xmlns:p14="http://schemas.microsoft.com/office/powerpoint/2010/main" val="4087770459"/>
              </p:ext>
            </p:extLst>
          </p:nvPr>
        </p:nvGraphicFramePr>
        <p:xfrm>
          <a:off x="1240520" y="4275139"/>
          <a:ext cx="5405438" cy="420687"/>
        </p:xfrm>
        <a:graphic>
          <a:graphicData uri="http://schemas.openxmlformats.org/presentationml/2006/ole">
            <mc:AlternateContent xmlns:mc="http://schemas.openxmlformats.org/markup-compatibility/2006">
              <mc:Choice xmlns:v="urn:schemas-microsoft-com:vml" Requires="v">
                <p:oleObj spid="_x0000_s3086" name="Equation" r:id="rId7" imgW="5346700" imgH="419100" progId="Equation.3">
                  <p:embed/>
                </p:oleObj>
              </mc:Choice>
              <mc:Fallback>
                <p:oleObj name="Equation" r:id="rId7" imgW="5346700" imgH="419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0520" y="4275139"/>
                        <a:ext cx="5405438"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3" name="Text Box 7"/>
          <p:cNvSpPr txBox="1">
            <a:spLocks noChangeArrowheads="1"/>
          </p:cNvSpPr>
          <p:nvPr/>
        </p:nvSpPr>
        <p:spPr bwMode="auto">
          <a:xfrm>
            <a:off x="1251996" y="2024878"/>
            <a:ext cx="2719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t>F=</a:t>
            </a:r>
            <a:r>
              <a:rPr lang="en-US" altLang="zh-CN" sz="2800" i="1" dirty="0" err="1"/>
              <a:t>F</a:t>
            </a:r>
            <a:r>
              <a:rPr lang="en-US" altLang="zh-CN" sz="2800" i="1" baseline="-25000" dirty="0" err="1"/>
              <a:t>x</a:t>
            </a:r>
            <a:r>
              <a:rPr lang="en-US" altLang="zh-CN" sz="2800" i="1" dirty="0"/>
              <a:t> </a:t>
            </a:r>
            <a:r>
              <a:rPr lang="en-US" altLang="zh-CN" sz="2800" b="1" i="1" dirty="0" err="1"/>
              <a:t>i+</a:t>
            </a:r>
            <a:r>
              <a:rPr lang="en-US" altLang="zh-CN" sz="2800" i="1" dirty="0" err="1"/>
              <a:t>F</a:t>
            </a:r>
            <a:r>
              <a:rPr lang="en-US" altLang="zh-CN" sz="2800" i="1" baseline="-25000" dirty="0" err="1"/>
              <a:t>y</a:t>
            </a:r>
            <a:r>
              <a:rPr lang="en-US" altLang="zh-CN" sz="2800" i="1" dirty="0"/>
              <a:t> </a:t>
            </a:r>
            <a:r>
              <a:rPr lang="en-US" altLang="zh-CN" sz="2800" b="1" i="1" dirty="0"/>
              <a:t>j+</a:t>
            </a:r>
            <a:r>
              <a:rPr lang="en-US" altLang="zh-CN" sz="2800" i="1" dirty="0"/>
              <a:t> </a:t>
            </a:r>
            <a:r>
              <a:rPr lang="en-US" altLang="zh-CN" sz="2800" i="1" dirty="0" err="1"/>
              <a:t>F</a:t>
            </a:r>
            <a:r>
              <a:rPr lang="en-US" altLang="zh-CN" sz="2800" i="1" baseline="-25000" dirty="0" err="1"/>
              <a:t>z</a:t>
            </a:r>
            <a:r>
              <a:rPr lang="en-US" altLang="zh-CN" sz="2800" i="1" dirty="0"/>
              <a:t> </a:t>
            </a:r>
            <a:r>
              <a:rPr lang="en-US" altLang="zh-CN" sz="2800" b="1" i="1" dirty="0"/>
              <a:t>k</a:t>
            </a:r>
          </a:p>
        </p:txBody>
      </p:sp>
      <p:sp>
        <p:nvSpPr>
          <p:cNvPr id="24584" name="Text Box 8"/>
          <p:cNvSpPr txBox="1">
            <a:spLocks noChangeArrowheads="1"/>
          </p:cNvSpPr>
          <p:nvPr/>
        </p:nvSpPr>
        <p:spPr bwMode="auto">
          <a:xfrm>
            <a:off x="1251996" y="1501658"/>
            <a:ext cx="24032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t>r = </a:t>
            </a:r>
            <a:r>
              <a:rPr lang="en-US" altLang="zh-CN" sz="2800" i="1" dirty="0"/>
              <a:t>x </a:t>
            </a:r>
            <a:r>
              <a:rPr lang="en-US" altLang="zh-CN" sz="2800" b="1" i="1" dirty="0" err="1"/>
              <a:t>i</a:t>
            </a:r>
            <a:r>
              <a:rPr lang="en-US" altLang="zh-CN" sz="2800" b="1" i="1" dirty="0"/>
              <a:t>+ </a:t>
            </a:r>
            <a:r>
              <a:rPr lang="en-US" altLang="zh-CN" sz="2800" i="1" dirty="0"/>
              <a:t>y </a:t>
            </a:r>
            <a:r>
              <a:rPr lang="en-US" altLang="zh-CN" sz="2800" b="1" i="1" dirty="0"/>
              <a:t>j+</a:t>
            </a:r>
            <a:r>
              <a:rPr lang="en-US" altLang="zh-CN" sz="2800" i="1" dirty="0"/>
              <a:t> z </a:t>
            </a:r>
            <a:r>
              <a:rPr lang="en-US" altLang="zh-CN" sz="2800" b="1" i="1" dirty="0"/>
              <a:t>k</a:t>
            </a:r>
          </a:p>
        </p:txBody>
      </p:sp>
      <p:sp>
        <p:nvSpPr>
          <p:cNvPr id="5127" name="Text Box 9"/>
          <p:cNvSpPr txBox="1">
            <a:spLocks noChangeArrowheads="1"/>
          </p:cNvSpPr>
          <p:nvPr/>
        </p:nvSpPr>
        <p:spPr bwMode="auto">
          <a:xfrm>
            <a:off x="1115616" y="1074151"/>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楷体" panose="02010609060101010101" pitchFamily="49" charset="-122"/>
                <a:ea typeface="楷体" panose="02010609060101010101" pitchFamily="49" charset="-122"/>
              </a:rPr>
              <a:t>力对点之矩解析表达式</a:t>
            </a:r>
          </a:p>
        </p:txBody>
      </p:sp>
      <p:graphicFrame>
        <p:nvGraphicFramePr>
          <p:cNvPr id="24587" name="Object 11"/>
          <p:cNvGraphicFramePr>
            <a:graphicFrameLocks noChangeAspect="1"/>
          </p:cNvGraphicFramePr>
          <p:nvPr>
            <p:extLst>
              <p:ext uri="{D42A27DB-BD31-4B8C-83A1-F6EECF244321}">
                <p14:modId xmlns:p14="http://schemas.microsoft.com/office/powerpoint/2010/main" val="2773793001"/>
              </p:ext>
            </p:extLst>
          </p:nvPr>
        </p:nvGraphicFramePr>
        <p:xfrm>
          <a:off x="5208657" y="1018112"/>
          <a:ext cx="3168848" cy="2997086"/>
        </p:xfrm>
        <a:graphic>
          <a:graphicData uri="http://schemas.openxmlformats.org/presentationml/2006/ole">
            <mc:AlternateContent xmlns:mc="http://schemas.openxmlformats.org/markup-compatibility/2006">
              <mc:Choice xmlns:v="urn:schemas-microsoft-com:vml" Requires="v">
                <p:oleObj spid="_x0000_s3087" name="BMP 图像" r:id="rId9" imgW="1590897" imgH="1504762" progId="Paint.Picture">
                  <p:embed/>
                </p:oleObj>
              </mc:Choice>
              <mc:Fallback>
                <p:oleObj name="BMP 图像" r:id="rId9" imgW="1590897" imgH="1504762" progId="Paint.Picture">
                  <p:embed/>
                  <p:pic>
                    <p:nvPicPr>
                      <p:cNvPr id="0" name="Object 11"/>
                      <p:cNvPicPr>
                        <a:picLocks noChangeAspect="1" noChangeArrowheads="1"/>
                      </p:cNvPicPr>
                      <p:nvPr/>
                    </p:nvPicPr>
                    <p:blipFill>
                      <a:blip r:embed="rId10">
                        <a:lum contrast="30000"/>
                        <a:extLst>
                          <a:ext uri="{28A0092B-C50C-407E-A947-70E740481C1C}">
                            <a14:useLocalDpi xmlns:a14="http://schemas.microsoft.com/office/drawing/2010/main" val="0"/>
                          </a:ext>
                        </a:extLst>
                      </a:blip>
                      <a:srcRect/>
                      <a:stretch>
                        <a:fillRect/>
                      </a:stretch>
                    </p:blipFill>
                    <p:spPr bwMode="auto">
                      <a:xfrm>
                        <a:off x="5208657" y="1018112"/>
                        <a:ext cx="3168848" cy="2997086"/>
                      </a:xfrm>
                      <a:prstGeom prst="rect">
                        <a:avLst/>
                      </a:prstGeom>
                      <a:noFill/>
                      <a:ln>
                        <a:noFill/>
                      </a:ln>
                      <a:effectLst/>
                    </p:spPr>
                  </p:pic>
                </p:oleObj>
              </mc:Fallback>
            </mc:AlternateContent>
          </a:graphicData>
        </a:graphic>
      </p:graphicFrame>
      <p:sp>
        <p:nvSpPr>
          <p:cNvPr id="11" name="TextBox 10"/>
          <p:cNvSpPr txBox="1"/>
          <p:nvPr/>
        </p:nvSpPr>
        <p:spPr>
          <a:xfrm>
            <a:off x="4583328" y="5182967"/>
            <a:ext cx="3786188" cy="830263"/>
          </a:xfrm>
          <a:prstGeom prst="rect">
            <a:avLst/>
          </a:prstGeom>
          <a:noFill/>
        </p:spPr>
        <p:txBody>
          <a:bodyPr>
            <a:spAutoFit/>
          </a:bodyPr>
          <a:lstStyle/>
          <a:p>
            <a:pPr eaLnBrk="1" hangingPunct="1">
              <a:defRPr/>
            </a:pPr>
            <a:r>
              <a:rPr lang="en-US" altLang="zh-CN" i="1" dirty="0"/>
              <a:t>O</a:t>
            </a:r>
            <a:r>
              <a:rPr lang="zh-CN" altLang="en-US" b="1" dirty="0">
                <a:latin typeface="楷体" panose="02010609060101010101" pitchFamily="49" charset="-122"/>
                <a:ea typeface="楷体" panose="02010609060101010101" pitchFamily="49" charset="-122"/>
              </a:rPr>
              <a:t>为原点</a:t>
            </a:r>
            <a:r>
              <a:rPr lang="zh-CN" altLang="en-US" dirty="0"/>
              <a:t>，</a:t>
            </a:r>
            <a:r>
              <a:rPr lang="en-US" altLang="zh-CN" i="1" dirty="0" err="1"/>
              <a:t>x,y,z</a:t>
            </a:r>
            <a:r>
              <a:rPr lang="zh-CN" altLang="en-US" b="1" dirty="0">
                <a:latin typeface="楷体" panose="02010609060101010101" pitchFamily="49" charset="-122"/>
                <a:ea typeface="楷体" panose="02010609060101010101" pitchFamily="49" charset="-122"/>
              </a:rPr>
              <a:t>为</a:t>
            </a:r>
            <a:r>
              <a:rPr lang="en-US" altLang="zh-CN" i="1" dirty="0"/>
              <a:t>A</a:t>
            </a:r>
            <a:r>
              <a:rPr lang="zh-CN" altLang="en-US" b="1" dirty="0">
                <a:latin typeface="楷体" panose="02010609060101010101" pitchFamily="49" charset="-122"/>
                <a:ea typeface="楷体" panose="02010609060101010101" pitchFamily="49" charset="-122"/>
              </a:rPr>
              <a:t>点坐标</a:t>
            </a:r>
            <a:r>
              <a:rPr lang="zh-CN" altLang="en-US" dirty="0">
                <a:latin typeface="华文中宋" pitchFamily="2" charset="-122"/>
                <a:ea typeface="华文中宋" pitchFamily="2" charset="-122"/>
              </a:rPr>
              <a:t>，</a:t>
            </a:r>
            <a:r>
              <a:rPr lang="en-US" altLang="zh-CN" i="1" dirty="0"/>
              <a:t> O</a:t>
            </a:r>
            <a:r>
              <a:rPr lang="zh-CN" altLang="en-US" b="1" dirty="0">
                <a:latin typeface="楷体" panose="02010609060101010101" pitchFamily="49" charset="-122"/>
                <a:ea typeface="楷体" panose="02010609060101010101" pitchFamily="49" charset="-122"/>
              </a:rPr>
              <a:t>非原点</a:t>
            </a:r>
            <a:r>
              <a:rPr lang="zh-CN" altLang="en-US" dirty="0"/>
              <a:t>，</a:t>
            </a:r>
            <a:r>
              <a:rPr lang="en-US" altLang="zh-CN" i="1" dirty="0" err="1"/>
              <a:t>x,y,z</a:t>
            </a:r>
            <a:r>
              <a:rPr lang="zh-CN" altLang="en-US" b="1" dirty="0">
                <a:latin typeface="楷体" panose="02010609060101010101" pitchFamily="49" charset="-122"/>
                <a:ea typeface="楷体" panose="02010609060101010101" pitchFamily="49" charset="-122"/>
              </a:rPr>
              <a:t>为</a:t>
            </a:r>
            <a:r>
              <a:rPr lang="en-US" altLang="zh-CN" i="1" dirty="0">
                <a:latin typeface="+mn-lt"/>
                <a:ea typeface="华文中宋" pitchFamily="2" charset="-122"/>
              </a:rPr>
              <a:t>O</a:t>
            </a:r>
            <a:r>
              <a:rPr lang="en-US" altLang="zh-CN" i="1" dirty="0"/>
              <a:t>A</a:t>
            </a:r>
            <a:r>
              <a:rPr lang="zh-CN" altLang="en-US" b="1" dirty="0">
                <a:latin typeface="楷体" panose="02010609060101010101" pitchFamily="49" charset="-122"/>
                <a:ea typeface="楷体" panose="02010609060101010101" pitchFamily="49" charset="-122"/>
              </a:rPr>
              <a:t>的投影</a:t>
            </a:r>
            <a:r>
              <a:rPr lang="en-US" altLang="zh-CN" b="1" dirty="0">
                <a:latin typeface="楷体" panose="02010609060101010101" pitchFamily="49" charset="-122"/>
                <a:ea typeface="楷体" panose="02010609060101010101" pitchFamily="49" charset="-122"/>
              </a:rPr>
              <a:t>.</a:t>
            </a:r>
            <a:endParaRPr lang="zh-CN" altLang="en-US" b="1" dirty="0">
              <a:latin typeface="楷体" panose="02010609060101010101" pitchFamily="49" charset="-122"/>
              <a:ea typeface="楷体" panose="02010609060101010101" pitchFamily="49" charset="-122"/>
            </a:endParaRPr>
          </a:p>
        </p:txBody>
      </p:sp>
      <p:sp>
        <p:nvSpPr>
          <p:cNvPr id="12" name="Text Box 3"/>
          <p:cNvSpPr txBox="1">
            <a:spLocks noChangeArrowheads="1"/>
          </p:cNvSpPr>
          <p:nvPr/>
        </p:nvSpPr>
        <p:spPr bwMode="auto">
          <a:xfrm>
            <a:off x="631031" y="460996"/>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graphicFrame>
        <p:nvGraphicFramePr>
          <p:cNvPr id="14" name="Object 2050"/>
          <p:cNvGraphicFramePr>
            <a:graphicFrameLocks noChangeAspect="1"/>
          </p:cNvGraphicFramePr>
          <p:nvPr>
            <p:extLst>
              <p:ext uri="{D42A27DB-BD31-4B8C-83A1-F6EECF244321}">
                <p14:modId xmlns:p14="http://schemas.microsoft.com/office/powerpoint/2010/main" val="1393292232"/>
              </p:ext>
            </p:extLst>
          </p:nvPr>
        </p:nvGraphicFramePr>
        <p:xfrm>
          <a:off x="1620838" y="4919663"/>
          <a:ext cx="2709862" cy="1441450"/>
        </p:xfrm>
        <a:graphic>
          <a:graphicData uri="http://schemas.openxmlformats.org/presentationml/2006/ole">
            <mc:AlternateContent xmlns:mc="http://schemas.openxmlformats.org/markup-compatibility/2006">
              <mc:Choice xmlns:v="urn:schemas-microsoft-com:vml" Requires="v">
                <p:oleObj spid="_x0000_s3088" name="Equation" r:id="rId11" imgW="1384200" imgH="736560" progId="Equation.DSMT4">
                  <p:embed/>
                </p:oleObj>
              </mc:Choice>
              <mc:Fallback>
                <p:oleObj name="Equation" r:id="rId11" imgW="1384200" imgH="736560" progId="Equation.DSMT4">
                  <p:embed/>
                  <p:pic>
                    <p:nvPicPr>
                      <p:cNvPr id="0" name=""/>
                      <p:cNvPicPr>
                        <a:picLocks noChangeAspect="1" noChangeArrowheads="1"/>
                      </p:cNvPicPr>
                      <p:nvPr/>
                    </p:nvPicPr>
                    <p:blipFill>
                      <a:blip r:embed="rId12"/>
                      <a:srcRect/>
                      <a:stretch>
                        <a:fillRect/>
                      </a:stretch>
                    </p:blipFill>
                    <p:spPr bwMode="auto">
                      <a:xfrm>
                        <a:off x="1620838" y="4919663"/>
                        <a:ext cx="2709862" cy="144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93"/>
          <p:cNvSpPr>
            <a:spLocks noChangeArrowheads="1"/>
          </p:cNvSpPr>
          <p:nvPr/>
        </p:nvSpPr>
        <p:spPr bwMode="auto">
          <a:xfrm>
            <a:off x="1475004" y="4855349"/>
            <a:ext cx="3000375" cy="1571625"/>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5127"/>
                                        </p:tgtEl>
                                        <p:attrNameLst>
                                          <p:attrName>style.visibility</p:attrName>
                                        </p:attrNameLst>
                                      </p:cBhvr>
                                      <p:to>
                                        <p:strVal val="visible"/>
                                      </p:to>
                                    </p:set>
                                    <p:animEffect transition="in" filter="circle(out)">
                                      <p:cBhvr>
                                        <p:cTn id="7" dur="500"/>
                                        <p:tgtEl>
                                          <p:spTgt spid="51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4584"/>
                                        </p:tgtEl>
                                        <p:attrNameLst>
                                          <p:attrName>style.visibility</p:attrName>
                                        </p:attrNameLst>
                                      </p:cBhvr>
                                      <p:to>
                                        <p:strVal val="visible"/>
                                      </p:to>
                                    </p:set>
                                    <p:animEffect transition="in" filter="blinds(vertical)">
                                      <p:cBhvr>
                                        <p:cTn id="12" dur="500"/>
                                        <p:tgtEl>
                                          <p:spTgt spid="245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4583"/>
                                        </p:tgtEl>
                                        <p:attrNameLst>
                                          <p:attrName>style.visibility</p:attrName>
                                        </p:attrNameLst>
                                      </p:cBhvr>
                                      <p:to>
                                        <p:strVal val="visible"/>
                                      </p:to>
                                    </p:set>
                                    <p:animEffect transition="in" filter="blinds(vertical)">
                                      <p:cBhvr>
                                        <p:cTn id="17" dur="500"/>
                                        <p:tgtEl>
                                          <p:spTgt spid="2458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4580"/>
                                        </p:tgtEl>
                                        <p:attrNameLst>
                                          <p:attrName>style.visibility</p:attrName>
                                        </p:attrNameLst>
                                      </p:cBhvr>
                                      <p:to>
                                        <p:strVal val="visible"/>
                                      </p:to>
                                    </p:set>
                                    <p:animEffect transition="in" filter="box(out)">
                                      <p:cBhvr>
                                        <p:cTn id="22" dur="500"/>
                                        <p:tgtEl>
                                          <p:spTgt spid="2458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4581"/>
                                        </p:tgtEl>
                                        <p:attrNameLst>
                                          <p:attrName>style.visibility</p:attrName>
                                        </p:attrNameLst>
                                      </p:cBhvr>
                                      <p:to>
                                        <p:strVal val="visible"/>
                                      </p:to>
                                    </p:set>
                                    <p:animEffect transition="in" filter="box(out)">
                                      <p:cBhvr>
                                        <p:cTn id="27" dur="500"/>
                                        <p:tgtEl>
                                          <p:spTgt spid="2458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24582"/>
                                        </p:tgtEl>
                                        <p:attrNameLst>
                                          <p:attrName>style.visibility</p:attrName>
                                        </p:attrNameLst>
                                      </p:cBhvr>
                                      <p:to>
                                        <p:strVal val="visible"/>
                                      </p:to>
                                    </p:set>
                                    <p:animEffect transition="in" filter="box(out)">
                                      <p:cBhvr>
                                        <p:cTn id="32" dur="500"/>
                                        <p:tgtEl>
                                          <p:spTgt spid="2458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1" presetClass="entr" presetSubtype="0" fill="hold" grpId="0" nodeType="clickEffect">
                                  <p:stCondLst>
                                    <p:cond delay="0"/>
                                  </p:stCondLst>
                                  <p:childTnLst>
                                    <p:set>
                                      <p:cBhvr>
                                        <p:cTn id="41" dur="1000">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linds(horizontal)">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autoUpdateAnimBg="0"/>
      <p:bldP spid="24584" grpId="0" autoUpdateAnimBg="0"/>
      <p:bldP spid="5127" grpId="0"/>
      <p:bldP spid="11"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1066469" y="1201054"/>
            <a:ext cx="5040560" cy="46166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华文中宋" panose="02010600040101010101" pitchFamily="2" charset="-122"/>
                <a:ea typeface="华文中宋" panose="02010600040101010101" pitchFamily="2" charset="-122"/>
              </a:rPr>
              <a:t> </a:t>
            </a:r>
            <a:r>
              <a:rPr lang="zh-CN" altLang="en-US" b="1" dirty="0">
                <a:latin typeface="黑体" panose="02010609060101010101" pitchFamily="49" charset="-122"/>
                <a:ea typeface="黑体" panose="02010609060101010101" pitchFamily="49" charset="-122"/>
              </a:rPr>
              <a:t>平面情况下的力对点之矩</a:t>
            </a:r>
            <a:r>
              <a:rPr lang="zh-CN" altLang="en-US" b="1" dirty="0">
                <a:solidFill>
                  <a:srgbClr val="FF0000"/>
                </a:solidFill>
                <a:latin typeface="黑体" panose="02010609060101010101" pitchFamily="49" charset="-122"/>
                <a:ea typeface="黑体" panose="02010609060101010101" pitchFamily="49" charset="-122"/>
              </a:rPr>
              <a:t>（代数量）</a:t>
            </a:r>
          </a:p>
        </p:txBody>
      </p:sp>
      <p:sp>
        <p:nvSpPr>
          <p:cNvPr id="48134" name="Text Box 6"/>
          <p:cNvSpPr txBox="1">
            <a:spLocks noChangeArrowheads="1"/>
          </p:cNvSpPr>
          <p:nvPr/>
        </p:nvSpPr>
        <p:spPr bwMode="auto">
          <a:xfrm>
            <a:off x="4431974" y="4882132"/>
            <a:ext cx="3529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99"/>
                </a:solidFill>
                <a:latin typeface="楷体" panose="02010609060101010101" pitchFamily="49" charset="-122"/>
                <a:ea typeface="楷体" panose="02010609060101010101" pitchFamily="49" charset="-122"/>
              </a:rPr>
              <a:t>规定：逆钟向取“</a:t>
            </a:r>
            <a:r>
              <a:rPr lang="en-US" altLang="zh-CN" b="1" dirty="0">
                <a:solidFill>
                  <a:srgbClr val="000099"/>
                </a:solidFill>
                <a:latin typeface="楷体" panose="02010609060101010101" pitchFamily="49" charset="-122"/>
                <a:ea typeface="楷体" panose="02010609060101010101" pitchFamily="49" charset="-122"/>
              </a:rPr>
              <a:t>+”</a:t>
            </a:r>
          </a:p>
        </p:txBody>
      </p:sp>
      <p:sp>
        <p:nvSpPr>
          <p:cNvPr id="48135" name="Text Box 7"/>
          <p:cNvSpPr txBox="1">
            <a:spLocks noChangeArrowheads="1"/>
          </p:cNvSpPr>
          <p:nvPr/>
        </p:nvSpPr>
        <p:spPr bwMode="auto">
          <a:xfrm>
            <a:off x="1868163" y="5587776"/>
            <a:ext cx="5256212"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思考</a:t>
            </a:r>
            <a:r>
              <a:rPr lang="en-US" altLang="zh-CN" b="1" dirty="0">
                <a:solidFill>
                  <a:srgbClr val="000000"/>
                </a:solidFill>
                <a:latin typeface="楷体" panose="02010609060101010101" pitchFamily="49" charset="-122"/>
                <a:ea typeface="楷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空间矢量还是平面内的代数量</a:t>
            </a:r>
            <a:r>
              <a:rPr lang="en-US" altLang="zh-CN" b="1" dirty="0">
                <a:solidFill>
                  <a:srgbClr val="000000"/>
                </a:solidFill>
                <a:latin typeface="楷体" panose="02010609060101010101" pitchFamily="49" charset="-122"/>
                <a:ea typeface="楷体" panose="02010609060101010101" pitchFamily="49" charset="-122"/>
              </a:rPr>
              <a:t>?</a:t>
            </a:r>
          </a:p>
        </p:txBody>
      </p:sp>
      <p:pic>
        <p:nvPicPr>
          <p:cNvPr id="48136" name="J3力对点的矩a.avi">
            <a:hlinkClick r:id="" action="ppaction://media"/>
          </p:cNvPr>
          <p:cNvPicPr>
            <a:picLocks noRot="1" noChangeAspect="1" noChangeArrowheads="1"/>
          </p:cNvPicPr>
          <p:nvPr>
            <a:videoFile r:link="rId2"/>
          </p:nvPr>
        </p:nvPicPr>
        <p:blipFill>
          <a:blip r:embed="rId4">
            <a:extLst>
              <a:ext uri="{28A0092B-C50C-407E-A947-70E740481C1C}">
                <a14:useLocalDpi xmlns:a14="http://schemas.microsoft.com/office/drawing/2010/main" val="0"/>
              </a:ext>
            </a:extLst>
          </a:blip>
          <a:srcRect/>
          <a:stretch>
            <a:fillRect/>
          </a:stretch>
        </p:blipFill>
        <p:spPr bwMode="auto">
          <a:xfrm>
            <a:off x="1235519" y="1946088"/>
            <a:ext cx="3342729" cy="2507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p:cNvGrpSpPr>
            <a:grpSpLocks/>
          </p:cNvGrpSpPr>
          <p:nvPr/>
        </p:nvGrpSpPr>
        <p:grpSpPr bwMode="auto">
          <a:xfrm>
            <a:off x="4797425" y="2034874"/>
            <a:ext cx="2547937" cy="2244725"/>
            <a:chOff x="1706" y="1382"/>
            <a:chExt cx="1605" cy="1414"/>
          </a:xfrm>
        </p:grpSpPr>
        <p:sp>
          <p:nvSpPr>
            <p:cNvPr id="6152" name="Line 10"/>
            <p:cNvSpPr>
              <a:spLocks noChangeShapeType="1"/>
            </p:cNvSpPr>
            <p:nvPr/>
          </p:nvSpPr>
          <p:spPr bwMode="auto">
            <a:xfrm flipV="1">
              <a:off x="2458" y="1478"/>
              <a:ext cx="672" cy="1152"/>
            </a:xfrm>
            <a:prstGeom prst="line">
              <a:avLst/>
            </a:prstGeom>
            <a:noFill/>
            <a:ln w="31750">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11"/>
            <p:cNvSpPr>
              <a:spLocks noChangeShapeType="1"/>
            </p:cNvSpPr>
            <p:nvPr/>
          </p:nvSpPr>
          <p:spPr bwMode="auto">
            <a:xfrm rot="5400000" flipV="1">
              <a:off x="2035" y="1770"/>
              <a:ext cx="438" cy="725"/>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Line 12"/>
            <p:cNvSpPr>
              <a:spLocks noChangeShapeType="1"/>
            </p:cNvSpPr>
            <p:nvPr/>
          </p:nvSpPr>
          <p:spPr bwMode="auto">
            <a:xfrm>
              <a:off x="1882" y="1910"/>
              <a:ext cx="576" cy="720"/>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5" name="Line 13"/>
            <p:cNvSpPr>
              <a:spLocks noChangeShapeType="1"/>
            </p:cNvSpPr>
            <p:nvPr/>
          </p:nvSpPr>
          <p:spPr bwMode="auto">
            <a:xfrm flipV="1">
              <a:off x="1882" y="1478"/>
              <a:ext cx="1248" cy="43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Text Box 14"/>
            <p:cNvSpPr txBox="1">
              <a:spLocks noChangeArrowheads="1"/>
            </p:cNvSpPr>
            <p:nvPr/>
          </p:nvSpPr>
          <p:spPr bwMode="auto">
            <a:xfrm>
              <a:off x="1706" y="1743"/>
              <a:ext cx="20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O</a:t>
              </a:r>
              <a:endParaRPr lang="en-US" altLang="zh-CN" sz="1600" b="1" i="1">
                <a:latin typeface="楷体_GB2312" pitchFamily="49" charset="-122"/>
                <a:ea typeface="楷体_GB2312" pitchFamily="49" charset="-122"/>
              </a:endParaRPr>
            </a:p>
          </p:txBody>
        </p:sp>
        <p:sp>
          <p:nvSpPr>
            <p:cNvPr id="6157" name="Text Box 15"/>
            <p:cNvSpPr txBox="1">
              <a:spLocks noChangeArrowheads="1"/>
            </p:cNvSpPr>
            <p:nvPr/>
          </p:nvSpPr>
          <p:spPr bwMode="auto">
            <a:xfrm>
              <a:off x="2454" y="2530"/>
              <a:ext cx="20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A</a:t>
              </a:r>
              <a:endParaRPr lang="en-US" altLang="zh-CN" sz="1600" b="1" i="1">
                <a:latin typeface="楷体_GB2312" pitchFamily="49" charset="-122"/>
                <a:ea typeface="楷体_GB2312" pitchFamily="49" charset="-122"/>
              </a:endParaRPr>
            </a:p>
          </p:txBody>
        </p:sp>
        <p:sp>
          <p:nvSpPr>
            <p:cNvPr id="6158" name="Text Box 16"/>
            <p:cNvSpPr txBox="1">
              <a:spLocks noChangeArrowheads="1"/>
            </p:cNvSpPr>
            <p:nvPr/>
          </p:nvSpPr>
          <p:spPr bwMode="auto">
            <a:xfrm>
              <a:off x="2269" y="1937"/>
              <a:ext cx="19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800" b="1" i="1" dirty="0">
                  <a:ea typeface="楷体_GB2312" pitchFamily="49" charset="-122"/>
                </a:rPr>
                <a:t>h</a:t>
              </a:r>
              <a:endParaRPr lang="en-US" altLang="zh-CN" sz="1800" b="1" i="1" dirty="0">
                <a:latin typeface="楷体_GB2312" pitchFamily="49" charset="-122"/>
                <a:ea typeface="楷体_GB2312" pitchFamily="49" charset="-122"/>
              </a:endParaRPr>
            </a:p>
          </p:txBody>
        </p:sp>
        <p:sp>
          <p:nvSpPr>
            <p:cNvPr id="6159" name="Text Box 17"/>
            <p:cNvSpPr txBox="1">
              <a:spLocks noChangeArrowheads="1"/>
            </p:cNvSpPr>
            <p:nvPr/>
          </p:nvSpPr>
          <p:spPr bwMode="auto">
            <a:xfrm>
              <a:off x="3110" y="1382"/>
              <a:ext cx="20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B</a:t>
              </a:r>
              <a:endParaRPr lang="en-US" altLang="zh-CN" sz="1600" b="1" i="1">
                <a:latin typeface="楷体_GB2312" pitchFamily="49" charset="-122"/>
                <a:ea typeface="楷体_GB2312" pitchFamily="49" charset="-122"/>
              </a:endParaRPr>
            </a:p>
          </p:txBody>
        </p:sp>
        <p:sp>
          <p:nvSpPr>
            <p:cNvPr id="6160" name="Line 18"/>
            <p:cNvSpPr>
              <a:spLocks noChangeShapeType="1"/>
            </p:cNvSpPr>
            <p:nvPr/>
          </p:nvSpPr>
          <p:spPr bwMode="auto">
            <a:xfrm flipV="1">
              <a:off x="2542" y="2228"/>
              <a:ext cx="41" cy="79"/>
            </a:xfrm>
            <a:prstGeom prst="line">
              <a:avLst/>
            </a:prstGeom>
            <a:noFill/>
            <a:ln w="127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9"/>
            <p:cNvSpPr>
              <a:spLocks noChangeShapeType="1"/>
            </p:cNvSpPr>
            <p:nvPr/>
          </p:nvSpPr>
          <p:spPr bwMode="auto">
            <a:xfrm>
              <a:off x="2583" y="2231"/>
              <a:ext cx="72" cy="41"/>
            </a:xfrm>
            <a:prstGeom prst="line">
              <a:avLst/>
            </a:prstGeom>
            <a:noFill/>
            <a:ln w="127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Text Box 20"/>
            <p:cNvSpPr txBox="1">
              <a:spLocks noChangeArrowheads="1"/>
            </p:cNvSpPr>
            <p:nvPr/>
          </p:nvSpPr>
          <p:spPr bwMode="auto">
            <a:xfrm>
              <a:off x="2777" y="1991"/>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2000" b="1" i="1">
                  <a:ea typeface="楷体_GB2312" pitchFamily="49" charset="-122"/>
                </a:rPr>
                <a:t>F</a:t>
              </a:r>
              <a:endParaRPr lang="en-US" altLang="zh-CN" sz="2000" b="1" i="1">
                <a:latin typeface="楷体_GB2312" pitchFamily="49" charset="-122"/>
                <a:ea typeface="楷体_GB2312" pitchFamily="49" charset="-122"/>
              </a:endParaRPr>
            </a:p>
          </p:txBody>
        </p:sp>
      </p:grpSp>
      <p:sp>
        <p:nvSpPr>
          <p:cNvPr id="19"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graphicFrame>
        <p:nvGraphicFramePr>
          <p:cNvPr id="20" name="Object 1026"/>
          <p:cNvGraphicFramePr>
            <a:graphicFrameLocks noChangeAspect="1"/>
          </p:cNvGraphicFramePr>
          <p:nvPr>
            <p:extLst>
              <p:ext uri="{D42A27DB-BD31-4B8C-83A1-F6EECF244321}">
                <p14:modId xmlns:p14="http://schemas.microsoft.com/office/powerpoint/2010/main" val="3542049487"/>
              </p:ext>
            </p:extLst>
          </p:nvPr>
        </p:nvGraphicFramePr>
        <p:xfrm>
          <a:off x="1835696" y="4858249"/>
          <a:ext cx="2219124" cy="540922"/>
        </p:xfrm>
        <a:graphic>
          <a:graphicData uri="http://schemas.openxmlformats.org/presentationml/2006/ole">
            <mc:AlternateContent xmlns:mc="http://schemas.openxmlformats.org/markup-compatibility/2006">
              <mc:Choice xmlns:v="urn:schemas-microsoft-com:vml" Requires="v">
                <p:oleObj spid="_x0000_s4100" name="Equation" r:id="rId5" imgW="939800" imgH="228600" progId="Equation.DSMT4">
                  <p:embed/>
                </p:oleObj>
              </mc:Choice>
              <mc:Fallback>
                <p:oleObj name="Equation" r:id="rId5" imgW="9398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4858249"/>
                        <a:ext cx="2219124" cy="540922"/>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8136"/>
                                        </p:tgtEl>
                                        <p:attrNameLst>
                                          <p:attrName>style.visibility</p:attrName>
                                        </p:attrNameLst>
                                      </p:cBhvr>
                                      <p:to>
                                        <p:strVal val="visible"/>
                                      </p:to>
                                    </p:set>
                                    <p:animEffect transition="in" filter="checkerboard(across)">
                                      <p:cBhvr>
                                        <p:cTn id="7" dur="500"/>
                                        <p:tgtEl>
                                          <p:spTgt spid="481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ou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8134"/>
                                        </p:tgtEl>
                                        <p:attrNameLst>
                                          <p:attrName>style.visibility</p:attrName>
                                        </p:attrNameLst>
                                      </p:cBhvr>
                                      <p:to>
                                        <p:strVal val="visible"/>
                                      </p:to>
                                    </p:set>
                                    <p:animEffect transition="in" filter="box(out)">
                                      <p:cBhvr>
                                        <p:cTn id="22" dur="500"/>
                                        <p:tgtEl>
                                          <p:spTgt spid="4813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8135"/>
                                        </p:tgtEl>
                                        <p:attrNameLst>
                                          <p:attrName>style.visibility</p:attrName>
                                        </p:attrNameLst>
                                      </p:cBhvr>
                                      <p:to>
                                        <p:strVal val="visible"/>
                                      </p:to>
                                    </p:set>
                                    <p:anim calcmode="lin" valueType="num">
                                      <p:cBhvr additive="base">
                                        <p:cTn id="27" dur="500" fill="hold"/>
                                        <p:tgtEl>
                                          <p:spTgt spid="48135"/>
                                        </p:tgtEl>
                                        <p:attrNameLst>
                                          <p:attrName>ppt_x</p:attrName>
                                        </p:attrNameLst>
                                      </p:cBhvr>
                                      <p:tavLst>
                                        <p:tav tm="0">
                                          <p:val>
                                            <p:strVal val="#ppt_x"/>
                                          </p:val>
                                        </p:tav>
                                        <p:tav tm="100000">
                                          <p:val>
                                            <p:strVal val="#ppt_x"/>
                                          </p:val>
                                        </p:tav>
                                      </p:tavLst>
                                    </p:anim>
                                    <p:anim calcmode="lin" valueType="num">
                                      <p:cBhvr additive="base">
                                        <p:cTn id="28" dur="500" fill="hold"/>
                                        <p:tgtEl>
                                          <p:spTgt spid="481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p:cTn id="29" fill="hold" display="0">
                  <p:stCondLst>
                    <p:cond delay="indefinite"/>
                  </p:stCondLst>
                  <p:endCondLst>
                    <p:cond evt="onNext" delay="0">
                      <p:tgtEl>
                        <p:sldTgt/>
                      </p:tgtEl>
                    </p:cond>
                    <p:cond evt="onPrev" delay="0">
                      <p:tgtEl>
                        <p:sldTgt/>
                      </p:tgtEl>
                    </p:cond>
                  </p:endCondLst>
                </p:cTn>
                <p:tgtEl>
                  <p:spTgt spid="48136"/>
                </p:tgtEl>
              </p:cMediaNode>
            </p:video>
          </p:childTnLst>
        </p:cTn>
      </p:par>
    </p:tnLst>
    <p:bldLst>
      <p:bldP spid="48134" grpId="0" autoUpdateAnimBg="0"/>
      <p:bldP spid="4813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Oval 4"/>
          <p:cNvSpPr>
            <a:spLocks noChangeArrowheads="1"/>
          </p:cNvSpPr>
          <p:nvPr/>
        </p:nvSpPr>
        <p:spPr bwMode="auto">
          <a:xfrm>
            <a:off x="791529" y="1157139"/>
            <a:ext cx="2448793" cy="720055"/>
          </a:xfrm>
          <a:prstGeom prst="ellipse">
            <a:avLst/>
          </a:prstGeom>
          <a:solidFill>
            <a:srgbClr val="FFFF00"/>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latin typeface="黑体" panose="02010609060101010101" pitchFamily="49" charset="-122"/>
                <a:ea typeface="黑体" panose="02010609060101010101" pitchFamily="49" charset="-122"/>
              </a:rPr>
              <a:t>合力矩定理</a:t>
            </a:r>
          </a:p>
        </p:txBody>
      </p:sp>
      <p:sp>
        <p:nvSpPr>
          <p:cNvPr id="25605" name="Text Box 5"/>
          <p:cNvSpPr txBox="1">
            <a:spLocks noChangeArrowheads="1"/>
          </p:cNvSpPr>
          <p:nvPr/>
        </p:nvSpPr>
        <p:spPr bwMode="auto">
          <a:xfrm>
            <a:off x="866602" y="1906721"/>
            <a:ext cx="684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合力对任一点之矩等于各分力对该点之矩的和。</a:t>
            </a:r>
          </a:p>
        </p:txBody>
      </p:sp>
      <p:grpSp>
        <p:nvGrpSpPr>
          <p:cNvPr id="2" name="Group 6"/>
          <p:cNvGrpSpPr>
            <a:grpSpLocks/>
          </p:cNvGrpSpPr>
          <p:nvPr/>
        </p:nvGrpSpPr>
        <p:grpSpPr bwMode="auto">
          <a:xfrm>
            <a:off x="6477722" y="3861311"/>
            <a:ext cx="1562100" cy="2851150"/>
            <a:chOff x="4565" y="1756"/>
            <a:chExt cx="984" cy="1796"/>
          </a:xfrm>
        </p:grpSpPr>
        <p:sp>
          <p:nvSpPr>
            <p:cNvPr id="7195" name="Freeform 7"/>
            <p:cNvSpPr>
              <a:spLocks/>
            </p:cNvSpPr>
            <p:nvPr/>
          </p:nvSpPr>
          <p:spPr bwMode="auto">
            <a:xfrm rot="-1200000">
              <a:off x="4565" y="1756"/>
              <a:ext cx="984" cy="1796"/>
            </a:xfrm>
            <a:custGeom>
              <a:avLst/>
              <a:gdLst>
                <a:gd name="T0" fmla="*/ 624 w 984"/>
                <a:gd name="T1" fmla="*/ 536 h 888"/>
                <a:gd name="T2" fmla="*/ 192 w 984"/>
                <a:gd name="T3" fmla="*/ 3829 h 888"/>
                <a:gd name="T4" fmla="*/ 0 w 984"/>
                <a:gd name="T5" fmla="*/ 23562 h 888"/>
                <a:gd name="T6" fmla="*/ 192 w 984"/>
                <a:gd name="T7" fmla="*/ 49815 h 888"/>
                <a:gd name="T8" fmla="*/ 576 w 984"/>
                <a:gd name="T9" fmla="*/ 59703 h 888"/>
                <a:gd name="T10" fmla="*/ 864 w 984"/>
                <a:gd name="T11" fmla="*/ 43254 h 888"/>
                <a:gd name="T12" fmla="*/ 960 w 984"/>
                <a:gd name="T13" fmla="*/ 20262 h 888"/>
                <a:gd name="T14" fmla="*/ 720 w 984"/>
                <a:gd name="T15" fmla="*/ 3829 h 888"/>
                <a:gd name="T16" fmla="*/ 624 w 984"/>
                <a:gd name="T17" fmla="*/ 536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DDDDDD"/>
            </a:solidFill>
            <a:ln w="22225">
              <a:solidFill>
                <a:srgbClr val="808080"/>
              </a:solidFill>
              <a:miter lim="800000"/>
              <a:headEnd/>
              <a:tailEnd/>
            </a:ln>
          </p:spPr>
          <p:txBody>
            <a:bodyPr wrap="none"/>
            <a:lstStyle/>
            <a:p>
              <a:endParaRPr lang="zh-CN" altLang="en-US"/>
            </a:p>
          </p:txBody>
        </p:sp>
        <p:sp>
          <p:nvSpPr>
            <p:cNvPr id="7196" name="Oval 8"/>
            <p:cNvSpPr>
              <a:spLocks noChangeArrowheads="1"/>
            </p:cNvSpPr>
            <p:nvPr/>
          </p:nvSpPr>
          <p:spPr bwMode="auto">
            <a:xfrm>
              <a:off x="4754" y="1953"/>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9"/>
          <p:cNvGrpSpPr>
            <a:grpSpLocks/>
          </p:cNvGrpSpPr>
          <p:nvPr/>
        </p:nvGrpSpPr>
        <p:grpSpPr bwMode="auto">
          <a:xfrm>
            <a:off x="5964959" y="3504123"/>
            <a:ext cx="2135188" cy="2406650"/>
            <a:chOff x="4223" y="1530"/>
            <a:chExt cx="1345" cy="1516"/>
          </a:xfrm>
        </p:grpSpPr>
        <p:sp>
          <p:nvSpPr>
            <p:cNvPr id="7185" name="Text Box 10"/>
            <p:cNvSpPr txBox="1">
              <a:spLocks noChangeArrowheads="1"/>
            </p:cNvSpPr>
            <p:nvPr/>
          </p:nvSpPr>
          <p:spPr bwMode="auto">
            <a:xfrm>
              <a:off x="4512" y="1863"/>
              <a:ext cx="2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t>A</a:t>
              </a:r>
            </a:p>
          </p:txBody>
        </p:sp>
        <p:grpSp>
          <p:nvGrpSpPr>
            <p:cNvPr id="7186" name="Group 11"/>
            <p:cNvGrpSpPr>
              <a:grpSpLocks/>
            </p:cNvGrpSpPr>
            <p:nvPr/>
          </p:nvGrpSpPr>
          <p:grpSpPr bwMode="auto">
            <a:xfrm>
              <a:off x="4223" y="1530"/>
              <a:ext cx="1345" cy="1516"/>
              <a:chOff x="1260" y="1974"/>
              <a:chExt cx="1345" cy="1516"/>
            </a:xfrm>
          </p:grpSpPr>
          <p:sp>
            <p:nvSpPr>
              <p:cNvPr id="7187" name="AutoShape 12"/>
              <p:cNvSpPr>
                <a:spLocks noChangeArrowheads="1"/>
              </p:cNvSpPr>
              <p:nvPr/>
            </p:nvSpPr>
            <p:spPr bwMode="auto">
              <a:xfrm>
                <a:off x="1824" y="2388"/>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8" name="AutoShape 13"/>
              <p:cNvSpPr>
                <a:spLocks noChangeArrowheads="1"/>
              </p:cNvSpPr>
              <p:nvPr/>
            </p:nvSpPr>
            <p:spPr bwMode="auto">
              <a:xfrm rot="1200000">
                <a:off x="1794" y="2487"/>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9" name="AutoShape 14"/>
              <p:cNvSpPr>
                <a:spLocks noChangeArrowheads="1"/>
              </p:cNvSpPr>
              <p:nvPr/>
            </p:nvSpPr>
            <p:spPr bwMode="auto">
              <a:xfrm rot="-7800000">
                <a:off x="1407" y="2190"/>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90" name="Text Box 15"/>
              <p:cNvSpPr txBox="1">
                <a:spLocks noChangeArrowheads="1"/>
              </p:cNvSpPr>
              <p:nvPr/>
            </p:nvSpPr>
            <p:spPr bwMode="auto">
              <a:xfrm>
                <a:off x="1310" y="2086"/>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t>F</a:t>
                </a:r>
                <a:r>
                  <a:rPr lang="en-US" altLang="zh-CN" sz="1800" baseline="-25000" dirty="0"/>
                  <a:t>1</a:t>
                </a:r>
                <a:endParaRPr lang="en-US" altLang="zh-CN" sz="1800" dirty="0"/>
              </a:p>
            </p:txBody>
          </p:sp>
          <p:sp>
            <p:nvSpPr>
              <p:cNvPr id="7191" name="Text Box 16"/>
              <p:cNvSpPr txBox="1">
                <a:spLocks noChangeArrowheads="1"/>
              </p:cNvSpPr>
              <p:nvPr/>
            </p:nvSpPr>
            <p:spPr bwMode="auto">
              <a:xfrm>
                <a:off x="2307" y="2256"/>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t>F</a:t>
                </a:r>
                <a:r>
                  <a:rPr lang="en-US" altLang="zh-CN" sz="1800" baseline="-25000"/>
                  <a:t>2</a:t>
                </a:r>
                <a:endParaRPr lang="en-US" altLang="zh-CN" sz="1800"/>
              </a:p>
            </p:txBody>
          </p:sp>
          <p:sp>
            <p:nvSpPr>
              <p:cNvPr id="7192" name="Text Box 17"/>
              <p:cNvSpPr txBox="1">
                <a:spLocks noChangeArrowheads="1"/>
              </p:cNvSpPr>
              <p:nvPr/>
            </p:nvSpPr>
            <p:spPr bwMode="auto">
              <a:xfrm>
                <a:off x="2214" y="2523"/>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t>F</a:t>
                </a:r>
                <a:r>
                  <a:rPr lang="en-US" altLang="zh-CN" sz="1800" baseline="-25000"/>
                  <a:t>3</a:t>
                </a:r>
                <a:endParaRPr lang="en-US" altLang="zh-CN" sz="1800"/>
              </a:p>
            </p:txBody>
          </p:sp>
          <p:sp>
            <p:nvSpPr>
              <p:cNvPr id="7193" name="Text Box 18"/>
              <p:cNvSpPr txBox="1">
                <a:spLocks noChangeArrowheads="1"/>
              </p:cNvSpPr>
              <p:nvPr/>
            </p:nvSpPr>
            <p:spPr bwMode="auto">
              <a:xfrm>
                <a:off x="1260" y="2769"/>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err="1"/>
                  <a:t>F</a:t>
                </a:r>
                <a:r>
                  <a:rPr lang="en-US" altLang="zh-CN" sz="1800" b="1" i="1" baseline="-25000" dirty="0" err="1"/>
                  <a:t>n</a:t>
                </a:r>
                <a:endParaRPr lang="en-US" altLang="zh-CN" sz="1800" b="1" i="1" dirty="0"/>
              </a:p>
            </p:txBody>
          </p:sp>
          <p:sp>
            <p:nvSpPr>
              <p:cNvPr id="7194" name="AutoShape 19"/>
              <p:cNvSpPr>
                <a:spLocks noChangeArrowheads="1"/>
              </p:cNvSpPr>
              <p:nvPr/>
            </p:nvSpPr>
            <p:spPr bwMode="auto">
              <a:xfrm rot="7200000">
                <a:off x="943" y="2897"/>
                <a:ext cx="1138" cy="48"/>
              </a:xfrm>
              <a:prstGeom prst="rightArrow">
                <a:avLst>
                  <a:gd name="adj1" fmla="val 50000"/>
                  <a:gd name="adj2" fmla="val 592708"/>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5" name="Group 20"/>
          <p:cNvGrpSpPr>
            <a:grpSpLocks/>
          </p:cNvGrpSpPr>
          <p:nvPr/>
        </p:nvGrpSpPr>
        <p:grpSpPr bwMode="auto">
          <a:xfrm>
            <a:off x="6815859" y="4212149"/>
            <a:ext cx="1057275" cy="2212976"/>
            <a:chOff x="4779" y="1968"/>
            <a:chExt cx="666" cy="1394"/>
          </a:xfrm>
        </p:grpSpPr>
        <p:sp>
          <p:nvSpPr>
            <p:cNvPr id="7181" name="Line 21"/>
            <p:cNvSpPr>
              <a:spLocks noChangeShapeType="1"/>
            </p:cNvSpPr>
            <p:nvPr/>
          </p:nvSpPr>
          <p:spPr bwMode="auto">
            <a:xfrm>
              <a:off x="4779" y="1968"/>
              <a:ext cx="624" cy="1248"/>
            </a:xfrm>
            <a:prstGeom prst="line">
              <a:avLst/>
            </a:prstGeom>
            <a:noFill/>
            <a:ln w="22225">
              <a:solidFill>
                <a:srgbClr val="FF0000"/>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82" name="Oval 22"/>
            <p:cNvSpPr>
              <a:spLocks noChangeArrowheads="1"/>
            </p:cNvSpPr>
            <p:nvPr/>
          </p:nvSpPr>
          <p:spPr bwMode="auto">
            <a:xfrm>
              <a:off x="5375" y="3210"/>
              <a:ext cx="70" cy="70"/>
            </a:xfrm>
            <a:prstGeom prst="ellipse">
              <a:avLst/>
            </a:prstGeom>
            <a:solidFill>
              <a:srgbClr val="C0C0C0"/>
            </a:solidFill>
            <a:ln w="15875">
              <a:solidFill>
                <a:srgbClr val="C81204"/>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3" name="Text Box 23"/>
            <p:cNvSpPr txBox="1">
              <a:spLocks noChangeArrowheads="1"/>
            </p:cNvSpPr>
            <p:nvPr/>
          </p:nvSpPr>
          <p:spPr bwMode="auto">
            <a:xfrm>
              <a:off x="5184" y="3168"/>
              <a:ext cx="1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solidFill>
                    <a:srgbClr val="C81204"/>
                  </a:solidFill>
                  <a:latin typeface="+mn-lt"/>
                </a:rPr>
                <a:t>O</a:t>
              </a:r>
            </a:p>
          </p:txBody>
        </p:sp>
        <p:sp>
          <p:nvSpPr>
            <p:cNvPr id="7184" name="Text Box 24"/>
            <p:cNvSpPr txBox="1">
              <a:spLocks noChangeArrowheads="1"/>
            </p:cNvSpPr>
            <p:nvPr/>
          </p:nvSpPr>
          <p:spPr bwMode="auto">
            <a:xfrm>
              <a:off x="5232" y="2640"/>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C81204"/>
                  </a:solidFill>
                </a:rPr>
                <a:t>r</a:t>
              </a:r>
            </a:p>
          </p:txBody>
        </p:sp>
      </p:grpSp>
      <p:grpSp>
        <p:nvGrpSpPr>
          <p:cNvPr id="6" name="Group 25"/>
          <p:cNvGrpSpPr>
            <a:grpSpLocks/>
          </p:cNvGrpSpPr>
          <p:nvPr/>
        </p:nvGrpSpPr>
        <p:grpSpPr bwMode="auto">
          <a:xfrm>
            <a:off x="6452322" y="4216911"/>
            <a:ext cx="457200" cy="1173162"/>
            <a:chOff x="1584" y="2172"/>
            <a:chExt cx="288" cy="739"/>
          </a:xfrm>
        </p:grpSpPr>
        <p:sp>
          <p:nvSpPr>
            <p:cNvPr id="7179" name="AutoShape 26"/>
            <p:cNvSpPr>
              <a:spLocks noChangeArrowheads="1"/>
            </p:cNvSpPr>
            <p:nvPr/>
          </p:nvSpPr>
          <p:spPr bwMode="auto">
            <a:xfrm rot="21300000" flipV="1">
              <a:off x="1824" y="2172"/>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0" name="Text Box 27"/>
            <p:cNvSpPr txBox="1">
              <a:spLocks noChangeArrowheads="1"/>
            </p:cNvSpPr>
            <p:nvPr/>
          </p:nvSpPr>
          <p:spPr bwMode="auto">
            <a:xfrm>
              <a:off x="1584" y="267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C81204"/>
                  </a:solidFill>
                </a:rPr>
                <a:t>F</a:t>
              </a:r>
              <a:r>
                <a:rPr lang="en-US" altLang="zh-CN" sz="1800" b="1" i="1" baseline="-25000" dirty="0">
                  <a:solidFill>
                    <a:srgbClr val="C81204"/>
                  </a:solidFill>
                </a:rPr>
                <a:t>R</a:t>
              </a:r>
              <a:endParaRPr lang="en-US" altLang="zh-CN" sz="1800" b="1" i="1" dirty="0">
                <a:solidFill>
                  <a:srgbClr val="C81204"/>
                </a:solidFill>
              </a:endParaRPr>
            </a:p>
          </p:txBody>
        </p:sp>
      </p:grpSp>
      <p:sp>
        <p:nvSpPr>
          <p:cNvPr id="25629" name="AutoShape 29"/>
          <p:cNvSpPr>
            <a:spLocks noChangeArrowheads="1"/>
          </p:cNvSpPr>
          <p:nvPr/>
        </p:nvSpPr>
        <p:spPr bwMode="auto">
          <a:xfrm>
            <a:off x="988380" y="3563977"/>
            <a:ext cx="2630483" cy="1224490"/>
          </a:xfrm>
          <a:prstGeom prst="cloudCallout">
            <a:avLst>
              <a:gd name="adj1" fmla="val -42634"/>
              <a:gd name="adj2" fmla="val 98634"/>
            </a:avLst>
          </a:prstGeom>
          <a:noFill/>
          <a:ln w="9525">
            <a:solidFill>
              <a:srgbClr val="FF0000"/>
            </a:solidFill>
            <a:round/>
            <a:headEnd/>
            <a:tailEnd type="none" w="sm" len="sm"/>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C81204"/>
                </a:solidFill>
                <a:latin typeface="Tahoma" panose="020B0604030504040204" pitchFamily="34" charset="0"/>
              </a:rPr>
              <a:t> </a:t>
            </a:r>
            <a:r>
              <a:rPr lang="zh-CN" altLang="en-US" b="1" dirty="0">
                <a:solidFill>
                  <a:srgbClr val="C81204"/>
                </a:solidFill>
                <a:latin typeface="幼圆" panose="02010509060101010101" pitchFamily="49" charset="-122"/>
                <a:ea typeface="幼圆" panose="02010509060101010101" pitchFamily="49" charset="-122"/>
              </a:rPr>
              <a:t>矢量和</a:t>
            </a:r>
            <a:r>
              <a:rPr lang="en-US" altLang="zh-CN" b="1" dirty="0">
                <a:solidFill>
                  <a:srgbClr val="C81204"/>
                </a:solidFill>
                <a:latin typeface="幼圆" panose="02010509060101010101" pitchFamily="49" charset="-122"/>
                <a:ea typeface="幼圆" panose="02010509060101010101" pitchFamily="49" charset="-122"/>
              </a:rPr>
              <a:t>?</a:t>
            </a:r>
          </a:p>
          <a:p>
            <a:pPr algn="ctr" eaLnBrk="1" hangingPunct="1"/>
            <a:r>
              <a:rPr lang="zh-CN" altLang="en-US" b="1" dirty="0">
                <a:solidFill>
                  <a:srgbClr val="C81204"/>
                </a:solidFill>
                <a:latin typeface="幼圆" panose="02010509060101010101" pitchFamily="49" charset="-122"/>
                <a:ea typeface="幼圆" panose="02010509060101010101" pitchFamily="49" charset="-122"/>
              </a:rPr>
              <a:t>代数和</a:t>
            </a:r>
            <a:r>
              <a:rPr lang="en-US" altLang="zh-CN" b="1" dirty="0">
                <a:solidFill>
                  <a:srgbClr val="C81204"/>
                </a:solidFill>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p:txBody>
      </p:sp>
      <p:graphicFrame>
        <p:nvGraphicFramePr>
          <p:cNvPr id="25630" name="Object 30"/>
          <p:cNvGraphicFramePr>
            <a:graphicFrameLocks noChangeAspect="1"/>
          </p:cNvGraphicFramePr>
          <p:nvPr>
            <p:extLst>
              <p:ext uri="{D42A27DB-BD31-4B8C-83A1-F6EECF244321}">
                <p14:modId xmlns:p14="http://schemas.microsoft.com/office/powerpoint/2010/main" val="2633188245"/>
              </p:ext>
            </p:extLst>
          </p:nvPr>
        </p:nvGraphicFramePr>
        <p:xfrm>
          <a:off x="2050416" y="2442148"/>
          <a:ext cx="3530600" cy="455613"/>
        </p:xfrm>
        <a:graphic>
          <a:graphicData uri="http://schemas.openxmlformats.org/presentationml/2006/ole">
            <mc:AlternateContent xmlns:mc="http://schemas.openxmlformats.org/markup-compatibility/2006">
              <mc:Choice xmlns:v="urn:schemas-microsoft-com:vml" Requires="v">
                <p:oleObj spid="_x0000_s5126" name="Equation" r:id="rId3" imgW="1752600" imgH="228600" progId="Equation.3">
                  <p:embed/>
                </p:oleObj>
              </mc:Choice>
              <mc:Fallback>
                <p:oleObj name="Equation" r:id="rId3" imgW="1752600" imgH="228600"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416" y="2442148"/>
                        <a:ext cx="3530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sp>
        <p:nvSpPr>
          <p:cNvPr id="30" name="Text Box 5"/>
          <p:cNvSpPr txBox="1">
            <a:spLocks noChangeArrowheads="1"/>
          </p:cNvSpPr>
          <p:nvPr/>
        </p:nvSpPr>
        <p:spPr bwMode="auto">
          <a:xfrm>
            <a:off x="3369275" y="1306831"/>
            <a:ext cx="192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伐里农定理</a:t>
            </a:r>
          </a:p>
        </p:txBody>
      </p:sp>
      <p:sp>
        <p:nvSpPr>
          <p:cNvPr id="31" name="AutoShape 29"/>
          <p:cNvSpPr>
            <a:spLocks noChangeArrowheads="1"/>
          </p:cNvSpPr>
          <p:nvPr/>
        </p:nvSpPr>
        <p:spPr bwMode="auto">
          <a:xfrm>
            <a:off x="3201005" y="4448706"/>
            <a:ext cx="2630483" cy="1224490"/>
          </a:xfrm>
          <a:prstGeom prst="cloudCallout">
            <a:avLst>
              <a:gd name="adj1" fmla="val -42634"/>
              <a:gd name="adj2" fmla="val 98634"/>
            </a:avLst>
          </a:prstGeom>
          <a:noFill/>
          <a:ln w="9525">
            <a:solidFill>
              <a:srgbClr val="FF0000"/>
            </a:solidFill>
            <a:round/>
            <a:headEnd/>
            <a:tailEnd type="none" w="sm" len="sm"/>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C81204"/>
                </a:solidFill>
                <a:latin typeface="Tahoma" panose="020B0604030504040204" pitchFamily="34" charset="0"/>
              </a:rPr>
              <a:t> </a:t>
            </a:r>
            <a:r>
              <a:rPr lang="zh-CN" altLang="en-US" b="1" dirty="0">
                <a:solidFill>
                  <a:srgbClr val="C81204"/>
                </a:solidFill>
                <a:latin typeface="幼圆" panose="02010509060101010101" pitchFamily="49" charset="-122"/>
                <a:ea typeface="幼圆" panose="02010509060101010101" pitchFamily="49" charset="-122"/>
              </a:rPr>
              <a:t>对非共点力系成立？</a:t>
            </a:r>
            <a:endParaRPr lang="en-US" altLang="zh-CN" b="1" dirty="0">
              <a:latin typeface="幼圆" panose="02010509060101010101" pitchFamily="49" charset="-122"/>
              <a:ea typeface="幼圆" panose="02010509060101010101" pitchFamily="49" charset="-122"/>
            </a:endParaRPr>
          </a:p>
        </p:txBody>
      </p:sp>
      <p:graphicFrame>
        <p:nvGraphicFramePr>
          <p:cNvPr id="32" name="Object 2050"/>
          <p:cNvGraphicFramePr>
            <a:graphicFrameLocks noChangeAspect="1"/>
          </p:cNvGraphicFramePr>
          <p:nvPr>
            <p:extLst>
              <p:ext uri="{D42A27DB-BD31-4B8C-83A1-F6EECF244321}">
                <p14:modId xmlns:p14="http://schemas.microsoft.com/office/powerpoint/2010/main" val="1466677472"/>
              </p:ext>
            </p:extLst>
          </p:nvPr>
        </p:nvGraphicFramePr>
        <p:xfrm>
          <a:off x="984971" y="2918334"/>
          <a:ext cx="6637338" cy="447675"/>
        </p:xfrm>
        <a:graphic>
          <a:graphicData uri="http://schemas.openxmlformats.org/presentationml/2006/ole">
            <mc:AlternateContent xmlns:mc="http://schemas.openxmlformats.org/markup-compatibility/2006">
              <mc:Choice xmlns:v="urn:schemas-microsoft-com:vml" Requires="v">
                <p:oleObj spid="_x0000_s5127" name="Equation" r:id="rId5" imgW="3390840" imgH="228600" progId="Equation.DSMT4">
                  <p:embed/>
                </p:oleObj>
              </mc:Choice>
              <mc:Fallback>
                <p:oleObj name="Equation" r:id="rId5" imgW="3390840" imgH="228600" progId="Equation.DSMT4">
                  <p:embed/>
                  <p:pic>
                    <p:nvPicPr>
                      <p:cNvPr id="0" name=""/>
                      <p:cNvPicPr>
                        <a:picLocks noChangeAspect="1" noChangeArrowheads="1"/>
                      </p:cNvPicPr>
                      <p:nvPr/>
                    </p:nvPicPr>
                    <p:blipFill>
                      <a:blip r:embed="rId6"/>
                      <a:srcRect/>
                      <a:stretch>
                        <a:fillRect/>
                      </a:stretch>
                    </p:blipFill>
                    <p:spPr bwMode="auto">
                      <a:xfrm>
                        <a:off x="984971" y="2918334"/>
                        <a:ext cx="663733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box(ou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5605">
                                            <p:txEl>
                                              <p:pRg st="0" end="0"/>
                                            </p:txEl>
                                          </p:spTgt>
                                        </p:tgtEl>
                                        <p:attrNameLst>
                                          <p:attrName>style.visibility</p:attrName>
                                        </p:attrNameLst>
                                      </p:cBhvr>
                                      <p:to>
                                        <p:strVal val="visible"/>
                                      </p:to>
                                    </p:set>
                                    <p:animEffect transition="in" filter="box(out)">
                                      <p:cBhvr>
                                        <p:cTn id="12" dur="500"/>
                                        <p:tgtEl>
                                          <p:spTgt spid="2560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ou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25630"/>
                                        </p:tgtEl>
                                        <p:attrNameLst>
                                          <p:attrName>style.visibility</p:attrName>
                                        </p:attrNameLst>
                                      </p:cBhvr>
                                      <p:to>
                                        <p:strVal val="visible"/>
                                      </p:to>
                                    </p:set>
                                    <p:animEffect transition="in" filter="box(out)">
                                      <p:cBhvr>
                                        <p:cTn id="37" dur="500"/>
                                        <p:tgtEl>
                                          <p:spTgt spid="2563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checkerboard(across)">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32" fill="hold" grpId="0" nodeType="clickEffect">
                                  <p:stCondLst>
                                    <p:cond delay="0"/>
                                  </p:stCondLst>
                                  <p:childTnLst>
                                    <p:set>
                                      <p:cBhvr>
                                        <p:cTn id="46" dur="1" fill="hold">
                                          <p:stCondLst>
                                            <p:cond delay="0"/>
                                          </p:stCondLst>
                                        </p:cTn>
                                        <p:tgtEl>
                                          <p:spTgt spid="25629"/>
                                        </p:tgtEl>
                                        <p:attrNameLst>
                                          <p:attrName>style.visibility</p:attrName>
                                        </p:attrNameLst>
                                      </p:cBhvr>
                                      <p:to>
                                        <p:strVal val="visible"/>
                                      </p:to>
                                    </p:set>
                                    <p:animEffect transition="in" filter="diamond(out)">
                                      <p:cBhvr>
                                        <p:cTn id="47" dur="750"/>
                                        <p:tgtEl>
                                          <p:spTgt spid="25629"/>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32"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amond(out)">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build="p" autoUpdateAnimBg="0"/>
      <p:bldP spid="25629" grpId="0" animBg="1"/>
      <p:bldP spid="30" grpId="0" build="p" autoUpdateAnimBg="0"/>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p:cNvSpPr txBox="1">
            <a:spLocks noChangeArrowheads="1"/>
          </p:cNvSpPr>
          <p:nvPr/>
        </p:nvSpPr>
        <p:spPr bwMode="auto">
          <a:xfrm>
            <a:off x="629657" y="1718252"/>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矢量作用点坐标为：</a:t>
            </a:r>
          </a:p>
        </p:txBody>
      </p:sp>
      <p:graphicFrame>
        <p:nvGraphicFramePr>
          <p:cNvPr id="264195" name="Object 3"/>
          <p:cNvGraphicFramePr>
            <a:graphicFrameLocks noChangeAspect="1"/>
          </p:cNvGraphicFramePr>
          <p:nvPr>
            <p:extLst>
              <p:ext uri="{D42A27DB-BD31-4B8C-83A1-F6EECF244321}">
                <p14:modId xmlns:p14="http://schemas.microsoft.com/office/powerpoint/2010/main" val="784634099"/>
              </p:ext>
            </p:extLst>
          </p:nvPr>
        </p:nvGraphicFramePr>
        <p:xfrm>
          <a:off x="1259632" y="2292351"/>
          <a:ext cx="2463800" cy="342900"/>
        </p:xfrm>
        <a:graphic>
          <a:graphicData uri="http://schemas.openxmlformats.org/presentationml/2006/ole">
            <mc:AlternateContent xmlns:mc="http://schemas.openxmlformats.org/markup-compatibility/2006">
              <mc:Choice xmlns:v="urn:schemas-microsoft-com:vml" Requires="v">
                <p:oleObj spid="_x0000_s6158" name="Equation" r:id="rId3" imgW="2463800" imgH="342900" progId="Equation.DSMT4">
                  <p:embed/>
                </p:oleObj>
              </mc:Choice>
              <mc:Fallback>
                <p:oleObj name="Equation" r:id="rId3" imgW="2463800" imgH="3429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2292351"/>
                        <a:ext cx="24638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196" name="Object 4"/>
          <p:cNvGraphicFramePr>
            <a:graphicFrameLocks noChangeAspect="1"/>
          </p:cNvGraphicFramePr>
          <p:nvPr/>
        </p:nvGraphicFramePr>
        <p:xfrm>
          <a:off x="642938" y="2786063"/>
          <a:ext cx="5067300" cy="444500"/>
        </p:xfrm>
        <a:graphic>
          <a:graphicData uri="http://schemas.openxmlformats.org/presentationml/2006/ole">
            <mc:AlternateContent xmlns:mc="http://schemas.openxmlformats.org/markup-compatibility/2006">
              <mc:Choice xmlns:v="urn:schemas-microsoft-com:vml" Requires="v">
                <p:oleObj spid="_x0000_s6159" name="Equation" r:id="rId5" imgW="5067300" imgH="444500" progId="Equation.DSMT4">
                  <p:embed/>
                </p:oleObj>
              </mc:Choice>
              <mc:Fallback>
                <p:oleObj name="Equation" r:id="rId5" imgW="5067300" imgH="444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8" y="2786063"/>
                        <a:ext cx="5067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714375" y="3357563"/>
            <a:ext cx="4427538" cy="1398587"/>
            <a:chOff x="1292" y="1525"/>
            <a:chExt cx="2789" cy="881"/>
          </a:xfrm>
        </p:grpSpPr>
        <p:graphicFrame>
          <p:nvGraphicFramePr>
            <p:cNvPr id="23564" name="Object 6"/>
            <p:cNvGraphicFramePr>
              <a:graphicFrameLocks noChangeAspect="1"/>
            </p:cNvGraphicFramePr>
            <p:nvPr/>
          </p:nvGraphicFramePr>
          <p:xfrm>
            <a:off x="1292" y="1797"/>
            <a:ext cx="1496" cy="300"/>
          </p:xfrm>
          <a:graphic>
            <a:graphicData uri="http://schemas.openxmlformats.org/presentationml/2006/ole">
              <mc:AlternateContent xmlns:mc="http://schemas.openxmlformats.org/markup-compatibility/2006">
                <mc:Choice xmlns:v="urn:schemas-microsoft-com:vml" Requires="v">
                  <p:oleObj spid="_x0000_s6160" name="Equation" r:id="rId7" imgW="1905000" imgH="381000" progId="Equation.DSMT4">
                    <p:embed/>
                  </p:oleObj>
                </mc:Choice>
                <mc:Fallback>
                  <p:oleObj name="Equation" r:id="rId7" imgW="1905000" imgH="3810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2" y="1797"/>
                          <a:ext cx="1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5" name="Object 7"/>
            <p:cNvGraphicFramePr>
              <a:graphicFrameLocks noChangeAspect="1"/>
            </p:cNvGraphicFramePr>
            <p:nvPr/>
          </p:nvGraphicFramePr>
          <p:xfrm>
            <a:off x="2925" y="1525"/>
            <a:ext cx="1156" cy="881"/>
          </p:xfrm>
          <a:graphic>
            <a:graphicData uri="http://schemas.openxmlformats.org/presentationml/2006/ole">
              <mc:AlternateContent xmlns:mc="http://schemas.openxmlformats.org/markup-compatibility/2006">
                <mc:Choice xmlns:v="urn:schemas-microsoft-com:vml" Requires="v">
                  <p:oleObj spid="_x0000_s6161" name="Equation" r:id="rId9" imgW="1828800" imgH="1397000" progId="Equation.DSMT4">
                    <p:embed/>
                  </p:oleObj>
                </mc:Choice>
                <mc:Fallback>
                  <p:oleObj name="Equation" r:id="rId9" imgW="1828800" imgH="13970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5" y="1525"/>
                          <a:ext cx="1156" cy="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4200" name="Object 8"/>
          <p:cNvGraphicFramePr>
            <a:graphicFrameLocks noChangeAspect="1"/>
          </p:cNvGraphicFramePr>
          <p:nvPr>
            <p:extLst>
              <p:ext uri="{D42A27DB-BD31-4B8C-83A1-F6EECF244321}">
                <p14:modId xmlns:p14="http://schemas.microsoft.com/office/powerpoint/2010/main" val="3913725284"/>
              </p:ext>
            </p:extLst>
          </p:nvPr>
        </p:nvGraphicFramePr>
        <p:xfrm>
          <a:off x="923925" y="4840288"/>
          <a:ext cx="3790950" cy="1420812"/>
        </p:xfrm>
        <a:graphic>
          <a:graphicData uri="http://schemas.openxmlformats.org/presentationml/2006/ole">
            <mc:AlternateContent xmlns:mc="http://schemas.openxmlformats.org/markup-compatibility/2006">
              <mc:Choice xmlns:v="urn:schemas-microsoft-com:vml" Requires="v">
                <p:oleObj spid="_x0000_s6162" name="Equation" r:id="rId11" imgW="2031840" imgH="761760" progId="Equation.DSMT4">
                  <p:embed/>
                </p:oleObj>
              </mc:Choice>
              <mc:Fallback>
                <p:oleObj name="Equation" r:id="rId11" imgW="2031840" imgH="761760" progId="Equation.DSMT4">
                  <p:embed/>
                  <p:pic>
                    <p:nvPicPr>
                      <p:cNvPr id="0" name=""/>
                      <p:cNvPicPr>
                        <a:picLocks noChangeAspect="1" noChangeArrowheads="1"/>
                      </p:cNvPicPr>
                      <p:nvPr/>
                    </p:nvPicPr>
                    <p:blipFill>
                      <a:blip r:embed="rId12"/>
                      <a:srcRect/>
                      <a:stretch>
                        <a:fillRect/>
                      </a:stretch>
                    </p:blipFill>
                    <p:spPr bwMode="auto">
                      <a:xfrm>
                        <a:off x="923925" y="4840288"/>
                        <a:ext cx="3790950" cy="1420812"/>
                      </a:xfrm>
                      <a:prstGeom prst="rect">
                        <a:avLst/>
                      </a:prstGeom>
                      <a:noFill/>
                      <a:ln>
                        <a:noFill/>
                      </a:ln>
                      <a:effectLst/>
                    </p:spPr>
                  </p:pic>
                </p:oleObj>
              </mc:Fallback>
            </mc:AlternateContent>
          </a:graphicData>
        </a:graphic>
      </p:graphicFrame>
      <p:graphicFrame>
        <p:nvGraphicFramePr>
          <p:cNvPr id="264201" name="Object 9"/>
          <p:cNvGraphicFramePr>
            <a:graphicFrameLocks noChangeAspect="1"/>
          </p:cNvGraphicFramePr>
          <p:nvPr>
            <p:extLst>
              <p:ext uri="{D42A27DB-BD31-4B8C-83A1-F6EECF244321}">
                <p14:modId xmlns:p14="http://schemas.microsoft.com/office/powerpoint/2010/main" val="1848212034"/>
              </p:ext>
            </p:extLst>
          </p:nvPr>
        </p:nvGraphicFramePr>
        <p:xfrm>
          <a:off x="4605338" y="5286375"/>
          <a:ext cx="2743200" cy="492125"/>
        </p:xfrm>
        <a:graphic>
          <a:graphicData uri="http://schemas.openxmlformats.org/presentationml/2006/ole">
            <mc:AlternateContent xmlns:mc="http://schemas.openxmlformats.org/markup-compatibility/2006">
              <mc:Choice xmlns:v="urn:schemas-microsoft-com:vml" Requires="v">
                <p:oleObj spid="_x0000_s6163" name="Equation" r:id="rId13" imgW="1346040" imgH="241200" progId="Equation.DSMT4">
                  <p:embed/>
                </p:oleObj>
              </mc:Choice>
              <mc:Fallback>
                <p:oleObj name="Equation" r:id="rId13" imgW="1346040" imgH="241200" progId="Equation.DSMT4">
                  <p:embed/>
                  <p:pic>
                    <p:nvPicPr>
                      <p:cNvPr id="0" name=""/>
                      <p:cNvPicPr>
                        <a:picLocks noChangeAspect="1" noChangeArrowheads="1"/>
                      </p:cNvPicPr>
                      <p:nvPr/>
                    </p:nvPicPr>
                    <p:blipFill>
                      <a:blip r:embed="rId14"/>
                      <a:srcRect/>
                      <a:stretch>
                        <a:fillRect/>
                      </a:stretch>
                    </p:blipFill>
                    <p:spPr bwMode="auto">
                      <a:xfrm>
                        <a:off x="4605338" y="5286375"/>
                        <a:ext cx="2743200" cy="492125"/>
                      </a:xfrm>
                      <a:prstGeom prst="rect">
                        <a:avLst/>
                      </a:prstGeom>
                      <a:noFill/>
                      <a:ln>
                        <a:noFill/>
                      </a:ln>
                      <a:effectLst/>
                    </p:spPr>
                  </p:pic>
                </p:oleObj>
              </mc:Fallback>
            </mc:AlternateContent>
          </a:graphicData>
        </a:graphic>
      </p:graphicFrame>
      <p:pic>
        <p:nvPicPr>
          <p:cNvPr id="23560" name="Picture 10" descr="题图2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96136" y="838201"/>
            <a:ext cx="2916238"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205" name="Text Box 13"/>
          <p:cNvSpPr txBox="1">
            <a:spLocks noChangeArrowheads="1"/>
          </p:cNvSpPr>
          <p:nvPr/>
        </p:nvSpPr>
        <p:spPr bwMode="auto">
          <a:xfrm>
            <a:off x="7164288" y="5260155"/>
            <a:ext cx="1008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spcBef>
                <a:spcPct val="50000"/>
              </a:spcBef>
            </a:pPr>
            <a:r>
              <a:rPr lang="en-US" altLang="zh-CN" sz="2800">
                <a:latin typeface="Times New Roman" panose="02020603050405020304" pitchFamily="18" charset="0"/>
              </a:rPr>
              <a:t>N</a:t>
            </a:r>
            <a:r>
              <a:rPr lang="en-US" altLang="zh-CN"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rPr>
              <a:t>m</a:t>
            </a:r>
          </a:p>
        </p:txBody>
      </p:sp>
      <p:sp>
        <p:nvSpPr>
          <p:cNvPr id="23563" name="Text Box 2"/>
          <p:cNvSpPr txBox="1">
            <a:spLocks noChangeArrowheads="1"/>
          </p:cNvSpPr>
          <p:nvPr/>
        </p:nvSpPr>
        <p:spPr bwMode="auto">
          <a:xfrm>
            <a:off x="629657" y="851477"/>
            <a:ext cx="60007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 在图示长方体的顶点</a:t>
            </a:r>
            <a:r>
              <a:rPr lang="en-US" altLang="zh-CN" i="1" dirty="0">
                <a:latin typeface="+mn-lt"/>
                <a:ea typeface="楷体" panose="02010609060101010101" pitchFamily="49" charset="-122"/>
              </a:rPr>
              <a:t>B</a:t>
            </a:r>
            <a:r>
              <a:rPr lang="zh-CN" altLang="en-US" b="1" dirty="0">
                <a:latin typeface="楷体" panose="02010609060101010101" pitchFamily="49" charset="-122"/>
                <a:ea typeface="楷体" panose="02010609060101010101" pitchFamily="49" charset="-122"/>
              </a:rPr>
              <a:t>处作用一力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a:t>
            </a:r>
            <a:r>
              <a:rPr lang="en-US" altLang="zh-CN" i="1" dirty="0">
                <a:latin typeface="+mn-lt"/>
                <a:ea typeface="楷体" panose="02010609060101010101" pitchFamily="49" charset="-122"/>
              </a:rPr>
              <a:t>F</a:t>
            </a:r>
            <a:r>
              <a:rPr lang="en-US" altLang="zh-CN" dirty="0">
                <a:latin typeface="+mn-lt"/>
                <a:ea typeface="楷体" panose="02010609060101010101" pitchFamily="49" charset="-122"/>
              </a:rPr>
              <a:t>=700N</a:t>
            </a:r>
            <a:r>
              <a:rPr lang="zh-CN" altLang="en-US" b="1" dirty="0">
                <a:latin typeface="楷体" panose="02010609060101010101" pitchFamily="49" charset="-122"/>
                <a:ea typeface="楷体" panose="02010609060101010101" pitchFamily="49" charset="-122"/>
              </a:rPr>
              <a:t>。求力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之矩矢量</a:t>
            </a:r>
            <a:r>
              <a:rPr lang="en-US" altLang="zh-CN" b="1" i="1" dirty="0">
                <a:latin typeface="+mn-lt"/>
                <a:ea typeface="楷体" panose="02010609060101010101" pitchFamily="49" charset="-122"/>
              </a:rPr>
              <a:t>M</a:t>
            </a:r>
            <a:r>
              <a:rPr lang="en-US" altLang="zh-CN" b="1" i="1" baseline="-25000" dirty="0">
                <a:latin typeface="+mn-lt"/>
                <a:ea typeface="楷体" panose="02010609060101010101" pitchFamily="49" charset="-122"/>
              </a:rPr>
              <a:t>O</a:t>
            </a:r>
            <a:r>
              <a:rPr lang="en-US" altLang="zh-CN" b="1" dirty="0">
                <a:latin typeface="+mn-lt"/>
                <a:ea typeface="楷体" panose="02010609060101010101" pitchFamily="49" charset="-122"/>
              </a:rPr>
              <a:t>(</a:t>
            </a:r>
            <a:r>
              <a:rPr lang="en-US" altLang="zh-CN" b="1" i="1" dirty="0">
                <a:latin typeface="+mn-lt"/>
                <a:ea typeface="楷体" panose="02010609060101010101" pitchFamily="49" charset="-122"/>
              </a:rPr>
              <a:t>F</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941378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4194">
                                            <p:txEl>
                                              <p:pRg st="0" end="0"/>
                                            </p:txEl>
                                          </p:spTgt>
                                        </p:tgtEl>
                                        <p:attrNameLst>
                                          <p:attrName>style.visibility</p:attrName>
                                        </p:attrNameLst>
                                      </p:cBhvr>
                                      <p:to>
                                        <p:strVal val="visible"/>
                                      </p:to>
                                    </p:set>
                                    <p:animEffect transition="in" filter="box(out)">
                                      <p:cBhvr>
                                        <p:cTn id="7" dur="500"/>
                                        <p:tgtEl>
                                          <p:spTgt spid="264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64195"/>
                                        </p:tgtEl>
                                        <p:attrNameLst>
                                          <p:attrName>style.visibility</p:attrName>
                                        </p:attrNameLst>
                                      </p:cBhvr>
                                      <p:to>
                                        <p:strVal val="visible"/>
                                      </p:to>
                                    </p:set>
                                    <p:animEffect transition="in" filter="box(out)">
                                      <p:cBhvr>
                                        <p:cTn id="12" dur="500"/>
                                        <p:tgtEl>
                                          <p:spTgt spid="264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64196"/>
                                        </p:tgtEl>
                                        <p:attrNameLst>
                                          <p:attrName>style.visibility</p:attrName>
                                        </p:attrNameLst>
                                      </p:cBhvr>
                                      <p:to>
                                        <p:strVal val="visible"/>
                                      </p:to>
                                    </p:set>
                                    <p:animEffect transition="in" filter="box(out)">
                                      <p:cBhvr>
                                        <p:cTn id="17" dur="500"/>
                                        <p:tgtEl>
                                          <p:spTgt spid="264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amond(out)">
                                      <p:cBhvr>
                                        <p:cTn id="22" dur="75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64200"/>
                                        </p:tgtEl>
                                        <p:attrNameLst>
                                          <p:attrName>style.visibility</p:attrName>
                                        </p:attrNameLst>
                                      </p:cBhvr>
                                      <p:to>
                                        <p:strVal val="visible"/>
                                      </p:to>
                                    </p:set>
                                    <p:animEffect transition="in" filter="strips(downRight)">
                                      <p:cBhvr>
                                        <p:cTn id="27" dur="500"/>
                                        <p:tgtEl>
                                          <p:spTgt spid="2642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264201"/>
                                        </p:tgtEl>
                                        <p:attrNameLst>
                                          <p:attrName>style.visibility</p:attrName>
                                        </p:attrNameLst>
                                      </p:cBhvr>
                                      <p:to>
                                        <p:strVal val="visible"/>
                                      </p:to>
                                    </p:set>
                                    <p:animEffect transition="in" filter="box(out)">
                                      <p:cBhvr>
                                        <p:cTn id="32" dur="500"/>
                                        <p:tgtEl>
                                          <p:spTgt spid="2642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264205"/>
                                        </p:tgtEl>
                                        <p:attrNameLst>
                                          <p:attrName>style.visibility</p:attrName>
                                        </p:attrNameLst>
                                      </p:cBhvr>
                                      <p:to>
                                        <p:strVal val="visible"/>
                                      </p:to>
                                    </p:set>
                                    <p:animEffect transition="in" filter="slide(fromRight)">
                                      <p:cBhvr>
                                        <p:cTn id="37" dur="500"/>
                                        <p:tgtEl>
                                          <p:spTgt spid="264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uild="p" autoUpdateAnimBg="0"/>
      <p:bldP spid="264205"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683568" y="540544"/>
            <a:ext cx="7704856"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FF0000"/>
                </a:solidFill>
                <a:latin typeface="楷体" panose="02010609060101010101" pitchFamily="49" charset="-122"/>
                <a:ea typeface="楷体" panose="02010609060101010101" pitchFamily="49" charset="-122"/>
              </a:rPr>
              <a:t>例</a:t>
            </a:r>
            <a:r>
              <a:rPr lang="zh-CN" altLang="en-US" dirty="0">
                <a:solidFill>
                  <a:srgbClr val="000099"/>
                </a:solidFill>
                <a:latin typeface="楷体" panose="02010609060101010101" pitchFamily="49" charset="-122"/>
                <a:ea typeface="楷体" panose="02010609060101010101" pitchFamily="49" charset="-122"/>
              </a:rPr>
              <a:t> </a:t>
            </a:r>
            <a:r>
              <a:rPr lang="zh-CN" altLang="en-US" b="1" dirty="0">
                <a:latin typeface="楷体" panose="02010609060101010101" pitchFamily="49" charset="-122"/>
                <a:ea typeface="楷体" panose="02010609060101010101" pitchFamily="49" charset="-122"/>
              </a:rPr>
              <a:t>如图所示，圆柱直齿轮受啮合力的作用。设</a:t>
            </a:r>
            <a:r>
              <a:rPr lang="en-US" altLang="zh-CN" i="1" dirty="0">
                <a:latin typeface="+mn-lt"/>
                <a:ea typeface="楷体" panose="02010609060101010101" pitchFamily="49" charset="-122"/>
              </a:rPr>
              <a:t>F</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1400N</a:t>
            </a:r>
            <a:r>
              <a:rPr lang="zh-CN" altLang="en-US" b="1" dirty="0">
                <a:latin typeface="楷体" panose="02010609060101010101" pitchFamily="49" charset="-122"/>
                <a:ea typeface="楷体" panose="02010609060101010101" pitchFamily="49" charset="-122"/>
              </a:rPr>
              <a:t>。压力角</a:t>
            </a:r>
            <a:r>
              <a:rPr lang="zh-CN" altLang="en-US" b="1" i="1" dirty="0">
                <a:latin typeface="+mn-lt"/>
                <a:ea typeface="楷体" panose="02010609060101010101" pitchFamily="49" charset="-122"/>
                <a:cs typeface="Times New Roman" panose="02020603050405020304" pitchFamily="18" charset="0"/>
                <a:sym typeface="Symbol" panose="05050102010706020507" pitchFamily="18" charset="2"/>
              </a:rPr>
              <a:t></a:t>
            </a: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20</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，齿轮的节圆（啮合圆）半径</a:t>
            </a:r>
            <a:r>
              <a:rPr lang="en-US" altLang="zh-CN" i="1" dirty="0">
                <a:latin typeface="+mn-lt"/>
                <a:ea typeface="楷体" panose="02010609060101010101" pitchFamily="49" charset="-122"/>
              </a:rPr>
              <a:t>r </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60mm</a:t>
            </a:r>
            <a:r>
              <a:rPr lang="zh-CN" altLang="en-US" b="1" dirty="0">
                <a:latin typeface="楷体" panose="02010609060101010101" pitchFamily="49" charset="-122"/>
                <a:ea typeface="楷体" panose="02010609060101010101" pitchFamily="49" charset="-122"/>
              </a:rPr>
              <a:t>，试计算力对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点的力矩。</a:t>
            </a:r>
          </a:p>
        </p:txBody>
      </p:sp>
      <p:sp>
        <p:nvSpPr>
          <p:cNvPr id="27654" name="Text Box 6"/>
          <p:cNvSpPr txBox="1">
            <a:spLocks noChangeArrowheads="1"/>
          </p:cNvSpPr>
          <p:nvPr/>
        </p:nvSpPr>
        <p:spPr bwMode="auto">
          <a:xfrm>
            <a:off x="876449" y="2023892"/>
            <a:ext cx="3744912" cy="58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60000"/>
              </a:lnSpc>
            </a:pPr>
            <a:r>
              <a:rPr lang="zh-CN" altLang="en-US" b="1" dirty="0">
                <a:solidFill>
                  <a:srgbClr val="0000FF"/>
                </a:solidFill>
                <a:latin typeface="楷体" panose="02010609060101010101" pitchFamily="49" charset="-122"/>
                <a:ea typeface="楷体" panose="02010609060101010101" pitchFamily="49" charset="-122"/>
              </a:rPr>
              <a:t>解</a:t>
            </a:r>
            <a:r>
              <a:rPr lang="en-US" altLang="zh-CN" b="1" dirty="0">
                <a:solidFill>
                  <a:srgbClr val="0000FF"/>
                </a:solidFill>
                <a:latin typeface="楷体" panose="02010609060101010101" pitchFamily="49" charset="-122"/>
                <a:ea typeface="楷体" panose="02010609060101010101" pitchFamily="49" charset="-122"/>
              </a:rPr>
              <a:t>1  </a:t>
            </a:r>
            <a:r>
              <a:rPr lang="zh-CN" altLang="en-US" b="1" dirty="0">
                <a:solidFill>
                  <a:srgbClr val="0000FF"/>
                </a:solidFill>
                <a:latin typeface="楷体" panose="02010609060101010101" pitchFamily="49" charset="-122"/>
                <a:ea typeface="楷体" panose="02010609060101010101" pitchFamily="49" charset="-122"/>
              </a:rPr>
              <a:t>按力矩定义求解。</a:t>
            </a:r>
          </a:p>
        </p:txBody>
      </p:sp>
      <p:graphicFrame>
        <p:nvGraphicFramePr>
          <p:cNvPr id="27655" name="Object 7"/>
          <p:cNvGraphicFramePr>
            <a:graphicFrameLocks noChangeAspect="1"/>
          </p:cNvGraphicFramePr>
          <p:nvPr>
            <p:extLst>
              <p:ext uri="{D42A27DB-BD31-4B8C-83A1-F6EECF244321}">
                <p14:modId xmlns:p14="http://schemas.microsoft.com/office/powerpoint/2010/main" val="1039667553"/>
              </p:ext>
            </p:extLst>
          </p:nvPr>
        </p:nvGraphicFramePr>
        <p:xfrm>
          <a:off x="820738" y="2792413"/>
          <a:ext cx="3727450" cy="1295400"/>
        </p:xfrm>
        <a:graphic>
          <a:graphicData uri="http://schemas.openxmlformats.org/presentationml/2006/ole">
            <mc:AlternateContent xmlns:mc="http://schemas.openxmlformats.org/markup-compatibility/2006">
              <mc:Choice xmlns:v="urn:schemas-microsoft-com:vml" Requires="v">
                <p:oleObj spid="_x0000_s7180" name="Equation" r:id="rId3" imgW="1879560" imgH="647640" progId="Equation.DSMT4">
                  <p:embed/>
                </p:oleObj>
              </mc:Choice>
              <mc:Fallback>
                <p:oleObj name="Equation" r:id="rId3" imgW="1879560" imgH="647640" progId="Equation.DSMT4">
                  <p:embed/>
                  <p:pic>
                    <p:nvPicPr>
                      <p:cNvPr id="0" name="Object 7"/>
                      <p:cNvPicPr>
                        <a:picLocks noChangeAspect="1" noChangeArrowheads="1"/>
                      </p:cNvPicPr>
                      <p:nvPr/>
                    </p:nvPicPr>
                    <p:blipFill>
                      <a:blip r:embed="rId4"/>
                      <a:srcRect/>
                      <a:stretch>
                        <a:fillRect/>
                      </a:stretch>
                    </p:blipFill>
                    <p:spPr bwMode="auto">
                      <a:xfrm>
                        <a:off x="820738" y="2792413"/>
                        <a:ext cx="3727450" cy="1295400"/>
                      </a:xfrm>
                      <a:prstGeom prst="rect">
                        <a:avLst/>
                      </a:prstGeom>
                      <a:noFill/>
                      <a:ln>
                        <a:noFill/>
                      </a:ln>
                      <a:effectLst/>
                    </p:spPr>
                  </p:pic>
                </p:oleObj>
              </mc:Fallback>
            </mc:AlternateContent>
          </a:graphicData>
        </a:graphic>
      </p:graphicFrame>
      <p:sp>
        <p:nvSpPr>
          <p:cNvPr id="27656" name="Text Box 8"/>
          <p:cNvSpPr txBox="1">
            <a:spLocks noChangeArrowheads="1"/>
          </p:cNvSpPr>
          <p:nvPr/>
        </p:nvSpPr>
        <p:spPr bwMode="auto">
          <a:xfrm>
            <a:off x="971600" y="4294977"/>
            <a:ext cx="460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解</a:t>
            </a:r>
            <a:r>
              <a:rPr lang="en-US" altLang="zh-CN" b="1" dirty="0">
                <a:solidFill>
                  <a:srgbClr val="0000FF"/>
                </a:solidFill>
                <a:latin typeface="楷体" panose="02010609060101010101" pitchFamily="49" charset="-122"/>
                <a:ea typeface="楷体" panose="02010609060101010101" pitchFamily="49" charset="-122"/>
              </a:rPr>
              <a:t>2  </a:t>
            </a:r>
            <a:r>
              <a:rPr lang="zh-CN" altLang="en-US" b="1" dirty="0">
                <a:solidFill>
                  <a:srgbClr val="0000FF"/>
                </a:solidFill>
                <a:latin typeface="楷体" panose="02010609060101010101" pitchFamily="49" charset="-122"/>
                <a:ea typeface="楷体" panose="02010609060101010101" pitchFamily="49" charset="-122"/>
              </a:rPr>
              <a:t>用合力之矩定理求解</a:t>
            </a:r>
            <a:r>
              <a:rPr lang="zh-CN" altLang="en-US" dirty="0">
                <a:solidFill>
                  <a:srgbClr val="0000FF"/>
                </a:solidFill>
                <a:latin typeface="楷体" panose="02010609060101010101" pitchFamily="49" charset="-122"/>
                <a:ea typeface="楷体" panose="02010609060101010101" pitchFamily="49" charset="-122"/>
              </a:rPr>
              <a:t>。</a:t>
            </a:r>
          </a:p>
        </p:txBody>
      </p:sp>
      <p:graphicFrame>
        <p:nvGraphicFramePr>
          <p:cNvPr id="10" name="Object 1026"/>
          <p:cNvGraphicFramePr>
            <a:graphicFrameLocks noChangeAspect="1"/>
          </p:cNvGraphicFramePr>
          <p:nvPr>
            <p:extLst>
              <p:ext uri="{D42A27DB-BD31-4B8C-83A1-F6EECF244321}">
                <p14:modId xmlns:p14="http://schemas.microsoft.com/office/powerpoint/2010/main" val="2198382294"/>
              </p:ext>
            </p:extLst>
          </p:nvPr>
        </p:nvGraphicFramePr>
        <p:xfrm>
          <a:off x="1040124" y="4967320"/>
          <a:ext cx="3456384" cy="488243"/>
        </p:xfrm>
        <a:graphic>
          <a:graphicData uri="http://schemas.openxmlformats.org/presentationml/2006/ole">
            <mc:AlternateContent xmlns:mc="http://schemas.openxmlformats.org/markup-compatibility/2006">
              <mc:Choice xmlns:v="urn:schemas-microsoft-com:vml" Requires="v">
                <p:oleObj spid="_x0000_s7181" name="Equation" r:id="rId5" imgW="1752480" imgH="228600" progId="Equation.DSMT4">
                  <p:embed/>
                </p:oleObj>
              </mc:Choice>
              <mc:Fallback>
                <p:oleObj name="Equation" r:id="rId5" imgW="1752480" imgH="228600" progId="Equation.DSMT4">
                  <p:embed/>
                  <p:pic>
                    <p:nvPicPr>
                      <p:cNvPr id="0" name=""/>
                      <p:cNvPicPr>
                        <a:picLocks noChangeAspect="1" noChangeArrowheads="1"/>
                      </p:cNvPicPr>
                      <p:nvPr/>
                    </p:nvPicPr>
                    <p:blipFill>
                      <a:blip r:embed="rId6"/>
                      <a:srcRect/>
                      <a:stretch>
                        <a:fillRect/>
                      </a:stretch>
                    </p:blipFill>
                    <p:spPr bwMode="auto">
                      <a:xfrm>
                        <a:off x="1040124" y="4967320"/>
                        <a:ext cx="3456384" cy="488243"/>
                      </a:xfrm>
                      <a:prstGeom prst="rect">
                        <a:avLst/>
                      </a:prstGeom>
                      <a:noFill/>
                      <a:ln>
                        <a:noFill/>
                      </a:ln>
                      <a:effectLst/>
                    </p:spPr>
                  </p:pic>
                </p:oleObj>
              </mc:Fallback>
            </mc:AlternateContent>
          </a:graphicData>
        </a:graphic>
      </p:graphicFrame>
      <p:graphicFrame>
        <p:nvGraphicFramePr>
          <p:cNvPr id="11" name="Object 1027"/>
          <p:cNvGraphicFramePr>
            <a:graphicFrameLocks noChangeAspect="1"/>
          </p:cNvGraphicFramePr>
          <p:nvPr>
            <p:extLst>
              <p:ext uri="{D42A27DB-BD31-4B8C-83A1-F6EECF244321}">
                <p14:modId xmlns:p14="http://schemas.microsoft.com/office/powerpoint/2010/main" val="1661925018"/>
              </p:ext>
            </p:extLst>
          </p:nvPr>
        </p:nvGraphicFramePr>
        <p:xfrm>
          <a:off x="971600" y="5566006"/>
          <a:ext cx="4241527" cy="485626"/>
        </p:xfrm>
        <a:graphic>
          <a:graphicData uri="http://schemas.openxmlformats.org/presentationml/2006/ole">
            <mc:AlternateContent xmlns:mc="http://schemas.openxmlformats.org/markup-compatibility/2006">
              <mc:Choice xmlns:v="urn:schemas-microsoft-com:vml" Requires="v">
                <p:oleObj spid="_x0000_s7182" name="Equation" r:id="rId7" imgW="2108160" imgH="228600" progId="Equation.DSMT4">
                  <p:embed/>
                </p:oleObj>
              </mc:Choice>
              <mc:Fallback>
                <p:oleObj name="Equation" r:id="rId7" imgW="2108160" imgH="228600" progId="Equation.DSMT4">
                  <p:embed/>
                  <p:pic>
                    <p:nvPicPr>
                      <p:cNvPr id="0" name=""/>
                      <p:cNvPicPr>
                        <a:picLocks noChangeAspect="1" noChangeArrowheads="1"/>
                      </p:cNvPicPr>
                      <p:nvPr/>
                    </p:nvPicPr>
                    <p:blipFill>
                      <a:blip r:embed="rId8"/>
                      <a:srcRect/>
                      <a:stretch>
                        <a:fillRect/>
                      </a:stretch>
                    </p:blipFill>
                    <p:spPr bwMode="auto">
                      <a:xfrm>
                        <a:off x="971600" y="5566006"/>
                        <a:ext cx="4241527" cy="485626"/>
                      </a:xfrm>
                      <a:prstGeom prst="rect">
                        <a:avLst/>
                      </a:prstGeom>
                      <a:noFill/>
                      <a:ln>
                        <a:noFill/>
                      </a:ln>
                      <a:effectLst/>
                    </p:spPr>
                  </p:pic>
                </p:oleObj>
              </mc:Fallback>
            </mc:AlternateContent>
          </a:graphicData>
        </a:graphic>
      </p:graphicFrame>
      <p:grpSp>
        <p:nvGrpSpPr>
          <p:cNvPr id="4" name="组合 3"/>
          <p:cNvGrpSpPr/>
          <p:nvPr/>
        </p:nvGrpSpPr>
        <p:grpSpPr>
          <a:xfrm>
            <a:off x="5589292" y="1730241"/>
            <a:ext cx="3255621" cy="2145618"/>
            <a:chOff x="5069708" y="1721771"/>
            <a:chExt cx="3255621" cy="2145618"/>
          </a:xfrm>
        </p:grpSpPr>
        <p:graphicFrame>
          <p:nvGraphicFramePr>
            <p:cNvPr id="27653" name="Object 5"/>
            <p:cNvGraphicFramePr>
              <a:graphicFrameLocks noChangeAspect="1"/>
            </p:cNvGraphicFramePr>
            <p:nvPr>
              <p:extLst>
                <p:ext uri="{D42A27DB-BD31-4B8C-83A1-F6EECF244321}">
                  <p14:modId xmlns:p14="http://schemas.microsoft.com/office/powerpoint/2010/main" val="108161174"/>
                </p:ext>
              </p:extLst>
            </p:nvPr>
          </p:nvGraphicFramePr>
          <p:xfrm>
            <a:off x="5148063" y="1721771"/>
            <a:ext cx="3126261" cy="1924317"/>
          </p:xfrm>
          <a:graphic>
            <a:graphicData uri="http://schemas.openxmlformats.org/presentationml/2006/ole">
              <mc:AlternateContent xmlns:mc="http://schemas.openxmlformats.org/markup-compatibility/2006">
                <mc:Choice xmlns:v="urn:schemas-microsoft-com:vml" Requires="v">
                  <p:oleObj spid="_x0000_s7183" name="BMP 图像" r:id="rId9" imgW="1720800" imgH="1060560" progId="Paint.Picture">
                    <p:embed/>
                  </p:oleObj>
                </mc:Choice>
                <mc:Fallback>
                  <p:oleObj name="BMP 图像" r:id="rId9" imgW="1720800" imgH="1060560" progId="Paint.Picture">
                    <p:embed/>
                    <p:pic>
                      <p:nvPicPr>
                        <p:cNvPr id="0" name="Object 5"/>
                        <p:cNvPicPr>
                          <a:picLocks noChangeAspect="1" noChangeArrowheads="1"/>
                        </p:cNvPicPr>
                        <p:nvPr/>
                      </p:nvPicPr>
                      <p:blipFill>
                        <a:blip r:embed="rId10"/>
                        <a:srcRect/>
                        <a:stretch>
                          <a:fillRect/>
                        </a:stretch>
                      </p:blipFill>
                      <p:spPr bwMode="auto">
                        <a:xfrm>
                          <a:off x="5148063" y="1721771"/>
                          <a:ext cx="3126261" cy="1924317"/>
                        </a:xfrm>
                        <a:prstGeom prst="rect">
                          <a:avLst/>
                        </a:prstGeom>
                        <a:noFill/>
                        <a:ln>
                          <a:noFill/>
                        </a:ln>
                        <a:effectLst/>
                      </p:spPr>
                    </p:pic>
                  </p:oleObj>
                </mc:Fallback>
              </mc:AlternateContent>
            </a:graphicData>
          </a:graphic>
        </p:graphicFrame>
        <p:sp>
          <p:nvSpPr>
            <p:cNvPr id="3" name="文本框 2"/>
            <p:cNvSpPr txBox="1"/>
            <p:nvPr/>
          </p:nvSpPr>
          <p:spPr>
            <a:xfrm>
              <a:off x="6525129" y="1721771"/>
              <a:ext cx="1800200" cy="1971975"/>
            </a:xfrm>
            <a:prstGeom prst="rect">
              <a:avLst/>
            </a:prstGeom>
            <a:solidFill>
              <a:schemeClr val="bg1"/>
            </a:solidFill>
          </p:spPr>
          <p:txBody>
            <a:bodyPr wrap="square" rtlCol="0">
              <a:spAutoFit/>
            </a:bodyPr>
            <a:lstStyle/>
            <a:p>
              <a:endParaRPr lang="zh-CN" altLang="en-US" dirty="0"/>
            </a:p>
          </p:txBody>
        </p:sp>
        <p:sp>
          <p:nvSpPr>
            <p:cNvPr id="13" name="文本框 12"/>
            <p:cNvSpPr txBox="1">
              <a:spLocks noChangeAspect="1"/>
            </p:cNvSpPr>
            <p:nvPr/>
          </p:nvSpPr>
          <p:spPr>
            <a:xfrm>
              <a:off x="5069708" y="3214752"/>
              <a:ext cx="1573375" cy="652637"/>
            </a:xfrm>
            <a:prstGeom prst="rect">
              <a:avLst/>
            </a:prstGeom>
            <a:solidFill>
              <a:schemeClr val="bg1"/>
            </a:solidFill>
          </p:spPr>
          <p:txBody>
            <a:bodyPr wrap="square" rtlCol="0">
              <a:spAutoFit/>
            </a:bodyPr>
            <a:lstStyle/>
            <a:p>
              <a:endParaRPr lang="zh-CN" altLang="en-US" dirty="0"/>
            </a:p>
          </p:txBody>
        </p:sp>
      </p:grpSp>
      <p:grpSp>
        <p:nvGrpSpPr>
          <p:cNvPr id="6" name="组合 5"/>
          <p:cNvGrpSpPr/>
          <p:nvPr/>
        </p:nvGrpSpPr>
        <p:grpSpPr>
          <a:xfrm>
            <a:off x="5184832" y="3702216"/>
            <a:ext cx="3181029" cy="2197107"/>
            <a:chOff x="5345805" y="3839710"/>
            <a:chExt cx="3181029" cy="2197107"/>
          </a:xfrm>
        </p:grpSpPr>
        <p:graphicFrame>
          <p:nvGraphicFramePr>
            <p:cNvPr id="2" name="Object 5">
              <a:extLst>
                <a:ext uri="{FF2B5EF4-FFF2-40B4-BE49-F238E27FC236}">
                  <a16:creationId xmlns:a16="http://schemas.microsoft.com/office/drawing/2014/main" xmlns="" id="{F29780FA-FD2C-5E18-8F49-62DC6CD803D8}"/>
                </a:ext>
              </a:extLst>
            </p:cNvPr>
            <p:cNvGraphicFramePr>
              <a:graphicFrameLocks noChangeAspect="1"/>
            </p:cNvGraphicFramePr>
            <p:nvPr>
              <p:extLst>
                <p:ext uri="{D42A27DB-BD31-4B8C-83A1-F6EECF244321}">
                  <p14:modId xmlns:p14="http://schemas.microsoft.com/office/powerpoint/2010/main" val="3806525399"/>
                </p:ext>
              </p:extLst>
            </p:nvPr>
          </p:nvGraphicFramePr>
          <p:xfrm>
            <a:off x="5370692" y="3861048"/>
            <a:ext cx="3156142" cy="1944216"/>
          </p:xfrm>
          <a:graphic>
            <a:graphicData uri="http://schemas.openxmlformats.org/presentationml/2006/ole">
              <mc:AlternateContent xmlns:mc="http://schemas.openxmlformats.org/markup-compatibility/2006">
                <mc:Choice xmlns:v="urn:schemas-microsoft-com:vml" Requires="v">
                  <p:oleObj spid="_x0000_s7184" name="BMP 图像" r:id="rId11" imgW="2580952" imgH="1590897" progId="Paint.Picture">
                    <p:embed/>
                  </p:oleObj>
                </mc:Choice>
                <mc:Fallback>
                  <p:oleObj name="BMP 图像" r:id="rId11" imgW="2580952" imgH="1590897" progId="Paint.Picture">
                    <p:embed/>
                    <p:pic>
                      <p:nvPicPr>
                        <p:cNvPr id="27653"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0692" y="3861048"/>
                          <a:ext cx="3156142" cy="1944216"/>
                        </a:xfrm>
                        <a:prstGeom prst="rect">
                          <a:avLst/>
                        </a:prstGeom>
                        <a:noFill/>
                        <a:ln>
                          <a:noFill/>
                        </a:ln>
                        <a:effectLst/>
                      </p:spPr>
                    </p:pic>
                  </p:oleObj>
                </mc:Fallback>
              </mc:AlternateContent>
            </a:graphicData>
          </a:graphic>
        </p:graphicFrame>
        <p:sp>
          <p:nvSpPr>
            <p:cNvPr id="14" name="文本框 13"/>
            <p:cNvSpPr txBox="1">
              <a:spLocks/>
            </p:cNvSpPr>
            <p:nvPr/>
          </p:nvSpPr>
          <p:spPr>
            <a:xfrm>
              <a:off x="7104676" y="5445224"/>
              <a:ext cx="1422158" cy="591593"/>
            </a:xfrm>
            <a:prstGeom prst="rect">
              <a:avLst/>
            </a:prstGeom>
            <a:solidFill>
              <a:schemeClr val="bg1"/>
            </a:solidFill>
          </p:spPr>
          <p:txBody>
            <a:bodyPr wrap="square" rtlCol="0">
              <a:spAutoFit/>
            </a:bodyPr>
            <a:lstStyle/>
            <a:p>
              <a:endParaRPr lang="zh-CN" altLang="en-US" dirty="0"/>
            </a:p>
          </p:txBody>
        </p:sp>
        <p:sp>
          <p:nvSpPr>
            <p:cNvPr id="12" name="文本框 11"/>
            <p:cNvSpPr txBox="1"/>
            <p:nvPr/>
          </p:nvSpPr>
          <p:spPr>
            <a:xfrm>
              <a:off x="5345805" y="3839710"/>
              <a:ext cx="1800200" cy="1971975"/>
            </a:xfrm>
            <a:prstGeom prst="rect">
              <a:avLst/>
            </a:prstGeom>
            <a:solidFill>
              <a:schemeClr val="bg1"/>
            </a:solidFill>
          </p:spPr>
          <p:txBody>
            <a:bodyPr wrap="square" rtlCol="0">
              <a:spAutoFit/>
            </a:bodyPr>
            <a:lstStyle/>
            <a:p>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7654">
                                            <p:txEl>
                                              <p:pRg st="0" end="0"/>
                                            </p:txEl>
                                          </p:spTgt>
                                        </p:tgtEl>
                                        <p:attrNameLst>
                                          <p:attrName>style.visibility</p:attrName>
                                        </p:attrNameLst>
                                      </p:cBhvr>
                                      <p:to>
                                        <p:strVal val="visible"/>
                                      </p:to>
                                    </p:set>
                                    <p:animEffect transition="in" filter="box(out)">
                                      <p:cBhvr>
                                        <p:cTn id="7" dur="500"/>
                                        <p:tgtEl>
                                          <p:spTgt spid="276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7655"/>
                                        </p:tgtEl>
                                        <p:attrNameLst>
                                          <p:attrName>style.visibility</p:attrName>
                                        </p:attrNameLst>
                                      </p:cBhvr>
                                      <p:to>
                                        <p:strVal val="visible"/>
                                      </p:to>
                                    </p:set>
                                    <p:animEffect transition="in" filter="box(out)">
                                      <p:cBhvr>
                                        <p:cTn id="12" dur="500"/>
                                        <p:tgtEl>
                                          <p:spTgt spid="2765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7656">
                                            <p:txEl>
                                              <p:pRg st="0" end="0"/>
                                            </p:txEl>
                                          </p:spTgt>
                                        </p:tgtEl>
                                        <p:attrNameLst>
                                          <p:attrName>style.visibility</p:attrName>
                                        </p:attrNameLst>
                                      </p:cBhvr>
                                      <p:to>
                                        <p:strVal val="visible"/>
                                      </p:to>
                                    </p:set>
                                    <p:animEffect transition="in" filter="box(out)">
                                      <p:cBhvr>
                                        <p:cTn id="17" dur="500"/>
                                        <p:tgtEl>
                                          <p:spTgt spid="2765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ou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ox(ou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build="p" autoUpdateAnimBg="0"/>
      <p:bldP spid="27656"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p:cNvSpPr txBox="1">
            <a:spLocks noChangeArrowheads="1"/>
          </p:cNvSpPr>
          <p:nvPr/>
        </p:nvSpPr>
        <p:spPr bwMode="auto">
          <a:xfrm>
            <a:off x="611560" y="1263303"/>
            <a:ext cx="7217040" cy="461665"/>
          </a:xfrm>
          <a:prstGeom prst="rect">
            <a:avLst/>
          </a:prstGeom>
          <a:noFill/>
          <a:ln w="9525">
            <a:noFill/>
            <a:miter lim="800000"/>
            <a:headEnd/>
            <a:tailEnd/>
          </a:ln>
          <a:effectLst/>
        </p:spPr>
        <p:txBody>
          <a:bodyPr wrap="none">
            <a:spAutoFit/>
          </a:bodyPr>
          <a:lstStyle/>
          <a:p>
            <a:pPr eaLnBrk="1" hangingPunct="1">
              <a:defRPr/>
            </a:pPr>
            <a:r>
              <a:rPr lang="en-US" altLang="zh-CN" b="1" dirty="0">
                <a:solidFill>
                  <a:schemeClr val="accent2"/>
                </a:solidFill>
                <a:effectLst>
                  <a:outerShdw blurRad="38100" dist="38100" dir="2700000" algn="tl">
                    <a:srgbClr val="C0C0C0"/>
                  </a:outerShdw>
                </a:effectLst>
              </a:rPr>
              <a:t>       </a:t>
            </a:r>
            <a:r>
              <a:rPr lang="zh-CN" altLang="en-US" b="1" dirty="0">
                <a:solidFill>
                  <a:srgbClr val="FF0000"/>
                </a:solidFill>
                <a:latin typeface="黑体" panose="02010609060101010101" pitchFamily="49" charset="-122"/>
                <a:ea typeface="黑体" panose="02010609060101010101" pitchFamily="49" charset="-122"/>
              </a:rPr>
              <a:t>力对轴之矩</a:t>
            </a:r>
            <a:r>
              <a:rPr lang="zh-CN" altLang="en-US" dirty="0">
                <a:latin typeface="黑体" panose="02010609060101010101" pitchFamily="49" charset="-122"/>
                <a:ea typeface="黑体" panose="02010609060101010101" pitchFamily="49" charset="-122"/>
              </a:rPr>
              <a:t>是</a:t>
            </a:r>
            <a:r>
              <a:rPr lang="zh-CN" altLang="en-US" b="1" dirty="0">
                <a:latin typeface="黑体" panose="02010609060101010101" pitchFamily="49" charset="-122"/>
                <a:ea typeface="黑体" panose="02010609060101010101" pitchFamily="49" charset="-122"/>
              </a:rPr>
              <a:t>力使物体绕某轴转动效果的度量</a:t>
            </a:r>
            <a:r>
              <a:rPr lang="zh-CN" altLang="en-US" dirty="0">
                <a:latin typeface="黑体" panose="02010609060101010101" pitchFamily="49" charset="-122"/>
                <a:ea typeface="黑体" panose="02010609060101010101" pitchFamily="49" charset="-122"/>
              </a:rPr>
              <a:t>。</a:t>
            </a:r>
          </a:p>
        </p:txBody>
      </p:sp>
      <p:sp>
        <p:nvSpPr>
          <p:cNvPr id="3"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pic>
        <p:nvPicPr>
          <p:cNvPr id="4" name="Picture 15" descr="HWOCRTEMP_ROC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5875" y="2071688"/>
            <a:ext cx="302736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16"/>
          <p:cNvSpPr>
            <a:spLocks noChangeArrowheads="1"/>
          </p:cNvSpPr>
          <p:nvPr/>
        </p:nvSpPr>
        <p:spPr bwMode="auto">
          <a:xfrm rot="840000">
            <a:off x="1430338" y="4879975"/>
            <a:ext cx="1219200" cy="152400"/>
          </a:xfrm>
          <a:prstGeom prst="rightArrow">
            <a:avLst>
              <a:gd name="adj1" fmla="val 50000"/>
              <a:gd name="adj2" fmla="val 200000"/>
            </a:avLst>
          </a:prstGeom>
          <a:solidFill>
            <a:srgbClr val="C81204"/>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6" name="Group 47"/>
          <p:cNvGrpSpPr>
            <a:grpSpLocks/>
          </p:cNvGrpSpPr>
          <p:nvPr/>
        </p:nvGrpSpPr>
        <p:grpSpPr bwMode="auto">
          <a:xfrm>
            <a:off x="4588610" y="1840706"/>
            <a:ext cx="3697288" cy="4125913"/>
            <a:chOff x="3264" y="960"/>
            <a:chExt cx="2329" cy="2599"/>
          </a:xfrm>
        </p:grpSpPr>
        <p:pic>
          <p:nvPicPr>
            <p:cNvPr id="7" name="Picture 33" descr="tu静(2)-12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960"/>
              <a:ext cx="2329" cy="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40"/>
            <p:cNvGrpSpPr>
              <a:grpSpLocks/>
            </p:cNvGrpSpPr>
            <p:nvPr/>
          </p:nvGrpSpPr>
          <p:grpSpPr bwMode="auto">
            <a:xfrm>
              <a:off x="4482" y="1815"/>
              <a:ext cx="690" cy="1200"/>
              <a:chOff x="4482" y="1815"/>
              <a:chExt cx="690" cy="1200"/>
            </a:xfrm>
          </p:grpSpPr>
          <p:sp>
            <p:nvSpPr>
              <p:cNvPr id="9" name="Freeform 37" descr="编织物"/>
              <p:cNvSpPr>
                <a:spLocks/>
              </p:cNvSpPr>
              <p:nvPr/>
            </p:nvSpPr>
            <p:spPr bwMode="auto">
              <a:xfrm>
                <a:off x="4482" y="1815"/>
                <a:ext cx="96" cy="816"/>
              </a:xfrm>
              <a:custGeom>
                <a:avLst/>
                <a:gdLst>
                  <a:gd name="T0" fmla="*/ 0 w 240"/>
                  <a:gd name="T1" fmla="*/ 4 h 912"/>
                  <a:gd name="T2" fmla="*/ 0 w 240"/>
                  <a:gd name="T3" fmla="*/ 11 h 912"/>
                  <a:gd name="T4" fmla="*/ 0 w 240"/>
                  <a:gd name="T5" fmla="*/ 72 h 912"/>
                  <a:gd name="T6" fmla="*/ 0 w 240"/>
                  <a:gd name="T7" fmla="*/ 59 h 912"/>
                  <a:gd name="T8" fmla="*/ 0 w 240"/>
                  <a:gd name="T9" fmla="*/ 0 h 912"/>
                  <a:gd name="T10" fmla="*/ 0 w 240"/>
                  <a:gd name="T11" fmla="*/ 4 h 912"/>
                  <a:gd name="T12" fmla="*/ 0 60000 65536"/>
                  <a:gd name="T13" fmla="*/ 0 60000 65536"/>
                  <a:gd name="T14" fmla="*/ 0 60000 65536"/>
                  <a:gd name="T15" fmla="*/ 0 60000 65536"/>
                  <a:gd name="T16" fmla="*/ 0 60000 65536"/>
                  <a:gd name="T17" fmla="*/ 0 60000 65536"/>
                  <a:gd name="T18" fmla="*/ 0 w 240"/>
                  <a:gd name="T19" fmla="*/ 0 h 912"/>
                  <a:gd name="T20" fmla="*/ 240 w 240"/>
                  <a:gd name="T21" fmla="*/ 912 h 912"/>
                </a:gdLst>
                <a:ahLst/>
                <a:cxnLst>
                  <a:cxn ang="T12">
                    <a:pos x="T0" y="T1"/>
                  </a:cxn>
                  <a:cxn ang="T13">
                    <a:pos x="T2" y="T3"/>
                  </a:cxn>
                  <a:cxn ang="T14">
                    <a:pos x="T4" y="T5"/>
                  </a:cxn>
                  <a:cxn ang="T15">
                    <a:pos x="T6" y="T7"/>
                  </a:cxn>
                  <a:cxn ang="T16">
                    <a:pos x="T8" y="T9"/>
                  </a:cxn>
                  <a:cxn ang="T17">
                    <a:pos x="T10" y="T11"/>
                  </a:cxn>
                </a:cxnLst>
                <a:rect l="T18" t="T19" r="T20" b="T21"/>
                <a:pathLst>
                  <a:path w="240" h="912">
                    <a:moveTo>
                      <a:pt x="96" y="48"/>
                    </a:moveTo>
                    <a:lnTo>
                      <a:pt x="240" y="144"/>
                    </a:lnTo>
                    <a:lnTo>
                      <a:pt x="240" y="912"/>
                    </a:lnTo>
                    <a:lnTo>
                      <a:pt x="0" y="768"/>
                    </a:lnTo>
                    <a:lnTo>
                      <a:pt x="0" y="0"/>
                    </a:lnTo>
                    <a:lnTo>
                      <a:pt x="96"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sp>
            <p:nvSpPr>
              <p:cNvPr id="10" name="Freeform 38"/>
              <p:cNvSpPr>
                <a:spLocks/>
              </p:cNvSpPr>
              <p:nvPr/>
            </p:nvSpPr>
            <p:spPr bwMode="auto">
              <a:xfrm>
                <a:off x="4548" y="2631"/>
                <a:ext cx="624" cy="384"/>
              </a:xfrm>
              <a:custGeom>
                <a:avLst/>
                <a:gdLst>
                  <a:gd name="T0" fmla="*/ 48 w 624"/>
                  <a:gd name="T1" fmla="*/ 0 h 384"/>
                  <a:gd name="T2" fmla="*/ 624 w 624"/>
                  <a:gd name="T3" fmla="*/ 336 h 384"/>
                  <a:gd name="T4" fmla="*/ 528 w 624"/>
                  <a:gd name="T5" fmla="*/ 384 h 384"/>
                  <a:gd name="T6" fmla="*/ 0 w 624"/>
                  <a:gd name="T7" fmla="*/ 96 h 384"/>
                  <a:gd name="T8" fmla="*/ 48 w 624"/>
                  <a:gd name="T9" fmla="*/ 0 h 384"/>
                  <a:gd name="T10" fmla="*/ 0 60000 65536"/>
                  <a:gd name="T11" fmla="*/ 0 60000 65536"/>
                  <a:gd name="T12" fmla="*/ 0 60000 65536"/>
                  <a:gd name="T13" fmla="*/ 0 60000 65536"/>
                  <a:gd name="T14" fmla="*/ 0 60000 65536"/>
                  <a:gd name="T15" fmla="*/ 0 w 624"/>
                  <a:gd name="T16" fmla="*/ 0 h 384"/>
                  <a:gd name="T17" fmla="*/ 624 w 624"/>
                  <a:gd name="T18" fmla="*/ 384 h 384"/>
                </a:gdLst>
                <a:ahLst/>
                <a:cxnLst>
                  <a:cxn ang="T10">
                    <a:pos x="T0" y="T1"/>
                  </a:cxn>
                  <a:cxn ang="T11">
                    <a:pos x="T2" y="T3"/>
                  </a:cxn>
                  <a:cxn ang="T12">
                    <a:pos x="T4" y="T5"/>
                  </a:cxn>
                  <a:cxn ang="T13">
                    <a:pos x="T6" y="T7"/>
                  </a:cxn>
                  <a:cxn ang="T14">
                    <a:pos x="T8" y="T9"/>
                  </a:cxn>
                </a:cxnLst>
                <a:rect l="T15" t="T16" r="T17" b="T18"/>
                <a:pathLst>
                  <a:path w="624" h="384">
                    <a:moveTo>
                      <a:pt x="48" y="0"/>
                    </a:moveTo>
                    <a:lnTo>
                      <a:pt x="624" y="336"/>
                    </a:lnTo>
                    <a:lnTo>
                      <a:pt x="528" y="384"/>
                    </a:lnTo>
                    <a:lnTo>
                      <a:pt x="0" y="96"/>
                    </a:lnTo>
                    <a:lnTo>
                      <a:pt x="48" y="0"/>
                    </a:lnTo>
                    <a:close/>
                  </a:path>
                </a:pathLst>
              </a:custGeom>
              <a:solidFill>
                <a:schemeClr val="bg1"/>
              </a:solidFill>
              <a:ln w="9525">
                <a:solidFill>
                  <a:srgbClr val="FFFFFF"/>
                </a:solidFill>
                <a:miter lim="800000"/>
                <a:headEnd/>
                <a:tailEnd/>
              </a:ln>
            </p:spPr>
            <p:txBody>
              <a:bodyPr wrap="none"/>
              <a:lstStyle/>
              <a:p>
                <a:endParaRPr lang="zh-CN" altLang="en-US"/>
              </a:p>
            </p:txBody>
          </p:sp>
          <p:sp>
            <p:nvSpPr>
              <p:cNvPr id="11" name="Freeform 39"/>
              <p:cNvSpPr>
                <a:spLocks/>
              </p:cNvSpPr>
              <p:nvPr/>
            </p:nvSpPr>
            <p:spPr bwMode="auto">
              <a:xfrm>
                <a:off x="4599" y="2634"/>
                <a:ext cx="57" cy="192"/>
              </a:xfrm>
              <a:custGeom>
                <a:avLst/>
                <a:gdLst>
                  <a:gd name="T0" fmla="*/ 0 w 96"/>
                  <a:gd name="T1" fmla="*/ 0 h 192"/>
                  <a:gd name="T2" fmla="*/ 0 w 96"/>
                  <a:gd name="T3" fmla="*/ 192 h 192"/>
                  <a:gd name="T4" fmla="*/ 1 w 96"/>
                  <a:gd name="T5" fmla="*/ 192 h 192"/>
                  <a:gd name="T6" fmla="*/ 1 w 96"/>
                  <a:gd name="T7" fmla="*/ 0 h 192"/>
                  <a:gd name="T8" fmla="*/ 0 w 96"/>
                  <a:gd name="T9" fmla="*/ 0 h 192"/>
                  <a:gd name="T10" fmla="*/ 0 60000 65536"/>
                  <a:gd name="T11" fmla="*/ 0 60000 65536"/>
                  <a:gd name="T12" fmla="*/ 0 60000 65536"/>
                  <a:gd name="T13" fmla="*/ 0 60000 65536"/>
                  <a:gd name="T14" fmla="*/ 0 60000 65536"/>
                  <a:gd name="T15" fmla="*/ 0 w 96"/>
                  <a:gd name="T16" fmla="*/ 0 h 192"/>
                  <a:gd name="T17" fmla="*/ 96 w 96"/>
                  <a:gd name="T18" fmla="*/ 192 h 192"/>
                </a:gdLst>
                <a:ahLst/>
                <a:cxnLst>
                  <a:cxn ang="T10">
                    <a:pos x="T0" y="T1"/>
                  </a:cxn>
                  <a:cxn ang="T11">
                    <a:pos x="T2" y="T3"/>
                  </a:cxn>
                  <a:cxn ang="T12">
                    <a:pos x="T4" y="T5"/>
                  </a:cxn>
                  <a:cxn ang="T13">
                    <a:pos x="T6" y="T7"/>
                  </a:cxn>
                  <a:cxn ang="T14">
                    <a:pos x="T8" y="T9"/>
                  </a:cxn>
                </a:cxnLst>
                <a:rect l="T15" t="T16" r="T17" b="T18"/>
                <a:pathLst>
                  <a:path w="96" h="192">
                    <a:moveTo>
                      <a:pt x="0" y="0"/>
                    </a:moveTo>
                    <a:lnTo>
                      <a:pt x="0" y="192"/>
                    </a:lnTo>
                    <a:lnTo>
                      <a:pt x="96" y="192"/>
                    </a:lnTo>
                    <a:lnTo>
                      <a:pt x="96" y="0"/>
                    </a:lnTo>
                    <a:lnTo>
                      <a:pt x="0" y="0"/>
                    </a:lnTo>
                    <a:close/>
                  </a:path>
                </a:pathLst>
              </a:custGeom>
              <a:solidFill>
                <a:srgbClr val="5547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grpSp>
      </p:grpSp>
      <p:grpSp>
        <p:nvGrpSpPr>
          <p:cNvPr id="12" name="Group 45"/>
          <p:cNvGrpSpPr>
            <a:grpSpLocks/>
          </p:cNvGrpSpPr>
          <p:nvPr/>
        </p:nvGrpSpPr>
        <p:grpSpPr bwMode="auto">
          <a:xfrm>
            <a:off x="2882900" y="1998663"/>
            <a:ext cx="609600" cy="3200400"/>
            <a:chOff x="2352" y="1344"/>
            <a:chExt cx="384" cy="2016"/>
          </a:xfrm>
        </p:grpSpPr>
        <p:sp>
          <p:nvSpPr>
            <p:cNvPr id="13" name="Freeform 18"/>
            <p:cNvSpPr>
              <a:spLocks/>
            </p:cNvSpPr>
            <p:nvPr/>
          </p:nvSpPr>
          <p:spPr bwMode="auto">
            <a:xfrm>
              <a:off x="2352" y="2544"/>
              <a:ext cx="384" cy="200"/>
            </a:xfrm>
            <a:custGeom>
              <a:avLst/>
              <a:gdLst>
                <a:gd name="T0" fmla="*/ 1 w 552"/>
                <a:gd name="T1" fmla="*/ 0 h 152"/>
                <a:gd name="T2" fmla="*/ 0 w 552"/>
                <a:gd name="T3" fmla="*/ 26254 h 152"/>
                <a:gd name="T4" fmla="*/ 1 w 552"/>
                <a:gd name="T5" fmla="*/ 52843 h 152"/>
                <a:gd name="T6" fmla="*/ 1 w 552"/>
                <a:gd name="T7" fmla="*/ 79316 h 152"/>
                <a:gd name="T8" fmla="*/ 1 w 552"/>
                <a:gd name="T9" fmla="*/ 79316 h 152"/>
                <a:gd name="T10" fmla="*/ 1 w 552"/>
                <a:gd name="T11" fmla="*/ 52843 h 152"/>
                <a:gd name="T12" fmla="*/ 1 w 552"/>
                <a:gd name="T13" fmla="*/ 0 h 152"/>
                <a:gd name="T14" fmla="*/ 0 60000 65536"/>
                <a:gd name="T15" fmla="*/ 0 60000 65536"/>
                <a:gd name="T16" fmla="*/ 0 60000 65536"/>
                <a:gd name="T17" fmla="*/ 0 60000 65536"/>
                <a:gd name="T18" fmla="*/ 0 60000 65536"/>
                <a:gd name="T19" fmla="*/ 0 60000 65536"/>
                <a:gd name="T20" fmla="*/ 0 60000 65536"/>
                <a:gd name="T21" fmla="*/ 0 w 552"/>
                <a:gd name="T22" fmla="*/ 0 h 152"/>
                <a:gd name="T23" fmla="*/ 552 w 552"/>
                <a:gd name="T24" fmla="*/ 152 h 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2" h="152">
                  <a:moveTo>
                    <a:pt x="48" y="0"/>
                  </a:moveTo>
                  <a:cubicBezTo>
                    <a:pt x="24" y="16"/>
                    <a:pt x="0" y="32"/>
                    <a:pt x="0" y="48"/>
                  </a:cubicBezTo>
                  <a:cubicBezTo>
                    <a:pt x="0" y="64"/>
                    <a:pt x="16" y="80"/>
                    <a:pt x="48" y="96"/>
                  </a:cubicBezTo>
                  <a:cubicBezTo>
                    <a:pt x="80" y="112"/>
                    <a:pt x="144" y="136"/>
                    <a:pt x="192" y="144"/>
                  </a:cubicBezTo>
                  <a:cubicBezTo>
                    <a:pt x="240" y="152"/>
                    <a:pt x="280" y="152"/>
                    <a:pt x="336" y="144"/>
                  </a:cubicBezTo>
                  <a:cubicBezTo>
                    <a:pt x="392" y="136"/>
                    <a:pt x="504" y="120"/>
                    <a:pt x="528" y="96"/>
                  </a:cubicBezTo>
                  <a:cubicBezTo>
                    <a:pt x="552" y="72"/>
                    <a:pt x="488" y="16"/>
                    <a:pt x="480" y="0"/>
                  </a:cubicBezTo>
                </a:path>
              </a:pathLst>
            </a:custGeom>
            <a:noFill/>
            <a:ln w="25400">
              <a:solidFill>
                <a:srgbClr val="FF0000"/>
              </a:solidFill>
              <a:miter lim="800000"/>
              <a:headEn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4" name="Line 42"/>
            <p:cNvSpPr>
              <a:spLocks noChangeShapeType="1"/>
            </p:cNvSpPr>
            <p:nvPr/>
          </p:nvSpPr>
          <p:spPr bwMode="auto">
            <a:xfrm>
              <a:off x="2562" y="1344"/>
              <a:ext cx="0" cy="2016"/>
            </a:xfrm>
            <a:prstGeom prst="line">
              <a:avLst/>
            </a:prstGeom>
            <a:noFill/>
            <a:ln w="22225">
              <a:solidFill>
                <a:srgbClr val="C81204"/>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Group 46"/>
          <p:cNvGrpSpPr>
            <a:grpSpLocks/>
          </p:cNvGrpSpPr>
          <p:nvPr/>
        </p:nvGrpSpPr>
        <p:grpSpPr bwMode="auto">
          <a:xfrm>
            <a:off x="5544176" y="2008949"/>
            <a:ext cx="381000" cy="3200400"/>
            <a:chOff x="3864" y="1056"/>
            <a:chExt cx="240" cy="2016"/>
          </a:xfrm>
        </p:grpSpPr>
        <p:sp>
          <p:nvSpPr>
            <p:cNvPr id="16" name="Line 41"/>
            <p:cNvSpPr>
              <a:spLocks noChangeShapeType="1"/>
            </p:cNvSpPr>
            <p:nvPr/>
          </p:nvSpPr>
          <p:spPr bwMode="auto">
            <a:xfrm>
              <a:off x="3984" y="1056"/>
              <a:ext cx="0" cy="2016"/>
            </a:xfrm>
            <a:prstGeom prst="line">
              <a:avLst/>
            </a:prstGeom>
            <a:noFill/>
            <a:ln w="22225">
              <a:solidFill>
                <a:srgbClr val="C81204"/>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Freeform 44"/>
            <p:cNvSpPr>
              <a:spLocks/>
            </p:cNvSpPr>
            <p:nvPr/>
          </p:nvSpPr>
          <p:spPr bwMode="auto">
            <a:xfrm>
              <a:off x="3864" y="1362"/>
              <a:ext cx="240" cy="152"/>
            </a:xfrm>
            <a:custGeom>
              <a:avLst/>
              <a:gdLst>
                <a:gd name="T0" fmla="*/ 0 w 552"/>
                <a:gd name="T1" fmla="*/ 0 h 152"/>
                <a:gd name="T2" fmla="*/ 0 w 552"/>
                <a:gd name="T3" fmla="*/ 48 h 152"/>
                <a:gd name="T4" fmla="*/ 0 w 552"/>
                <a:gd name="T5" fmla="*/ 96 h 152"/>
                <a:gd name="T6" fmla="*/ 0 w 552"/>
                <a:gd name="T7" fmla="*/ 144 h 152"/>
                <a:gd name="T8" fmla="*/ 0 w 552"/>
                <a:gd name="T9" fmla="*/ 144 h 152"/>
                <a:gd name="T10" fmla="*/ 0 w 552"/>
                <a:gd name="T11" fmla="*/ 96 h 152"/>
                <a:gd name="T12" fmla="*/ 0 w 552"/>
                <a:gd name="T13" fmla="*/ 0 h 152"/>
                <a:gd name="T14" fmla="*/ 0 60000 65536"/>
                <a:gd name="T15" fmla="*/ 0 60000 65536"/>
                <a:gd name="T16" fmla="*/ 0 60000 65536"/>
                <a:gd name="T17" fmla="*/ 0 60000 65536"/>
                <a:gd name="T18" fmla="*/ 0 60000 65536"/>
                <a:gd name="T19" fmla="*/ 0 60000 65536"/>
                <a:gd name="T20" fmla="*/ 0 60000 65536"/>
                <a:gd name="T21" fmla="*/ 0 w 552"/>
                <a:gd name="T22" fmla="*/ 0 h 152"/>
                <a:gd name="T23" fmla="*/ 552 w 552"/>
                <a:gd name="T24" fmla="*/ 152 h 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2" h="152">
                  <a:moveTo>
                    <a:pt x="48" y="0"/>
                  </a:moveTo>
                  <a:cubicBezTo>
                    <a:pt x="24" y="16"/>
                    <a:pt x="0" y="32"/>
                    <a:pt x="0" y="48"/>
                  </a:cubicBezTo>
                  <a:cubicBezTo>
                    <a:pt x="0" y="64"/>
                    <a:pt x="16" y="80"/>
                    <a:pt x="48" y="96"/>
                  </a:cubicBezTo>
                  <a:cubicBezTo>
                    <a:pt x="80" y="112"/>
                    <a:pt x="144" y="136"/>
                    <a:pt x="192" y="144"/>
                  </a:cubicBezTo>
                  <a:cubicBezTo>
                    <a:pt x="240" y="152"/>
                    <a:pt x="280" y="152"/>
                    <a:pt x="336" y="144"/>
                  </a:cubicBezTo>
                  <a:cubicBezTo>
                    <a:pt x="392" y="136"/>
                    <a:pt x="504" y="120"/>
                    <a:pt x="528" y="96"/>
                  </a:cubicBezTo>
                  <a:cubicBezTo>
                    <a:pt x="552" y="72"/>
                    <a:pt x="488" y="16"/>
                    <a:pt x="480" y="0"/>
                  </a:cubicBezTo>
                </a:path>
              </a:pathLst>
            </a:custGeom>
            <a:noFill/>
            <a:ln w="25400">
              <a:solidFill>
                <a:srgbClr val="FF0000"/>
              </a:solidFill>
              <a:miter lim="800000"/>
              <a:headEn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18" name="AutoShape 48"/>
          <p:cNvSpPr>
            <a:spLocks noChangeArrowheads="1"/>
          </p:cNvSpPr>
          <p:nvPr/>
        </p:nvSpPr>
        <p:spPr bwMode="auto">
          <a:xfrm rot="-1800000">
            <a:off x="5347069" y="4831495"/>
            <a:ext cx="1187450" cy="228600"/>
          </a:xfrm>
          <a:prstGeom prst="rightArrow">
            <a:avLst>
              <a:gd name="adj1" fmla="val 50000"/>
              <a:gd name="adj2" fmla="val 129861"/>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extLst>
      <p:ext uri="{BB962C8B-B14F-4D97-AF65-F5344CB8AC3E}">
        <p14:creationId xmlns:p14="http://schemas.microsoft.com/office/powerpoint/2010/main" val="420404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ou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heckerboard(across)">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ou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1" presetClass="entr" presetSubtype="0" fill="hold" grpId="0" nodeType="clickEffect">
                                  <p:stCondLst>
                                    <p:cond delay="0"/>
                                  </p:stCondLst>
                                  <p:childTnLst>
                                    <p:set>
                                      <p:cBhvr>
                                        <p:cTn id="31" dur="500">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ox(out)">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5"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254" name="Object 14"/>
          <p:cNvGraphicFramePr>
            <a:graphicFrameLocks noChangeAspect="1"/>
          </p:cNvGraphicFramePr>
          <p:nvPr>
            <p:extLst>
              <p:ext uri="{D42A27DB-BD31-4B8C-83A1-F6EECF244321}">
                <p14:modId xmlns:p14="http://schemas.microsoft.com/office/powerpoint/2010/main" val="3102019126"/>
              </p:ext>
            </p:extLst>
          </p:nvPr>
        </p:nvGraphicFramePr>
        <p:xfrm>
          <a:off x="1225078" y="2521867"/>
          <a:ext cx="2592388" cy="469900"/>
        </p:xfrm>
        <a:graphic>
          <a:graphicData uri="http://schemas.openxmlformats.org/presentationml/2006/ole">
            <mc:AlternateContent xmlns:mc="http://schemas.openxmlformats.org/markup-compatibility/2006">
              <mc:Choice xmlns:v="urn:schemas-microsoft-com:vml" Requires="v">
                <p:oleObj spid="_x0000_s8198" name="Equation" r:id="rId3" imgW="2298700" imgH="419100" progId="Equation.3">
                  <p:embed/>
                </p:oleObj>
              </mc:Choice>
              <mc:Fallback>
                <p:oleObj name="Equation" r:id="rId3" imgW="2298700" imgH="4191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078" y="2521867"/>
                        <a:ext cx="25923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5" name="Object 15"/>
          <p:cNvGraphicFramePr>
            <a:graphicFrameLocks noChangeAspect="1"/>
          </p:cNvGraphicFramePr>
          <p:nvPr>
            <p:extLst>
              <p:ext uri="{D42A27DB-BD31-4B8C-83A1-F6EECF244321}">
                <p14:modId xmlns:p14="http://schemas.microsoft.com/office/powerpoint/2010/main" val="3368548137"/>
              </p:ext>
            </p:extLst>
          </p:nvPr>
        </p:nvGraphicFramePr>
        <p:xfrm>
          <a:off x="2277434" y="2985782"/>
          <a:ext cx="1489075" cy="598487"/>
        </p:xfrm>
        <a:graphic>
          <a:graphicData uri="http://schemas.openxmlformats.org/presentationml/2006/ole">
            <mc:AlternateContent xmlns:mc="http://schemas.openxmlformats.org/markup-compatibility/2006">
              <mc:Choice xmlns:v="urn:schemas-microsoft-com:vml" Requires="v">
                <p:oleObj spid="_x0000_s8199" name="公式" r:id="rId5" imgW="596900" imgH="241300" progId="Equation.3">
                  <p:embed/>
                </p:oleObj>
              </mc:Choice>
              <mc:Fallback>
                <p:oleObj name="公式" r:id="rId5" imgW="596900" imgH="2413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7434" y="2985782"/>
                        <a:ext cx="1489075"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6" name="Text Box 16"/>
          <p:cNvSpPr txBox="1">
            <a:spLocks noChangeArrowheads="1"/>
          </p:cNvSpPr>
          <p:nvPr/>
        </p:nvSpPr>
        <p:spPr bwMode="auto">
          <a:xfrm>
            <a:off x="616904" y="1523503"/>
            <a:ext cx="4952543" cy="830997"/>
          </a:xfrm>
          <a:prstGeom prst="rect">
            <a:avLst/>
          </a:prstGeom>
          <a:noFill/>
          <a:ln w="9525">
            <a:noFill/>
            <a:miter lim="800000"/>
            <a:headEnd/>
            <a:tailEnd/>
          </a:ln>
          <a:effectLst/>
        </p:spPr>
        <p:txBody>
          <a:bodyPr wrap="square">
            <a:spAutoFit/>
          </a:bodyPr>
          <a:lstStyle/>
          <a:p>
            <a:pPr eaLnBrk="1" hangingPunct="1">
              <a:defRPr/>
            </a:pPr>
            <a:r>
              <a:rPr lang="zh-CN" altLang="en-US" b="1" dirty="0">
                <a:latin typeface="楷体" panose="02010609060101010101" pitchFamily="49" charset="-122"/>
                <a:ea typeface="楷体" panose="02010609060101010101" pitchFamily="49" charset="-122"/>
              </a:rPr>
              <a:t>力对轴之矩等于该力在与轴垂直的平面上的投影对轴与平面交点之矩。</a:t>
            </a:r>
          </a:p>
        </p:txBody>
      </p:sp>
      <p:sp>
        <p:nvSpPr>
          <p:cNvPr id="10257" name="Text Box 17"/>
          <p:cNvSpPr txBox="1">
            <a:spLocks noChangeArrowheads="1"/>
          </p:cNvSpPr>
          <p:nvPr/>
        </p:nvSpPr>
        <p:spPr bwMode="auto">
          <a:xfrm>
            <a:off x="1115616" y="4757449"/>
            <a:ext cx="648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a:t>
            </a:r>
            <a:r>
              <a:rPr lang="zh-CN" altLang="en-US" b="1" dirty="0">
                <a:latin typeface="楷体" panose="02010609060101010101" pitchFamily="49" charset="-122"/>
                <a:ea typeface="楷体" panose="02010609060101010101" pitchFamily="49" charset="-122"/>
              </a:rPr>
              <a:t>力与轴</a:t>
            </a:r>
            <a:r>
              <a:rPr lang="zh-CN" altLang="en-US" b="1" dirty="0">
                <a:solidFill>
                  <a:srgbClr val="FF0000"/>
                </a:solidFill>
                <a:latin typeface="楷体" panose="02010609060101010101" pitchFamily="49" charset="-122"/>
                <a:ea typeface="楷体" panose="02010609060101010101" pitchFamily="49" charset="-122"/>
              </a:rPr>
              <a:t>平行</a:t>
            </a:r>
            <a:r>
              <a:rPr lang="zh-CN" altLang="en-US" b="1" dirty="0">
                <a:latin typeface="楷体" panose="02010609060101010101" pitchFamily="49" charset="-122"/>
                <a:ea typeface="楷体" panose="02010609060101010101" pitchFamily="49" charset="-122"/>
              </a:rPr>
              <a:t>或</a:t>
            </a:r>
            <a:r>
              <a:rPr lang="zh-CN" altLang="en-US" b="1" dirty="0">
                <a:solidFill>
                  <a:srgbClr val="FF0000"/>
                </a:solidFill>
                <a:latin typeface="楷体" panose="02010609060101010101" pitchFamily="49" charset="-122"/>
                <a:ea typeface="楷体" panose="02010609060101010101" pitchFamily="49" charset="-122"/>
              </a:rPr>
              <a:t>相交</a:t>
            </a:r>
            <a:r>
              <a:rPr lang="zh-CN" altLang="en-US" b="1" dirty="0">
                <a:latin typeface="楷体" panose="02010609060101010101" pitchFamily="49" charset="-122"/>
                <a:ea typeface="楷体" panose="02010609060101010101" pitchFamily="49" charset="-122"/>
              </a:rPr>
              <a:t>时，力对该轴的矩等于零</a:t>
            </a:r>
            <a:r>
              <a:rPr lang="zh-CN" altLang="en-US" b="1" dirty="0"/>
              <a:t>。</a:t>
            </a:r>
          </a:p>
        </p:txBody>
      </p:sp>
      <p:grpSp>
        <p:nvGrpSpPr>
          <p:cNvPr id="2" name="Group 20"/>
          <p:cNvGrpSpPr>
            <a:grpSpLocks/>
          </p:cNvGrpSpPr>
          <p:nvPr/>
        </p:nvGrpSpPr>
        <p:grpSpPr bwMode="auto">
          <a:xfrm>
            <a:off x="5436096" y="1052736"/>
            <a:ext cx="3048000" cy="3246437"/>
            <a:chOff x="3552" y="1056"/>
            <a:chExt cx="1920" cy="2045"/>
          </a:xfrm>
        </p:grpSpPr>
        <p:grpSp>
          <p:nvGrpSpPr>
            <p:cNvPr id="8203" name="Group 21"/>
            <p:cNvGrpSpPr>
              <a:grpSpLocks/>
            </p:cNvGrpSpPr>
            <p:nvPr/>
          </p:nvGrpSpPr>
          <p:grpSpPr bwMode="auto">
            <a:xfrm>
              <a:off x="3552" y="1056"/>
              <a:ext cx="1920" cy="2045"/>
              <a:chOff x="3552" y="1056"/>
              <a:chExt cx="1920" cy="2045"/>
            </a:xfrm>
          </p:grpSpPr>
          <p:pic>
            <p:nvPicPr>
              <p:cNvPr id="8206" name="Picture 22" descr="1-7-1"/>
              <p:cNvPicPr>
                <a:picLocks noChangeAspect="1" noChangeArrowheads="1"/>
              </p:cNvPicPr>
              <p:nvPr/>
            </p:nvPicPr>
            <p:blipFill>
              <a:blip r:embed="rId7">
                <a:lum bright="-6000" contrast="18000"/>
                <a:extLst>
                  <a:ext uri="{28A0092B-C50C-407E-A947-70E740481C1C}">
                    <a14:useLocalDpi xmlns:a14="http://schemas.microsoft.com/office/drawing/2010/main" val="0"/>
                  </a:ext>
                </a:extLst>
              </a:blip>
              <a:srcRect/>
              <a:stretch>
                <a:fillRect/>
              </a:stretch>
            </p:blipFill>
            <p:spPr bwMode="auto">
              <a:xfrm>
                <a:off x="3552" y="1056"/>
                <a:ext cx="1920" cy="1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07" name="Group 23"/>
              <p:cNvGrpSpPr>
                <a:grpSpLocks/>
              </p:cNvGrpSpPr>
              <p:nvPr/>
            </p:nvGrpSpPr>
            <p:grpSpPr bwMode="auto">
              <a:xfrm>
                <a:off x="3712" y="2736"/>
                <a:ext cx="1424" cy="363"/>
                <a:chOff x="3712" y="2736"/>
                <a:chExt cx="1424" cy="363"/>
              </a:xfrm>
            </p:grpSpPr>
            <p:sp>
              <p:nvSpPr>
                <p:cNvPr id="8217" name="Line 24"/>
                <p:cNvSpPr>
                  <a:spLocks noChangeShapeType="1"/>
                </p:cNvSpPr>
                <p:nvPr/>
              </p:nvSpPr>
              <p:spPr bwMode="auto">
                <a:xfrm>
                  <a:off x="4080" y="2736"/>
                  <a:ext cx="1056" cy="0"/>
                </a:xfrm>
                <a:prstGeom prst="line">
                  <a:avLst/>
                </a:prstGeom>
                <a:noFill/>
                <a:ln w="9525">
                  <a:solidFill>
                    <a:srgbClr val="A02C9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8" name="Line 25"/>
                <p:cNvSpPr>
                  <a:spLocks noChangeShapeType="1"/>
                </p:cNvSpPr>
                <p:nvPr/>
              </p:nvSpPr>
              <p:spPr bwMode="auto">
                <a:xfrm flipH="1">
                  <a:off x="3712" y="2736"/>
                  <a:ext cx="368" cy="363"/>
                </a:xfrm>
                <a:prstGeom prst="line">
                  <a:avLst/>
                </a:prstGeom>
                <a:noFill/>
                <a:ln w="9525">
                  <a:solidFill>
                    <a:srgbClr val="A02C9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208" name="Text Box 26"/>
              <p:cNvSpPr txBox="1">
                <a:spLocks noChangeArrowheads="1"/>
              </p:cNvSpPr>
              <p:nvPr/>
            </p:nvSpPr>
            <p:spPr bwMode="auto">
              <a:xfrm>
                <a:off x="3696" y="2928"/>
                <a:ext cx="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i="1">
                    <a:solidFill>
                      <a:srgbClr val="A02C98"/>
                    </a:solidFill>
                  </a:rPr>
                  <a:t>x</a:t>
                </a:r>
              </a:p>
            </p:txBody>
          </p:sp>
          <p:sp>
            <p:nvSpPr>
              <p:cNvPr id="8209" name="Text Box 27"/>
              <p:cNvSpPr txBox="1">
                <a:spLocks noChangeArrowheads="1"/>
              </p:cNvSpPr>
              <p:nvPr/>
            </p:nvSpPr>
            <p:spPr bwMode="auto">
              <a:xfrm>
                <a:off x="5184" y="2688"/>
                <a:ext cx="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i="1">
                    <a:solidFill>
                      <a:srgbClr val="A02C98"/>
                    </a:solidFill>
                  </a:rPr>
                  <a:t>y</a:t>
                </a:r>
              </a:p>
            </p:txBody>
          </p:sp>
          <p:sp>
            <p:nvSpPr>
              <p:cNvPr id="8210" name="Line 28"/>
              <p:cNvSpPr>
                <a:spLocks noChangeShapeType="1"/>
              </p:cNvSpPr>
              <p:nvPr/>
            </p:nvSpPr>
            <p:spPr bwMode="auto">
              <a:xfrm>
                <a:off x="4718" y="2176"/>
                <a:ext cx="0" cy="778"/>
              </a:xfrm>
              <a:prstGeom prst="line">
                <a:avLst/>
              </a:prstGeom>
              <a:noFill/>
              <a:ln w="9525">
                <a:solidFill>
                  <a:srgbClr val="A02C98"/>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1" name="Line 29"/>
              <p:cNvSpPr>
                <a:spLocks noChangeShapeType="1"/>
              </p:cNvSpPr>
              <p:nvPr/>
            </p:nvSpPr>
            <p:spPr bwMode="auto">
              <a:xfrm>
                <a:off x="5012" y="2047"/>
                <a:ext cx="0" cy="755"/>
              </a:xfrm>
              <a:prstGeom prst="line">
                <a:avLst/>
              </a:prstGeom>
              <a:noFill/>
              <a:ln w="9525">
                <a:solidFill>
                  <a:srgbClr val="A02C98"/>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2" name="Line 30"/>
              <p:cNvSpPr>
                <a:spLocks noChangeShapeType="1"/>
              </p:cNvSpPr>
              <p:nvPr/>
            </p:nvSpPr>
            <p:spPr bwMode="auto">
              <a:xfrm flipV="1">
                <a:off x="4407" y="2816"/>
                <a:ext cx="613" cy="256"/>
              </a:xfrm>
              <a:prstGeom prst="line">
                <a:avLst/>
              </a:prstGeom>
              <a:noFill/>
              <a:ln w="9525">
                <a:solidFill>
                  <a:srgbClr val="A02C9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3" name="Line 31"/>
              <p:cNvSpPr>
                <a:spLocks noChangeShapeType="1"/>
              </p:cNvSpPr>
              <p:nvPr/>
            </p:nvSpPr>
            <p:spPr bwMode="auto">
              <a:xfrm>
                <a:off x="4096" y="2744"/>
                <a:ext cx="425" cy="280"/>
              </a:xfrm>
              <a:prstGeom prst="line">
                <a:avLst/>
              </a:prstGeom>
              <a:noFill/>
              <a:ln w="9525">
                <a:solidFill>
                  <a:srgbClr val="A02C9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4" name="AutoShape 32"/>
              <p:cNvSpPr>
                <a:spLocks noChangeArrowheads="1"/>
              </p:cNvSpPr>
              <p:nvPr/>
            </p:nvSpPr>
            <p:spPr bwMode="auto">
              <a:xfrm rot="-1380000">
                <a:off x="4701" y="2864"/>
                <a:ext cx="320" cy="41"/>
              </a:xfrm>
              <a:prstGeom prst="rightArrow">
                <a:avLst>
                  <a:gd name="adj1" fmla="val 50000"/>
                  <a:gd name="adj2" fmla="val 195122"/>
                </a:avLst>
              </a:prstGeom>
              <a:solidFill>
                <a:srgbClr val="A02C98"/>
              </a:solidFill>
              <a:ln w="9525">
                <a:solidFill>
                  <a:srgbClr val="A02C98"/>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15" name="Text Box 33"/>
              <p:cNvSpPr txBox="1">
                <a:spLocks noChangeArrowheads="1"/>
              </p:cNvSpPr>
              <p:nvPr/>
            </p:nvSpPr>
            <p:spPr bwMode="auto">
              <a:xfrm>
                <a:off x="4848" y="2928"/>
                <a:ext cx="2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A02C98"/>
                    </a:solidFill>
                  </a:rPr>
                  <a:t>F</a:t>
                </a:r>
                <a:r>
                  <a:rPr lang="en-US" altLang="zh-CN" sz="1800" i="1" baseline="-25000">
                    <a:solidFill>
                      <a:srgbClr val="A02C98"/>
                    </a:solidFill>
                  </a:rPr>
                  <a:t>xy</a:t>
                </a:r>
                <a:endParaRPr lang="en-US" altLang="zh-CN" sz="1800" i="1">
                  <a:solidFill>
                    <a:srgbClr val="A02C98"/>
                  </a:solidFill>
                </a:endParaRPr>
              </a:p>
            </p:txBody>
          </p:sp>
          <p:sp>
            <p:nvSpPr>
              <p:cNvPr id="8216" name="Text Box 34"/>
              <p:cNvSpPr txBox="1">
                <a:spLocks noChangeArrowheads="1"/>
              </p:cNvSpPr>
              <p:nvPr/>
            </p:nvSpPr>
            <p:spPr bwMode="auto">
              <a:xfrm>
                <a:off x="4254" y="2880"/>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i="1">
                    <a:solidFill>
                      <a:srgbClr val="A02C98"/>
                    </a:solidFill>
                  </a:rPr>
                  <a:t>d</a:t>
                </a:r>
              </a:p>
            </p:txBody>
          </p:sp>
        </p:grpSp>
        <p:sp>
          <p:nvSpPr>
            <p:cNvPr id="8204" name="Text Box 35"/>
            <p:cNvSpPr txBox="1">
              <a:spLocks noChangeArrowheads="1"/>
            </p:cNvSpPr>
            <p:nvPr/>
          </p:nvSpPr>
          <p:spPr bwMode="auto">
            <a:xfrm>
              <a:off x="4233" y="2822"/>
              <a:ext cx="117" cy="2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wrap="none" lIns="36000" tIns="36000" rIns="3600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i="1" dirty="0">
                  <a:solidFill>
                    <a:srgbClr val="CC0066"/>
                  </a:solidFill>
                </a:rPr>
                <a:t>h</a:t>
              </a:r>
            </a:p>
          </p:txBody>
        </p:sp>
        <p:sp>
          <p:nvSpPr>
            <p:cNvPr id="8205" name="Text Box 36"/>
            <p:cNvSpPr txBox="1">
              <a:spLocks noChangeArrowheads="1"/>
            </p:cNvSpPr>
            <p:nvPr/>
          </p:nvSpPr>
          <p:spPr bwMode="auto">
            <a:xfrm>
              <a:off x="4237" y="2115"/>
              <a:ext cx="117" cy="2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wrap="none" lIns="36000" tIns="36000" rIns="3600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i="1" dirty="0">
                  <a:solidFill>
                    <a:srgbClr val="CC0066"/>
                  </a:solidFill>
                </a:rPr>
                <a:t>h</a:t>
              </a:r>
            </a:p>
          </p:txBody>
        </p:sp>
      </p:grpSp>
      <p:sp>
        <p:nvSpPr>
          <p:cNvPr id="10278" name="Rectangle 38"/>
          <p:cNvSpPr>
            <a:spLocks noChangeArrowheads="1"/>
          </p:cNvSpPr>
          <p:nvPr/>
        </p:nvSpPr>
        <p:spPr bwMode="auto">
          <a:xfrm>
            <a:off x="998705" y="3560167"/>
            <a:ext cx="4206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正负号根据右手螺旋法则确定</a:t>
            </a:r>
          </a:p>
        </p:txBody>
      </p:sp>
      <p:sp>
        <p:nvSpPr>
          <p:cNvPr id="10279" name="Text Box 39"/>
          <p:cNvSpPr txBox="1">
            <a:spLocks noChangeArrowheads="1"/>
          </p:cNvSpPr>
          <p:nvPr/>
        </p:nvSpPr>
        <p:spPr bwMode="auto">
          <a:xfrm>
            <a:off x="1115616" y="5333711"/>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a:t>
            </a:r>
            <a:r>
              <a:rPr lang="zh-CN" altLang="en-US" b="1" dirty="0">
                <a:latin typeface="楷体" panose="02010609060101010101" pitchFamily="49" charset="-122"/>
                <a:ea typeface="楷体" panose="02010609060101010101" pitchFamily="49" charset="-122"/>
              </a:rPr>
              <a:t>合力矩定理仍然成立。</a:t>
            </a:r>
          </a:p>
        </p:txBody>
      </p:sp>
      <p:sp>
        <p:nvSpPr>
          <p:cNvPr id="27" name="Text Box 3"/>
          <p:cNvSpPr txBox="1">
            <a:spLocks noChangeArrowheads="1"/>
          </p:cNvSpPr>
          <p:nvPr/>
        </p:nvSpPr>
        <p:spPr bwMode="auto">
          <a:xfrm>
            <a:off x="742322" y="768326"/>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256">
                                            <p:txEl>
                                              <p:pRg st="0" end="0"/>
                                            </p:txEl>
                                          </p:spTgt>
                                        </p:tgtEl>
                                        <p:attrNameLst>
                                          <p:attrName>style.visibility</p:attrName>
                                        </p:attrNameLst>
                                      </p:cBhvr>
                                      <p:to>
                                        <p:strVal val="visible"/>
                                      </p:to>
                                    </p:set>
                                    <p:animEffect transition="in" filter="box(out)">
                                      <p:cBhvr>
                                        <p:cTn id="12" dur="500"/>
                                        <p:tgtEl>
                                          <p:spTgt spid="102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0254"/>
                                        </p:tgtEl>
                                        <p:attrNameLst>
                                          <p:attrName>style.visibility</p:attrName>
                                        </p:attrNameLst>
                                      </p:cBhvr>
                                      <p:to>
                                        <p:strVal val="visible"/>
                                      </p:to>
                                    </p:set>
                                    <p:animEffect transition="in" filter="box(out)">
                                      <p:cBhvr>
                                        <p:cTn id="17" dur="500"/>
                                        <p:tgtEl>
                                          <p:spTgt spid="10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0255"/>
                                        </p:tgtEl>
                                        <p:attrNameLst>
                                          <p:attrName>style.visibility</p:attrName>
                                        </p:attrNameLst>
                                      </p:cBhvr>
                                      <p:to>
                                        <p:strVal val="visible"/>
                                      </p:to>
                                    </p:set>
                                    <p:animEffect transition="in" filter="box(out)">
                                      <p:cBhvr>
                                        <p:cTn id="22" dur="500"/>
                                        <p:tgtEl>
                                          <p:spTgt spid="102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0278"/>
                                        </p:tgtEl>
                                        <p:attrNameLst>
                                          <p:attrName>style.visibility</p:attrName>
                                        </p:attrNameLst>
                                      </p:cBhvr>
                                      <p:to>
                                        <p:strVal val="visible"/>
                                      </p:to>
                                    </p:set>
                                    <p:anim calcmode="lin" valueType="num">
                                      <p:cBhvr>
                                        <p:cTn id="27" dur="500" fill="hold"/>
                                        <p:tgtEl>
                                          <p:spTgt spid="10278"/>
                                        </p:tgtEl>
                                        <p:attrNameLst>
                                          <p:attrName>ppt_x</p:attrName>
                                        </p:attrNameLst>
                                      </p:cBhvr>
                                      <p:tavLst>
                                        <p:tav tm="0">
                                          <p:val>
                                            <p:strVal val="#ppt_x-#ppt_w/2"/>
                                          </p:val>
                                        </p:tav>
                                        <p:tav tm="100000">
                                          <p:val>
                                            <p:strVal val="#ppt_x"/>
                                          </p:val>
                                        </p:tav>
                                      </p:tavLst>
                                    </p:anim>
                                    <p:anim calcmode="lin" valueType="num">
                                      <p:cBhvr>
                                        <p:cTn id="28" dur="500" fill="hold"/>
                                        <p:tgtEl>
                                          <p:spTgt spid="10278"/>
                                        </p:tgtEl>
                                        <p:attrNameLst>
                                          <p:attrName>ppt_y</p:attrName>
                                        </p:attrNameLst>
                                      </p:cBhvr>
                                      <p:tavLst>
                                        <p:tav tm="0">
                                          <p:val>
                                            <p:strVal val="#ppt_y"/>
                                          </p:val>
                                        </p:tav>
                                        <p:tav tm="100000">
                                          <p:val>
                                            <p:strVal val="#ppt_y"/>
                                          </p:val>
                                        </p:tav>
                                      </p:tavLst>
                                    </p:anim>
                                    <p:anim calcmode="lin" valueType="num">
                                      <p:cBhvr>
                                        <p:cTn id="29" dur="500" fill="hold"/>
                                        <p:tgtEl>
                                          <p:spTgt spid="10278"/>
                                        </p:tgtEl>
                                        <p:attrNameLst>
                                          <p:attrName>ppt_w</p:attrName>
                                        </p:attrNameLst>
                                      </p:cBhvr>
                                      <p:tavLst>
                                        <p:tav tm="0">
                                          <p:val>
                                            <p:fltVal val="0"/>
                                          </p:val>
                                        </p:tav>
                                        <p:tav tm="100000">
                                          <p:val>
                                            <p:strVal val="#ppt_w"/>
                                          </p:val>
                                        </p:tav>
                                      </p:tavLst>
                                    </p:anim>
                                    <p:anim calcmode="lin" valueType="num">
                                      <p:cBhvr>
                                        <p:cTn id="30" dur="500" fill="hold"/>
                                        <p:tgtEl>
                                          <p:spTgt spid="10278"/>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257">
                                            <p:txEl>
                                              <p:pRg st="0" end="0"/>
                                            </p:txEl>
                                          </p:spTgt>
                                        </p:tgtEl>
                                        <p:attrNameLst>
                                          <p:attrName>style.visibility</p:attrName>
                                        </p:attrNameLst>
                                      </p:cBhvr>
                                      <p:to>
                                        <p:strVal val="visible"/>
                                      </p:to>
                                    </p:set>
                                    <p:animEffect transition="in" filter="box(out)">
                                      <p:cBhvr>
                                        <p:cTn id="35" dur="500"/>
                                        <p:tgtEl>
                                          <p:spTgt spid="10257">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279">
                                            <p:txEl>
                                              <p:pRg st="0" end="0"/>
                                            </p:txEl>
                                          </p:spTgt>
                                        </p:tgtEl>
                                        <p:attrNameLst>
                                          <p:attrName>style.visibility</p:attrName>
                                        </p:attrNameLst>
                                      </p:cBhvr>
                                      <p:to>
                                        <p:strVal val="visible"/>
                                      </p:to>
                                    </p:set>
                                    <p:animEffect transition="in" filter="box(out)">
                                      <p:cBhvr>
                                        <p:cTn id="40" dur="500"/>
                                        <p:tgtEl>
                                          <p:spTgt spid="102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6" grpId="0" build="p" autoUpdateAnimBg="0"/>
      <p:bldP spid="10257" grpId="0" build="p" autoUpdateAnimBg="0"/>
      <p:bldP spid="10278" grpId="0" autoUpdateAnimBg="0"/>
      <p:bldP spid="1027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117618" y="3499037"/>
            <a:ext cx="6480720" cy="461665"/>
          </a:xfrm>
          <a:prstGeom prst="rect">
            <a:avLst/>
          </a:prstGeom>
          <a:solidFill>
            <a:schemeClr val="accent5">
              <a:lumMod val="40000"/>
              <a:lumOff val="60000"/>
            </a:schemeClr>
          </a:solidFill>
          <a:ln w="9525">
            <a:noFill/>
            <a:miter lim="800000"/>
            <a:headEnd/>
            <a:tailEnd/>
          </a:ln>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力对</a:t>
            </a:r>
            <a:r>
              <a:rPr lang="zh-CN" altLang="en-US" b="1" dirty="0">
                <a:solidFill>
                  <a:srgbClr val="FF0000"/>
                </a:solidFill>
                <a:latin typeface="黑体" panose="02010609060101010101" pitchFamily="49" charset="-122"/>
                <a:ea typeface="黑体" panose="02010609060101010101" pitchFamily="49" charset="-122"/>
              </a:rPr>
              <a:t>点</a:t>
            </a:r>
            <a:r>
              <a:rPr lang="zh-CN" altLang="en-US" b="1" dirty="0">
                <a:latin typeface="黑体" panose="02010609060101010101" pitchFamily="49" charset="-122"/>
                <a:ea typeface="黑体" panose="02010609060101010101" pitchFamily="49" charset="-122"/>
              </a:rPr>
              <a:t>之矩与力对</a:t>
            </a:r>
            <a:r>
              <a:rPr lang="zh-CN" altLang="en-US" b="1" dirty="0">
                <a:solidFill>
                  <a:srgbClr val="FF0000"/>
                </a:solidFill>
                <a:latin typeface="黑体" panose="02010609060101010101" pitchFamily="49" charset="-122"/>
                <a:ea typeface="黑体" panose="02010609060101010101" pitchFamily="49" charset="-122"/>
              </a:rPr>
              <a:t>轴</a:t>
            </a:r>
            <a:r>
              <a:rPr lang="zh-CN" altLang="en-US" b="1" dirty="0">
                <a:latin typeface="黑体" panose="02010609060101010101" pitchFamily="49" charset="-122"/>
                <a:ea typeface="黑体" panose="02010609060101010101" pitchFamily="49" charset="-122"/>
              </a:rPr>
              <a:t>之矩的关系</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力矩关系定律</a:t>
            </a:r>
          </a:p>
        </p:txBody>
      </p:sp>
      <p:graphicFrame>
        <p:nvGraphicFramePr>
          <p:cNvPr id="11268" name="Object 4"/>
          <p:cNvGraphicFramePr>
            <a:graphicFrameLocks noChangeAspect="1"/>
          </p:cNvGraphicFramePr>
          <p:nvPr>
            <p:extLst>
              <p:ext uri="{D42A27DB-BD31-4B8C-83A1-F6EECF244321}">
                <p14:modId xmlns:p14="http://schemas.microsoft.com/office/powerpoint/2010/main" val="3822153305"/>
              </p:ext>
            </p:extLst>
          </p:nvPr>
        </p:nvGraphicFramePr>
        <p:xfrm>
          <a:off x="1452353" y="5926187"/>
          <a:ext cx="5951670" cy="503956"/>
        </p:xfrm>
        <a:graphic>
          <a:graphicData uri="http://schemas.openxmlformats.org/presentationml/2006/ole">
            <mc:AlternateContent xmlns:mc="http://schemas.openxmlformats.org/markup-compatibility/2006">
              <mc:Choice xmlns:v="urn:schemas-microsoft-com:vml" Requires="v">
                <p:oleObj spid="_x0000_s9226" name="Equation" r:id="rId3" imgW="4927600" imgH="419100" progId="Equation.3">
                  <p:embed/>
                </p:oleObj>
              </mc:Choice>
              <mc:Fallback>
                <p:oleObj name="Equation" r:id="rId3" imgW="49276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2353" y="5926187"/>
                        <a:ext cx="5951670" cy="503956"/>
                      </a:xfrm>
                      <a:prstGeom prst="rect">
                        <a:avLst/>
                      </a:prstGeom>
                      <a:noFill/>
                      <a:ln>
                        <a:noFill/>
                      </a:ln>
                      <a:effectLst/>
                    </p:spPr>
                  </p:pic>
                </p:oleObj>
              </mc:Fallback>
            </mc:AlternateContent>
          </a:graphicData>
        </a:graphic>
      </p:graphicFrame>
      <p:graphicFrame>
        <p:nvGraphicFramePr>
          <p:cNvPr id="11270" name="Object 6"/>
          <p:cNvGraphicFramePr>
            <a:graphicFrameLocks noChangeAspect="1"/>
          </p:cNvGraphicFramePr>
          <p:nvPr>
            <p:extLst>
              <p:ext uri="{D42A27DB-BD31-4B8C-83A1-F6EECF244321}">
                <p14:modId xmlns:p14="http://schemas.microsoft.com/office/powerpoint/2010/main" val="3963845420"/>
              </p:ext>
            </p:extLst>
          </p:nvPr>
        </p:nvGraphicFramePr>
        <p:xfrm>
          <a:off x="4881434" y="650319"/>
          <a:ext cx="2838707" cy="2697287"/>
        </p:xfrm>
        <a:graphic>
          <a:graphicData uri="http://schemas.openxmlformats.org/presentationml/2006/ole">
            <mc:AlternateContent xmlns:mc="http://schemas.openxmlformats.org/markup-compatibility/2006">
              <mc:Choice xmlns:v="urn:schemas-microsoft-com:vml" Requires="v">
                <p:oleObj spid="_x0000_s9227" name="BMP 图像" r:id="rId5" imgW="1933333" imgH="1838095" progId="Paint.Picture">
                  <p:embed/>
                </p:oleObj>
              </mc:Choice>
              <mc:Fallback>
                <p:oleObj name="BMP 图像" r:id="rId5" imgW="1933333" imgH="1838095" progId="Paint.Picture">
                  <p:embed/>
                  <p:pic>
                    <p:nvPicPr>
                      <p:cNvPr id="0" name="Object 6"/>
                      <p:cNvPicPr>
                        <a:picLocks noChangeAspect="1" noChangeArrowheads="1"/>
                      </p:cNvPicPr>
                      <p:nvPr/>
                    </p:nvPicPr>
                    <p:blipFill>
                      <a:blip r:embed="rId6">
                        <a:lum contrast="36000"/>
                        <a:extLst>
                          <a:ext uri="{28A0092B-C50C-407E-A947-70E740481C1C}">
                            <a14:useLocalDpi xmlns:a14="http://schemas.microsoft.com/office/drawing/2010/main" val="0"/>
                          </a:ext>
                        </a:extLst>
                      </a:blip>
                      <a:srcRect/>
                      <a:stretch>
                        <a:fillRect/>
                      </a:stretch>
                    </p:blipFill>
                    <p:spPr bwMode="auto">
                      <a:xfrm>
                        <a:off x="4881434" y="650319"/>
                        <a:ext cx="2838707" cy="2697287"/>
                      </a:xfrm>
                      <a:prstGeom prst="rect">
                        <a:avLst/>
                      </a:prstGeom>
                      <a:noFill/>
                      <a:ln>
                        <a:noFill/>
                      </a:ln>
                      <a:effectLst/>
                    </p:spPr>
                  </p:pic>
                </p:oleObj>
              </mc:Fallback>
            </mc:AlternateContent>
          </a:graphicData>
        </a:graphic>
      </p:graphicFrame>
      <p:sp>
        <p:nvSpPr>
          <p:cNvPr id="11271" name="Text Box 7"/>
          <p:cNvSpPr txBox="1">
            <a:spLocks noChangeArrowheads="1"/>
          </p:cNvSpPr>
          <p:nvPr/>
        </p:nvSpPr>
        <p:spPr bwMode="auto">
          <a:xfrm>
            <a:off x="1256539" y="1133331"/>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力对轴之矩的解析式</a:t>
            </a:r>
          </a:p>
        </p:txBody>
      </p:sp>
      <p:graphicFrame>
        <p:nvGraphicFramePr>
          <p:cNvPr id="11273" name="Object 9"/>
          <p:cNvGraphicFramePr>
            <a:graphicFrameLocks noChangeAspect="1"/>
          </p:cNvGraphicFramePr>
          <p:nvPr>
            <p:extLst>
              <p:ext uri="{D42A27DB-BD31-4B8C-83A1-F6EECF244321}">
                <p14:modId xmlns:p14="http://schemas.microsoft.com/office/powerpoint/2010/main" val="2556047990"/>
              </p:ext>
            </p:extLst>
          </p:nvPr>
        </p:nvGraphicFramePr>
        <p:xfrm>
          <a:off x="1455584" y="1762342"/>
          <a:ext cx="2602283" cy="1501565"/>
        </p:xfrm>
        <a:graphic>
          <a:graphicData uri="http://schemas.openxmlformats.org/presentationml/2006/ole">
            <mc:AlternateContent xmlns:mc="http://schemas.openxmlformats.org/markup-compatibility/2006">
              <mc:Choice xmlns:v="urn:schemas-microsoft-com:vml" Requires="v">
                <p:oleObj spid="_x0000_s9228" name="Equation" r:id="rId7" imgW="2552700" imgH="1473200" progId="Equation.3">
                  <p:embed/>
                </p:oleObj>
              </mc:Choice>
              <mc:Fallback>
                <p:oleObj name="Equation" r:id="rId7" imgW="2552700" imgH="1473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5584" y="1762342"/>
                        <a:ext cx="2602283" cy="1501565"/>
                      </a:xfrm>
                      <a:prstGeom prst="rect">
                        <a:avLst/>
                      </a:prstGeom>
                      <a:noFill/>
                      <a:ln>
                        <a:noFill/>
                      </a:ln>
                      <a:effectLst/>
                    </p:spPr>
                  </p:pic>
                </p:oleObj>
              </mc:Fallback>
            </mc:AlternateContent>
          </a:graphicData>
        </a:graphic>
      </p:graphicFrame>
      <p:graphicFrame>
        <p:nvGraphicFramePr>
          <p:cNvPr id="11274" name="Object 10"/>
          <p:cNvGraphicFramePr>
            <a:graphicFrameLocks noChangeAspect="1"/>
          </p:cNvGraphicFramePr>
          <p:nvPr>
            <p:extLst>
              <p:ext uri="{D42A27DB-BD31-4B8C-83A1-F6EECF244321}">
                <p14:modId xmlns:p14="http://schemas.microsoft.com/office/powerpoint/2010/main" val="2193061783"/>
              </p:ext>
            </p:extLst>
          </p:nvPr>
        </p:nvGraphicFramePr>
        <p:xfrm>
          <a:off x="1763688" y="4132328"/>
          <a:ext cx="2957923" cy="1624012"/>
        </p:xfrm>
        <a:graphic>
          <a:graphicData uri="http://schemas.openxmlformats.org/presentationml/2006/ole">
            <mc:AlternateContent xmlns:mc="http://schemas.openxmlformats.org/markup-compatibility/2006">
              <mc:Choice xmlns:v="urn:schemas-microsoft-com:vml" Requires="v">
                <p:oleObj spid="_x0000_s9229" name="Equation" r:id="rId9" imgW="1285875" imgH="704850" progId="Equation.3">
                  <p:embed/>
                </p:oleObj>
              </mc:Choice>
              <mc:Fallback>
                <p:oleObj name="Equation" r:id="rId9" imgW="1285875" imgH="70485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132328"/>
                        <a:ext cx="2957923" cy="1624012"/>
                      </a:xfrm>
                      <a:prstGeom prst="rect">
                        <a:avLst/>
                      </a:prstGeom>
                      <a:noFill/>
                      <a:ln>
                        <a:noFill/>
                      </a:ln>
                      <a:effectLst/>
                    </p:spPr>
                  </p:pic>
                </p:oleObj>
              </mc:Fallback>
            </mc:AlternateContent>
          </a:graphicData>
        </a:graphic>
      </p:graphicFrame>
      <p:sp>
        <p:nvSpPr>
          <p:cNvPr id="11275" name="Text Box 11"/>
          <p:cNvSpPr txBox="1">
            <a:spLocks noChangeArrowheads="1"/>
          </p:cNvSpPr>
          <p:nvPr/>
        </p:nvSpPr>
        <p:spPr bwMode="auto">
          <a:xfrm>
            <a:off x="5199191" y="4159504"/>
            <a:ext cx="25209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力对点之矩矢量在过该点之轴上的投影等于该力对该轴之矩</a:t>
            </a:r>
            <a:r>
              <a:rPr lang="en-US" altLang="zh-CN" b="1" dirty="0">
                <a:latin typeface="黑体" panose="02010609060101010101" pitchFamily="49" charset="-122"/>
                <a:ea typeface="黑体" panose="02010609060101010101" pitchFamily="49" charset="-122"/>
              </a:rPr>
              <a:t>.</a:t>
            </a:r>
          </a:p>
        </p:txBody>
      </p:sp>
      <p:sp>
        <p:nvSpPr>
          <p:cNvPr id="9" name="Text Box 3"/>
          <p:cNvSpPr txBox="1">
            <a:spLocks noChangeArrowheads="1"/>
          </p:cNvSpPr>
          <p:nvPr/>
        </p:nvSpPr>
        <p:spPr bwMode="auto">
          <a:xfrm>
            <a:off x="738188" y="549137"/>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sp>
        <p:nvSpPr>
          <p:cNvPr id="10" name="Rectangle 93"/>
          <p:cNvSpPr>
            <a:spLocks noChangeArrowheads="1"/>
          </p:cNvSpPr>
          <p:nvPr/>
        </p:nvSpPr>
        <p:spPr bwMode="auto">
          <a:xfrm>
            <a:off x="1256539" y="1730014"/>
            <a:ext cx="3000375" cy="1571625"/>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271">
                                            <p:txEl>
                                              <p:pRg st="0" end="0"/>
                                            </p:txEl>
                                          </p:spTgt>
                                        </p:tgtEl>
                                        <p:attrNameLst>
                                          <p:attrName>style.visibility</p:attrName>
                                        </p:attrNameLst>
                                      </p:cBhvr>
                                      <p:to>
                                        <p:strVal val="visible"/>
                                      </p:to>
                                    </p:set>
                                    <p:animEffect transition="in" filter="box(out)">
                                      <p:cBhvr>
                                        <p:cTn id="7" dur="500"/>
                                        <p:tgtEl>
                                          <p:spTgt spid="112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1270"/>
                                        </p:tgtEl>
                                        <p:attrNameLst>
                                          <p:attrName>style.visibility</p:attrName>
                                        </p:attrNameLst>
                                      </p:cBhvr>
                                      <p:to>
                                        <p:strVal val="visible"/>
                                      </p:to>
                                    </p:set>
                                    <p:animEffect transition="in" filter="box(out)">
                                      <p:cBhvr>
                                        <p:cTn id="12" dur="500"/>
                                        <p:tgtEl>
                                          <p:spTgt spid="112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1273"/>
                                        </p:tgtEl>
                                        <p:attrNameLst>
                                          <p:attrName>style.visibility</p:attrName>
                                        </p:attrNameLst>
                                      </p:cBhvr>
                                      <p:to>
                                        <p:strVal val="visible"/>
                                      </p:to>
                                    </p:set>
                                    <p:animEffect transition="in" filter="box(out)">
                                      <p:cBhvr>
                                        <p:cTn id="17" dur="500"/>
                                        <p:tgtEl>
                                          <p:spTgt spid="112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1" presetClass="entr" presetSubtype="0" fill="hold" grpId="0" nodeType="clickEffect">
                                  <p:stCondLst>
                                    <p:cond delay="0"/>
                                  </p:stCondLst>
                                  <p:childTnLst>
                                    <p:set>
                                      <p:cBhvr>
                                        <p:cTn id="21" dur="1000">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1266"/>
                                        </p:tgtEl>
                                        <p:attrNameLst>
                                          <p:attrName>style.visibility</p:attrName>
                                        </p:attrNameLst>
                                      </p:cBhvr>
                                      <p:to>
                                        <p:strVal val="visible"/>
                                      </p:to>
                                    </p:set>
                                    <p:animEffect transition="in" filter="strips(downRight)">
                                      <p:cBhvr>
                                        <p:cTn id="26" dur="500"/>
                                        <p:tgtEl>
                                          <p:spTgt spid="11266"/>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274"/>
                                        </p:tgtEl>
                                        <p:attrNameLst>
                                          <p:attrName>style.visibility</p:attrName>
                                        </p:attrNameLst>
                                      </p:cBhvr>
                                      <p:to>
                                        <p:strVal val="visible"/>
                                      </p:to>
                                    </p:set>
                                    <p:animEffect transition="in" filter="box(out)">
                                      <p:cBhvr>
                                        <p:cTn id="31" dur="500"/>
                                        <p:tgtEl>
                                          <p:spTgt spid="1127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275"/>
                                        </p:tgtEl>
                                        <p:attrNameLst>
                                          <p:attrName>style.visibility</p:attrName>
                                        </p:attrNameLst>
                                      </p:cBhvr>
                                      <p:to>
                                        <p:strVal val="visible"/>
                                      </p:to>
                                    </p:set>
                                    <p:animEffect transition="in" filter="box(out)">
                                      <p:cBhvr>
                                        <p:cTn id="36" dur="500"/>
                                        <p:tgtEl>
                                          <p:spTgt spid="1127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268"/>
                                        </p:tgtEl>
                                        <p:attrNameLst>
                                          <p:attrName>style.visibility</p:attrName>
                                        </p:attrNameLst>
                                      </p:cBhvr>
                                      <p:to>
                                        <p:strVal val="visible"/>
                                      </p:to>
                                    </p:set>
                                    <p:animEffect transition="in" filter="box(out)">
                                      <p:cBhvr>
                                        <p:cTn id="41"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p:bldP spid="11271" grpId="0" build="p" autoUpdateAnimBg="0"/>
      <p:bldP spid="11275" grpId="0" autoUpdateAnimBg="0"/>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70679" y="583021"/>
            <a:ext cx="54956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 在图示长方体的顶点</a:t>
            </a:r>
            <a:r>
              <a:rPr lang="en-US" altLang="zh-CN" i="1" dirty="0">
                <a:latin typeface="+mn-lt"/>
                <a:ea typeface="楷体" panose="02010609060101010101" pitchFamily="49" charset="-122"/>
              </a:rPr>
              <a:t>B</a:t>
            </a:r>
            <a:r>
              <a:rPr lang="zh-CN" altLang="en-US" b="1" dirty="0">
                <a:latin typeface="楷体" panose="02010609060101010101" pitchFamily="49" charset="-122"/>
                <a:ea typeface="楷体" panose="02010609060101010101" pitchFamily="49" charset="-122"/>
              </a:rPr>
              <a:t>处作用一力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a:t>
            </a:r>
            <a:r>
              <a:rPr lang="en-US" altLang="zh-CN" i="1" dirty="0">
                <a:latin typeface="+mn-lt"/>
                <a:ea typeface="楷体" panose="02010609060101010101" pitchFamily="49" charset="-122"/>
              </a:rPr>
              <a:t>F</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700N</a:t>
            </a:r>
            <a:r>
              <a:rPr lang="zh-CN" altLang="en-US" b="1" dirty="0">
                <a:latin typeface="楷体" panose="02010609060101010101" pitchFamily="49" charset="-122"/>
                <a:ea typeface="楷体" panose="02010609060101010101" pitchFamily="49" charset="-122"/>
              </a:rPr>
              <a:t>。分别求力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对各坐标轴之矩，并写出力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之矩矢量</a:t>
            </a:r>
            <a:r>
              <a:rPr lang="en-US" altLang="zh-CN" b="1" i="1" dirty="0">
                <a:latin typeface="+mn-lt"/>
                <a:ea typeface="楷体" panose="02010609060101010101" pitchFamily="49" charset="-122"/>
              </a:rPr>
              <a:t>M</a:t>
            </a:r>
            <a:r>
              <a:rPr lang="en-US" altLang="zh-CN" b="1" i="1" baseline="-25000" dirty="0">
                <a:latin typeface="+mn-lt"/>
                <a:ea typeface="楷体" panose="02010609060101010101" pitchFamily="49" charset="-122"/>
              </a:rPr>
              <a:t>O</a:t>
            </a:r>
            <a:r>
              <a:rPr lang="en-US" altLang="zh-CN" b="1" dirty="0">
                <a:latin typeface="+mn-lt"/>
                <a:ea typeface="楷体" panose="02010609060101010101" pitchFamily="49" charset="-122"/>
              </a:rPr>
              <a:t>(</a:t>
            </a:r>
            <a:r>
              <a:rPr lang="en-US" altLang="zh-CN" b="1" i="1" dirty="0">
                <a:latin typeface="+mn-lt"/>
                <a:ea typeface="楷体" panose="02010609060101010101" pitchFamily="49" charset="-122"/>
              </a:rPr>
              <a:t>F</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 </a:t>
            </a:r>
          </a:p>
        </p:txBody>
      </p:sp>
      <p:pic>
        <p:nvPicPr>
          <p:cNvPr id="10244" name="Picture 4" descr="题图2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627041"/>
            <a:ext cx="27432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17" name="Object 5"/>
          <p:cNvGraphicFramePr>
            <a:graphicFrameLocks noChangeAspect="1"/>
          </p:cNvGraphicFramePr>
          <p:nvPr>
            <p:extLst>
              <p:ext uri="{D42A27DB-BD31-4B8C-83A1-F6EECF244321}">
                <p14:modId xmlns:p14="http://schemas.microsoft.com/office/powerpoint/2010/main" val="1176033493"/>
              </p:ext>
            </p:extLst>
          </p:nvPr>
        </p:nvGraphicFramePr>
        <p:xfrm>
          <a:off x="1602101" y="2355772"/>
          <a:ext cx="2463800" cy="342900"/>
        </p:xfrm>
        <a:graphic>
          <a:graphicData uri="http://schemas.openxmlformats.org/presentationml/2006/ole">
            <mc:AlternateContent xmlns:mc="http://schemas.openxmlformats.org/markup-compatibility/2006">
              <mc:Choice xmlns:v="urn:schemas-microsoft-com:vml" Requires="v">
                <p:oleObj spid="_x0000_s10254" name="Equation" r:id="rId4" imgW="2463800" imgH="342900" progId="Equation.3">
                  <p:embed/>
                </p:oleObj>
              </mc:Choice>
              <mc:Fallback>
                <p:oleObj name="Equation" r:id="rId4" imgW="2463800" imgH="3429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2101" y="2355772"/>
                        <a:ext cx="24638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p:cNvGraphicFramePr>
            <a:graphicFrameLocks noChangeAspect="1"/>
          </p:cNvGraphicFramePr>
          <p:nvPr>
            <p:extLst>
              <p:ext uri="{D42A27DB-BD31-4B8C-83A1-F6EECF244321}">
                <p14:modId xmlns:p14="http://schemas.microsoft.com/office/powerpoint/2010/main" val="1401896044"/>
              </p:ext>
            </p:extLst>
          </p:nvPr>
        </p:nvGraphicFramePr>
        <p:xfrm>
          <a:off x="743722" y="2855833"/>
          <a:ext cx="5067300" cy="444500"/>
        </p:xfrm>
        <a:graphic>
          <a:graphicData uri="http://schemas.openxmlformats.org/presentationml/2006/ole">
            <mc:AlternateContent xmlns:mc="http://schemas.openxmlformats.org/markup-compatibility/2006">
              <mc:Choice xmlns:v="urn:schemas-microsoft-com:vml" Requires="v">
                <p:oleObj spid="_x0000_s10255" name="Equation" r:id="rId6" imgW="5067300" imgH="444500" progId="Equation.3">
                  <p:embed/>
                </p:oleObj>
              </mc:Choice>
              <mc:Fallback>
                <p:oleObj name="Equation" r:id="rId6" imgW="5067300" imgH="4445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722" y="2855833"/>
                        <a:ext cx="5067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Rectangle 8"/>
          <p:cNvSpPr>
            <a:spLocks noChangeArrowheads="1"/>
          </p:cNvSpPr>
          <p:nvPr/>
        </p:nvSpPr>
        <p:spPr bwMode="auto">
          <a:xfrm>
            <a:off x="876462" y="3404355"/>
            <a:ext cx="4767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矢量对三个坐标轴的矩为：</a:t>
            </a:r>
          </a:p>
        </p:txBody>
      </p:sp>
      <p:sp>
        <p:nvSpPr>
          <p:cNvPr id="13325" name="Rectangle 13"/>
          <p:cNvSpPr>
            <a:spLocks noChangeArrowheads="1"/>
          </p:cNvSpPr>
          <p:nvPr/>
        </p:nvSpPr>
        <p:spPr bwMode="auto">
          <a:xfrm>
            <a:off x="601976" y="5664778"/>
            <a:ext cx="326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之矩为：</a:t>
            </a:r>
          </a:p>
        </p:txBody>
      </p:sp>
      <p:graphicFrame>
        <p:nvGraphicFramePr>
          <p:cNvPr id="13326" name="Object 14"/>
          <p:cNvGraphicFramePr>
            <a:graphicFrameLocks noChangeAspect="1"/>
          </p:cNvGraphicFramePr>
          <p:nvPr>
            <p:extLst>
              <p:ext uri="{D42A27DB-BD31-4B8C-83A1-F6EECF244321}">
                <p14:modId xmlns:p14="http://schemas.microsoft.com/office/powerpoint/2010/main" val="4247048220"/>
              </p:ext>
            </p:extLst>
          </p:nvPr>
        </p:nvGraphicFramePr>
        <p:xfrm>
          <a:off x="3582055" y="5664778"/>
          <a:ext cx="4968552" cy="484115"/>
        </p:xfrm>
        <a:graphic>
          <a:graphicData uri="http://schemas.openxmlformats.org/presentationml/2006/ole">
            <mc:AlternateContent xmlns:mc="http://schemas.openxmlformats.org/markup-compatibility/2006">
              <mc:Choice xmlns:v="urn:schemas-microsoft-com:vml" Requires="v">
                <p:oleObj spid="_x0000_s10256" name="Equation" r:id="rId8" imgW="2476440" imgH="241200" progId="Equation.DSMT4">
                  <p:embed/>
                </p:oleObj>
              </mc:Choice>
              <mc:Fallback>
                <p:oleObj name="Equation" r:id="rId8" imgW="2476440" imgH="241200" progId="Equation.DSMT4">
                  <p:embed/>
                  <p:pic>
                    <p:nvPicPr>
                      <p:cNvPr id="0" name="Object 14"/>
                      <p:cNvPicPr>
                        <a:picLocks noChangeAspect="1" noChangeArrowheads="1"/>
                      </p:cNvPicPr>
                      <p:nvPr/>
                    </p:nvPicPr>
                    <p:blipFill>
                      <a:blip r:embed="rId9"/>
                      <a:srcRect/>
                      <a:stretch>
                        <a:fillRect/>
                      </a:stretch>
                    </p:blipFill>
                    <p:spPr bwMode="auto">
                      <a:xfrm>
                        <a:off x="3582055" y="5664778"/>
                        <a:ext cx="4968552" cy="484115"/>
                      </a:xfrm>
                      <a:prstGeom prst="rect">
                        <a:avLst/>
                      </a:prstGeom>
                      <a:noFill/>
                      <a:ln>
                        <a:noFill/>
                      </a:ln>
                      <a:effectLst/>
                    </p:spPr>
                  </p:pic>
                </p:oleObj>
              </mc:Fallback>
            </mc:AlternateContent>
          </a:graphicData>
        </a:graphic>
      </p:graphicFrame>
      <p:sp>
        <p:nvSpPr>
          <p:cNvPr id="16" name="Text Box 2"/>
          <p:cNvSpPr txBox="1">
            <a:spLocks noChangeArrowheads="1"/>
          </p:cNvSpPr>
          <p:nvPr/>
        </p:nvSpPr>
        <p:spPr bwMode="auto">
          <a:xfrm>
            <a:off x="601976" y="1828722"/>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矢量作用点坐标为：</a:t>
            </a:r>
          </a:p>
        </p:txBody>
      </p:sp>
      <p:graphicFrame>
        <p:nvGraphicFramePr>
          <p:cNvPr id="17" name="Object 9"/>
          <p:cNvGraphicFramePr>
            <a:graphicFrameLocks noChangeAspect="1"/>
          </p:cNvGraphicFramePr>
          <p:nvPr>
            <p:extLst>
              <p:ext uri="{D42A27DB-BD31-4B8C-83A1-F6EECF244321}">
                <p14:modId xmlns:p14="http://schemas.microsoft.com/office/powerpoint/2010/main" val="12137964"/>
              </p:ext>
            </p:extLst>
          </p:nvPr>
        </p:nvGraphicFramePr>
        <p:xfrm>
          <a:off x="573801" y="3904421"/>
          <a:ext cx="7848872" cy="537901"/>
        </p:xfrm>
        <a:graphic>
          <a:graphicData uri="http://schemas.openxmlformats.org/presentationml/2006/ole">
            <mc:AlternateContent xmlns:mc="http://schemas.openxmlformats.org/markup-compatibility/2006">
              <mc:Choice xmlns:v="urn:schemas-microsoft-com:vml" Requires="v">
                <p:oleObj spid="_x0000_s10257" name="Equation" r:id="rId10" imgW="3898900" imgH="266700" progId="Equation.DSMT4">
                  <p:embed/>
                </p:oleObj>
              </mc:Choice>
              <mc:Fallback>
                <p:oleObj name="Equation" r:id="rId10" imgW="3898900" imgH="266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3801" y="3904421"/>
                        <a:ext cx="7848872" cy="537901"/>
                      </a:xfrm>
                      <a:prstGeom prst="rect">
                        <a:avLst/>
                      </a:prstGeom>
                      <a:noFill/>
                      <a:ln>
                        <a:noFill/>
                      </a:ln>
                      <a:effectLst/>
                    </p:spPr>
                  </p:pic>
                </p:oleObj>
              </mc:Fallback>
            </mc:AlternateContent>
          </a:graphicData>
        </a:graphic>
      </p:graphicFrame>
      <p:graphicFrame>
        <p:nvGraphicFramePr>
          <p:cNvPr id="13" name="Object 9"/>
          <p:cNvGraphicFramePr>
            <a:graphicFrameLocks noChangeAspect="1"/>
          </p:cNvGraphicFramePr>
          <p:nvPr>
            <p:extLst>
              <p:ext uri="{D42A27DB-BD31-4B8C-83A1-F6EECF244321}">
                <p14:modId xmlns:p14="http://schemas.microsoft.com/office/powerpoint/2010/main" val="771789160"/>
              </p:ext>
            </p:extLst>
          </p:nvPr>
        </p:nvGraphicFramePr>
        <p:xfrm>
          <a:off x="911997" y="4480422"/>
          <a:ext cx="4730750" cy="538163"/>
        </p:xfrm>
        <a:graphic>
          <a:graphicData uri="http://schemas.openxmlformats.org/presentationml/2006/ole">
            <mc:AlternateContent xmlns:mc="http://schemas.openxmlformats.org/markup-compatibility/2006">
              <mc:Choice xmlns:v="urn:schemas-microsoft-com:vml" Requires="v">
                <p:oleObj spid="_x0000_s10258" name="Equation" r:id="rId12" imgW="2349360" imgH="266400" progId="Equation.DSMT4">
                  <p:embed/>
                </p:oleObj>
              </mc:Choice>
              <mc:Fallback>
                <p:oleObj name="Equation" r:id="rId12" imgW="2349360" imgH="266400" progId="Equation.DSMT4">
                  <p:embed/>
                  <p:pic>
                    <p:nvPicPr>
                      <p:cNvPr id="0" name=""/>
                      <p:cNvPicPr>
                        <a:picLocks noChangeAspect="1" noChangeArrowheads="1"/>
                      </p:cNvPicPr>
                      <p:nvPr/>
                    </p:nvPicPr>
                    <p:blipFill>
                      <a:blip r:embed="rId13"/>
                      <a:srcRect/>
                      <a:stretch>
                        <a:fillRect/>
                      </a:stretch>
                    </p:blipFill>
                    <p:spPr bwMode="auto">
                      <a:xfrm>
                        <a:off x="911997" y="4480422"/>
                        <a:ext cx="4730750" cy="538163"/>
                      </a:xfrm>
                      <a:prstGeom prst="rect">
                        <a:avLst/>
                      </a:prstGeom>
                      <a:noFill/>
                      <a:ln>
                        <a:noFill/>
                      </a:ln>
                      <a:effectLst/>
                    </p:spPr>
                  </p:pic>
                </p:oleObj>
              </mc:Fallback>
            </mc:AlternateContent>
          </a:graphicData>
        </a:graphic>
      </p:graphicFrame>
      <p:graphicFrame>
        <p:nvGraphicFramePr>
          <p:cNvPr id="14" name="Object 9"/>
          <p:cNvGraphicFramePr>
            <a:graphicFrameLocks noChangeAspect="1"/>
          </p:cNvGraphicFramePr>
          <p:nvPr>
            <p:extLst>
              <p:ext uri="{D42A27DB-BD31-4B8C-83A1-F6EECF244321}">
                <p14:modId xmlns:p14="http://schemas.microsoft.com/office/powerpoint/2010/main" val="547676060"/>
              </p:ext>
            </p:extLst>
          </p:nvPr>
        </p:nvGraphicFramePr>
        <p:xfrm>
          <a:off x="941701" y="5078950"/>
          <a:ext cx="3784600" cy="487363"/>
        </p:xfrm>
        <a:graphic>
          <a:graphicData uri="http://schemas.openxmlformats.org/presentationml/2006/ole">
            <mc:AlternateContent xmlns:mc="http://schemas.openxmlformats.org/markup-compatibility/2006">
              <mc:Choice xmlns:v="urn:schemas-microsoft-com:vml" Requires="v">
                <p:oleObj spid="_x0000_s10259" name="Equation" r:id="rId14" imgW="1879560" imgH="241200" progId="Equation.DSMT4">
                  <p:embed/>
                </p:oleObj>
              </mc:Choice>
              <mc:Fallback>
                <p:oleObj name="Equation" r:id="rId14" imgW="1879560" imgH="241200" progId="Equation.DSMT4">
                  <p:embed/>
                  <p:pic>
                    <p:nvPicPr>
                      <p:cNvPr id="0" name=""/>
                      <p:cNvPicPr>
                        <a:picLocks noChangeAspect="1" noChangeArrowheads="1"/>
                      </p:cNvPicPr>
                      <p:nvPr/>
                    </p:nvPicPr>
                    <p:blipFill>
                      <a:blip r:embed="rId15"/>
                      <a:srcRect/>
                      <a:stretch>
                        <a:fillRect/>
                      </a:stretch>
                    </p:blipFill>
                    <p:spPr bwMode="auto">
                      <a:xfrm>
                        <a:off x="941701" y="5078950"/>
                        <a:ext cx="3784600" cy="487363"/>
                      </a:xfrm>
                      <a:prstGeom prst="rect">
                        <a:avLst/>
                      </a:prstGeom>
                      <a:noFill/>
                      <a:ln>
                        <a:noFill/>
                      </a:ln>
                      <a:effectLst/>
                    </p:spPr>
                  </p:pic>
                </p:oleObj>
              </mc:Fallback>
            </mc:AlternateContent>
          </a:graphicData>
        </a:graphic>
      </p:graphicFrame>
      <p:grpSp>
        <p:nvGrpSpPr>
          <p:cNvPr id="2" name="组合 1"/>
          <p:cNvGrpSpPr/>
          <p:nvPr/>
        </p:nvGrpSpPr>
        <p:grpSpPr>
          <a:xfrm>
            <a:off x="6984223" y="1171803"/>
            <a:ext cx="1413516" cy="1526791"/>
            <a:chOff x="6984344" y="1164604"/>
            <a:chExt cx="1413516" cy="1526791"/>
          </a:xfrm>
        </p:grpSpPr>
        <p:sp>
          <p:nvSpPr>
            <p:cNvPr id="15" name="Line 17"/>
            <p:cNvSpPr>
              <a:spLocks noChangeShapeType="1"/>
            </p:cNvSpPr>
            <p:nvPr/>
          </p:nvSpPr>
          <p:spPr bwMode="auto">
            <a:xfrm flipH="1">
              <a:off x="6984344" y="2363360"/>
              <a:ext cx="684000"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7"/>
            <p:cNvSpPr>
              <a:spLocks noChangeShapeType="1"/>
            </p:cNvSpPr>
            <p:nvPr/>
          </p:nvSpPr>
          <p:spPr bwMode="auto">
            <a:xfrm rot="5400000" flipH="1">
              <a:off x="7353581" y="2021360"/>
              <a:ext cx="684000"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6"/>
            <p:cNvSpPr>
              <a:spLocks noChangeShapeType="1"/>
            </p:cNvSpPr>
            <p:nvPr/>
          </p:nvSpPr>
          <p:spPr bwMode="auto">
            <a:xfrm rot="10800000" flipH="1">
              <a:off x="7695581" y="1844824"/>
              <a:ext cx="332803" cy="518536"/>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1"/>
            <p:cNvSpPr txBox="1">
              <a:spLocks noChangeArrowheads="1"/>
            </p:cNvSpPr>
            <p:nvPr/>
          </p:nvSpPr>
          <p:spPr bwMode="auto">
            <a:xfrm>
              <a:off x="7827947" y="1872073"/>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x</a:t>
              </a:r>
              <a:endParaRPr lang="en-US" altLang="zh-CN" sz="2000" b="1" i="1" baseline="-25000" dirty="0">
                <a:solidFill>
                  <a:srgbClr val="FF3300"/>
                </a:solidFill>
              </a:endParaRPr>
            </a:p>
          </p:txBody>
        </p:sp>
        <p:sp>
          <p:nvSpPr>
            <p:cNvPr id="21" name="Text Box 11"/>
            <p:cNvSpPr txBox="1">
              <a:spLocks noChangeArrowheads="1"/>
            </p:cNvSpPr>
            <p:nvPr/>
          </p:nvSpPr>
          <p:spPr bwMode="auto">
            <a:xfrm>
              <a:off x="7193339" y="2227357"/>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y</a:t>
              </a:r>
              <a:endParaRPr lang="en-US" altLang="zh-CN" sz="2000" b="1" i="1" baseline="-25000" dirty="0">
                <a:solidFill>
                  <a:srgbClr val="FF3300"/>
                </a:solidFill>
              </a:endParaRPr>
            </a:p>
          </p:txBody>
        </p:sp>
        <p:sp>
          <p:nvSpPr>
            <p:cNvPr id="22" name="Text Box 11"/>
            <p:cNvSpPr txBox="1">
              <a:spLocks noChangeArrowheads="1"/>
            </p:cNvSpPr>
            <p:nvPr/>
          </p:nvSpPr>
          <p:spPr bwMode="auto">
            <a:xfrm>
              <a:off x="7410624" y="1164604"/>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z</a:t>
              </a:r>
              <a:endParaRPr lang="en-US" altLang="zh-CN" sz="2000" b="1" i="1" baseline="-25000" dirty="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ox(ou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box(out)">
                                      <p:cBhvr>
                                        <p:cTn id="12" dur="500"/>
                                        <p:tgtEl>
                                          <p:spTgt spid="133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box(out)">
                                      <p:cBhvr>
                                        <p:cTn id="22" dur="500"/>
                                        <p:tgtEl>
                                          <p:spTgt spid="1331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3320">
                                            <p:txEl>
                                              <p:pRg st="0" end="0"/>
                                            </p:txEl>
                                          </p:spTgt>
                                        </p:tgtEl>
                                        <p:attrNameLst>
                                          <p:attrName>style.visibility</p:attrName>
                                        </p:attrNameLst>
                                      </p:cBhvr>
                                      <p:to>
                                        <p:strVal val="visible"/>
                                      </p:to>
                                    </p:set>
                                    <p:animEffect transition="in" filter="box(out)">
                                      <p:cBhvr>
                                        <p:cTn id="27" dur="500"/>
                                        <p:tgtEl>
                                          <p:spTgt spid="1332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ou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ou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ox(ou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3325">
                                            <p:txEl>
                                              <p:pRg st="0" end="0"/>
                                            </p:txEl>
                                          </p:spTgt>
                                        </p:tgtEl>
                                        <p:attrNameLst>
                                          <p:attrName>style.visibility</p:attrName>
                                        </p:attrNameLst>
                                      </p:cBhvr>
                                      <p:to>
                                        <p:strVal val="visible"/>
                                      </p:to>
                                    </p:set>
                                    <p:animEffect transition="in" filter="box(out)">
                                      <p:cBhvr>
                                        <p:cTn id="47" dur="500"/>
                                        <p:tgtEl>
                                          <p:spTgt spid="1332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3326"/>
                                        </p:tgtEl>
                                        <p:attrNameLst>
                                          <p:attrName>style.visibility</p:attrName>
                                        </p:attrNameLst>
                                      </p:cBhvr>
                                      <p:to>
                                        <p:strVal val="visible"/>
                                      </p:to>
                                    </p:set>
                                    <p:animEffect transition="in" filter="box(out)">
                                      <p:cBhvr>
                                        <p:cTn id="52" dur="500"/>
                                        <p:tgtEl>
                                          <p:spTgt spid="13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build="p" autoUpdateAnimBg="0"/>
      <p:bldP spid="13325" grpId="0" build="p" autoUpdateAnimBg="0"/>
      <p:bldP spid="16"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6"/>
          <p:cNvSpPr txBox="1">
            <a:spLocks noChangeArrowheads="1"/>
          </p:cNvSpPr>
          <p:nvPr/>
        </p:nvSpPr>
        <p:spPr bwMode="auto">
          <a:xfrm>
            <a:off x="494178" y="388739"/>
            <a:ext cx="81010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mj-ea"/>
                <a:cs typeface="Microsoft Himalaya" panose="01010100010101010101" pitchFamily="2" charset="0"/>
              </a:rPr>
              <a:t>F</a:t>
            </a:r>
            <a:r>
              <a:rPr lang="zh-CN" altLang="en-US" b="1" dirty="0">
                <a:latin typeface="楷体" panose="02010609060101010101" pitchFamily="49" charset="-122"/>
                <a:ea typeface="楷体" panose="02010609060101010101" pitchFamily="49" charset="-122"/>
              </a:rPr>
              <a:t>作用于水平圆盘边缘上一点，并垂直于半径</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如图</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，其作用线在过该点而与圆周相切的平面内。已知圆盘半径为</a:t>
            </a:r>
            <a:r>
              <a:rPr lang="en-US" altLang="zh-CN" i="1" dirty="0">
                <a:latin typeface="+mj-lt"/>
                <a:ea typeface="Meiryo" panose="020B0604030504040204" pitchFamily="34" charset="-128"/>
                <a:cs typeface="Meiryo" panose="020B0604030504040204" pitchFamily="34" charset="-128"/>
              </a:rPr>
              <a:t>r</a:t>
            </a:r>
            <a:r>
              <a:rPr lang="zh-CN" altLang="en-US" b="1" dirty="0">
                <a:latin typeface="楷体" panose="02010609060101010101" pitchFamily="49" charset="-122"/>
                <a:ea typeface="楷体" panose="02010609060101010101" pitchFamily="49" charset="-122"/>
              </a:rPr>
              <a:t>，      。</a:t>
            </a:r>
            <a:r>
              <a:rPr lang="zh-CN" altLang="en-US" b="1" dirty="0">
                <a:solidFill>
                  <a:srgbClr val="000000"/>
                </a:solidFill>
                <a:latin typeface="楷体" panose="02010609060101010101" pitchFamily="49" charset="-122"/>
                <a:ea typeface="楷体" panose="02010609060101010101" pitchFamily="49" charset="-122"/>
              </a:rPr>
              <a:t>试求力</a:t>
            </a:r>
            <a:r>
              <a:rPr lang="en-US" altLang="zh-CN" b="1" i="1" dirty="0">
                <a:latin typeface="+mn-lt"/>
                <a:cs typeface="Microsoft Himalaya" panose="01010100010101010101" pitchFamily="2" charset="0"/>
              </a:rPr>
              <a:t>F</a:t>
            </a:r>
            <a:r>
              <a:rPr lang="zh-CN" altLang="en-US" b="1" dirty="0">
                <a:solidFill>
                  <a:srgbClr val="000000"/>
                </a:solidFill>
                <a:latin typeface="楷体" panose="02010609060101010101" pitchFamily="49" charset="-122"/>
                <a:ea typeface="楷体" panose="02010609060101010101" pitchFamily="49" charset="-122"/>
              </a:rPr>
              <a:t>对</a:t>
            </a:r>
            <a:r>
              <a:rPr lang="en-US" altLang="zh-CN" i="1" dirty="0">
                <a:solidFill>
                  <a:srgbClr val="000000"/>
                </a:solidFill>
                <a:latin typeface="+mn-lt"/>
                <a:ea typeface="楷体" panose="02010609060101010101" pitchFamily="49" charset="-122"/>
              </a:rPr>
              <a:t>x</a:t>
            </a:r>
            <a:r>
              <a:rPr lang="zh-CN" altLang="en-US" i="1" dirty="0">
                <a:solidFill>
                  <a:srgbClr val="000000"/>
                </a:solidFill>
                <a:latin typeface="+mn-lt"/>
                <a:ea typeface="楷体" panose="02010609060101010101" pitchFamily="49" charset="-122"/>
              </a:rPr>
              <a:t>、</a:t>
            </a:r>
            <a:r>
              <a:rPr lang="en-US" altLang="zh-CN" i="1" dirty="0">
                <a:solidFill>
                  <a:srgbClr val="000000"/>
                </a:solidFill>
                <a:latin typeface="+mn-lt"/>
                <a:ea typeface="楷体" panose="02010609060101010101" pitchFamily="49" charset="-122"/>
              </a:rPr>
              <a:t>y</a:t>
            </a:r>
            <a:r>
              <a:rPr lang="zh-CN" altLang="en-US" b="1" dirty="0">
                <a:solidFill>
                  <a:srgbClr val="000000"/>
                </a:solidFill>
                <a:latin typeface="楷体" panose="02010609060101010101" pitchFamily="49" charset="-122"/>
                <a:ea typeface="楷体" panose="02010609060101010101" pitchFamily="49" charset="-122"/>
              </a:rPr>
              <a:t>和</a:t>
            </a:r>
            <a:r>
              <a:rPr lang="en-US" altLang="zh-CN" i="1" dirty="0">
                <a:solidFill>
                  <a:srgbClr val="000000"/>
                </a:solidFill>
                <a:latin typeface="+mn-lt"/>
                <a:ea typeface="楷体" panose="02010609060101010101" pitchFamily="49" charset="-122"/>
              </a:rPr>
              <a:t>z</a:t>
            </a:r>
            <a:r>
              <a:rPr lang="zh-CN" altLang="en-US" b="1" dirty="0">
                <a:solidFill>
                  <a:srgbClr val="000000"/>
                </a:solidFill>
                <a:latin typeface="楷体" panose="02010609060101010101" pitchFamily="49" charset="-122"/>
                <a:ea typeface="楷体" panose="02010609060101010101" pitchFamily="49" charset="-122"/>
              </a:rPr>
              <a:t>轴之矩。</a:t>
            </a:r>
          </a:p>
        </p:txBody>
      </p:sp>
      <p:sp>
        <p:nvSpPr>
          <p:cNvPr id="58405" name="Text Box 37"/>
          <p:cNvSpPr txBox="1">
            <a:spLocks noChangeArrowheads="1"/>
          </p:cNvSpPr>
          <p:nvPr/>
        </p:nvSpPr>
        <p:spPr bwMode="auto">
          <a:xfrm>
            <a:off x="541482" y="1616742"/>
            <a:ext cx="801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p>
        </p:txBody>
      </p:sp>
      <p:graphicFrame>
        <p:nvGraphicFramePr>
          <p:cNvPr id="58408" name="Object 40"/>
          <p:cNvGraphicFramePr>
            <a:graphicFrameLocks noChangeAspect="1"/>
          </p:cNvGraphicFramePr>
          <p:nvPr>
            <p:extLst>
              <p:ext uri="{D42A27DB-BD31-4B8C-83A1-F6EECF244321}">
                <p14:modId xmlns:p14="http://schemas.microsoft.com/office/powerpoint/2010/main" val="3478131663"/>
              </p:ext>
            </p:extLst>
          </p:nvPr>
        </p:nvGraphicFramePr>
        <p:xfrm>
          <a:off x="701598" y="3267591"/>
          <a:ext cx="2900363" cy="404813"/>
        </p:xfrm>
        <a:graphic>
          <a:graphicData uri="http://schemas.openxmlformats.org/presentationml/2006/ole">
            <mc:AlternateContent xmlns:mc="http://schemas.openxmlformats.org/markup-compatibility/2006">
              <mc:Choice xmlns:v="urn:schemas-microsoft-com:vml" Requires="v">
                <p:oleObj spid="_x0000_s11286" name="Equation" r:id="rId3" imgW="1714320" imgH="241200" progId="Equation.DSMT4">
                  <p:embed/>
                </p:oleObj>
              </mc:Choice>
              <mc:Fallback>
                <p:oleObj name="Equation" r:id="rId3" imgW="1714320" imgH="241200" progId="Equation.DSMT4">
                  <p:embed/>
                  <p:pic>
                    <p:nvPicPr>
                      <p:cNvPr id="0" name=""/>
                      <p:cNvPicPr>
                        <a:picLocks noChangeAspect="1" noChangeArrowheads="1"/>
                      </p:cNvPicPr>
                      <p:nvPr/>
                    </p:nvPicPr>
                    <p:blipFill>
                      <a:blip r:embed="rId4"/>
                      <a:srcRect/>
                      <a:stretch>
                        <a:fillRect/>
                      </a:stretch>
                    </p:blipFill>
                    <p:spPr bwMode="auto">
                      <a:xfrm>
                        <a:off x="701598" y="3267591"/>
                        <a:ext cx="2900363" cy="404813"/>
                      </a:xfrm>
                      <a:prstGeom prst="rect">
                        <a:avLst/>
                      </a:prstGeom>
                      <a:noFill/>
                      <a:ln>
                        <a:noFill/>
                      </a:ln>
                      <a:effectLst/>
                    </p:spPr>
                  </p:pic>
                </p:oleObj>
              </mc:Fallback>
            </mc:AlternateContent>
          </a:graphicData>
        </a:graphic>
      </p:graphicFrame>
      <p:graphicFrame>
        <p:nvGraphicFramePr>
          <p:cNvPr id="58409" name="Object 41"/>
          <p:cNvGraphicFramePr>
            <a:graphicFrameLocks noChangeAspect="1"/>
          </p:cNvGraphicFramePr>
          <p:nvPr>
            <p:extLst>
              <p:ext uri="{D42A27DB-BD31-4B8C-83A1-F6EECF244321}">
                <p14:modId xmlns:p14="http://schemas.microsoft.com/office/powerpoint/2010/main" val="1432092761"/>
              </p:ext>
            </p:extLst>
          </p:nvPr>
        </p:nvGraphicFramePr>
        <p:xfrm>
          <a:off x="3622024" y="3172292"/>
          <a:ext cx="1044004" cy="532533"/>
        </p:xfrm>
        <a:graphic>
          <a:graphicData uri="http://schemas.openxmlformats.org/presentationml/2006/ole">
            <mc:AlternateContent xmlns:mc="http://schemas.openxmlformats.org/markup-compatibility/2006">
              <mc:Choice xmlns:v="urn:schemas-microsoft-com:vml" Requires="v">
                <p:oleObj spid="_x0000_s11287" name="Equation" r:id="rId5" imgW="774360" imgH="393480" progId="Equation.DSMT4">
                  <p:embed/>
                </p:oleObj>
              </mc:Choice>
              <mc:Fallback>
                <p:oleObj name="Equation" r:id="rId5" imgW="774360" imgH="393480" progId="Equation.DSMT4">
                  <p:embed/>
                  <p:pic>
                    <p:nvPicPr>
                      <p:cNvPr id="0" name=""/>
                      <p:cNvPicPr>
                        <a:picLocks noChangeAspect="1" noChangeArrowheads="1"/>
                      </p:cNvPicPr>
                      <p:nvPr/>
                    </p:nvPicPr>
                    <p:blipFill>
                      <a:blip r:embed="rId6"/>
                      <a:srcRect/>
                      <a:stretch>
                        <a:fillRect/>
                      </a:stretch>
                    </p:blipFill>
                    <p:spPr bwMode="auto">
                      <a:xfrm>
                        <a:off x="3622024" y="3172292"/>
                        <a:ext cx="1044004" cy="532533"/>
                      </a:xfrm>
                      <a:prstGeom prst="rect">
                        <a:avLst/>
                      </a:prstGeom>
                      <a:noFill/>
                      <a:ln>
                        <a:noFill/>
                      </a:ln>
                      <a:effectLst/>
                    </p:spPr>
                  </p:pic>
                </p:oleObj>
              </mc:Fallback>
            </mc:AlternateContent>
          </a:graphicData>
        </a:graphic>
      </p:graphicFrame>
      <p:graphicFrame>
        <p:nvGraphicFramePr>
          <p:cNvPr id="58410" name="Object 42"/>
          <p:cNvGraphicFramePr>
            <a:graphicFrameLocks noChangeAspect="1"/>
          </p:cNvGraphicFramePr>
          <p:nvPr>
            <p:extLst>
              <p:ext uri="{D42A27DB-BD31-4B8C-83A1-F6EECF244321}">
                <p14:modId xmlns:p14="http://schemas.microsoft.com/office/powerpoint/2010/main" val="4156866056"/>
              </p:ext>
            </p:extLst>
          </p:nvPr>
        </p:nvGraphicFramePr>
        <p:xfrm>
          <a:off x="730116" y="3755247"/>
          <a:ext cx="2890055" cy="405329"/>
        </p:xfrm>
        <a:graphic>
          <a:graphicData uri="http://schemas.openxmlformats.org/presentationml/2006/ole">
            <mc:AlternateContent xmlns:mc="http://schemas.openxmlformats.org/markup-compatibility/2006">
              <mc:Choice xmlns:v="urn:schemas-microsoft-com:vml" Requires="v">
                <p:oleObj spid="_x0000_s11288" name="Equation" r:id="rId7" imgW="1714320" imgH="241200" progId="Equation.DSMT4">
                  <p:embed/>
                </p:oleObj>
              </mc:Choice>
              <mc:Fallback>
                <p:oleObj name="Equation" r:id="rId7" imgW="1714320" imgH="241200" progId="Equation.DSMT4">
                  <p:embed/>
                  <p:pic>
                    <p:nvPicPr>
                      <p:cNvPr id="0" name=""/>
                      <p:cNvPicPr>
                        <a:picLocks noChangeAspect="1" noChangeArrowheads="1"/>
                      </p:cNvPicPr>
                      <p:nvPr/>
                    </p:nvPicPr>
                    <p:blipFill>
                      <a:blip r:embed="rId8"/>
                      <a:srcRect/>
                      <a:stretch>
                        <a:fillRect/>
                      </a:stretch>
                    </p:blipFill>
                    <p:spPr bwMode="auto">
                      <a:xfrm>
                        <a:off x="730116" y="3755247"/>
                        <a:ext cx="2890055" cy="405329"/>
                      </a:xfrm>
                      <a:prstGeom prst="rect">
                        <a:avLst/>
                      </a:prstGeom>
                      <a:noFill/>
                      <a:ln>
                        <a:noFill/>
                      </a:ln>
                      <a:effectLst/>
                    </p:spPr>
                  </p:pic>
                </p:oleObj>
              </mc:Fallback>
            </mc:AlternateContent>
          </a:graphicData>
        </a:graphic>
      </p:graphicFrame>
      <p:graphicFrame>
        <p:nvGraphicFramePr>
          <p:cNvPr id="58411" name="Object 43"/>
          <p:cNvGraphicFramePr>
            <a:graphicFrameLocks noChangeAspect="1"/>
          </p:cNvGraphicFramePr>
          <p:nvPr>
            <p:extLst>
              <p:ext uri="{D42A27DB-BD31-4B8C-83A1-F6EECF244321}">
                <p14:modId xmlns:p14="http://schemas.microsoft.com/office/powerpoint/2010/main" val="3418911926"/>
              </p:ext>
            </p:extLst>
          </p:nvPr>
        </p:nvGraphicFramePr>
        <p:xfrm>
          <a:off x="681163" y="4225587"/>
          <a:ext cx="2878390" cy="411380"/>
        </p:xfrm>
        <a:graphic>
          <a:graphicData uri="http://schemas.openxmlformats.org/presentationml/2006/ole">
            <mc:AlternateContent xmlns:mc="http://schemas.openxmlformats.org/markup-compatibility/2006">
              <mc:Choice xmlns:v="urn:schemas-microsoft-com:vml" Requires="v">
                <p:oleObj spid="_x0000_s11289" name="Equation" r:id="rId9" imgW="1688760" imgH="241200" progId="Equation.DSMT4">
                  <p:embed/>
                </p:oleObj>
              </mc:Choice>
              <mc:Fallback>
                <p:oleObj name="Equation" r:id="rId9" imgW="1688760" imgH="241200" progId="Equation.DSMT4">
                  <p:embed/>
                  <p:pic>
                    <p:nvPicPr>
                      <p:cNvPr id="0" name=""/>
                      <p:cNvPicPr>
                        <a:picLocks noChangeAspect="1" noChangeArrowheads="1"/>
                      </p:cNvPicPr>
                      <p:nvPr/>
                    </p:nvPicPr>
                    <p:blipFill>
                      <a:blip r:embed="rId10"/>
                      <a:srcRect/>
                      <a:stretch>
                        <a:fillRect/>
                      </a:stretch>
                    </p:blipFill>
                    <p:spPr bwMode="auto">
                      <a:xfrm>
                        <a:off x="681163" y="4225587"/>
                        <a:ext cx="2878390" cy="411380"/>
                      </a:xfrm>
                      <a:prstGeom prst="rect">
                        <a:avLst/>
                      </a:prstGeom>
                      <a:noFill/>
                      <a:ln>
                        <a:noFill/>
                      </a:ln>
                      <a:effectLst/>
                    </p:spPr>
                  </p:pic>
                </p:oleObj>
              </mc:Fallback>
            </mc:AlternateContent>
          </a:graphicData>
        </a:graphic>
      </p:graphicFrame>
      <p:graphicFrame>
        <p:nvGraphicFramePr>
          <p:cNvPr id="58412" name="Object 44"/>
          <p:cNvGraphicFramePr>
            <a:graphicFrameLocks noChangeAspect="1"/>
          </p:cNvGraphicFramePr>
          <p:nvPr>
            <p:extLst>
              <p:ext uri="{D42A27DB-BD31-4B8C-83A1-F6EECF244321}">
                <p14:modId xmlns:p14="http://schemas.microsoft.com/office/powerpoint/2010/main" val="285655829"/>
              </p:ext>
            </p:extLst>
          </p:nvPr>
        </p:nvGraphicFramePr>
        <p:xfrm>
          <a:off x="3590723" y="4210997"/>
          <a:ext cx="639085" cy="450173"/>
        </p:xfrm>
        <a:graphic>
          <a:graphicData uri="http://schemas.openxmlformats.org/presentationml/2006/ole">
            <mc:AlternateContent xmlns:mc="http://schemas.openxmlformats.org/markup-compatibility/2006">
              <mc:Choice xmlns:v="urn:schemas-microsoft-com:vml" Requires="v">
                <p:oleObj spid="_x0000_s11290" name="Equation" r:id="rId11" imgW="558720" imgH="393480" progId="Equation.DSMT4">
                  <p:embed/>
                </p:oleObj>
              </mc:Choice>
              <mc:Fallback>
                <p:oleObj name="Equation" r:id="rId11" imgW="558720" imgH="393480" progId="Equation.DSMT4">
                  <p:embed/>
                  <p:pic>
                    <p:nvPicPr>
                      <p:cNvPr id="0" name=""/>
                      <p:cNvPicPr>
                        <a:picLocks noChangeAspect="1" noChangeArrowheads="1"/>
                      </p:cNvPicPr>
                      <p:nvPr/>
                    </p:nvPicPr>
                    <p:blipFill>
                      <a:blip r:embed="rId12"/>
                      <a:srcRect/>
                      <a:stretch>
                        <a:fillRect/>
                      </a:stretch>
                    </p:blipFill>
                    <p:spPr bwMode="auto">
                      <a:xfrm>
                        <a:off x="3590723" y="4210997"/>
                        <a:ext cx="639085" cy="450173"/>
                      </a:xfrm>
                      <a:prstGeom prst="rect">
                        <a:avLst/>
                      </a:prstGeom>
                      <a:noFill/>
                      <a:ln>
                        <a:noFill/>
                      </a:ln>
                      <a:effectLst/>
                    </p:spPr>
                  </p:pic>
                </p:oleObj>
              </mc:Fallback>
            </mc:AlternateContent>
          </a:graphicData>
        </a:graphic>
      </p:graphicFrame>
      <p:sp>
        <p:nvSpPr>
          <p:cNvPr id="13" name="TextBox 8"/>
          <p:cNvSpPr txBox="1">
            <a:spLocks noChangeArrowheads="1"/>
          </p:cNvSpPr>
          <p:nvPr/>
        </p:nvSpPr>
        <p:spPr bwMode="auto">
          <a:xfrm>
            <a:off x="924751" y="5928433"/>
            <a:ext cx="6643687" cy="461963"/>
          </a:xfrm>
          <a:prstGeom prst="rect">
            <a:avLst/>
          </a:prstGeom>
          <a:solidFill>
            <a:srgbClr val="FF3399">
              <a:alpha val="2392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000000"/>
                </a:solidFill>
                <a:latin typeface="黑体" panose="02010609060101010101" pitchFamily="49" charset="-122"/>
                <a:ea typeface="黑体" panose="02010609060101010101" pitchFamily="49" charset="-122"/>
              </a:rPr>
              <a:t>小结：定义、计算公式、力矩关系、合力矩定理</a:t>
            </a:r>
          </a:p>
        </p:txBody>
      </p:sp>
      <p:pic>
        <p:nvPicPr>
          <p:cNvPr id="15" name="图片 14" descr="xt2-1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a:xfrm>
            <a:off x="6156176" y="1231817"/>
            <a:ext cx="2562771" cy="3030634"/>
          </a:xfrm>
          <a:prstGeom prst="rect">
            <a:avLst/>
          </a:prstGeom>
          <a:noFill/>
          <a:ln>
            <a:noFill/>
          </a:ln>
        </p:spPr>
      </p:pic>
      <p:graphicFrame>
        <p:nvGraphicFramePr>
          <p:cNvPr id="3" name="对象 2"/>
          <p:cNvGraphicFramePr>
            <a:graphicFrameLocks noChangeAspect="1"/>
          </p:cNvGraphicFramePr>
          <p:nvPr>
            <p:extLst>
              <p:ext uri="{D42A27DB-BD31-4B8C-83A1-F6EECF244321}">
                <p14:modId xmlns:p14="http://schemas.microsoft.com/office/powerpoint/2010/main" val="4203927930"/>
              </p:ext>
            </p:extLst>
          </p:nvPr>
        </p:nvGraphicFramePr>
        <p:xfrm>
          <a:off x="1259632" y="1198753"/>
          <a:ext cx="892148" cy="390315"/>
        </p:xfrm>
        <a:graphic>
          <a:graphicData uri="http://schemas.openxmlformats.org/presentationml/2006/ole">
            <mc:AlternateContent xmlns:mc="http://schemas.openxmlformats.org/markup-compatibility/2006">
              <mc:Choice xmlns:v="urn:schemas-microsoft-com:vml" Requires="v">
                <p:oleObj spid="_x0000_s11291" name="Equation" r:id="rId14" imgW="405872" imgH="177569" progId="Equation.DSMT4">
                  <p:embed/>
                </p:oleObj>
              </mc:Choice>
              <mc:Fallback>
                <p:oleObj name="Equation" r:id="rId14" imgW="405872" imgH="17756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9632" y="1198753"/>
                        <a:ext cx="892148" cy="390315"/>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36436336"/>
              </p:ext>
            </p:extLst>
          </p:nvPr>
        </p:nvGraphicFramePr>
        <p:xfrm>
          <a:off x="1195548" y="1640369"/>
          <a:ext cx="2284942" cy="1597087"/>
        </p:xfrm>
        <a:graphic>
          <a:graphicData uri="http://schemas.openxmlformats.org/presentationml/2006/ole">
            <mc:AlternateContent xmlns:mc="http://schemas.openxmlformats.org/markup-compatibility/2006">
              <mc:Choice xmlns:v="urn:schemas-microsoft-com:vml" Requires="v">
                <p:oleObj spid="_x0000_s11292" name="Equation" r:id="rId16" imgW="1841500" imgH="1282700" progId="Equation.DSMT4">
                  <p:embed/>
                </p:oleObj>
              </mc:Choice>
              <mc:Fallback>
                <p:oleObj name="Equation" r:id="rId16" imgW="1841500" imgH="12827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95548" y="1640369"/>
                        <a:ext cx="2284942" cy="159708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16727201"/>
              </p:ext>
            </p:extLst>
          </p:nvPr>
        </p:nvGraphicFramePr>
        <p:xfrm>
          <a:off x="3923928" y="1931164"/>
          <a:ext cx="2597104" cy="934210"/>
        </p:xfrm>
        <a:graphic>
          <a:graphicData uri="http://schemas.openxmlformats.org/presentationml/2006/ole">
            <mc:AlternateContent xmlns:mc="http://schemas.openxmlformats.org/markup-compatibility/2006">
              <mc:Choice xmlns:v="urn:schemas-microsoft-com:vml" Requires="v">
                <p:oleObj spid="_x0000_s11293" name="Equation" r:id="rId18" imgW="1765080" imgH="634680" progId="Equation.DSMT4">
                  <p:embed/>
                </p:oleObj>
              </mc:Choice>
              <mc:Fallback>
                <p:oleObj name="Equation" r:id="rId18" imgW="1765080" imgH="634680" progId="Equation.DSMT4">
                  <p:embed/>
                  <p:pic>
                    <p:nvPicPr>
                      <p:cNvPr id="0" name=""/>
                      <p:cNvPicPr>
                        <a:picLocks noChangeAspect="1" noChangeArrowheads="1"/>
                      </p:cNvPicPr>
                      <p:nvPr/>
                    </p:nvPicPr>
                    <p:blipFill>
                      <a:blip r:embed="rId19"/>
                      <a:srcRect/>
                      <a:stretch>
                        <a:fillRect/>
                      </a:stretch>
                    </p:blipFill>
                    <p:spPr bwMode="auto">
                      <a:xfrm>
                        <a:off x="3923928" y="1931164"/>
                        <a:ext cx="2597104" cy="934210"/>
                      </a:xfrm>
                      <a:prstGeom prst="rect">
                        <a:avLst/>
                      </a:prstGeom>
                      <a:noFill/>
                    </p:spPr>
                  </p:pic>
                </p:oleObj>
              </mc:Fallback>
            </mc:AlternateContent>
          </a:graphicData>
        </a:graphic>
      </p:graphicFrame>
      <p:sp>
        <p:nvSpPr>
          <p:cNvPr id="8" name="Rectangle 146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596453393"/>
              </p:ext>
            </p:extLst>
          </p:nvPr>
        </p:nvGraphicFramePr>
        <p:xfrm>
          <a:off x="3995936" y="4402990"/>
          <a:ext cx="4896544" cy="1387354"/>
        </p:xfrm>
        <a:graphic>
          <a:graphicData uri="http://schemas.openxmlformats.org/presentationml/2006/ole">
            <mc:AlternateContent xmlns:mc="http://schemas.openxmlformats.org/markup-compatibility/2006">
              <mc:Choice xmlns:v="urn:schemas-microsoft-com:vml" Requires="v">
                <p:oleObj spid="_x0000_s11294" name="Equation" r:id="rId20" imgW="4572000" imgH="1295280" progId="Equation.DSMT4">
                  <p:embed/>
                </p:oleObj>
              </mc:Choice>
              <mc:Fallback>
                <p:oleObj name="Equation" r:id="rId20" imgW="4572000" imgH="1295280" progId="Equation.DSMT4">
                  <p:embed/>
                  <p:pic>
                    <p:nvPicPr>
                      <p:cNvPr id="0" name=""/>
                      <p:cNvPicPr>
                        <a:picLocks noChangeAspect="1" noChangeArrowheads="1"/>
                      </p:cNvPicPr>
                      <p:nvPr/>
                    </p:nvPicPr>
                    <p:blipFill>
                      <a:blip r:embed="rId21"/>
                      <a:srcRect/>
                      <a:stretch>
                        <a:fillRect/>
                      </a:stretch>
                    </p:blipFill>
                    <p:spPr bwMode="auto">
                      <a:xfrm>
                        <a:off x="3995936" y="4402990"/>
                        <a:ext cx="4896544" cy="1387354"/>
                      </a:xfrm>
                      <a:prstGeom prst="rect">
                        <a:avLst/>
                      </a:prstGeom>
                      <a:noFill/>
                    </p:spPr>
                  </p:pic>
                </p:oleObj>
              </mc:Fallback>
            </mc:AlternateContent>
          </a:graphicData>
        </a:graphic>
      </p:graphicFrame>
      <p:graphicFrame>
        <p:nvGraphicFramePr>
          <p:cNvPr id="16" name="Object 41"/>
          <p:cNvGraphicFramePr>
            <a:graphicFrameLocks noChangeAspect="1"/>
          </p:cNvGraphicFramePr>
          <p:nvPr>
            <p:extLst>
              <p:ext uri="{D42A27DB-BD31-4B8C-83A1-F6EECF244321}">
                <p14:modId xmlns:p14="http://schemas.microsoft.com/office/powerpoint/2010/main" val="3206470886"/>
              </p:ext>
            </p:extLst>
          </p:nvPr>
        </p:nvGraphicFramePr>
        <p:xfrm>
          <a:off x="3594020" y="3666311"/>
          <a:ext cx="1222711" cy="596140"/>
        </p:xfrm>
        <a:graphic>
          <a:graphicData uri="http://schemas.openxmlformats.org/presentationml/2006/ole">
            <mc:AlternateContent xmlns:mc="http://schemas.openxmlformats.org/markup-compatibility/2006">
              <mc:Choice xmlns:v="urn:schemas-microsoft-com:vml" Requires="v">
                <p:oleObj spid="_x0000_s11295" name="Equation" r:id="rId22" imgW="888840" imgH="431640" progId="Equation.DSMT4">
                  <p:embed/>
                </p:oleObj>
              </mc:Choice>
              <mc:Fallback>
                <p:oleObj name="Equation" r:id="rId22" imgW="888840" imgH="431640" progId="Equation.DSMT4">
                  <p:embed/>
                  <p:pic>
                    <p:nvPicPr>
                      <p:cNvPr id="0" name=""/>
                      <p:cNvPicPr>
                        <a:picLocks noChangeAspect="1" noChangeArrowheads="1"/>
                      </p:cNvPicPr>
                      <p:nvPr/>
                    </p:nvPicPr>
                    <p:blipFill>
                      <a:blip r:embed="rId23"/>
                      <a:srcRect/>
                      <a:stretch>
                        <a:fillRect/>
                      </a:stretch>
                    </p:blipFill>
                    <p:spPr bwMode="auto">
                      <a:xfrm>
                        <a:off x="3594020" y="3666311"/>
                        <a:ext cx="1222711" cy="59614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603728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8405">
                                            <p:txEl>
                                              <p:pRg st="0" end="0"/>
                                            </p:txEl>
                                          </p:spTgt>
                                        </p:tgtEl>
                                        <p:attrNameLst>
                                          <p:attrName>style.visibility</p:attrName>
                                        </p:attrNameLst>
                                      </p:cBhvr>
                                      <p:to>
                                        <p:strVal val="visible"/>
                                      </p:to>
                                    </p:set>
                                    <p:animEffect transition="in" filter="box(out)">
                                      <p:cBhvr>
                                        <p:cTn id="7" dur="500"/>
                                        <p:tgtEl>
                                          <p:spTgt spid="5840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out)">
                                      <p:cBhvr>
                                        <p:cTn id="12" dur="7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out)">
                                      <p:cBhvr>
                                        <p:cTn id="17" dur="7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8408"/>
                                        </p:tgtEl>
                                        <p:attrNameLst>
                                          <p:attrName>style.visibility</p:attrName>
                                        </p:attrNameLst>
                                      </p:cBhvr>
                                      <p:to>
                                        <p:strVal val="visible"/>
                                      </p:to>
                                    </p:set>
                                    <p:animEffect transition="in" filter="box(out)">
                                      <p:cBhvr>
                                        <p:cTn id="22" dur="500"/>
                                        <p:tgtEl>
                                          <p:spTgt spid="5840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8409"/>
                                        </p:tgtEl>
                                        <p:attrNameLst>
                                          <p:attrName>style.visibility</p:attrName>
                                        </p:attrNameLst>
                                      </p:cBhvr>
                                      <p:to>
                                        <p:strVal val="visible"/>
                                      </p:to>
                                    </p:set>
                                    <p:animEffect transition="in" filter="box(out)">
                                      <p:cBhvr>
                                        <p:cTn id="27" dur="500"/>
                                        <p:tgtEl>
                                          <p:spTgt spid="5840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8410"/>
                                        </p:tgtEl>
                                        <p:attrNameLst>
                                          <p:attrName>style.visibility</p:attrName>
                                        </p:attrNameLst>
                                      </p:cBhvr>
                                      <p:to>
                                        <p:strVal val="visible"/>
                                      </p:to>
                                    </p:set>
                                    <p:animEffect transition="in" filter="box(out)">
                                      <p:cBhvr>
                                        <p:cTn id="32" dur="500"/>
                                        <p:tgtEl>
                                          <p:spTgt spid="584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ox(ou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8411"/>
                                        </p:tgtEl>
                                        <p:attrNameLst>
                                          <p:attrName>style.visibility</p:attrName>
                                        </p:attrNameLst>
                                      </p:cBhvr>
                                      <p:to>
                                        <p:strVal val="visible"/>
                                      </p:to>
                                    </p:set>
                                    <p:animEffect transition="in" filter="box(out)">
                                      <p:cBhvr>
                                        <p:cTn id="42" dur="500"/>
                                        <p:tgtEl>
                                          <p:spTgt spid="5841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58412"/>
                                        </p:tgtEl>
                                        <p:attrNameLst>
                                          <p:attrName>style.visibility</p:attrName>
                                        </p:attrNameLst>
                                      </p:cBhvr>
                                      <p:to>
                                        <p:strVal val="visible"/>
                                      </p:to>
                                    </p:set>
                                    <p:animEffect transition="in" filter="box(out)">
                                      <p:cBhvr>
                                        <p:cTn id="47" dur="500"/>
                                        <p:tgtEl>
                                          <p:spTgt spid="584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05" grpId="0" build="p" autoUpdateAnimBg="0"/>
      <p:bldP spid="13" grpId="0" animBg="1"/>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3947</TotalTime>
  <Words>643</Words>
  <Application>Microsoft Office PowerPoint</Application>
  <PresentationFormat>全屏显示(4:3)</PresentationFormat>
  <Paragraphs>83</Paragraphs>
  <Slides>12</Slides>
  <Notes>0</Notes>
  <HiddenSlides>0</HiddenSlides>
  <MMClips>1</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12</vt:i4>
      </vt:variant>
    </vt:vector>
  </HeadingPairs>
  <TitlesOfParts>
    <vt:vector size="28" baseType="lpstr">
      <vt:lpstr>Meiryo</vt:lpstr>
      <vt:lpstr>黑体</vt:lpstr>
      <vt:lpstr>华文中宋</vt:lpstr>
      <vt:lpstr>楷体</vt:lpstr>
      <vt:lpstr>楷体_GB2312</vt:lpstr>
      <vt:lpstr>宋体</vt:lpstr>
      <vt:lpstr>幼圆</vt:lpstr>
      <vt:lpstr>Microsoft Himalaya</vt:lpstr>
      <vt:lpstr>Symbol</vt:lpstr>
      <vt:lpstr>Tahoma</vt:lpstr>
      <vt:lpstr>Times New Roman</vt:lpstr>
      <vt:lpstr>默认设计模板</vt:lpstr>
      <vt:lpstr>Image</vt:lpstr>
      <vt:lpstr>Equation</vt:lpstr>
      <vt:lpstr>BMP 图像</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liujie</dc:creator>
  <cp:lastModifiedBy>User</cp:lastModifiedBy>
  <cp:revision>352</cp:revision>
  <dcterms:created xsi:type="dcterms:W3CDTF">2003-11-13T15:45:13Z</dcterms:created>
  <dcterms:modified xsi:type="dcterms:W3CDTF">2026-09-18T02:35:17Z</dcterms:modified>
</cp:coreProperties>
</file>